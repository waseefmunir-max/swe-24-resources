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vHRvAlYuz45U/WvbQqOvv9sg/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9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9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1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2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2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42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3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3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3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4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44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4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4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6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6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46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4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7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7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7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8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4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Functions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is a series of statements that have been grouped together and given a name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Each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is essentially a small program, with its own declarations and statements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Advantages of functions: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program can be divided into small pieces that are easier to understand and modify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We can avoid duplicating code that’s used more than once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</a:t>
            </a:r>
            <a:r>
              <a:rPr b="1" i="1" lang="en" sz="1400">
                <a:solidFill>
                  <a:srgbClr val="000000"/>
                </a:solidFill>
              </a:rPr>
              <a:t>function</a:t>
            </a:r>
            <a:r>
              <a:rPr lang="en" sz="1400">
                <a:solidFill>
                  <a:srgbClr val="000000"/>
                </a:solidFill>
              </a:rPr>
              <a:t> that was originally part of one program can be reused in other programs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4" name="Google Shape;74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reads three numbers and uses the average function to compute their averages, one pair at a time: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three numbers: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3.5 9.6 10.2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Average of 3.5 and 9.6: 6.55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Average of 9.6 and 10.2: 9.9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Average of 3.5 and 10.2: 6.85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0" name="Google Shape;80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Averages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 type ⇒ double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Parameters ⇒ a, b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Body ⇒ Executable, enclosed in braces</a:t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</a:t>
            </a:r>
            <a:r>
              <a:rPr lang="en" sz="1400">
                <a:solidFill>
                  <a:srgbClr val="000000"/>
                </a:solidFill>
              </a:rPr>
              <a:t>Contains a return statement</a:t>
            </a:r>
            <a:endParaRPr sz="1400">
              <a:solidFill>
                <a:srgbClr val="000000"/>
              </a:solidFill>
            </a:endParaRPr>
          </a:p>
          <a:p>
            <a:pPr indent="0" lvl="0" marL="22860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Returns to the place from which it was called</a:t>
            </a:r>
            <a:endParaRPr sz="1400">
              <a:solidFill>
                <a:srgbClr val="000000"/>
              </a:solidFill>
            </a:endParaRPr>
          </a:p>
          <a:p>
            <a:pPr indent="457200" lvl="0" marL="18288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Returns the value (a+b)/2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Averages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call consists of a function name followed by a list of </a:t>
            </a:r>
            <a:r>
              <a:rPr b="1" i="1" lang="en">
                <a:solidFill>
                  <a:srgbClr val="000000"/>
                </a:solidFill>
              </a:rPr>
              <a:t>arguments</a:t>
            </a:r>
            <a:endParaRPr b="1" i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i="1" lang="en" sz="1400">
                <a:solidFill>
                  <a:srgbClr val="000000"/>
                </a:solidFill>
              </a:rPr>
              <a:t>average(x, y)</a:t>
            </a:r>
            <a:r>
              <a:rPr lang="en" sz="1400">
                <a:solidFill>
                  <a:srgbClr val="000000"/>
                </a:solidFill>
              </a:rPr>
              <a:t> is a call of the average function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Arguments are used to supply information to a function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call </a:t>
            </a:r>
            <a:r>
              <a:rPr i="1" lang="en" sz="1400">
                <a:solidFill>
                  <a:srgbClr val="000000"/>
                </a:solidFill>
              </a:rPr>
              <a:t>average(x, y)</a:t>
            </a:r>
            <a:r>
              <a:rPr lang="en" sz="1400">
                <a:solidFill>
                  <a:srgbClr val="000000"/>
                </a:solidFill>
              </a:rPr>
              <a:t> causes the values of </a:t>
            </a:r>
            <a:r>
              <a:rPr i="1" lang="en" sz="1400">
                <a:solidFill>
                  <a:srgbClr val="000000"/>
                </a:solidFill>
              </a:rPr>
              <a:t>x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i="1" lang="en" sz="1400">
                <a:solidFill>
                  <a:srgbClr val="000000"/>
                </a:solidFill>
              </a:rPr>
              <a:t>y</a:t>
            </a:r>
            <a:r>
              <a:rPr lang="en" sz="1400">
                <a:solidFill>
                  <a:srgbClr val="000000"/>
                </a:solidFill>
              </a:rPr>
              <a:t> to be copied into the parameters </a:t>
            </a:r>
            <a:r>
              <a:rPr i="1" lang="en" sz="1400">
                <a:solidFill>
                  <a:srgbClr val="000000"/>
                </a:solidFill>
              </a:rPr>
              <a:t>a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i="1" lang="en" sz="1400">
                <a:solidFill>
                  <a:srgbClr val="000000"/>
                </a:solidFill>
              </a:rPr>
              <a:t>b</a:t>
            </a:r>
            <a:endParaRPr i="1"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 argument doesn’t have to be a variable; any expression of a compatible type will do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i="1" lang="en" sz="1400">
                <a:solidFill>
                  <a:srgbClr val="000000"/>
                </a:solidFill>
              </a:rPr>
              <a:t>average(5.1, 8.9)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i="1" lang="en" sz="1400">
                <a:solidFill>
                  <a:srgbClr val="000000"/>
                </a:solidFill>
              </a:rPr>
              <a:t>average(x/2, y/3)</a:t>
            </a:r>
            <a:r>
              <a:rPr lang="en" sz="1400">
                <a:solidFill>
                  <a:srgbClr val="000000"/>
                </a:solidFill>
              </a:rPr>
              <a:t> are legal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Computing Averages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to print the countdown message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 will run a for loop and call the function to print the message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Pass the countdown value as parameter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void ⇒ Indicates the function has no return value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98" name="Google Shape;98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Countdown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to print the 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Program will call the function to print it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require any information ⇒ No parameters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Write only function’s name, followed by parentheses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print_hello()</a:t>
            </a:r>
            <a:r>
              <a:rPr lang="en">
                <a:solidFill>
                  <a:srgbClr val="000000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Parentheses must be present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Hello, World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 of a </a:t>
            </a:r>
            <a:r>
              <a:rPr b="1" i="1" lang="en">
                <a:solidFill>
                  <a:srgbClr val="000000"/>
                </a:solidFill>
              </a:rPr>
              <a:t>function definition:</a:t>
            </a:r>
            <a:endParaRPr b="1" i="1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return-type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function-name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parameters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{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declarations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statements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0" name="Google Shape;110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 Definitions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</a:rPr>
              <a:t>return</a:t>
            </a:r>
            <a:r>
              <a:rPr lang="en">
                <a:solidFill>
                  <a:srgbClr val="000000"/>
                </a:solidFill>
              </a:rPr>
              <a:t> type of a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is the type of value that the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returns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Rules governing the </a:t>
            </a:r>
            <a:r>
              <a:rPr i="1" lang="en">
                <a:solidFill>
                  <a:srgbClr val="000000"/>
                </a:solidFill>
              </a:rPr>
              <a:t>return</a:t>
            </a:r>
            <a:r>
              <a:rPr lang="en">
                <a:solidFill>
                  <a:srgbClr val="000000"/>
                </a:solidFill>
              </a:rPr>
              <a:t> type: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Functions may not return arrays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Specifying that the return type is void indicates that the </a:t>
            </a:r>
            <a:r>
              <a:rPr b="1" i="1" lang="en" sz="1400">
                <a:solidFill>
                  <a:srgbClr val="000000"/>
                </a:solidFill>
              </a:rPr>
              <a:t>function</a:t>
            </a:r>
            <a:r>
              <a:rPr lang="en" sz="1400">
                <a:solidFill>
                  <a:srgbClr val="000000"/>
                </a:solidFill>
              </a:rPr>
              <a:t> doesn’t </a:t>
            </a:r>
            <a:r>
              <a:rPr i="1" lang="en" sz="1400">
                <a:solidFill>
                  <a:srgbClr val="000000"/>
                </a:solidFill>
              </a:rPr>
              <a:t>return</a:t>
            </a:r>
            <a:r>
              <a:rPr lang="en" sz="1400">
                <a:solidFill>
                  <a:srgbClr val="000000"/>
                </a:solidFill>
              </a:rPr>
              <a:t> a value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</a:t>
            </a:r>
            <a:r>
              <a:rPr i="1" lang="en">
                <a:solidFill>
                  <a:srgbClr val="000000"/>
                </a:solidFill>
              </a:rPr>
              <a:t>return</a:t>
            </a:r>
            <a:r>
              <a:rPr lang="en">
                <a:solidFill>
                  <a:srgbClr val="000000"/>
                </a:solidFill>
              </a:rPr>
              <a:t> type is omitted in C89, the </a:t>
            </a:r>
            <a:r>
              <a:rPr b="1" i="1" lang="en">
                <a:solidFill>
                  <a:srgbClr val="000000"/>
                </a:solidFill>
              </a:rPr>
              <a:t>function</a:t>
            </a:r>
            <a:r>
              <a:rPr lang="en">
                <a:solidFill>
                  <a:srgbClr val="000000"/>
                </a:solidFill>
              </a:rPr>
              <a:t> is presumed to return a value of type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omitting the return type is </a:t>
            </a:r>
            <a:r>
              <a:rPr lang="en">
                <a:solidFill>
                  <a:srgbClr val="E06666"/>
                </a:solidFill>
              </a:rPr>
              <a:t>illegal</a:t>
            </a:r>
            <a:endParaRPr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 Definitions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function-name ⇒ </a:t>
            </a:r>
            <a:r>
              <a:rPr lang="en">
                <a:solidFill>
                  <a:schemeClr val="dk1"/>
                </a:solidFill>
              </a:rPr>
              <a:t>Identifier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parameters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Each parameter is preceded by specification of its type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Separated by commas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No parameters ⇒ </a:t>
            </a:r>
            <a:r>
              <a:rPr lang="en" sz="1400">
                <a:solidFill>
                  <a:srgbClr val="674EA7"/>
                </a:solidFill>
              </a:rPr>
              <a:t>void</a:t>
            </a:r>
            <a:endParaRPr sz="1400">
              <a:solidFill>
                <a:srgbClr val="674EA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function-body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May include both declaration and statements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Variable of one function cannot be accessed by other functions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Might be empty if </a:t>
            </a:r>
            <a:r>
              <a:rPr i="1" lang="en" sz="1400">
                <a:solidFill>
                  <a:srgbClr val="000000"/>
                </a:solidFill>
              </a:rPr>
              <a:t>return</a:t>
            </a:r>
            <a:r>
              <a:rPr lang="en" sz="1400">
                <a:solidFill>
                  <a:srgbClr val="000000"/>
                </a:solidFill>
              </a:rPr>
              <a:t> type is </a:t>
            </a:r>
            <a:r>
              <a:rPr lang="en" sz="1400">
                <a:solidFill>
                  <a:srgbClr val="674EA7"/>
                </a:solidFill>
              </a:rPr>
              <a:t>void</a:t>
            </a:r>
            <a:r>
              <a:rPr lang="en" sz="1400">
                <a:solidFill>
                  <a:srgbClr val="000000"/>
                </a:solidFill>
              </a:rPr>
              <a:t> ⇒ During program development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2" name="Google Shape;122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call consists of a function name followed by a list of arguments, enclosed in parentheses: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average(x, y)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print_count(i)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print_pun()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parentheses are missing, the function </a:t>
            </a:r>
            <a:r>
              <a:rPr lang="en">
                <a:solidFill>
                  <a:srgbClr val="E06666"/>
                </a:solidFill>
              </a:rPr>
              <a:t>won’t be called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print_pun; 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This statement is legal but has no effect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8" name="Google Shape;128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674EA7"/>
                </a:solidFill>
              </a:rPr>
              <a:t>void</a:t>
            </a:r>
            <a:r>
              <a:rPr lang="en">
                <a:solidFill>
                  <a:srgbClr val="000000"/>
                </a:solidFill>
              </a:rPr>
              <a:t> function is always followed by a </a:t>
            </a:r>
            <a:r>
              <a:rPr i="1" lang="en">
                <a:solidFill>
                  <a:srgbClr val="000000"/>
                </a:solidFill>
              </a:rPr>
              <a:t>semicolon</a:t>
            </a:r>
            <a:r>
              <a:rPr lang="en">
                <a:solidFill>
                  <a:srgbClr val="000000"/>
                </a:solidFill>
              </a:rPr>
              <a:t> to turn it into a statement: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print_count(i);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print_pun();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 a non-void function produces a value that can be stored in a variable, tested, printed, or used in some other way: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avg = average(x, y);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Stored in variable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(average(x, y) &gt; 0)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Tested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"Average is positive\n"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"The average is %g\n"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average(x, y));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Printed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4" name="Google Shape;134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 Calls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Ignoring the </a:t>
            </a:r>
            <a:r>
              <a:rPr i="1" lang="en">
                <a:solidFill>
                  <a:srgbClr val="000000"/>
                </a:solidFill>
              </a:rPr>
              <a:t>return</a:t>
            </a:r>
            <a:r>
              <a:rPr lang="en">
                <a:solidFill>
                  <a:srgbClr val="000000"/>
                </a:solidFill>
              </a:rPr>
              <a:t> value of average is an odd thing to do, but for some functions it makes sense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 returns the number of characters that it prints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the following call, </a:t>
            </a:r>
            <a:r>
              <a:rPr b="1" i="1" lang="en">
                <a:solidFill>
                  <a:srgbClr val="000000"/>
                </a:solidFill>
              </a:rPr>
              <a:t>num_chars</a:t>
            </a:r>
            <a:r>
              <a:rPr lang="en">
                <a:solidFill>
                  <a:srgbClr val="000000"/>
                </a:solidFill>
              </a:rPr>
              <a:t> will have the value 34: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num_chars =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"Life is like a box of chocolates!\n"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We’ll normally discard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>
                <a:solidFill>
                  <a:srgbClr val="000000"/>
                </a:solidFill>
              </a:rPr>
              <a:t>’s return value: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"Life is like a box of chocolates!\n"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discards return value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0" name="Google Shape;140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 Calls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 make it clear that we’re deliberately discarding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value of a function, C allows us to put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</a:rPr>
              <a:t>) before the call: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	(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 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4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"Life is like a box of chocolates!\n"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</a:rPr>
              <a:t>) makes it clear to others that you deliberately discarded the return value, not just forgot that there was one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6" name="Google Shape;146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Defining and Calling 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Functions Calls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Given a number, tests whether that number is </a:t>
            </a:r>
            <a:r>
              <a:rPr i="1" lang="en">
                <a:solidFill>
                  <a:srgbClr val="000000"/>
                </a:solidFill>
              </a:rPr>
              <a:t>prime</a:t>
            </a:r>
            <a:r>
              <a:rPr lang="en">
                <a:solidFill>
                  <a:srgbClr val="000000"/>
                </a:solidFill>
              </a:rPr>
              <a:t> or not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 number: </a:t>
            </a:r>
            <a:r>
              <a:rPr b="1" lang="en" sz="14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34</a:t>
            </a:r>
            <a:endParaRPr b="1" sz="14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lang="en" sz="1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Not prime</a:t>
            </a:r>
            <a:endParaRPr b="1" sz="14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 takes the number as parameter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true</a:t>
            </a:r>
            <a:r>
              <a:rPr lang="en">
                <a:solidFill>
                  <a:srgbClr val="000000"/>
                </a:solidFill>
              </a:rPr>
              <a:t> if its prime,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false</a:t>
            </a:r>
            <a:r>
              <a:rPr lang="en">
                <a:solidFill>
                  <a:srgbClr val="000000"/>
                </a:solidFill>
              </a:rPr>
              <a:t> otherwise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2" name="Google Shape;152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Testing Whether a Number is Prime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idx="1" type="body"/>
          </p:nvPr>
        </p:nvSpPr>
        <p:spPr>
          <a:xfrm>
            <a:off x="512750" y="16378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doesn’t require that the definition of a function precede its calls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Suppose that we rearrange the </a:t>
            </a:r>
            <a:r>
              <a:rPr i="1" lang="en">
                <a:solidFill>
                  <a:srgbClr val="000000"/>
                </a:solidFill>
              </a:rPr>
              <a:t>average.c</a:t>
            </a:r>
            <a:r>
              <a:rPr lang="en">
                <a:solidFill>
                  <a:srgbClr val="000000"/>
                </a:solidFill>
              </a:rPr>
              <a:t> program by putting the definition of average </a:t>
            </a:r>
            <a:r>
              <a:rPr i="1" lang="en">
                <a:solidFill>
                  <a:srgbClr val="000000"/>
                </a:solidFill>
              </a:rPr>
              <a:t>after</a:t>
            </a:r>
            <a:r>
              <a:rPr lang="en">
                <a:solidFill>
                  <a:srgbClr val="000000"/>
                </a:solidFill>
              </a:rPr>
              <a:t> the definition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the compiler encounters the first call of </a:t>
            </a:r>
            <a:r>
              <a:rPr i="1" lang="en">
                <a:solidFill>
                  <a:srgbClr val="000000"/>
                </a:solidFill>
              </a:rPr>
              <a:t>average</a:t>
            </a:r>
            <a:r>
              <a:rPr lang="en">
                <a:solidFill>
                  <a:srgbClr val="000000"/>
                </a:solidFill>
              </a:rPr>
              <a:t>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</a:t>
            </a:r>
            <a:r>
              <a:rPr lang="en">
                <a:solidFill>
                  <a:srgbClr val="000000"/>
                </a:solidFill>
              </a:rPr>
              <a:t>, it has no information about the function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Instead of producing an error message, the compiler assumes that </a:t>
            </a:r>
            <a:r>
              <a:rPr i="1" lang="en">
                <a:solidFill>
                  <a:srgbClr val="000000"/>
                </a:solidFill>
              </a:rPr>
              <a:t>average</a:t>
            </a:r>
            <a:r>
              <a:rPr lang="en">
                <a:solidFill>
                  <a:srgbClr val="000000"/>
                </a:solidFill>
              </a:rPr>
              <a:t> returns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 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We say that the compiler has created an </a:t>
            </a:r>
            <a:r>
              <a:rPr b="1" i="1" lang="en">
                <a:solidFill>
                  <a:srgbClr val="000000"/>
                </a:solidFill>
              </a:rPr>
              <a:t>implicit declaration</a:t>
            </a:r>
            <a:r>
              <a:rPr lang="en">
                <a:solidFill>
                  <a:srgbClr val="000000"/>
                </a:solidFill>
              </a:rPr>
              <a:t> of the function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 Declarations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512750" y="1714050"/>
            <a:ext cx="8530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i="1" lang="en">
                <a:solidFill>
                  <a:srgbClr val="000000"/>
                </a:solidFill>
              </a:rPr>
              <a:t>compiler</a:t>
            </a:r>
            <a:r>
              <a:rPr lang="en">
                <a:solidFill>
                  <a:srgbClr val="000000"/>
                </a:solidFill>
              </a:rPr>
              <a:t> is unable to check that we’re passing </a:t>
            </a:r>
            <a:r>
              <a:rPr i="1" lang="en">
                <a:solidFill>
                  <a:srgbClr val="000000"/>
                </a:solidFill>
              </a:rPr>
              <a:t>average</a:t>
            </a:r>
            <a:r>
              <a:rPr lang="en">
                <a:solidFill>
                  <a:srgbClr val="000000"/>
                </a:solidFill>
              </a:rPr>
              <a:t> the right number of arguments and that the arguments have the proper </a:t>
            </a:r>
            <a:r>
              <a:rPr i="1" lang="en">
                <a:solidFill>
                  <a:srgbClr val="000000"/>
                </a:solidFill>
              </a:rPr>
              <a:t>type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Instead, it performs the </a:t>
            </a:r>
            <a:r>
              <a:rPr i="1" lang="en">
                <a:solidFill>
                  <a:srgbClr val="000000"/>
                </a:solidFill>
              </a:rPr>
              <a:t>default</a:t>
            </a:r>
            <a:r>
              <a:rPr lang="en">
                <a:solidFill>
                  <a:srgbClr val="000000"/>
                </a:solidFill>
              </a:rPr>
              <a:t> argument promotions and hopes for the best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When it encounters the definition of </a:t>
            </a:r>
            <a:r>
              <a:rPr i="1" lang="en">
                <a:solidFill>
                  <a:srgbClr val="000000"/>
                </a:solidFill>
              </a:rPr>
              <a:t>average</a:t>
            </a:r>
            <a:r>
              <a:rPr lang="en">
                <a:solidFill>
                  <a:srgbClr val="000000"/>
                </a:solidFill>
              </a:rPr>
              <a:t> later in the program, the compiler notices that the function’s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type is actually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>
                <a:solidFill>
                  <a:srgbClr val="000000"/>
                </a:solidFill>
              </a:rPr>
              <a:t>, not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>
                <a:solidFill>
                  <a:srgbClr val="000000"/>
                </a:solidFill>
              </a:rPr>
              <a:t>, and so we get an </a:t>
            </a:r>
            <a:r>
              <a:rPr lang="en">
                <a:solidFill>
                  <a:srgbClr val="E06666"/>
                </a:solidFill>
              </a:rPr>
              <a:t>error message</a:t>
            </a:r>
            <a:endParaRPr>
              <a:solidFill>
                <a:srgbClr val="E06666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4" name="Google Shape;16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 Declarations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512750" y="1714050"/>
            <a:ext cx="85530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One way to </a:t>
            </a:r>
            <a:r>
              <a:rPr lang="en">
                <a:solidFill>
                  <a:srgbClr val="6D9EEB"/>
                </a:solidFill>
              </a:rPr>
              <a:t>avoid</a:t>
            </a:r>
            <a:r>
              <a:rPr lang="en">
                <a:solidFill>
                  <a:srgbClr val="000000"/>
                </a:solidFill>
              </a:rPr>
              <a:t> the problem of </a:t>
            </a:r>
            <a:r>
              <a:rPr i="1" lang="en">
                <a:solidFill>
                  <a:srgbClr val="000000"/>
                </a:solidFill>
              </a:rPr>
              <a:t>call-before-definition</a:t>
            </a:r>
            <a:r>
              <a:rPr lang="en">
                <a:solidFill>
                  <a:srgbClr val="000000"/>
                </a:solidFill>
              </a:rPr>
              <a:t> is to arrange the program so that the </a:t>
            </a:r>
            <a:r>
              <a:rPr i="1" lang="en">
                <a:solidFill>
                  <a:srgbClr val="000000"/>
                </a:solidFill>
              </a:rPr>
              <a:t>definition</a:t>
            </a:r>
            <a:r>
              <a:rPr lang="en">
                <a:solidFill>
                  <a:srgbClr val="000000"/>
                </a:solidFill>
              </a:rPr>
              <a:t> of each function precedes all its calls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Unfortunately, such an arrangement </a:t>
            </a:r>
            <a:r>
              <a:rPr lang="en">
                <a:solidFill>
                  <a:srgbClr val="E06666"/>
                </a:solidFill>
              </a:rPr>
              <a:t>doesn’t always exist</a:t>
            </a:r>
            <a:endParaRPr>
              <a:solidFill>
                <a:srgbClr val="E06666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Even when it does, it may make the program harder to understand by putting its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function</a:t>
            </a:r>
            <a:r>
              <a:rPr lang="en">
                <a:solidFill>
                  <a:srgbClr val="000000"/>
                </a:solidFill>
              </a:rPr>
              <a:t> definitions in an unnatural order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Fortunately, C offers a better </a:t>
            </a:r>
            <a:r>
              <a:rPr i="1" lang="en">
                <a:solidFill>
                  <a:srgbClr val="6D9EEB"/>
                </a:solidFill>
              </a:rPr>
              <a:t>solution</a:t>
            </a:r>
            <a:r>
              <a:rPr lang="en">
                <a:solidFill>
                  <a:srgbClr val="000000"/>
                </a:solidFill>
              </a:rPr>
              <a:t>: declare each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function</a:t>
            </a:r>
            <a:r>
              <a:rPr lang="en">
                <a:solidFill>
                  <a:srgbClr val="000000"/>
                </a:solidFill>
              </a:rPr>
              <a:t> before calling it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 Declarations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512750" y="1714050"/>
            <a:ext cx="83163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Also known as </a:t>
            </a:r>
            <a:r>
              <a:rPr b="1" i="1" lang="en">
                <a:solidFill>
                  <a:srgbClr val="000000"/>
                </a:solidFill>
              </a:rPr>
              <a:t>function prototypes</a:t>
            </a:r>
            <a:endParaRPr b="1"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return-type 	function-name ( parameters ) ;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Must be consistent with the function’s definition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Doesn’t need to specify the names of parameters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B3B3F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average(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6" name="Google Shape;176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 Declarations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idx="1" type="body"/>
          </p:nvPr>
        </p:nvSpPr>
        <p:spPr>
          <a:xfrm>
            <a:off x="512750" y="1714050"/>
            <a:ext cx="83163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Best not to omit parameter names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Helps document the purpose of each parameters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Reminds the programmer of the order in which arguments must appear in function call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C99 produces </a:t>
            </a:r>
            <a:r>
              <a:rPr lang="en">
                <a:solidFill>
                  <a:srgbClr val="E06666"/>
                </a:solidFill>
              </a:rPr>
              <a:t>error</a:t>
            </a:r>
            <a:r>
              <a:rPr lang="en">
                <a:solidFill>
                  <a:srgbClr val="000000"/>
                </a:solidFill>
              </a:rPr>
              <a:t> for implicit declarations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2" name="Google Shape;182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Function Declarations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512750" y="1714050"/>
            <a:ext cx="85383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i="1" lang="en">
                <a:solidFill>
                  <a:srgbClr val="000000"/>
                </a:solidFill>
              </a:rPr>
              <a:t>Passed by value</a:t>
            </a:r>
            <a:r>
              <a:rPr lang="en">
                <a:solidFill>
                  <a:srgbClr val="000000"/>
                </a:solidFill>
              </a:rPr>
              <a:t> ⇒ Evaluate argument and assign its value to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corresponding parameter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Changes made in parameter doesn’t affect the argument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Advantage: Can use parameter as variables in function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Disadvantage: Might require editing arguments</a:t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» </a:t>
            </a:r>
            <a:r>
              <a:rPr lang="en" sz="1400">
                <a:solidFill>
                  <a:srgbClr val="000000"/>
                </a:solidFill>
              </a:rPr>
              <a:t>Returning multiple values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674EA7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8" name="Google Shape;188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6179600" y="3199300"/>
            <a:ext cx="2575500" cy="1880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power(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result = 1;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(n-- &gt; 0)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result *= x;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result;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Type of argument might not match the type of the parameters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Depends on whether compiler has seen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Prototype for the function, or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Full definition of function prior to the call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seen before ⇒ Match with corresponding parameter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e.g.: int to double for average.c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not ⇒ Default argument promotion ⇒ Integer Promotions (C99)/Integral Promotion (C89), 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e.g.: float </a:t>
            </a:r>
            <a:r>
              <a:rPr lang="en">
                <a:solidFill>
                  <a:srgbClr val="000000"/>
                </a:solidFill>
              </a:rPr>
              <a:t>⇒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double, char/short </a:t>
            </a:r>
            <a:r>
              <a:rPr lang="en">
                <a:solidFill>
                  <a:srgbClr val="000000"/>
                </a:solidFill>
              </a:rPr>
              <a:t>⇒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5" name="Google Shape;195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Argument Conversions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512750" y="16378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Relying on the default argument promotion is </a:t>
            </a:r>
            <a:r>
              <a:rPr b="1" i="1" lang="en">
                <a:solidFill>
                  <a:srgbClr val="000000"/>
                </a:solidFill>
              </a:rPr>
              <a:t>dangerous</a:t>
            </a:r>
            <a:r>
              <a:rPr lang="en">
                <a:solidFill>
                  <a:srgbClr val="000000"/>
                </a:solidFill>
              </a:rPr>
              <a:t> ⇒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6AA84F"/>
                </a:solidFill>
              </a:rPr>
              <a:t>Solution</a:t>
            </a:r>
            <a:r>
              <a:rPr lang="en">
                <a:solidFill>
                  <a:srgbClr val="000000"/>
                </a:solidFill>
              </a:rPr>
              <a:t>: Provide prototype before calling it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1" name="Google Shape;201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Argument Conversions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2814150" y="2214450"/>
            <a:ext cx="3537600" cy="2232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#include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&lt;stdio.h&gt;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main(){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"%f"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square(5.0));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square(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 * x;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512750" y="16378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Difficult to determine the length ⇒ Supply as an additional argument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8" name="Google Shape;208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Arguments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1021300" y="1768713"/>
            <a:ext cx="6024300" cy="1010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a[]){		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no length specification required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24"/>
          <p:cNvSpPr txBox="1"/>
          <p:nvPr/>
        </p:nvSpPr>
        <p:spPr>
          <a:xfrm>
            <a:off x="2562700" y="3145325"/>
            <a:ext cx="3128400" cy="1926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sum_array(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sum = 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sum += a[i];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sum;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Prototype ⇒  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sum_array(int a[], int n);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Don’t put brackets after array name when passing to function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Arguments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1414700" y="2732275"/>
            <a:ext cx="5173500" cy="229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LEN 100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main(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b[LEN], total;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total = sum_array(b, LEN);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Correct way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 = sum_array(b[], LEN); 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...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 can’t check whether we passed the correct array length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used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sum of first 50 numbers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total = sum_array(b, 50);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Don’t pass larger value ⇒ </a:t>
            </a:r>
            <a:r>
              <a:rPr lang="en">
                <a:solidFill>
                  <a:srgbClr val="E06666"/>
                </a:solidFill>
              </a:rPr>
              <a:t>Undefined behavior</a:t>
            </a:r>
            <a:endParaRPr>
              <a:solidFill>
                <a:srgbClr val="E0666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3" name="Google Shape;223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Arguments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Function can change array argument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call of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store_zeros(b, 100);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can modify the contents of the original array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Arguments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2782650" y="2300600"/>
            <a:ext cx="3578700" cy="1578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store_zeros(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a[i]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Multidimensional arrays ⇒ Only the length of the first dimension may be omitted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be a nuisance ⇒ Array of pointers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Array Arguments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2409950" y="2314850"/>
            <a:ext cx="4017600" cy="229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#define LEN 10</a:t>
            </a:r>
            <a:endParaRPr b="0" i="0" sz="12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sum_2D_array(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a[][LEN],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i, j, sum = 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= 0; i &lt; n; i++)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(j = 0; j &lt; LEN; j++)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sum += a[i][j];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 sum;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i="1" lang="en">
                <a:solidFill>
                  <a:srgbClr val="000000"/>
                </a:solidFill>
              </a:rPr>
              <a:t>non-void</a:t>
            </a:r>
            <a:r>
              <a:rPr lang="en">
                <a:solidFill>
                  <a:srgbClr val="000000"/>
                </a:solidFill>
              </a:rPr>
              <a:t> function must use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statement to specify what value it will return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statement has the form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expression is often just a constant or variable: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status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complex expressions are possible:		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&gt;= 0 ? n : 0;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3" name="Google Shape;243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/>
              <a:t> Statement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type of the expression in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statement doesn’t match the function’s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type, the expression will be implicitly converted to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type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a function returns an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400">
                <a:solidFill>
                  <a:srgbClr val="000000"/>
                </a:solidFill>
              </a:rPr>
              <a:t>, but 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</a:rPr>
              <a:t> statement contains 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double</a:t>
            </a:r>
            <a:r>
              <a:rPr lang="en" sz="1400">
                <a:solidFill>
                  <a:srgbClr val="000000"/>
                </a:solidFill>
              </a:rPr>
              <a:t> expression, the value of the expression is converted to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9" name="Google Shape;249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/>
              <a:t> Statement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statements may appear in functions whose return type is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lang="en">
                <a:solidFill>
                  <a:srgbClr val="000000"/>
                </a:solidFill>
              </a:rPr>
              <a:t>, provided that no expression is given: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r>
              <a:rPr lang="en" sz="14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  	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return in a void function */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5" name="Google Shape;255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/>
              <a:t> Statement</a:t>
            </a:r>
            <a:endParaRPr/>
          </a:p>
        </p:txBody>
      </p:sp>
      <p:sp>
        <p:nvSpPr>
          <p:cNvPr id="256" name="Google Shape;256;p31"/>
          <p:cNvSpPr txBox="1"/>
          <p:nvPr/>
        </p:nvSpPr>
        <p:spPr>
          <a:xfrm>
            <a:off x="2938075" y="3137900"/>
            <a:ext cx="2960400" cy="1770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void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print_int(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(i &lt;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 type of main ⇒ int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– 	Status code ⇒ Tested when the program terminates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» 0 ⇒ Normal termination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» Other than 0 ⇒ </a:t>
            </a:r>
            <a:r>
              <a:rPr lang="en" sz="1400">
                <a:solidFill>
                  <a:srgbClr val="E06666"/>
                </a:solidFill>
              </a:rPr>
              <a:t>Abnormal</a:t>
            </a:r>
            <a:r>
              <a:rPr lang="en" sz="1400">
                <a:solidFill>
                  <a:srgbClr val="000000"/>
                </a:solidFill>
              </a:rPr>
              <a:t> termination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Return type of main can be omitted in C89 ⇒</a:t>
            </a:r>
            <a:r>
              <a:rPr lang="en">
                <a:solidFill>
                  <a:srgbClr val="E06666"/>
                </a:solidFill>
              </a:rPr>
              <a:t> Not allowed</a:t>
            </a:r>
            <a:r>
              <a:rPr lang="en">
                <a:solidFill>
                  <a:srgbClr val="000000"/>
                </a:solidFill>
              </a:rPr>
              <a:t> inC99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Good practice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a status code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terminate program only in the main function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2" name="Google Shape;262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Termination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/>
          <p:nvPr>
            <p:ph idx="1" type="body"/>
          </p:nvPr>
        </p:nvSpPr>
        <p:spPr>
          <a:xfrm>
            <a:off x="512750" y="16378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Called to terminate the program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exit(0);	//Member of 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&lt;stdlib.h&gt;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Argument passed has the same meaning as main’s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lang="en">
                <a:solidFill>
                  <a:srgbClr val="000000"/>
                </a:solidFill>
              </a:rPr>
              <a:t> 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Macros can be used as argument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exit(EXIT_SUCCESS);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successful termination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exit(EXIT_FAILURE); 	</a:t>
            </a:r>
            <a:r>
              <a:rPr lang="en" sz="14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// abnormal termination</a:t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 	</a:t>
            </a:r>
            <a:r>
              <a:rPr lang="en" sz="1400">
                <a:solidFill>
                  <a:srgbClr val="000000"/>
                </a:solidFill>
              </a:rPr>
              <a:t>Value of macros </a:t>
            </a:r>
            <a:r>
              <a:rPr lang="en">
                <a:solidFill>
                  <a:srgbClr val="000000"/>
                </a:solidFill>
              </a:rPr>
              <a:t>⇒ </a:t>
            </a:r>
            <a:r>
              <a:rPr lang="en" sz="1400">
                <a:solidFill>
                  <a:srgbClr val="000000"/>
                </a:solidFill>
              </a:rPr>
              <a:t> Implementation-defined; typical values are 0 and 1, respectively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Can terminate program whenever called</a:t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8" name="Google Shape;268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 Termination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return 0;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512750" y="16378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function is </a:t>
            </a:r>
            <a:r>
              <a:rPr b="1" i="1" lang="en">
                <a:solidFill>
                  <a:srgbClr val="000000"/>
                </a:solidFill>
              </a:rPr>
              <a:t>recursive</a:t>
            </a:r>
            <a:r>
              <a:rPr lang="en">
                <a:solidFill>
                  <a:srgbClr val="000000"/>
                </a:solidFill>
              </a:rPr>
              <a:t> if it calls itself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know: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it to define a function: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Recursion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5" name="Google Shape;275;p34"/>
          <p:cNvSpPr txBox="1"/>
          <p:nvPr/>
        </p:nvSpPr>
        <p:spPr>
          <a:xfrm>
            <a:off x="2679025" y="2301625"/>
            <a:ext cx="2279400" cy="1010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n! = n × (n - 1)!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1! = 1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0! = 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4203600" y="3610050"/>
            <a:ext cx="3522600" cy="1413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fact(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&lt;= 1)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* fact(n - 1);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Trace of execution of statement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2" name="Google Shape;282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Recursion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3" name="Google Shape;283;p35"/>
          <p:cNvSpPr txBox="1"/>
          <p:nvPr/>
        </p:nvSpPr>
        <p:spPr>
          <a:xfrm>
            <a:off x="1132300" y="2434825"/>
            <a:ext cx="6550200" cy="2465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fact(3);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fact(3): 3 ≤ 1 ⇒ Condition false, calls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fact(2): 2 ≤ 1 ⇒ Condition false, calls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fact(1): 1 ≤ 1 ⇒ Condition true, returns 1, causing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fact(2) to return 2 × 1 = 2, causing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fact(3) to return 3 × 2 = 6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4" name="Google Shape;284;p35"/>
          <p:cNvCxnSpPr/>
          <p:nvPr/>
        </p:nvCxnSpPr>
        <p:spPr>
          <a:xfrm flipH="1">
            <a:off x="2666125" y="2968800"/>
            <a:ext cx="14700" cy="15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35"/>
          <p:cNvCxnSpPr/>
          <p:nvPr/>
        </p:nvCxnSpPr>
        <p:spPr>
          <a:xfrm flipH="1">
            <a:off x="3127600" y="3365425"/>
            <a:ext cx="14700" cy="15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recursive function computes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30000"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, using the formula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30000"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=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×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30000"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aseline="30000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–1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Recursion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2" name="Google Shape;292;p36"/>
          <p:cNvSpPr txBox="1"/>
          <p:nvPr/>
        </p:nvSpPr>
        <p:spPr>
          <a:xfrm>
            <a:off x="1931600" y="2812275"/>
            <a:ext cx="4714200" cy="1862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power(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==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 * power(x, n - 1);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 txBox="1"/>
          <p:nvPr>
            <p:ph idx="1" type="body"/>
          </p:nvPr>
        </p:nvSpPr>
        <p:spPr>
          <a:xfrm>
            <a:off x="512750" y="1714050"/>
            <a:ext cx="8538300" cy="3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Condense the power function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Careful to test “</a:t>
            </a:r>
            <a:r>
              <a:rPr i="1" lang="en">
                <a:solidFill>
                  <a:srgbClr val="000000"/>
                </a:solidFill>
              </a:rPr>
              <a:t>termination condition</a:t>
            </a:r>
            <a:r>
              <a:rPr lang="en">
                <a:solidFill>
                  <a:srgbClr val="000000"/>
                </a:solidFill>
              </a:rPr>
              <a:t>” ⇒ Prevents </a:t>
            </a:r>
            <a:r>
              <a:rPr i="1" lang="en">
                <a:solidFill>
                  <a:srgbClr val="E06666"/>
                </a:solidFill>
              </a:rPr>
              <a:t>infinite recursion</a:t>
            </a:r>
            <a:endParaRPr i="1">
              <a:solidFill>
                <a:srgbClr val="E06666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1257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11430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8" name="Google Shape;298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Recursion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1724400" y="2323825"/>
            <a:ext cx="4714200" cy="1075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power(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x,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n){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return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== 0	? 1 : x * power(x, n - 1);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