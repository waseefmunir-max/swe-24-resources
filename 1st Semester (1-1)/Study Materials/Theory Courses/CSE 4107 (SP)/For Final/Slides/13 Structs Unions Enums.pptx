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5143500" cx="9144000"/>
  <p:notesSz cx="6858000" cy="9144000"/>
  <p:embeddedFontLst>
    <p:embeddedFont>
      <p:font typeface="Roboto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2" roundtripDataSignature="AMtx7mgCBtSD7uTqnBnyAIH5q/rRwqet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-regular.fntdata"/><Relationship Id="rId47" Type="http://schemas.openxmlformats.org/officeDocument/2006/relationships/slide" Target="slides/slide42.xml"/><Relationship Id="rId49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-boldItalic.fntdata"/><Relationship Id="rId50" Type="http://schemas.openxmlformats.org/officeDocument/2006/relationships/font" Target="fonts/Roboto-italic.fntdata"/><Relationship Id="rId52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5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45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5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45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4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6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6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4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7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3" name="Google Shape;23;p4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8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8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48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48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4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9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9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4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0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50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0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50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5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1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5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2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52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5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52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5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5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3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53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53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5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4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54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5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4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4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/>
          <p:nvPr>
            <p:ph type="ctrTitle"/>
          </p:nvPr>
        </p:nvSpPr>
        <p:spPr>
          <a:xfrm>
            <a:off x="390525" y="1819275"/>
            <a:ext cx="8483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Lesson: Structures, Unions, and Enumerations</a:t>
            </a:r>
            <a:endParaRPr/>
          </a:p>
        </p:txBody>
      </p:sp>
      <p:sp>
        <p:nvSpPr>
          <p:cNvPr id="68" name="Google Shape;68;p1"/>
          <p:cNvSpPr txBox="1"/>
          <p:nvPr>
            <p:ph idx="1" type="subTitle"/>
          </p:nvPr>
        </p:nvSpPr>
        <p:spPr>
          <a:xfrm>
            <a:off x="390525" y="2789124"/>
            <a:ext cx="82221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CSE 4107 : Structured Programming I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Shahriar Ivan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properties of a </a:t>
            </a:r>
            <a:r>
              <a:rPr b="1" i="1" lang="en">
                <a:solidFill>
                  <a:srgbClr val="000000"/>
                </a:solidFill>
              </a:rPr>
              <a:t>structure</a:t>
            </a:r>
            <a:r>
              <a:rPr lang="en">
                <a:solidFill>
                  <a:srgbClr val="000000"/>
                </a:solidFill>
              </a:rPr>
              <a:t> are different from those of an array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The elements of a structure (its </a:t>
            </a:r>
            <a:r>
              <a:rPr b="1" i="1" lang="en" sz="1400">
                <a:solidFill>
                  <a:srgbClr val="000000"/>
                </a:solidFill>
              </a:rPr>
              <a:t>members</a:t>
            </a:r>
            <a:r>
              <a:rPr lang="en" sz="1400">
                <a:solidFill>
                  <a:srgbClr val="000000"/>
                </a:solidFill>
              </a:rPr>
              <a:t>) aren’t required to have the same type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The members of a structure have names; to select a particular member, we specify its name, not its position</a:t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 some languages, structures are called </a:t>
            </a:r>
            <a:r>
              <a:rPr b="1" i="1" lang="en">
                <a:solidFill>
                  <a:srgbClr val="000000"/>
                </a:solidFill>
              </a:rPr>
              <a:t>records,</a:t>
            </a:r>
            <a:r>
              <a:rPr lang="en">
                <a:solidFill>
                  <a:srgbClr val="000000"/>
                </a:solidFill>
              </a:rPr>
              <a:t> and members are known as </a:t>
            </a:r>
            <a:r>
              <a:rPr b="1" i="1" lang="en">
                <a:solidFill>
                  <a:srgbClr val="000000"/>
                </a:solidFill>
              </a:rPr>
              <a:t>fields</a:t>
            </a:r>
            <a:endParaRPr b="1"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structure is a </a:t>
            </a:r>
            <a:r>
              <a:rPr lang="en">
                <a:solidFill>
                  <a:srgbClr val="6D9EEB"/>
                </a:solidFill>
              </a:rPr>
              <a:t>logical</a:t>
            </a:r>
            <a:r>
              <a:rPr lang="en">
                <a:solidFill>
                  <a:srgbClr val="000000"/>
                </a:solidFill>
              </a:rPr>
              <a:t> choice for storing a collection of related data items</a:t>
            </a:r>
            <a:endParaRPr b="1" i="1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74" name="Google Shape;74;p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Structure Variables</a:t>
            </a:r>
            <a:endParaRPr i="1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declaration of two structure variables that store information about parts in a warehouse: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number;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name[NAME_LEN+1];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on_hand;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 part1, part2;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0" name="Google Shape;80;p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Structure Variables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Declaring Structure Variables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/>
          <p:nvPr>
            <p:ph idx="1" type="body"/>
          </p:nvPr>
        </p:nvSpPr>
        <p:spPr>
          <a:xfrm>
            <a:off x="512750" y="1714050"/>
            <a:ext cx="53313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8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members of a structure are stored in memory in the order in which they’re declared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Appearance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part1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Assumptions: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part1</a:t>
            </a:r>
            <a:r>
              <a:rPr lang="en">
                <a:solidFill>
                  <a:srgbClr val="000000"/>
                </a:solidFill>
              </a:rPr>
              <a:t> is located at address 2000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Integers occupy four bytes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NAME_LEN</a:t>
            </a:r>
            <a:r>
              <a:rPr lang="en">
                <a:solidFill>
                  <a:srgbClr val="000000"/>
                </a:solidFill>
              </a:rPr>
              <a:t> has the value 25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There are no gaps between the members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6" name="Google Shape;86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Structure Variables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Declaring Structure Variables</a:t>
            </a:r>
            <a:endParaRPr/>
          </a:p>
        </p:txBody>
      </p:sp>
      <p:pic>
        <p:nvPicPr>
          <p:cNvPr id="87" name="Google Shape;8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8000" y="1887787"/>
            <a:ext cx="1539000" cy="308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 txBox="1"/>
          <p:nvPr>
            <p:ph idx="1" type="body"/>
          </p:nvPr>
        </p:nvSpPr>
        <p:spPr>
          <a:xfrm>
            <a:off x="512750" y="1714050"/>
            <a:ext cx="84027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8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Each structure represents a new space ⇒ Name space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Any names declared in that scope won’t conflict with other names in a program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3" name="Google Shape;93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Structure Variables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Declaring Structure Variables</a:t>
            </a:r>
            <a:endParaRPr/>
          </a:p>
        </p:txBody>
      </p:sp>
      <p:sp>
        <p:nvSpPr>
          <p:cNvPr id="94" name="Google Shape;94;p5"/>
          <p:cNvSpPr txBox="1"/>
          <p:nvPr/>
        </p:nvSpPr>
        <p:spPr>
          <a:xfrm>
            <a:off x="1065175" y="3027725"/>
            <a:ext cx="3108000" cy="16992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number;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name[NAME_LEN+1];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on_hand;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 part1, part2;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5"/>
          <p:cNvSpPr txBox="1"/>
          <p:nvPr/>
        </p:nvSpPr>
        <p:spPr>
          <a:xfrm>
            <a:off x="5179150" y="3027725"/>
            <a:ext cx="3108000" cy="16992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number;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name[NAME_LEN+1];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gender;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 employee1, employee2;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6" name="Google Shape;96;p5"/>
          <p:cNvCxnSpPr/>
          <p:nvPr/>
        </p:nvCxnSpPr>
        <p:spPr>
          <a:xfrm>
            <a:off x="4709900" y="2604425"/>
            <a:ext cx="8400" cy="240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With declaration ⇒ Similar to array initializer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number;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name[NAME_LEN+1];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on_hand;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 	part1 = {328, “North Hall”, 2}, 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part2 = {329, “North Hall”, 1};</a:t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2" name="Google Shape;102;p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Structure Variables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Initializing Structure Variables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7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Structure initializers follow rules similar to those for array initializers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Expressions used in a structure initializer must be constant. (This restriction is relaxed in C99.)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 initializer can have fewer members than the structure it’s initializing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Any </a:t>
            </a:r>
            <a:r>
              <a:rPr b="1" lang="en">
                <a:solidFill>
                  <a:srgbClr val="000000"/>
                </a:solidFill>
              </a:rPr>
              <a:t>“leftover”</a:t>
            </a:r>
            <a:r>
              <a:rPr lang="en">
                <a:solidFill>
                  <a:srgbClr val="000000"/>
                </a:solidFill>
              </a:rPr>
              <a:t> members are given 0 as their initial value</a:t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8" name="Google Shape;108;p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Structure Variables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Initializing Structure Variables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Similar to arrays: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{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.number = 328, .name = ”North Hall”, .on_hand = 2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sz="1400">
              <a:solidFill>
                <a:srgbClr val="674E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.member_name ⇒ Designator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Easy to read and check for correctness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Can be in a different order than the original declaration</a:t>
            </a:r>
            <a:endParaRPr>
              <a:solidFill>
                <a:srgbClr val="000000"/>
              </a:solidFill>
            </a:endParaRPr>
          </a:p>
          <a:p>
            <a:pPr indent="-3175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Don’t have to remember the order</a:t>
            </a:r>
            <a:endParaRPr>
              <a:solidFill>
                <a:srgbClr val="000000"/>
              </a:solidFill>
            </a:endParaRPr>
          </a:p>
          <a:p>
            <a:pPr indent="-3175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Declaration can be changed without affecting the initialization</a:t>
            </a:r>
            <a:endParaRPr>
              <a:solidFill>
                <a:srgbClr val="000000"/>
              </a:solidFill>
            </a:endParaRPr>
          </a:p>
          <a:p>
            <a:pPr indent="-3175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Can be a mixed declaration: 	</a:t>
            </a:r>
            <a:r>
              <a:rPr lang="en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{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.number = 328, ”North Hall”, .on_hand = 2</a:t>
            </a:r>
            <a:r>
              <a:rPr lang="en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sz="1200">
              <a:solidFill>
                <a:srgbClr val="674EA7"/>
              </a:solidFill>
            </a:endParaRPr>
          </a:p>
          <a:p>
            <a:pPr indent="0" lvl="0" marL="0" rtl="0" algn="l">
              <a:lnSpc>
                <a:spcPct val="1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4" name="Google Shape;114;p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Structure Variables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Designated Initializers (C99)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access a member within a structure, we write the name of the structure first, then a period, then the name of the member.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Statements that display the values of part1’s members: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"Part number: %d\n"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part1.number);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"Part name: %s\n"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part1.name);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"Quantity on hand: %d\n"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part1.on_hand);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0" name="Google Shape;120;p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Structure Variables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Operations on Structures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members of a structure are </a:t>
            </a:r>
            <a:r>
              <a:rPr i="1" lang="en">
                <a:solidFill>
                  <a:srgbClr val="000000"/>
                </a:solidFill>
              </a:rPr>
              <a:t>lvalues</a:t>
            </a:r>
            <a:endParaRPr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They can appear on the left side of an assignment or as the operand in an increment or decrement expression: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part1.number = 258;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changes part1's part number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part1.on_hand++;	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increments part1's quantity on hand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period used to access a structure member is actually a C operator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It takes precedence over nearly all other operators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6" name="Google Shape;126;p1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Structure Variables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Operations on Structures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=</a:t>
            </a:r>
            <a:r>
              <a:rPr lang="en">
                <a:solidFill>
                  <a:srgbClr val="000000"/>
                </a:solidFill>
              </a:rPr>
              <a:t> operator can be used only with structures of </a:t>
            </a:r>
            <a:r>
              <a:rPr b="1" i="1" lang="en">
                <a:solidFill>
                  <a:srgbClr val="000000"/>
                </a:solidFill>
              </a:rPr>
              <a:t>compatible</a:t>
            </a:r>
            <a:r>
              <a:rPr lang="en">
                <a:solidFill>
                  <a:srgbClr val="000000"/>
                </a:solidFill>
              </a:rPr>
              <a:t> types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Two structures declared at the same time (as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part1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part2</a:t>
            </a:r>
            <a:r>
              <a:rPr lang="en">
                <a:solidFill>
                  <a:srgbClr val="000000"/>
                </a:solidFill>
              </a:rPr>
              <a:t> were) are compatible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Structures declared using the same </a:t>
            </a:r>
            <a:r>
              <a:rPr i="1" lang="en">
                <a:solidFill>
                  <a:srgbClr val="000000"/>
                </a:solidFill>
              </a:rPr>
              <a:t>“structure tag”</a:t>
            </a:r>
            <a:r>
              <a:rPr lang="en">
                <a:solidFill>
                  <a:srgbClr val="000000"/>
                </a:solidFill>
              </a:rPr>
              <a:t> or the same type name are also compatible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Other than assignment, C provides no operations on entire structures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 particular,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==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!=</a:t>
            </a:r>
            <a:r>
              <a:rPr lang="en">
                <a:solidFill>
                  <a:srgbClr val="000000"/>
                </a:solidFill>
              </a:rPr>
              <a:t> operators can’t be used with structures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2" name="Google Shape;132;p1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Structure Variables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Operations on Structures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Arrays can’t be copied using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=</a:t>
            </a:r>
            <a:r>
              <a:rPr lang="en">
                <a:solidFill>
                  <a:srgbClr val="000000"/>
                </a:solidFill>
              </a:rPr>
              <a:t> operator, but an array embedded within a structure is copied when the enclosing structure is copied.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Some programmers exploit this property by creating </a:t>
            </a:r>
            <a:r>
              <a:rPr i="1" lang="en">
                <a:solidFill>
                  <a:srgbClr val="000000"/>
                </a:solidFill>
              </a:rPr>
              <a:t>“dummy”</a:t>
            </a:r>
            <a:r>
              <a:rPr lang="en">
                <a:solidFill>
                  <a:srgbClr val="000000"/>
                </a:solidFill>
              </a:rPr>
              <a:t> structures to enclose arrays that will be copied later: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{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a[10]; } a1, a2;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a1 = a2;	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legal, since a1 and a2 are structures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8" name="Google Shape;138;p1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Structure Variables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Operations on Structures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Suppose that a program needs to declare several structure variables with identical members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We need a name that represents a </a:t>
            </a:r>
            <a:r>
              <a:rPr i="1" lang="en">
                <a:solidFill>
                  <a:srgbClr val="000000"/>
                </a:solidFill>
              </a:rPr>
              <a:t>type</a:t>
            </a:r>
            <a:r>
              <a:rPr lang="en">
                <a:solidFill>
                  <a:srgbClr val="000000"/>
                </a:solidFill>
              </a:rPr>
              <a:t> of structure, not a particular structure </a:t>
            </a:r>
            <a:r>
              <a:rPr i="1" lang="en">
                <a:solidFill>
                  <a:srgbClr val="000000"/>
                </a:solidFill>
              </a:rPr>
              <a:t>variable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Ways to name a structure: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Declare a </a:t>
            </a:r>
            <a:r>
              <a:rPr i="1" lang="en" sz="1400">
                <a:solidFill>
                  <a:srgbClr val="000000"/>
                </a:solidFill>
              </a:rPr>
              <a:t>“structure tag”</a:t>
            </a:r>
            <a:endParaRPr i="1"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Use typedef to define a type name</a:t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4" name="Google Shape;144;p1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Structure Types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</a:rPr>
              <a:t>A </a:t>
            </a:r>
            <a:r>
              <a:rPr b="1" i="1" lang="en">
                <a:solidFill>
                  <a:srgbClr val="000000"/>
                </a:solidFill>
              </a:rPr>
              <a:t>structure tag</a:t>
            </a:r>
            <a:r>
              <a:rPr lang="en">
                <a:solidFill>
                  <a:srgbClr val="000000"/>
                </a:solidFill>
              </a:rPr>
              <a:t> is a name used to identify a particular kind of structure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declaration of a structure tag named part:</a:t>
            </a:r>
            <a:endParaRPr>
              <a:solidFill>
                <a:srgbClr val="000000"/>
              </a:solidFill>
            </a:endParaRPr>
          </a:p>
          <a:p>
            <a:pPr indent="0" lvl="0" marL="12573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part 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573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number;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573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name[NAME_LEN+1];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573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on_hand;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573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E69138"/>
                </a:solidFill>
              </a:rPr>
              <a:t>Note</a:t>
            </a:r>
            <a:r>
              <a:rPr lang="en">
                <a:solidFill>
                  <a:srgbClr val="000000"/>
                </a:solidFill>
              </a:rPr>
              <a:t> that a semicolon must follow the right brace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0" name="Google Shape;150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Structure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Declaring a Structure Tag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part</a:t>
            </a:r>
            <a:r>
              <a:rPr lang="en">
                <a:solidFill>
                  <a:srgbClr val="000000"/>
                </a:solidFill>
              </a:rPr>
              <a:t> tag can be used to declare variables: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part part1, part2;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We can’t drop the word struct: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part part1, part2;  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/*** WRONG ***/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part</a:t>
            </a:r>
            <a:r>
              <a:rPr lang="en">
                <a:solidFill>
                  <a:srgbClr val="000000"/>
                </a:solidFill>
              </a:rPr>
              <a:t> isn’t a </a:t>
            </a:r>
            <a:r>
              <a:rPr i="1" lang="en">
                <a:solidFill>
                  <a:srgbClr val="8E7CC3"/>
                </a:solidFill>
              </a:rPr>
              <a:t>type name</a:t>
            </a:r>
            <a:r>
              <a:rPr lang="en">
                <a:solidFill>
                  <a:srgbClr val="000000"/>
                </a:solidFill>
              </a:rPr>
              <a:t>; without the word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lang="en">
                <a:solidFill>
                  <a:srgbClr val="000000"/>
                </a:solidFill>
              </a:rPr>
              <a:t>, it is meaningless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Since </a:t>
            </a:r>
            <a:r>
              <a:rPr i="1" lang="en">
                <a:solidFill>
                  <a:srgbClr val="000000"/>
                </a:solidFill>
              </a:rPr>
              <a:t>structure</a:t>
            </a:r>
            <a:r>
              <a:rPr lang="en">
                <a:solidFill>
                  <a:srgbClr val="000000"/>
                </a:solidFill>
              </a:rPr>
              <a:t> tags aren’t recognized unless preceded by the word struct, they don’t conflict with other names used in a program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6" name="Google Shape;156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Structure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Declaring a Structure Tag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As arguments: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As return value: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2" name="Google Shape;162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Structure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Structures as Arguments and Return Values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2779750" y="1827825"/>
            <a:ext cx="3669600" cy="10467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void 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print_name(</a:t>
            </a: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part p){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</a:t>
            </a: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" sz="12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"Name: %s\n"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p.name);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2779750" y="3040250"/>
            <a:ext cx="5121600" cy="20133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 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part build(</a:t>
            </a: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number, </a:t>
            </a: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const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*name, </a:t>
            </a: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on_hand){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</a:t>
            </a: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 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part p;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p.number = number;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strcpy(p.name, name);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p.on_hand = on_hand;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return p;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Passing a </a:t>
            </a:r>
            <a:r>
              <a:rPr i="1" lang="en">
                <a:solidFill>
                  <a:srgbClr val="000000"/>
                </a:solidFill>
              </a:rPr>
              <a:t>structure</a:t>
            </a:r>
            <a:r>
              <a:rPr lang="en">
                <a:solidFill>
                  <a:srgbClr val="000000"/>
                </a:solidFill>
              </a:rPr>
              <a:t> to a function and returning a </a:t>
            </a:r>
            <a:r>
              <a:rPr i="1" lang="en">
                <a:solidFill>
                  <a:srgbClr val="000000"/>
                </a:solidFill>
              </a:rPr>
              <a:t>structure</a:t>
            </a:r>
            <a:r>
              <a:rPr lang="en">
                <a:solidFill>
                  <a:srgbClr val="000000"/>
                </a:solidFill>
              </a:rPr>
              <a:t> from a function both require making a copy of all members in the </a:t>
            </a:r>
            <a:r>
              <a:rPr i="1" lang="en">
                <a:solidFill>
                  <a:srgbClr val="000000"/>
                </a:solidFill>
              </a:rPr>
              <a:t>structure</a:t>
            </a:r>
            <a:endParaRPr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avoid this overhead, it’s sometimes advisable to pass a </a:t>
            </a:r>
            <a:r>
              <a:rPr lang="en">
                <a:solidFill>
                  <a:srgbClr val="6D9EEB"/>
                </a:solidFill>
              </a:rPr>
              <a:t>pointer</a:t>
            </a:r>
            <a:r>
              <a:rPr lang="en">
                <a:solidFill>
                  <a:srgbClr val="000000"/>
                </a:solidFill>
              </a:rPr>
              <a:t> to a </a:t>
            </a:r>
            <a:r>
              <a:rPr i="1" lang="en">
                <a:solidFill>
                  <a:srgbClr val="000000"/>
                </a:solidFill>
              </a:rPr>
              <a:t>structure</a:t>
            </a:r>
            <a:r>
              <a:rPr lang="en">
                <a:solidFill>
                  <a:srgbClr val="000000"/>
                </a:solidFill>
              </a:rPr>
              <a:t> or return a </a:t>
            </a:r>
            <a:r>
              <a:rPr lang="en">
                <a:solidFill>
                  <a:srgbClr val="6D9EEB"/>
                </a:solidFill>
              </a:rPr>
              <a:t>pointer</a:t>
            </a:r>
            <a:r>
              <a:rPr lang="en">
                <a:solidFill>
                  <a:srgbClr val="000000"/>
                </a:solidFill>
              </a:rPr>
              <a:t> to a </a:t>
            </a:r>
            <a:r>
              <a:rPr i="1" lang="en">
                <a:solidFill>
                  <a:srgbClr val="000000"/>
                </a:solidFill>
              </a:rPr>
              <a:t>structure</a:t>
            </a:r>
            <a:endParaRPr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call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build</a:t>
            </a:r>
            <a:r>
              <a:rPr lang="en">
                <a:solidFill>
                  <a:srgbClr val="000000"/>
                </a:solidFill>
              </a:rPr>
              <a:t>:		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part1 = build(328, "North Hall", 1);</a:t>
            </a:r>
            <a:endParaRPr sz="2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compound literal can be used to create a structure :	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print_name(</a:t>
            </a:r>
            <a:r>
              <a:rPr b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1"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b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part) </a:t>
            </a:r>
            <a:r>
              <a:rPr b="1" lang="en" sz="1400">
                <a:solidFill>
                  <a:srgbClr val="8E7CC3"/>
                </a:solidFill>
                <a:latin typeface="Verdana"/>
                <a:ea typeface="Verdana"/>
                <a:cs typeface="Verdana"/>
                <a:sym typeface="Verdana"/>
              </a:rPr>
              <a:t>{</a:t>
            </a:r>
            <a:r>
              <a:rPr b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528, "Disk drive", 10</a:t>
            </a:r>
            <a:r>
              <a:rPr b="1"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0" name="Google Shape;170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Structure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Structures as Arguments and Return Values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Structures and Arrays can be combined without any restrictions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6" name="Google Shape;176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Nested Arrays and Structures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Nested Structures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1108950" y="2422175"/>
            <a:ext cx="3188100" cy="17856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person_name{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first[FIRST_NAME_LEN+1];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middle_initial;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last[LAST_NAME_LEN+1];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4763300" y="2422175"/>
            <a:ext cx="3188100" cy="17856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student{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person_name name;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id,age;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 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gender;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 student1, student2;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access: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strcpy(student1.name.first, 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"Hermione"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Easier to treat name as units of data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Can be passed to a function:  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display_name(student1.name)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Copying information requires less assignments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person_name new_name;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student1.name = new_name;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4" name="Google Shape;184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Nested Arrays and Structures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Nested Structures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Can be used to create simple databases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part inventory[100]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Accessing a part can be done using array subscripting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print_name(inventory[i])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Accessing a member combines subscripting and selection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inventory[i].number = 431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Accessing a single character can be done too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inventory[i].name[0] = 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'\0'</a:t>
            </a:r>
            <a:endParaRPr sz="1400">
              <a:solidFill>
                <a:srgbClr val="E6913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0" name="Google Shape;190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Nested Arrays and Structures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Arrays of Structures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Initializing an array of structures is done in much the same way as initializing a multidimensional array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Each structure has its own brace-enclosed initializer; the array initializer wraps another set of braces around the structure initializers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One reason for initializing an array of structures is that it contains information that won’t change during program execution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6" name="Google Shape;196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Nested Arrays and Structures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Initializing an Array of Structures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2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dialing_code {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	</a:t>
            </a: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*country;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	</a:t>
            </a: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code;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};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114300" lvl="0" marL="3429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const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dialing_code country_codes[] ={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114300" lvl="0" marL="8001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{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"Argentina"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       		54}, 	{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"Bangladesh"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 		880},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	{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"Brazil"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          			55}, 	{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"Burma (Myanmar)"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 95},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	{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"China"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           			86}, 	{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"Colombia"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    		57},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	{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"Congo, Dem. Rep. of"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	243}, {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"Egypt"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       		20},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	{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"Ethiopia"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       			251}, {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"France"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      		33},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	{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"Germany"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         		49}, 	 {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"India"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       		91},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	 };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2" name="Google Shape;202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Nested Arrays and Structures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Initializing an Array of Structures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declaration of the inventory array that uses a designated initializer to create a single part: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part inventory[100] =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{	[0].number = 528, [0].on_hand = 10,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	[0].name[0] = '\0'};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first two items in the initializer use two designators; the last item uses three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7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8" name="Google Shape;208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Nested Arrays and Structures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Initializing an Array of Structures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program illustrates how nested arrays and structures are used in practice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program tracks parts stored in a warehouse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Information about the parts is stored in an array of structures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Contents of each structure: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Part number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Name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Quantity</a:t>
            </a:r>
            <a:endParaRPr sz="1400"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14" name="Google Shape;214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Maintaining a Parts Database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</a:rPr>
              <a:t>A </a:t>
            </a:r>
            <a:r>
              <a:rPr b="1" i="1" lang="en">
                <a:solidFill>
                  <a:srgbClr val="000000"/>
                </a:solidFill>
              </a:rPr>
              <a:t>union</a:t>
            </a:r>
            <a:r>
              <a:rPr b="1" i="1" lang="en">
                <a:solidFill>
                  <a:srgbClr val="000000"/>
                </a:solidFill>
              </a:rPr>
              <a:t>,</a:t>
            </a:r>
            <a:r>
              <a:rPr lang="en">
                <a:solidFill>
                  <a:srgbClr val="000000"/>
                </a:solidFill>
              </a:rPr>
              <a:t> like a structure, consists of one or more members, possibly of different types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compiler allocates only enough space for the largest of the members, which overlay each other within this space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Assigning a new value to one member alters the values of the other members as well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20" name="Google Shape;220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Unions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6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 example of a union variable: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union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 u;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declaration of a union closely resembles a structure declaration: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 s;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26" name="Google Shape;226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Unions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7"/>
          <p:cNvSpPr txBox="1"/>
          <p:nvPr>
            <p:ph idx="1" type="body"/>
          </p:nvPr>
        </p:nvSpPr>
        <p:spPr>
          <a:xfrm>
            <a:off x="512750" y="1714050"/>
            <a:ext cx="42804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structure </a:t>
            </a:r>
            <a:r>
              <a:rPr b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</a:t>
            </a:r>
            <a:r>
              <a:rPr lang="en">
                <a:solidFill>
                  <a:srgbClr val="000000"/>
                </a:solidFill>
              </a:rPr>
              <a:t> and the union </a:t>
            </a:r>
            <a:r>
              <a:rPr b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</a:t>
            </a:r>
            <a:r>
              <a:rPr lang="en">
                <a:solidFill>
                  <a:srgbClr val="000000"/>
                </a:solidFill>
              </a:rPr>
              <a:t> differ in just one way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members of </a:t>
            </a:r>
            <a:r>
              <a:rPr b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</a:t>
            </a:r>
            <a:r>
              <a:rPr lang="en">
                <a:solidFill>
                  <a:srgbClr val="000000"/>
                </a:solidFill>
              </a:rPr>
              <a:t> are stored at different addresses in memory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members of </a:t>
            </a:r>
            <a:r>
              <a:rPr b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</a:t>
            </a:r>
            <a:r>
              <a:rPr lang="en">
                <a:solidFill>
                  <a:srgbClr val="000000"/>
                </a:solidFill>
              </a:rPr>
              <a:t> are stored at the same address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32" name="Google Shape;232;p2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Unions</a:t>
            </a:r>
            <a:endParaRPr/>
          </a:p>
        </p:txBody>
      </p:sp>
      <p:pic>
        <p:nvPicPr>
          <p:cNvPr id="233" name="Google Shape;23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3900" y="1833350"/>
            <a:ext cx="2282225" cy="312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8"/>
          <p:cNvSpPr txBox="1"/>
          <p:nvPr>
            <p:ph idx="1" type="body"/>
          </p:nvPr>
        </p:nvSpPr>
        <p:spPr>
          <a:xfrm>
            <a:off x="512750" y="1714050"/>
            <a:ext cx="84684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Members of a union are accessed in the same way as members of a structure: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u.i = 82;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u.d = 74.8;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Changing one member of a union alters any value previously stored in any of the other members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Storing a value in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u.d</a:t>
            </a:r>
            <a:r>
              <a:rPr lang="en">
                <a:solidFill>
                  <a:srgbClr val="000000"/>
                </a:solidFill>
              </a:rPr>
              <a:t> causes any value previously stored in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u.i</a:t>
            </a:r>
            <a:r>
              <a:rPr lang="en">
                <a:solidFill>
                  <a:srgbClr val="000000"/>
                </a:solidFill>
              </a:rPr>
              <a:t> to be lost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Changing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u.i</a:t>
            </a:r>
            <a:r>
              <a:rPr lang="en">
                <a:solidFill>
                  <a:srgbClr val="000000"/>
                </a:solidFill>
              </a:rPr>
              <a:t> corrupts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u.d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39" name="Google Shape;239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Unions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9"/>
          <p:cNvSpPr txBox="1"/>
          <p:nvPr>
            <p:ph idx="1" type="body"/>
          </p:nvPr>
        </p:nvSpPr>
        <p:spPr>
          <a:xfrm>
            <a:off x="512750" y="1714050"/>
            <a:ext cx="84684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properties of unions are almost identical to the properties of structures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We can declare union tags and union types in the same way we declare structure tags and types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Like structures, unions can be copied using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=</a:t>
            </a:r>
            <a:r>
              <a:rPr lang="en">
                <a:solidFill>
                  <a:srgbClr val="000000"/>
                </a:solidFill>
              </a:rPr>
              <a:t> operator, passed to functions, and returned by functions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Only the first member of a union can be given an initial value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45" name="Google Shape;245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Unions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0"/>
          <p:cNvSpPr txBox="1"/>
          <p:nvPr>
            <p:ph idx="1" type="body"/>
          </p:nvPr>
        </p:nvSpPr>
        <p:spPr>
          <a:xfrm>
            <a:off x="512750" y="1714050"/>
            <a:ext cx="84684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Initializing the i member of u to 0: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Designated initializers can also be used with unions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designated initializer allows us to specify which member of a union should be initialized: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51" name="Google Shape;251;p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Unions</a:t>
            </a:r>
            <a:endParaRPr/>
          </a:p>
        </p:txBody>
      </p:sp>
      <p:sp>
        <p:nvSpPr>
          <p:cNvPr id="252" name="Google Shape;252;p30"/>
          <p:cNvSpPr txBox="1"/>
          <p:nvPr/>
        </p:nvSpPr>
        <p:spPr>
          <a:xfrm>
            <a:off x="4968400" y="1809325"/>
            <a:ext cx="1692600" cy="11544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union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{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 u = {0};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30"/>
          <p:cNvSpPr txBox="1"/>
          <p:nvPr/>
        </p:nvSpPr>
        <p:spPr>
          <a:xfrm>
            <a:off x="3239325" y="3735425"/>
            <a:ext cx="2239800" cy="12774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union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 u = {.d = 10.0};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1"/>
          <p:cNvSpPr txBox="1"/>
          <p:nvPr>
            <p:ph idx="1" type="body"/>
          </p:nvPr>
        </p:nvSpPr>
        <p:spPr>
          <a:xfrm>
            <a:off x="512750" y="1714050"/>
            <a:ext cx="84684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Unions can be used to save space in structures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Suppose that we’re designing a structure that will contain information about an item that’s sold through a gift catalog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Each item has a stock number and a price, as well as other information that depends on the type of the item: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i="1" lang="en">
                <a:solidFill>
                  <a:srgbClr val="000000"/>
                </a:solidFill>
              </a:rPr>
              <a:t>  </a:t>
            </a:r>
            <a:r>
              <a:rPr b="1" i="1" lang="en" sz="1400">
                <a:solidFill>
                  <a:srgbClr val="000000"/>
                </a:solidFill>
              </a:rPr>
              <a:t>Books:</a:t>
            </a:r>
            <a:r>
              <a:rPr lang="en" sz="1400">
                <a:solidFill>
                  <a:srgbClr val="000000"/>
                </a:solidFill>
              </a:rPr>
              <a:t> Title, author, number of pages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i="1" lang="en" sz="1400">
                <a:solidFill>
                  <a:srgbClr val="000000"/>
                </a:solidFill>
              </a:rPr>
              <a:t> </a:t>
            </a:r>
            <a:r>
              <a:rPr b="1" i="1" lang="en" sz="1400">
                <a:solidFill>
                  <a:srgbClr val="000000"/>
                </a:solidFill>
              </a:rPr>
              <a:t> Mugs:</a:t>
            </a:r>
            <a:r>
              <a:rPr lang="en" sz="1400">
                <a:solidFill>
                  <a:srgbClr val="000000"/>
                </a:solidFill>
              </a:rPr>
              <a:t> Design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i="1" lang="en" sz="1400">
                <a:solidFill>
                  <a:srgbClr val="000000"/>
                </a:solidFill>
              </a:rPr>
              <a:t> </a:t>
            </a:r>
            <a:r>
              <a:rPr b="1" i="1" lang="en" sz="1400">
                <a:solidFill>
                  <a:srgbClr val="000000"/>
                </a:solidFill>
              </a:rPr>
              <a:t> Shirts:</a:t>
            </a:r>
            <a:r>
              <a:rPr lang="en" sz="1400">
                <a:solidFill>
                  <a:srgbClr val="000000"/>
                </a:solidFill>
              </a:rPr>
              <a:t> Design, colors available, sizes available</a:t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59" name="Google Shape;259;p3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Unions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Using Unions to Save Space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2"/>
          <p:cNvSpPr txBox="1"/>
          <p:nvPr>
            <p:ph idx="1" type="body"/>
          </p:nvPr>
        </p:nvSpPr>
        <p:spPr>
          <a:xfrm>
            <a:off x="512750" y="1714050"/>
            <a:ext cx="84684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first attempt at designing the catalog_item structure: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674EA7"/>
                </a:solidFill>
              </a:rPr>
              <a:t>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catalog_item 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stock_number;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price;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item_type;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title[TITLE_LEN+1];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author[AUTHOR_LEN+1];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num_pages;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design[DESIGN_LEN+1];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colors;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sizes;	};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65" name="Google Shape;265;p3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Unions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Using Unions to Save Space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3"/>
          <p:cNvSpPr txBox="1"/>
          <p:nvPr>
            <p:ph idx="1" type="body"/>
          </p:nvPr>
        </p:nvSpPr>
        <p:spPr>
          <a:xfrm>
            <a:off x="512750" y="1714050"/>
            <a:ext cx="84684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item_type</a:t>
            </a:r>
            <a:r>
              <a:rPr lang="en">
                <a:solidFill>
                  <a:srgbClr val="000000"/>
                </a:solidFill>
              </a:rPr>
              <a:t> member would have one of the values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BOOK, MUG, or SHIRT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colors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sizes</a:t>
            </a:r>
            <a:r>
              <a:rPr lang="en">
                <a:solidFill>
                  <a:srgbClr val="000000"/>
                </a:solidFill>
              </a:rPr>
              <a:t> members would store encoded combinations of colors and sizes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This structure wastes space, since only part of the information in the structure is common to all items in the catalog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By putting a union inside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catalog_item</a:t>
            </a:r>
            <a:r>
              <a:rPr lang="en">
                <a:solidFill>
                  <a:srgbClr val="000000"/>
                </a:solidFill>
              </a:rPr>
              <a:t> structure, we can reduce the space required by the structure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71" name="Google Shape;271;p3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Unions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Using Unions to Save Space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4"/>
          <p:cNvSpPr txBox="1"/>
          <p:nvPr>
            <p:ph idx="1" type="body"/>
          </p:nvPr>
        </p:nvSpPr>
        <p:spPr>
          <a:xfrm>
            <a:off x="512750" y="1714050"/>
            <a:ext cx="84684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93500"/>
              <a:buNone/>
            </a:pPr>
            <a:r>
              <a:rPr lang="en" sz="10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catalog_item {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500"/>
              <a:buNone/>
            </a:pP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</a:t>
            </a:r>
            <a:r>
              <a:rPr lang="en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stock_number;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500"/>
              <a:buNone/>
            </a:pP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</a:t>
            </a:r>
            <a:r>
              <a:rPr lang="en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price;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500"/>
              <a:buNone/>
            </a:pP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</a:t>
            </a:r>
            <a:r>
              <a:rPr lang="en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item_type;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500"/>
              <a:buNone/>
            </a:pP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</a:t>
            </a:r>
            <a:r>
              <a:rPr lang="en" sz="10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union</a:t>
            </a: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{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500"/>
              <a:buNone/>
            </a:pP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		</a:t>
            </a:r>
            <a:r>
              <a:rPr lang="en" sz="10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{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500"/>
              <a:buNone/>
            </a:pP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		</a:t>
            </a:r>
            <a:r>
              <a:rPr lang="en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title[TITLE_LEN+1];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500"/>
              <a:buNone/>
            </a:pP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		</a:t>
            </a:r>
            <a:r>
              <a:rPr lang="en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author[AUTHOR_LEN+1];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500"/>
              <a:buNone/>
            </a:pP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		</a:t>
            </a:r>
            <a:r>
              <a:rPr lang="en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num_pages;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500"/>
              <a:buNone/>
            </a:pP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		} book;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500"/>
              <a:buNone/>
            </a:pP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		</a:t>
            </a:r>
            <a:r>
              <a:rPr lang="en" sz="10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 </a:t>
            </a: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{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500"/>
              <a:buNone/>
            </a:pP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		</a:t>
            </a:r>
            <a:r>
              <a:rPr lang="en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design[DESIGN_LEN+1];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500"/>
              <a:buNone/>
            </a:pP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		} mug;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500"/>
              <a:buNone/>
            </a:pP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		</a:t>
            </a:r>
            <a:r>
              <a:rPr lang="en" sz="10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struct</a:t>
            </a: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{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500"/>
              <a:buNone/>
            </a:pP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		</a:t>
            </a:r>
            <a:r>
              <a:rPr lang="en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design[DESIGN_LEN+1];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500"/>
              <a:buNone/>
            </a:pP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		</a:t>
            </a:r>
            <a:r>
              <a:rPr lang="en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colors;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500"/>
              <a:buNone/>
            </a:pP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		</a:t>
            </a:r>
            <a:r>
              <a:rPr lang="en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sizes;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500"/>
              <a:buNone/>
            </a:pP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		} shirt;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500"/>
              <a:buNone/>
            </a:pP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} item;</a:t>
            </a:r>
            <a:endParaRPr sz="1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500"/>
              <a:buNone/>
            </a:pPr>
            <a:r>
              <a:rPr lang="en" sz="1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};</a:t>
            </a:r>
            <a:endParaRPr sz="1000">
              <a:solidFill>
                <a:srgbClr val="000000"/>
              </a:solidFill>
            </a:endParaRPr>
          </a:p>
        </p:txBody>
      </p:sp>
      <p:sp>
        <p:nvSpPr>
          <p:cNvPr id="277" name="Google Shape;277;p3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Unions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Using Unions to Save Space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5"/>
          <p:cNvSpPr txBox="1"/>
          <p:nvPr>
            <p:ph idx="1" type="body"/>
          </p:nvPr>
        </p:nvSpPr>
        <p:spPr>
          <a:xfrm>
            <a:off x="512750" y="1714050"/>
            <a:ext cx="84684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catalog_item structure can be used to illustrate an interesting aspect of unions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Normally, it’s not a good idea to store a value into one member of a union and then access the data through a different member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However, a </a:t>
            </a:r>
            <a:r>
              <a:rPr b="1" i="1" lang="en">
                <a:solidFill>
                  <a:srgbClr val="000000"/>
                </a:solidFill>
              </a:rPr>
              <a:t>special case</a:t>
            </a:r>
            <a:r>
              <a:rPr lang="en">
                <a:solidFill>
                  <a:srgbClr val="000000"/>
                </a:solidFill>
              </a:rPr>
              <a:t>,</a:t>
            </a:r>
            <a:r>
              <a:rPr b="1"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000000"/>
                </a:solidFill>
              </a:rPr>
              <a:t>when: two or more of the members of the union are structures, and the structures begin with one or more matching members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one of the structures is currently valid, then the matching members in the other structures will also be valid</a:t>
            </a:r>
            <a:endParaRPr>
              <a:solidFill>
                <a:srgbClr val="674EA7"/>
              </a:solidFill>
            </a:endParaRPr>
          </a:p>
        </p:txBody>
      </p:sp>
      <p:sp>
        <p:nvSpPr>
          <p:cNvPr id="283" name="Google Shape;283;p3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Unions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Using Unions to Save Space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6"/>
          <p:cNvSpPr txBox="1"/>
          <p:nvPr>
            <p:ph idx="1" type="body"/>
          </p:nvPr>
        </p:nvSpPr>
        <p:spPr>
          <a:xfrm>
            <a:off x="512750" y="1714050"/>
            <a:ext cx="84609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union embedded in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catalog_item</a:t>
            </a:r>
            <a:r>
              <a:rPr lang="en">
                <a:solidFill>
                  <a:srgbClr val="000000"/>
                </a:solidFill>
              </a:rPr>
              <a:t> structure contains three structures as members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Two of these (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mug and shirt</a:t>
            </a:r>
            <a:r>
              <a:rPr lang="en">
                <a:solidFill>
                  <a:srgbClr val="000000"/>
                </a:solidFill>
              </a:rPr>
              <a:t>) begin with a matching member (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design</a:t>
            </a:r>
            <a:r>
              <a:rPr lang="en"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Now, suppose that we assign a value to one of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design</a:t>
            </a:r>
            <a:r>
              <a:rPr lang="en">
                <a:solidFill>
                  <a:srgbClr val="000000"/>
                </a:solidFill>
              </a:rPr>
              <a:t> members: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	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strcpy(c.item.mug.design, 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"Cats"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design</a:t>
            </a:r>
            <a:r>
              <a:rPr lang="en">
                <a:solidFill>
                  <a:srgbClr val="000000"/>
                </a:solidFill>
              </a:rPr>
              <a:t> member in the other structure will be defined and have the same value: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"%s"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c.item.shirt.design);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prints "Cats"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89" name="Google Shape;289;p3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Unions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Using Unions to Save Space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/>
          <p:cNvSpPr txBox="1"/>
          <p:nvPr>
            <p:ph idx="1" type="body"/>
          </p:nvPr>
        </p:nvSpPr>
        <p:spPr>
          <a:xfrm>
            <a:off x="512750" y="1714050"/>
            <a:ext cx="84609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Array with mixed data type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Represents the kinds of data stored</a:t>
            </a:r>
            <a:endParaRPr sz="12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typedef union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{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 Number;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Declaration</a:t>
            </a:r>
            <a:endParaRPr sz="12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Number number_array[1000];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Storing</a:t>
            </a:r>
            <a:endParaRPr sz="12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number_array[0].i = 5;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number_array[1].d = 8.462;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95" name="Google Shape;295;p3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Unions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Using Unions to Build Mixed Data Structures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8"/>
          <p:cNvSpPr txBox="1"/>
          <p:nvPr>
            <p:ph idx="1" type="body"/>
          </p:nvPr>
        </p:nvSpPr>
        <p:spPr>
          <a:xfrm>
            <a:off x="512750" y="1714050"/>
            <a:ext cx="8460900" cy="9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No easy way to tell which member of union was last changed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Tags/Discriminants ⇒ Used to keep track of member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number_array[0].d = 8.462;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01" name="Google Shape;301;p3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Unions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Using Unions to Build Mixed Data Structures</a:t>
            </a:r>
            <a:endParaRPr/>
          </a:p>
        </p:txBody>
      </p:sp>
      <p:sp>
        <p:nvSpPr>
          <p:cNvPr id="302" name="Google Shape;302;p38"/>
          <p:cNvSpPr txBox="1"/>
          <p:nvPr/>
        </p:nvSpPr>
        <p:spPr>
          <a:xfrm>
            <a:off x="1072475" y="2750525"/>
            <a:ext cx="2400300" cy="22905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#define INT_KIND 0</a:t>
            </a:r>
            <a:endParaRPr b="0" i="0" sz="1200" u="none" cap="none" strike="noStrike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#define DOUBLE_KIND 1</a:t>
            </a:r>
            <a:endParaRPr b="0" i="0" sz="1200" u="none" cap="none" strike="noStrike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typedef struct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{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</a:t>
            </a: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kind;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</a:t>
            </a: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union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{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	</a:t>
            </a: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	</a:t>
            </a: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} u;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 Number;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3" name="Google Shape;303;p38"/>
          <p:cNvSpPr txBox="1"/>
          <p:nvPr/>
        </p:nvSpPr>
        <p:spPr>
          <a:xfrm>
            <a:off x="4572000" y="2750525"/>
            <a:ext cx="2400300" cy="22905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Number n;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n.kind = INT_KIND;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n.u.i = 82;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(n.kind == INT_KIND){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</a:t>
            </a: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" sz="12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"%d"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n.u.i);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else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" sz="12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"%f"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n.u.d);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304" name="Google Shape;304;p38"/>
          <p:cNvCxnSpPr/>
          <p:nvPr/>
        </p:nvCxnSpPr>
        <p:spPr>
          <a:xfrm>
            <a:off x="3750025" y="3830275"/>
            <a:ext cx="591000" cy="0"/>
          </a:xfrm>
          <a:prstGeom prst="straightConnector1">
            <a:avLst/>
          </a:prstGeom>
          <a:noFill/>
          <a:ln cap="flat" cmpd="sng" w="28575">
            <a:solidFill>
              <a:srgbClr val="B3B3FF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9"/>
          <p:cNvSpPr txBox="1"/>
          <p:nvPr>
            <p:ph idx="1" type="body"/>
          </p:nvPr>
        </p:nvSpPr>
        <p:spPr>
          <a:xfrm>
            <a:off x="512750" y="1714050"/>
            <a:ext cx="84609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 many programs, we’ll need variables that have meaningful values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variable that stores the suit of a playing card should have only four potential values: “clubs,” “diamonds,” “hearts,” and “spades.”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“suit” variable can be declared as an integer: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s;  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s will store a suit */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s = 2;  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2 represents "hearts"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Problems with this technique: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We can’t tell that s has only four possible values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The significance of 2 isn’t apparent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10" name="Google Shape;310;p3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Enumerations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 txBox="1"/>
          <p:nvPr>
            <p:ph idx="1" type="body"/>
          </p:nvPr>
        </p:nvSpPr>
        <p:spPr>
          <a:xfrm>
            <a:off x="512750" y="1714050"/>
            <a:ext cx="84609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Using macros to define a suit “type” and names for the various suits is a step in the right direction:</a:t>
            </a:r>
            <a:endParaRPr>
              <a:solidFill>
                <a:srgbClr val="000000"/>
              </a:solidFill>
            </a:endParaRPr>
          </a:p>
          <a:p>
            <a:pPr indent="0" lvl="0" marL="12573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  #define SUIT 		int</a:t>
            </a:r>
            <a:endParaRPr sz="12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573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  #define CLUBS		0</a:t>
            </a:r>
            <a:endParaRPr sz="12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573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  #define DIAMONDS 	1</a:t>
            </a:r>
            <a:endParaRPr sz="12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573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  #define HEARTS   	2</a:t>
            </a:r>
            <a:endParaRPr sz="12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573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  #define SPADES   	3</a:t>
            </a:r>
            <a:endParaRPr sz="12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 updated version of the previous example:</a:t>
            </a:r>
            <a:endParaRPr>
              <a:solidFill>
                <a:srgbClr val="000000"/>
              </a:solidFill>
            </a:endParaRPr>
          </a:p>
          <a:p>
            <a:pPr indent="0" lvl="0" marL="12573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</a:rPr>
              <a:t>  SUIT s;</a:t>
            </a:r>
            <a:endParaRPr sz="1200">
              <a:solidFill>
                <a:srgbClr val="000000"/>
              </a:solidFill>
            </a:endParaRPr>
          </a:p>
          <a:p>
            <a:pPr indent="0" lvl="0" marL="12573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</a:rPr>
              <a:t>  …</a:t>
            </a:r>
            <a:endParaRPr sz="1200">
              <a:solidFill>
                <a:srgbClr val="000000"/>
              </a:solidFill>
            </a:endParaRPr>
          </a:p>
          <a:p>
            <a:pPr indent="0" lvl="0" marL="12573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</a:rPr>
              <a:t>  s = HEARTS;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" name="Google Shape;316;p4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Enumerations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1"/>
          <p:cNvSpPr txBox="1"/>
          <p:nvPr>
            <p:ph idx="1" type="body"/>
          </p:nvPr>
        </p:nvSpPr>
        <p:spPr>
          <a:xfrm>
            <a:off x="512750" y="1714050"/>
            <a:ext cx="84609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Problems with this technique: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There’s no indication to someone reading the program that the macros represent values of the same “type.”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If the number of possible values is more than a few, defining a separate macro for each will be tedious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The names CLUBS, DIAMONDS, HEARTS, and SPADES will be removed by the preprocessor, so they won’t be available during debugging</a:t>
            </a:r>
            <a:endParaRPr sz="1400">
              <a:solidFill>
                <a:srgbClr val="000000"/>
              </a:solidFill>
            </a:endParaRPr>
          </a:p>
          <a:p>
            <a:pPr indent="0" lvl="0" marL="12573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2" name="Google Shape;322;p4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Enumerations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2"/>
          <p:cNvSpPr txBox="1"/>
          <p:nvPr>
            <p:ph idx="1" type="body"/>
          </p:nvPr>
        </p:nvSpPr>
        <p:spPr>
          <a:xfrm>
            <a:off x="512750" y="1714050"/>
            <a:ext cx="84609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Enumerated type ⇒ Values are listed by the programmers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Each value has a name ⇒ Enumeration constant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Can be declared as a tag or by using typedef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enum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suit {CLUBS, DIAMONDS, HEARTS, SPADES}; // tag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typedef enum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{RED, GREEN, BLUE} Colors;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...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enum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suit s1, s2;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Colors s1, s2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Similar to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#define</a:t>
            </a:r>
            <a:r>
              <a:rPr lang="en">
                <a:solidFill>
                  <a:srgbClr val="000000"/>
                </a:solidFill>
              </a:rPr>
              <a:t>, but not same ⇒ Has a scope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12573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8" name="Google Shape;328;p4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Enumerations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