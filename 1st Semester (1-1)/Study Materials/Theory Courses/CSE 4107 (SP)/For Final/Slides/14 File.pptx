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iZgTh9FfwVreq0oH1CDj+HCfDL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8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8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38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9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1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1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41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2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43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5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45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4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6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6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7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47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File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In C, the term </a:t>
            </a:r>
            <a:r>
              <a:rPr b="1" i="1" lang="en">
                <a:solidFill>
                  <a:srgbClr val="000000"/>
                </a:solidFill>
              </a:rPr>
              <a:t>stream</a:t>
            </a:r>
            <a:r>
              <a:rPr lang="en">
                <a:solidFill>
                  <a:srgbClr val="000000"/>
                </a:solidFill>
              </a:rPr>
              <a:t> means any source of input or any destination for output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Many small programs obtain all their input from one stream (the keyboard) and write all their output to another stream (the screen)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Larger programs may need additional streams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Streams often represent files stored on various media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However, they could just as easily be associated with devices such as network ports and printers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 i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&lt;stdio.h&gt;</a:t>
            </a:r>
            <a:r>
              <a:rPr lang="en">
                <a:solidFill>
                  <a:srgbClr val="000000"/>
                </a:solidFill>
              </a:rPr>
              <a:t> provides three standard streams: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>
                <a:solidFill>
                  <a:srgbClr val="000000"/>
                </a:solidFill>
              </a:rPr>
              <a:t>  File Pointer		Stream  			Default Meaning</a:t>
            </a:r>
            <a:endParaRPr b="1" i="1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 stdin  				Standard input  		Keyboard</a:t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 stdout  			Standard output  		Screen</a:t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 stderr  			Standard error  		Screen  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These streams are ready to use—we don’t declare them, and we don’t open or close them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Standard Streams and Redirection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I/O functions discussed in previous chapters obtain input from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stdin</a:t>
            </a:r>
            <a:r>
              <a:rPr lang="en">
                <a:solidFill>
                  <a:srgbClr val="000000"/>
                </a:solidFill>
              </a:rPr>
              <a:t> and send output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stdout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Many operating systems allow these default meanings to be changed via a mechanism known as </a:t>
            </a:r>
            <a:r>
              <a:rPr b="1" i="1" lang="en">
                <a:solidFill>
                  <a:srgbClr val="000000"/>
                </a:solidFill>
              </a:rPr>
              <a:t>redirection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Standard Streams and Redirection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typical technique for forcing a program to obtain its input from a file instead of from the keyboard: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demo &lt;in.dat			// Input redirection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technique is known as </a:t>
            </a:r>
            <a:r>
              <a:rPr b="1" i="1" lang="en">
                <a:solidFill>
                  <a:srgbClr val="000000"/>
                </a:solidFill>
              </a:rPr>
              <a:t>input redirection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Output redirection</a:t>
            </a:r>
            <a:r>
              <a:rPr lang="en">
                <a:solidFill>
                  <a:srgbClr val="000000"/>
                </a:solidFill>
              </a:rPr>
              <a:t> is similar: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demo &gt;out.dat			// Output redirection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All data written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stdout</a:t>
            </a:r>
            <a:r>
              <a:rPr lang="en">
                <a:solidFill>
                  <a:srgbClr val="000000"/>
                </a:solidFill>
              </a:rPr>
              <a:t> will now go into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out.dat</a:t>
            </a:r>
            <a:r>
              <a:rPr lang="en">
                <a:solidFill>
                  <a:srgbClr val="000000"/>
                </a:solidFill>
              </a:rPr>
              <a:t> file instead of appearing on the screen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2" name="Google Shape;92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Standard Streams and Redirection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Input redirection and output redirection can be combined: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demo &lt;in.dat &gt;out.dat		// combined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</a:t>
            </a:r>
            <a:r>
              <a:rPr lang="en">
                <a:solidFill>
                  <a:srgbClr val="000000"/>
                </a:solidFill>
              </a:rPr>
              <a:t> characters don’t have to be adjacent to file names, and the order in which the redirected files are listed doesn’t matter: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demo &lt; in.dat &gt; out.dat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demo &gt;out.dat &lt;in.dat		// shuffled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8" name="Google Shape;98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Standard Streams and Redirection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&lt;stdio.h&gt;</a:t>
            </a:r>
            <a:r>
              <a:rPr lang="en">
                <a:solidFill>
                  <a:srgbClr val="000000"/>
                </a:solidFill>
              </a:rPr>
              <a:t> supports two kinds of files: text and binary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Text File:</a:t>
            </a:r>
            <a:endParaRPr b="1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rgbClr val="000000"/>
                </a:solidFill>
              </a:rPr>
              <a:t>The bytes in a </a:t>
            </a:r>
            <a:r>
              <a:rPr b="1" i="1" lang="en">
                <a:solidFill>
                  <a:srgbClr val="000000"/>
                </a:solidFill>
              </a:rPr>
              <a:t>text file</a:t>
            </a:r>
            <a:r>
              <a:rPr lang="en">
                <a:solidFill>
                  <a:srgbClr val="000000"/>
                </a:solidFill>
              </a:rPr>
              <a:t> represent characters, allowing humans to examine or edit the file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The source code for a C program is stored in a text file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Ends with Carriage return (Windows only) + line feed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May contain an end of file marker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Can be stored as either text or binary form, for example,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4" name="Google Shape;104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Text vs Binary Files</a:t>
            </a:r>
            <a:endParaRPr/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7947" y="4109125"/>
            <a:ext cx="5066150" cy="7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&lt;stdio.h&gt;</a:t>
            </a:r>
            <a:r>
              <a:rPr lang="en">
                <a:solidFill>
                  <a:srgbClr val="000000"/>
                </a:solidFill>
              </a:rPr>
              <a:t> supports two kinds of files: text and binary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Binary File:</a:t>
            </a:r>
            <a:endParaRPr b="1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other option is to store the number in binary, which would take as few as two bytes: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Storing numbers in binary can often save space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1" name="Google Shape;111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Text vs Binary Files</a:t>
            </a:r>
            <a:endParaRPr/>
          </a:p>
        </p:txBody>
      </p:sp>
      <p:pic>
        <p:nvPicPr>
          <p:cNvPr id="112" name="Google Shape;1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9600" y="3212938"/>
            <a:ext cx="1812275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Opening a file for use as a stream requires a call of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</a:t>
            </a:r>
            <a:r>
              <a:rPr lang="en">
                <a:solidFill>
                  <a:srgbClr val="000000"/>
                </a:solidFill>
              </a:rPr>
              <a:t> function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Prototype for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*fopen(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 filename,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 mode);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filename is the name of the file to be opened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This argument may include information about the file’s location, such as a drive specifier or path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mode is a “</a:t>
            </a:r>
            <a:r>
              <a:rPr b="1" i="1" lang="en">
                <a:solidFill>
                  <a:srgbClr val="000000"/>
                </a:solidFill>
              </a:rPr>
              <a:t>mode string</a:t>
            </a:r>
            <a:r>
              <a:rPr lang="en">
                <a:solidFill>
                  <a:srgbClr val="000000"/>
                </a:solidFill>
              </a:rPr>
              <a:t>” that specifies what operations we intend to perform on the file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8" name="Google Shape;118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Opening a File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Windows, </a:t>
            </a:r>
            <a:r>
              <a:rPr lang="en">
                <a:solidFill>
                  <a:srgbClr val="E06666"/>
                </a:solidFill>
              </a:rPr>
              <a:t>be careful</a:t>
            </a:r>
            <a:r>
              <a:rPr lang="en">
                <a:solidFill>
                  <a:srgbClr val="000000"/>
                </a:solidFill>
              </a:rPr>
              <a:t> when file name in 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</a:t>
            </a:r>
            <a:r>
              <a:rPr lang="en">
                <a:solidFill>
                  <a:srgbClr val="000000"/>
                </a:solidFill>
              </a:rPr>
              <a:t> includes the ‘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</a:t>
            </a:r>
            <a:r>
              <a:rPr lang="en">
                <a:solidFill>
                  <a:srgbClr val="000000"/>
                </a:solidFill>
              </a:rPr>
              <a:t>’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call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fopen(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"c:\project\test1.dat"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will fail, because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\t</a:t>
            </a:r>
            <a:r>
              <a:rPr lang="en">
                <a:solidFill>
                  <a:srgbClr val="000000"/>
                </a:solidFill>
              </a:rPr>
              <a:t> is treated as a character escape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way to avoid the problem is to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\\</a:t>
            </a:r>
            <a:r>
              <a:rPr lang="en">
                <a:solidFill>
                  <a:srgbClr val="000000"/>
                </a:solidFill>
              </a:rPr>
              <a:t> instead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"c:\\project\\test1.dat"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alternative is to use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/ </a:t>
            </a:r>
            <a:r>
              <a:rPr lang="en">
                <a:solidFill>
                  <a:srgbClr val="000000"/>
                </a:solidFill>
              </a:rPr>
              <a:t>character instead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"c:/project/test1.dat"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4" name="Google Shape;124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Opening a File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</a:t>
            </a:r>
            <a:r>
              <a:rPr lang="en">
                <a:solidFill>
                  <a:srgbClr val="000000"/>
                </a:solidFill>
              </a:rPr>
              <a:t> returns a file pointer that the program can (and usually will) save in a variable: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fp = fopen(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"in.dat"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/* opens in.dat for reading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it can’t open a file,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</a:t>
            </a:r>
            <a:r>
              <a:rPr lang="en">
                <a:solidFill>
                  <a:srgbClr val="000000"/>
                </a:solidFill>
              </a:rPr>
              <a:t> returns a </a:t>
            </a:r>
            <a:r>
              <a:rPr b="1" i="1" lang="en">
                <a:solidFill>
                  <a:srgbClr val="000000"/>
                </a:solidFill>
              </a:rPr>
              <a:t>null pointer</a:t>
            </a:r>
            <a:endParaRPr b="1" i="1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0" name="Google Shape;130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Opening a File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Mode strings for text files: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>
                <a:solidFill>
                  <a:srgbClr val="000000"/>
                </a:solidFill>
              </a:rPr>
              <a:t> </a:t>
            </a:r>
            <a:r>
              <a:rPr b="1" i="1" lang="en" sz="1600">
                <a:solidFill>
                  <a:srgbClr val="000000"/>
                </a:solidFill>
              </a:rPr>
              <a:t> String                        Meaning</a:t>
            </a:r>
            <a:endParaRPr b="1" i="1"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"r"  				Open for reading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"w"  			Open for writing (file need not exist)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"a"  				Open for appending (file need not exist)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"r+"  			Open for reading and writing, starting at beginning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"w+"  			Open for reading and writing (truncate if file exists)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"a+"  			Open for reading and writing (append if file exists)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6" name="Google Shape;136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Modes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Mode strings for binary files: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600">
                <a:solidFill>
                  <a:srgbClr val="000000"/>
                </a:solidFill>
              </a:rPr>
              <a:t>  String                               	Meaning</a:t>
            </a:r>
            <a:endParaRPr b="1" i="1"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"rb"  				Open for reading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"wb"  				Open for writing (file need not exist)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"ab"  				Open for appending (file need not exist)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"r+b" or "rb+"  			Open for reading and writing, starting at beginning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"w+b" or "wb+"  		Open for reading and writing (truncate if file exists)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"a+b" or "ab+"  		Open for reading and writing (append if file exists)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2" name="Google Shape;142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Modes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Modes</a:t>
            </a:r>
            <a:endParaRPr/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6375" y="1742975"/>
            <a:ext cx="5610753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“</a:t>
            </a:r>
            <a:r>
              <a:rPr i="1" lang="en">
                <a:solidFill>
                  <a:srgbClr val="000000"/>
                </a:solidFill>
              </a:rPr>
              <a:t>write</a:t>
            </a:r>
            <a:r>
              <a:rPr lang="en">
                <a:solidFill>
                  <a:srgbClr val="000000"/>
                </a:solidFill>
              </a:rPr>
              <a:t>” mode ⇒ Normally overwrites the previous data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“</a:t>
            </a:r>
            <a:r>
              <a:rPr i="1" lang="en">
                <a:solidFill>
                  <a:srgbClr val="000000"/>
                </a:solidFill>
              </a:rPr>
              <a:t>append</a:t>
            </a:r>
            <a:r>
              <a:rPr lang="en">
                <a:solidFill>
                  <a:srgbClr val="000000"/>
                </a:solidFill>
              </a:rPr>
              <a:t>” mode ⇒ Adds at the end of the file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Rules for “</a:t>
            </a:r>
            <a:r>
              <a:rPr i="1" lang="en">
                <a:solidFill>
                  <a:srgbClr val="000000"/>
                </a:solidFill>
              </a:rPr>
              <a:t>read</a:t>
            </a:r>
            <a:r>
              <a:rPr lang="en">
                <a:solidFill>
                  <a:srgbClr val="000000"/>
                </a:solidFill>
              </a:rPr>
              <a:t>” + “</a:t>
            </a:r>
            <a:r>
              <a:rPr i="1" lang="en">
                <a:solidFill>
                  <a:srgbClr val="000000"/>
                </a:solidFill>
              </a:rPr>
              <a:t>write</a:t>
            </a:r>
            <a:r>
              <a:rPr lang="en">
                <a:solidFill>
                  <a:srgbClr val="000000"/>
                </a:solidFill>
              </a:rPr>
              <a:t>” ⇒ 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Can’t switch from reading to writing without positioning cursor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⇒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</a:rPr>
              <a:t>file-positioning function 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⇒ Exception: Reading encountered EOF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Can’t switch from writing to reading without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fflush</a:t>
            </a:r>
            <a:r>
              <a:rPr lang="en">
                <a:solidFill>
                  <a:srgbClr val="000000"/>
                </a:solidFill>
              </a:rPr>
              <a:t> or cursor positioning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4" name="Google Shape;154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Modes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fclose</a:t>
            </a:r>
            <a:r>
              <a:rPr lang="en">
                <a:solidFill>
                  <a:srgbClr val="000000"/>
                </a:solidFill>
              </a:rPr>
              <a:t> function allows a program to close a file that it’s no longer using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argument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fclose</a:t>
            </a:r>
            <a:r>
              <a:rPr lang="en">
                <a:solidFill>
                  <a:srgbClr val="000000"/>
                </a:solidFill>
              </a:rPr>
              <a:t> must be a file pointer obtained from 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freopen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fclose</a:t>
            </a:r>
            <a:r>
              <a:rPr lang="en">
                <a:solidFill>
                  <a:srgbClr val="000000"/>
                </a:solidFill>
              </a:rPr>
              <a:t> returns zero if the file was closed successfully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Otherwise, it returns the error code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EOF</a:t>
            </a:r>
            <a:r>
              <a:rPr lang="en">
                <a:solidFill>
                  <a:srgbClr val="000000"/>
                </a:solidFill>
              </a:rPr>
              <a:t> (a macro defined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&lt;stdio.h&gt;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0" name="Google Shape;160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Closing a File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It’s not unusual to see the call of fopen combined with the declaration of fp: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*fp = fopen(FILE_NAME,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or the test against NULL: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((fp = fopen(FILE_NAME,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)) == NULL)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6" name="Google Shape;166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Attaching a File to an Open Stream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freopen</a:t>
            </a:r>
            <a:r>
              <a:rPr lang="en">
                <a:solidFill>
                  <a:srgbClr val="000000"/>
                </a:solidFill>
              </a:rPr>
              <a:t> attaches a different file to a stream that’s already open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most common use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freopen</a:t>
            </a:r>
            <a:r>
              <a:rPr lang="en">
                <a:solidFill>
                  <a:srgbClr val="000000"/>
                </a:solidFill>
              </a:rPr>
              <a:t> is to associate a file with one of the standard streams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stdin, stdout, </a:t>
            </a:r>
            <a:r>
              <a:rPr lang="en">
                <a:solidFill>
                  <a:srgbClr val="000000"/>
                </a:solidFill>
              </a:rPr>
              <a:t>or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stderr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freopen</a:t>
            </a:r>
            <a:r>
              <a:rPr lang="en">
                <a:solidFill>
                  <a:srgbClr val="000000"/>
                </a:solidFill>
              </a:rPr>
              <a:t> that causes a program to begin writing to the file foo: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674EA7"/>
                </a:solidFill>
              </a:rPr>
              <a:t>if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(freopen(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"foo"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"w"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stdout) == NULL)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/* error; foo can't be opened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</a:t>
            </a:r>
            <a:r>
              <a:rPr i="1"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C99 can </a:t>
            </a:r>
            <a:r>
              <a:rPr i="1" lang="en" sz="1400">
                <a:solidFill>
                  <a:srgbClr val="8E7CC3"/>
                </a:solidFill>
                <a:latin typeface="Verdana"/>
                <a:ea typeface="Verdana"/>
                <a:cs typeface="Verdana"/>
                <a:sym typeface="Verdana"/>
              </a:rPr>
              <a:t>change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mode upon </a:t>
            </a:r>
            <a:r>
              <a:rPr i="1" lang="en" sz="1400">
                <a:solidFill>
                  <a:srgbClr val="E06666"/>
                </a:solidFill>
                <a:latin typeface="Verdana"/>
                <a:ea typeface="Verdana"/>
                <a:cs typeface="Verdana"/>
                <a:sym typeface="Verdana"/>
              </a:rPr>
              <a:t>failure</a:t>
            </a:r>
            <a:endParaRPr i="1" sz="1400">
              <a:solidFill>
                <a:srgbClr val="E06666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2" name="Google Shape;172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Attaching a File to an Open Stream</a:t>
            </a:r>
            <a:endParaRPr i="1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idx="1" type="body"/>
          </p:nvPr>
        </p:nvSpPr>
        <p:spPr>
          <a:xfrm>
            <a:off x="512750" y="16378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remove </a:t>
            </a:r>
            <a:r>
              <a:rPr lang="en">
                <a:solidFill>
                  <a:srgbClr val="000000"/>
                </a:solidFill>
              </a:rPr>
              <a:t>⇒ Deletes a file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remove(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"foo"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deletes the file named "foo"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rename </a:t>
            </a:r>
            <a:r>
              <a:rPr lang="en">
                <a:solidFill>
                  <a:srgbClr val="000000"/>
                </a:solidFill>
              </a:rPr>
              <a:t>⇒ Changes file name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rename(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"foo"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"bar"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Handy for renaming a temporary file if needed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Both functions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Work with file names, not file pointers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Return zero if succeeded, return nonzero if failed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Make sure the files are closed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8" name="Google Shape;178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Miscellaneous Operations</a:t>
            </a:r>
            <a:endParaRPr i="1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Writes to the stream indicated by its first argument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fprintf(fp,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"Total: %d\n"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total);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writes to fp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fprintf(stdout,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"Total: %d\n"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total);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writes to stdout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Common use: write error messages ⇒ Guaranteed to appear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on screen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fprintf(stderr,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"Error: data file can’t be opened.\n"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Returns the number of characters printed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Returns </a:t>
            </a:r>
            <a:r>
              <a:rPr lang="en" sz="1400">
                <a:solidFill>
                  <a:srgbClr val="E06666"/>
                </a:solidFill>
              </a:rPr>
              <a:t>negative</a:t>
            </a:r>
            <a:r>
              <a:rPr lang="en" sz="1400">
                <a:solidFill>
                  <a:srgbClr val="000000"/>
                </a:solidFill>
              </a:rPr>
              <a:t> value if error occurs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4" name="Google Shape;184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fprintf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Reads from the stream indicated by its first argument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(fp,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&amp;total);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reads from fp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(stdin,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&amp;total);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reads from stdin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Returns prematurely if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Read error occurs ⇒ Detected by ferror()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End-of-file (Input failure) occurs ⇒ Detected by feof()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Matching failure occurs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0" name="Google Shape;190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fscanf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Detecting End-of-File and Error Conditions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feof(fp)</a:t>
            </a:r>
            <a:r>
              <a:rPr lang="en" sz="1400">
                <a:solidFill>
                  <a:srgbClr val="000000"/>
                </a:solidFill>
              </a:rPr>
              <a:t> ⇒ Returns a nonzero value if end-of-file indicator is set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ferror(fp)</a:t>
            </a:r>
            <a:r>
              <a:rPr lang="en" sz="1400">
                <a:solidFill>
                  <a:srgbClr val="000000"/>
                </a:solidFill>
              </a:rPr>
              <a:t> ⇒ Returns a nonzero value if error indicator is set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6" name="Google Shape;196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fscanf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Write character to an arbitrary stream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fputc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(ch, fp);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writes ch to fp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Read character from an arbitrary stream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fgetc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(fp);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reads ch from fp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2" name="Google Shape;202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I/O</a:t>
            </a:r>
            <a:endParaRPr i="1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Always test EOF against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push back a character to the stream: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(isdigit(ch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getc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(fp))){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...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ungetc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(ch, fp);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pushes back last character read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8" name="Google Shape;208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I/O</a:t>
            </a:r>
            <a:endParaRPr i="1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Write single line to any stream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fputs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"Hello there, General Kenobi!"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fp);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Doesn’t write new-line ⇒ Unlike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puts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Read fixed number of characters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fgets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(str,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(str), fp);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Reads until the first new-line character 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sizeof(str) - 1</a:t>
            </a:r>
            <a:r>
              <a:rPr lang="en" sz="1400">
                <a:solidFill>
                  <a:srgbClr val="000000"/>
                </a:solidFill>
              </a:rPr>
              <a:t> characters at most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Stores the new-line character if read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4" name="Google Shape;214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Line I/O</a:t>
            </a:r>
            <a:endParaRPr i="1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Copy array from memory to stream which takes: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</a:t>
            </a:r>
            <a:r>
              <a:rPr b="1" i="1" lang="en" sz="1400">
                <a:solidFill>
                  <a:srgbClr val="000000"/>
                </a:solidFill>
              </a:rPr>
              <a:t> Address of</a:t>
            </a:r>
            <a:r>
              <a:rPr lang="en" sz="1400">
                <a:solidFill>
                  <a:srgbClr val="000000"/>
                </a:solidFill>
              </a:rPr>
              <a:t> array, </a:t>
            </a:r>
            <a:r>
              <a:rPr b="1" i="1" lang="en" sz="1400">
                <a:solidFill>
                  <a:srgbClr val="000000"/>
                </a:solidFill>
              </a:rPr>
              <a:t>Size of</a:t>
            </a:r>
            <a:r>
              <a:rPr lang="en" sz="1400">
                <a:solidFill>
                  <a:srgbClr val="000000"/>
                </a:solidFill>
              </a:rPr>
              <a:t> each array elements in bytes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 </a:t>
            </a:r>
            <a:r>
              <a:rPr b="1" i="1" lang="en" sz="1400">
                <a:solidFill>
                  <a:srgbClr val="000000"/>
                </a:solidFill>
              </a:rPr>
              <a:t>Number of</a:t>
            </a:r>
            <a:r>
              <a:rPr lang="en" sz="1400">
                <a:solidFill>
                  <a:srgbClr val="000000"/>
                </a:solidFill>
              </a:rPr>
              <a:t> elements to write, </a:t>
            </a:r>
            <a:r>
              <a:rPr b="1" i="1" lang="en" sz="1400">
                <a:solidFill>
                  <a:srgbClr val="000000"/>
                </a:solidFill>
              </a:rPr>
              <a:t>File Pointer</a:t>
            </a:r>
            <a:endParaRPr b="1" i="1"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fwrite</a:t>
            </a:r>
            <a:r>
              <a:rPr lang="en">
                <a:solidFill>
                  <a:srgbClr val="000000"/>
                </a:solidFill>
              </a:rPr>
              <a:t> writes from memory to stream and returns the number of elements written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fwrite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(a[0]),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(a) /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(a[0]), fp);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fread</a:t>
            </a:r>
            <a:r>
              <a:rPr lang="en">
                <a:solidFill>
                  <a:srgbClr val="000000"/>
                </a:solidFill>
              </a:rPr>
              <a:t> reads array from stream and returns number of elements read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fread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(a[0]),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(a) /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(a[0]), fp);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0" name="Google Shape;220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Block I/O</a:t>
            </a:r>
            <a:endParaRPr i="1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idx="1" type="body"/>
          </p:nvPr>
        </p:nvSpPr>
        <p:spPr>
          <a:xfrm>
            <a:off x="512750" y="16378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Every stream has an associated </a:t>
            </a:r>
            <a:r>
              <a:rPr b="1" i="1" lang="en">
                <a:solidFill>
                  <a:srgbClr val="000000"/>
                </a:solidFill>
              </a:rPr>
              <a:t>file position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 file is opened, the file position is set at the beginning of the file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In “append” mode, the initial file position may be at the beginning or end, depending on the implementation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 read or write operation is performed, the file position advances automatically, which helps with sequential access of data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&lt;stdio.h&gt;</a:t>
            </a:r>
            <a:r>
              <a:rPr lang="en">
                <a:solidFill>
                  <a:srgbClr val="000000"/>
                </a:solidFill>
              </a:rPr>
              <a:t> provides five functions that allow a program to determine the current file position or to change it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6" name="Google Shape;226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Block I/O</a:t>
            </a:r>
            <a:endParaRPr i="1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Changes the file position associated with a file pointer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Requires three arguments ⇒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First argument ⇒ file pointer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Second argument ⇒ Byte count (long int)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Third argument ⇒ Macro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SEEK_SET 		Beginning of file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SEEK_CUR 		Current file position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SEEK_END 		End of file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2" name="Google Shape;232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lang="en">
                <a:solidFill>
                  <a:srgbClr val="000000"/>
                </a:solidFill>
              </a:rPr>
              <a:t> to move to the beginning of a file: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fseek(fp, 0L, SEEK_SET);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lang="en">
                <a:solidFill>
                  <a:srgbClr val="000000"/>
                </a:solidFill>
              </a:rPr>
              <a:t> to move to the end of a file: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fseek(fp, 0L, SEEK_END);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lang="en">
                <a:solidFill>
                  <a:srgbClr val="000000"/>
                </a:solidFill>
              </a:rPr>
              <a:t> to move back 10 bytes: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fseek(fp, -10L, SEEK_CUR);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an error occurs (the requested position doesn’t exist, for example), fseek returns a nonzero value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8" name="Google Shape;238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ftell</a:t>
            </a:r>
            <a:r>
              <a:rPr lang="en">
                <a:solidFill>
                  <a:srgbClr val="000000"/>
                </a:solidFill>
              </a:rPr>
              <a:t> function returns the current file position as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integer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value returned by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ftell</a:t>
            </a:r>
            <a:r>
              <a:rPr lang="en">
                <a:solidFill>
                  <a:srgbClr val="000000"/>
                </a:solidFill>
              </a:rPr>
              <a:t> may be saved and later supplied to 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file_pos;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file_pos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ftell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(fp);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saves current position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(fp, file_pos, SEEK_SET);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returns to old position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4" name="Google Shape;244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ftell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fp</a:t>
            </a:r>
            <a:r>
              <a:rPr lang="en">
                <a:solidFill>
                  <a:srgbClr val="000000"/>
                </a:solidFill>
              </a:rPr>
              <a:t> is a binary stream, the call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ftell(fp)</a:t>
            </a:r>
            <a:r>
              <a:rPr lang="en">
                <a:solidFill>
                  <a:srgbClr val="000000"/>
                </a:solidFill>
              </a:rPr>
              <a:t> returns the current file position as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byte count</a:t>
            </a:r>
            <a:r>
              <a:rPr lang="en">
                <a:solidFill>
                  <a:srgbClr val="000000"/>
                </a:solidFill>
              </a:rPr>
              <a:t>, where zero represents the beginning of the file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fp</a:t>
            </a:r>
            <a:r>
              <a:rPr lang="en">
                <a:solidFill>
                  <a:srgbClr val="000000"/>
                </a:solidFill>
              </a:rPr>
              <a:t> is a text stream,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ftell(fp)</a:t>
            </a:r>
            <a:r>
              <a:rPr lang="en">
                <a:solidFill>
                  <a:srgbClr val="000000"/>
                </a:solidFill>
              </a:rPr>
              <a:t> isn’t necessarily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byte count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a result, it’s best not to perform arithmetic on values returned by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ftell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0" name="Google Shape;250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ftell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