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Robot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0" roundtripDataSignature="AMtx7miTMxEXHae/pYudh2UKU1zqnENX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1856262-6E9D-46E3-8DEF-C5084A4DB926}">
  <a:tblStyle styleId="{71856262-6E9D-46E3-8DEF-C5084A4DB92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oboto-bold.fntdata"/><Relationship Id="rId14" Type="http://schemas.openxmlformats.org/officeDocument/2006/relationships/slide" Target="slides/slide8.xml"/><Relationship Id="rId36" Type="http://schemas.openxmlformats.org/officeDocument/2006/relationships/font" Target="fonts/Roboto-regular.fntdata"/><Relationship Id="rId17" Type="http://schemas.openxmlformats.org/officeDocument/2006/relationships/slide" Target="slides/slide11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10.xml"/><Relationship Id="rId38" Type="http://schemas.openxmlformats.org/officeDocument/2006/relationships/font" Target="fonts/Robot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1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1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31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2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" name="Google Shape;23;p3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34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3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5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5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3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6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6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6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36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3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7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3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8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8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38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3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3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9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9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9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3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0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40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4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483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Lesson: Pointers and Arrays</a:t>
            </a:r>
            <a:endParaRPr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390525" y="2789124"/>
            <a:ext cx="82221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CSE 4107 : Structured Programming I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Shahriar Ivan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allows us to perform </a:t>
            </a:r>
            <a:r>
              <a:rPr i="1" lang="en">
                <a:solidFill>
                  <a:srgbClr val="000000"/>
                </a:solidFill>
              </a:rPr>
              <a:t>arithmetic</a:t>
            </a:r>
            <a:r>
              <a:rPr lang="en">
                <a:solidFill>
                  <a:srgbClr val="000000"/>
                </a:solidFill>
              </a:rPr>
              <a:t>—</a:t>
            </a:r>
            <a:r>
              <a:rPr b="1" i="1" lang="en">
                <a:solidFill>
                  <a:srgbClr val="000000"/>
                </a:solidFill>
              </a:rPr>
              <a:t>addition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b="1" i="1" lang="en">
                <a:solidFill>
                  <a:srgbClr val="000000"/>
                </a:solidFill>
              </a:rPr>
              <a:t>subtraction</a:t>
            </a:r>
            <a:r>
              <a:rPr lang="en">
                <a:solidFill>
                  <a:srgbClr val="000000"/>
                </a:solidFill>
              </a:rPr>
              <a:t>—on pointers to array elements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This leads to an alternative way of processing arrays in which </a:t>
            </a:r>
            <a:r>
              <a:rPr i="1" lang="en">
                <a:solidFill>
                  <a:srgbClr val="000000"/>
                </a:solidFill>
              </a:rPr>
              <a:t>pointers</a:t>
            </a:r>
            <a:r>
              <a:rPr lang="en">
                <a:solidFill>
                  <a:srgbClr val="000000"/>
                </a:solidFill>
              </a:rPr>
              <a:t> take the place of array subscripts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relationship between pointers and arrays in C is a close one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Understanding this relationship is critical for mastering C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4" name="Google Shape;74;p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Introduction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Pointers can point to array elements: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a[10], *p;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 = &amp;a[0];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graphical representation: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0" name="Google Shape;80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 Arithmetic</a:t>
            </a:r>
            <a:endParaRPr/>
          </a:p>
        </p:txBody>
      </p:sp>
      <p:pic>
        <p:nvPicPr>
          <p:cNvPr id="81" name="Google Shape;8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6850" y="3392600"/>
            <a:ext cx="4346550" cy="155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can now access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a[0]</a:t>
            </a:r>
            <a:r>
              <a:rPr lang="en">
                <a:solidFill>
                  <a:srgbClr val="000000"/>
                </a:solidFill>
              </a:rPr>
              <a:t> through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</a:t>
            </a:r>
            <a:r>
              <a:rPr lang="en">
                <a:solidFill>
                  <a:srgbClr val="000000"/>
                </a:solidFill>
              </a:rPr>
              <a:t>; for example, we can store the value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r>
              <a:rPr lang="en">
                <a:solidFill>
                  <a:srgbClr val="000000"/>
                </a:solidFill>
              </a:rPr>
              <a:t> in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a[0]</a:t>
            </a:r>
            <a:r>
              <a:rPr lang="en">
                <a:solidFill>
                  <a:srgbClr val="000000"/>
                </a:solidFill>
              </a:rPr>
              <a:t> by writing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*p = 5;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updated picture: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7" name="Google Shape;87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 Arithmetic</a:t>
            </a:r>
            <a:endParaRPr/>
          </a:p>
        </p:txBody>
      </p:sp>
      <p:pic>
        <p:nvPicPr>
          <p:cNvPr id="88" name="Google Shape;8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3449" y="3367350"/>
            <a:ext cx="4237300" cy="151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p points to an element of an array a, the other elements of a can be accessed by performing </a:t>
            </a:r>
            <a:r>
              <a:rPr b="1" i="1" lang="en">
                <a:solidFill>
                  <a:srgbClr val="000000"/>
                </a:solidFill>
              </a:rPr>
              <a:t>pointer arithmetic</a:t>
            </a:r>
            <a:r>
              <a:rPr lang="en">
                <a:solidFill>
                  <a:srgbClr val="000000"/>
                </a:solidFill>
              </a:rPr>
              <a:t> (or </a:t>
            </a:r>
            <a:r>
              <a:rPr b="1" i="1" lang="en">
                <a:solidFill>
                  <a:srgbClr val="000000"/>
                </a:solidFill>
              </a:rPr>
              <a:t>address arithmetic</a:t>
            </a:r>
            <a:r>
              <a:rPr lang="en">
                <a:solidFill>
                  <a:srgbClr val="000000"/>
                </a:solidFill>
              </a:rPr>
              <a:t>) on p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supports three (and only three) forms of </a:t>
            </a:r>
            <a:r>
              <a:rPr i="1" lang="en">
                <a:solidFill>
                  <a:srgbClr val="000000"/>
                </a:solidFill>
              </a:rPr>
              <a:t>pointer arithmetic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Adding an integer to a pointer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Subtracting an integer from a pointer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Subtracting one pointer from another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4" name="Google Shape;94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 Arithmetic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Adding an integer </a:t>
            </a:r>
            <a:r>
              <a:rPr i="1" lang="en">
                <a:solidFill>
                  <a:srgbClr val="000000"/>
                </a:solidFill>
              </a:rPr>
              <a:t>j</a:t>
            </a:r>
            <a:r>
              <a:rPr lang="en">
                <a:solidFill>
                  <a:srgbClr val="000000"/>
                </a:solidFill>
              </a:rPr>
              <a:t> to a pointer </a:t>
            </a:r>
            <a:r>
              <a:rPr i="1" lang="en">
                <a:solidFill>
                  <a:srgbClr val="000000"/>
                </a:solidFill>
              </a:rPr>
              <a:t>p</a:t>
            </a:r>
            <a:r>
              <a:rPr lang="en">
                <a:solidFill>
                  <a:srgbClr val="000000"/>
                </a:solidFill>
              </a:rPr>
              <a:t> yields a pointer to the element </a:t>
            </a:r>
            <a:r>
              <a:rPr i="1" lang="en">
                <a:solidFill>
                  <a:srgbClr val="000000"/>
                </a:solidFill>
              </a:rPr>
              <a:t>j</a:t>
            </a:r>
            <a:r>
              <a:rPr lang="en">
                <a:solidFill>
                  <a:srgbClr val="000000"/>
                </a:solidFill>
              </a:rPr>
              <a:t> places after the one that </a:t>
            </a:r>
            <a:r>
              <a:rPr i="1" lang="en">
                <a:solidFill>
                  <a:srgbClr val="000000"/>
                </a:solidFill>
              </a:rPr>
              <a:t>p</a:t>
            </a:r>
            <a:r>
              <a:rPr lang="en">
                <a:solidFill>
                  <a:srgbClr val="000000"/>
                </a:solidFill>
              </a:rPr>
              <a:t> points to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More precisely, if </a:t>
            </a:r>
            <a:r>
              <a:rPr i="1" lang="en">
                <a:solidFill>
                  <a:srgbClr val="000000"/>
                </a:solidFill>
              </a:rPr>
              <a:t>p</a:t>
            </a:r>
            <a:r>
              <a:rPr lang="en">
                <a:solidFill>
                  <a:srgbClr val="000000"/>
                </a:solidFill>
              </a:rPr>
              <a:t> points to the array element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a[i]</a:t>
            </a:r>
            <a:r>
              <a:rPr lang="en">
                <a:solidFill>
                  <a:srgbClr val="000000"/>
                </a:solidFill>
              </a:rPr>
              <a:t>, then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 + j</a:t>
            </a:r>
            <a:r>
              <a:rPr lang="en">
                <a:solidFill>
                  <a:srgbClr val="000000"/>
                </a:solidFill>
              </a:rPr>
              <a:t> points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a[i+j]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Assume that the following declarations are in effect: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a[10], *p, *q, 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0" name="Google Shape;100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 Arithmetic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Adding an Integer to a Pointer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 of pointer addition: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p = &amp;a[2];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   </a:t>
            </a:r>
            <a:endParaRPr sz="14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  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 = p + 3;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   </a:t>
            </a:r>
            <a:endParaRPr sz="14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  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 += 6;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6" name="Google Shape;106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 Arithmetic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Adding an Integer to a Pointer</a:t>
            </a:r>
            <a:endParaRPr/>
          </a:p>
        </p:txBody>
      </p:sp>
      <p:pic>
        <p:nvPicPr>
          <p:cNvPr id="107" name="Google Shape;10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375" y="2060750"/>
            <a:ext cx="2516425" cy="297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</a:t>
            </a:r>
            <a:r>
              <a:rPr i="1" lang="en">
                <a:solidFill>
                  <a:srgbClr val="000000"/>
                </a:solidFill>
              </a:rPr>
              <a:t>p</a:t>
            </a:r>
            <a:r>
              <a:rPr lang="en">
                <a:solidFill>
                  <a:srgbClr val="000000"/>
                </a:solidFill>
              </a:rPr>
              <a:t> points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a[i]</a:t>
            </a:r>
            <a:r>
              <a:rPr lang="en">
                <a:solidFill>
                  <a:srgbClr val="000000"/>
                </a:solidFill>
              </a:rPr>
              <a:t>, then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 - j</a:t>
            </a:r>
            <a:r>
              <a:rPr lang="en">
                <a:solidFill>
                  <a:srgbClr val="000000"/>
                </a:solidFill>
              </a:rPr>
              <a:t> points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a[i-j]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 = &amp;a[8];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q = p - 3;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 -= 6;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3" name="Google Shape;113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 Arithmetic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Subtracting an Integer from a Pointer</a:t>
            </a:r>
            <a:endParaRPr/>
          </a:p>
        </p:txBody>
      </p:sp>
      <p:pic>
        <p:nvPicPr>
          <p:cNvPr id="114" name="Google Shape;11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3250" y="2394825"/>
            <a:ext cx="2205325" cy="264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one pointer is subtracted from another, the result is the </a:t>
            </a:r>
            <a:r>
              <a:rPr b="1" i="1" lang="en">
                <a:solidFill>
                  <a:srgbClr val="000000"/>
                </a:solidFill>
              </a:rPr>
              <a:t>distance</a:t>
            </a:r>
            <a:r>
              <a:rPr lang="en">
                <a:solidFill>
                  <a:srgbClr val="000000"/>
                </a:solidFill>
              </a:rPr>
              <a:t> (measured in array elements) between the pointers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</a:t>
            </a:r>
            <a:r>
              <a:rPr i="1" lang="en">
                <a:solidFill>
                  <a:srgbClr val="000000"/>
                </a:solidFill>
              </a:rPr>
              <a:t>p</a:t>
            </a:r>
            <a:r>
              <a:rPr lang="en">
                <a:solidFill>
                  <a:srgbClr val="000000"/>
                </a:solidFill>
              </a:rPr>
              <a:t> points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a[i]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i="1" lang="en">
                <a:solidFill>
                  <a:srgbClr val="000000"/>
                </a:solidFill>
              </a:rPr>
              <a:t>q</a:t>
            </a:r>
            <a:r>
              <a:rPr lang="en">
                <a:solidFill>
                  <a:srgbClr val="000000"/>
                </a:solidFill>
              </a:rPr>
              <a:t> points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a[j]</a:t>
            </a:r>
            <a:r>
              <a:rPr lang="en">
                <a:solidFill>
                  <a:srgbClr val="000000"/>
                </a:solidFill>
              </a:rPr>
              <a:t>, then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 - q</a:t>
            </a:r>
            <a:r>
              <a:rPr lang="en">
                <a:solidFill>
                  <a:srgbClr val="000000"/>
                </a:solidFill>
              </a:rPr>
              <a:t> is equal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- j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 = &amp;a[5];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q = &amp;a[1];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i = p - q;   </a:t>
            </a:r>
            <a:r>
              <a:rPr lang="en" sz="14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/* i is 4 */</a:t>
            </a:r>
            <a:endParaRPr b="1" sz="14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i = q - p;   </a:t>
            </a:r>
            <a:r>
              <a:rPr lang="en" sz="14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/* i is -4 */</a:t>
            </a:r>
            <a:endParaRPr sz="14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0" name="Google Shape;120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 Arithmetic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Subtracting an Integer from a Pointer</a:t>
            </a:r>
            <a:endParaRPr/>
          </a:p>
        </p:txBody>
      </p:sp>
      <p:pic>
        <p:nvPicPr>
          <p:cNvPr id="121" name="Google Shape;1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4125" y="3336550"/>
            <a:ext cx="3874325" cy="134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Operations that cause </a:t>
            </a:r>
            <a:r>
              <a:rPr lang="en">
                <a:solidFill>
                  <a:srgbClr val="CC4125"/>
                </a:solidFill>
              </a:rPr>
              <a:t>undefined behavior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Performing arithmetic on a pointer that doesn’t point to an array element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Subtracting pointers unless both point to elements of the same array</a:t>
            </a:r>
            <a:endParaRPr sz="1400"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7" name="Google Shape;127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 Arithmetic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Subtracting an Integer from a Pointer</a:t>
            </a:r>
            <a:endParaRPr/>
          </a:p>
        </p:txBody>
      </p:sp>
      <p:sp>
        <p:nvSpPr>
          <p:cNvPr id="128" name="Google Shape;128;p10"/>
          <p:cNvSpPr txBox="1"/>
          <p:nvPr/>
        </p:nvSpPr>
        <p:spPr>
          <a:xfrm>
            <a:off x="1940675" y="3159025"/>
            <a:ext cx="4341000" cy="16992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a[10], b[10], *p, *q, i, j;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 = &amp;a[0];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 = p - q; 			</a:t>
            </a:r>
            <a:r>
              <a:rPr b="0" i="0" lang="en" sz="1400" u="none" cap="none" strike="noStrike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b="0" i="0" sz="1400" u="none" cap="none" strike="noStrike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q = &amp;b[0];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j = p - q; 			</a:t>
            </a:r>
            <a:r>
              <a:rPr b="0" i="0" lang="en" sz="1400" u="none" cap="none" strike="noStrike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Pointers can be compared using the relational operators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(&lt;, &lt;=, &gt;, &gt;=)</a:t>
            </a:r>
            <a:r>
              <a:rPr lang="en">
                <a:solidFill>
                  <a:srgbClr val="000000"/>
                </a:solidFill>
              </a:rPr>
              <a:t> and the equality operators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(==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!=)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Using relational operators is meaningful only for pointers to elements of the same array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outcome of the comparison depends on the relative positions of the two elements in the array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After the assignments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 = &amp;a[5];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q = &amp;a[1];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value of p &lt;= q is 0 and the value of p &gt;= q is 1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4" name="Google Shape;134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 Arithmetic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Comparing Pointers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Pointer arithmetic allows us to visit the elements of an array by repeatedly incrementing a pointer variable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loop that sums the elements of an array </a:t>
            </a:r>
            <a:r>
              <a:rPr i="1" lang="en">
                <a:solidFill>
                  <a:srgbClr val="000000"/>
                </a:solidFill>
              </a:rPr>
              <a:t>a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0" name="Google Shape;140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Pointers for Array Processing</a:t>
            </a:r>
            <a:endParaRPr/>
          </a:p>
        </p:txBody>
      </p:sp>
      <p:sp>
        <p:nvSpPr>
          <p:cNvPr id="141" name="Google Shape;141;p12"/>
          <p:cNvSpPr txBox="1"/>
          <p:nvPr/>
        </p:nvSpPr>
        <p:spPr>
          <a:xfrm>
            <a:off x="1697800" y="3125450"/>
            <a:ext cx="3529800" cy="19395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#define N 10</a:t>
            </a:r>
            <a:endParaRPr b="0" i="0" sz="1200" u="none" cap="none" strike="noStrike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a[N], sum, *p;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sum = 0;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(p = &amp;a[0]; p &lt; &amp;a[N]; p++)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sum += *p;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At the end of the first iteration: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At the end of the second iteration: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At the end of the third iteration: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7" name="Google Shape;147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Pointers for Array Processing</a:t>
            </a:r>
            <a:endParaRPr/>
          </a:p>
        </p:txBody>
      </p:sp>
      <p:pic>
        <p:nvPicPr>
          <p:cNvPr id="148" name="Google Shape;14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4600" y="1776475"/>
            <a:ext cx="2163750" cy="330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condition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 &lt; &amp;a[N]</a:t>
            </a:r>
            <a:r>
              <a:rPr lang="en">
                <a:solidFill>
                  <a:srgbClr val="000000"/>
                </a:solidFill>
              </a:rPr>
              <a:t> in the for statement deserves special mention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It’s legal to apply the address operator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a[N]</a:t>
            </a:r>
            <a:r>
              <a:rPr lang="en">
                <a:solidFill>
                  <a:srgbClr val="000000"/>
                </a:solidFill>
              </a:rPr>
              <a:t>, even though this element </a:t>
            </a:r>
            <a:r>
              <a:rPr lang="en">
                <a:solidFill>
                  <a:srgbClr val="E06666"/>
                </a:solidFill>
              </a:rPr>
              <a:t>doesn’t exist</a:t>
            </a:r>
            <a:endParaRPr>
              <a:solidFill>
                <a:srgbClr val="E06666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Pointer arithmetic may save execution time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However, some C compilers produce better code for loops that rely on </a:t>
            </a:r>
            <a:r>
              <a:rPr i="1" lang="en">
                <a:solidFill>
                  <a:srgbClr val="000000"/>
                </a:solidFill>
              </a:rPr>
              <a:t>subscripting</a:t>
            </a:r>
            <a:endParaRPr i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4" name="Google Shape;154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Pointers for Array Processing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Modify an array element and advance to the next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*p++ = j;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same as a[i++] = j;</a:t>
            </a:r>
            <a:endParaRPr i="1"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0" name="Google Shape;160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Pointers for Array Processing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Comparing the * and ++ Operators</a:t>
            </a:r>
            <a:endParaRPr/>
          </a:p>
        </p:txBody>
      </p:sp>
      <p:graphicFrame>
        <p:nvGraphicFramePr>
          <p:cNvPr id="161" name="Google Shape;161;p15"/>
          <p:cNvGraphicFramePr/>
          <p:nvPr/>
        </p:nvGraphicFramePr>
        <p:xfrm>
          <a:off x="893675" y="294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{71856262-6E9D-46E3-8DEF-C5084A4DB926}</a:tableStyleId>
              </a:tblPr>
              <a:tblGrid>
                <a:gridCol w="2190750"/>
                <a:gridCol w="50482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1" lang="en" sz="1400" u="none" cap="none" strike="noStrike"/>
                        <a:t>Expression</a:t>
                      </a:r>
                      <a:endParaRPr b="1" i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1" lang="en" sz="1400" u="none" cap="none" strike="noStrike"/>
                        <a:t>Meaning</a:t>
                      </a:r>
                      <a:endParaRPr b="1" i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*p++ or *(p++)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Value of expression: *p. Increment p later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(*p)++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Value of expression: *p. Increment *p later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*++p or *(++p)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Increment p first. Value of expression: *p after increment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++*p or ++(*p)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Increment *p first. Value of expression: *p after increment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Pointer arithmetic is one way in which arrays and pointers are related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Another key relationship: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i="1" lang="en">
                <a:solidFill>
                  <a:srgbClr val="000000"/>
                </a:solidFill>
              </a:rPr>
              <a:t>The name of an array can be used as a pointer to the first element in the array</a:t>
            </a:r>
            <a:endParaRPr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This relationship simplifies pointer arithmetic and makes both arrays and pointers more versatile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7" name="Google Shape;167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Array Name as a Pointer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Suppose that a is declared as follows: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a[10];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Examples of using a as a pointer: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*a = 7;   		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stores 7 in a[0]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*(a+1) = 12;  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stores 12 in a[1]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general,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+ i</a:t>
            </a:r>
            <a:r>
              <a:rPr lang="en">
                <a:solidFill>
                  <a:srgbClr val="000000"/>
                </a:solidFill>
              </a:rPr>
              <a:t> is the same as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&amp;a[i]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Both represent a pointer to element i of a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Also,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*(a+i)</a:t>
            </a:r>
            <a:r>
              <a:rPr lang="en">
                <a:solidFill>
                  <a:srgbClr val="000000"/>
                </a:solidFill>
              </a:rPr>
              <a:t> is equivalent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a[i]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Both represent element i itself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Array Name as a Pointer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fact that an array name can serve as a pointer makes it easier to write loops that step through an array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Original loop: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(p = &amp;a[0]; p &lt; &amp;a[N]; p++)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sum += *p;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Simplified version: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(p = a; p &lt; a + N; p++)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sum += *p;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9" name="Google Shape;179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Array Name as a Pointer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Cannot be assigned a new value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= p;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Cannot make it point elsewhere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while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(*a != 0)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a++;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Solution: Copy a into a pointer variable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 = a;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while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(*p != 0)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p++;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5" name="Google Shape;185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Array Name as a Pointer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reverse.c program of Chapter 8 reads 10 numbers, then writes the numbers in </a:t>
            </a:r>
            <a:r>
              <a:rPr b="1" i="1" lang="en">
                <a:solidFill>
                  <a:srgbClr val="000000"/>
                </a:solidFill>
              </a:rPr>
              <a:t>reverse</a:t>
            </a:r>
            <a:r>
              <a:rPr lang="en">
                <a:solidFill>
                  <a:srgbClr val="000000"/>
                </a:solidFill>
              </a:rPr>
              <a:t> order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original program stores the numbers in an array, with </a:t>
            </a:r>
            <a:r>
              <a:rPr i="1" lang="en">
                <a:solidFill>
                  <a:srgbClr val="000000"/>
                </a:solidFill>
              </a:rPr>
              <a:t>subscripting</a:t>
            </a:r>
            <a:r>
              <a:rPr lang="en">
                <a:solidFill>
                  <a:srgbClr val="000000"/>
                </a:solidFill>
              </a:rPr>
              <a:t> used to access elements of the array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reverse3.c is a new version of the program in which </a:t>
            </a:r>
            <a:r>
              <a:rPr i="1" lang="en">
                <a:solidFill>
                  <a:srgbClr val="000000"/>
                </a:solidFill>
              </a:rPr>
              <a:t>subscripting</a:t>
            </a:r>
            <a:r>
              <a:rPr lang="en">
                <a:solidFill>
                  <a:srgbClr val="000000"/>
                </a:solidFill>
              </a:rPr>
              <a:t> has been replaced with pointer arithmetic</a:t>
            </a:r>
            <a:r>
              <a:rPr lang="en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11430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1" name="Google Shape;191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Reversing a Series of Numbers (Revisited)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allows us to subscript a pointer as though it were an array name: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11430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7" name="Google Shape;197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Using Array Name as a Pointer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1117500" y="2412625"/>
            <a:ext cx="3915000" cy="22776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#define N 10</a:t>
            </a:r>
            <a:endParaRPr b="0" i="0" sz="14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a[N], i, sum = 0, *p = a;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 = 0; i &lt; N; i++)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sum += p[i];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**The compiler treats p[i] as *(p+i)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passed to a function, an array name is treated as a pointer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call of </a:t>
            </a:r>
            <a:r>
              <a:rPr i="1" lang="en">
                <a:solidFill>
                  <a:srgbClr val="000000"/>
                </a:solidFill>
              </a:rPr>
              <a:t>find_largest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largest = find_largest(b, N);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This call causes a pointer to the first element of b to be assigned to a;</a:t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4" name="Google Shape;204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Array Arguments (Revisited)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4246775" y="2223975"/>
            <a:ext cx="2961300" cy="20103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find_largest(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a[], 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n){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i, max;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max = a[0];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 = 1; i &lt; n; i++)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(a[i] &gt; max)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max = a[i];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max;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 opposed to ordinary variables, when array is passed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	</a:t>
            </a:r>
            <a:r>
              <a:rPr lang="en" sz="1400">
                <a:solidFill>
                  <a:srgbClr val="000000"/>
                </a:solidFill>
              </a:rPr>
              <a:t>Pointer is passed instead of copying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	</a:t>
            </a:r>
            <a:r>
              <a:rPr lang="en" sz="1400">
                <a:solidFill>
                  <a:srgbClr val="000000"/>
                </a:solidFill>
              </a:rPr>
              <a:t>Editing array variable can change array in argument</a:t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prevent change, use const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find_largest(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const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a[],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1" name="Google Shape;211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Array Arguments (Revisited)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1332150" y="2878875"/>
            <a:ext cx="3907500" cy="14673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store_zeros(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a[], 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n){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 = 0; i &lt; n; i++)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a[i] = 0;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time required to pass an array to a function doesn’t depend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on the size of the array ⇒ No copy is made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array parameter can be declared as pointer ⇒ Compiler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treats them as identical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find_largest(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*a,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Not the same for variable declaration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	</a:t>
            </a:r>
            <a:r>
              <a:rPr lang="en" sz="1400">
                <a:solidFill>
                  <a:srgbClr val="000000"/>
                </a:solidFill>
              </a:rPr>
              <a:t>Sets aside space for 10 integers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a[10];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	</a:t>
            </a:r>
            <a:r>
              <a:rPr lang="en" sz="1400">
                <a:solidFill>
                  <a:srgbClr val="000000"/>
                </a:solidFill>
              </a:rPr>
              <a:t>Allocates space for a pointer variable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*a</a:t>
            </a:r>
            <a:r>
              <a:rPr lang="en" sz="1400">
                <a:solidFill>
                  <a:srgbClr val="000000"/>
                </a:solidFill>
              </a:rPr>
              <a:t>;</a:t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8" name="Google Shape;218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Array Arguments (Revisited)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"/>
          <p:cNvSpPr txBox="1"/>
          <p:nvPr>
            <p:ph idx="1" type="body"/>
          </p:nvPr>
        </p:nvSpPr>
        <p:spPr>
          <a:xfrm>
            <a:off x="564550" y="171180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Just as pointers can point to elements of one-dimensional arrays, they can also point to elements of multidimensional arrays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Layout of an array with </a:t>
            </a:r>
            <a:r>
              <a:rPr i="1" lang="en">
                <a:solidFill>
                  <a:srgbClr val="000000"/>
                </a:solidFill>
              </a:rPr>
              <a:t>r</a:t>
            </a:r>
            <a:r>
              <a:rPr lang="en">
                <a:solidFill>
                  <a:srgbClr val="000000"/>
                </a:solidFill>
              </a:rPr>
              <a:t> rows: 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</a:t>
            </a:r>
            <a:r>
              <a:rPr i="1" lang="en">
                <a:solidFill>
                  <a:srgbClr val="000000"/>
                </a:solidFill>
              </a:rPr>
              <a:t>p</a:t>
            </a:r>
            <a:r>
              <a:rPr lang="en">
                <a:solidFill>
                  <a:srgbClr val="000000"/>
                </a:solidFill>
              </a:rPr>
              <a:t> initially points to the element in </a:t>
            </a:r>
            <a:r>
              <a:rPr i="1" lang="en">
                <a:solidFill>
                  <a:srgbClr val="000000"/>
                </a:solidFill>
              </a:rPr>
              <a:t>row 0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i="1" lang="en">
                <a:solidFill>
                  <a:srgbClr val="000000"/>
                </a:solidFill>
              </a:rPr>
              <a:t>column 0</a:t>
            </a:r>
            <a:r>
              <a:rPr lang="en">
                <a:solidFill>
                  <a:srgbClr val="000000"/>
                </a:solidFill>
              </a:rPr>
              <a:t>, we can visit every element in the array by incrementing </a:t>
            </a:r>
            <a:r>
              <a:rPr i="1" lang="en">
                <a:solidFill>
                  <a:srgbClr val="000000"/>
                </a:solidFill>
              </a:rPr>
              <a:t>p</a:t>
            </a:r>
            <a:r>
              <a:rPr lang="en">
                <a:solidFill>
                  <a:srgbClr val="000000"/>
                </a:solidFill>
              </a:rPr>
              <a:t> repeatedly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4" name="Google Shape;224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Pointers and Multidimensional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Processing the Elements of a Multidimensional Array</a:t>
            </a:r>
            <a:endParaRPr/>
          </a:p>
        </p:txBody>
      </p:sp>
      <p:pic>
        <p:nvPicPr>
          <p:cNvPr id="225" name="Google Shape;22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6650" y="3090725"/>
            <a:ext cx="3809950" cy="91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/>
          <p:nvPr>
            <p:ph idx="1" type="body"/>
          </p:nvPr>
        </p:nvSpPr>
        <p:spPr>
          <a:xfrm>
            <a:off x="564550" y="171180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Consider the problem of initializing all elements of the following array to zero: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 a[NUM_ROWS][NUM_COLS];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obvious technique would be to use nested for loops: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1" name="Google Shape;231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Pointers and Multidimensional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Processing the Elements of a Multidimensional Array</a:t>
            </a:r>
            <a:endParaRPr/>
          </a:p>
        </p:txBody>
      </p:sp>
      <p:sp>
        <p:nvSpPr>
          <p:cNvPr id="232" name="Google Shape;232;p26"/>
          <p:cNvSpPr txBox="1"/>
          <p:nvPr/>
        </p:nvSpPr>
        <p:spPr>
          <a:xfrm>
            <a:off x="1258125" y="3404325"/>
            <a:ext cx="4344300" cy="14160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row, col;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…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(row = 0; row &lt; NUM_ROWS; row++)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(col = 0; col &lt; NUM_COLS; col++)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		a[row][col] = 0;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/>
          <p:cNvSpPr txBox="1"/>
          <p:nvPr>
            <p:ph idx="1" type="body"/>
          </p:nvPr>
        </p:nvSpPr>
        <p:spPr>
          <a:xfrm>
            <a:off x="564550" y="171180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we view a as a one-dimensional array of integers, a single loop is sufficient: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Works with </a:t>
            </a:r>
            <a:r>
              <a:rPr lang="en">
                <a:solidFill>
                  <a:schemeClr val="dk1"/>
                </a:solidFill>
              </a:rPr>
              <a:t>most</a:t>
            </a:r>
            <a:r>
              <a:rPr lang="en">
                <a:solidFill>
                  <a:srgbClr val="000000"/>
                </a:solidFill>
              </a:rPr>
              <a:t> C compilers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8" name="Google Shape;238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Pointers and Multidimensional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Processing the Elements of a Multidimensional Array</a:t>
            </a:r>
            <a:endParaRPr/>
          </a:p>
        </p:txBody>
      </p:sp>
      <p:sp>
        <p:nvSpPr>
          <p:cNvPr id="239" name="Google Shape;239;p27"/>
          <p:cNvSpPr txBox="1"/>
          <p:nvPr/>
        </p:nvSpPr>
        <p:spPr>
          <a:xfrm>
            <a:off x="1398725" y="2383025"/>
            <a:ext cx="6423900" cy="13647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*p;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…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(p = &amp;a[0][0]; p &lt;= &amp;a[NUM_ROWS-1][NUM_COLS-1]; p++)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*p = 0;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"/>
          <p:cNvSpPr txBox="1"/>
          <p:nvPr>
            <p:ph idx="1" type="body"/>
          </p:nvPr>
        </p:nvSpPr>
        <p:spPr>
          <a:xfrm>
            <a:off x="564550" y="171180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pointer variable </a:t>
            </a:r>
            <a:r>
              <a:rPr i="1" lang="en">
                <a:solidFill>
                  <a:srgbClr val="000000"/>
                </a:solidFill>
              </a:rPr>
              <a:t>p</a:t>
            </a:r>
            <a:r>
              <a:rPr lang="en">
                <a:solidFill>
                  <a:srgbClr val="000000"/>
                </a:solidFill>
              </a:rPr>
              <a:t> can also be used for processing the elements in just one </a:t>
            </a:r>
            <a:r>
              <a:rPr i="1" lang="en">
                <a:solidFill>
                  <a:srgbClr val="000000"/>
                </a:solidFill>
              </a:rPr>
              <a:t>row</a:t>
            </a:r>
            <a:r>
              <a:rPr lang="en">
                <a:solidFill>
                  <a:srgbClr val="000000"/>
                </a:solidFill>
              </a:rPr>
              <a:t> of a two-dimensional array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visit the elements of </a:t>
            </a:r>
            <a:r>
              <a:rPr i="1" lang="en">
                <a:solidFill>
                  <a:srgbClr val="000000"/>
                </a:solidFill>
              </a:rPr>
              <a:t>row i,</a:t>
            </a:r>
            <a:r>
              <a:rPr lang="en">
                <a:solidFill>
                  <a:srgbClr val="000000"/>
                </a:solidFill>
              </a:rPr>
              <a:t> we’d initialize </a:t>
            </a:r>
            <a:r>
              <a:rPr i="1" lang="en">
                <a:solidFill>
                  <a:srgbClr val="000000"/>
                </a:solidFill>
              </a:rPr>
              <a:t>p</a:t>
            </a:r>
            <a:r>
              <a:rPr lang="en">
                <a:solidFill>
                  <a:srgbClr val="000000"/>
                </a:solidFill>
              </a:rPr>
              <a:t> to point to element </a:t>
            </a:r>
            <a:r>
              <a:rPr i="1" lang="en">
                <a:solidFill>
                  <a:srgbClr val="000000"/>
                </a:solidFill>
              </a:rPr>
              <a:t>0</a:t>
            </a:r>
            <a:r>
              <a:rPr lang="en">
                <a:solidFill>
                  <a:srgbClr val="000000"/>
                </a:solidFill>
              </a:rPr>
              <a:t> in </a:t>
            </a:r>
            <a:r>
              <a:rPr i="1" lang="en">
                <a:solidFill>
                  <a:srgbClr val="000000"/>
                </a:solidFill>
              </a:rPr>
              <a:t>row i</a:t>
            </a:r>
            <a:r>
              <a:rPr lang="en">
                <a:solidFill>
                  <a:srgbClr val="000000"/>
                </a:solidFill>
              </a:rPr>
              <a:t> in the array a: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 = &amp;a[i][0];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or we could simply write,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 = a[i];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5" name="Google Shape;245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Pointers and Multidimensional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Processing the Rows of a Multidimensional Array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/>
          <p:nvPr>
            <p:ph idx="1" type="body"/>
          </p:nvPr>
        </p:nvSpPr>
        <p:spPr>
          <a:xfrm>
            <a:off x="564550" y="171180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1" name="Google Shape;251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Pointers and Multidimensional Arrays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Processing the Rows of a Multidimensional Array</a:t>
            </a:r>
            <a:endParaRPr/>
          </a:p>
        </p:txBody>
      </p:sp>
      <p:sp>
        <p:nvSpPr>
          <p:cNvPr id="252" name="Google Shape;252;p29"/>
          <p:cNvSpPr txBox="1"/>
          <p:nvPr/>
        </p:nvSpPr>
        <p:spPr>
          <a:xfrm>
            <a:off x="982375" y="1957775"/>
            <a:ext cx="35895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 A[2][3];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A[0], A[1] will be 1D-arrays of 3 integers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So, we can not write, int *p = A;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 (*)p[3] = A;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Here, A 		&amp;A[0]	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*A 		A[0]		&amp;A[0][0]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A+1 		&amp;A[1]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*(A+1) 	A[1]		&amp;A[1][0]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*(A+1)+2 		A[1]+2		&amp;A[1][2]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53" name="Google Shape;253;p29"/>
          <p:cNvGraphicFramePr/>
          <p:nvPr/>
        </p:nvGraphicFramePr>
        <p:xfrm>
          <a:off x="6008200" y="214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{71856262-6E9D-46E3-8DEF-C5084A4DB926}</a:tableStyleId>
              </a:tblPr>
              <a:tblGrid>
                <a:gridCol w="511400"/>
                <a:gridCol w="511400"/>
                <a:gridCol w="511400"/>
              </a:tblGrid>
              <a:tr h="42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42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4" name="Google Shape;254;p29"/>
          <p:cNvSpPr txBox="1"/>
          <p:nvPr/>
        </p:nvSpPr>
        <p:spPr>
          <a:xfrm>
            <a:off x="4917147" y="2147425"/>
            <a:ext cx="57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A[0]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29"/>
          <p:cNvSpPr txBox="1"/>
          <p:nvPr/>
        </p:nvSpPr>
        <p:spPr>
          <a:xfrm>
            <a:off x="4957272" y="2577775"/>
            <a:ext cx="57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A[1]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29"/>
          <p:cNvSpPr/>
          <p:nvPr/>
        </p:nvSpPr>
        <p:spPr>
          <a:xfrm>
            <a:off x="5543475" y="2343700"/>
            <a:ext cx="224700" cy="42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9"/>
          <p:cNvSpPr/>
          <p:nvPr/>
        </p:nvSpPr>
        <p:spPr>
          <a:xfrm>
            <a:off x="5543475" y="2756875"/>
            <a:ext cx="224700" cy="42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9"/>
          <p:cNvSpPr/>
          <p:nvPr/>
        </p:nvSpPr>
        <p:spPr>
          <a:xfrm>
            <a:off x="1941750" y="3434725"/>
            <a:ext cx="224700" cy="42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9"/>
          <p:cNvSpPr/>
          <p:nvPr/>
        </p:nvSpPr>
        <p:spPr>
          <a:xfrm>
            <a:off x="1483675" y="3741500"/>
            <a:ext cx="224700" cy="42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9"/>
          <p:cNvSpPr/>
          <p:nvPr/>
        </p:nvSpPr>
        <p:spPr>
          <a:xfrm>
            <a:off x="2562325" y="3741500"/>
            <a:ext cx="224700" cy="42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1483675" y="4069325"/>
            <a:ext cx="224700" cy="42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9"/>
          <p:cNvSpPr/>
          <p:nvPr/>
        </p:nvSpPr>
        <p:spPr>
          <a:xfrm>
            <a:off x="1941750" y="4700800"/>
            <a:ext cx="224700" cy="42000"/>
          </a:xfrm>
          <a:prstGeom prst="rightArrow">
            <a:avLst>
              <a:gd fmla="val 50000" name="adj1"/>
              <a:gd fmla="val 54286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9"/>
          <p:cNvSpPr/>
          <p:nvPr/>
        </p:nvSpPr>
        <p:spPr>
          <a:xfrm>
            <a:off x="3219225" y="4700800"/>
            <a:ext cx="224700" cy="42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1708375" y="4397138"/>
            <a:ext cx="224700" cy="42000"/>
          </a:xfrm>
          <a:prstGeom prst="rightArrow">
            <a:avLst>
              <a:gd fmla="val 50000" name="adj1"/>
              <a:gd fmla="val 54286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9"/>
          <p:cNvSpPr/>
          <p:nvPr/>
        </p:nvSpPr>
        <p:spPr>
          <a:xfrm>
            <a:off x="2506775" y="4397150"/>
            <a:ext cx="224700" cy="42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