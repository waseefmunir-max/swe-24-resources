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9" r:id="rId5"/>
    <p:sldId id="264" r:id="rId6"/>
    <p:sldId id="294" r:id="rId7"/>
    <p:sldId id="295" r:id="rId8"/>
    <p:sldId id="267" r:id="rId9"/>
    <p:sldId id="296" r:id="rId10"/>
    <p:sldId id="297" r:id="rId11"/>
    <p:sldId id="298" r:id="rId12"/>
    <p:sldId id="272" r:id="rId13"/>
    <p:sldId id="276" r:id="rId14"/>
    <p:sldId id="277" r:id="rId15"/>
    <p:sldId id="278" r:id="rId16"/>
    <p:sldId id="292" r:id="rId17"/>
    <p:sldId id="299" r:id="rId18"/>
    <p:sldId id="300" r:id="rId19"/>
    <p:sldId id="29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94660"/>
  </p:normalViewPr>
  <p:slideViewPr>
    <p:cSldViewPr showGuides="1">
      <p:cViewPr varScale="1">
        <p:scale>
          <a:sx n="117" d="100"/>
          <a:sy n="117" d="100"/>
        </p:scale>
        <p:origin x="1440" y="114"/>
      </p:cViewPr>
      <p:guideLst>
        <p:guide orient="horz" pos="21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80F20-E6CD-44FA-9306-A4066CD471FC}" type="slidenum">
              <a:rPr lang="en-GB" smtClean="0"/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>
            <a:fillRect/>
          </a:stretch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B66AB-DAE0-4FAB-9FDF-6D4CB5FFE2B0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3A80F20-E6CD-44FA-9306-A4066CD471FC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dec.ny.gov/environmental-protection/acid-rain" TargetMode="External"/><Relationship Id="rId5" Type="http://schemas.openxmlformats.org/officeDocument/2006/relationships/hyperlink" Target="https://www.nationalgeographic.com/environment/article/acid-rain" TargetMode="External"/><Relationship Id="rId4" Type="http://schemas.openxmlformats.org/officeDocument/2006/relationships/hyperlink" Target="https://www.britannica.com/science/acid-rain" TargetMode="External"/><Relationship Id="rId3" Type="http://schemas.openxmlformats.org/officeDocument/2006/relationships/hyperlink" Target="https://www.usgs.gov/special-topics/water-science-school/science/acid-rain-and-water" TargetMode="External"/><Relationship Id="rId2" Type="http://schemas.openxmlformats.org/officeDocument/2006/relationships/hyperlink" Target="https://byjus.com/chemistry/acid-rain/" TargetMode="External"/><Relationship Id="rId1" Type="http://schemas.openxmlformats.org/officeDocument/2006/relationships/hyperlink" Target="https://en.wikipedia.org/wiki/Acid_rain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58" y="2780710"/>
            <a:ext cx="7772400" cy="147002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Acid Rain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dirty="0"/>
              <a:t>Learning Outcomes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916833"/>
            <a:ext cx="6571343" cy="354951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US" altLang="en-GB" dirty="0"/>
              <a:t>The </a:t>
            </a:r>
            <a:r>
              <a:rPr lang="en-GB" dirty="0"/>
              <a:t>causes of acid rain</a:t>
            </a:r>
            <a:r>
              <a:rPr lang="en-US" altLang="en-GB" dirty="0"/>
              <a:t>.</a:t>
            </a:r>
            <a:r>
              <a:rPr lang="en-GB" dirty="0"/>
              <a:t> </a:t>
            </a:r>
            <a:endParaRPr lang="en-GB" dirty="0"/>
          </a:p>
          <a:p>
            <a:r>
              <a:rPr lang="en-US" altLang="en-GB" dirty="0"/>
              <a:t>Understand</a:t>
            </a:r>
            <a:r>
              <a:rPr lang="en-GB" dirty="0"/>
              <a:t> how acid rain can affect rocks, living things and buildings</a:t>
            </a:r>
            <a:r>
              <a:rPr lang="en-US" altLang="en-GB" dirty="0"/>
              <a:t>.</a:t>
            </a:r>
            <a:endParaRPr lang="en-GB" dirty="0"/>
          </a:p>
          <a:p>
            <a:r>
              <a:rPr lang="en-US" altLang="en-GB" dirty="0"/>
              <a:t>Have an idea of</a:t>
            </a:r>
            <a:r>
              <a:rPr lang="en-GB" dirty="0"/>
              <a:t> how acid rain is formed</a:t>
            </a:r>
            <a:r>
              <a:rPr lang="en-US" altLang="en-GB" dirty="0"/>
              <a:t>.</a:t>
            </a:r>
            <a:endParaRPr lang="en-US" alt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476672"/>
            <a:ext cx="6571343" cy="764919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What is acid rain?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9"/>
            <a:ext cx="8229600" cy="64807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GB" dirty="0"/>
              <a:t>can you say </a:t>
            </a:r>
            <a:r>
              <a:rPr lang="en-GB" dirty="0"/>
              <a:t>some</a:t>
            </a:r>
            <a:r>
              <a:rPr lang="en-US" altLang="en-GB" dirty="0"/>
              <a:t> things about acid rain</a:t>
            </a:r>
            <a:r>
              <a:rPr lang="en-GB" dirty="0"/>
              <a:t> using these headlines to help you…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170" y="4997229"/>
            <a:ext cx="5162550" cy="5619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0969">
            <a:off x="3522783" y="3774908"/>
            <a:ext cx="5652999" cy="9498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694" y="2151284"/>
            <a:ext cx="4489450" cy="5492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67" y="4157442"/>
            <a:ext cx="4210050" cy="571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9330">
            <a:off x="22892" y="2638395"/>
            <a:ext cx="4203700" cy="8858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What is Acid Rain?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399263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When a  </a:t>
            </a:r>
            <a:r>
              <a:rPr lang="en-GB" b="1" dirty="0"/>
              <a:t>fuel</a:t>
            </a:r>
            <a:r>
              <a:rPr lang="en-GB" dirty="0"/>
              <a:t> burns, it produces poisonous gases such as </a:t>
            </a:r>
            <a:r>
              <a:rPr lang="en-GB" b="1" dirty="0"/>
              <a:t>sulphur dioxide</a:t>
            </a:r>
            <a:r>
              <a:rPr lang="en-GB" dirty="0"/>
              <a:t>.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The sulphur dioxide  </a:t>
            </a:r>
            <a:r>
              <a:rPr lang="en-GB" b="1" dirty="0"/>
              <a:t>dissolves</a:t>
            </a:r>
            <a:r>
              <a:rPr lang="en-GB" dirty="0"/>
              <a:t> in the clouds and then causes </a:t>
            </a:r>
            <a:r>
              <a:rPr lang="en-GB" b="1" dirty="0"/>
              <a:t>rain</a:t>
            </a:r>
            <a:r>
              <a:rPr lang="en-GB" dirty="0"/>
              <a:t>. This is acid rain.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Sometimes when it rains you can </a:t>
            </a:r>
            <a:r>
              <a:rPr lang="en-GB" b="1" dirty="0"/>
              <a:t>smell</a:t>
            </a:r>
            <a:r>
              <a:rPr lang="en-GB" dirty="0"/>
              <a:t> an eggy smell, this will be because of sulphur. 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Precipitation that has a </a:t>
            </a:r>
            <a:r>
              <a:rPr lang="en-US" dirty="0">
                <a:solidFill>
                  <a:srgbClr val="FF0000"/>
                </a:solidFill>
              </a:rPr>
              <a:t>pH of less than that of natural rainwater (which is about 5.6) due to dissolved oxides of Sulphur, nitrogen and carbon.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highlight>
                  <a:srgbClr val="FFFF00"/>
                </a:highlight>
              </a:rPr>
              <a:t>It is formed when oxides of Sulphur, carbon and nitrogen, as gases or fine particles in the atmosphere, combine with water vapor and precipitate as sulphuric , carbonic or nitric acids in rain, snow, or fog. 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7624" y="1124744"/>
            <a:ext cx="6912768" cy="4968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2" descr="j029382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78" name="WordArt 34"/>
          <p:cNvSpPr>
            <a:spLocks noChangeArrowheads="1" noChangeShapeType="1" noTextEdit="1"/>
          </p:cNvSpPr>
          <p:nvPr/>
        </p:nvSpPr>
        <p:spPr bwMode="auto">
          <a:xfrm>
            <a:off x="971550" y="2205038"/>
            <a:ext cx="6769100" cy="790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4400" kern="10">
                <a:ln w="9525">
                  <a:solidFill>
                    <a:srgbClr val="000000"/>
                  </a:solidFill>
                  <a:round/>
                </a:ln>
                <a:solidFill>
                  <a:srgbClr val="FFFF00"/>
                </a:solidFill>
                <a:latin typeface="Arial Black" panose="020B0A04020102020204"/>
              </a:rPr>
              <a:t>SULFURIC ACID</a:t>
            </a:r>
            <a:endParaRPr lang="en-GB" sz="4400" kern="10">
              <a:ln w="9525">
                <a:solidFill>
                  <a:srgbClr val="000000"/>
                </a:solidFill>
                <a:round/>
              </a:ln>
              <a:solidFill>
                <a:srgbClr val="FFFF00"/>
              </a:solidFill>
              <a:latin typeface="Arial Black" panose="020B0A04020102020204"/>
            </a:endParaRPr>
          </a:p>
        </p:txBody>
      </p:sp>
      <p:grpSp>
        <p:nvGrpSpPr>
          <p:cNvPr id="2" name="Group 39"/>
          <p:cNvGrpSpPr/>
          <p:nvPr/>
        </p:nvGrpSpPr>
        <p:grpSpPr bwMode="auto">
          <a:xfrm>
            <a:off x="2843213" y="4437063"/>
            <a:ext cx="6300787" cy="1217612"/>
            <a:chOff x="1791" y="2795"/>
            <a:chExt cx="3969" cy="767"/>
          </a:xfrm>
        </p:grpSpPr>
        <p:sp>
          <p:nvSpPr>
            <p:cNvPr id="5208" name="Rectangle 35"/>
            <p:cNvSpPr>
              <a:spLocks noChangeArrowheads="1"/>
            </p:cNvSpPr>
            <p:nvPr/>
          </p:nvSpPr>
          <p:spPr bwMode="auto">
            <a:xfrm rot="2615581">
              <a:off x="1791" y="3022"/>
              <a:ext cx="16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rgbClr val="FFFF00"/>
                  </a:solidFill>
                </a:rPr>
                <a:t>ACID RAIN</a:t>
              </a:r>
              <a:endParaRPr lang="en-GB" b="1">
                <a:solidFill>
                  <a:srgbClr val="FFFF00"/>
                </a:solidFill>
              </a:endParaRPr>
            </a:p>
          </p:txBody>
        </p:sp>
        <p:sp>
          <p:nvSpPr>
            <p:cNvPr id="5209" name="Rectangle 36"/>
            <p:cNvSpPr>
              <a:spLocks noChangeArrowheads="1"/>
            </p:cNvSpPr>
            <p:nvPr/>
          </p:nvSpPr>
          <p:spPr bwMode="auto">
            <a:xfrm rot="2615581">
              <a:off x="3424" y="2931"/>
              <a:ext cx="16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rgbClr val="FFFF00"/>
                  </a:solidFill>
                </a:rPr>
                <a:t>ACID RAIN</a:t>
              </a:r>
              <a:endParaRPr lang="en-GB" b="1">
                <a:solidFill>
                  <a:srgbClr val="FFFF00"/>
                </a:solidFill>
              </a:endParaRPr>
            </a:p>
          </p:txBody>
        </p:sp>
        <p:sp>
          <p:nvSpPr>
            <p:cNvPr id="5210" name="Rectangle 37"/>
            <p:cNvSpPr>
              <a:spLocks noChangeArrowheads="1"/>
            </p:cNvSpPr>
            <p:nvPr/>
          </p:nvSpPr>
          <p:spPr bwMode="auto">
            <a:xfrm rot="2615581">
              <a:off x="2744" y="3158"/>
              <a:ext cx="16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rgbClr val="FFFF00"/>
                  </a:solidFill>
                </a:rPr>
                <a:t>ACID RAIN</a:t>
              </a:r>
              <a:endParaRPr lang="en-GB" b="1">
                <a:solidFill>
                  <a:srgbClr val="FFFF00"/>
                </a:solidFill>
              </a:endParaRPr>
            </a:p>
          </p:txBody>
        </p:sp>
        <p:sp>
          <p:nvSpPr>
            <p:cNvPr id="5211" name="Rectangle 38"/>
            <p:cNvSpPr>
              <a:spLocks noChangeArrowheads="1"/>
            </p:cNvSpPr>
            <p:nvPr/>
          </p:nvSpPr>
          <p:spPr bwMode="auto">
            <a:xfrm rot="2615581">
              <a:off x="4156" y="2795"/>
              <a:ext cx="16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rgbClr val="FFFF00"/>
                  </a:solidFill>
                </a:rPr>
                <a:t>ACID RAIN</a:t>
              </a:r>
              <a:endParaRPr lang="en-GB" b="1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Group 122"/>
          <p:cNvGrpSpPr/>
          <p:nvPr/>
        </p:nvGrpSpPr>
        <p:grpSpPr bwMode="auto">
          <a:xfrm>
            <a:off x="1979613" y="404813"/>
            <a:ext cx="4248150" cy="3963987"/>
            <a:chOff x="1565" y="1071"/>
            <a:chExt cx="2676" cy="2497"/>
          </a:xfrm>
        </p:grpSpPr>
        <p:grpSp>
          <p:nvGrpSpPr>
            <p:cNvPr id="5126" name="Group 40"/>
            <p:cNvGrpSpPr/>
            <p:nvPr/>
          </p:nvGrpSpPr>
          <p:grpSpPr bwMode="auto">
            <a:xfrm>
              <a:off x="1701" y="1071"/>
              <a:ext cx="2403" cy="2224"/>
              <a:chOff x="1701" y="1071"/>
              <a:chExt cx="2403" cy="2224"/>
            </a:xfrm>
          </p:grpSpPr>
          <p:grpSp>
            <p:nvGrpSpPr>
              <p:cNvPr id="5184" name="Group 41"/>
              <p:cNvGrpSpPr/>
              <p:nvPr/>
            </p:nvGrpSpPr>
            <p:grpSpPr bwMode="auto">
              <a:xfrm>
                <a:off x="2653" y="1071"/>
                <a:ext cx="408" cy="409"/>
                <a:chOff x="2244" y="1979"/>
                <a:chExt cx="408" cy="409"/>
              </a:xfrm>
            </p:grpSpPr>
            <p:sp>
              <p:nvSpPr>
                <p:cNvPr id="5206" name="Oval 42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20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85" name="Group 44"/>
              <p:cNvGrpSpPr/>
              <p:nvPr/>
            </p:nvGrpSpPr>
            <p:grpSpPr bwMode="auto">
              <a:xfrm>
                <a:off x="2472" y="1797"/>
                <a:ext cx="408" cy="409"/>
                <a:chOff x="2244" y="1979"/>
                <a:chExt cx="408" cy="409"/>
              </a:xfrm>
            </p:grpSpPr>
            <p:sp>
              <p:nvSpPr>
                <p:cNvPr id="5204" name="Oval 45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20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86" name="Group 47"/>
              <p:cNvGrpSpPr/>
              <p:nvPr/>
            </p:nvGrpSpPr>
            <p:grpSpPr bwMode="auto">
              <a:xfrm>
                <a:off x="2880" y="2387"/>
                <a:ext cx="408" cy="409"/>
                <a:chOff x="2244" y="1979"/>
                <a:chExt cx="408" cy="409"/>
              </a:xfrm>
            </p:grpSpPr>
            <p:sp>
              <p:nvSpPr>
                <p:cNvPr id="5202" name="Oval 48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20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87" name="Group 50"/>
              <p:cNvGrpSpPr/>
              <p:nvPr/>
            </p:nvGrpSpPr>
            <p:grpSpPr bwMode="auto">
              <a:xfrm>
                <a:off x="3651" y="1525"/>
                <a:ext cx="408" cy="409"/>
                <a:chOff x="2244" y="1979"/>
                <a:chExt cx="408" cy="409"/>
              </a:xfrm>
            </p:grpSpPr>
            <p:sp>
              <p:nvSpPr>
                <p:cNvPr id="5200" name="Oval 51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201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88" name="Group 53"/>
              <p:cNvGrpSpPr/>
              <p:nvPr/>
            </p:nvGrpSpPr>
            <p:grpSpPr bwMode="auto">
              <a:xfrm>
                <a:off x="3696" y="2115"/>
                <a:ext cx="408" cy="409"/>
                <a:chOff x="2244" y="1979"/>
                <a:chExt cx="408" cy="409"/>
              </a:xfrm>
            </p:grpSpPr>
            <p:sp>
              <p:nvSpPr>
                <p:cNvPr id="5198" name="Oval 54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99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89" name="Group 56"/>
              <p:cNvGrpSpPr/>
              <p:nvPr/>
            </p:nvGrpSpPr>
            <p:grpSpPr bwMode="auto">
              <a:xfrm>
                <a:off x="2381" y="2886"/>
                <a:ext cx="408" cy="409"/>
                <a:chOff x="2244" y="1979"/>
                <a:chExt cx="408" cy="409"/>
              </a:xfrm>
            </p:grpSpPr>
            <p:sp>
              <p:nvSpPr>
                <p:cNvPr id="5196" name="Oval 57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97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90" name="Group 59"/>
              <p:cNvGrpSpPr/>
              <p:nvPr/>
            </p:nvGrpSpPr>
            <p:grpSpPr bwMode="auto">
              <a:xfrm>
                <a:off x="1973" y="1525"/>
                <a:ext cx="408" cy="409"/>
                <a:chOff x="2244" y="1979"/>
                <a:chExt cx="408" cy="409"/>
              </a:xfrm>
            </p:grpSpPr>
            <p:sp>
              <p:nvSpPr>
                <p:cNvPr id="5194" name="Oval 60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9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  <p:grpSp>
            <p:nvGrpSpPr>
              <p:cNvPr id="5191" name="Group 62"/>
              <p:cNvGrpSpPr/>
              <p:nvPr/>
            </p:nvGrpSpPr>
            <p:grpSpPr bwMode="auto">
              <a:xfrm>
                <a:off x="1701" y="2115"/>
                <a:ext cx="408" cy="409"/>
                <a:chOff x="2244" y="1979"/>
                <a:chExt cx="408" cy="409"/>
              </a:xfrm>
            </p:grpSpPr>
            <p:sp>
              <p:nvSpPr>
                <p:cNvPr id="5192" name="Oval 63"/>
                <p:cNvSpPr>
                  <a:spLocks noChangeArrowheads="1"/>
                </p:cNvSpPr>
                <p:nvPr/>
              </p:nvSpPr>
              <p:spPr bwMode="auto">
                <a:xfrm>
                  <a:off x="2244" y="1979"/>
                  <a:ext cx="408" cy="409"/>
                </a:xfrm>
                <a:prstGeom prst="ellipse">
                  <a:avLst/>
                </a:prstGeom>
                <a:solidFill>
                  <a:srgbClr val="FFFF00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93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2290" y="1979"/>
                  <a:ext cx="317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GB"/>
                    <a:t>S</a:t>
                  </a:r>
                  <a:endParaRPr lang="en-GB"/>
                </a:p>
              </p:txBody>
            </p:sp>
          </p:grpSp>
        </p:grpSp>
        <p:grpSp>
          <p:nvGrpSpPr>
            <p:cNvPr id="5127" name="Group 65"/>
            <p:cNvGrpSpPr/>
            <p:nvPr/>
          </p:nvGrpSpPr>
          <p:grpSpPr bwMode="auto">
            <a:xfrm>
              <a:off x="1565" y="1389"/>
              <a:ext cx="2676" cy="2179"/>
              <a:chOff x="1565" y="1389"/>
              <a:chExt cx="2676" cy="2179"/>
            </a:xfrm>
          </p:grpSpPr>
          <p:grpSp>
            <p:nvGrpSpPr>
              <p:cNvPr id="5128" name="Group 66"/>
              <p:cNvGrpSpPr/>
              <p:nvPr/>
            </p:nvGrpSpPr>
            <p:grpSpPr bwMode="auto">
              <a:xfrm>
                <a:off x="2245" y="3203"/>
                <a:ext cx="681" cy="365"/>
                <a:chOff x="2245" y="3203"/>
                <a:chExt cx="681" cy="365"/>
              </a:xfrm>
            </p:grpSpPr>
            <p:grpSp>
              <p:nvGrpSpPr>
                <p:cNvPr id="5178" name="Group 67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82" name="Oval 68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83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79" name="Group 70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80" name="Oval 71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81" name="Text Box 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29" name="Group 73"/>
              <p:cNvGrpSpPr/>
              <p:nvPr/>
            </p:nvGrpSpPr>
            <p:grpSpPr bwMode="auto">
              <a:xfrm>
                <a:off x="2744" y="2704"/>
                <a:ext cx="681" cy="365"/>
                <a:chOff x="2245" y="3203"/>
                <a:chExt cx="681" cy="365"/>
              </a:xfrm>
            </p:grpSpPr>
            <p:grpSp>
              <p:nvGrpSpPr>
                <p:cNvPr id="5172" name="Group 74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76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77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73" name="Group 77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74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75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0" name="Group 80"/>
              <p:cNvGrpSpPr/>
              <p:nvPr/>
            </p:nvGrpSpPr>
            <p:grpSpPr bwMode="auto">
              <a:xfrm>
                <a:off x="3560" y="2432"/>
                <a:ext cx="681" cy="365"/>
                <a:chOff x="2245" y="3203"/>
                <a:chExt cx="681" cy="365"/>
              </a:xfrm>
            </p:grpSpPr>
            <p:grpSp>
              <p:nvGrpSpPr>
                <p:cNvPr id="5166" name="Group 81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70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71" name="Text Box 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67" name="Group 84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68" name="Oval 85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69" name="Text Box 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1" name="Group 87"/>
              <p:cNvGrpSpPr/>
              <p:nvPr/>
            </p:nvGrpSpPr>
            <p:grpSpPr bwMode="auto">
              <a:xfrm>
                <a:off x="3515" y="1797"/>
                <a:ext cx="681" cy="365"/>
                <a:chOff x="2245" y="3203"/>
                <a:chExt cx="681" cy="365"/>
              </a:xfrm>
            </p:grpSpPr>
            <p:grpSp>
              <p:nvGrpSpPr>
                <p:cNvPr id="5160" name="Group 88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64" name="Oval 89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65" name="Text Box 9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61" name="Group 91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62" name="Oval 92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63" name="Text Box 9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2" name="Group 94"/>
              <p:cNvGrpSpPr/>
              <p:nvPr/>
            </p:nvGrpSpPr>
            <p:grpSpPr bwMode="auto">
              <a:xfrm>
                <a:off x="2517" y="1389"/>
                <a:ext cx="681" cy="365"/>
                <a:chOff x="2245" y="3203"/>
                <a:chExt cx="681" cy="365"/>
              </a:xfrm>
            </p:grpSpPr>
            <p:grpSp>
              <p:nvGrpSpPr>
                <p:cNvPr id="5154" name="Group 95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58" name="Oval 96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59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55" name="Group 98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56" name="Oval 99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57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3" name="Group 101"/>
              <p:cNvGrpSpPr/>
              <p:nvPr/>
            </p:nvGrpSpPr>
            <p:grpSpPr bwMode="auto">
              <a:xfrm>
                <a:off x="2336" y="2115"/>
                <a:ext cx="681" cy="365"/>
                <a:chOff x="2245" y="3203"/>
                <a:chExt cx="681" cy="365"/>
              </a:xfrm>
            </p:grpSpPr>
            <p:grpSp>
              <p:nvGrpSpPr>
                <p:cNvPr id="5148" name="Group 102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52" name="Oval 103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53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49" name="Group 105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50" name="Oval 106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51" name="Text Box 1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4" name="Group 108"/>
              <p:cNvGrpSpPr/>
              <p:nvPr/>
            </p:nvGrpSpPr>
            <p:grpSpPr bwMode="auto">
              <a:xfrm>
                <a:off x="1565" y="2432"/>
                <a:ext cx="681" cy="365"/>
                <a:chOff x="2245" y="3203"/>
                <a:chExt cx="681" cy="365"/>
              </a:xfrm>
            </p:grpSpPr>
            <p:grpSp>
              <p:nvGrpSpPr>
                <p:cNvPr id="5142" name="Group 109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46" name="Oval 110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47" name="Text Box 1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43" name="Group 112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44" name="Oval 113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45" name="Text Box 1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  <p:grpSp>
            <p:nvGrpSpPr>
              <p:cNvPr id="5135" name="Group 115"/>
              <p:cNvGrpSpPr/>
              <p:nvPr/>
            </p:nvGrpSpPr>
            <p:grpSpPr bwMode="auto">
              <a:xfrm>
                <a:off x="1837" y="1842"/>
                <a:ext cx="681" cy="365"/>
                <a:chOff x="2245" y="3203"/>
                <a:chExt cx="681" cy="365"/>
              </a:xfrm>
            </p:grpSpPr>
            <p:grpSp>
              <p:nvGrpSpPr>
                <p:cNvPr id="5136" name="Group 116"/>
                <p:cNvGrpSpPr/>
                <p:nvPr/>
              </p:nvGrpSpPr>
              <p:grpSpPr bwMode="auto">
                <a:xfrm>
                  <a:off x="2245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40" name="Oval 117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  <p:grpSp>
              <p:nvGrpSpPr>
                <p:cNvPr id="5137" name="Group 119"/>
                <p:cNvGrpSpPr/>
                <p:nvPr/>
              </p:nvGrpSpPr>
              <p:grpSpPr bwMode="auto">
                <a:xfrm>
                  <a:off x="2608" y="3203"/>
                  <a:ext cx="318" cy="365"/>
                  <a:chOff x="2245" y="3203"/>
                  <a:chExt cx="318" cy="365"/>
                </a:xfrm>
              </p:grpSpPr>
              <p:sp>
                <p:nvSpPr>
                  <p:cNvPr id="5138" name="Oval 120"/>
                  <p:cNvSpPr>
                    <a:spLocks noChangeArrowheads="1"/>
                  </p:cNvSpPr>
                  <p:nvPr/>
                </p:nvSpPr>
                <p:spPr bwMode="auto">
                  <a:xfrm>
                    <a:off x="2245" y="3249"/>
                    <a:ext cx="317" cy="2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39" name="Text Box 1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5" y="3203"/>
                    <a:ext cx="318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GB" sz="3200"/>
                      <a:t>O</a:t>
                    </a:r>
                    <a:endParaRPr lang="en-GB" sz="3200"/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Rain formation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5656" y="1412776"/>
            <a:ext cx="6624735" cy="405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 Rain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3612591"/>
          </a:xfrm>
        </p:spPr>
        <p:txBody>
          <a:bodyPr/>
          <a:lstStyle/>
          <a:p>
            <a:r>
              <a:rPr lang="en-US" dirty="0"/>
              <a:t>When water vapor condenses, or as the rain falls, they dissolve in the water to form sulphuric acid (H2SO4) and nitric acid (HNO3).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in this way, it causes precipitation to become acidic, forming acid rain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052736"/>
            <a:ext cx="6571343" cy="801019"/>
          </a:xfrm>
        </p:spPr>
        <p:txBody>
          <a:bodyPr/>
          <a:lstStyle/>
          <a:p>
            <a:r>
              <a:rPr lang="en-US" dirty="0"/>
              <a:t>Chemical Equations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3612591"/>
          </a:xfrm>
        </p:spPr>
        <p:txBody>
          <a:bodyPr/>
          <a:lstStyle/>
          <a:p>
            <a:r>
              <a:rPr lang="en-US" dirty="0"/>
              <a:t>The following reaction will clarify the acid  formation reaction:-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H2O (l) + CO2 (g) ⇌ H2CO3 (aq)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2SO2 (g) + O2 (g) + 2H2O (l) → 2H2SO4 (aq)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4NO2 (g) + O2 (g) + 2H2O (l) → 4HNO3 (aq)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026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Effects of Acid Rain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44825"/>
            <a:ext cx="6571343" cy="362152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the following pictures a</a:t>
            </a:r>
            <a:r>
              <a:rPr lang="en-US" altLang="en-GB" sz="4000" dirty="0"/>
              <a:t>re a</a:t>
            </a:r>
            <a:r>
              <a:rPr lang="en-GB" sz="4000" dirty="0"/>
              <a:t> stimulus to explain what effects acid rain causes on the environment. </a:t>
            </a:r>
            <a:endParaRPr lang="en-GB" sz="40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" y="10160"/>
            <a:ext cx="9109710" cy="673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" y="-635"/>
            <a:ext cx="9029065" cy="6755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" y="18415"/>
            <a:ext cx="9053195" cy="662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844824"/>
            <a:ext cx="8229600" cy="4248472"/>
          </a:xfrm>
        </p:spPr>
        <p:txBody>
          <a:bodyPr>
            <a:normAutofit/>
          </a:bodyPr>
          <a:lstStyle/>
          <a:p>
            <a:r>
              <a:rPr lang="en-US" dirty="0"/>
              <a:t>It has been shown that acid rain </a:t>
            </a:r>
            <a:r>
              <a:rPr lang="en-US" dirty="0">
                <a:solidFill>
                  <a:srgbClr val="FF0000"/>
                </a:solidFill>
              </a:rPr>
              <a:t>has detrimental effects on trees, freshwaters and soils, destroys insects and aquatic life-forms.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Causes paint to peel, corrosion of steel structures such as bridges, and weathering of stone buildings and historic sculptures as well as impacts on human health.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Acid rain also causes aluminum to be released into the soil, which makes it difficult for trees to take up water.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Preventive Measures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5576" y="1853755"/>
            <a:ext cx="7776863" cy="36120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1009"/>
            <a:ext cx="3867400" cy="25524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600" y="3501008"/>
            <a:ext cx="4718713" cy="2552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Preventive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3612591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Liming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Powdered limestone/limewater added to water and soil to neutralize acid,  used extensively in Norway and Sweden, its an expensive, short-term remedy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1" y="1196752"/>
            <a:ext cx="7043234" cy="657003"/>
          </a:xfrm>
        </p:spPr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3755"/>
            <a:ext cx="7355160" cy="409552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hlinkClick r:id="rId1"/>
              </a:rPr>
              <a:t>https://en.wikipedia.org/wiki/Acid_rain</a:t>
            </a:r>
            <a:endParaRPr lang="en-US" sz="2400" dirty="0"/>
          </a:p>
          <a:p>
            <a:r>
              <a:rPr lang="en-US" sz="2400" dirty="0">
                <a:hlinkClick r:id="rId2"/>
              </a:rPr>
              <a:t>https://byjus.com/chemistry/acid-rain/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https://www.usgs.gov/special-topics/water-science school/science/acid-rain-and-water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https://www.britannica.com/science/acid-rain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https://www.nationalgeographic.com/environment/article/acid-rain</a:t>
            </a:r>
            <a:endParaRPr lang="en-US" sz="2400" dirty="0"/>
          </a:p>
          <a:p>
            <a:r>
              <a:rPr lang="en-US" sz="2400" dirty="0">
                <a:hlinkClick r:id="rId6"/>
              </a:rPr>
              <a:t>https://dec.ny.gov/environmental-protection/acid-rain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7646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r>
              <a:rPr lang="en-US" altLang="en-GB" dirty="0">
                <a:latin typeface="Bodoni MT Black" panose="02070A03080606020203" charset="0"/>
                <a:cs typeface="Bodoni MT Black" panose="02070A03080606020203" charset="0"/>
              </a:rPr>
              <a:t>THANK YOU FOR </a:t>
            </a: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r>
              <a:rPr lang="en-US" altLang="en-GB" dirty="0">
                <a:latin typeface="Bodoni MT Black" panose="02070A03080606020203" charset="0"/>
                <a:cs typeface="Bodoni MT Black" panose="02070A03080606020203" charset="0"/>
              </a:rPr>
              <a:t>YOUR ATTENTION! </a:t>
            </a: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  <a:p>
            <a:pPr marL="0" indent="0" algn="ctr">
              <a:buNone/>
            </a:pPr>
            <a:endParaRPr lang="en-US" altLang="en-GB" dirty="0">
              <a:latin typeface="Bodoni MT Black" panose="02070A03080606020203" charset="0"/>
              <a:cs typeface="Bodoni MT Black" panose="02070A03080606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2471</Words>
  <Application>WPS Presentation</Application>
  <PresentationFormat>On-screen Show (4:3)</PresentationFormat>
  <Paragraphs>136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 Black</vt:lpstr>
      <vt:lpstr>Bodoni MT Black</vt:lpstr>
      <vt:lpstr>Gill Sans MT</vt:lpstr>
      <vt:lpstr>Microsoft YaHei</vt:lpstr>
      <vt:lpstr>Arial Unicode MS</vt:lpstr>
      <vt:lpstr>Calibri</vt:lpstr>
      <vt:lpstr>Gallery</vt:lpstr>
      <vt:lpstr>Acid Rain</vt:lpstr>
      <vt:lpstr>Learning Outcomes</vt:lpstr>
      <vt:lpstr>What is acid rain?</vt:lpstr>
      <vt:lpstr>What is Acid Rain?</vt:lpstr>
      <vt:lpstr>Acid Rain</vt:lpstr>
      <vt:lpstr>PowerPoint 演示文稿</vt:lpstr>
      <vt:lpstr>PowerPoint 演示文稿</vt:lpstr>
      <vt:lpstr>Acid Rain formation</vt:lpstr>
      <vt:lpstr>Acid Rain Formation</vt:lpstr>
      <vt:lpstr>Chemical Equations</vt:lpstr>
      <vt:lpstr>Effects of Acid Rain</vt:lpstr>
      <vt:lpstr>PowerPoint 演示文稿</vt:lpstr>
      <vt:lpstr>PowerPoint 演示文稿</vt:lpstr>
      <vt:lpstr>PowerPoint 演示文稿</vt:lpstr>
      <vt:lpstr>PowerPoint 演示文稿</vt:lpstr>
      <vt:lpstr>Preventive Measures</vt:lpstr>
      <vt:lpstr>Preventive Measures</vt:lpstr>
      <vt:lpstr>References</vt:lpstr>
      <vt:lpstr>PowerPoint 演示文稿</vt:lpstr>
    </vt:vector>
  </TitlesOfParts>
  <Company>Broadgreen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down Rocks</dc:title>
  <dc:creator>sciencesupply</dc:creator>
  <cp:lastModifiedBy>Abdullahi Binta</cp:lastModifiedBy>
  <cp:revision>39</cp:revision>
  <dcterms:created xsi:type="dcterms:W3CDTF">2013-05-22T10:17:00Z</dcterms:created>
  <dcterms:modified xsi:type="dcterms:W3CDTF">2025-12-24T01:59:06Z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F7951FF2005D4D098FFF49A7A3F348AE</vt:lpwstr>
  </property>
  <property fmtid="{D5CDD505-2E9C-101B-9397-08002B2CF9AE}" pid="3" name="KSOProductBuildVer">
    <vt:lpwstr>1033-12.2.0.23155</vt:lpwstr>
  </property>
</Properties>
</file>