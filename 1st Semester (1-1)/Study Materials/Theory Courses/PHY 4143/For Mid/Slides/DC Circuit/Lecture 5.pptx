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69" r:id="rId4"/>
    <p:sldId id="268" r:id="rId5"/>
    <p:sldId id="270" r:id="rId6"/>
    <p:sldId id="271" r:id="rId7"/>
    <p:sldId id="272" r:id="rId8"/>
    <p:sldId id="273"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113" d="100"/>
          <a:sy n="113" d="100"/>
        </p:scale>
        <p:origin x="34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8BAEDE8-9AB4-430C-A231-8E2C4AC7B642}"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40305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BAEDE8-9AB4-430C-A231-8E2C4AC7B642}"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819416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8BAEDE8-9AB4-430C-A231-8E2C4AC7B642}"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32052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BAEDE8-9AB4-430C-A231-8E2C4AC7B642}"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6301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8BAEDE8-9AB4-430C-A231-8E2C4AC7B642}"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29183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8BAEDE8-9AB4-430C-A231-8E2C4AC7B642}"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98106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AEDE8-9AB4-430C-A231-8E2C4AC7B642}"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485361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1407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34294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BAEDE8-9AB4-430C-A231-8E2C4AC7B642}"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56333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BAEDE8-9AB4-430C-A231-8E2C4AC7B642}"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858458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AEDE8-9AB4-430C-A231-8E2C4AC7B642}" type="datetimeFigureOut">
              <a:rPr lang="en-US" smtClean="0"/>
              <a:t>11/30/2025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FC4E71-2CDE-4B22-8493-9E3047F9A8AB}" type="slidenum">
              <a:rPr lang="en-US" smtClean="0"/>
              <a:t>‹#›</a:t>
            </a:fld>
            <a:endParaRPr lang="en-US"/>
          </a:p>
        </p:txBody>
      </p:sp>
    </p:spTree>
    <p:extLst>
      <p:ext uri="{BB962C8B-B14F-4D97-AF65-F5344CB8AC3E}">
        <p14:creationId xmlns:p14="http://schemas.microsoft.com/office/powerpoint/2010/main" val="2138059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83055" y="537874"/>
            <a:ext cx="2143125" cy="2143125"/>
          </a:xfrm>
          <a:prstGeom prst="rect">
            <a:avLst/>
          </a:prstGeom>
        </p:spPr>
      </p:pic>
      <p:sp>
        <p:nvSpPr>
          <p:cNvPr id="3" name="TextBox 2"/>
          <p:cNvSpPr txBox="1"/>
          <p:nvPr/>
        </p:nvSpPr>
        <p:spPr>
          <a:xfrm>
            <a:off x="2196468" y="2844799"/>
            <a:ext cx="8168519" cy="830997"/>
          </a:xfrm>
          <a:prstGeom prst="rect">
            <a:avLst/>
          </a:prstGeom>
          <a:noFill/>
        </p:spPr>
        <p:txBody>
          <a:bodyPr wrap="none" rtlCol="0">
            <a:spAutoFit/>
          </a:bodyPr>
          <a:lstStyle/>
          <a:p>
            <a:pPr algn="ctr"/>
            <a:r>
              <a:rPr lang="en-US" sz="4800" dirty="0"/>
              <a:t>Islamic University of Technology</a:t>
            </a:r>
          </a:p>
        </p:txBody>
      </p:sp>
      <p:sp>
        <p:nvSpPr>
          <p:cNvPr id="4" name="TextBox 3"/>
          <p:cNvSpPr txBox="1"/>
          <p:nvPr/>
        </p:nvSpPr>
        <p:spPr>
          <a:xfrm>
            <a:off x="3682259" y="4008582"/>
            <a:ext cx="4832798" cy="1569660"/>
          </a:xfrm>
          <a:prstGeom prst="rect">
            <a:avLst/>
          </a:prstGeom>
          <a:solidFill>
            <a:schemeClr val="bg2">
              <a:lumMod val="90000"/>
            </a:schemeClr>
          </a:solidFill>
        </p:spPr>
        <p:txBody>
          <a:bodyPr wrap="none" rtlCol="0">
            <a:spAutoFit/>
          </a:bodyPr>
          <a:lstStyle/>
          <a:p>
            <a:pPr algn="ctr"/>
            <a:r>
              <a:rPr lang="en-US" sz="2400" dirty="0"/>
              <a:t>Course no:  </a:t>
            </a:r>
            <a:r>
              <a:rPr lang="en-US" sz="2400" dirty="0" err="1"/>
              <a:t>Phy</a:t>
            </a:r>
            <a:r>
              <a:rPr lang="en-US" sz="2400" dirty="0"/>
              <a:t> 4143</a:t>
            </a:r>
          </a:p>
          <a:p>
            <a:pPr algn="ctr"/>
            <a:r>
              <a:rPr lang="en-US" sz="2400" dirty="0"/>
              <a:t>Course Title: Physics II</a:t>
            </a:r>
          </a:p>
          <a:p>
            <a:pPr algn="ctr"/>
            <a:r>
              <a:rPr lang="en-US" sz="2400" dirty="0"/>
              <a:t>Course Teacher : </a:t>
            </a:r>
            <a:r>
              <a:rPr lang="en-US" sz="2400" dirty="0" err="1"/>
              <a:t>Dr</a:t>
            </a:r>
            <a:r>
              <a:rPr lang="en-US" sz="2400" dirty="0"/>
              <a:t> Md. </a:t>
            </a:r>
            <a:r>
              <a:rPr lang="en-US" sz="2400" dirty="0" err="1"/>
              <a:t>Sahab</a:t>
            </a:r>
            <a:r>
              <a:rPr lang="en-US" sz="2400" dirty="0"/>
              <a:t> Uddin</a:t>
            </a:r>
          </a:p>
          <a:p>
            <a:pPr algn="ctr"/>
            <a:r>
              <a:rPr lang="en-US" sz="2400" dirty="0"/>
              <a:t>Professor</a:t>
            </a:r>
          </a:p>
        </p:txBody>
      </p:sp>
    </p:spTree>
    <p:extLst>
      <p:ext uri="{BB962C8B-B14F-4D97-AF65-F5344CB8AC3E}">
        <p14:creationId xmlns:p14="http://schemas.microsoft.com/office/powerpoint/2010/main" val="3333633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060C5BF2-4420-42C4-B08A-97EC18C9C953}"/>
              </a:ext>
            </a:extLst>
          </p:cNvPr>
          <p:cNvSpPr>
            <a:spLocks noGrp="1"/>
          </p:cNvSpPr>
          <p:nvPr>
            <p:ph type="ctrTitle"/>
          </p:nvPr>
        </p:nvSpPr>
        <p:spPr>
          <a:xfrm>
            <a:off x="0" y="2256"/>
            <a:ext cx="5875867" cy="685800"/>
          </a:xfrm>
        </p:spPr>
        <p:txBody>
          <a:bodyPr>
            <a:normAutofit fontScale="90000"/>
          </a:bodyPr>
          <a:lstStyle/>
          <a:p>
            <a:br>
              <a:rPr lang="en-US" dirty="0"/>
            </a:br>
            <a:r>
              <a:rPr lang="en-US" sz="4400" b="1" dirty="0">
                <a:solidFill>
                  <a:srgbClr val="FF0000"/>
                </a:solidFill>
                <a:latin typeface="Arial" panose="020B0604020202020204" pitchFamily="34" charset="0"/>
                <a:cs typeface="Arial" panose="020B0604020202020204" pitchFamily="34" charset="0"/>
              </a:rPr>
              <a:t>Superposition theorem</a:t>
            </a:r>
            <a:endParaRPr lang="en-US" sz="3200" b="1" dirty="0">
              <a:solidFill>
                <a:srgbClr val="FF0000"/>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4FBD055-B992-4EB0-9A08-A46497072E95}"/>
              </a:ext>
            </a:extLst>
          </p:cNvPr>
          <p:cNvSpPr/>
          <p:nvPr/>
        </p:nvSpPr>
        <p:spPr>
          <a:xfrm>
            <a:off x="88315" y="778933"/>
            <a:ext cx="12213752" cy="3293209"/>
          </a:xfrm>
          <a:prstGeom prst="rect">
            <a:avLst/>
          </a:prstGeom>
        </p:spPr>
        <p:txBody>
          <a:bodyPr wrap="square">
            <a:spAutoFit/>
          </a:bodyPr>
          <a:lstStyle/>
          <a:p>
            <a:pPr marL="342900" indent="-342900" algn="just">
              <a:buFont typeface="Wingdings" pitchFamily="2" charset="2"/>
              <a:buChar char="v"/>
            </a:pPr>
            <a:r>
              <a:rPr lang="en-US" sz="1600" b="1" dirty="0">
                <a:solidFill>
                  <a:srgbClr val="C00000"/>
                </a:solidFill>
              </a:rPr>
              <a:t>Statement: </a:t>
            </a:r>
            <a:r>
              <a:rPr lang="en-US" sz="1600" b="1" dirty="0">
                <a:solidFill>
                  <a:srgbClr val="C00000"/>
                </a:solidFill>
                <a:latin typeface="Arial" panose="020B0604020202020204" pitchFamily="34" charset="0"/>
                <a:cs typeface="Arial" panose="020B0604020202020204" pitchFamily="34" charset="0"/>
              </a:rPr>
              <a:t>According to this theorem, if there are number of voltage and current sources acting simultaneously in a network then each source can be treated as if it acts independently of the others. Hence we can calculate effect of one source at a time then superimpose i.e. algebraically add the effects of all the sources.</a:t>
            </a:r>
          </a:p>
          <a:p>
            <a:pPr marL="342900" indent="-342900" algn="just">
              <a:buFont typeface="Wingdings" pitchFamily="2" charset="2"/>
              <a:buChar char="v"/>
            </a:pPr>
            <a:endParaRPr lang="en-US" sz="1600" b="1" dirty="0">
              <a:latin typeface="Arial" panose="020B0604020202020204" pitchFamily="34" charset="0"/>
              <a:cs typeface="Arial" panose="020B0604020202020204" pitchFamily="34" charset="0"/>
            </a:endParaRPr>
          </a:p>
          <a:p>
            <a:pPr marL="342900" indent="-342900" algn="just">
              <a:buFont typeface="Wingdings" pitchFamily="2" charset="2"/>
              <a:buChar char="v"/>
            </a:pPr>
            <a:r>
              <a:rPr lang="en-US" sz="1600" b="1" dirty="0">
                <a:solidFill>
                  <a:srgbClr val="FF0000"/>
                </a:solidFill>
                <a:latin typeface="Arial" panose="020B0604020202020204" pitchFamily="34" charset="0"/>
                <a:cs typeface="Arial" panose="020B0604020202020204" pitchFamily="34" charset="0"/>
              </a:rPr>
              <a:t>Step 1:</a:t>
            </a:r>
            <a:r>
              <a:rPr lang="en-US" sz="1600" b="1" dirty="0">
                <a:latin typeface="Arial" panose="020B0604020202020204" pitchFamily="34" charset="0"/>
                <a:cs typeface="Arial" panose="020B0604020202020204" pitchFamily="34" charset="0"/>
              </a:rPr>
              <a:t> First all the sources except one under consideration are removed. While removing these voltage sources their internal resistance are left behind, while removing the current sources, as their internal resistance is infinite they are replaced by an open circuit.</a:t>
            </a:r>
          </a:p>
          <a:p>
            <a:pPr marL="342900" indent="-342900" algn="just">
              <a:buFont typeface="Wingdings" pitchFamily="2" charset="2"/>
              <a:buChar char="v"/>
            </a:pPr>
            <a:endParaRPr lang="en-US" sz="1600" b="1" dirty="0">
              <a:latin typeface="Arial" panose="020B0604020202020204" pitchFamily="34" charset="0"/>
              <a:cs typeface="Arial" panose="020B0604020202020204" pitchFamily="34" charset="0"/>
            </a:endParaRPr>
          </a:p>
          <a:p>
            <a:pPr marL="342900" indent="-342900" algn="just">
              <a:buFont typeface="Wingdings" pitchFamily="2" charset="2"/>
              <a:buChar char="v"/>
            </a:pPr>
            <a:r>
              <a:rPr lang="en-US" sz="1600" b="1" dirty="0">
                <a:solidFill>
                  <a:srgbClr val="FF0000"/>
                </a:solidFill>
                <a:latin typeface="Arial" panose="020B0604020202020204" pitchFamily="34" charset="0"/>
                <a:cs typeface="Arial" panose="020B0604020202020204" pitchFamily="34" charset="0"/>
              </a:rPr>
              <a:t>Step 2:</a:t>
            </a:r>
            <a:r>
              <a:rPr lang="en-US" sz="1600" b="1" dirty="0">
                <a:latin typeface="Arial" panose="020B0604020202020204" pitchFamily="34" charset="0"/>
                <a:cs typeface="Arial" panose="020B0604020202020204" pitchFamily="34" charset="0"/>
              </a:rPr>
              <a:t> Next current in the various branches and voltage across various branches due to single source is calculated. </a:t>
            </a:r>
          </a:p>
          <a:p>
            <a:pPr marL="342900" indent="-342900" algn="just">
              <a:buFont typeface="Wingdings" pitchFamily="2" charset="2"/>
              <a:buChar char="v"/>
            </a:pPr>
            <a:endParaRPr lang="en-US" sz="1600" b="1" dirty="0">
              <a:latin typeface="Arial" panose="020B0604020202020204" pitchFamily="34" charset="0"/>
              <a:cs typeface="Arial" panose="020B0604020202020204" pitchFamily="34" charset="0"/>
            </a:endParaRPr>
          </a:p>
          <a:p>
            <a:pPr marL="342900" indent="-342900" algn="just">
              <a:buFont typeface="Wingdings" pitchFamily="2" charset="2"/>
              <a:buChar char="v"/>
            </a:pPr>
            <a:r>
              <a:rPr lang="en-US" sz="1600" b="1" dirty="0">
                <a:solidFill>
                  <a:srgbClr val="FF0000"/>
                </a:solidFill>
                <a:latin typeface="Arial" panose="020B0604020202020204" pitchFamily="34" charset="0"/>
                <a:cs typeface="Arial" panose="020B0604020202020204" pitchFamily="34" charset="0"/>
              </a:rPr>
              <a:t>Step 3:</a:t>
            </a:r>
            <a:r>
              <a:rPr lang="en-US" sz="1600" b="1" dirty="0">
                <a:latin typeface="Arial" panose="020B0604020202020204" pitchFamily="34" charset="0"/>
                <a:cs typeface="Arial" panose="020B0604020202020204" pitchFamily="34" charset="0"/>
              </a:rPr>
              <a:t> The process is repeated for other sources taken one at a time.</a:t>
            </a:r>
          </a:p>
          <a:p>
            <a:pPr marL="342900" indent="-342900" algn="just">
              <a:buFont typeface="Wingdings" pitchFamily="2" charset="2"/>
              <a:buChar char="v"/>
            </a:pPr>
            <a:endParaRPr lang="en-US" sz="1600" b="1" dirty="0">
              <a:latin typeface="Arial" panose="020B0604020202020204" pitchFamily="34" charset="0"/>
              <a:cs typeface="Arial" panose="020B0604020202020204" pitchFamily="34" charset="0"/>
            </a:endParaRPr>
          </a:p>
          <a:p>
            <a:pPr marL="342900" indent="-342900" algn="just">
              <a:buFont typeface="Wingdings" pitchFamily="2" charset="2"/>
              <a:buChar char="v"/>
            </a:pPr>
            <a:r>
              <a:rPr lang="en-US" sz="1600" b="1" dirty="0">
                <a:solidFill>
                  <a:srgbClr val="FF0000"/>
                </a:solidFill>
                <a:latin typeface="Arial" panose="020B0604020202020204" pitchFamily="34" charset="0"/>
                <a:cs typeface="Arial" panose="020B0604020202020204" pitchFamily="34" charset="0"/>
              </a:rPr>
              <a:t>Step 4:</a:t>
            </a:r>
            <a:r>
              <a:rPr lang="en-US" sz="1600" b="1" dirty="0">
                <a:latin typeface="Arial" panose="020B0604020202020204" pitchFamily="34" charset="0"/>
                <a:cs typeface="Arial" panose="020B0604020202020204" pitchFamily="34" charset="0"/>
              </a:rPr>
              <a:t> Finally algebraic sum of currents and voltage drop across the resistors due to different sources is calculated. </a:t>
            </a:r>
          </a:p>
        </p:txBody>
      </p:sp>
      <p:pic>
        <p:nvPicPr>
          <p:cNvPr id="13" name="Picture 2">
            <a:extLst>
              <a:ext uri="{FF2B5EF4-FFF2-40B4-BE49-F238E27FC236}">
                <a16:creationId xmlns:a16="http://schemas.microsoft.com/office/drawing/2014/main" id="{AC621CCB-D8D2-4104-8A01-42E0163F9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5892" y="3980139"/>
            <a:ext cx="2182658" cy="265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B7FD66D3-6417-4590-8B02-CC3F68A399DE}"/>
              </a:ext>
            </a:extLst>
          </p:cNvPr>
          <p:cNvPicPr>
            <a:picLocks noChangeAspect="1"/>
          </p:cNvPicPr>
          <p:nvPr/>
        </p:nvPicPr>
        <p:blipFill>
          <a:blip r:embed="rId3"/>
          <a:stretch>
            <a:fillRect/>
          </a:stretch>
        </p:blipFill>
        <p:spPr>
          <a:xfrm>
            <a:off x="6195191" y="4163019"/>
            <a:ext cx="5137339" cy="2468880"/>
          </a:xfrm>
          <a:prstGeom prst="rect">
            <a:avLst/>
          </a:prstGeom>
        </p:spPr>
      </p:pic>
    </p:spTree>
    <p:extLst>
      <p:ext uri="{BB962C8B-B14F-4D97-AF65-F5344CB8AC3E}">
        <p14:creationId xmlns:p14="http://schemas.microsoft.com/office/powerpoint/2010/main" val="65708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3">
            <a:extLst>
              <a:ext uri="{FF2B5EF4-FFF2-40B4-BE49-F238E27FC236}">
                <a16:creationId xmlns:a16="http://schemas.microsoft.com/office/drawing/2014/main" id="{5126F027-ED2B-4122-9683-9D470F3040F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52390" y="797529"/>
            <a:ext cx="3180953" cy="2377440"/>
          </a:xfrm>
          <a:prstGeom prst="rect">
            <a:avLst/>
          </a:prstGeom>
          <a:noFill/>
          <a:ln>
            <a:noFill/>
          </a:ln>
        </p:spPr>
      </p:pic>
      <p:sp>
        <p:nvSpPr>
          <p:cNvPr id="21" name="Rectangle 20">
            <a:extLst>
              <a:ext uri="{FF2B5EF4-FFF2-40B4-BE49-F238E27FC236}">
                <a16:creationId xmlns:a16="http://schemas.microsoft.com/office/drawing/2014/main" id="{3DF1DB8B-582D-4EDA-89AC-54802BE0EEA7}"/>
              </a:ext>
            </a:extLst>
          </p:cNvPr>
          <p:cNvSpPr/>
          <p:nvPr/>
        </p:nvSpPr>
        <p:spPr>
          <a:xfrm>
            <a:off x="306624" y="930726"/>
            <a:ext cx="7703578" cy="5632311"/>
          </a:xfrm>
          <a:prstGeom prst="rect">
            <a:avLst/>
          </a:prstGeom>
        </p:spPr>
        <p:txBody>
          <a:bodyPr wrap="square">
            <a:spAutoFit/>
          </a:bodyPr>
          <a:lstStyle/>
          <a:p>
            <a:r>
              <a:rPr lang="en-US" sz="2000" dirty="0">
                <a:solidFill>
                  <a:srgbClr val="FF0000"/>
                </a:solidFill>
              </a:rPr>
              <a:t>Step 1 : When V</a:t>
            </a:r>
            <a:r>
              <a:rPr lang="en-US" sz="2000" baseline="-25000" dirty="0">
                <a:solidFill>
                  <a:srgbClr val="FF0000"/>
                </a:solidFill>
              </a:rPr>
              <a:t>1</a:t>
            </a:r>
            <a:r>
              <a:rPr lang="en-US" sz="2000" dirty="0">
                <a:solidFill>
                  <a:srgbClr val="FF0000"/>
                </a:solidFill>
              </a:rPr>
              <a:t> is operated and V</a:t>
            </a:r>
            <a:r>
              <a:rPr lang="en-US" sz="2000" baseline="-25000" dirty="0">
                <a:solidFill>
                  <a:srgbClr val="FF0000"/>
                </a:solidFill>
              </a:rPr>
              <a:t>2</a:t>
            </a:r>
            <a:r>
              <a:rPr lang="en-US" sz="2000" dirty="0">
                <a:solidFill>
                  <a:srgbClr val="FF0000"/>
                </a:solidFill>
              </a:rPr>
              <a:t> is short circuited</a:t>
            </a:r>
          </a:p>
          <a:p>
            <a:r>
              <a:rPr lang="en-US" sz="2000" dirty="0"/>
              <a:t> </a:t>
            </a:r>
          </a:p>
          <a:p>
            <a:r>
              <a:rPr lang="en-US" sz="2000" dirty="0"/>
              <a:t>Let I</a:t>
            </a:r>
            <a:r>
              <a:rPr lang="en-US" sz="2000" baseline="-25000" dirty="0"/>
              <a:t>1</a:t>
            </a:r>
            <a:r>
              <a:rPr lang="en-US" sz="2000" dirty="0"/>
              <a:t> is the total current through the network when V</a:t>
            </a:r>
            <a:r>
              <a:rPr lang="en-US" sz="2000" baseline="-25000" dirty="0"/>
              <a:t>1</a:t>
            </a:r>
            <a:r>
              <a:rPr lang="en-US" sz="2000" dirty="0"/>
              <a:t> is operated alone. </a:t>
            </a:r>
          </a:p>
          <a:p>
            <a:endParaRPr lang="en-US" sz="2000" dirty="0"/>
          </a:p>
          <a:p>
            <a:r>
              <a:rPr lang="en-US" sz="2000" dirty="0"/>
              <a:t>I</a:t>
            </a:r>
            <a:r>
              <a:rPr lang="en-US" sz="2000" baseline="-25000" dirty="0"/>
              <a:t>1</a:t>
            </a:r>
            <a:r>
              <a:rPr lang="en-US" sz="2000" baseline="30000" dirty="0"/>
              <a:t>’</a:t>
            </a:r>
            <a:r>
              <a:rPr lang="en-US" sz="2000" dirty="0"/>
              <a:t> and I</a:t>
            </a:r>
            <a:r>
              <a:rPr lang="en-US" sz="2000" baseline="-25000" dirty="0"/>
              <a:t>2</a:t>
            </a:r>
            <a:r>
              <a:rPr lang="en-US" sz="2000" dirty="0"/>
              <a:t>’ are the loop currents in the loops 1 and 2 respectively as shown in the figure.</a:t>
            </a:r>
          </a:p>
          <a:p>
            <a:endParaRPr lang="en-US" sz="2000" dirty="0"/>
          </a:p>
          <a:p>
            <a:r>
              <a:rPr lang="en-US" sz="2000" dirty="0"/>
              <a:t>Then I</a:t>
            </a:r>
            <a:r>
              <a:rPr lang="en-US" sz="2000" baseline="-25000" dirty="0"/>
              <a:t>1</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a:t>
            </a:r>
          </a:p>
          <a:p>
            <a:endParaRPr lang="en-US" sz="2000" dirty="0"/>
          </a:p>
          <a:p>
            <a:pPr marL="342900" indent="-342900">
              <a:buFont typeface="Wingdings" pitchFamily="2" charset="2"/>
              <a:buChar char="v"/>
            </a:pPr>
            <a:r>
              <a:rPr lang="en-US" sz="2000" dirty="0">
                <a:solidFill>
                  <a:srgbClr val="FF0000"/>
                </a:solidFill>
              </a:rPr>
              <a:t>Apply KVL for loop 1:   </a:t>
            </a:r>
            <a:r>
              <a:rPr lang="en-US" sz="2000" dirty="0"/>
              <a:t>I</a:t>
            </a:r>
            <a:r>
              <a:rPr lang="en-US" sz="2000" baseline="-25000" dirty="0"/>
              <a:t>1</a:t>
            </a:r>
            <a:r>
              <a:rPr lang="en-US" sz="2000" baseline="30000" dirty="0"/>
              <a:t>’ </a:t>
            </a:r>
            <a:r>
              <a:rPr lang="en-US" sz="2000" dirty="0"/>
              <a:t>R</a:t>
            </a:r>
            <a:r>
              <a:rPr lang="en-US" sz="2000" baseline="-25000" dirty="0"/>
              <a:t>1</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V</a:t>
            </a:r>
            <a:r>
              <a:rPr lang="en-US" sz="2000" baseline="-25000" dirty="0"/>
              <a:t>1</a:t>
            </a:r>
            <a:r>
              <a:rPr lang="en-US" sz="2000" dirty="0"/>
              <a:t> </a:t>
            </a:r>
          </a:p>
          <a:p>
            <a:r>
              <a:rPr lang="en-US" sz="2000" dirty="0"/>
              <a:t>     Or   I</a:t>
            </a:r>
            <a:r>
              <a:rPr lang="en-US" sz="2000" baseline="-25000" dirty="0"/>
              <a:t>1</a:t>
            </a:r>
            <a:r>
              <a:rPr lang="en-US" sz="2000" baseline="30000" dirty="0"/>
              <a:t>’  </a:t>
            </a:r>
            <a:r>
              <a:rPr lang="en-US" sz="2000" dirty="0"/>
              <a:t>(R</a:t>
            </a:r>
            <a:r>
              <a:rPr lang="en-US" sz="2000" baseline="-25000" dirty="0"/>
              <a:t>1</a:t>
            </a:r>
            <a:r>
              <a:rPr lang="en-US" sz="2000" dirty="0"/>
              <a:t>+ R</a:t>
            </a:r>
            <a:r>
              <a:rPr lang="en-US" sz="2000" baseline="-25000" dirty="0"/>
              <a:t>3</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V</a:t>
            </a:r>
            <a:r>
              <a:rPr lang="en-US" sz="2000" baseline="-25000" dirty="0"/>
              <a:t>1</a:t>
            </a:r>
            <a:r>
              <a:rPr lang="en-US" sz="2000" dirty="0"/>
              <a:t>  ..(1)</a:t>
            </a:r>
          </a:p>
          <a:p>
            <a:endParaRPr lang="en-US" sz="2000" dirty="0"/>
          </a:p>
          <a:p>
            <a:pPr marL="342900" indent="-342900">
              <a:buFont typeface="Wingdings" pitchFamily="2" charset="2"/>
              <a:buChar char="v"/>
            </a:pPr>
            <a:r>
              <a:rPr lang="en-US" sz="2000" dirty="0">
                <a:solidFill>
                  <a:srgbClr val="FF0000"/>
                </a:solidFill>
              </a:rPr>
              <a:t>Apply KVL for loop 2:   </a:t>
            </a:r>
            <a:r>
              <a:rPr lang="en-US" sz="2000" dirty="0"/>
              <a:t>I</a:t>
            </a:r>
            <a:r>
              <a:rPr lang="en-US" sz="2000" baseline="-25000" dirty="0"/>
              <a:t>2</a:t>
            </a:r>
            <a:r>
              <a:rPr lang="en-US" sz="2000" baseline="30000" dirty="0"/>
              <a:t>’ </a:t>
            </a:r>
            <a:r>
              <a:rPr lang="en-US" sz="2000" dirty="0"/>
              <a:t>R</a:t>
            </a:r>
            <a:r>
              <a:rPr lang="en-US" sz="2000" baseline="-25000" dirty="0"/>
              <a:t>2</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0 </a:t>
            </a:r>
          </a:p>
          <a:p>
            <a:r>
              <a:rPr lang="en-US" sz="2000" dirty="0"/>
              <a:t>     Or   I</a:t>
            </a:r>
            <a:r>
              <a:rPr lang="en-US" sz="2000" baseline="-25000" dirty="0"/>
              <a:t>1</a:t>
            </a:r>
            <a:r>
              <a:rPr lang="en-US" sz="2000" baseline="30000" dirty="0"/>
              <a:t>’ </a:t>
            </a:r>
            <a:r>
              <a:rPr lang="en-US" sz="2000" dirty="0"/>
              <a:t>R</a:t>
            </a:r>
            <a:r>
              <a:rPr lang="en-US" sz="2000" baseline="-25000" dirty="0"/>
              <a:t>3</a:t>
            </a:r>
            <a:r>
              <a:rPr lang="en-US" sz="2000" dirty="0"/>
              <a:t> +  I</a:t>
            </a:r>
            <a:r>
              <a:rPr lang="en-US" sz="2000" baseline="-25000" dirty="0"/>
              <a:t>2</a:t>
            </a:r>
            <a:r>
              <a:rPr lang="en-US" sz="2000" baseline="30000" dirty="0"/>
              <a:t>’</a:t>
            </a:r>
            <a:r>
              <a:rPr lang="en-US" sz="2000" dirty="0"/>
              <a:t>(R</a:t>
            </a:r>
            <a:r>
              <a:rPr lang="en-US" sz="2000" baseline="-25000" dirty="0"/>
              <a:t>2</a:t>
            </a:r>
            <a:r>
              <a:rPr lang="en-US" sz="2000" dirty="0"/>
              <a:t> +R</a:t>
            </a:r>
            <a:r>
              <a:rPr lang="en-US" sz="2000" baseline="-25000" dirty="0"/>
              <a:t>3</a:t>
            </a:r>
            <a:r>
              <a:rPr lang="en-US" sz="2000" dirty="0"/>
              <a:t>) </a:t>
            </a:r>
            <a:r>
              <a:rPr lang="en-US" sz="2000" baseline="30000" dirty="0"/>
              <a:t> </a:t>
            </a:r>
            <a:r>
              <a:rPr lang="en-US" sz="2000" dirty="0"/>
              <a:t>= 0  ..(2)</a:t>
            </a:r>
          </a:p>
          <a:p>
            <a:br>
              <a:rPr lang="en-US" sz="2000" dirty="0"/>
            </a:br>
            <a:r>
              <a:rPr lang="en-US" sz="2000" dirty="0"/>
              <a:t>Solving simultaneous equations 1 &amp; 2,  I</a:t>
            </a:r>
            <a:r>
              <a:rPr lang="en-US" sz="2000" baseline="-25000" dirty="0"/>
              <a:t>1</a:t>
            </a:r>
            <a:r>
              <a:rPr lang="en-US" sz="2000" baseline="30000" dirty="0"/>
              <a:t>’ </a:t>
            </a:r>
            <a:r>
              <a:rPr lang="en-US" sz="2000" dirty="0"/>
              <a:t>and I</a:t>
            </a:r>
            <a:r>
              <a:rPr lang="en-US" sz="2000" baseline="-25000" dirty="0"/>
              <a:t>2</a:t>
            </a:r>
            <a:r>
              <a:rPr lang="en-US" sz="2000" baseline="30000" dirty="0"/>
              <a:t>’  </a:t>
            </a:r>
            <a:r>
              <a:rPr lang="en-US" sz="2000" dirty="0"/>
              <a:t>can be calculated and hence I</a:t>
            </a:r>
            <a:r>
              <a:rPr lang="en-US" sz="2000" baseline="-25000" dirty="0"/>
              <a:t>1</a:t>
            </a:r>
            <a:r>
              <a:rPr lang="en-US" sz="2000" dirty="0"/>
              <a:t> =</a:t>
            </a:r>
            <a:r>
              <a:rPr lang="en-US" sz="2000" baseline="30000" dirty="0"/>
              <a:t>  </a:t>
            </a:r>
            <a:r>
              <a:rPr lang="en-US" sz="2000" dirty="0"/>
              <a:t>I</a:t>
            </a:r>
            <a:r>
              <a:rPr lang="en-US" sz="2000" baseline="-25000" dirty="0"/>
              <a:t>1</a:t>
            </a:r>
            <a:r>
              <a:rPr lang="en-US" sz="2000" baseline="30000" dirty="0"/>
              <a:t>’  </a:t>
            </a:r>
            <a:r>
              <a:rPr lang="en-US" sz="2000" dirty="0"/>
              <a:t>+ I</a:t>
            </a:r>
            <a:r>
              <a:rPr lang="en-US" sz="2000" baseline="-25000" dirty="0"/>
              <a:t>2</a:t>
            </a:r>
            <a:r>
              <a:rPr lang="en-US" sz="2000" baseline="30000" dirty="0"/>
              <a:t>’  </a:t>
            </a:r>
            <a:r>
              <a:rPr lang="en-US" sz="2000" dirty="0"/>
              <a:t> can be calculated. </a:t>
            </a:r>
          </a:p>
        </p:txBody>
      </p:sp>
      <p:pic>
        <p:nvPicPr>
          <p:cNvPr id="22" name="Picture 21">
            <a:extLst>
              <a:ext uri="{FF2B5EF4-FFF2-40B4-BE49-F238E27FC236}">
                <a16:creationId xmlns:a16="http://schemas.microsoft.com/office/drawing/2014/main" id="{B9ED575D-984A-4C75-9D87-3E3ABA2DBA9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252390" y="3502261"/>
            <a:ext cx="3021865" cy="2834640"/>
          </a:xfrm>
          <a:prstGeom prst="rect">
            <a:avLst/>
          </a:prstGeom>
          <a:noFill/>
          <a:ln>
            <a:noFill/>
          </a:ln>
        </p:spPr>
      </p:pic>
      <p:sp>
        <p:nvSpPr>
          <p:cNvPr id="26" name="Title 5">
            <a:extLst>
              <a:ext uri="{FF2B5EF4-FFF2-40B4-BE49-F238E27FC236}">
                <a16:creationId xmlns:a16="http://schemas.microsoft.com/office/drawing/2014/main" id="{701B1BB4-B03F-4FC7-AFBD-C3F3BBDBB813}"/>
              </a:ext>
            </a:extLst>
          </p:cNvPr>
          <p:cNvSpPr txBox="1">
            <a:spLocks/>
          </p:cNvSpPr>
          <p:nvPr/>
        </p:nvSpPr>
        <p:spPr>
          <a:xfrm>
            <a:off x="0" y="2256"/>
            <a:ext cx="3920067" cy="6858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700" b="1" dirty="0">
                <a:solidFill>
                  <a:srgbClr val="FF0000"/>
                </a:solidFill>
                <a:latin typeface="Arial" panose="020B0604020202020204" pitchFamily="34" charset="0"/>
                <a:cs typeface="Arial" panose="020B0604020202020204" pitchFamily="34" charset="0"/>
              </a:rPr>
              <a:t>Explanation</a:t>
            </a:r>
            <a:endParaRPr lang="en-US" sz="32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1915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9663C5C9-D0E7-4FBE-B81A-D1AA0FE4438D}"/>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56636" y="1408201"/>
            <a:ext cx="3108960" cy="3474720"/>
          </a:xfrm>
          <a:prstGeom prst="rect">
            <a:avLst/>
          </a:prstGeom>
          <a:noFill/>
          <a:ln>
            <a:noFill/>
          </a:ln>
        </p:spPr>
      </p:pic>
      <p:sp>
        <p:nvSpPr>
          <p:cNvPr id="6" name="Rectangle 5">
            <a:extLst>
              <a:ext uri="{FF2B5EF4-FFF2-40B4-BE49-F238E27FC236}">
                <a16:creationId xmlns:a16="http://schemas.microsoft.com/office/drawing/2014/main" id="{3BF832C8-A5D0-4A31-83EE-0C0B925DBA2B}"/>
              </a:ext>
            </a:extLst>
          </p:cNvPr>
          <p:cNvSpPr/>
          <p:nvPr/>
        </p:nvSpPr>
        <p:spPr>
          <a:xfrm>
            <a:off x="418123" y="428233"/>
            <a:ext cx="7855634" cy="5016758"/>
          </a:xfrm>
          <a:prstGeom prst="rect">
            <a:avLst/>
          </a:prstGeom>
        </p:spPr>
        <p:txBody>
          <a:bodyPr wrap="square">
            <a:spAutoFit/>
          </a:bodyPr>
          <a:lstStyle/>
          <a:p>
            <a:r>
              <a:rPr lang="en-US" sz="2000" b="1" dirty="0">
                <a:solidFill>
                  <a:srgbClr val="FF0000"/>
                </a:solidFill>
              </a:rPr>
              <a:t>Step 2: When V</a:t>
            </a:r>
            <a:r>
              <a:rPr lang="en-US" sz="2000" b="1" baseline="-25000" dirty="0">
                <a:solidFill>
                  <a:srgbClr val="FF0000"/>
                </a:solidFill>
              </a:rPr>
              <a:t>2</a:t>
            </a:r>
            <a:r>
              <a:rPr lang="en-US" sz="2000" b="1" dirty="0">
                <a:solidFill>
                  <a:srgbClr val="FF0000"/>
                </a:solidFill>
              </a:rPr>
              <a:t> is operated and V</a:t>
            </a:r>
            <a:r>
              <a:rPr lang="en-US" sz="2000" b="1" baseline="-25000" dirty="0">
                <a:solidFill>
                  <a:srgbClr val="FF0000"/>
                </a:solidFill>
              </a:rPr>
              <a:t>1</a:t>
            </a:r>
            <a:r>
              <a:rPr lang="en-US" sz="2000" b="1" dirty="0">
                <a:solidFill>
                  <a:srgbClr val="FF0000"/>
                </a:solidFill>
              </a:rPr>
              <a:t> is short circuited </a:t>
            </a:r>
          </a:p>
          <a:p>
            <a:endParaRPr lang="en-US" sz="2000" dirty="0">
              <a:solidFill>
                <a:srgbClr val="FF0000"/>
              </a:solidFill>
            </a:endParaRPr>
          </a:p>
          <a:p>
            <a:r>
              <a:rPr lang="en-US" sz="2000" dirty="0"/>
              <a:t>Let I</a:t>
            </a:r>
            <a:r>
              <a:rPr lang="en-US" sz="2000" baseline="-25000" dirty="0"/>
              <a:t>2</a:t>
            </a:r>
            <a:r>
              <a:rPr lang="en-US" sz="2000" dirty="0"/>
              <a:t> is the total current through the network when V</a:t>
            </a:r>
            <a:r>
              <a:rPr lang="en-US" sz="2000" baseline="-25000" dirty="0"/>
              <a:t>2</a:t>
            </a:r>
            <a:r>
              <a:rPr lang="en-US" sz="2000" dirty="0"/>
              <a:t> is operated alone.</a:t>
            </a:r>
          </a:p>
          <a:p>
            <a:r>
              <a:rPr lang="en-US" sz="2000" dirty="0"/>
              <a:t>I</a:t>
            </a:r>
            <a:r>
              <a:rPr lang="en-US" sz="2000" baseline="-25000" dirty="0"/>
              <a:t>1</a:t>
            </a:r>
            <a:r>
              <a:rPr lang="en-US" sz="2000" baseline="30000" dirty="0"/>
              <a:t>”</a:t>
            </a:r>
            <a:r>
              <a:rPr lang="en-US" sz="2000" dirty="0"/>
              <a:t> and I</a:t>
            </a:r>
            <a:r>
              <a:rPr lang="en-US" sz="2000" baseline="-25000" dirty="0"/>
              <a:t>2</a:t>
            </a:r>
            <a:r>
              <a:rPr lang="en-US" sz="2000" dirty="0"/>
              <a:t>” are the loop currents in the loops 1 and 2 respectively as shown in the figure.</a:t>
            </a:r>
          </a:p>
          <a:p>
            <a:endParaRPr lang="en-US" sz="2000" dirty="0"/>
          </a:p>
          <a:p>
            <a:r>
              <a:rPr lang="en-US" sz="2000" dirty="0"/>
              <a:t>Then I</a:t>
            </a:r>
            <a:r>
              <a:rPr lang="en-US" sz="2000" baseline="-25000" dirty="0"/>
              <a:t>2</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a:t>
            </a:r>
          </a:p>
          <a:p>
            <a:endParaRPr lang="en-US" sz="2000" dirty="0"/>
          </a:p>
          <a:p>
            <a:pPr marL="342900" indent="-342900">
              <a:buFont typeface="Wingdings" pitchFamily="2" charset="2"/>
              <a:buChar char="v"/>
            </a:pPr>
            <a:r>
              <a:rPr lang="en-US" sz="2000" b="1" dirty="0">
                <a:solidFill>
                  <a:srgbClr val="FF0000"/>
                </a:solidFill>
              </a:rPr>
              <a:t>Apply KVL for loop 1</a:t>
            </a:r>
            <a:r>
              <a:rPr lang="en-US" sz="2000" dirty="0"/>
              <a:t>:   I</a:t>
            </a:r>
            <a:r>
              <a:rPr lang="en-US" sz="2000" baseline="-25000" dirty="0"/>
              <a:t>1</a:t>
            </a:r>
            <a:r>
              <a:rPr lang="en-US" sz="2000" baseline="30000" dirty="0"/>
              <a:t>” </a:t>
            </a:r>
            <a:r>
              <a:rPr lang="en-US" sz="2000" dirty="0"/>
              <a:t>R</a:t>
            </a:r>
            <a:r>
              <a:rPr lang="en-US" sz="2000" baseline="-25000" dirty="0"/>
              <a:t>1</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0 </a:t>
            </a:r>
          </a:p>
          <a:p>
            <a:r>
              <a:rPr lang="en-US" sz="2000" dirty="0"/>
              <a:t>     Or   I</a:t>
            </a:r>
            <a:r>
              <a:rPr lang="en-US" sz="2000" baseline="-25000" dirty="0"/>
              <a:t>1</a:t>
            </a:r>
            <a:r>
              <a:rPr lang="en-US" sz="2000" baseline="30000" dirty="0"/>
              <a:t>” </a:t>
            </a:r>
            <a:r>
              <a:rPr lang="en-US" sz="2000" dirty="0"/>
              <a:t>(R</a:t>
            </a:r>
            <a:r>
              <a:rPr lang="en-US" sz="2000" baseline="-25000" dirty="0"/>
              <a:t>1</a:t>
            </a:r>
            <a:r>
              <a:rPr lang="en-US" sz="2000" dirty="0"/>
              <a:t>+ R</a:t>
            </a:r>
            <a:r>
              <a:rPr lang="en-US" sz="2000" baseline="-25000" dirty="0"/>
              <a:t>3</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0  ..(3)</a:t>
            </a:r>
            <a:br>
              <a:rPr lang="en-US" sz="2000" dirty="0"/>
            </a:br>
            <a:r>
              <a:rPr lang="en-US" sz="2000" dirty="0"/>
              <a:t>                </a:t>
            </a:r>
          </a:p>
          <a:p>
            <a:pPr marL="342900" indent="-342900">
              <a:buFont typeface="Wingdings" pitchFamily="2" charset="2"/>
              <a:buChar char="v"/>
            </a:pPr>
            <a:r>
              <a:rPr lang="en-US" sz="2000" b="1" dirty="0">
                <a:solidFill>
                  <a:srgbClr val="FF0000"/>
                </a:solidFill>
              </a:rPr>
              <a:t>Apply KVL for loop 2:</a:t>
            </a:r>
            <a:r>
              <a:rPr lang="en-US" sz="2000" dirty="0">
                <a:solidFill>
                  <a:srgbClr val="FF0000"/>
                </a:solidFill>
              </a:rPr>
              <a:t>   </a:t>
            </a:r>
            <a:r>
              <a:rPr lang="en-US" sz="2000" dirty="0"/>
              <a:t>I</a:t>
            </a:r>
            <a:r>
              <a:rPr lang="en-US" sz="2000" baseline="-25000" dirty="0"/>
              <a:t>2</a:t>
            </a:r>
            <a:r>
              <a:rPr lang="en-US" sz="2000" baseline="30000" dirty="0"/>
              <a:t>” </a:t>
            </a:r>
            <a:r>
              <a:rPr lang="en-US" sz="2000" dirty="0"/>
              <a:t>R</a:t>
            </a:r>
            <a:r>
              <a:rPr lang="en-US" sz="2000" baseline="-25000" dirty="0"/>
              <a:t>2</a:t>
            </a:r>
            <a:r>
              <a:rPr lang="en-US" sz="2000" dirty="0"/>
              <a:t>+ (I</a:t>
            </a:r>
            <a:r>
              <a:rPr lang="en-US" sz="2000" baseline="-25000" dirty="0"/>
              <a:t>1</a:t>
            </a:r>
            <a:r>
              <a:rPr lang="en-US" sz="2000" baseline="30000" dirty="0"/>
              <a:t>”</a:t>
            </a:r>
            <a:r>
              <a:rPr lang="en-US" sz="2000" dirty="0"/>
              <a:t> + I</a:t>
            </a:r>
            <a:r>
              <a:rPr lang="en-US" sz="2000" baseline="-25000" dirty="0"/>
              <a:t>2</a:t>
            </a:r>
            <a:r>
              <a:rPr lang="en-US" sz="2000" baseline="30000" dirty="0"/>
              <a:t>”  </a:t>
            </a:r>
            <a:r>
              <a:rPr lang="en-US" sz="2000" dirty="0"/>
              <a:t>)R</a:t>
            </a:r>
            <a:r>
              <a:rPr lang="en-US" sz="2000" baseline="-25000" dirty="0"/>
              <a:t>3</a:t>
            </a:r>
            <a:r>
              <a:rPr lang="en-US" sz="2000" dirty="0"/>
              <a:t> = V</a:t>
            </a:r>
            <a:r>
              <a:rPr lang="en-US" sz="2000" baseline="-25000" dirty="0"/>
              <a:t>2 </a:t>
            </a:r>
            <a:endParaRPr lang="en-US" sz="2000" dirty="0"/>
          </a:p>
          <a:p>
            <a:r>
              <a:rPr lang="en-US" sz="2000" dirty="0"/>
              <a:t>     Or   I</a:t>
            </a:r>
            <a:r>
              <a:rPr lang="en-US" sz="2000" baseline="-25000" dirty="0"/>
              <a:t>1</a:t>
            </a:r>
            <a:r>
              <a:rPr lang="en-US" sz="2000" baseline="30000" dirty="0"/>
              <a:t>” </a:t>
            </a:r>
            <a:r>
              <a:rPr lang="en-US" sz="2000" dirty="0"/>
              <a:t>R</a:t>
            </a:r>
            <a:r>
              <a:rPr lang="en-US" sz="2000" baseline="-25000" dirty="0"/>
              <a:t>3</a:t>
            </a:r>
            <a:r>
              <a:rPr lang="en-US" sz="2000" dirty="0"/>
              <a:t> + I</a:t>
            </a:r>
            <a:r>
              <a:rPr lang="en-US" sz="2000" baseline="-25000" dirty="0"/>
              <a:t>2</a:t>
            </a:r>
            <a:r>
              <a:rPr lang="en-US" sz="2000" baseline="30000" dirty="0"/>
              <a:t>” </a:t>
            </a:r>
            <a:r>
              <a:rPr lang="en-US" sz="2000" dirty="0"/>
              <a:t>(R</a:t>
            </a:r>
            <a:r>
              <a:rPr lang="en-US" sz="2000" baseline="-25000" dirty="0"/>
              <a:t>2</a:t>
            </a:r>
            <a:r>
              <a:rPr lang="en-US" sz="2000" dirty="0"/>
              <a:t> +R</a:t>
            </a:r>
            <a:r>
              <a:rPr lang="en-US" sz="2000" baseline="-25000" dirty="0"/>
              <a:t>3</a:t>
            </a:r>
            <a:r>
              <a:rPr lang="en-US" sz="2000" dirty="0"/>
              <a:t>) </a:t>
            </a:r>
            <a:r>
              <a:rPr lang="en-US" sz="2000" baseline="30000" dirty="0"/>
              <a:t> </a:t>
            </a:r>
            <a:r>
              <a:rPr lang="en-US" sz="2000" dirty="0"/>
              <a:t>= V</a:t>
            </a:r>
            <a:r>
              <a:rPr lang="en-US" sz="2000" baseline="-25000" dirty="0"/>
              <a:t>2</a:t>
            </a:r>
            <a:r>
              <a:rPr lang="en-US" sz="2000" dirty="0"/>
              <a:t>  ..(4)</a:t>
            </a:r>
            <a:br>
              <a:rPr lang="en-US" sz="2000" dirty="0"/>
            </a:br>
            <a:endParaRPr lang="en-US" sz="2000" dirty="0"/>
          </a:p>
          <a:p>
            <a:r>
              <a:rPr lang="en-US" sz="2000" dirty="0"/>
              <a:t>Solving simultaneous equations 3 &amp; 4 I</a:t>
            </a:r>
            <a:r>
              <a:rPr lang="en-US" sz="2000" baseline="-25000" dirty="0"/>
              <a:t>1</a:t>
            </a:r>
            <a:r>
              <a:rPr lang="en-US" sz="2000" baseline="30000" dirty="0"/>
              <a:t>” </a:t>
            </a:r>
            <a:r>
              <a:rPr lang="en-US" sz="2000" dirty="0"/>
              <a:t>and I</a:t>
            </a:r>
            <a:r>
              <a:rPr lang="en-US" sz="2000" baseline="-25000" dirty="0"/>
              <a:t>2</a:t>
            </a:r>
            <a:r>
              <a:rPr lang="en-US" sz="2000" baseline="30000" dirty="0"/>
              <a:t>”  </a:t>
            </a:r>
            <a:r>
              <a:rPr lang="en-US" sz="2000" dirty="0"/>
              <a:t>can be calculated and hence I</a:t>
            </a:r>
            <a:r>
              <a:rPr lang="en-US" sz="2000" baseline="-25000" dirty="0"/>
              <a:t>2</a:t>
            </a:r>
            <a:r>
              <a:rPr lang="en-US" sz="2000" dirty="0"/>
              <a:t> =</a:t>
            </a:r>
            <a:r>
              <a:rPr lang="en-US" sz="2000" baseline="30000" dirty="0"/>
              <a:t>  </a:t>
            </a:r>
            <a:r>
              <a:rPr lang="en-US" sz="2000" dirty="0"/>
              <a:t>I</a:t>
            </a:r>
            <a:r>
              <a:rPr lang="en-US" sz="2000" baseline="-25000" dirty="0"/>
              <a:t>1</a:t>
            </a:r>
            <a:r>
              <a:rPr lang="en-US" sz="2000" baseline="30000" dirty="0"/>
              <a:t>” </a:t>
            </a:r>
            <a:r>
              <a:rPr lang="en-US" sz="2000" dirty="0"/>
              <a:t>+ I</a:t>
            </a:r>
            <a:r>
              <a:rPr lang="en-US" sz="2000" baseline="-25000" dirty="0"/>
              <a:t>2</a:t>
            </a:r>
            <a:r>
              <a:rPr lang="en-US" sz="2000" baseline="30000" dirty="0"/>
              <a:t>”  </a:t>
            </a:r>
            <a:r>
              <a:rPr lang="en-US" sz="2000" dirty="0"/>
              <a:t> can be calculated</a:t>
            </a:r>
          </a:p>
        </p:txBody>
      </p:sp>
      <p:sp>
        <p:nvSpPr>
          <p:cNvPr id="7" name="Rectangle 6">
            <a:extLst>
              <a:ext uri="{FF2B5EF4-FFF2-40B4-BE49-F238E27FC236}">
                <a16:creationId xmlns:a16="http://schemas.microsoft.com/office/drawing/2014/main" id="{58F47D55-18D8-4494-9469-9BD5B65C0A79}"/>
              </a:ext>
            </a:extLst>
          </p:cNvPr>
          <p:cNvSpPr/>
          <p:nvPr/>
        </p:nvSpPr>
        <p:spPr>
          <a:xfrm>
            <a:off x="418123" y="5903531"/>
            <a:ext cx="11147473" cy="400110"/>
          </a:xfrm>
          <a:prstGeom prst="rect">
            <a:avLst/>
          </a:prstGeom>
        </p:spPr>
        <p:txBody>
          <a:bodyPr wrap="square">
            <a:spAutoFit/>
          </a:bodyPr>
          <a:lstStyle/>
          <a:p>
            <a:r>
              <a:rPr lang="en-US" sz="2000" b="1" dirty="0">
                <a:solidFill>
                  <a:srgbClr val="FF0000"/>
                </a:solidFill>
              </a:rPr>
              <a:t>Finally algebraic sum of currents I</a:t>
            </a:r>
            <a:r>
              <a:rPr lang="en-US" sz="2000" b="1" baseline="-25000" dirty="0">
                <a:solidFill>
                  <a:srgbClr val="FF0000"/>
                </a:solidFill>
              </a:rPr>
              <a:t>1</a:t>
            </a:r>
            <a:r>
              <a:rPr lang="en-US" sz="2000" b="1" dirty="0">
                <a:solidFill>
                  <a:srgbClr val="FF0000"/>
                </a:solidFill>
              </a:rPr>
              <a:t> and I</a:t>
            </a:r>
            <a:r>
              <a:rPr lang="en-US" sz="2000" b="1" baseline="-25000" dirty="0">
                <a:solidFill>
                  <a:srgbClr val="FF0000"/>
                </a:solidFill>
              </a:rPr>
              <a:t>2</a:t>
            </a:r>
            <a:r>
              <a:rPr lang="en-US" sz="2000" b="1" dirty="0">
                <a:solidFill>
                  <a:srgbClr val="FF0000"/>
                </a:solidFill>
              </a:rPr>
              <a:t> due to sources V</a:t>
            </a:r>
            <a:r>
              <a:rPr lang="en-US" sz="2000" b="1" baseline="-25000" dirty="0">
                <a:solidFill>
                  <a:srgbClr val="FF0000"/>
                </a:solidFill>
              </a:rPr>
              <a:t>1</a:t>
            </a:r>
            <a:r>
              <a:rPr lang="en-US" sz="2000" b="1" dirty="0">
                <a:solidFill>
                  <a:srgbClr val="FF0000"/>
                </a:solidFill>
              </a:rPr>
              <a:t> and V</a:t>
            </a:r>
            <a:r>
              <a:rPr lang="en-US" sz="2000" b="1" baseline="-25000" dirty="0">
                <a:solidFill>
                  <a:srgbClr val="FF0000"/>
                </a:solidFill>
              </a:rPr>
              <a:t>2</a:t>
            </a:r>
            <a:r>
              <a:rPr lang="en-US" sz="2000" b="1" dirty="0">
                <a:solidFill>
                  <a:srgbClr val="FF0000"/>
                </a:solidFill>
              </a:rPr>
              <a:t> is calculated</a:t>
            </a:r>
          </a:p>
        </p:txBody>
      </p:sp>
    </p:spTree>
    <p:extLst>
      <p:ext uri="{BB962C8B-B14F-4D97-AF65-F5344CB8AC3E}">
        <p14:creationId xmlns:p14="http://schemas.microsoft.com/office/powerpoint/2010/main" val="3074303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9EEDA2C-90CC-4A51-8928-593078971D2E}"/>
              </a:ext>
            </a:extLst>
          </p:cNvPr>
          <p:cNvSpPr>
            <a:spLocks noGrp="1"/>
          </p:cNvSpPr>
          <p:nvPr>
            <p:ph type="title"/>
          </p:nvPr>
        </p:nvSpPr>
        <p:spPr>
          <a:xfrm>
            <a:off x="838200" y="316372"/>
            <a:ext cx="10515600" cy="640936"/>
          </a:xfrm>
        </p:spPr>
        <p:txBody>
          <a:bodyPr>
            <a:normAutofit/>
          </a:bodyPr>
          <a:lstStyle/>
          <a:p>
            <a:r>
              <a:rPr lang="en-US" sz="2800" b="1" dirty="0">
                <a:solidFill>
                  <a:srgbClr val="00B0F0"/>
                </a:solidFill>
              </a:rPr>
              <a:t>Problem-1</a:t>
            </a:r>
            <a:endParaRPr lang="en-US" sz="2800" dirty="0">
              <a:solidFill>
                <a:srgbClr val="00B0F0"/>
              </a:solidFill>
            </a:endParaRPr>
          </a:p>
        </p:txBody>
      </p:sp>
      <p:sp>
        <p:nvSpPr>
          <p:cNvPr id="7" name="Content Placeholder 2">
            <a:extLst>
              <a:ext uri="{FF2B5EF4-FFF2-40B4-BE49-F238E27FC236}">
                <a16:creationId xmlns:a16="http://schemas.microsoft.com/office/drawing/2014/main" id="{09D13C40-5818-4ED4-8BA0-5428E2207BAB}"/>
              </a:ext>
            </a:extLst>
          </p:cNvPr>
          <p:cNvSpPr>
            <a:spLocks noGrp="1"/>
          </p:cNvSpPr>
          <p:nvPr>
            <p:ph idx="1"/>
          </p:nvPr>
        </p:nvSpPr>
        <p:spPr>
          <a:xfrm>
            <a:off x="838200" y="957308"/>
            <a:ext cx="10303412" cy="4694975"/>
          </a:xfrm>
        </p:spPr>
        <p:txBody>
          <a:bodyPr/>
          <a:lstStyle/>
          <a:p>
            <a:pPr fontAlgn="base"/>
            <a:r>
              <a:rPr lang="en-US" b="1" dirty="0">
                <a:solidFill>
                  <a:srgbClr val="FF0000"/>
                </a:solidFill>
              </a:rPr>
              <a:t>Using superposition theorem find the voltage across 10𝛺 resistor</a:t>
            </a:r>
            <a:endParaRPr lang="en-US" dirty="0">
              <a:solidFill>
                <a:srgbClr val="FF0000"/>
              </a:solidFill>
            </a:endParaRPr>
          </a:p>
          <a:p>
            <a:pPr fontAlgn="base"/>
            <a:r>
              <a:rPr lang="en-US" b="1" dirty="0"/>
              <a:t> </a:t>
            </a:r>
            <a:endParaRPr lang="en-US" dirty="0"/>
          </a:p>
          <a:p>
            <a:endParaRPr lang="en-US" dirty="0"/>
          </a:p>
        </p:txBody>
      </p:sp>
      <p:pic>
        <p:nvPicPr>
          <p:cNvPr id="8" name="Picture 7">
            <a:extLst>
              <a:ext uri="{FF2B5EF4-FFF2-40B4-BE49-F238E27FC236}">
                <a16:creationId xmlns:a16="http://schemas.microsoft.com/office/drawing/2014/main" id="{83CB0EDA-C679-4C96-BBB9-7A44EBEE7F9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20023" y="1436809"/>
            <a:ext cx="3449589" cy="2558416"/>
          </a:xfrm>
          <a:prstGeom prst="rect">
            <a:avLst/>
          </a:prstGeom>
          <a:noFill/>
          <a:ln>
            <a:noFill/>
          </a:ln>
        </p:spPr>
      </p:pic>
      <p:sp>
        <p:nvSpPr>
          <p:cNvPr id="9" name="Rectangle 2">
            <a:extLst>
              <a:ext uri="{FF2B5EF4-FFF2-40B4-BE49-F238E27FC236}">
                <a16:creationId xmlns:a16="http://schemas.microsoft.com/office/drawing/2014/main" id="{CDA407AA-C303-4636-A761-17C2954C4609}"/>
              </a:ext>
            </a:extLst>
          </p:cNvPr>
          <p:cNvSpPr>
            <a:spLocks noChangeArrowheads="1"/>
          </p:cNvSpPr>
          <p:nvPr/>
        </p:nvSpPr>
        <p:spPr bwMode="auto">
          <a:xfrm>
            <a:off x="683456" y="3855166"/>
            <a:ext cx="7601761" cy="19082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FF0000"/>
              </a:solidFill>
              <a:effectLst/>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ea typeface="Times New Roman" pitchFamily="18" charset="0"/>
                <a:cs typeface="Times New Roman" pitchFamily="18" charset="0"/>
              </a:rPr>
              <a:t>Step 1 :</a:t>
            </a:r>
            <a:r>
              <a:rPr kumimoji="0" lang="en-US" sz="2000" b="0" i="0" u="none" strike="noStrike" cap="none" normalizeH="0" baseline="0" dirty="0">
                <a:ln>
                  <a:noFill/>
                </a:ln>
                <a:solidFill>
                  <a:srgbClr val="FF0000"/>
                </a:solidFill>
                <a:effectLst/>
                <a:ea typeface="Times New Roman" pitchFamily="18" charset="0"/>
                <a:cs typeface="Times New Roman" pitchFamily="18" charset="0"/>
              </a:rPr>
              <a:t>, we keep o</a:t>
            </a:r>
            <a:r>
              <a:rPr kumimoji="0" lang="en-US" sz="2000" b="1" i="0" u="none" strike="noStrike" cap="none" normalizeH="0" baseline="0" dirty="0">
                <a:ln>
                  <a:noFill/>
                </a:ln>
                <a:solidFill>
                  <a:srgbClr val="FF0000"/>
                </a:solidFill>
                <a:effectLst/>
                <a:ea typeface="Times New Roman" pitchFamily="18" charset="0"/>
                <a:cs typeface="Times New Roman" pitchFamily="18" charset="0"/>
              </a:rPr>
              <a:t>nly voltage source active</a:t>
            </a:r>
            <a:r>
              <a:rPr kumimoji="0" lang="en-US" sz="2000" b="0" i="0" u="none" strike="noStrike" cap="none" normalizeH="0" baseline="0" dirty="0">
                <a:ln>
                  <a:noFill/>
                </a:ln>
                <a:solidFill>
                  <a:srgbClr val="FF0000"/>
                </a:solidFill>
                <a:effectLst/>
                <a:ea typeface="Times New Roman" pitchFamily="18"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FF0000"/>
                </a:solidFill>
                <a:effectLst/>
                <a:ea typeface="Times New Roman" pitchFamily="18" charset="0"/>
                <a:cs typeface="Times New Roman" pitchFamily="18" charset="0"/>
              </a:rPr>
              <a:t>and the current source is removed and  replaced by open branch.</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a:ln>
                <a:noFill/>
              </a:ln>
              <a:solidFill>
                <a:srgbClr val="000000"/>
              </a:solidFill>
              <a:effectLst/>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ea typeface="Times New Roman" pitchFamily="18" charset="0"/>
                <a:cs typeface="Times New Roman" pitchFamily="18" charset="0"/>
              </a:rPr>
              <a:t> So the circuit will become as shown in the figure.</a:t>
            </a:r>
            <a:endParaRPr kumimoji="0" lang="en-US" sz="20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pic>
        <p:nvPicPr>
          <p:cNvPr id="10" name="Picture 1033">
            <a:extLst>
              <a:ext uri="{FF2B5EF4-FFF2-40B4-BE49-F238E27FC236}">
                <a16:creationId xmlns:a16="http://schemas.microsoft.com/office/drawing/2014/main" id="{DCC816FB-805C-41E4-BF32-9EE5C3C35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5699" y="3148382"/>
            <a:ext cx="3201059" cy="31970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4D58F7D9-DE9C-4BE1-AFB8-A484A564EADE}"/>
              </a:ext>
            </a:extLst>
          </p:cNvPr>
          <p:cNvSpPr>
            <a:spLocks noChangeArrowheads="1"/>
          </p:cNvSpPr>
          <p:nvPr/>
        </p:nvSpPr>
        <p:spPr bwMode="auto">
          <a:xfrm>
            <a:off x="683456" y="5979248"/>
            <a:ext cx="6924563"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ea typeface="Times New Roman" pitchFamily="18" charset="0"/>
                <a:cs typeface="Times New Roman" pitchFamily="18" charset="0"/>
              </a:rPr>
              <a:t>current through </a:t>
            </a:r>
            <a:r>
              <a:rPr kumimoji="0" lang="en-US" sz="2000" b="0" i="0" u="none" strike="noStrike" cap="none" normalizeH="0" baseline="0" dirty="0">
                <a:ln>
                  <a:noFill/>
                </a:ln>
                <a:solidFill>
                  <a:schemeClr val="tx1"/>
                </a:solidFill>
                <a:effectLst/>
                <a:ea typeface="Times New Roman" pitchFamily="18" charset="0"/>
                <a:cs typeface="Times New Roman" pitchFamily="18" charset="0"/>
              </a:rPr>
              <a:t>R</a:t>
            </a:r>
            <a:r>
              <a:rPr kumimoji="0" lang="en-US" sz="2000" b="0" i="0" u="none" strike="noStrike" cap="none" normalizeH="0" baseline="-30000" dirty="0">
                <a:ln>
                  <a:noFill/>
                </a:ln>
                <a:solidFill>
                  <a:schemeClr val="tx1"/>
                </a:solidFill>
                <a:effectLst/>
                <a:ea typeface="Times New Roman" pitchFamily="18" charset="0"/>
                <a:cs typeface="Times New Roman" pitchFamily="18" charset="0"/>
              </a:rPr>
              <a:t>2</a:t>
            </a:r>
            <a:r>
              <a:rPr kumimoji="0" lang="en-US" sz="2000" b="0" i="0" u="none" strike="noStrike" cap="none" normalizeH="0" baseline="0" dirty="0">
                <a:ln>
                  <a:noFill/>
                </a:ln>
                <a:solidFill>
                  <a:schemeClr val="tx1"/>
                </a:solidFill>
                <a:effectLst/>
                <a:ea typeface="Times New Roman" pitchFamily="18" charset="0"/>
                <a:cs typeface="Times New Roman" pitchFamily="18" charset="0"/>
              </a:rPr>
              <a:t> is</a:t>
            </a:r>
            <a:endParaRPr kumimoji="0" lang="en-US" sz="2000" b="0" i="0" u="none" strike="noStrike" cap="none" normalizeH="0" baseline="0" dirty="0">
              <a:ln>
                <a:noFill/>
              </a:ln>
              <a:solidFill>
                <a:schemeClr val="tx1"/>
              </a:solidFill>
              <a:effectLst/>
              <a:cs typeface="Arial" pitchFamily="34"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DEF48C3-2331-4DB2-B154-96DD44D958EB}"/>
                  </a:ext>
                </a:extLst>
              </p:cNvPr>
              <p:cNvSpPr/>
              <p:nvPr/>
            </p:nvSpPr>
            <p:spPr>
              <a:xfrm>
                <a:off x="3173334" y="5797307"/>
                <a:ext cx="1671483" cy="763992"/>
              </a:xfrm>
              <a:prstGeom prst="rect">
                <a:avLst/>
              </a:prstGeom>
            </p:spPr>
            <p:txBody>
              <a:bodyPr wrap="none">
                <a:spAutoFit/>
              </a:bodyPr>
              <a:lstStyle/>
              <a:p>
                <a:r>
                  <a:rPr lang="en-US" sz="2800" dirty="0"/>
                  <a:t>I</a:t>
                </a:r>
                <a:r>
                  <a:rPr lang="en-US" sz="2800" baseline="-25000" dirty="0"/>
                  <a:t>1</a:t>
                </a:r>
                <a:r>
                  <a:rPr lang="en-US" sz="2800" dirty="0"/>
                  <a:t> = </a:t>
                </a:r>
                <a14:m>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𝑠</m:t>
                            </m:r>
                          </m:sub>
                        </m:sSub>
                      </m:num>
                      <m:den>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1</m:t>
                            </m:r>
                          </m:sub>
                        </m:sSub>
                        <m:r>
                          <a:rPr lang="en-US" sz="2800" i="1">
                            <a:latin typeface="Cambria Math"/>
                          </a:rPr>
                          <m:t>+ </m:t>
                        </m:r>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den>
                    </m:f>
                  </m:oMath>
                </a14:m>
                <a:endParaRPr lang="en-US" sz="2800" dirty="0"/>
              </a:p>
            </p:txBody>
          </p:sp>
        </mc:Choice>
        <mc:Fallback xmlns="">
          <p:sp>
            <p:nvSpPr>
              <p:cNvPr id="12" name="Rectangle 11">
                <a:extLst>
                  <a:ext uri="{FF2B5EF4-FFF2-40B4-BE49-F238E27FC236}">
                    <a16:creationId xmlns:a16="http://schemas.microsoft.com/office/drawing/2014/main" id="{DDEF48C3-2331-4DB2-B154-96DD44D958EB}"/>
                  </a:ext>
                </a:extLst>
              </p:cNvPr>
              <p:cNvSpPr>
                <a:spLocks noRot="1" noChangeAspect="1" noMove="1" noResize="1" noEditPoints="1" noAdjustHandles="1" noChangeArrowheads="1" noChangeShapeType="1" noTextEdit="1"/>
              </p:cNvSpPr>
              <p:nvPr/>
            </p:nvSpPr>
            <p:spPr>
              <a:xfrm>
                <a:off x="3173334" y="5797307"/>
                <a:ext cx="1671483" cy="763992"/>
              </a:xfrm>
              <a:prstGeom prst="rect">
                <a:avLst/>
              </a:prstGeom>
              <a:blipFill>
                <a:blip r:embed="rId4"/>
                <a:stretch>
                  <a:fillRect l="-7664" b="-32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7E08E05-1BF0-46EB-BE34-D899B212BB8F}"/>
                  </a:ext>
                </a:extLst>
              </p:cNvPr>
              <p:cNvSpPr/>
              <p:nvPr/>
            </p:nvSpPr>
            <p:spPr>
              <a:xfrm>
                <a:off x="4844817" y="5833913"/>
                <a:ext cx="1051891" cy="635815"/>
              </a:xfrm>
              <a:prstGeom prst="rect">
                <a:avLst/>
              </a:prstGeom>
            </p:spPr>
            <p:txBody>
              <a:bodyPr wrap="none">
                <a:spAutoFit/>
              </a:bodyPr>
              <a:lstStyle/>
              <a:p>
                <a:r>
                  <a:rPr lang="en-US" dirty="0"/>
                  <a:t>= </a:t>
                </a:r>
                <a14:m>
                  <m:oMath xmlns:m="http://schemas.openxmlformats.org/officeDocument/2006/math">
                    <m:f>
                      <m:fPr>
                        <m:ctrlPr>
                          <a:rPr lang="en-US" sz="2400" i="1">
                            <a:latin typeface="Cambria Math" panose="02040503050406030204" pitchFamily="18" charset="0"/>
                          </a:rPr>
                        </m:ctrlPr>
                      </m:fPr>
                      <m:num>
                        <m:r>
                          <a:rPr lang="en-US" sz="2400" i="1">
                            <a:latin typeface="Cambria Math"/>
                          </a:rPr>
                          <m:t>15</m:t>
                        </m:r>
                      </m:num>
                      <m:den>
                        <m:r>
                          <a:rPr lang="en-US" sz="2400" i="1">
                            <a:latin typeface="Cambria Math"/>
                          </a:rPr>
                          <m:t>15</m:t>
                        </m:r>
                        <m:r>
                          <a:rPr lang="en-US" sz="2400" i="1">
                            <a:latin typeface="Cambria Math"/>
                          </a:rPr>
                          <m:t>+</m:t>
                        </m:r>
                        <m:r>
                          <a:rPr lang="en-US" sz="2400" i="1">
                            <a:latin typeface="Cambria Math"/>
                          </a:rPr>
                          <m:t>10</m:t>
                        </m:r>
                      </m:den>
                    </m:f>
                  </m:oMath>
                </a14:m>
                <a:endParaRPr lang="en-US" sz="2400" dirty="0"/>
              </a:p>
            </p:txBody>
          </p:sp>
        </mc:Choice>
        <mc:Fallback xmlns="">
          <p:sp>
            <p:nvSpPr>
              <p:cNvPr id="13" name="Rectangle 12">
                <a:extLst>
                  <a:ext uri="{FF2B5EF4-FFF2-40B4-BE49-F238E27FC236}">
                    <a16:creationId xmlns:a16="http://schemas.microsoft.com/office/drawing/2014/main" id="{B7E08E05-1BF0-46EB-BE34-D899B212BB8F}"/>
                  </a:ext>
                </a:extLst>
              </p:cNvPr>
              <p:cNvSpPr>
                <a:spLocks noRot="1" noChangeAspect="1" noMove="1" noResize="1" noEditPoints="1" noAdjustHandles="1" noChangeArrowheads="1" noChangeShapeType="1" noTextEdit="1"/>
              </p:cNvSpPr>
              <p:nvPr/>
            </p:nvSpPr>
            <p:spPr>
              <a:xfrm>
                <a:off x="4844817" y="5833913"/>
                <a:ext cx="1051891" cy="635815"/>
              </a:xfrm>
              <a:prstGeom prst="rect">
                <a:avLst/>
              </a:prstGeom>
              <a:blipFill>
                <a:blip r:embed="rId5"/>
                <a:stretch>
                  <a:fillRect l="-5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5A36CB1-7CE3-4A65-B2B7-EEEC2FF983EA}"/>
                  </a:ext>
                </a:extLst>
              </p:cNvPr>
              <p:cNvSpPr/>
              <p:nvPr/>
            </p:nvSpPr>
            <p:spPr>
              <a:xfrm>
                <a:off x="5896708" y="5851354"/>
                <a:ext cx="846129" cy="496546"/>
              </a:xfrm>
              <a:prstGeom prst="rect">
                <a:avLst/>
              </a:prstGeom>
            </p:spPr>
            <p:txBody>
              <a:bodyPr wrap="none">
                <a:spAutoFit/>
              </a:bodyPr>
              <a:lstStyle/>
              <a:p>
                <a14:m>
                  <m:oMath xmlns:m="http://schemas.openxmlformats.org/officeDocument/2006/math">
                    <m:r>
                      <a:rPr lang="en-US" b="1" i="1">
                        <a:latin typeface="Cambria Math"/>
                      </a:rPr>
                      <m:t>=</m:t>
                    </m:r>
                    <m:f>
                      <m:fPr>
                        <m:ctrlPr>
                          <a:rPr lang="en-US" b="1" i="1">
                            <a:latin typeface="Cambria Math" panose="02040503050406030204" pitchFamily="18" charset="0"/>
                          </a:rPr>
                        </m:ctrlPr>
                      </m:fPr>
                      <m:num>
                        <m:r>
                          <a:rPr lang="en-US" b="1" i="1">
                            <a:latin typeface="Cambria Math"/>
                          </a:rPr>
                          <m:t>𝟏𝟓</m:t>
                        </m:r>
                      </m:num>
                      <m:den>
                        <m:r>
                          <a:rPr lang="en-US" b="1" i="1">
                            <a:latin typeface="Cambria Math"/>
                          </a:rPr>
                          <m:t>𝟐𝟓</m:t>
                        </m:r>
                      </m:den>
                    </m:f>
                  </m:oMath>
                </a14:m>
                <a:r>
                  <a:rPr lang="en-US" b="1" dirty="0"/>
                  <a:t> A</a:t>
                </a:r>
              </a:p>
            </p:txBody>
          </p:sp>
        </mc:Choice>
        <mc:Fallback xmlns="">
          <p:sp>
            <p:nvSpPr>
              <p:cNvPr id="14" name="Rectangle 13">
                <a:extLst>
                  <a:ext uri="{FF2B5EF4-FFF2-40B4-BE49-F238E27FC236}">
                    <a16:creationId xmlns:a16="http://schemas.microsoft.com/office/drawing/2014/main" id="{D5A36CB1-7CE3-4A65-B2B7-EEEC2FF983EA}"/>
                  </a:ext>
                </a:extLst>
              </p:cNvPr>
              <p:cNvSpPr>
                <a:spLocks noRot="1" noChangeAspect="1" noMove="1" noResize="1" noEditPoints="1" noAdjustHandles="1" noChangeArrowheads="1" noChangeShapeType="1" noTextEdit="1"/>
              </p:cNvSpPr>
              <p:nvPr/>
            </p:nvSpPr>
            <p:spPr>
              <a:xfrm>
                <a:off x="5896708" y="5851354"/>
                <a:ext cx="846129" cy="496546"/>
              </a:xfrm>
              <a:prstGeom prst="rect">
                <a:avLst/>
              </a:prstGeom>
              <a:blipFill>
                <a:blip r:embed="rId6"/>
                <a:stretch>
                  <a:fillRect r="-2158" b="-8642"/>
                </a:stretch>
              </a:blipFill>
            </p:spPr>
            <p:txBody>
              <a:bodyPr/>
              <a:lstStyle/>
              <a:p>
                <a:r>
                  <a:rPr lang="en-US">
                    <a:noFill/>
                  </a:rPr>
                  <a:t> </a:t>
                </a:r>
              </a:p>
            </p:txBody>
          </p:sp>
        </mc:Fallback>
      </mc:AlternateContent>
    </p:spTree>
    <p:extLst>
      <p:ext uri="{BB962C8B-B14F-4D97-AF65-F5344CB8AC3E}">
        <p14:creationId xmlns:p14="http://schemas.microsoft.com/office/powerpoint/2010/main" val="331496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B61B916B-A82B-4435-996C-2BE602F24E65}"/>
                  </a:ext>
                </a:extLst>
              </p:cNvPr>
              <p:cNvSpPr>
                <a:spLocks noGrp="1"/>
              </p:cNvSpPr>
              <p:nvPr>
                <p:ph idx="1"/>
              </p:nvPr>
            </p:nvSpPr>
            <p:spPr>
              <a:xfrm>
                <a:off x="448734" y="163797"/>
                <a:ext cx="8530882" cy="5048918"/>
              </a:xfrm>
            </p:spPr>
            <p:txBody>
              <a:bodyPr>
                <a:noAutofit/>
              </a:bodyPr>
              <a:lstStyle/>
              <a:p>
                <a:pPr fontAlgn="base"/>
                <a:r>
                  <a:rPr lang="en-US" sz="2000" b="1" dirty="0">
                    <a:solidFill>
                      <a:srgbClr val="FF0000"/>
                    </a:solidFill>
                  </a:rPr>
                  <a:t>Step 2 :</a:t>
                </a:r>
                <a:r>
                  <a:rPr lang="en-US" sz="2000" dirty="0">
                    <a:solidFill>
                      <a:srgbClr val="FF0000"/>
                    </a:solidFill>
                  </a:rPr>
                  <a:t>, we keep o</a:t>
                </a:r>
                <a:r>
                  <a:rPr lang="en-US" sz="2000" b="1" dirty="0">
                    <a:solidFill>
                      <a:srgbClr val="FF0000"/>
                    </a:solidFill>
                  </a:rPr>
                  <a:t>nly current source active</a:t>
                </a:r>
                <a:r>
                  <a:rPr lang="en-US" sz="2000" dirty="0">
                    <a:solidFill>
                      <a:srgbClr val="FF0000"/>
                    </a:solidFill>
                  </a:rPr>
                  <a:t>  and the voltage source is removed and  replaced  by a short. </a:t>
                </a:r>
              </a:p>
              <a:p>
                <a:pPr fontAlgn="base"/>
                <a:endParaRPr lang="en-US" sz="2000" dirty="0">
                  <a:solidFill>
                    <a:srgbClr val="FF0000"/>
                  </a:solidFill>
                </a:endParaRPr>
              </a:p>
              <a:p>
                <a:pPr fontAlgn="base"/>
                <a:r>
                  <a:rPr lang="en-US" sz="2000" dirty="0"/>
                  <a:t>So the circuit will become as shown in the below figure.</a:t>
                </a:r>
              </a:p>
              <a:p>
                <a:pPr fontAlgn="base"/>
                <a:endParaRPr lang="en-US" sz="2000" dirty="0"/>
              </a:p>
              <a:p>
                <a:pPr fontAlgn="base"/>
                <a:r>
                  <a:rPr lang="en-US" sz="2000" dirty="0"/>
                  <a:t>Current through  R</a:t>
                </a:r>
                <a:r>
                  <a:rPr lang="en-US" sz="2000" baseline="-25000" dirty="0"/>
                  <a:t>2</a:t>
                </a:r>
                <a:r>
                  <a:rPr lang="en-US" sz="2000" dirty="0"/>
                  <a:t> is I</a:t>
                </a:r>
                <a:r>
                  <a:rPr lang="en-US" sz="2000" baseline="-25000" dirty="0"/>
                  <a:t>2</a:t>
                </a:r>
                <a:r>
                  <a:rPr lang="en-US" sz="2000" dirty="0"/>
                  <a:t> = </a:t>
                </a:r>
                <a14:m>
                  <m:oMath xmlns:m="http://schemas.openxmlformats.org/officeDocument/2006/math">
                    <m:f>
                      <m:fPr>
                        <m:ctrlPr>
                          <a:rPr lang="en-US" sz="2000" i="1">
                            <a:latin typeface="Cambria Math" panose="02040503050406030204" pitchFamily="18" charset="0"/>
                          </a:rPr>
                        </m:ctrlPr>
                      </m:fPr>
                      <m:num>
                        <m:r>
                          <a:rPr lang="en-US" sz="2000" i="1">
                            <a:latin typeface="Cambria Math"/>
                          </a:rPr>
                          <m:t>𝐼</m:t>
                        </m:r>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1</m:t>
                            </m:r>
                          </m:sub>
                        </m:sSub>
                      </m:num>
                      <m:den>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1</m:t>
                            </m:r>
                          </m:sub>
                        </m:sSub>
                        <m:r>
                          <a:rPr lang="en-US" sz="2000" i="1">
                            <a:latin typeface="Cambria Math"/>
                          </a:rPr>
                          <m:t>+ </m:t>
                        </m:r>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2</m:t>
                            </m:r>
                          </m:sub>
                        </m:sSub>
                      </m:den>
                    </m:f>
                    <m:r>
                      <a:rPr lang="en-US" sz="2000" i="1">
                        <a:latin typeface="Cambria Math"/>
                      </a:rPr>
                      <m:t>=</m:t>
                    </m:r>
                  </m:oMath>
                </a14:m>
                <a:r>
                  <a:rPr lang="en-US" sz="2000" dirty="0"/>
                  <a:t> </a:t>
                </a:r>
                <a14:m>
                  <m:oMath xmlns:m="http://schemas.openxmlformats.org/officeDocument/2006/math">
                    <m:r>
                      <a:rPr lang="en-US" sz="2000" i="1">
                        <a:latin typeface="Cambria Math"/>
                      </a:rPr>
                      <m:t>  </m:t>
                    </m:r>
                    <m:f>
                      <m:fPr>
                        <m:ctrlPr>
                          <a:rPr lang="en-US" sz="2000" i="1">
                            <a:latin typeface="Cambria Math" panose="02040503050406030204" pitchFamily="18" charset="0"/>
                          </a:rPr>
                        </m:ctrlPr>
                      </m:fPr>
                      <m:num>
                        <m:r>
                          <a:rPr lang="en-US" sz="2000" i="1">
                            <a:latin typeface="Cambria Math"/>
                          </a:rPr>
                          <m:t>1</m:t>
                        </m:r>
                        <m:r>
                          <a:rPr lang="en-US" sz="2000" i="1">
                            <a:latin typeface="Cambria Math"/>
                          </a:rPr>
                          <m:t>∗</m:t>
                        </m:r>
                        <m:r>
                          <a:rPr lang="en-US" sz="2000" i="1">
                            <a:latin typeface="Cambria Math"/>
                          </a:rPr>
                          <m:t>15</m:t>
                        </m:r>
                      </m:num>
                      <m:den>
                        <m:r>
                          <a:rPr lang="en-US" sz="2000" i="1">
                            <a:latin typeface="Cambria Math"/>
                          </a:rPr>
                          <m:t>15</m:t>
                        </m:r>
                        <m:r>
                          <a:rPr lang="en-US" sz="2000" i="1">
                            <a:latin typeface="Cambria Math"/>
                          </a:rPr>
                          <m:t>+</m:t>
                        </m:r>
                        <m:r>
                          <a:rPr lang="en-US" sz="2000" i="1">
                            <a:latin typeface="Cambria Math"/>
                          </a:rPr>
                          <m:t>10</m:t>
                        </m:r>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15</m:t>
                        </m:r>
                      </m:num>
                      <m:den>
                        <m:r>
                          <a:rPr lang="en-US" sz="2000" i="1">
                            <a:latin typeface="Cambria Math"/>
                          </a:rPr>
                          <m:t>25</m:t>
                        </m:r>
                      </m:den>
                    </m:f>
                    <m:r>
                      <a:rPr lang="en-US" sz="2000" i="1">
                        <a:latin typeface="Cambria Math"/>
                      </a:rPr>
                      <m:t> </m:t>
                    </m:r>
                  </m:oMath>
                </a14:m>
                <a:r>
                  <a:rPr lang="en-US" sz="2000" dirty="0"/>
                  <a:t>A</a:t>
                </a:r>
              </a:p>
              <a:p>
                <a:pPr fontAlgn="base"/>
                <a:endParaRPr lang="en-US" sz="2000" dirty="0"/>
              </a:p>
              <a:p>
                <a:pPr fontAlgn="base"/>
                <a:r>
                  <a:rPr lang="en-US" sz="2000" dirty="0"/>
                  <a:t>According to superposition theorem the </a:t>
                </a:r>
                <a:r>
                  <a:rPr lang="en-US" sz="2000" dirty="0">
                    <a:solidFill>
                      <a:srgbClr val="FF0000"/>
                    </a:solidFill>
                  </a:rPr>
                  <a:t>total current through  load R</a:t>
                </a:r>
                <a:r>
                  <a:rPr lang="en-US" sz="2000" baseline="-25000" dirty="0">
                    <a:solidFill>
                      <a:srgbClr val="FF0000"/>
                    </a:solidFill>
                  </a:rPr>
                  <a:t>2</a:t>
                </a:r>
                <a:r>
                  <a:rPr lang="en-US" sz="2000" dirty="0">
                    <a:solidFill>
                      <a:srgbClr val="FF0000"/>
                    </a:solidFill>
                  </a:rPr>
                  <a:t> is the algebraic sum of I</a:t>
                </a:r>
                <a:r>
                  <a:rPr lang="en-US" sz="2000" baseline="-25000" dirty="0">
                    <a:solidFill>
                      <a:srgbClr val="FF0000"/>
                    </a:solidFill>
                  </a:rPr>
                  <a:t>1</a:t>
                </a:r>
                <a:r>
                  <a:rPr lang="en-US" sz="2000" dirty="0">
                    <a:solidFill>
                      <a:srgbClr val="FF0000"/>
                    </a:solidFill>
                  </a:rPr>
                  <a:t> &amp; I</a:t>
                </a:r>
                <a:r>
                  <a:rPr lang="en-US" sz="2000" baseline="-25000" dirty="0">
                    <a:solidFill>
                      <a:srgbClr val="FF0000"/>
                    </a:solidFill>
                  </a:rPr>
                  <a:t>2</a:t>
                </a:r>
              </a:p>
              <a:p>
                <a:pPr fontAlgn="base"/>
                <a:endParaRPr lang="en-US" sz="2000" dirty="0"/>
              </a:p>
              <a:p>
                <a:pPr fontAlgn="base"/>
                <a:r>
                  <a:rPr lang="en-US" sz="2000" dirty="0"/>
                  <a:t>I= I</a:t>
                </a:r>
                <a:r>
                  <a:rPr lang="en-US" sz="2000" baseline="-25000" dirty="0"/>
                  <a:t>1</a:t>
                </a:r>
                <a:r>
                  <a:rPr lang="en-US" sz="2000" dirty="0"/>
                  <a:t> + I</a:t>
                </a:r>
                <a:r>
                  <a:rPr lang="en-US" sz="2000" baseline="-25000" dirty="0"/>
                  <a:t>2</a:t>
                </a:r>
                <a:r>
                  <a:rPr lang="en-US" sz="2000" dirty="0"/>
                  <a:t>=</a:t>
                </a:r>
                <a14:m>
                  <m:oMath xmlns:m="http://schemas.openxmlformats.org/officeDocument/2006/math">
                    <m:f>
                      <m:fPr>
                        <m:ctrlPr>
                          <a:rPr lang="en-US" sz="2000" i="1">
                            <a:latin typeface="Cambria Math" panose="02040503050406030204" pitchFamily="18" charset="0"/>
                          </a:rPr>
                        </m:ctrlPr>
                      </m:fPr>
                      <m:num>
                        <m:r>
                          <a:rPr lang="en-US" sz="2000" i="1">
                            <a:latin typeface="Cambria Math"/>
                          </a:rPr>
                          <m:t>15</m:t>
                        </m:r>
                      </m:num>
                      <m:den>
                        <m:r>
                          <a:rPr lang="en-US" sz="2000" i="1">
                            <a:latin typeface="Cambria Math"/>
                          </a:rPr>
                          <m:t>25</m:t>
                        </m:r>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15</m:t>
                        </m:r>
                      </m:num>
                      <m:den>
                        <m:r>
                          <a:rPr lang="en-US" sz="2000" i="1">
                            <a:latin typeface="Cambria Math"/>
                          </a:rPr>
                          <m:t>25</m:t>
                        </m:r>
                      </m:den>
                    </m:f>
                    <m:r>
                      <a:rPr lang="en-US" sz="2000" i="1">
                        <a:latin typeface="Cambria Math"/>
                      </a:rPr>
                      <m:t>=</m:t>
                    </m:r>
                  </m:oMath>
                </a14:m>
                <a:r>
                  <a:rPr lang="en-US" sz="2000" dirty="0"/>
                  <a:t> </a:t>
                </a:r>
                <a14:m>
                  <m:oMath xmlns:m="http://schemas.openxmlformats.org/officeDocument/2006/math">
                    <m:f>
                      <m:fPr>
                        <m:ctrlPr>
                          <a:rPr lang="en-US" sz="2000" i="1">
                            <a:latin typeface="Cambria Math" panose="02040503050406030204" pitchFamily="18" charset="0"/>
                          </a:rPr>
                        </m:ctrlPr>
                      </m:fPr>
                      <m:num>
                        <m:r>
                          <a:rPr lang="en-US" sz="2000" i="1">
                            <a:latin typeface="Cambria Math"/>
                          </a:rPr>
                          <m:t>30</m:t>
                        </m:r>
                      </m:num>
                      <m:den>
                        <m:r>
                          <a:rPr lang="en-US" sz="2000" i="1">
                            <a:latin typeface="Cambria Math"/>
                          </a:rPr>
                          <m:t>25</m:t>
                        </m:r>
                      </m:den>
                    </m:f>
                  </m:oMath>
                </a14:m>
                <a:r>
                  <a:rPr lang="en-US" sz="2000" dirty="0"/>
                  <a:t> A   </a:t>
                </a:r>
              </a:p>
              <a:p>
                <a:pPr fontAlgn="base"/>
                <a:endParaRPr lang="en-US" sz="2000" dirty="0"/>
              </a:p>
              <a:p>
                <a:pPr fontAlgn="base"/>
                <a:r>
                  <a:rPr lang="en-US" sz="2000" dirty="0"/>
                  <a:t>Hence voltage across 10𝛺 is = I R</a:t>
                </a:r>
                <a:r>
                  <a:rPr lang="en-US" sz="2000" baseline="-25000" dirty="0"/>
                  <a:t>2</a:t>
                </a:r>
                <a:r>
                  <a:rPr lang="en-US" sz="2000" dirty="0"/>
                  <a:t> =</a:t>
                </a:r>
                <a14:m>
                  <m:oMath xmlns:m="http://schemas.openxmlformats.org/officeDocument/2006/math">
                    <m:f>
                      <m:fPr>
                        <m:ctrlPr>
                          <a:rPr lang="en-US" sz="2000" i="1">
                            <a:latin typeface="Cambria Math" panose="02040503050406030204" pitchFamily="18" charset="0"/>
                          </a:rPr>
                        </m:ctrlPr>
                      </m:fPr>
                      <m:num>
                        <m:r>
                          <a:rPr lang="en-US" sz="2000" i="1">
                            <a:latin typeface="Cambria Math"/>
                          </a:rPr>
                          <m:t>30</m:t>
                        </m:r>
                      </m:num>
                      <m:den>
                        <m:r>
                          <a:rPr lang="en-US" sz="2000" i="1">
                            <a:latin typeface="Cambria Math"/>
                          </a:rPr>
                          <m:t>25</m:t>
                        </m:r>
                      </m:den>
                    </m:f>
                    <m:r>
                      <a:rPr lang="en-US" sz="2000" i="1">
                        <a:latin typeface="Cambria Math"/>
                      </a:rPr>
                      <m:t> </m:t>
                    </m:r>
                    <m:r>
                      <a:rPr lang="en-US" sz="2000" i="1">
                        <a:latin typeface="Cambria Math"/>
                      </a:rPr>
                      <m:t>𝑥</m:t>
                    </m:r>
                    <m:r>
                      <a:rPr lang="en-US" sz="2000" i="1">
                        <a:latin typeface="Cambria Math"/>
                      </a:rPr>
                      <m:t> </m:t>
                    </m:r>
                    <m:r>
                      <a:rPr lang="en-US" sz="2000" i="1">
                        <a:latin typeface="Cambria Math"/>
                      </a:rPr>
                      <m:t>10</m:t>
                    </m:r>
                    <m:r>
                      <a:rPr lang="en-US" sz="2000" i="1">
                        <a:latin typeface="Cambria Math"/>
                      </a:rPr>
                      <m:t>=</m:t>
                    </m:r>
                    <m:r>
                      <a:rPr lang="en-US" sz="2000" i="1">
                        <a:latin typeface="Cambria Math"/>
                      </a:rPr>
                      <m:t>12</m:t>
                    </m:r>
                    <m:r>
                      <a:rPr lang="en-US" sz="2000" i="1">
                        <a:latin typeface="Cambria Math"/>
                      </a:rPr>
                      <m:t>𝑉</m:t>
                    </m:r>
                  </m:oMath>
                </a14:m>
                <a:r>
                  <a:rPr lang="en-US" sz="2000" dirty="0"/>
                  <a:t> </a:t>
                </a:r>
              </a:p>
            </p:txBody>
          </p:sp>
        </mc:Choice>
        <mc:Fallback xmlns="">
          <p:sp>
            <p:nvSpPr>
              <p:cNvPr id="7" name="Content Placeholder 2">
                <a:extLst>
                  <a:ext uri="{FF2B5EF4-FFF2-40B4-BE49-F238E27FC236}">
                    <a16:creationId xmlns:a16="http://schemas.microsoft.com/office/drawing/2014/main" id="{B61B916B-A82B-4435-996C-2BE602F24E65}"/>
                  </a:ext>
                </a:extLst>
              </p:cNvPr>
              <p:cNvSpPr>
                <a:spLocks noGrp="1" noRot="1" noChangeAspect="1" noMove="1" noResize="1" noEditPoints="1" noAdjustHandles="1" noChangeArrowheads="1" noChangeShapeType="1" noTextEdit="1"/>
              </p:cNvSpPr>
              <p:nvPr>
                <p:ph idx="1"/>
              </p:nvPr>
            </p:nvSpPr>
            <p:spPr>
              <a:xfrm>
                <a:off x="448734" y="163797"/>
                <a:ext cx="8530882" cy="5048918"/>
              </a:xfrm>
              <a:blipFill>
                <a:blip r:embed="rId2"/>
                <a:stretch>
                  <a:fillRect l="-643" t="-1329" b="-640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DD57AE06-6AB4-46CD-BAFD-A1468C04547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200010" y="1022250"/>
            <a:ext cx="2602524" cy="3376247"/>
          </a:xfrm>
          <a:prstGeom prst="rect">
            <a:avLst/>
          </a:prstGeom>
          <a:noFill/>
          <a:ln>
            <a:noFill/>
          </a:ln>
        </p:spPr>
      </p:pic>
    </p:spTree>
    <p:extLst>
      <p:ext uri="{BB962C8B-B14F-4D97-AF65-F5344CB8AC3E}">
        <p14:creationId xmlns:p14="http://schemas.microsoft.com/office/powerpoint/2010/main" val="1948870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991E4C4-08EB-4A3E-83FF-7E9FB91EE187}"/>
              </a:ext>
            </a:extLst>
          </p:cNvPr>
          <p:cNvSpPr>
            <a:spLocks noGrp="1"/>
          </p:cNvSpPr>
          <p:nvPr>
            <p:ph type="title"/>
          </p:nvPr>
        </p:nvSpPr>
        <p:spPr>
          <a:xfrm>
            <a:off x="838200" y="316372"/>
            <a:ext cx="10515600" cy="640936"/>
          </a:xfrm>
        </p:spPr>
        <p:txBody>
          <a:bodyPr>
            <a:normAutofit/>
          </a:bodyPr>
          <a:lstStyle/>
          <a:p>
            <a:r>
              <a:rPr lang="en-US" sz="2800" b="1" dirty="0">
                <a:solidFill>
                  <a:srgbClr val="00B0F0"/>
                </a:solidFill>
              </a:rPr>
              <a:t>Problem-2</a:t>
            </a:r>
          </a:p>
        </p:txBody>
      </p:sp>
      <p:pic>
        <p:nvPicPr>
          <p:cNvPr id="10" name="Content Placeholder 3" descr="series parallel analysis circuit">
            <a:extLst>
              <a:ext uri="{FF2B5EF4-FFF2-40B4-BE49-F238E27FC236}">
                <a16:creationId xmlns:a16="http://schemas.microsoft.com/office/drawing/2014/main" id="{800AD431-08B2-4633-BD23-C662117B93AE}"/>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411" y="1644581"/>
            <a:ext cx="4895850" cy="2105025"/>
          </a:xfrm>
          <a:prstGeom prst="rect">
            <a:avLst/>
          </a:prstGeom>
          <a:noFill/>
          <a:ln>
            <a:noFill/>
          </a:ln>
        </p:spPr>
      </p:pic>
      <p:sp>
        <p:nvSpPr>
          <p:cNvPr id="11" name="Rectangle 10">
            <a:extLst>
              <a:ext uri="{FF2B5EF4-FFF2-40B4-BE49-F238E27FC236}">
                <a16:creationId xmlns:a16="http://schemas.microsoft.com/office/drawing/2014/main" id="{045DB465-8B38-413E-AFB9-2361BDCACF11}"/>
              </a:ext>
            </a:extLst>
          </p:cNvPr>
          <p:cNvSpPr/>
          <p:nvPr/>
        </p:nvSpPr>
        <p:spPr>
          <a:xfrm>
            <a:off x="838200" y="1108223"/>
            <a:ext cx="8573086" cy="400110"/>
          </a:xfrm>
          <a:prstGeom prst="rect">
            <a:avLst/>
          </a:prstGeom>
        </p:spPr>
        <p:txBody>
          <a:bodyPr wrap="square">
            <a:spAutoFit/>
          </a:bodyPr>
          <a:lstStyle/>
          <a:p>
            <a:pPr lvl="0" fontAlgn="base"/>
            <a:r>
              <a:rPr lang="en-US" sz="2000" b="1" dirty="0">
                <a:solidFill>
                  <a:srgbClr val="FF0000"/>
                </a:solidFill>
              </a:rPr>
              <a:t>Using superposition theorem find the voltage across 2𝛺 resistor</a:t>
            </a:r>
            <a:endParaRPr lang="en-US" sz="2000" dirty="0">
              <a:solidFill>
                <a:srgbClr val="FF0000"/>
              </a:solidFill>
            </a:endParaRPr>
          </a:p>
        </p:txBody>
      </p:sp>
      <p:sp>
        <p:nvSpPr>
          <p:cNvPr id="12" name="Rectangle 11">
            <a:extLst>
              <a:ext uri="{FF2B5EF4-FFF2-40B4-BE49-F238E27FC236}">
                <a16:creationId xmlns:a16="http://schemas.microsoft.com/office/drawing/2014/main" id="{BEF09EF8-D405-44D1-A6E7-0FC8B51C6D81}"/>
              </a:ext>
            </a:extLst>
          </p:cNvPr>
          <p:cNvSpPr/>
          <p:nvPr/>
        </p:nvSpPr>
        <p:spPr>
          <a:xfrm>
            <a:off x="647260" y="3888715"/>
            <a:ext cx="9636223" cy="400110"/>
          </a:xfrm>
          <a:prstGeom prst="rect">
            <a:avLst/>
          </a:prstGeom>
        </p:spPr>
        <p:txBody>
          <a:bodyPr wrap="square">
            <a:spAutoFit/>
          </a:bodyPr>
          <a:lstStyle/>
          <a:p>
            <a:r>
              <a:rPr lang="en-US" b="1" dirty="0">
                <a:solidFill>
                  <a:srgbClr val="FF0000"/>
                </a:solidFill>
              </a:rPr>
              <a:t>Step 1: only the 28-volt </a:t>
            </a:r>
            <a:r>
              <a:rPr lang="en-US" sz="2000" b="1" dirty="0">
                <a:solidFill>
                  <a:srgbClr val="FF0000"/>
                </a:solidFill>
              </a:rPr>
              <a:t>battery</a:t>
            </a:r>
            <a:r>
              <a:rPr lang="en-US" b="1" dirty="0">
                <a:solidFill>
                  <a:srgbClr val="FF0000"/>
                </a:solidFill>
              </a:rPr>
              <a:t> is active and 7 volt battery is replaced by a short </a:t>
            </a:r>
            <a:endParaRPr lang="en-US" dirty="0">
              <a:solidFill>
                <a:srgbClr val="FF0000"/>
              </a:solidFill>
            </a:endParaRPr>
          </a:p>
        </p:txBody>
      </p:sp>
      <p:pic>
        <p:nvPicPr>
          <p:cNvPr id="13" name="Picture 12" descr="series parallel analysis circuit">
            <a:extLst>
              <a:ext uri="{FF2B5EF4-FFF2-40B4-BE49-F238E27FC236}">
                <a16:creationId xmlns:a16="http://schemas.microsoft.com/office/drawing/2014/main" id="{B91396EF-40DC-4B25-BC7B-2B8D93AEF5D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848725" y="4431770"/>
            <a:ext cx="3094746" cy="2077395"/>
          </a:xfrm>
          <a:prstGeom prst="rect">
            <a:avLst/>
          </a:prstGeom>
          <a:noFill/>
          <a:ln>
            <a:noFill/>
          </a:ln>
        </p:spPr>
      </p:pic>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920730C4-1BA4-41C9-B906-C62AAD2FD923}"/>
                  </a:ext>
                </a:extLst>
              </p:cNvPr>
              <p:cNvSpPr/>
              <p:nvPr/>
            </p:nvSpPr>
            <p:spPr>
              <a:xfrm>
                <a:off x="1008184" y="4298984"/>
                <a:ext cx="5181601" cy="2487027"/>
              </a:xfrm>
              <a:prstGeom prst="rect">
                <a:avLst/>
              </a:prstGeom>
            </p:spPr>
            <p:txBody>
              <a:bodyPr wrap="square">
                <a:spAutoFit/>
              </a:bodyPr>
              <a:lstStyle/>
              <a:p>
                <a:r>
                  <a:rPr lang="en-US" sz="2000" dirty="0"/>
                  <a:t>Current through R</a:t>
                </a:r>
                <a:r>
                  <a:rPr lang="en-US" sz="2000" baseline="-25000" dirty="0"/>
                  <a:t>2</a:t>
                </a:r>
                <a:r>
                  <a:rPr lang="en-US" sz="2000" dirty="0"/>
                  <a:t>=I</a:t>
                </a:r>
                <a:r>
                  <a:rPr lang="en-US" sz="2000" baseline="-25000" dirty="0"/>
                  <a:t>1</a:t>
                </a:r>
                <a:r>
                  <a:rPr lang="en-US" sz="2000" dirty="0"/>
                  <a:t>= </a:t>
                </a:r>
                <a14:m>
                  <m:oMath xmlns:m="http://schemas.openxmlformats.org/officeDocument/2006/math">
                    <m:f>
                      <m:fPr>
                        <m:ctrlPr>
                          <a:rPr lang="en-US" sz="2000" i="1">
                            <a:latin typeface="Cambria Math" panose="02040503050406030204" pitchFamily="18" charset="0"/>
                          </a:rPr>
                        </m:ctrlPr>
                      </m:fPr>
                      <m:num>
                        <m:r>
                          <m:rPr>
                            <m:sty m:val="p"/>
                          </m:rPr>
                          <a:rPr lang="en-US" sz="2000">
                            <a:latin typeface="Cambria Math"/>
                          </a:rPr>
                          <m:t>I</m:t>
                        </m:r>
                        <m:r>
                          <a:rPr lang="en-US" sz="2000">
                            <a:latin typeface="Cambria Math"/>
                          </a:rPr>
                          <m:t> </m:t>
                        </m:r>
                        <m:r>
                          <m:rPr>
                            <m:sty m:val="p"/>
                          </m:rPr>
                          <a:rPr lang="en-US" sz="2000">
                            <a:latin typeface="Cambria Math"/>
                          </a:rPr>
                          <m:t>x</m:t>
                        </m:r>
                        <m:r>
                          <a:rPr lang="en-US" sz="2000">
                            <a:latin typeface="Cambria Math"/>
                          </a:rPr>
                          <m:t> </m:t>
                        </m:r>
                        <m:r>
                          <m:rPr>
                            <m:sty m:val="p"/>
                          </m:rPr>
                          <a:rPr lang="en-US" sz="2000">
                            <a:latin typeface="Cambria Math"/>
                          </a:rPr>
                          <m:t>R</m:t>
                        </m:r>
                        <m:r>
                          <a:rPr lang="en-US" sz="2000">
                            <a:latin typeface="Cambria Math"/>
                          </a:rPr>
                          <m:t>3</m:t>
                        </m:r>
                      </m:num>
                      <m:den>
                        <m:r>
                          <a:rPr lang="en-US" sz="2000" i="1">
                            <a:latin typeface="Cambria Math"/>
                          </a:rPr>
                          <m:t>𝑅</m:t>
                        </m:r>
                        <m:r>
                          <a:rPr lang="en-US" sz="2000" i="1">
                            <a:latin typeface="Cambria Math"/>
                          </a:rPr>
                          <m:t>3</m:t>
                        </m:r>
                        <m:r>
                          <a:rPr lang="en-US" sz="2000" i="1">
                            <a:latin typeface="Cambria Math"/>
                          </a:rPr>
                          <m:t>+</m:t>
                        </m:r>
                        <m:r>
                          <a:rPr lang="en-US" sz="2000" i="1">
                            <a:latin typeface="Cambria Math"/>
                          </a:rPr>
                          <m:t>𝑅</m:t>
                        </m:r>
                        <m:r>
                          <a:rPr lang="en-US" sz="2000" i="1">
                            <a:latin typeface="Cambria Math"/>
                          </a:rPr>
                          <m:t>2</m:t>
                        </m:r>
                      </m:den>
                    </m:f>
                  </m:oMath>
                </a14:m>
                <a:r>
                  <a:rPr lang="en-US" sz="2000" dirty="0"/>
                  <a:t> </a:t>
                </a:r>
              </a:p>
              <a:p>
                <a:endParaRPr lang="en-US" sz="2000" dirty="0"/>
              </a:p>
              <a:p>
                <a:endParaRPr lang="en-US" sz="2000" dirty="0"/>
              </a:p>
              <a:p>
                <a:pPr marL="342900" indent="-342900">
                  <a:buFont typeface="Wingdings" pitchFamily="2" charset="2"/>
                  <a:buChar char="§"/>
                </a:pPr>
                <a:r>
                  <a:rPr lang="en-US" sz="2000" dirty="0"/>
                  <a:t>I =</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a:rPr>
                              <m:t>𝑉</m:t>
                            </m:r>
                          </m:e>
                          <m:sub>
                            <m:r>
                              <a:rPr lang="en-US" sz="2000" i="1">
                                <a:latin typeface="Cambria Math"/>
                              </a:rPr>
                              <m:t>𝑠</m:t>
                            </m:r>
                          </m:sub>
                        </m:sSub>
                      </m:num>
                      <m:den>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𝑒</m:t>
                            </m:r>
                          </m:sub>
                        </m:sSub>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28</m:t>
                        </m:r>
                      </m:num>
                      <m:den>
                        <m:f>
                          <m:fPr>
                            <m:ctrlPr>
                              <a:rPr lang="en-US" sz="2000" i="1">
                                <a:latin typeface="Cambria Math" panose="02040503050406030204" pitchFamily="18" charset="0"/>
                              </a:rPr>
                            </m:ctrlPr>
                          </m:fPr>
                          <m:num>
                            <m:r>
                              <a:rPr lang="en-US" sz="2000" i="1">
                                <a:latin typeface="Cambria Math"/>
                              </a:rPr>
                              <m:t>14</m:t>
                            </m:r>
                          </m:num>
                          <m:den>
                            <m:r>
                              <a:rPr lang="en-US" sz="2000" i="1">
                                <a:latin typeface="Cambria Math"/>
                              </a:rPr>
                              <m:t>3</m:t>
                            </m:r>
                          </m:den>
                        </m:f>
                      </m:den>
                    </m:f>
                    <m:r>
                      <a:rPr lang="en-US" sz="2000" i="1">
                        <a:latin typeface="Cambria Math"/>
                      </a:rPr>
                      <m:t>=</m:t>
                    </m:r>
                    <m:r>
                      <a:rPr lang="en-US" sz="2000" i="1">
                        <a:latin typeface="Cambria Math"/>
                      </a:rPr>
                      <m:t>6</m:t>
                    </m:r>
                    <m:r>
                      <a:rPr lang="en-US" sz="2000" i="1">
                        <a:latin typeface="Cambria Math"/>
                      </a:rPr>
                      <m:t>𝐴</m:t>
                    </m:r>
                  </m:oMath>
                </a14:m>
                <a:endParaRPr lang="en-US" sz="2000" dirty="0"/>
              </a:p>
              <a:p>
                <a:r>
                  <a:rPr lang="en-US" sz="2000" dirty="0"/>
                  <a:t>                                                                                  Current through R</a:t>
                </a:r>
                <a:r>
                  <a:rPr lang="en-US" sz="2000" baseline="-25000" dirty="0"/>
                  <a:t>2</a:t>
                </a:r>
                <a:r>
                  <a:rPr lang="en-US" sz="2000" dirty="0"/>
                  <a:t> = I</a:t>
                </a:r>
                <a:r>
                  <a:rPr lang="en-US" sz="2000" baseline="-25000" dirty="0"/>
                  <a:t>1</a:t>
                </a:r>
                <a:r>
                  <a:rPr lang="en-US" sz="2000" dirty="0"/>
                  <a:t>= </a:t>
                </a:r>
                <a14:m>
                  <m:oMath xmlns:m="http://schemas.openxmlformats.org/officeDocument/2006/math">
                    <m:f>
                      <m:fPr>
                        <m:ctrlPr>
                          <a:rPr lang="en-US" sz="2000" i="1">
                            <a:latin typeface="Cambria Math" panose="02040503050406030204" pitchFamily="18" charset="0"/>
                          </a:rPr>
                        </m:ctrlPr>
                      </m:fPr>
                      <m:num>
                        <m:r>
                          <m:rPr>
                            <m:sty m:val="p"/>
                          </m:rPr>
                          <a:rPr lang="en-US" sz="2000">
                            <a:latin typeface="Cambria Math"/>
                          </a:rPr>
                          <m:t>I</m:t>
                        </m:r>
                        <m:r>
                          <a:rPr lang="en-US" sz="2000">
                            <a:latin typeface="Cambria Math"/>
                          </a:rPr>
                          <m:t> </m:t>
                        </m:r>
                        <m:r>
                          <m:rPr>
                            <m:sty m:val="p"/>
                          </m:rPr>
                          <a:rPr lang="en-US" sz="2000">
                            <a:latin typeface="Cambria Math"/>
                          </a:rPr>
                          <m:t>x</m:t>
                        </m:r>
                        <m:r>
                          <a:rPr lang="en-US" sz="2000">
                            <a:latin typeface="Cambria Math"/>
                          </a:rPr>
                          <m:t> </m:t>
                        </m:r>
                        <m:r>
                          <m:rPr>
                            <m:sty m:val="p"/>
                          </m:rPr>
                          <a:rPr lang="en-US" sz="2000">
                            <a:latin typeface="Cambria Math"/>
                          </a:rPr>
                          <m:t>R</m:t>
                        </m:r>
                        <m:r>
                          <a:rPr lang="en-US" sz="2000">
                            <a:latin typeface="Cambria Math"/>
                          </a:rPr>
                          <m:t>3</m:t>
                        </m:r>
                      </m:num>
                      <m:den>
                        <m:r>
                          <a:rPr lang="en-US" sz="2000" i="1">
                            <a:latin typeface="Cambria Math"/>
                          </a:rPr>
                          <m:t>𝑅</m:t>
                        </m:r>
                        <m:r>
                          <a:rPr lang="en-US" sz="2000" i="1">
                            <a:latin typeface="Cambria Math"/>
                          </a:rPr>
                          <m:t>3</m:t>
                        </m:r>
                        <m:r>
                          <a:rPr lang="en-US" sz="2000" i="1">
                            <a:latin typeface="Cambria Math"/>
                          </a:rPr>
                          <m:t>+</m:t>
                        </m:r>
                        <m:r>
                          <a:rPr lang="en-US" sz="2000" i="1">
                            <a:latin typeface="Cambria Math"/>
                          </a:rPr>
                          <m:t>𝑅</m:t>
                        </m:r>
                        <m:r>
                          <a:rPr lang="en-US" sz="2000" i="1">
                            <a:latin typeface="Cambria Math"/>
                          </a:rPr>
                          <m:t>2</m:t>
                        </m:r>
                      </m:den>
                    </m:f>
                  </m:oMath>
                </a14:m>
                <a:r>
                  <a:rPr lang="en-US" sz="2000" dirty="0"/>
                  <a:t> = </a:t>
                </a:r>
                <a14:m>
                  <m:oMath xmlns:m="http://schemas.openxmlformats.org/officeDocument/2006/math">
                    <m:f>
                      <m:fPr>
                        <m:ctrlPr>
                          <a:rPr lang="en-US" sz="2000" i="1">
                            <a:latin typeface="Cambria Math" panose="02040503050406030204" pitchFamily="18" charset="0"/>
                          </a:rPr>
                        </m:ctrlPr>
                      </m:fPr>
                      <m:num>
                        <m:r>
                          <a:rPr lang="en-US" sz="2000">
                            <a:latin typeface="Cambria Math"/>
                          </a:rPr>
                          <m:t>6</m:t>
                        </m:r>
                        <m:r>
                          <a:rPr lang="en-US" sz="2000" i="1">
                            <a:latin typeface="Cambria Math"/>
                          </a:rPr>
                          <m:t>∗</m:t>
                        </m:r>
                        <m:r>
                          <a:rPr lang="en-US" sz="2000" i="1">
                            <a:latin typeface="Cambria Math"/>
                          </a:rPr>
                          <m:t>1</m:t>
                        </m:r>
                      </m:num>
                      <m:den>
                        <m:r>
                          <a:rPr lang="en-US" sz="2000" i="1">
                            <a:latin typeface="Cambria Math"/>
                          </a:rPr>
                          <m:t>1</m:t>
                        </m:r>
                        <m:r>
                          <a:rPr lang="en-US" sz="2000" i="1">
                            <a:latin typeface="Cambria Math"/>
                          </a:rPr>
                          <m:t>+</m:t>
                        </m:r>
                        <m:r>
                          <a:rPr lang="en-US" sz="2000" i="1">
                            <a:latin typeface="Cambria Math"/>
                          </a:rPr>
                          <m:t>2</m:t>
                        </m:r>
                      </m:den>
                    </m:f>
                    <m:r>
                      <a:rPr lang="en-US" sz="2000" i="1">
                        <a:latin typeface="Cambria Math"/>
                      </a:rPr>
                      <m:t>=</m:t>
                    </m:r>
                    <m:r>
                      <a:rPr lang="en-US" sz="2000" i="1" smtClean="0">
                        <a:solidFill>
                          <a:srgbClr val="FF0000"/>
                        </a:solidFill>
                        <a:latin typeface="Cambria Math"/>
                      </a:rPr>
                      <m:t>2</m:t>
                    </m:r>
                    <m:r>
                      <a:rPr lang="en-US" sz="2000" i="1" smtClean="0">
                        <a:solidFill>
                          <a:srgbClr val="FF0000"/>
                        </a:solidFill>
                        <a:latin typeface="Cambria Math"/>
                      </a:rPr>
                      <m:t>𝐴</m:t>
                    </m:r>
                  </m:oMath>
                </a14:m>
                <a:r>
                  <a:rPr lang="en-US" sz="2000" dirty="0">
                    <a:solidFill>
                      <a:srgbClr val="FF0000"/>
                    </a:solidFill>
                  </a:rPr>
                  <a:t> </a:t>
                </a:r>
                <a:endParaRPr lang="en-US" sz="2000" dirty="0"/>
              </a:p>
            </p:txBody>
          </p:sp>
        </mc:Choice>
        <mc:Fallback xmlns="">
          <p:sp>
            <p:nvSpPr>
              <p:cNvPr id="14" name="Rectangle 13">
                <a:extLst>
                  <a:ext uri="{FF2B5EF4-FFF2-40B4-BE49-F238E27FC236}">
                    <a16:creationId xmlns:a16="http://schemas.microsoft.com/office/drawing/2014/main" id="{920730C4-1BA4-41C9-B906-C62AAD2FD923}"/>
                  </a:ext>
                </a:extLst>
              </p:cNvPr>
              <p:cNvSpPr>
                <a:spLocks noRot="1" noChangeAspect="1" noMove="1" noResize="1" noEditPoints="1" noAdjustHandles="1" noChangeArrowheads="1" noChangeShapeType="1" noTextEdit="1"/>
              </p:cNvSpPr>
              <p:nvPr/>
            </p:nvSpPr>
            <p:spPr>
              <a:xfrm>
                <a:off x="1008184" y="4298984"/>
                <a:ext cx="5181601" cy="2487027"/>
              </a:xfrm>
              <a:prstGeom prst="rect">
                <a:avLst/>
              </a:prstGeom>
              <a:blipFill>
                <a:blip r:embed="rId4"/>
                <a:stretch>
                  <a:fillRect l="-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BBDBB36-208C-4556-A818-B264DC7A1AD2}"/>
                  </a:ext>
                </a:extLst>
              </p:cNvPr>
              <p:cNvSpPr/>
              <p:nvPr/>
            </p:nvSpPr>
            <p:spPr>
              <a:xfrm>
                <a:off x="4387818" y="5057044"/>
                <a:ext cx="4427046" cy="485454"/>
              </a:xfrm>
              <a:prstGeom prst="rect">
                <a:avLst/>
              </a:prstGeom>
            </p:spPr>
            <p:txBody>
              <a:bodyPr wrap="none">
                <a:spAutoFit/>
              </a:bodyPr>
              <a:lstStyle/>
              <a:p>
                <a:pPr marL="285750" indent="-285750">
                  <a:buFont typeface="Wingdings" pitchFamily="2" charset="2"/>
                  <a:buChar char="§"/>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𝑅</m:t>
                        </m:r>
                      </m:e>
                      <m:sub>
                        <m:r>
                          <a:rPr lang="en-US" i="1">
                            <a:latin typeface="Cambria Math"/>
                          </a:rPr>
                          <m:t>𝑒</m:t>
                        </m:r>
                      </m:sub>
                    </m:sSub>
                    <m:r>
                      <a:rPr lang="en-US" i="1">
                        <a:latin typeface="Cambria Math"/>
                      </a:rPr>
                      <m:t>=</m:t>
                    </m:r>
                    <m:r>
                      <a:rPr lang="en-US">
                        <a:latin typeface="Cambria Math"/>
                      </a:rPr>
                      <m:t>4</m:t>
                    </m:r>
                    <m:r>
                      <a:rPr lang="en-US">
                        <a:latin typeface="Cambria Math"/>
                      </a:rPr>
                      <m:t>+</m:t>
                    </m:r>
                    <m:r>
                      <a:rPr lang="en-US">
                        <a:latin typeface="Cambria Math"/>
                      </a:rPr>
                      <m:t>2</m:t>
                    </m:r>
                    <m:r>
                      <a:rPr lang="en-US">
                        <a:latin typeface="Cambria Math"/>
                      </a:rPr>
                      <m:t>  ⃦</m:t>
                    </m:r>
                    <m:r>
                      <a:rPr lang="en-US">
                        <a:latin typeface="Cambria Math"/>
                      </a:rPr>
                      <m:t>1</m:t>
                    </m:r>
                    <m:r>
                      <a:rPr lang="en-US" i="1">
                        <a:latin typeface="Cambria Math"/>
                      </a:rPr>
                      <m:t>=</m:t>
                    </m:r>
                    <m:r>
                      <a:rPr lang="en-US" i="1">
                        <a:latin typeface="Cambria Math"/>
                      </a:rPr>
                      <m:t>4</m:t>
                    </m:r>
                    <m:r>
                      <a:rPr lang="en-US" i="1">
                        <a:latin typeface="Cambria Math"/>
                      </a:rPr>
                      <m:t>+</m:t>
                    </m:r>
                    <m:f>
                      <m:fPr>
                        <m:ctrlPr>
                          <a:rPr lang="en-US" i="1">
                            <a:latin typeface="Cambria Math" panose="02040503050406030204" pitchFamily="18" charset="0"/>
                          </a:rPr>
                        </m:ctrlPr>
                      </m:fPr>
                      <m:num>
                        <m:r>
                          <a:rPr lang="en-US">
                            <a:latin typeface="Cambria Math"/>
                          </a:rPr>
                          <m:t>2</m:t>
                        </m:r>
                        <m:r>
                          <a:rPr lang="en-US" i="1">
                            <a:latin typeface="Cambria Math"/>
                          </a:rPr>
                          <m:t>∗</m:t>
                        </m:r>
                        <m:r>
                          <a:rPr lang="en-US">
                            <a:latin typeface="Cambria Math"/>
                          </a:rPr>
                          <m:t>1</m:t>
                        </m:r>
                      </m:num>
                      <m:den>
                        <m:r>
                          <a:rPr lang="en-US">
                            <a:latin typeface="Cambria Math"/>
                          </a:rPr>
                          <m:t>2</m:t>
                        </m:r>
                        <m:r>
                          <a:rPr lang="en-US">
                            <a:latin typeface="Cambria Math"/>
                          </a:rPr>
                          <m:t>+</m:t>
                        </m:r>
                        <m:r>
                          <a:rPr lang="en-US">
                            <a:latin typeface="Cambria Math"/>
                          </a:rPr>
                          <m:t>1</m:t>
                        </m:r>
                      </m:den>
                    </m:f>
                    <m:r>
                      <a:rPr lang="en-US" i="1">
                        <a:latin typeface="Cambria Math"/>
                      </a:rPr>
                      <m:t>= </m:t>
                    </m:r>
                    <m:r>
                      <a:rPr lang="en-US" i="1">
                        <a:latin typeface="Cambria Math"/>
                      </a:rPr>
                      <m:t>4</m:t>
                    </m:r>
                    <m:r>
                      <a:rPr lang="en-US" i="1">
                        <a:latin typeface="Cambria Math"/>
                      </a:rPr>
                      <m:t>+</m:t>
                    </m:r>
                    <m:f>
                      <m:fPr>
                        <m:ctrlPr>
                          <a:rPr lang="en-US" i="1">
                            <a:latin typeface="Cambria Math" panose="02040503050406030204" pitchFamily="18" charset="0"/>
                          </a:rPr>
                        </m:ctrlPr>
                      </m:fPr>
                      <m:num>
                        <m:r>
                          <a:rPr lang="en-US" i="1">
                            <a:latin typeface="Cambria Math"/>
                          </a:rPr>
                          <m:t>2</m:t>
                        </m:r>
                      </m:num>
                      <m:den>
                        <m:r>
                          <a:rPr lang="en-US" i="1">
                            <a:latin typeface="Cambria Math"/>
                          </a:rPr>
                          <m:t>3</m:t>
                        </m:r>
                      </m:den>
                    </m:f>
                    <m:r>
                      <a:rPr lang="en-US" i="1">
                        <a:latin typeface="Cambria Math"/>
                      </a:rPr>
                      <m:t>=</m:t>
                    </m:r>
                    <m:f>
                      <m:fPr>
                        <m:ctrlPr>
                          <a:rPr lang="en-US" i="1">
                            <a:latin typeface="Cambria Math" panose="02040503050406030204" pitchFamily="18" charset="0"/>
                          </a:rPr>
                        </m:ctrlPr>
                      </m:fPr>
                      <m:num>
                        <m:r>
                          <a:rPr lang="en-US" i="1">
                            <a:latin typeface="Cambria Math"/>
                          </a:rPr>
                          <m:t>14</m:t>
                        </m:r>
                      </m:num>
                      <m:den>
                        <m:r>
                          <a:rPr lang="en-US" i="1">
                            <a:latin typeface="Cambria Math"/>
                          </a:rPr>
                          <m:t>3</m:t>
                        </m:r>
                      </m:den>
                    </m:f>
                    <m:r>
                      <a:rPr lang="en-US" i="1">
                        <a:latin typeface="Cambria Math"/>
                      </a:rPr>
                      <m:t>𝛺</m:t>
                    </m:r>
                  </m:oMath>
                </a14:m>
                <a:endParaRPr lang="en-US" dirty="0"/>
              </a:p>
            </p:txBody>
          </p:sp>
        </mc:Choice>
        <mc:Fallback xmlns="">
          <p:sp>
            <p:nvSpPr>
              <p:cNvPr id="15" name="Rectangle 14">
                <a:extLst>
                  <a:ext uri="{FF2B5EF4-FFF2-40B4-BE49-F238E27FC236}">
                    <a16:creationId xmlns:a16="http://schemas.microsoft.com/office/drawing/2014/main" id="{9BBDBB36-208C-4556-A818-B264DC7A1AD2}"/>
                  </a:ext>
                </a:extLst>
              </p:cNvPr>
              <p:cNvSpPr>
                <a:spLocks noRot="1" noChangeAspect="1" noMove="1" noResize="1" noEditPoints="1" noAdjustHandles="1" noChangeArrowheads="1" noChangeShapeType="1" noTextEdit="1"/>
              </p:cNvSpPr>
              <p:nvPr/>
            </p:nvSpPr>
            <p:spPr>
              <a:xfrm>
                <a:off x="4387818" y="5057044"/>
                <a:ext cx="4427046" cy="485454"/>
              </a:xfrm>
              <a:prstGeom prst="rect">
                <a:avLst/>
              </a:prstGeom>
              <a:blipFill>
                <a:blip r:embed="rId5"/>
                <a:stretch>
                  <a:fillRect l="-964" b="-3797"/>
                </a:stretch>
              </a:blipFill>
            </p:spPr>
            <p:txBody>
              <a:bodyPr/>
              <a:lstStyle/>
              <a:p>
                <a:r>
                  <a:rPr lang="en-US">
                    <a:noFill/>
                  </a:rPr>
                  <a:t> </a:t>
                </a:r>
              </a:p>
            </p:txBody>
          </p:sp>
        </mc:Fallback>
      </mc:AlternateContent>
    </p:spTree>
    <p:extLst>
      <p:ext uri="{BB962C8B-B14F-4D97-AF65-F5344CB8AC3E}">
        <p14:creationId xmlns:p14="http://schemas.microsoft.com/office/powerpoint/2010/main" val="2852661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D86A0-9F36-41DA-A0B8-A3AECB4E1FF3}"/>
              </a:ext>
            </a:extLst>
          </p:cNvPr>
          <p:cNvSpPr>
            <a:spLocks noGrp="1"/>
          </p:cNvSpPr>
          <p:nvPr>
            <p:ph idx="1"/>
          </p:nvPr>
        </p:nvSpPr>
        <p:spPr>
          <a:xfrm>
            <a:off x="507999" y="904541"/>
            <a:ext cx="10162736" cy="5048918"/>
          </a:xfrm>
        </p:spPr>
        <p:txBody>
          <a:bodyPr>
            <a:normAutofit/>
          </a:bodyPr>
          <a:lstStyle/>
          <a:p>
            <a:r>
              <a:rPr lang="en-US" sz="2000" b="1" dirty="0">
                <a:solidFill>
                  <a:srgbClr val="FF0000"/>
                </a:solidFill>
              </a:rPr>
              <a:t>Step 2: only the7-volt battery is active and 28 volt battery is replaced by a short </a:t>
            </a:r>
            <a:endParaRPr lang="en-US" sz="2000" dirty="0">
              <a:solidFill>
                <a:srgbClr val="FF0000"/>
              </a:solidFill>
            </a:endParaRPr>
          </a:p>
        </p:txBody>
      </p:sp>
      <p:pic>
        <p:nvPicPr>
          <p:cNvPr id="5" name="Picture 4" descr="series parallel analysis circuit">
            <a:extLst>
              <a:ext uri="{FF2B5EF4-FFF2-40B4-BE49-F238E27FC236}">
                <a16:creationId xmlns:a16="http://schemas.microsoft.com/office/drawing/2014/main" id="{2BB5B49F-C906-4EA0-BEDD-811671C9F5D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841935" y="1685624"/>
            <a:ext cx="2885049" cy="2495550"/>
          </a:xfrm>
          <a:prstGeom prst="rect">
            <a:avLst/>
          </a:prstGeom>
          <a:noFill/>
          <a:ln>
            <a:noFill/>
          </a:ln>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4169FEF-AAEE-40B9-9C8B-4388B8E2150D}"/>
                  </a:ext>
                </a:extLst>
              </p:cNvPr>
              <p:cNvSpPr/>
              <p:nvPr/>
            </p:nvSpPr>
            <p:spPr>
              <a:xfrm>
                <a:off x="790526" y="1964159"/>
                <a:ext cx="6096000" cy="3067763"/>
              </a:xfrm>
              <a:prstGeom prst="rect">
                <a:avLst/>
              </a:prstGeom>
            </p:spPr>
            <p:txBody>
              <a:bodyPr>
                <a:spAutoFit/>
              </a:bodyPr>
              <a:lstStyle/>
              <a:p>
                <a:r>
                  <a:rPr lang="en-US" sz="2000" dirty="0"/>
                  <a:t>Current through R</a:t>
                </a:r>
                <a:r>
                  <a:rPr lang="en-US" sz="2000" baseline="-25000" dirty="0"/>
                  <a:t>2</a:t>
                </a:r>
                <a:r>
                  <a:rPr lang="en-US" sz="2000" dirty="0"/>
                  <a:t> = I</a:t>
                </a:r>
                <a:r>
                  <a:rPr lang="en-US" sz="2000" baseline="-25000" dirty="0"/>
                  <a:t>2</a:t>
                </a:r>
                <a:r>
                  <a:rPr lang="en-US" sz="2000" dirty="0"/>
                  <a:t>= </a:t>
                </a:r>
                <a14:m>
                  <m:oMath xmlns:m="http://schemas.openxmlformats.org/officeDocument/2006/math">
                    <m:f>
                      <m:fPr>
                        <m:ctrlPr>
                          <a:rPr lang="en-US" sz="2000" i="1">
                            <a:latin typeface="Cambria Math" panose="02040503050406030204" pitchFamily="18" charset="0"/>
                          </a:rPr>
                        </m:ctrlPr>
                      </m:fPr>
                      <m:num>
                        <m:r>
                          <m:rPr>
                            <m:sty m:val="p"/>
                          </m:rPr>
                          <a:rPr lang="en-US" sz="2000">
                            <a:latin typeface="Cambria Math"/>
                          </a:rPr>
                          <m:t>I</m:t>
                        </m:r>
                        <m:r>
                          <a:rPr lang="en-US" sz="2000">
                            <a:latin typeface="Cambria Math"/>
                          </a:rPr>
                          <m:t> </m:t>
                        </m:r>
                        <m:r>
                          <m:rPr>
                            <m:sty m:val="p"/>
                          </m:rPr>
                          <a:rPr lang="en-US" sz="2000">
                            <a:latin typeface="Cambria Math"/>
                          </a:rPr>
                          <m:t>x</m:t>
                        </m:r>
                        <m:r>
                          <a:rPr lang="en-US" sz="2000">
                            <a:latin typeface="Cambria Math"/>
                          </a:rPr>
                          <m:t> </m:t>
                        </m:r>
                        <m:r>
                          <m:rPr>
                            <m:sty m:val="p"/>
                          </m:rPr>
                          <a:rPr lang="en-US" sz="2000">
                            <a:latin typeface="Cambria Math"/>
                          </a:rPr>
                          <m:t>R</m:t>
                        </m:r>
                        <m:r>
                          <a:rPr lang="en-US" sz="2000">
                            <a:latin typeface="Cambria Math"/>
                          </a:rPr>
                          <m:t>1</m:t>
                        </m:r>
                      </m:num>
                      <m:den>
                        <m:r>
                          <a:rPr lang="en-US" sz="2000" i="1">
                            <a:latin typeface="Cambria Math"/>
                          </a:rPr>
                          <m:t>𝑅</m:t>
                        </m:r>
                        <m:r>
                          <a:rPr lang="en-US" sz="2000" i="1">
                            <a:latin typeface="Cambria Math"/>
                          </a:rPr>
                          <m:t>1+</m:t>
                        </m:r>
                        <m:r>
                          <a:rPr lang="en-US" sz="2000" i="1">
                            <a:latin typeface="Cambria Math"/>
                          </a:rPr>
                          <m:t>𝑅</m:t>
                        </m:r>
                        <m:r>
                          <a:rPr lang="en-US" sz="2000" i="1">
                            <a:latin typeface="Cambria Math"/>
                          </a:rPr>
                          <m:t>2</m:t>
                        </m:r>
                      </m:den>
                    </m:f>
                  </m:oMath>
                </a14:m>
                <a:endParaRPr lang="en-US" sz="2000" dirty="0"/>
              </a:p>
              <a:p>
                <a:r>
                  <a:rPr lang="en-US" sz="2000" dirty="0"/>
                  <a:t> </a:t>
                </a:r>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𝑒</m:t>
                          </m:r>
                        </m:sub>
                      </m:sSub>
                      <m:r>
                        <a:rPr lang="en-US" sz="2000" i="1">
                          <a:latin typeface="Cambria Math"/>
                        </a:rPr>
                        <m:t>=1+4  ⃦2=1+</m:t>
                      </m:r>
                      <m:f>
                        <m:fPr>
                          <m:ctrlPr>
                            <a:rPr lang="en-US" sz="2000" i="1">
                              <a:latin typeface="Cambria Math" panose="02040503050406030204" pitchFamily="18" charset="0"/>
                            </a:rPr>
                          </m:ctrlPr>
                        </m:fPr>
                        <m:num>
                          <m:r>
                            <a:rPr lang="en-US" sz="2000" i="1">
                              <a:latin typeface="Cambria Math"/>
                            </a:rPr>
                            <m:t>4∗2</m:t>
                          </m:r>
                        </m:num>
                        <m:den>
                          <m:r>
                            <a:rPr lang="en-US" sz="2000" i="1">
                              <a:latin typeface="Cambria Math"/>
                            </a:rPr>
                            <m:t>4+2</m:t>
                          </m:r>
                        </m:den>
                      </m:f>
                      <m:r>
                        <a:rPr lang="en-US" sz="2000" i="1">
                          <a:latin typeface="Cambria Math"/>
                        </a:rPr>
                        <m:t>= 1+</m:t>
                      </m:r>
                      <m:f>
                        <m:fPr>
                          <m:ctrlPr>
                            <a:rPr lang="en-US" sz="2000" i="1">
                              <a:latin typeface="Cambria Math" panose="02040503050406030204" pitchFamily="18" charset="0"/>
                            </a:rPr>
                          </m:ctrlPr>
                        </m:fPr>
                        <m:num>
                          <m:r>
                            <a:rPr lang="en-US" sz="2000" i="1">
                              <a:latin typeface="Cambria Math"/>
                            </a:rPr>
                            <m:t>8</m:t>
                          </m:r>
                        </m:num>
                        <m:den>
                          <m:r>
                            <a:rPr lang="en-US" sz="2000" i="1">
                              <a:latin typeface="Cambria Math"/>
                            </a:rPr>
                            <m:t>6</m:t>
                          </m:r>
                        </m:den>
                      </m:f>
                      <m:r>
                        <a:rPr lang="en-US" sz="2000" i="1">
                          <a:latin typeface="Cambria Math"/>
                        </a:rPr>
                        <m:t>= </m:t>
                      </m:r>
                      <m:f>
                        <m:fPr>
                          <m:ctrlPr>
                            <a:rPr lang="en-US" sz="2000" i="1">
                              <a:latin typeface="Cambria Math" panose="02040503050406030204" pitchFamily="18" charset="0"/>
                            </a:rPr>
                          </m:ctrlPr>
                        </m:fPr>
                        <m:num>
                          <m:r>
                            <a:rPr lang="en-US" sz="2000" i="1">
                              <a:latin typeface="Cambria Math"/>
                            </a:rPr>
                            <m:t>7</m:t>
                          </m:r>
                        </m:num>
                        <m:den>
                          <m:r>
                            <a:rPr lang="en-US" sz="2000" i="1">
                              <a:latin typeface="Cambria Math"/>
                            </a:rPr>
                            <m:t>3</m:t>
                          </m:r>
                        </m:den>
                      </m:f>
                      <m:r>
                        <m:rPr>
                          <m:sty m:val="p"/>
                        </m:rPr>
                        <a:rPr lang="en-US" sz="2000">
                          <a:latin typeface="Cambria Math"/>
                        </a:rPr>
                        <m:t>Ω</m:t>
                      </m:r>
                    </m:oMath>
                  </m:oMathPara>
                </a14:m>
                <a:endParaRPr lang="en-US" sz="2000" dirty="0"/>
              </a:p>
              <a:p>
                <a:endParaRPr lang="en-US" sz="2000" dirty="0"/>
              </a:p>
              <a:p>
                <a:r>
                  <a:rPr lang="en-US" sz="2000" dirty="0"/>
                  <a:t>I=</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a:rPr>
                              <m:t>𝑉</m:t>
                            </m:r>
                          </m:e>
                          <m:sub>
                            <m:r>
                              <a:rPr lang="en-US" sz="2000" i="1">
                                <a:latin typeface="Cambria Math"/>
                              </a:rPr>
                              <m:t>𝑠</m:t>
                            </m:r>
                          </m:sub>
                        </m:sSub>
                      </m:num>
                      <m:den>
                        <m:sSub>
                          <m:sSubPr>
                            <m:ctrlPr>
                              <a:rPr lang="en-US" sz="2000" i="1">
                                <a:latin typeface="Cambria Math" panose="02040503050406030204" pitchFamily="18" charset="0"/>
                              </a:rPr>
                            </m:ctrlPr>
                          </m:sSubPr>
                          <m:e>
                            <m:r>
                              <a:rPr lang="en-US" sz="2000" i="1">
                                <a:latin typeface="Cambria Math"/>
                              </a:rPr>
                              <m:t>𝑅</m:t>
                            </m:r>
                          </m:e>
                          <m:sub>
                            <m:r>
                              <a:rPr lang="en-US" sz="2000" i="1">
                                <a:latin typeface="Cambria Math"/>
                              </a:rPr>
                              <m:t>𝑒</m:t>
                            </m:r>
                          </m:sub>
                        </m:sSub>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7</m:t>
                        </m:r>
                      </m:num>
                      <m:den>
                        <m:f>
                          <m:fPr>
                            <m:ctrlPr>
                              <a:rPr lang="en-US" sz="2000" i="1">
                                <a:latin typeface="Cambria Math" panose="02040503050406030204" pitchFamily="18" charset="0"/>
                              </a:rPr>
                            </m:ctrlPr>
                          </m:fPr>
                          <m:num>
                            <m:r>
                              <a:rPr lang="en-US" sz="2000" i="1">
                                <a:latin typeface="Cambria Math"/>
                              </a:rPr>
                              <m:t>7</m:t>
                            </m:r>
                          </m:num>
                          <m:den>
                            <m:r>
                              <a:rPr lang="en-US" sz="2000" i="1">
                                <a:latin typeface="Cambria Math"/>
                              </a:rPr>
                              <m:t>3</m:t>
                            </m:r>
                          </m:den>
                        </m:f>
                      </m:den>
                    </m:f>
                    <m:r>
                      <a:rPr lang="en-US" sz="2000" i="1">
                        <a:latin typeface="Cambria Math"/>
                      </a:rPr>
                      <m:t>=3</m:t>
                    </m:r>
                    <m:r>
                      <a:rPr lang="en-US" sz="2000" i="1">
                        <a:latin typeface="Cambria Math"/>
                      </a:rPr>
                      <m:t>𝐴</m:t>
                    </m:r>
                  </m:oMath>
                </a14:m>
                <a:endParaRPr lang="en-US" sz="2000" dirty="0"/>
              </a:p>
              <a:p>
                <a:endParaRPr lang="en-US" sz="2000" dirty="0"/>
              </a:p>
              <a:p>
                <a:r>
                  <a:rPr lang="en-US" sz="2000" dirty="0"/>
                  <a:t>Current through R</a:t>
                </a:r>
                <a:r>
                  <a:rPr lang="en-US" sz="2000" baseline="-25000" dirty="0"/>
                  <a:t>2</a:t>
                </a:r>
                <a:r>
                  <a:rPr lang="en-US" sz="2000" dirty="0"/>
                  <a:t>= </a:t>
                </a:r>
                <a14:m>
                  <m:oMath xmlns:m="http://schemas.openxmlformats.org/officeDocument/2006/math">
                    <m:f>
                      <m:fPr>
                        <m:ctrlPr>
                          <a:rPr lang="en-US" sz="2000" i="1">
                            <a:latin typeface="Cambria Math" panose="02040503050406030204" pitchFamily="18" charset="0"/>
                          </a:rPr>
                        </m:ctrlPr>
                      </m:fPr>
                      <m:num>
                        <m:r>
                          <m:rPr>
                            <m:sty m:val="p"/>
                          </m:rPr>
                          <a:rPr lang="en-US" sz="2000">
                            <a:latin typeface="Cambria Math"/>
                          </a:rPr>
                          <m:t>I</m:t>
                        </m:r>
                        <m:r>
                          <a:rPr lang="en-US" sz="2000">
                            <a:latin typeface="Cambria Math"/>
                          </a:rPr>
                          <m:t> </m:t>
                        </m:r>
                        <m:r>
                          <m:rPr>
                            <m:sty m:val="p"/>
                          </m:rPr>
                          <a:rPr lang="en-US" sz="2000">
                            <a:latin typeface="Cambria Math"/>
                          </a:rPr>
                          <m:t>x</m:t>
                        </m:r>
                        <m:r>
                          <a:rPr lang="en-US" sz="2000">
                            <a:latin typeface="Cambria Math"/>
                          </a:rPr>
                          <m:t> </m:t>
                        </m:r>
                        <m:r>
                          <m:rPr>
                            <m:sty m:val="p"/>
                          </m:rPr>
                          <a:rPr lang="en-US" sz="2000">
                            <a:latin typeface="Cambria Math"/>
                          </a:rPr>
                          <m:t>R</m:t>
                        </m:r>
                        <m:r>
                          <a:rPr lang="en-US" sz="2000">
                            <a:latin typeface="Cambria Math"/>
                          </a:rPr>
                          <m:t>1</m:t>
                        </m:r>
                      </m:num>
                      <m:den>
                        <m:r>
                          <a:rPr lang="en-US" sz="2000" i="1">
                            <a:latin typeface="Cambria Math"/>
                          </a:rPr>
                          <m:t>𝑅</m:t>
                        </m:r>
                        <m:r>
                          <a:rPr lang="en-US" sz="2000" i="1">
                            <a:latin typeface="Cambria Math"/>
                          </a:rPr>
                          <m:t>1+</m:t>
                        </m:r>
                        <m:r>
                          <a:rPr lang="en-US" sz="2000" i="1">
                            <a:latin typeface="Cambria Math"/>
                          </a:rPr>
                          <m:t>𝑅</m:t>
                        </m:r>
                        <m:r>
                          <a:rPr lang="en-US" sz="2000" i="1">
                            <a:latin typeface="Cambria Math"/>
                          </a:rPr>
                          <m:t>2</m:t>
                        </m:r>
                      </m:den>
                    </m:f>
                  </m:oMath>
                </a14:m>
                <a:r>
                  <a:rPr lang="en-US" sz="2000" dirty="0"/>
                  <a:t> = </a:t>
                </a:r>
                <a14:m>
                  <m:oMath xmlns:m="http://schemas.openxmlformats.org/officeDocument/2006/math">
                    <m:f>
                      <m:fPr>
                        <m:ctrlPr>
                          <a:rPr lang="en-US" sz="2000" i="1">
                            <a:latin typeface="Cambria Math" panose="02040503050406030204" pitchFamily="18" charset="0"/>
                          </a:rPr>
                        </m:ctrlPr>
                      </m:fPr>
                      <m:num>
                        <m:r>
                          <a:rPr lang="en-US" sz="2000">
                            <a:latin typeface="Cambria Math"/>
                          </a:rPr>
                          <m:t>3</m:t>
                        </m:r>
                        <m:r>
                          <a:rPr lang="en-US" sz="2000" i="1">
                            <a:latin typeface="Cambria Math"/>
                          </a:rPr>
                          <m:t>∗4</m:t>
                        </m:r>
                      </m:num>
                      <m:den>
                        <m:r>
                          <a:rPr lang="en-US" sz="2000" i="1">
                            <a:latin typeface="Cambria Math"/>
                          </a:rPr>
                          <m:t>4+2</m:t>
                        </m:r>
                      </m:den>
                    </m:f>
                    <m:r>
                      <a:rPr lang="en-US" sz="2000" i="1">
                        <a:latin typeface="Cambria Math"/>
                      </a:rPr>
                      <m:t>=</m:t>
                    </m:r>
                    <m:r>
                      <a:rPr lang="en-US" sz="2000" i="1" smtClean="0">
                        <a:solidFill>
                          <a:srgbClr val="FF0000"/>
                        </a:solidFill>
                        <a:latin typeface="Cambria Math"/>
                      </a:rPr>
                      <m:t>2</m:t>
                    </m:r>
                    <m:r>
                      <a:rPr lang="en-US" sz="2000" i="1" smtClean="0">
                        <a:solidFill>
                          <a:srgbClr val="FF0000"/>
                        </a:solidFill>
                        <a:latin typeface="Cambria Math"/>
                      </a:rPr>
                      <m:t>𝐴</m:t>
                    </m:r>
                  </m:oMath>
                </a14:m>
                <a:r>
                  <a:rPr lang="en-US" sz="2000" dirty="0">
                    <a:solidFill>
                      <a:srgbClr val="FF0000"/>
                    </a:solidFill>
                  </a:rPr>
                  <a:t> </a:t>
                </a:r>
                <a:endParaRPr lang="en-US" sz="2000" dirty="0"/>
              </a:p>
            </p:txBody>
          </p:sp>
        </mc:Choice>
        <mc:Fallback xmlns="">
          <p:sp>
            <p:nvSpPr>
              <p:cNvPr id="6" name="Rectangle 5">
                <a:extLst>
                  <a:ext uri="{FF2B5EF4-FFF2-40B4-BE49-F238E27FC236}">
                    <a16:creationId xmlns:a16="http://schemas.microsoft.com/office/drawing/2014/main" id="{E4169FEF-AAEE-40B9-9C8B-4388B8E2150D}"/>
                  </a:ext>
                </a:extLst>
              </p:cNvPr>
              <p:cNvSpPr>
                <a:spLocks noRot="1" noChangeAspect="1" noMove="1" noResize="1" noEditPoints="1" noAdjustHandles="1" noChangeArrowheads="1" noChangeShapeType="1" noTextEdit="1"/>
              </p:cNvSpPr>
              <p:nvPr/>
            </p:nvSpPr>
            <p:spPr>
              <a:xfrm>
                <a:off x="790526" y="1964159"/>
                <a:ext cx="6096000" cy="3067763"/>
              </a:xfrm>
              <a:prstGeom prst="rect">
                <a:avLst/>
              </a:prstGeom>
              <a:blipFill>
                <a:blip r:embed="rId3"/>
                <a:stretch>
                  <a:fillRect l="-11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6F852DC-CE9D-4864-98BD-885D58A26E62}"/>
                  </a:ext>
                </a:extLst>
              </p:cNvPr>
              <p:cNvSpPr/>
              <p:nvPr/>
            </p:nvSpPr>
            <p:spPr>
              <a:xfrm>
                <a:off x="508000" y="5126833"/>
                <a:ext cx="10515600" cy="707886"/>
              </a:xfrm>
              <a:prstGeom prst="rect">
                <a:avLst/>
              </a:prstGeom>
            </p:spPr>
            <p:txBody>
              <a:bodyPr wrap="square">
                <a:spAutoFit/>
              </a:bodyPr>
              <a:lstStyle/>
              <a:p>
                <a:r>
                  <a:rPr lang="en-US" sz="2000" dirty="0">
                    <a:solidFill>
                      <a:srgbClr val="FF0000"/>
                    </a:solidFill>
                  </a:rPr>
                  <a:t>Hence the total current through R</a:t>
                </a:r>
                <a:r>
                  <a:rPr lang="en-US" sz="2000" baseline="-25000" dirty="0">
                    <a:solidFill>
                      <a:srgbClr val="FF0000"/>
                    </a:solidFill>
                  </a:rPr>
                  <a:t>2</a:t>
                </a:r>
                <a:r>
                  <a:rPr lang="en-US" sz="2000" dirty="0">
                    <a:solidFill>
                      <a:srgbClr val="FF0000"/>
                    </a:solidFill>
                  </a:rPr>
                  <a:t> is 2+2=4A and </a:t>
                </a:r>
              </a:p>
              <a:p>
                <a:r>
                  <a:rPr lang="en-US" sz="2000" dirty="0">
                    <a:solidFill>
                      <a:srgbClr val="FF0000"/>
                    </a:solidFill>
                  </a:rPr>
                  <a:t>Voltage drop across R</a:t>
                </a:r>
                <a:r>
                  <a:rPr lang="en-US" sz="2000" baseline="-25000" dirty="0">
                    <a:solidFill>
                      <a:srgbClr val="FF0000"/>
                    </a:solidFill>
                  </a:rPr>
                  <a:t>2</a:t>
                </a:r>
                <a:r>
                  <a:rPr lang="en-US" sz="2000" dirty="0">
                    <a:solidFill>
                      <a:srgbClr val="FF0000"/>
                    </a:solidFill>
                  </a:rPr>
                  <a:t> = current through R</a:t>
                </a:r>
                <a:r>
                  <a:rPr lang="en-US" sz="2000" baseline="-25000" dirty="0">
                    <a:solidFill>
                      <a:srgbClr val="FF0000"/>
                    </a:solidFill>
                  </a:rPr>
                  <a:t>2</a:t>
                </a:r>
                <a:r>
                  <a:rPr lang="en-US" sz="2000" dirty="0">
                    <a:solidFill>
                      <a:srgbClr val="FF0000"/>
                    </a:solidFill>
                  </a:rPr>
                  <a:t>  </a:t>
                </a:r>
                <a14:m>
                  <m:oMath xmlns:m="http://schemas.openxmlformats.org/officeDocument/2006/math">
                    <m:r>
                      <a:rPr lang="en-US" sz="2000" i="1">
                        <a:solidFill>
                          <a:srgbClr val="FF0000"/>
                        </a:solidFill>
                        <a:latin typeface="Cambria Math"/>
                      </a:rPr>
                      <m:t>∗</m:t>
                    </m:r>
                  </m:oMath>
                </a14:m>
                <a:r>
                  <a:rPr lang="en-US" sz="2000" dirty="0">
                    <a:solidFill>
                      <a:srgbClr val="FF0000"/>
                    </a:solidFill>
                  </a:rPr>
                  <a:t>  R</a:t>
                </a:r>
                <a:r>
                  <a:rPr lang="en-US" sz="2000" baseline="-25000" dirty="0">
                    <a:solidFill>
                      <a:srgbClr val="FF0000"/>
                    </a:solidFill>
                  </a:rPr>
                  <a:t>2</a:t>
                </a:r>
                <a:r>
                  <a:rPr lang="en-US" sz="2000" dirty="0">
                    <a:solidFill>
                      <a:srgbClr val="FF0000"/>
                    </a:solidFill>
                  </a:rPr>
                  <a:t> =  4</a:t>
                </a:r>
                <a14:m>
                  <m:oMath xmlns:m="http://schemas.openxmlformats.org/officeDocument/2006/math">
                    <m:r>
                      <a:rPr lang="en-US" sz="2000" i="1">
                        <a:solidFill>
                          <a:srgbClr val="FF0000"/>
                        </a:solidFill>
                        <a:latin typeface="Cambria Math"/>
                      </a:rPr>
                      <m:t> ∗2=</m:t>
                    </m:r>
                  </m:oMath>
                </a14:m>
                <a:r>
                  <a:rPr lang="en-US" sz="2000" dirty="0">
                    <a:solidFill>
                      <a:srgbClr val="FF0000"/>
                    </a:solidFill>
                  </a:rPr>
                  <a:t> 8V</a:t>
                </a:r>
              </a:p>
            </p:txBody>
          </p:sp>
        </mc:Choice>
        <mc:Fallback xmlns="">
          <p:sp>
            <p:nvSpPr>
              <p:cNvPr id="7" name="Rectangle 6">
                <a:extLst>
                  <a:ext uri="{FF2B5EF4-FFF2-40B4-BE49-F238E27FC236}">
                    <a16:creationId xmlns:a16="http://schemas.microsoft.com/office/drawing/2014/main" id="{16F852DC-CE9D-4864-98BD-885D58A26E62}"/>
                  </a:ext>
                </a:extLst>
              </p:cNvPr>
              <p:cNvSpPr>
                <a:spLocks noRot="1" noChangeAspect="1" noMove="1" noResize="1" noEditPoints="1" noAdjustHandles="1" noChangeArrowheads="1" noChangeShapeType="1" noTextEdit="1"/>
              </p:cNvSpPr>
              <p:nvPr/>
            </p:nvSpPr>
            <p:spPr>
              <a:xfrm>
                <a:off x="508000" y="5126833"/>
                <a:ext cx="10515600" cy="707886"/>
              </a:xfrm>
              <a:prstGeom prst="rect">
                <a:avLst/>
              </a:prstGeom>
              <a:blipFill>
                <a:blip r:embed="rId4"/>
                <a:stretch>
                  <a:fillRect l="-580" t="-4310" b="-14655"/>
                </a:stretch>
              </a:blipFill>
            </p:spPr>
            <p:txBody>
              <a:bodyPr/>
              <a:lstStyle/>
              <a:p>
                <a:r>
                  <a:rPr lang="en-US">
                    <a:noFill/>
                  </a:rPr>
                  <a:t> </a:t>
                </a:r>
              </a:p>
            </p:txBody>
          </p:sp>
        </mc:Fallback>
      </mc:AlternateContent>
    </p:spTree>
    <p:extLst>
      <p:ext uri="{BB962C8B-B14F-4D97-AF65-F5344CB8AC3E}">
        <p14:creationId xmlns:p14="http://schemas.microsoft.com/office/powerpoint/2010/main" val="920775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DF6DB8-8B14-49D7-9D26-4E356BF56E43}"/>
              </a:ext>
            </a:extLst>
          </p:cNvPr>
          <p:cNvSpPr>
            <a:spLocks noChangeArrowheads="1"/>
          </p:cNvSpPr>
          <p:nvPr/>
        </p:nvSpPr>
        <p:spPr bwMode="auto">
          <a:xfrm>
            <a:off x="-1" y="59859"/>
            <a:ext cx="9237133"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cs typeface="Arial" panose="020B0604020202020204" pitchFamily="34" charset="0"/>
              </a:rPr>
              <a:t>Example1: </a:t>
            </a:r>
            <a:r>
              <a:rPr kumimoji="0" lang="en-US" altLang="en-US" sz="1600" b="0" i="0" u="none" strike="noStrike" cap="none" normalizeH="0" baseline="0" dirty="0">
                <a:ln>
                  <a:noFill/>
                </a:ln>
                <a:effectLst/>
                <a:cs typeface="Arial" panose="020B0604020202020204" pitchFamily="34" charset="0"/>
              </a:rPr>
              <a:t>Determine the current in each branch of the network using superposition theorem</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cs typeface="Arial" panose="020B0604020202020204" pitchFamily="34" charset="0"/>
              </a:rPr>
              <a:t>  </a:t>
            </a:r>
          </a:p>
        </p:txBody>
      </p:sp>
      <p:pic>
        <p:nvPicPr>
          <p:cNvPr id="1026" name="Picture 2" descr="sol1">
            <a:extLst>
              <a:ext uri="{FF2B5EF4-FFF2-40B4-BE49-F238E27FC236}">
                <a16:creationId xmlns:a16="http://schemas.microsoft.com/office/drawing/2014/main" id="{5582B2B5-69B1-4ECC-9A1E-F96A79C12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4165" y="1583426"/>
            <a:ext cx="6368520" cy="338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701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x2">
            <a:extLst>
              <a:ext uri="{FF2B5EF4-FFF2-40B4-BE49-F238E27FC236}">
                <a16:creationId xmlns:a16="http://schemas.microsoft.com/office/drawing/2014/main" id="{D5C63D2D-E4D0-4F95-ADB7-6DC30AF03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569" y="2337329"/>
            <a:ext cx="5020705" cy="29260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26F2706-2A94-43B2-8EEE-E5F81642413B}"/>
              </a:ext>
            </a:extLst>
          </p:cNvPr>
          <p:cNvSpPr>
            <a:spLocks noChangeArrowheads="1"/>
          </p:cNvSpPr>
          <p:nvPr/>
        </p:nvSpPr>
        <p:spPr bwMode="auto">
          <a:xfrm>
            <a:off x="-1" y="59859"/>
            <a:ext cx="9237133"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cs typeface="Arial" panose="020B0604020202020204" pitchFamily="34" charset="0"/>
              </a:rPr>
              <a:t>Example 2: </a:t>
            </a:r>
            <a:r>
              <a:rPr kumimoji="0" lang="en-US" altLang="en-US" sz="1600" b="0" i="0" u="none" strike="noStrike" cap="none" normalizeH="0" baseline="0" dirty="0">
                <a:ln>
                  <a:noFill/>
                </a:ln>
                <a:effectLst/>
                <a:cs typeface="Arial" panose="020B0604020202020204" pitchFamily="34" charset="0"/>
              </a:rPr>
              <a:t>Determine the current in each branch of the network using superposition theorem</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cs typeface="Arial" panose="020B0604020202020204" pitchFamily="34" charset="0"/>
              </a:rPr>
              <a:t>  </a:t>
            </a:r>
          </a:p>
        </p:txBody>
      </p:sp>
    </p:spTree>
    <p:extLst>
      <p:ext uri="{BB962C8B-B14F-4D97-AF65-F5344CB8AC3E}">
        <p14:creationId xmlns:p14="http://schemas.microsoft.com/office/powerpoint/2010/main" val="381385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1945</TotalTime>
  <Words>866</Words>
  <Application>Microsoft Office PowerPoint</Application>
  <PresentationFormat>Widescreen</PresentationFormat>
  <Paragraphs>89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Cambria Math</vt:lpstr>
      <vt:lpstr>Times New Roman</vt:lpstr>
      <vt:lpstr>Wingdings</vt:lpstr>
      <vt:lpstr>Office Theme</vt:lpstr>
      <vt:lpstr>PowerPoint Presentation</vt:lpstr>
      <vt:lpstr> Superposition theorem</vt:lpstr>
      <vt:lpstr>PowerPoint Presentation</vt:lpstr>
      <vt:lpstr>PowerPoint Presentation</vt:lpstr>
      <vt:lpstr>Problem-1</vt:lpstr>
      <vt:lpstr>PowerPoint Presentation</vt:lpstr>
      <vt:lpstr>Problem-2</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63</cp:revision>
  <dcterms:created xsi:type="dcterms:W3CDTF">2025-11-09T11:10:23Z</dcterms:created>
  <dcterms:modified xsi:type="dcterms:W3CDTF">2025-11-30T05:21:38Z</dcterms:modified>
</cp:coreProperties>
</file>