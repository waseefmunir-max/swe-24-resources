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 id="260" r:id="rId6"/>
    <p:sldId id="266" r:id="rId7"/>
    <p:sldId id="267"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88" d="100"/>
          <a:sy n="88" d="100"/>
        </p:scale>
        <p:origin x="36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07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40305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07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819416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BAEDE8-9AB4-430C-A231-8E2C4AC7B642}" type="datetimeFigureOut">
              <a:rPr lang="en-US" smtClean="0"/>
              <a:t>07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32052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BAEDE8-9AB4-430C-A231-8E2C4AC7B642}" type="datetimeFigureOut">
              <a:rPr lang="en-US" smtClean="0"/>
              <a:t>07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263010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BAEDE8-9AB4-430C-A231-8E2C4AC7B642}" type="datetimeFigureOut">
              <a:rPr lang="en-US" smtClean="0"/>
              <a:t>07 Jan, 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129183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BAEDE8-9AB4-430C-A231-8E2C4AC7B642}" type="datetimeFigureOut">
              <a:rPr lang="en-US" smtClean="0"/>
              <a:t>07 Jan, 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98106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AEDE8-9AB4-430C-A231-8E2C4AC7B642}" type="datetimeFigureOut">
              <a:rPr lang="en-US" smtClean="0"/>
              <a:t>07 Jan, 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485361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07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61407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BAEDE8-9AB4-430C-A231-8E2C4AC7B642}" type="datetimeFigureOut">
              <a:rPr lang="en-US" smtClean="0"/>
              <a:t>07 Jan, 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34294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07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3756333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BAEDE8-9AB4-430C-A231-8E2C4AC7B642}" type="datetimeFigureOut">
              <a:rPr lang="en-US" smtClean="0"/>
              <a:t>07 Jan, 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FC4E71-2CDE-4B22-8493-9E3047F9A8AB}" type="slidenum">
              <a:rPr lang="en-US" smtClean="0"/>
              <a:t>‹#›</a:t>
            </a:fld>
            <a:endParaRPr lang="en-US"/>
          </a:p>
        </p:txBody>
      </p:sp>
    </p:spTree>
    <p:extLst>
      <p:ext uri="{BB962C8B-B14F-4D97-AF65-F5344CB8AC3E}">
        <p14:creationId xmlns:p14="http://schemas.microsoft.com/office/powerpoint/2010/main" val="858458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AEDE8-9AB4-430C-A231-8E2C4AC7B642}" type="datetimeFigureOut">
              <a:rPr lang="en-US" smtClean="0"/>
              <a:t>07 Jan, 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FC4E71-2CDE-4B22-8493-9E3047F9A8AB}" type="slidenum">
              <a:rPr lang="en-US" smtClean="0"/>
              <a:t>‹#›</a:t>
            </a:fld>
            <a:endParaRPr lang="en-US"/>
          </a:p>
        </p:txBody>
      </p:sp>
    </p:spTree>
    <p:extLst>
      <p:ext uri="{BB962C8B-B14F-4D97-AF65-F5344CB8AC3E}">
        <p14:creationId xmlns:p14="http://schemas.microsoft.com/office/powerpoint/2010/main" val="2138059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83055" y="537874"/>
            <a:ext cx="2143125" cy="2143125"/>
          </a:xfrm>
          <a:prstGeom prst="rect">
            <a:avLst/>
          </a:prstGeom>
        </p:spPr>
      </p:pic>
      <p:sp>
        <p:nvSpPr>
          <p:cNvPr id="3" name="TextBox 2"/>
          <p:cNvSpPr txBox="1"/>
          <p:nvPr/>
        </p:nvSpPr>
        <p:spPr>
          <a:xfrm>
            <a:off x="2196468" y="2844799"/>
            <a:ext cx="8168519" cy="830997"/>
          </a:xfrm>
          <a:prstGeom prst="rect">
            <a:avLst/>
          </a:prstGeom>
          <a:noFill/>
        </p:spPr>
        <p:txBody>
          <a:bodyPr wrap="none" rtlCol="0">
            <a:spAutoFit/>
          </a:bodyPr>
          <a:lstStyle/>
          <a:p>
            <a:pPr algn="ctr"/>
            <a:r>
              <a:rPr lang="en-US" sz="4800" dirty="0" smtClean="0"/>
              <a:t>Islamic University of Technology</a:t>
            </a:r>
            <a:endParaRPr lang="en-US" sz="4800" dirty="0"/>
          </a:p>
        </p:txBody>
      </p:sp>
      <p:sp>
        <p:nvSpPr>
          <p:cNvPr id="4" name="TextBox 3"/>
          <p:cNvSpPr txBox="1"/>
          <p:nvPr/>
        </p:nvSpPr>
        <p:spPr>
          <a:xfrm>
            <a:off x="3682259" y="4008582"/>
            <a:ext cx="4832798" cy="1569660"/>
          </a:xfrm>
          <a:prstGeom prst="rect">
            <a:avLst/>
          </a:prstGeom>
          <a:solidFill>
            <a:schemeClr val="bg2">
              <a:lumMod val="90000"/>
            </a:schemeClr>
          </a:solidFill>
        </p:spPr>
        <p:txBody>
          <a:bodyPr wrap="none" rtlCol="0">
            <a:spAutoFit/>
          </a:bodyPr>
          <a:lstStyle/>
          <a:p>
            <a:pPr algn="ctr"/>
            <a:r>
              <a:rPr lang="en-US" sz="2400" dirty="0" smtClean="0"/>
              <a:t>Course no:  </a:t>
            </a:r>
            <a:r>
              <a:rPr lang="en-US" sz="2400" dirty="0" err="1" smtClean="0"/>
              <a:t>Phy</a:t>
            </a:r>
            <a:r>
              <a:rPr lang="en-US" sz="2400" dirty="0" smtClean="0"/>
              <a:t> 4143</a:t>
            </a:r>
          </a:p>
          <a:p>
            <a:pPr algn="ctr"/>
            <a:r>
              <a:rPr lang="en-US" sz="2400" dirty="0" smtClean="0"/>
              <a:t>Course Title: Physics II</a:t>
            </a:r>
          </a:p>
          <a:p>
            <a:pPr algn="ctr"/>
            <a:r>
              <a:rPr lang="en-US" sz="2400" dirty="0" smtClean="0"/>
              <a:t>Course Teacher : </a:t>
            </a:r>
            <a:r>
              <a:rPr lang="en-US" sz="2400" dirty="0" err="1" smtClean="0"/>
              <a:t>Dr</a:t>
            </a:r>
            <a:r>
              <a:rPr lang="en-US" sz="2400" dirty="0" smtClean="0"/>
              <a:t> Md. </a:t>
            </a:r>
            <a:r>
              <a:rPr lang="en-US" sz="2400" dirty="0" err="1" smtClean="0"/>
              <a:t>Sahab</a:t>
            </a:r>
            <a:r>
              <a:rPr lang="en-US" sz="2400" dirty="0" smtClean="0"/>
              <a:t> Uddin</a:t>
            </a:r>
          </a:p>
          <a:p>
            <a:pPr algn="ctr"/>
            <a:r>
              <a:rPr lang="en-US" sz="2400" dirty="0" smtClean="0"/>
              <a:t>Professor</a:t>
            </a:r>
            <a:endParaRPr lang="en-US" sz="2400" dirty="0"/>
          </a:p>
        </p:txBody>
      </p:sp>
    </p:spTree>
    <p:extLst>
      <p:ext uri="{BB962C8B-B14F-4D97-AF65-F5344CB8AC3E}">
        <p14:creationId xmlns:p14="http://schemas.microsoft.com/office/powerpoint/2010/main" val="3333633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2762" y="131679"/>
            <a:ext cx="6600205" cy="461665"/>
          </a:xfrm>
          <a:prstGeom prst="rect">
            <a:avLst/>
          </a:prstGeom>
          <a:solidFill>
            <a:srgbClr val="FFFF00"/>
          </a:solidFill>
        </p:spPr>
        <p:txBody>
          <a:bodyPr wrap="none">
            <a:spAutoFit/>
          </a:bodyPr>
          <a:lstStyle/>
          <a:p>
            <a:r>
              <a:rPr lang="fr-FR" sz="2400" b="1" dirty="0"/>
              <a:t>Voltage source, </a:t>
            </a:r>
            <a:r>
              <a:rPr lang="fr-FR" sz="2400" b="1" dirty="0" err="1"/>
              <a:t>current</a:t>
            </a:r>
            <a:r>
              <a:rPr lang="fr-FR" sz="2400" b="1" dirty="0"/>
              <a:t> source and transformation</a:t>
            </a:r>
            <a:endParaRPr lang="en-US" sz="2400" b="1" dirty="0"/>
          </a:p>
        </p:txBody>
      </p:sp>
      <p:sp>
        <p:nvSpPr>
          <p:cNvPr id="3" name="Rectangle 2"/>
          <p:cNvSpPr/>
          <p:nvPr/>
        </p:nvSpPr>
        <p:spPr>
          <a:xfrm>
            <a:off x="360217" y="817846"/>
            <a:ext cx="5190837" cy="1477328"/>
          </a:xfrm>
          <a:prstGeom prst="rect">
            <a:avLst/>
          </a:prstGeom>
        </p:spPr>
        <p:txBody>
          <a:bodyPr wrap="square">
            <a:spAutoFit/>
          </a:bodyPr>
          <a:lstStyle/>
          <a:p>
            <a:pPr algn="just"/>
            <a:r>
              <a:rPr lang="en-US" b="1" dirty="0"/>
              <a:t>A Source is a device which converts mechanical, chemical, thermal or some other form of energy into electrical energy. In other words, the source is an active network element meant for generating electrical energy.</a:t>
            </a:r>
          </a:p>
        </p:txBody>
      </p:sp>
      <p:sp>
        <p:nvSpPr>
          <p:cNvPr id="4" name="Right Arrow 3"/>
          <p:cNvSpPr/>
          <p:nvPr/>
        </p:nvSpPr>
        <p:spPr>
          <a:xfrm>
            <a:off x="5911273" y="1138381"/>
            <a:ext cx="49876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645563" y="670266"/>
            <a:ext cx="2664692" cy="1084015"/>
          </a:xfrm>
          <a:prstGeom prst="rect">
            <a:avLst/>
          </a:prstGeom>
        </p:spPr>
        <p:txBody>
          <a:bodyPr wrap="square">
            <a:spAutoFit/>
          </a:bodyPr>
          <a:lstStyle/>
          <a:p>
            <a:pPr algn="just">
              <a:lnSpc>
                <a:spcPct val="107000"/>
              </a:lnSpc>
              <a:spcAft>
                <a:spcPts val="800"/>
              </a:spcAft>
            </a:pPr>
            <a:r>
              <a:rPr lang="en-US" kern="1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b="1" kern="100" dirty="0">
                <a:solidFill>
                  <a:srgbClr val="FF0000"/>
                </a:solidFill>
                <a:latin typeface="Arial" panose="020B0604020202020204" pitchFamily="34" charset="0"/>
                <a:ea typeface="Calibri" panose="020F0502020204030204" pitchFamily="34" charset="0"/>
                <a:cs typeface="Arial" panose="020B0604020202020204" pitchFamily="34" charset="0"/>
              </a:rPr>
              <a:t>Voltage Source</a:t>
            </a:r>
            <a:endParaRPr lang="en-US" kern="100" dirty="0">
              <a:solidFill>
                <a:srgbClr val="FF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ct val="107000"/>
              </a:lnSpc>
              <a:spcBef>
                <a:spcPts val="0"/>
              </a:spcBef>
              <a:spcAft>
                <a:spcPts val="800"/>
              </a:spcAft>
              <a:buFont typeface="Wingdings" panose="05000000000000000000" pitchFamily="2" charset="2"/>
              <a:buChar char=""/>
            </a:pPr>
            <a:r>
              <a:rPr lang="en-US" b="1" kern="100" dirty="0">
                <a:solidFill>
                  <a:srgbClr val="00B050"/>
                </a:solidFill>
                <a:latin typeface="Arial" panose="020B0604020202020204" pitchFamily="34" charset="0"/>
                <a:ea typeface="Calibri" panose="020F0502020204030204" pitchFamily="34" charset="0"/>
                <a:cs typeface="Arial" panose="020B0604020202020204" pitchFamily="34" charset="0"/>
              </a:rPr>
              <a:t>Current Source</a:t>
            </a:r>
            <a:endParaRPr lang="en-US" kern="100" dirty="0">
              <a:solidFill>
                <a:srgbClr val="00B05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1" name="Rectangle 10"/>
          <p:cNvSpPr/>
          <p:nvPr/>
        </p:nvSpPr>
        <p:spPr>
          <a:xfrm>
            <a:off x="596964" y="2856068"/>
            <a:ext cx="9313654" cy="923330"/>
          </a:xfrm>
          <a:prstGeom prst="rect">
            <a:avLst/>
          </a:prstGeom>
        </p:spPr>
        <p:txBody>
          <a:bodyPr wrap="square">
            <a:spAutoFit/>
          </a:bodyPr>
          <a:lstStyle/>
          <a:p>
            <a:pPr algn="just"/>
            <a:r>
              <a:rPr lang="en-US" b="1" dirty="0">
                <a:solidFill>
                  <a:srgbClr val="FF0000"/>
                </a:solidFill>
              </a:rPr>
              <a:t>Voltage source: </a:t>
            </a:r>
            <a:r>
              <a:rPr lang="en-US" b="1" dirty="0"/>
              <a:t>A voltage source is a two-terminal device whose voltage at any instant of time is constant and is independent of the current drawn from it. Such a voltage source is called an Ideal Voltage Source and have zero internal resistance.</a:t>
            </a:r>
          </a:p>
        </p:txBody>
      </p:sp>
      <p:sp>
        <p:nvSpPr>
          <p:cNvPr id="12" name="Right Arrow 11"/>
          <p:cNvSpPr/>
          <p:nvPr/>
        </p:nvSpPr>
        <p:spPr>
          <a:xfrm>
            <a:off x="-498763" y="3315777"/>
            <a:ext cx="49876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2"/>
          <a:stretch>
            <a:fillRect/>
          </a:stretch>
        </p:blipFill>
        <p:spPr>
          <a:xfrm>
            <a:off x="9409505" y="275880"/>
            <a:ext cx="2609314" cy="2651990"/>
          </a:xfrm>
          <a:prstGeom prst="rect">
            <a:avLst/>
          </a:prstGeom>
        </p:spPr>
      </p:pic>
      <p:pic>
        <p:nvPicPr>
          <p:cNvPr id="14" name="Picture 13"/>
          <p:cNvPicPr>
            <a:picLocks noChangeAspect="1"/>
          </p:cNvPicPr>
          <p:nvPr/>
        </p:nvPicPr>
        <p:blipFill>
          <a:blip r:embed="rId3"/>
          <a:stretch>
            <a:fillRect/>
          </a:stretch>
        </p:blipFill>
        <p:spPr>
          <a:xfrm>
            <a:off x="500190" y="4125021"/>
            <a:ext cx="4114801" cy="2743200"/>
          </a:xfrm>
          <a:prstGeom prst="rect">
            <a:avLst/>
          </a:prstGeom>
        </p:spPr>
      </p:pic>
      <p:pic>
        <p:nvPicPr>
          <p:cNvPr id="15" name="Picture 14"/>
          <p:cNvPicPr>
            <a:picLocks noChangeAspect="1"/>
          </p:cNvPicPr>
          <p:nvPr/>
        </p:nvPicPr>
        <p:blipFill>
          <a:blip r:embed="rId4"/>
          <a:stretch>
            <a:fillRect/>
          </a:stretch>
        </p:blipFill>
        <p:spPr>
          <a:xfrm>
            <a:off x="7065817" y="4114800"/>
            <a:ext cx="4230949" cy="2743200"/>
          </a:xfrm>
          <a:prstGeom prst="rect">
            <a:avLst/>
          </a:prstGeom>
        </p:spPr>
      </p:pic>
      <p:sp>
        <p:nvSpPr>
          <p:cNvPr id="16" name="Rectangle 15"/>
          <p:cNvSpPr/>
          <p:nvPr/>
        </p:nvSpPr>
        <p:spPr>
          <a:xfrm>
            <a:off x="2498435" y="3815417"/>
            <a:ext cx="7324437" cy="619208"/>
          </a:xfrm>
          <a:prstGeom prst="rect">
            <a:avLst/>
          </a:prstGeom>
        </p:spPr>
        <p:txBody>
          <a:bodyPr wrap="square">
            <a:spAutoFit/>
          </a:bodyPr>
          <a:lstStyle/>
          <a:p>
            <a:pPr fontAlgn="base">
              <a:lnSpc>
                <a:spcPct val="107000"/>
              </a:lnSpc>
              <a:spcBef>
                <a:spcPts val="960"/>
              </a:spcBef>
              <a:spcAft>
                <a:spcPts val="1440"/>
              </a:spcAft>
            </a:pPr>
            <a:r>
              <a:rPr lang="en-US" b="1"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The example of voltage sources is batteries and alternators.</a:t>
            </a:r>
            <a:r>
              <a:rPr lang="en-US"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
            </a:r>
            <a:br>
              <a:rPr lang="en-US"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br>
            <a:endPar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708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018" y="492082"/>
            <a:ext cx="8709891" cy="1200329"/>
          </a:xfrm>
          <a:prstGeom prst="rect">
            <a:avLst/>
          </a:prstGeom>
        </p:spPr>
        <p:txBody>
          <a:bodyPr wrap="square">
            <a:spAutoFit/>
          </a:bodyPr>
          <a:lstStyle/>
          <a:p>
            <a:pPr algn="just"/>
            <a:r>
              <a:rPr lang="en-US" b="1" dirty="0"/>
              <a:t>An ideal </a:t>
            </a:r>
            <a:r>
              <a:rPr lang="en-US" b="1" dirty="0">
                <a:solidFill>
                  <a:srgbClr val="00B050"/>
                </a:solidFill>
              </a:rPr>
              <a:t>current source </a:t>
            </a:r>
            <a:r>
              <a:rPr lang="en-US" b="1" dirty="0"/>
              <a:t>is a two-terminal circuit element which supplies the same current to any load resistance connected across its terminals. It is important to keep in mind that the current supplied by the current source is independent of the voltage of source terminals. It has infinite resistance.</a:t>
            </a:r>
          </a:p>
        </p:txBody>
      </p:sp>
      <p:pic>
        <p:nvPicPr>
          <p:cNvPr id="3" name="Picture 2"/>
          <p:cNvPicPr>
            <a:picLocks noChangeAspect="1"/>
          </p:cNvPicPr>
          <p:nvPr/>
        </p:nvPicPr>
        <p:blipFill>
          <a:blip r:embed="rId2"/>
          <a:stretch>
            <a:fillRect/>
          </a:stretch>
        </p:blipFill>
        <p:spPr>
          <a:xfrm>
            <a:off x="9971870" y="492082"/>
            <a:ext cx="1780186" cy="2103302"/>
          </a:xfrm>
          <a:prstGeom prst="rect">
            <a:avLst/>
          </a:prstGeom>
        </p:spPr>
      </p:pic>
      <p:pic>
        <p:nvPicPr>
          <p:cNvPr id="7" name="Picture 6"/>
          <p:cNvPicPr>
            <a:picLocks noChangeAspect="1"/>
          </p:cNvPicPr>
          <p:nvPr/>
        </p:nvPicPr>
        <p:blipFill>
          <a:blip r:embed="rId3"/>
          <a:stretch>
            <a:fillRect/>
          </a:stretch>
        </p:blipFill>
        <p:spPr>
          <a:xfrm>
            <a:off x="577467" y="2934735"/>
            <a:ext cx="4035902" cy="2743438"/>
          </a:xfrm>
          <a:prstGeom prst="rect">
            <a:avLst/>
          </a:prstGeom>
        </p:spPr>
      </p:pic>
      <p:pic>
        <p:nvPicPr>
          <p:cNvPr id="8" name="Picture 7"/>
          <p:cNvPicPr>
            <a:picLocks noChangeAspect="1"/>
          </p:cNvPicPr>
          <p:nvPr/>
        </p:nvPicPr>
        <p:blipFill>
          <a:blip r:embed="rId4"/>
          <a:stretch>
            <a:fillRect/>
          </a:stretch>
        </p:blipFill>
        <p:spPr>
          <a:xfrm>
            <a:off x="6648439" y="3026183"/>
            <a:ext cx="3956647" cy="2651990"/>
          </a:xfrm>
          <a:prstGeom prst="rect">
            <a:avLst/>
          </a:prstGeom>
        </p:spPr>
      </p:pic>
      <p:sp>
        <p:nvSpPr>
          <p:cNvPr id="9" name="Rectangle 8"/>
          <p:cNvSpPr/>
          <p:nvPr/>
        </p:nvSpPr>
        <p:spPr>
          <a:xfrm>
            <a:off x="3306618" y="5949743"/>
            <a:ext cx="6096000" cy="685059"/>
          </a:xfrm>
          <a:prstGeom prst="rect">
            <a:avLst/>
          </a:prstGeom>
        </p:spPr>
        <p:txBody>
          <a:bodyPr>
            <a:spAutoFit/>
          </a:bodyPr>
          <a:lstStyle/>
          <a:p>
            <a:pPr fontAlgn="base">
              <a:lnSpc>
                <a:spcPct val="107000"/>
              </a:lnSpc>
              <a:spcBef>
                <a:spcPts val="960"/>
              </a:spcBef>
              <a:spcAft>
                <a:spcPts val="1440"/>
              </a:spcAft>
            </a:pPr>
            <a:r>
              <a:rPr lang="en-US" b="1" kern="0" dirty="0">
                <a:solidFill>
                  <a:srgbClr val="00B050"/>
                </a:solidFill>
                <a:latin typeface="Arial" panose="020B0604020202020204" pitchFamily="34" charset="0"/>
                <a:ea typeface="Times New Roman" panose="02020603050405020304" pitchFamily="18" charset="0"/>
                <a:cs typeface="Times New Roman" panose="02020603050405020304" pitchFamily="18" charset="0"/>
              </a:rPr>
              <a:t>The example of current sources is photoelectric cells, collector currents of transistors.</a:t>
            </a:r>
            <a:endParaRPr lang="en-US" sz="1400" b="1" kern="1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0266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235199" y="127121"/>
            <a:ext cx="695498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Voltage Source to Current Source Conversion</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025" name="Picture 7" descr="Voltage Sourc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2064" y="1443247"/>
            <a:ext cx="6949443" cy="384048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3126652" y="5638104"/>
            <a:ext cx="58418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effectLst/>
                <a:latin typeface="Segoe UI" panose="020B0502040204020203" pitchFamily="34" charset="0"/>
                <a:ea typeface="Times New Roman" panose="02020603050405020304" pitchFamily="18" charset="0"/>
                <a:cs typeface="Segoe UI" panose="020B0502040204020203" pitchFamily="34" charset="0"/>
              </a:rPr>
              <a:t>Fig-Voltage Source to Current Source Conversion</a:t>
            </a:r>
            <a:endParaRPr kumimoji="0" lang="en-US" altLang="en-US"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effectLst/>
                <a:latin typeface="Segoe UI" panose="020B0502040204020203" pitchFamily="34" charset="0"/>
                <a:ea typeface="Times New Roman" panose="02020603050405020304" pitchFamily="18" charset="0"/>
                <a:cs typeface="Segoe UI" panose="020B0502040204020203" pitchFamily="34" charset="0"/>
              </a:rPr>
              <a:t>Here,</a:t>
            </a:r>
            <a:r>
              <a:rPr kumimoji="0" lang="en-US" altLang="en-US" b="1" i="0" u="none" strike="noStrike" cap="none" normalizeH="0" baseline="0" dirty="0" smtClean="0">
                <a:ln>
                  <a:noFill/>
                </a:ln>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b="0" i="0" u="none" strike="noStrike" cap="none" normalizeH="0" baseline="0" dirty="0" smtClean="0">
                <a:ln>
                  <a:noFill/>
                </a:ln>
                <a:effectLst/>
                <a:latin typeface="MathJax_Math-italic" charset="0"/>
                <a:ea typeface="Times New Roman" panose="02020603050405020304" pitchFamily="18" charset="0"/>
                <a:cs typeface="Segoe UI" panose="020B0502040204020203" pitchFamily="34" charset="0"/>
              </a:rPr>
              <a:t>Is</a:t>
            </a:r>
            <a:r>
              <a:rPr kumimoji="0" lang="en-US" altLang="en-US" b="0" i="0" u="none" strike="noStrike" cap="none" normalizeH="0" baseline="0" dirty="0" smtClean="0">
                <a:ln>
                  <a:noFill/>
                </a:ln>
                <a:effectLst/>
                <a:latin typeface="MathJax_Main" charset="0"/>
                <a:ea typeface="Times New Roman" panose="02020603050405020304" pitchFamily="18" charset="0"/>
                <a:cs typeface="Segoe UI" panose="020B0502040204020203" pitchFamily="34" charset="0"/>
              </a:rPr>
              <a:t>=</a:t>
            </a:r>
            <a:r>
              <a:rPr kumimoji="0" lang="en-US" altLang="en-US" b="0" i="0" u="none" strike="noStrike" cap="none" normalizeH="0" baseline="0" dirty="0" smtClean="0">
                <a:ln>
                  <a:noFill/>
                </a:ln>
                <a:effectLst/>
                <a:latin typeface="MathJax_Math-italic" charset="0"/>
                <a:ea typeface="Times New Roman" panose="02020603050405020304" pitchFamily="18" charset="0"/>
                <a:cs typeface="Segoe UI" panose="020B0502040204020203" pitchFamily="34" charset="0"/>
              </a:rPr>
              <a:t>VR</a:t>
            </a:r>
            <a:endParaRPr kumimoji="0" lang="en-US" altLang="en-US" b="0" i="0" u="none" strike="noStrike" cap="none" normalizeH="0" baseline="0" dirty="0" smtClean="0">
              <a:ln>
                <a:noFill/>
              </a:ln>
              <a:effectLst/>
              <a:latin typeface="Arial" panose="020B0604020202020204" pitchFamily="34" charset="0"/>
            </a:endParaRPr>
          </a:p>
        </p:txBody>
      </p:sp>
      <p:sp>
        <p:nvSpPr>
          <p:cNvPr id="9" name="Rectangle 8"/>
          <p:cNvSpPr/>
          <p:nvPr/>
        </p:nvSpPr>
        <p:spPr>
          <a:xfrm>
            <a:off x="628072" y="704583"/>
            <a:ext cx="11314546" cy="646331"/>
          </a:xfrm>
          <a:prstGeom prst="rect">
            <a:avLst/>
          </a:prstGeom>
        </p:spPr>
        <p:txBody>
          <a:bodyPr wrap="square">
            <a:spAutoFit/>
          </a:bodyPr>
          <a:lstStyle/>
          <a:p>
            <a:pPr lvl="0" eaLnBrk="0" fontAlgn="base" hangingPunct="0">
              <a:spcBef>
                <a:spcPct val="0"/>
              </a:spcBef>
              <a:spcAft>
                <a:spcPct val="0"/>
              </a:spcAft>
            </a:pPr>
            <a:r>
              <a:rPr lang="en-US" altLang="en-US" dirty="0">
                <a:latin typeface="Calibri" panose="020F0502020204030204" pitchFamily="34" charset="0"/>
                <a:ea typeface="Times New Roman" panose="02020603050405020304" pitchFamily="18" charset="0"/>
                <a:cs typeface="Times New Roman" panose="02020603050405020304" pitchFamily="18" charset="0"/>
              </a:rPr>
              <a:t>For any practical voltage source, if the ideal voltage is V and the internal resistance is R, the voltage source can be replaced by an equivalent current source I with the internal resistance R in parallel with the current source.</a:t>
            </a:r>
            <a:endParaRPr lang="en-US" altLang="en-US" sz="1050" dirty="0"/>
          </a:p>
        </p:txBody>
      </p:sp>
    </p:spTree>
    <p:extLst>
      <p:ext uri="{BB962C8B-B14F-4D97-AF65-F5344CB8AC3E}">
        <p14:creationId xmlns:p14="http://schemas.microsoft.com/office/powerpoint/2010/main" val="1156806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255" y="131864"/>
            <a:ext cx="8220364" cy="1661993"/>
          </a:xfrm>
          <a:prstGeom prst="rect">
            <a:avLst/>
          </a:prstGeom>
        </p:spPr>
        <p:txBody>
          <a:bodyPr wrap="square">
            <a:spAutoFit/>
          </a:bodyPr>
          <a:lstStyle/>
          <a:p>
            <a:r>
              <a:rPr lang="en-US" sz="2400" b="1" dirty="0"/>
              <a:t>Steps for Source </a:t>
            </a:r>
            <a:r>
              <a:rPr lang="en-US" sz="2400" b="1" dirty="0" smtClean="0"/>
              <a:t>Transformation</a:t>
            </a:r>
          </a:p>
          <a:p>
            <a:endParaRPr lang="en-US" sz="2400" b="1" dirty="0"/>
          </a:p>
          <a:p>
            <a:r>
              <a:rPr lang="en-US" b="1" dirty="0"/>
              <a:t>1.	Identify the part of the circuit suitable for transformation.</a:t>
            </a:r>
          </a:p>
          <a:p>
            <a:r>
              <a:rPr lang="en-US" b="1" dirty="0"/>
              <a:t>2.	Apply the transformation using the above equations.</a:t>
            </a:r>
          </a:p>
          <a:p>
            <a:r>
              <a:rPr lang="en-US" b="1" dirty="0"/>
              <a:t>3.	Simplify the resulting circuit to analyze it easily.</a:t>
            </a:r>
          </a:p>
        </p:txBody>
      </p:sp>
      <p:sp>
        <p:nvSpPr>
          <p:cNvPr id="3" name="Rectangle 2"/>
          <p:cNvSpPr/>
          <p:nvPr/>
        </p:nvSpPr>
        <p:spPr>
          <a:xfrm>
            <a:off x="277091" y="2173929"/>
            <a:ext cx="11545455" cy="4616648"/>
          </a:xfrm>
          <a:prstGeom prst="rect">
            <a:avLst/>
          </a:prstGeom>
        </p:spPr>
        <p:txBody>
          <a:bodyPr wrap="square">
            <a:spAutoFit/>
          </a:bodyPr>
          <a:lstStyle/>
          <a:p>
            <a:pPr algn="just"/>
            <a:r>
              <a:rPr lang="en-US" sz="2400" b="1" dirty="0"/>
              <a:t>Advantages of Source Transformation</a:t>
            </a:r>
          </a:p>
          <a:p>
            <a:pPr algn="just"/>
            <a:r>
              <a:rPr lang="en-US" dirty="0"/>
              <a:t>The source transformation technique offers several benefits, particularly when dealing with complex circuits:</a:t>
            </a:r>
          </a:p>
          <a:p>
            <a:pPr marL="342900" indent="-342900" algn="just">
              <a:buAutoNum type="arabicPeriod"/>
            </a:pPr>
            <a:r>
              <a:rPr lang="en-US" b="1" dirty="0" smtClean="0">
                <a:solidFill>
                  <a:srgbClr val="FF0000"/>
                </a:solidFill>
              </a:rPr>
              <a:t>Simplifies </a:t>
            </a:r>
            <a:r>
              <a:rPr lang="en-US" b="1" dirty="0">
                <a:solidFill>
                  <a:srgbClr val="FF0000"/>
                </a:solidFill>
              </a:rPr>
              <a:t>Circuit Analysis: </a:t>
            </a:r>
            <a:r>
              <a:rPr lang="en-US" b="1" dirty="0"/>
              <a:t>By reducing the number of components in a circuit, source transformation makes the overall analysis faster and more manageable, especially for circuits with multiple sources and resistors</a:t>
            </a:r>
            <a:r>
              <a:rPr lang="en-US" b="1" dirty="0" smtClean="0"/>
              <a:t>.</a:t>
            </a:r>
          </a:p>
          <a:p>
            <a:pPr algn="just"/>
            <a:endParaRPr lang="en-US" b="1" dirty="0"/>
          </a:p>
          <a:p>
            <a:pPr algn="just"/>
            <a:r>
              <a:rPr lang="en-US" b="1" dirty="0" smtClean="0"/>
              <a:t>2. </a:t>
            </a:r>
            <a:r>
              <a:rPr lang="en-US" b="1" dirty="0" smtClean="0">
                <a:solidFill>
                  <a:srgbClr val="FF0000"/>
                </a:solidFill>
              </a:rPr>
              <a:t>Reduces </a:t>
            </a:r>
            <a:r>
              <a:rPr lang="en-US" b="1" dirty="0">
                <a:solidFill>
                  <a:srgbClr val="FF0000"/>
                </a:solidFill>
              </a:rPr>
              <a:t>Complexity: </a:t>
            </a:r>
            <a:r>
              <a:rPr lang="en-US" b="1" dirty="0"/>
              <a:t>It helps in reducing a multi-source circuit into simpler single-source circuits, often making it easier to apply methods like Ohm’s law, Kirchhoff’s Current Law (KCL), and Kirchhoff’s Voltage Law (KVL</a:t>
            </a:r>
            <a:r>
              <a:rPr lang="en-US" b="1" dirty="0" smtClean="0"/>
              <a:t>).</a:t>
            </a:r>
          </a:p>
          <a:p>
            <a:pPr algn="just"/>
            <a:endParaRPr lang="en-US" b="1" dirty="0"/>
          </a:p>
          <a:p>
            <a:pPr algn="just"/>
            <a:r>
              <a:rPr lang="en-US" b="1" dirty="0" smtClean="0"/>
              <a:t>3. </a:t>
            </a:r>
            <a:r>
              <a:rPr lang="en-US" b="1" dirty="0" smtClean="0">
                <a:solidFill>
                  <a:srgbClr val="FF0000"/>
                </a:solidFill>
              </a:rPr>
              <a:t>Efficient </a:t>
            </a:r>
            <a:r>
              <a:rPr lang="en-US" b="1" dirty="0">
                <a:solidFill>
                  <a:srgbClr val="FF0000"/>
                </a:solidFill>
              </a:rPr>
              <a:t>Use in Theoretical and Practical Circuits: </a:t>
            </a:r>
            <a:r>
              <a:rPr lang="en-US" b="1" dirty="0"/>
              <a:t>Whether you're dealing with theoretical problems or real-world applications, the ability to transform sources helps in both DC and AC circuit analysis</a:t>
            </a:r>
            <a:r>
              <a:rPr lang="en-US" b="1" dirty="0" smtClean="0"/>
              <a:t>.</a:t>
            </a:r>
          </a:p>
          <a:p>
            <a:pPr algn="just"/>
            <a:endParaRPr lang="en-US" b="1" dirty="0"/>
          </a:p>
          <a:p>
            <a:pPr algn="just"/>
            <a:r>
              <a:rPr lang="en-US" b="1" dirty="0" smtClean="0"/>
              <a:t>4. </a:t>
            </a:r>
            <a:r>
              <a:rPr lang="en-US" b="1" dirty="0" smtClean="0">
                <a:solidFill>
                  <a:srgbClr val="FF0000"/>
                </a:solidFill>
              </a:rPr>
              <a:t>Improves </a:t>
            </a:r>
            <a:r>
              <a:rPr lang="en-US" b="1" dirty="0">
                <a:solidFill>
                  <a:srgbClr val="FF0000"/>
                </a:solidFill>
              </a:rPr>
              <a:t>Accuracy in Competitive Exams:</a:t>
            </a:r>
            <a:r>
              <a:rPr lang="en-US" b="1" dirty="0"/>
              <a:t> In exams, quickly reducing circuits using source transformation techniques ensures faster and more accurate results, particularly in subjects like network theory</a:t>
            </a:r>
            <a:r>
              <a:rPr lang="en-US" b="1" dirty="0" smtClean="0"/>
              <a:t>.</a:t>
            </a:r>
          </a:p>
          <a:p>
            <a:pPr algn="just"/>
            <a:endParaRPr lang="en-US" b="1" dirty="0"/>
          </a:p>
          <a:p>
            <a:pPr algn="just"/>
            <a:r>
              <a:rPr lang="en-US" b="1" dirty="0" smtClean="0"/>
              <a:t>5. </a:t>
            </a:r>
            <a:r>
              <a:rPr lang="en-US" b="1" dirty="0" smtClean="0">
                <a:solidFill>
                  <a:srgbClr val="FF0000"/>
                </a:solidFill>
              </a:rPr>
              <a:t>Flexibility </a:t>
            </a:r>
            <a:r>
              <a:rPr lang="en-US" b="1" dirty="0">
                <a:solidFill>
                  <a:srgbClr val="FF0000"/>
                </a:solidFill>
              </a:rPr>
              <a:t>in Complex Circuit Designs: </a:t>
            </a:r>
            <a:r>
              <a:rPr lang="en-US" b="1" dirty="0"/>
              <a:t>Engineers use source transformation when working with large-scale circuits to reduce their complexity without altering the performance or </a:t>
            </a:r>
            <a:r>
              <a:rPr lang="en-US" b="1" dirty="0" err="1"/>
              <a:t>behaviour</a:t>
            </a:r>
            <a:r>
              <a:rPr lang="en-US" b="1" dirty="0"/>
              <a:t> of the system.</a:t>
            </a:r>
          </a:p>
        </p:txBody>
      </p:sp>
    </p:spTree>
    <p:extLst>
      <p:ext uri="{BB962C8B-B14F-4D97-AF65-F5344CB8AC3E}">
        <p14:creationId xmlns:p14="http://schemas.microsoft.com/office/powerpoint/2010/main" val="2501633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871668"/>
            <a:ext cx="8594595" cy="2194560"/>
          </a:xfrm>
          <a:prstGeom prst="rect">
            <a:avLst/>
          </a:prstGeom>
        </p:spPr>
      </p:pic>
      <p:sp>
        <p:nvSpPr>
          <p:cNvPr id="6" name="Rectangle 5"/>
          <p:cNvSpPr/>
          <p:nvPr/>
        </p:nvSpPr>
        <p:spPr>
          <a:xfrm>
            <a:off x="9443752" y="1578664"/>
            <a:ext cx="1704634" cy="461665"/>
          </a:xfrm>
          <a:prstGeom prst="rect">
            <a:avLst/>
          </a:prstGeom>
        </p:spPr>
        <p:txBody>
          <a:bodyPr wrap="none">
            <a:spAutoFit/>
          </a:bodyPr>
          <a:lstStyle/>
          <a:p>
            <a:r>
              <a:rPr lang="en-US" sz="2400" b="1" dirty="0" err="1">
                <a:solidFill>
                  <a:srgbClr val="FF0000"/>
                </a:solidFill>
              </a:rPr>
              <a:t>R</a:t>
            </a:r>
            <a:r>
              <a:rPr lang="en-US" sz="2400" b="1" baseline="-25000" dirty="0" err="1">
                <a:solidFill>
                  <a:srgbClr val="FF0000"/>
                </a:solidFill>
              </a:rPr>
              <a:t>eq</a:t>
            </a:r>
            <a:r>
              <a:rPr lang="en-US" sz="2400" b="1" dirty="0">
                <a:solidFill>
                  <a:srgbClr val="FF0000"/>
                </a:solidFill>
              </a:rPr>
              <a:t> =R</a:t>
            </a:r>
            <a:r>
              <a:rPr lang="en-US" sz="2400" b="1" baseline="-25000" dirty="0">
                <a:solidFill>
                  <a:srgbClr val="FF0000"/>
                </a:solidFill>
              </a:rPr>
              <a:t>1</a:t>
            </a:r>
            <a:r>
              <a:rPr lang="en-US" sz="2400" b="1" dirty="0">
                <a:solidFill>
                  <a:srgbClr val="FF0000"/>
                </a:solidFill>
              </a:rPr>
              <a:t> + R</a:t>
            </a:r>
            <a:r>
              <a:rPr lang="en-US" sz="2400" b="1" baseline="-25000" dirty="0">
                <a:solidFill>
                  <a:srgbClr val="FF0000"/>
                </a:solidFill>
              </a:rPr>
              <a:t>2</a:t>
            </a:r>
            <a:r>
              <a:rPr lang="en-US" sz="2400" b="1" dirty="0">
                <a:solidFill>
                  <a:srgbClr val="FF0000"/>
                </a:solidFill>
              </a:rPr>
              <a:t> </a:t>
            </a:r>
          </a:p>
        </p:txBody>
      </p:sp>
      <p:sp>
        <p:nvSpPr>
          <p:cNvPr id="7" name="Right Arrow 6"/>
          <p:cNvSpPr/>
          <p:nvPr/>
        </p:nvSpPr>
        <p:spPr>
          <a:xfrm>
            <a:off x="8594595" y="1578664"/>
            <a:ext cx="51723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35977" y="87799"/>
            <a:ext cx="11856023" cy="783869"/>
          </a:xfrm>
          <a:prstGeom prst="rect">
            <a:avLst/>
          </a:prstGeom>
        </p:spPr>
        <p:txBody>
          <a:bodyPr wrap="square">
            <a:spAutoFit/>
          </a:bodyPr>
          <a:lstStyle/>
          <a:p>
            <a:pPr>
              <a:lnSpc>
                <a:spcPct val="107000"/>
              </a:lnSpc>
              <a:spcAft>
                <a:spcPts val="800"/>
              </a:spcAft>
            </a:pPr>
            <a:r>
              <a:rPr lang="en-US" sz="2400" b="1" kern="100" dirty="0">
                <a:latin typeface="Calibri" panose="020F0502020204030204" pitchFamily="34" charset="0"/>
                <a:ea typeface="Calibri" panose="020F0502020204030204" pitchFamily="34" charset="0"/>
                <a:cs typeface="Times New Roman" panose="02020603050405020304" pitchFamily="18" charset="0"/>
              </a:rPr>
              <a:t>Series Connection of Resistors: </a:t>
            </a:r>
            <a:r>
              <a:rPr lang="en-US" sz="2400" b="1" kern="100" dirty="0" smtClean="0">
                <a:latin typeface="Calibri" panose="020F0502020204030204" pitchFamily="34" charset="0"/>
                <a:ea typeface="Calibri" panose="020F0502020204030204" pitchFamily="34" charset="0"/>
                <a:cs typeface="Times New Roman" panose="02020603050405020304" pitchFamily="18" charset="0"/>
              </a:rPr>
              <a:t> </a:t>
            </a:r>
            <a:r>
              <a:rPr lang="en-US" b="1" i="1" kern="100" dirty="0" smtClean="0">
                <a:latin typeface="Calibri" panose="020F0502020204030204" pitchFamily="34" charset="0"/>
                <a:ea typeface="Calibri" panose="020F0502020204030204" pitchFamily="34" charset="0"/>
                <a:cs typeface="Times New Roman" panose="02020603050405020304" pitchFamily="18" charset="0"/>
              </a:rPr>
              <a:t>Two </a:t>
            </a:r>
            <a:r>
              <a:rPr lang="en-US" b="1" i="1" kern="100" dirty="0">
                <a:latin typeface="Calibri" panose="020F0502020204030204" pitchFamily="34" charset="0"/>
                <a:ea typeface="Calibri" panose="020F0502020204030204" pitchFamily="34" charset="0"/>
                <a:cs typeface="Times New Roman" panose="02020603050405020304" pitchFamily="18" charset="0"/>
              </a:rPr>
              <a:t>or more resistors in a circuit are said to be in series when the current flowing through all the resistors is the same</a:t>
            </a:r>
            <a:r>
              <a:rPr lang="en-US" b="1" kern="100" dirty="0">
                <a:latin typeface="Calibri" panose="020F0502020204030204" pitchFamily="34" charset="0"/>
                <a:ea typeface="Calibri" panose="020F0502020204030204" pitchFamily="34" charset="0"/>
                <a:cs typeface="Times New Roman" panose="02020603050405020304" pitchFamily="18" charset="0"/>
              </a:rPr>
              <a:t>. </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p:cNvSpPr/>
          <p:nvPr/>
        </p:nvSpPr>
        <p:spPr>
          <a:xfrm>
            <a:off x="335977" y="3111433"/>
            <a:ext cx="11523514" cy="738664"/>
          </a:xfrm>
          <a:prstGeom prst="rect">
            <a:avLst/>
          </a:prstGeom>
        </p:spPr>
        <p:txBody>
          <a:bodyPr wrap="square">
            <a:spAutoFit/>
          </a:bodyPr>
          <a:lstStyle/>
          <a:p>
            <a:r>
              <a:rPr lang="en-US" sz="2400" b="1" dirty="0"/>
              <a:t>Parallel Connection of Resistors: </a:t>
            </a:r>
            <a:r>
              <a:rPr lang="en-US" b="1" i="1" dirty="0" smtClean="0"/>
              <a:t>Two </a:t>
            </a:r>
            <a:r>
              <a:rPr lang="en-US" b="1" i="1" dirty="0"/>
              <a:t>or more resistors in a circuit are said to be in Parallel when all the resistors are connected to the same nodes and the same voltage is appearing across all these elements.</a:t>
            </a:r>
          </a:p>
        </p:txBody>
      </p:sp>
      <p:pic>
        <p:nvPicPr>
          <p:cNvPr id="11" name="Picture 10"/>
          <p:cNvPicPr>
            <a:picLocks noChangeAspect="1"/>
          </p:cNvPicPr>
          <p:nvPr/>
        </p:nvPicPr>
        <p:blipFill>
          <a:blip r:embed="rId3"/>
          <a:stretch>
            <a:fillRect/>
          </a:stretch>
        </p:blipFill>
        <p:spPr>
          <a:xfrm>
            <a:off x="624141" y="4049022"/>
            <a:ext cx="7687949" cy="2743200"/>
          </a:xfrm>
          <a:prstGeom prst="rect">
            <a:avLst/>
          </a:prstGeom>
        </p:spPr>
      </p:pic>
      <p:sp>
        <p:nvSpPr>
          <p:cNvPr id="12" name="Right Arrow 11"/>
          <p:cNvSpPr/>
          <p:nvPr/>
        </p:nvSpPr>
        <p:spPr>
          <a:xfrm>
            <a:off x="8206668" y="4909073"/>
            <a:ext cx="51723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4"/>
          <a:stretch>
            <a:fillRect/>
          </a:stretch>
        </p:blipFill>
        <p:spPr>
          <a:xfrm>
            <a:off x="9111832" y="4713507"/>
            <a:ext cx="2170442" cy="1097280"/>
          </a:xfrm>
          <a:prstGeom prst="rect">
            <a:avLst/>
          </a:prstGeom>
        </p:spPr>
      </p:pic>
    </p:spTree>
    <p:extLst>
      <p:ext uri="{BB962C8B-B14F-4D97-AF65-F5344CB8AC3E}">
        <p14:creationId xmlns:p14="http://schemas.microsoft.com/office/powerpoint/2010/main" val="2771147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23216" y="470567"/>
            <a:ext cx="4266236" cy="2377440"/>
          </a:xfrm>
          <a:prstGeom prst="rect">
            <a:avLst/>
          </a:prstGeom>
        </p:spPr>
      </p:pic>
      <p:sp>
        <p:nvSpPr>
          <p:cNvPr id="7" name="Rectangle 6"/>
          <p:cNvSpPr/>
          <p:nvPr/>
        </p:nvSpPr>
        <p:spPr>
          <a:xfrm>
            <a:off x="5883564" y="81871"/>
            <a:ext cx="5182124" cy="388696"/>
          </a:xfrm>
          <a:prstGeom prst="rect">
            <a:avLst/>
          </a:prstGeom>
        </p:spPr>
        <p:txBody>
          <a:bodyPr wrap="none">
            <a:spAutoFit/>
          </a:bodyPr>
          <a:lstStyle/>
          <a:p>
            <a:pPr marR="0" lvl="0">
              <a:lnSpc>
                <a:spcPct val="107000"/>
              </a:lnSpc>
              <a:spcBef>
                <a:spcPts val="0"/>
              </a:spcBef>
              <a:spcAft>
                <a:spcPts val="800"/>
              </a:spcAft>
            </a:pPr>
            <a:r>
              <a:rPr lang="en-US" b="1" i="1" kern="100" dirty="0" smtClean="0">
                <a:latin typeface="Calibri" panose="020F0502020204030204" pitchFamily="34" charset="0"/>
                <a:ea typeface="Calibri" panose="020F0502020204030204" pitchFamily="34" charset="0"/>
                <a:cs typeface="Times New Roman" panose="02020603050405020304" pitchFamily="18" charset="0"/>
              </a:rPr>
              <a:t>2) Find </a:t>
            </a:r>
            <a:r>
              <a:rPr lang="en-US" b="1" i="1" kern="100" dirty="0">
                <a:latin typeface="Calibri" panose="020F0502020204030204" pitchFamily="34" charset="0"/>
                <a:ea typeface="Calibri" panose="020F0502020204030204" pitchFamily="34" charset="0"/>
                <a:cs typeface="Times New Roman" panose="02020603050405020304" pitchFamily="18" charset="0"/>
              </a:rPr>
              <a:t>the </a:t>
            </a:r>
            <a:r>
              <a:rPr lang="en-US" b="1" i="1" kern="100" dirty="0" err="1">
                <a:latin typeface="Calibri" panose="020F0502020204030204" pitchFamily="34" charset="0"/>
                <a:ea typeface="Calibri" panose="020F0502020204030204" pitchFamily="34" charset="0"/>
                <a:cs typeface="Times New Roman" panose="02020603050405020304" pitchFamily="18" charset="0"/>
              </a:rPr>
              <a:t>Req</a:t>
            </a:r>
            <a:r>
              <a:rPr lang="en-US" b="1" i="1" kern="100" dirty="0">
                <a:latin typeface="Calibri" panose="020F0502020204030204" pitchFamily="34" charset="0"/>
                <a:ea typeface="Calibri" panose="020F0502020204030204" pitchFamily="34" charset="0"/>
                <a:cs typeface="Times New Roman" panose="02020603050405020304" pitchFamily="18" charset="0"/>
              </a:rPr>
              <a:t> for the circuit shown in below figure.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0" y="61987"/>
            <a:ext cx="5182124" cy="388696"/>
          </a:xfrm>
          <a:prstGeom prst="rect">
            <a:avLst/>
          </a:prstGeom>
        </p:spPr>
        <p:txBody>
          <a:bodyPr wrap="none">
            <a:spAutoFit/>
          </a:bodyPr>
          <a:lstStyle/>
          <a:p>
            <a:pPr marR="0" lvl="0">
              <a:lnSpc>
                <a:spcPct val="107000"/>
              </a:lnSpc>
              <a:spcBef>
                <a:spcPts val="0"/>
              </a:spcBef>
              <a:spcAft>
                <a:spcPts val="800"/>
              </a:spcAft>
            </a:pPr>
            <a:r>
              <a:rPr lang="en-US" b="1" i="1" kern="100" dirty="0">
                <a:latin typeface="Calibri" panose="020F0502020204030204" pitchFamily="34" charset="0"/>
                <a:ea typeface="Calibri" panose="020F0502020204030204" pitchFamily="34" charset="0"/>
                <a:cs typeface="Times New Roman" panose="02020603050405020304" pitchFamily="18" charset="0"/>
              </a:rPr>
              <a:t>1</a:t>
            </a:r>
            <a:r>
              <a:rPr lang="en-US" b="1" i="1" kern="100" dirty="0" smtClean="0">
                <a:latin typeface="Calibri" panose="020F0502020204030204" pitchFamily="34" charset="0"/>
                <a:ea typeface="Calibri" panose="020F0502020204030204" pitchFamily="34" charset="0"/>
                <a:cs typeface="Times New Roman" panose="02020603050405020304" pitchFamily="18" charset="0"/>
              </a:rPr>
              <a:t>) </a:t>
            </a:r>
            <a:r>
              <a:rPr lang="en-US" b="1" i="1" kern="100" dirty="0" smtClean="0">
                <a:latin typeface="Calibri" panose="020F0502020204030204" pitchFamily="34" charset="0"/>
                <a:ea typeface="Calibri" panose="020F0502020204030204" pitchFamily="34" charset="0"/>
                <a:cs typeface="Times New Roman" panose="02020603050405020304" pitchFamily="18" charset="0"/>
              </a:rPr>
              <a:t>Find </a:t>
            </a:r>
            <a:r>
              <a:rPr lang="en-US" b="1" i="1" kern="100" dirty="0">
                <a:latin typeface="Calibri" panose="020F0502020204030204" pitchFamily="34" charset="0"/>
                <a:ea typeface="Calibri" panose="020F0502020204030204" pitchFamily="34" charset="0"/>
                <a:cs typeface="Times New Roman" panose="02020603050405020304" pitchFamily="18" charset="0"/>
              </a:rPr>
              <a:t>the </a:t>
            </a:r>
            <a:r>
              <a:rPr lang="en-US" b="1" i="1" kern="100" dirty="0" err="1">
                <a:latin typeface="Calibri" panose="020F0502020204030204" pitchFamily="34" charset="0"/>
                <a:ea typeface="Calibri" panose="020F0502020204030204" pitchFamily="34" charset="0"/>
                <a:cs typeface="Times New Roman" panose="02020603050405020304" pitchFamily="18" charset="0"/>
              </a:rPr>
              <a:t>Req</a:t>
            </a:r>
            <a:r>
              <a:rPr lang="en-US" b="1" i="1" kern="100" dirty="0">
                <a:latin typeface="Calibri" panose="020F0502020204030204" pitchFamily="34" charset="0"/>
                <a:ea typeface="Calibri" panose="020F0502020204030204" pitchFamily="34" charset="0"/>
                <a:cs typeface="Times New Roman" panose="02020603050405020304" pitchFamily="18" charset="0"/>
              </a:rPr>
              <a:t> for the circuit shown in below figure.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6093564" y="683842"/>
            <a:ext cx="5047926" cy="1950889"/>
          </a:xfrm>
          <a:prstGeom prst="rect">
            <a:avLst/>
          </a:prstGeom>
        </p:spPr>
      </p:pic>
      <p:sp>
        <p:nvSpPr>
          <p:cNvPr id="10" name="Rectangle 9"/>
          <p:cNvSpPr/>
          <p:nvPr/>
        </p:nvSpPr>
        <p:spPr>
          <a:xfrm>
            <a:off x="5959366" y="3300743"/>
            <a:ext cx="5182124" cy="388696"/>
          </a:xfrm>
          <a:prstGeom prst="rect">
            <a:avLst/>
          </a:prstGeom>
        </p:spPr>
        <p:txBody>
          <a:bodyPr wrap="none">
            <a:spAutoFit/>
          </a:bodyPr>
          <a:lstStyle/>
          <a:p>
            <a:pPr marR="0" lvl="0">
              <a:lnSpc>
                <a:spcPct val="107000"/>
              </a:lnSpc>
              <a:spcBef>
                <a:spcPts val="0"/>
              </a:spcBef>
              <a:spcAft>
                <a:spcPts val="800"/>
              </a:spcAft>
            </a:pPr>
            <a:r>
              <a:rPr lang="en-US" b="1" i="1" kern="100" dirty="0">
                <a:latin typeface="Calibri" panose="020F0502020204030204" pitchFamily="34" charset="0"/>
                <a:ea typeface="Calibri" panose="020F0502020204030204" pitchFamily="34" charset="0"/>
                <a:cs typeface="Times New Roman" panose="02020603050405020304" pitchFamily="18" charset="0"/>
              </a:rPr>
              <a:t>4</a:t>
            </a:r>
            <a:r>
              <a:rPr lang="en-US" b="1" i="1" kern="100" dirty="0" smtClean="0">
                <a:latin typeface="Calibri" panose="020F0502020204030204" pitchFamily="34" charset="0"/>
                <a:ea typeface="Calibri" panose="020F0502020204030204" pitchFamily="34" charset="0"/>
                <a:cs typeface="Times New Roman" panose="02020603050405020304" pitchFamily="18" charset="0"/>
              </a:rPr>
              <a:t>) Find </a:t>
            </a:r>
            <a:r>
              <a:rPr lang="en-US" b="1" i="1" kern="100" dirty="0">
                <a:latin typeface="Calibri" panose="020F0502020204030204" pitchFamily="34" charset="0"/>
                <a:ea typeface="Calibri" panose="020F0502020204030204" pitchFamily="34" charset="0"/>
                <a:cs typeface="Times New Roman" panose="02020603050405020304" pitchFamily="18" charset="0"/>
              </a:rPr>
              <a:t>the </a:t>
            </a:r>
            <a:r>
              <a:rPr lang="en-US" b="1" i="1" kern="100" dirty="0" err="1">
                <a:latin typeface="Calibri" panose="020F0502020204030204" pitchFamily="34" charset="0"/>
                <a:ea typeface="Calibri" panose="020F0502020204030204" pitchFamily="34" charset="0"/>
                <a:cs typeface="Times New Roman" panose="02020603050405020304" pitchFamily="18" charset="0"/>
              </a:rPr>
              <a:t>Req</a:t>
            </a:r>
            <a:r>
              <a:rPr lang="en-US" b="1" i="1" kern="100" dirty="0">
                <a:latin typeface="Calibri" panose="020F0502020204030204" pitchFamily="34" charset="0"/>
                <a:ea typeface="Calibri" panose="020F0502020204030204" pitchFamily="34" charset="0"/>
                <a:cs typeface="Times New Roman" panose="02020603050405020304" pitchFamily="18" charset="0"/>
              </a:rPr>
              <a:t> for the circuit shown in below figure.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p:cNvSpPr/>
          <p:nvPr/>
        </p:nvSpPr>
        <p:spPr>
          <a:xfrm>
            <a:off x="75802" y="3280859"/>
            <a:ext cx="5182124" cy="388696"/>
          </a:xfrm>
          <a:prstGeom prst="rect">
            <a:avLst/>
          </a:prstGeom>
        </p:spPr>
        <p:txBody>
          <a:bodyPr wrap="none">
            <a:spAutoFit/>
          </a:bodyPr>
          <a:lstStyle/>
          <a:p>
            <a:pPr marR="0" lvl="0">
              <a:lnSpc>
                <a:spcPct val="107000"/>
              </a:lnSpc>
              <a:spcBef>
                <a:spcPts val="0"/>
              </a:spcBef>
              <a:spcAft>
                <a:spcPts val="800"/>
              </a:spcAft>
            </a:pPr>
            <a:r>
              <a:rPr lang="en-US" b="1" i="1" kern="100" dirty="0">
                <a:latin typeface="Calibri" panose="020F0502020204030204" pitchFamily="34" charset="0"/>
                <a:ea typeface="Calibri" panose="020F0502020204030204" pitchFamily="34" charset="0"/>
                <a:cs typeface="Times New Roman" panose="02020603050405020304" pitchFamily="18" charset="0"/>
              </a:rPr>
              <a:t>3</a:t>
            </a:r>
            <a:r>
              <a:rPr lang="en-US" b="1" i="1" kern="100" dirty="0" smtClean="0">
                <a:latin typeface="Calibri" panose="020F0502020204030204" pitchFamily="34" charset="0"/>
                <a:ea typeface="Calibri" panose="020F0502020204030204" pitchFamily="34" charset="0"/>
                <a:cs typeface="Times New Roman" panose="02020603050405020304" pitchFamily="18" charset="0"/>
              </a:rPr>
              <a:t>) Find </a:t>
            </a:r>
            <a:r>
              <a:rPr lang="en-US" b="1" i="1" kern="100" dirty="0">
                <a:latin typeface="Calibri" panose="020F0502020204030204" pitchFamily="34" charset="0"/>
                <a:ea typeface="Calibri" panose="020F0502020204030204" pitchFamily="34" charset="0"/>
                <a:cs typeface="Times New Roman" panose="02020603050405020304" pitchFamily="18" charset="0"/>
              </a:rPr>
              <a:t>the </a:t>
            </a:r>
            <a:r>
              <a:rPr lang="en-US" b="1" i="1" kern="100" dirty="0" err="1">
                <a:latin typeface="Calibri" panose="020F0502020204030204" pitchFamily="34" charset="0"/>
                <a:ea typeface="Calibri" panose="020F0502020204030204" pitchFamily="34" charset="0"/>
                <a:cs typeface="Times New Roman" panose="02020603050405020304" pitchFamily="18" charset="0"/>
              </a:rPr>
              <a:t>Req</a:t>
            </a:r>
            <a:r>
              <a:rPr lang="en-US" b="1" i="1" kern="100" dirty="0">
                <a:latin typeface="Calibri" panose="020F0502020204030204" pitchFamily="34" charset="0"/>
                <a:ea typeface="Calibri" panose="020F0502020204030204" pitchFamily="34" charset="0"/>
                <a:cs typeface="Times New Roman" panose="02020603050405020304" pitchFamily="18" charset="0"/>
              </a:rPr>
              <a:t> for the circuit shown in below figure.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p:cNvPicPr>
            <a:picLocks noChangeAspect="1"/>
          </p:cNvPicPr>
          <p:nvPr/>
        </p:nvPicPr>
        <p:blipFill>
          <a:blip r:embed="rId4"/>
          <a:stretch>
            <a:fillRect/>
          </a:stretch>
        </p:blipFill>
        <p:spPr>
          <a:xfrm>
            <a:off x="478210" y="3867391"/>
            <a:ext cx="4377307" cy="2167649"/>
          </a:xfrm>
          <a:prstGeom prst="rect">
            <a:avLst/>
          </a:prstGeom>
        </p:spPr>
      </p:pic>
      <p:pic>
        <p:nvPicPr>
          <p:cNvPr id="2" name="Picture 1"/>
          <p:cNvPicPr>
            <a:picLocks noChangeAspect="1"/>
          </p:cNvPicPr>
          <p:nvPr/>
        </p:nvPicPr>
        <p:blipFill rotWithShape="1">
          <a:blip r:embed="rId5"/>
          <a:srcRect l="497" t="24847" r="-184" b="3290"/>
          <a:stretch/>
        </p:blipFill>
        <p:spPr>
          <a:xfrm>
            <a:off x="6102273" y="3781077"/>
            <a:ext cx="4699526" cy="1905620"/>
          </a:xfrm>
          <a:prstGeom prst="rect">
            <a:avLst/>
          </a:prstGeom>
        </p:spPr>
      </p:pic>
    </p:spTree>
    <p:extLst>
      <p:ext uri="{BB962C8B-B14F-4D97-AF65-F5344CB8AC3E}">
        <p14:creationId xmlns:p14="http://schemas.microsoft.com/office/powerpoint/2010/main" val="3143454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692073" y="0"/>
            <a:ext cx="7499927" cy="4331855"/>
          </a:xfrm>
          <a:prstGeom prst="rect">
            <a:avLst/>
          </a:prstGeom>
        </p:spPr>
      </p:pic>
      <p:pic>
        <p:nvPicPr>
          <p:cNvPr id="8" name="Picture 7"/>
          <p:cNvPicPr>
            <a:picLocks noChangeAspect="1"/>
          </p:cNvPicPr>
          <p:nvPr/>
        </p:nvPicPr>
        <p:blipFill>
          <a:blip r:embed="rId3"/>
          <a:stretch>
            <a:fillRect/>
          </a:stretch>
        </p:blipFill>
        <p:spPr>
          <a:xfrm>
            <a:off x="4692073" y="4331855"/>
            <a:ext cx="7499927" cy="2526145"/>
          </a:xfrm>
          <a:prstGeom prst="rect">
            <a:avLst/>
          </a:prstGeom>
        </p:spPr>
      </p:pic>
      <p:sp>
        <p:nvSpPr>
          <p:cNvPr id="9" name="Rectangle 8"/>
          <p:cNvSpPr/>
          <p:nvPr/>
        </p:nvSpPr>
        <p:spPr>
          <a:xfrm>
            <a:off x="92364" y="2244436"/>
            <a:ext cx="3306618" cy="2540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Voltage Divider Rule</a:t>
            </a:r>
            <a:endParaRPr lang="en-US" sz="2800" b="1" dirty="0"/>
          </a:p>
        </p:txBody>
      </p:sp>
      <p:sp>
        <p:nvSpPr>
          <p:cNvPr id="10" name="Right Arrow 9"/>
          <p:cNvSpPr/>
          <p:nvPr/>
        </p:nvSpPr>
        <p:spPr>
          <a:xfrm>
            <a:off x="3777673" y="2978726"/>
            <a:ext cx="535709" cy="10714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46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2364" y="2244436"/>
            <a:ext cx="3306618" cy="2540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Current Divider Rule</a:t>
            </a:r>
            <a:endParaRPr lang="en-US" sz="2800" b="1" dirty="0"/>
          </a:p>
        </p:txBody>
      </p:sp>
      <p:sp>
        <p:nvSpPr>
          <p:cNvPr id="2" name="Right Arrow 1"/>
          <p:cNvSpPr/>
          <p:nvPr/>
        </p:nvSpPr>
        <p:spPr>
          <a:xfrm>
            <a:off x="3657600" y="2909454"/>
            <a:ext cx="406400" cy="12099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5244197" y="0"/>
            <a:ext cx="6947803" cy="4297680"/>
          </a:xfrm>
          <a:prstGeom prst="rect">
            <a:avLst/>
          </a:prstGeom>
        </p:spPr>
      </p:pic>
      <p:pic>
        <p:nvPicPr>
          <p:cNvPr id="7" name="Picture 6"/>
          <p:cNvPicPr>
            <a:picLocks noChangeAspect="1"/>
          </p:cNvPicPr>
          <p:nvPr/>
        </p:nvPicPr>
        <p:blipFill>
          <a:blip r:embed="rId3"/>
          <a:stretch>
            <a:fillRect/>
          </a:stretch>
        </p:blipFill>
        <p:spPr>
          <a:xfrm>
            <a:off x="5244197" y="4297680"/>
            <a:ext cx="6947803" cy="2194560"/>
          </a:xfrm>
          <a:prstGeom prst="rect">
            <a:avLst/>
          </a:prstGeom>
        </p:spPr>
      </p:pic>
    </p:spTree>
    <p:extLst>
      <p:ext uri="{BB962C8B-B14F-4D97-AF65-F5344CB8AC3E}">
        <p14:creationId xmlns:p14="http://schemas.microsoft.com/office/powerpoint/2010/main" val="2999309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91883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881992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127" y="104247"/>
            <a:ext cx="11979563" cy="1477328"/>
          </a:xfrm>
          <a:prstGeom prst="rect">
            <a:avLst/>
          </a:prstGeom>
        </p:spPr>
        <p:txBody>
          <a:bodyPr wrap="square">
            <a:spAutoFit/>
          </a:bodyPr>
          <a:lstStyle/>
          <a:p>
            <a:r>
              <a:rPr lang="en-US" dirty="0" smtClean="0">
                <a:solidFill>
                  <a:srgbClr val="FF0000"/>
                </a:solidFill>
                <a:latin typeface="Lato"/>
              </a:rPr>
              <a:t>Problem : Three </a:t>
            </a:r>
            <a:r>
              <a:rPr lang="en-US" dirty="0">
                <a:solidFill>
                  <a:srgbClr val="FF0000"/>
                </a:solidFill>
                <a:latin typeface="Lato"/>
              </a:rPr>
              <a:t>resistors are connected together to form a current divider circuit as shown below. If the circuit is fed from a 100 volts supply with a capacity of 1.5kW. Calculate the individual branch currents using the current division rule and find the equivalent circuit resistance.</a:t>
            </a:r>
          </a:p>
          <a:p>
            <a:r>
              <a:rPr lang="en-US" dirty="0"/>
              <a:t/>
            </a:r>
            <a:br>
              <a:rPr lang="en-US" dirty="0"/>
            </a:br>
            <a:endParaRPr lang="en-US" dirty="0"/>
          </a:p>
        </p:txBody>
      </p:sp>
      <p:pic>
        <p:nvPicPr>
          <p:cNvPr id="5" name="Picture 4"/>
          <p:cNvPicPr>
            <a:picLocks noChangeAspect="1"/>
          </p:cNvPicPr>
          <p:nvPr/>
        </p:nvPicPr>
        <p:blipFill>
          <a:blip r:embed="rId2"/>
          <a:stretch>
            <a:fillRect/>
          </a:stretch>
        </p:blipFill>
        <p:spPr>
          <a:xfrm>
            <a:off x="1856798" y="1158298"/>
            <a:ext cx="6717331" cy="3200400"/>
          </a:xfrm>
          <a:prstGeom prst="rect">
            <a:avLst/>
          </a:prstGeom>
        </p:spPr>
      </p:pic>
    </p:spTree>
    <p:extLst>
      <p:ext uri="{BB962C8B-B14F-4D97-AF65-F5344CB8AC3E}">
        <p14:creationId xmlns:p14="http://schemas.microsoft.com/office/powerpoint/2010/main" val="1115793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626</Words>
  <Application>Microsoft Office PowerPoint</Application>
  <PresentationFormat>Widescreen</PresentationFormat>
  <Paragraphs>45</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Calibri Light</vt:lpstr>
      <vt:lpstr>Lato</vt:lpstr>
      <vt:lpstr>MathJax_Main</vt:lpstr>
      <vt:lpstr>MathJax_Math-italic</vt:lpstr>
      <vt:lpstr>Segoe 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Microsoft account</cp:lastModifiedBy>
  <cp:revision>24</cp:revision>
  <dcterms:created xsi:type="dcterms:W3CDTF">2025-11-09T11:10:23Z</dcterms:created>
  <dcterms:modified xsi:type="dcterms:W3CDTF">2026-01-07T15:39:02Z</dcterms:modified>
</cp:coreProperties>
</file>