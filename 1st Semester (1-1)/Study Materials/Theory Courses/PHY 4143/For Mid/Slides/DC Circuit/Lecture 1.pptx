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08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40305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08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819416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BAEDE8-9AB4-430C-A231-8E2C4AC7B642}" type="datetimeFigureOut">
              <a:rPr lang="en-US" smtClean="0"/>
              <a:t>08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1320520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8BAEDE8-9AB4-430C-A231-8E2C4AC7B642}" type="datetimeFigureOut">
              <a:rPr lang="en-US" smtClean="0"/>
              <a:t>08 Jan, 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63010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BAEDE8-9AB4-430C-A231-8E2C4AC7B642}" type="datetimeFigureOut">
              <a:rPr lang="en-US" smtClean="0"/>
              <a:t>08 Jan, 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129183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BAEDE8-9AB4-430C-A231-8E2C4AC7B642}" type="datetimeFigureOut">
              <a:rPr lang="en-US" smtClean="0"/>
              <a:t>08 Jan, 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698106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AEDE8-9AB4-430C-A231-8E2C4AC7B642}" type="datetimeFigureOut">
              <a:rPr lang="en-US" smtClean="0"/>
              <a:t>08 Jan, 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485361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BAEDE8-9AB4-430C-A231-8E2C4AC7B642}" type="datetimeFigureOut">
              <a:rPr lang="en-US" smtClean="0"/>
              <a:t>08 Jan, 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61407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BAEDE8-9AB4-430C-A231-8E2C4AC7B642}" type="datetimeFigureOut">
              <a:rPr lang="en-US" smtClean="0"/>
              <a:t>08 Jan, 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734294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08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756333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08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858458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AEDE8-9AB4-430C-A231-8E2C4AC7B642}" type="datetimeFigureOut">
              <a:rPr lang="en-US" smtClean="0"/>
              <a:t>08 Jan, 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FC4E71-2CDE-4B22-8493-9E3047F9A8AB}" type="slidenum">
              <a:rPr lang="en-US" smtClean="0"/>
              <a:t>‹#›</a:t>
            </a:fld>
            <a:endParaRPr lang="en-US"/>
          </a:p>
        </p:txBody>
      </p:sp>
    </p:spTree>
    <p:extLst>
      <p:ext uri="{BB962C8B-B14F-4D97-AF65-F5344CB8AC3E}">
        <p14:creationId xmlns:p14="http://schemas.microsoft.com/office/powerpoint/2010/main" val="2138059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circuitglobe.com/wp-content/uploads/2015/10/KCL-FIGURE-compressor.jp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circuitglobe.com/wp-content/uploads/2015/10/KVL-FIGURE-B-compressor.jpg" TargetMode="Externa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hyperlink" Target="https://circuitglobe.com/wp-content/uploads/2015/10/kcl-eq3-compressor.jpg"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633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6400" y="770231"/>
            <a:ext cx="6539346" cy="1569660"/>
          </a:xfrm>
          <a:prstGeom prst="rect">
            <a:avLst/>
          </a:prstGeom>
        </p:spPr>
        <p:txBody>
          <a:bodyPr wrap="square">
            <a:spAutoFit/>
          </a:bodyPr>
          <a:lstStyle/>
          <a:p>
            <a:r>
              <a:rPr lang="en-US" sz="2400" b="1" dirty="0" smtClean="0"/>
              <a:t>What is voltage?</a:t>
            </a:r>
          </a:p>
          <a:p>
            <a:pPr algn="just"/>
            <a:r>
              <a:rPr lang="en-US" b="1" dirty="0" smtClean="0">
                <a:solidFill>
                  <a:schemeClr val="accent6">
                    <a:lumMod val="75000"/>
                  </a:schemeClr>
                </a:solidFill>
              </a:rPr>
              <a:t>Voltage, often measured in volts (V), is the electrical potential difference between two points in a circuit. It represents the force that drives electric current.</a:t>
            </a:r>
          </a:p>
          <a:p>
            <a:endParaRPr lang="en-US" dirty="0" smtClean="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4240" y="1548378"/>
            <a:ext cx="4247542" cy="2926080"/>
          </a:xfrm>
          <a:prstGeom prst="rect">
            <a:avLst/>
          </a:prstGeom>
        </p:spPr>
      </p:pic>
      <p:sp>
        <p:nvSpPr>
          <p:cNvPr id="7" name="Rectangle 6"/>
          <p:cNvSpPr/>
          <p:nvPr/>
        </p:nvSpPr>
        <p:spPr>
          <a:xfrm>
            <a:off x="406400" y="2209999"/>
            <a:ext cx="6539346" cy="1292662"/>
          </a:xfrm>
          <a:prstGeom prst="rect">
            <a:avLst/>
          </a:prstGeom>
        </p:spPr>
        <p:txBody>
          <a:bodyPr wrap="square">
            <a:spAutoFit/>
          </a:bodyPr>
          <a:lstStyle/>
          <a:p>
            <a:r>
              <a:rPr lang="en-US" sz="2400" b="1" dirty="0" smtClean="0"/>
              <a:t>What is current?</a:t>
            </a:r>
          </a:p>
          <a:p>
            <a:pPr algn="just"/>
            <a:r>
              <a:rPr lang="en-US" b="1" dirty="0" smtClean="0">
                <a:solidFill>
                  <a:srgbClr val="0070C0"/>
                </a:solidFill>
              </a:rPr>
              <a:t>Current, measured in amperes (A), is the flow of electric charge in a circuit. It is the rate at which electric charges (usually electrons) move through a conductor.</a:t>
            </a:r>
            <a:endParaRPr lang="en-US" b="1" dirty="0">
              <a:solidFill>
                <a:srgbClr val="0070C0"/>
              </a:solidFill>
            </a:endParaRPr>
          </a:p>
        </p:txBody>
      </p:sp>
      <p:sp>
        <p:nvSpPr>
          <p:cNvPr id="8" name="Rectangle 7"/>
          <p:cNvSpPr/>
          <p:nvPr/>
        </p:nvSpPr>
        <p:spPr>
          <a:xfrm>
            <a:off x="406400" y="3613972"/>
            <a:ext cx="6539346" cy="1569660"/>
          </a:xfrm>
          <a:prstGeom prst="rect">
            <a:avLst/>
          </a:prstGeom>
        </p:spPr>
        <p:txBody>
          <a:bodyPr wrap="square">
            <a:spAutoFit/>
          </a:bodyPr>
          <a:lstStyle/>
          <a:p>
            <a:r>
              <a:rPr lang="en-US" sz="2400" b="1" dirty="0" smtClean="0"/>
              <a:t>What is resistance?</a:t>
            </a:r>
          </a:p>
          <a:p>
            <a:r>
              <a:rPr lang="en-US" b="1" dirty="0" smtClean="0">
                <a:solidFill>
                  <a:schemeClr val="accent2">
                    <a:lumMod val="75000"/>
                  </a:schemeClr>
                </a:solidFill>
              </a:rPr>
              <a:t>Resistance, measured in ohms (ΩΩ, is the opposition that a material offers to the flow of electric current. It depends on the material’s properties, length, cross-sectional area, and temperature.</a:t>
            </a:r>
            <a:endParaRPr lang="en-US" b="1" dirty="0">
              <a:solidFill>
                <a:schemeClr val="accent2">
                  <a:lumMod val="75000"/>
                </a:schemeClr>
              </a:solidFill>
            </a:endParaRPr>
          </a:p>
        </p:txBody>
      </p:sp>
      <p:sp>
        <p:nvSpPr>
          <p:cNvPr id="9" name="Rectangle 8"/>
          <p:cNvSpPr/>
          <p:nvPr/>
        </p:nvSpPr>
        <p:spPr>
          <a:xfrm>
            <a:off x="406400" y="5110263"/>
            <a:ext cx="11425382" cy="1015663"/>
          </a:xfrm>
          <a:prstGeom prst="rect">
            <a:avLst/>
          </a:prstGeom>
        </p:spPr>
        <p:txBody>
          <a:bodyPr wrap="square">
            <a:spAutoFit/>
          </a:bodyPr>
          <a:lstStyle/>
          <a:p>
            <a:r>
              <a:rPr lang="en-US" sz="2400" b="1" dirty="0" smtClean="0"/>
              <a:t>How are voltage, current, and resistance related?</a:t>
            </a:r>
          </a:p>
          <a:p>
            <a:r>
              <a:rPr lang="en-US" b="1" dirty="0" smtClean="0">
                <a:solidFill>
                  <a:srgbClr val="FF0000"/>
                </a:solidFill>
              </a:rPr>
              <a:t>They are related by Ohm’s Law, which states that voltage (V) is equal to the product of current (I) and resistance (R) in a circuit: V=I×R. This relationship helps to understand how changes in one of these parameters affect the others.</a:t>
            </a:r>
            <a:endParaRPr lang="en-US" b="1" dirty="0">
              <a:solidFill>
                <a:srgbClr val="FF0000"/>
              </a:solidFill>
            </a:endParaRPr>
          </a:p>
        </p:txBody>
      </p:sp>
    </p:spTree>
    <p:extLst>
      <p:ext uri="{BB962C8B-B14F-4D97-AF65-F5344CB8AC3E}">
        <p14:creationId xmlns:p14="http://schemas.microsoft.com/office/powerpoint/2010/main" val="65708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10066" y="288252"/>
            <a:ext cx="2629759" cy="642035"/>
          </a:xfrm>
          <a:prstGeom prst="rect">
            <a:avLst/>
          </a:prstGeom>
          <a:solidFill>
            <a:srgbClr val="FFFF00"/>
          </a:solidFill>
        </p:spPr>
        <p:txBody>
          <a:bodyPr wrap="none">
            <a:spAutoFit/>
          </a:bodyPr>
          <a:lstStyle/>
          <a:p>
            <a:pPr algn="ctr">
              <a:lnSpc>
                <a:spcPct val="107000"/>
              </a:lnSpc>
              <a:spcAft>
                <a:spcPts val="800"/>
              </a:spcAft>
            </a:pPr>
            <a:r>
              <a:rPr lang="en-US" sz="3600" b="1" kern="100" dirty="0">
                <a:latin typeface="Arial" panose="020B0604020202020204" pitchFamily="34" charset="0"/>
                <a:ea typeface="Calibri" panose="020F0502020204030204" pitchFamily="34" charset="0"/>
                <a:cs typeface="Arial" panose="020B0604020202020204" pitchFamily="34" charset="0"/>
              </a:rPr>
              <a:t>Ohm’s Law</a:t>
            </a: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4"/>
          <p:cNvSpPr/>
          <p:nvPr/>
        </p:nvSpPr>
        <p:spPr>
          <a:xfrm>
            <a:off x="286327" y="1083163"/>
            <a:ext cx="11739417" cy="646331"/>
          </a:xfrm>
          <a:prstGeom prst="rect">
            <a:avLst/>
          </a:prstGeom>
        </p:spPr>
        <p:txBody>
          <a:bodyPr wrap="square">
            <a:spAutoFit/>
          </a:bodyPr>
          <a:lstStyle/>
          <a:p>
            <a:r>
              <a:rPr lang="en-US" b="1" dirty="0" smtClean="0">
                <a:solidFill>
                  <a:srgbClr val="002060"/>
                </a:solidFill>
              </a:rPr>
              <a:t>Ohm’s law states that the current (I) flowing through a circuit is directly proportional to the potential difference (V) across the circuit and inversely proportional to the resistance (R) of the circuit provided the temperature remains constant.</a:t>
            </a:r>
            <a:endParaRPr lang="en-US" b="1" dirty="0">
              <a:solidFill>
                <a:srgbClr val="002060"/>
              </a:solidFill>
            </a:endParaRPr>
          </a:p>
        </p:txBody>
      </p:sp>
      <p:sp>
        <p:nvSpPr>
          <p:cNvPr id="6" name="Rectangle 5"/>
          <p:cNvSpPr/>
          <p:nvPr/>
        </p:nvSpPr>
        <p:spPr>
          <a:xfrm>
            <a:off x="3108035" y="2034463"/>
            <a:ext cx="6096000" cy="1200329"/>
          </a:xfrm>
          <a:prstGeom prst="rect">
            <a:avLst/>
          </a:prstGeom>
        </p:spPr>
        <p:txBody>
          <a:bodyPr>
            <a:spAutoFit/>
          </a:bodyPr>
          <a:lstStyle/>
          <a:p>
            <a:r>
              <a:rPr lang="pt-BR" sz="2400" b="1" dirty="0" smtClean="0"/>
              <a:t>Mathematically,    I=V/R  ……… (1)</a:t>
            </a:r>
          </a:p>
          <a:p>
            <a:r>
              <a:rPr lang="pt-BR" sz="2400" b="1" dirty="0" smtClean="0"/>
              <a:t>                                V=IR…………  (2)</a:t>
            </a:r>
          </a:p>
          <a:p>
            <a:r>
              <a:rPr lang="pt-BR" sz="2400" b="1" dirty="0" smtClean="0"/>
              <a:t>                                R=V/I …………(3)</a:t>
            </a:r>
            <a:endParaRPr lang="pt-BR" sz="2400" b="1" dirty="0"/>
          </a:p>
        </p:txBody>
      </p:sp>
      <p:sp>
        <p:nvSpPr>
          <p:cNvPr id="10" name="Rectangle 9"/>
          <p:cNvSpPr/>
          <p:nvPr/>
        </p:nvSpPr>
        <p:spPr>
          <a:xfrm>
            <a:off x="395972" y="3750611"/>
            <a:ext cx="2533066" cy="461665"/>
          </a:xfrm>
          <a:prstGeom prst="rect">
            <a:avLst/>
          </a:prstGeom>
        </p:spPr>
        <p:txBody>
          <a:bodyPr wrap="none">
            <a:spAutoFit/>
          </a:bodyPr>
          <a:lstStyle/>
          <a:p>
            <a:r>
              <a:rPr lang="en-US" sz="2400" b="1" dirty="0" smtClean="0"/>
              <a:t>The magic triangle</a:t>
            </a:r>
            <a:endParaRPr lang="en-US" sz="2400" b="1" dirty="0"/>
          </a:p>
        </p:txBody>
      </p:sp>
      <p:pic>
        <p:nvPicPr>
          <p:cNvPr id="15" name="Picture 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972" y="4949766"/>
            <a:ext cx="2103120" cy="1645920"/>
          </a:xfrm>
          <a:prstGeom prst="rect">
            <a:avLst/>
          </a:prstGeom>
          <a:noFill/>
        </p:spPr>
      </p:pic>
      <p:sp>
        <p:nvSpPr>
          <p:cNvPr id="11" name="Down Arrow 10"/>
          <p:cNvSpPr/>
          <p:nvPr/>
        </p:nvSpPr>
        <p:spPr>
          <a:xfrm>
            <a:off x="4449917" y="4524983"/>
            <a:ext cx="484632" cy="406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3"/>
          <a:stretch>
            <a:fillRect/>
          </a:stretch>
        </p:blipFill>
        <p:spPr>
          <a:xfrm>
            <a:off x="3892418" y="5041206"/>
            <a:ext cx="7015089" cy="1463040"/>
          </a:xfrm>
          <a:prstGeom prst="rect">
            <a:avLst/>
          </a:prstGeom>
        </p:spPr>
      </p:pic>
      <p:sp>
        <p:nvSpPr>
          <p:cNvPr id="13" name="TextBox 12"/>
          <p:cNvSpPr txBox="1"/>
          <p:nvPr/>
        </p:nvSpPr>
        <p:spPr>
          <a:xfrm>
            <a:off x="4498109" y="3891940"/>
            <a:ext cx="388248" cy="523220"/>
          </a:xfrm>
          <a:prstGeom prst="rect">
            <a:avLst/>
          </a:prstGeom>
          <a:noFill/>
        </p:spPr>
        <p:txBody>
          <a:bodyPr wrap="none" rtlCol="0">
            <a:spAutoFit/>
          </a:bodyPr>
          <a:lstStyle/>
          <a:p>
            <a:r>
              <a:rPr lang="en-US" sz="2800" dirty="0" smtClean="0"/>
              <a:t>V</a:t>
            </a:r>
            <a:endParaRPr lang="en-US" sz="2800" dirty="0"/>
          </a:p>
        </p:txBody>
      </p:sp>
      <p:sp>
        <p:nvSpPr>
          <p:cNvPr id="22" name="Down Arrow 21"/>
          <p:cNvSpPr/>
          <p:nvPr/>
        </p:nvSpPr>
        <p:spPr>
          <a:xfrm>
            <a:off x="7719590" y="4524983"/>
            <a:ext cx="484632" cy="406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9899372" y="4543366"/>
            <a:ext cx="484632" cy="406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7719590" y="3947006"/>
            <a:ext cx="380232" cy="523220"/>
          </a:xfrm>
          <a:prstGeom prst="rect">
            <a:avLst/>
          </a:prstGeom>
          <a:noFill/>
        </p:spPr>
        <p:txBody>
          <a:bodyPr wrap="none" rtlCol="0">
            <a:spAutoFit/>
          </a:bodyPr>
          <a:lstStyle/>
          <a:p>
            <a:r>
              <a:rPr lang="en-US" sz="2800" dirty="0" smtClean="0"/>
              <a:t>R</a:t>
            </a:r>
            <a:endParaRPr lang="en-US" sz="2800" dirty="0"/>
          </a:p>
        </p:txBody>
      </p:sp>
      <p:sp>
        <p:nvSpPr>
          <p:cNvPr id="25" name="TextBox 24"/>
          <p:cNvSpPr txBox="1"/>
          <p:nvPr/>
        </p:nvSpPr>
        <p:spPr>
          <a:xfrm>
            <a:off x="9925392" y="4020146"/>
            <a:ext cx="274434" cy="523220"/>
          </a:xfrm>
          <a:prstGeom prst="rect">
            <a:avLst/>
          </a:prstGeom>
          <a:noFill/>
        </p:spPr>
        <p:txBody>
          <a:bodyPr wrap="none" rtlCol="0">
            <a:spAutoFit/>
          </a:bodyPr>
          <a:lstStyle/>
          <a:p>
            <a:r>
              <a:rPr lang="en-US" sz="2800" dirty="0"/>
              <a:t>I</a:t>
            </a:r>
          </a:p>
        </p:txBody>
      </p:sp>
    </p:spTree>
    <p:extLst>
      <p:ext uri="{BB962C8B-B14F-4D97-AF65-F5344CB8AC3E}">
        <p14:creationId xmlns:p14="http://schemas.microsoft.com/office/powerpoint/2010/main" val="2750266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9381" y="408955"/>
            <a:ext cx="11859491" cy="1015663"/>
          </a:xfrm>
          <a:prstGeom prst="rect">
            <a:avLst/>
          </a:prstGeom>
        </p:spPr>
        <p:txBody>
          <a:bodyPr wrap="square">
            <a:spAutoFit/>
          </a:bodyPr>
          <a:lstStyle/>
          <a:p>
            <a:r>
              <a:rPr lang="en-US" sz="2400" b="1" dirty="0" smtClean="0"/>
              <a:t>What is an Electric Circuit?</a:t>
            </a:r>
          </a:p>
          <a:p>
            <a:r>
              <a:rPr lang="en-US" dirty="0" smtClean="0"/>
              <a:t> </a:t>
            </a:r>
            <a:r>
              <a:rPr lang="en-US" b="1" dirty="0" smtClean="0"/>
              <a:t>An Electric Circuit is a closed path for transmitting an electric current through the medium of electrical and magnetic fields. The flow of electrons across the loop constitutes the electric current. </a:t>
            </a:r>
            <a:endParaRPr lang="en-US" b="1" dirty="0"/>
          </a:p>
        </p:txBody>
      </p:sp>
      <p:sp>
        <p:nvSpPr>
          <p:cNvPr id="5" name="Rectangle 4"/>
          <p:cNvSpPr/>
          <p:nvPr/>
        </p:nvSpPr>
        <p:spPr>
          <a:xfrm>
            <a:off x="4420366" y="1612901"/>
            <a:ext cx="3059620" cy="461665"/>
          </a:xfrm>
          <a:prstGeom prst="rect">
            <a:avLst/>
          </a:prstGeom>
        </p:spPr>
        <p:txBody>
          <a:bodyPr wrap="none">
            <a:spAutoFit/>
          </a:bodyPr>
          <a:lstStyle/>
          <a:p>
            <a:r>
              <a:rPr lang="en-US" sz="2400" b="1" dirty="0" smtClean="0"/>
              <a:t>Basic Circuit Elements:</a:t>
            </a:r>
            <a:endParaRPr lang="en-US" sz="2400" b="1" dirty="0"/>
          </a:p>
        </p:txBody>
      </p:sp>
      <p:sp>
        <p:nvSpPr>
          <p:cNvPr id="6" name="Right Arrow 5"/>
          <p:cNvSpPr/>
          <p:nvPr/>
        </p:nvSpPr>
        <p:spPr>
          <a:xfrm>
            <a:off x="249380" y="2336800"/>
            <a:ext cx="1256146" cy="1091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75338" y="2336800"/>
            <a:ext cx="10333533" cy="1080232"/>
          </a:xfrm>
          <a:prstGeom prst="rect">
            <a:avLst/>
          </a:prstGeom>
        </p:spPr>
        <p:txBody>
          <a:bodyPr wrap="square">
            <a:spAutoFit/>
          </a:bodyPr>
          <a:lstStyle/>
          <a:p>
            <a:pPr algn="just">
              <a:lnSpc>
                <a:spcPct val="107000"/>
              </a:lnSpc>
              <a:spcAft>
                <a:spcPts val="800"/>
              </a:spcAft>
              <a:tabLst>
                <a:tab pos="3591560" algn="l"/>
              </a:tabLst>
            </a:pPr>
            <a:r>
              <a:rPr lang="en-US" b="1" kern="100" dirty="0">
                <a:latin typeface="Times New Roman" panose="02020603050405020304" pitchFamily="18" charset="0"/>
                <a:ea typeface="Calibri" panose="020F0502020204030204" pitchFamily="34" charset="0"/>
                <a:cs typeface="Times New Roman" panose="02020603050405020304" pitchFamily="18" charset="0"/>
              </a:rPr>
              <a:t>Active Circuit Elements: </a:t>
            </a:r>
            <a:r>
              <a:rPr lang="en-US"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Active Elements are those which can generate energy. Examples include batteries, generators, operational amplifiers and diodes. Note that in an electrical circuit, the source elements are the most significant active elements.</a:t>
            </a:r>
            <a:r>
              <a:rPr lang="en-US" sz="2400" b="1" kern="100" dirty="0" smtClean="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074" name="Picture 9" descr="https://www.tutorialspoint.com/assets/questions/media/334420-166849248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527" y="4698669"/>
            <a:ext cx="4747490" cy="952500"/>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10" descr="https://www.tutorialspoint.com/basic-circuit-elements-resistor-inductor-and-capacitor"/>
          <p:cNvSpPr>
            <a:spLocks noChangeAspect="1" noChangeArrowheads="1"/>
          </p:cNvSpPr>
          <p:nvPr/>
        </p:nvSpPr>
        <p:spPr bwMode="auto">
          <a:xfrm>
            <a:off x="1505526" y="4241469"/>
            <a:ext cx="92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10" name="Rectangle 3"/>
          <p:cNvSpPr>
            <a:spLocks noChangeArrowheads="1"/>
          </p:cNvSpPr>
          <p:nvPr/>
        </p:nvSpPr>
        <p:spPr bwMode="auto">
          <a:xfrm>
            <a:off x="1505526" y="4100737"/>
            <a:ext cx="482138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590925" algn="l"/>
              </a:tabLst>
              <a:defRPr>
                <a:solidFill>
                  <a:schemeClr val="tx1"/>
                </a:solidFill>
                <a:latin typeface="Arial" panose="020B0604020202020204" pitchFamily="34" charset="0"/>
              </a:defRPr>
            </a:lvl1pPr>
            <a:lvl2pPr eaLnBrk="0" fontAlgn="base" hangingPunct="0">
              <a:spcBef>
                <a:spcPct val="0"/>
              </a:spcBef>
              <a:spcAft>
                <a:spcPct val="0"/>
              </a:spcAft>
              <a:tabLst>
                <a:tab pos="3590925" algn="l"/>
              </a:tabLst>
              <a:defRPr>
                <a:solidFill>
                  <a:schemeClr val="tx1"/>
                </a:solidFill>
                <a:latin typeface="Arial" panose="020B0604020202020204" pitchFamily="34" charset="0"/>
              </a:defRPr>
            </a:lvl2pPr>
            <a:lvl3pPr eaLnBrk="0" fontAlgn="base" hangingPunct="0">
              <a:spcBef>
                <a:spcPct val="0"/>
              </a:spcBef>
              <a:spcAft>
                <a:spcPct val="0"/>
              </a:spcAft>
              <a:tabLst>
                <a:tab pos="3590925" algn="l"/>
              </a:tabLst>
              <a:defRPr>
                <a:solidFill>
                  <a:schemeClr val="tx1"/>
                </a:solidFill>
                <a:latin typeface="Arial" panose="020B0604020202020204" pitchFamily="34" charset="0"/>
              </a:defRPr>
            </a:lvl3pPr>
            <a:lvl4pPr eaLnBrk="0" fontAlgn="base" hangingPunct="0">
              <a:spcBef>
                <a:spcPct val="0"/>
              </a:spcBef>
              <a:spcAft>
                <a:spcPct val="0"/>
              </a:spcAft>
              <a:tabLst>
                <a:tab pos="3590925" algn="l"/>
              </a:tabLst>
              <a:defRPr>
                <a:solidFill>
                  <a:schemeClr val="tx1"/>
                </a:solidFill>
                <a:latin typeface="Arial" panose="020B0604020202020204" pitchFamily="34" charset="0"/>
              </a:defRPr>
            </a:lvl4pPr>
            <a:lvl5pPr eaLnBrk="0" fontAlgn="base" hangingPunct="0">
              <a:spcBef>
                <a:spcPct val="0"/>
              </a:spcBef>
              <a:spcAft>
                <a:spcPct val="0"/>
              </a:spcAft>
              <a:tabLst>
                <a:tab pos="3590925" algn="l"/>
              </a:tabLst>
              <a:defRPr>
                <a:solidFill>
                  <a:schemeClr val="tx1"/>
                </a:solidFill>
                <a:latin typeface="Arial" panose="020B0604020202020204" pitchFamily="34" charset="0"/>
              </a:defRPr>
            </a:lvl5pPr>
            <a:lvl6pPr eaLnBrk="0" fontAlgn="base" hangingPunct="0">
              <a:spcBef>
                <a:spcPct val="0"/>
              </a:spcBef>
              <a:spcAft>
                <a:spcPct val="0"/>
              </a:spcAft>
              <a:tabLst>
                <a:tab pos="3590925" algn="l"/>
              </a:tabLst>
              <a:defRPr>
                <a:solidFill>
                  <a:schemeClr val="tx1"/>
                </a:solidFill>
                <a:latin typeface="Arial" panose="020B0604020202020204" pitchFamily="34" charset="0"/>
              </a:defRPr>
            </a:lvl6pPr>
            <a:lvl7pPr eaLnBrk="0" fontAlgn="base" hangingPunct="0">
              <a:spcBef>
                <a:spcPct val="0"/>
              </a:spcBef>
              <a:spcAft>
                <a:spcPct val="0"/>
              </a:spcAft>
              <a:tabLst>
                <a:tab pos="3590925" algn="l"/>
              </a:tabLst>
              <a:defRPr>
                <a:solidFill>
                  <a:schemeClr val="tx1"/>
                </a:solidFill>
                <a:latin typeface="Arial" panose="020B0604020202020204" pitchFamily="34" charset="0"/>
              </a:defRPr>
            </a:lvl7pPr>
            <a:lvl8pPr eaLnBrk="0" fontAlgn="base" hangingPunct="0">
              <a:spcBef>
                <a:spcPct val="0"/>
              </a:spcBef>
              <a:spcAft>
                <a:spcPct val="0"/>
              </a:spcAft>
              <a:tabLst>
                <a:tab pos="3590925" algn="l"/>
              </a:tabLst>
              <a:defRPr>
                <a:solidFill>
                  <a:schemeClr val="tx1"/>
                </a:solidFill>
                <a:latin typeface="Arial" panose="020B0604020202020204" pitchFamily="34" charset="0"/>
              </a:defRPr>
            </a:lvl8pPr>
            <a:lvl9pPr eaLnBrk="0" fontAlgn="base" hangingPunct="0">
              <a:spcBef>
                <a:spcPct val="0"/>
              </a:spcBef>
              <a:spcAft>
                <a:spcPct val="0"/>
              </a:spcAft>
              <a:tabLst>
                <a:tab pos="3590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590925" algn="l"/>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1"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Resistor:</a:t>
            </a:r>
            <a:r>
              <a:rPr kumimoji="0" lang="en-US" alt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a:t>
            </a:r>
            <a:r>
              <a:rPr kumimoji="0" lang="en-US" altLang="en-US" b="1"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A resistor opposes the flow of current through it. </a:t>
            </a:r>
            <a:endParaRPr kumimoji="0" lang="en-US" altLang="en-US" sz="2800" b="1" i="0" u="none" strike="noStrike" cap="none" normalizeH="0" baseline="0" dirty="0" smtClean="0">
              <a:ln>
                <a:noFill/>
              </a:ln>
              <a:solidFill>
                <a:schemeClr val="tx1"/>
              </a:solidFill>
              <a:effectLst/>
              <a:cs typeface="Arial" panose="020B0604020202020204" pitchFamily="34" charset="0"/>
            </a:endParaRPr>
          </a:p>
        </p:txBody>
      </p:sp>
      <p:sp>
        <p:nvSpPr>
          <p:cNvPr id="12" name="Rectangle 4"/>
          <p:cNvSpPr>
            <a:spLocks noChangeArrowheads="1"/>
          </p:cNvSpPr>
          <p:nvPr/>
        </p:nvSpPr>
        <p:spPr bwMode="auto">
          <a:xfrm>
            <a:off x="1505527" y="5651169"/>
            <a:ext cx="3694546"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5" name="Right Arrow 14"/>
          <p:cNvSpPr/>
          <p:nvPr/>
        </p:nvSpPr>
        <p:spPr>
          <a:xfrm>
            <a:off x="249379" y="3924486"/>
            <a:ext cx="1256146" cy="1091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9" name="Picture 13" descr="https://www.tutorialspoint.com/assets/questions/media/334420-166849252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564" y="4768831"/>
            <a:ext cx="5033818" cy="952500"/>
          </a:xfrm>
          <a:prstGeom prst="rect">
            <a:avLst/>
          </a:prstGeom>
          <a:noFill/>
          <a:extLst>
            <a:ext uri="{909E8E84-426E-40DD-AFC4-6F175D3DCCD1}">
              <a14:hiddenFill xmlns:a14="http://schemas.microsoft.com/office/drawing/2010/main">
                <a:solidFill>
                  <a:srgbClr val="FFFFFF"/>
                </a:solidFill>
              </a14:hiddenFill>
            </a:ext>
          </a:extLst>
        </p:spPr>
      </p:pic>
      <p:sp>
        <p:nvSpPr>
          <p:cNvPr id="18" name="AutoShape 14" descr="https://www.tutorialspoint.com/basic-circuit-elements-resistor-inductor-and-capacitor"/>
          <p:cNvSpPr>
            <a:spLocks noChangeAspect="1" noChangeArrowheads="1"/>
          </p:cNvSpPr>
          <p:nvPr/>
        </p:nvSpPr>
        <p:spPr bwMode="auto">
          <a:xfrm>
            <a:off x="6391564" y="4464329"/>
            <a:ext cx="122844"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16" name="Rectangle 8"/>
          <p:cNvSpPr>
            <a:spLocks noChangeArrowheads="1"/>
          </p:cNvSpPr>
          <p:nvPr/>
        </p:nvSpPr>
        <p:spPr bwMode="auto">
          <a:xfrm>
            <a:off x="6942104" y="4106665"/>
            <a:ext cx="491374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590925" algn="l"/>
              </a:tabLst>
              <a:defRPr>
                <a:solidFill>
                  <a:schemeClr val="tx1"/>
                </a:solidFill>
                <a:latin typeface="Arial" panose="020B0604020202020204" pitchFamily="34" charset="0"/>
              </a:defRPr>
            </a:lvl1pPr>
            <a:lvl2pPr eaLnBrk="0" fontAlgn="base" hangingPunct="0">
              <a:spcBef>
                <a:spcPct val="0"/>
              </a:spcBef>
              <a:spcAft>
                <a:spcPct val="0"/>
              </a:spcAft>
              <a:tabLst>
                <a:tab pos="3590925" algn="l"/>
              </a:tabLst>
              <a:defRPr>
                <a:solidFill>
                  <a:schemeClr val="tx1"/>
                </a:solidFill>
                <a:latin typeface="Arial" panose="020B0604020202020204" pitchFamily="34" charset="0"/>
              </a:defRPr>
            </a:lvl2pPr>
            <a:lvl3pPr eaLnBrk="0" fontAlgn="base" hangingPunct="0">
              <a:spcBef>
                <a:spcPct val="0"/>
              </a:spcBef>
              <a:spcAft>
                <a:spcPct val="0"/>
              </a:spcAft>
              <a:tabLst>
                <a:tab pos="3590925" algn="l"/>
              </a:tabLst>
              <a:defRPr>
                <a:solidFill>
                  <a:schemeClr val="tx1"/>
                </a:solidFill>
                <a:latin typeface="Arial" panose="020B0604020202020204" pitchFamily="34" charset="0"/>
              </a:defRPr>
            </a:lvl3pPr>
            <a:lvl4pPr eaLnBrk="0" fontAlgn="base" hangingPunct="0">
              <a:spcBef>
                <a:spcPct val="0"/>
              </a:spcBef>
              <a:spcAft>
                <a:spcPct val="0"/>
              </a:spcAft>
              <a:tabLst>
                <a:tab pos="3590925" algn="l"/>
              </a:tabLst>
              <a:defRPr>
                <a:solidFill>
                  <a:schemeClr val="tx1"/>
                </a:solidFill>
                <a:latin typeface="Arial" panose="020B0604020202020204" pitchFamily="34" charset="0"/>
              </a:defRPr>
            </a:lvl4pPr>
            <a:lvl5pPr eaLnBrk="0" fontAlgn="base" hangingPunct="0">
              <a:spcBef>
                <a:spcPct val="0"/>
              </a:spcBef>
              <a:spcAft>
                <a:spcPct val="0"/>
              </a:spcAft>
              <a:tabLst>
                <a:tab pos="3590925" algn="l"/>
              </a:tabLst>
              <a:defRPr>
                <a:solidFill>
                  <a:schemeClr val="tx1"/>
                </a:solidFill>
                <a:latin typeface="Arial" panose="020B0604020202020204" pitchFamily="34" charset="0"/>
              </a:defRPr>
            </a:lvl5pPr>
            <a:lvl6pPr eaLnBrk="0" fontAlgn="base" hangingPunct="0">
              <a:spcBef>
                <a:spcPct val="0"/>
              </a:spcBef>
              <a:spcAft>
                <a:spcPct val="0"/>
              </a:spcAft>
              <a:tabLst>
                <a:tab pos="3590925" algn="l"/>
              </a:tabLst>
              <a:defRPr>
                <a:solidFill>
                  <a:schemeClr val="tx1"/>
                </a:solidFill>
                <a:latin typeface="Arial" panose="020B0604020202020204" pitchFamily="34" charset="0"/>
              </a:defRPr>
            </a:lvl6pPr>
            <a:lvl7pPr eaLnBrk="0" fontAlgn="base" hangingPunct="0">
              <a:spcBef>
                <a:spcPct val="0"/>
              </a:spcBef>
              <a:spcAft>
                <a:spcPct val="0"/>
              </a:spcAft>
              <a:tabLst>
                <a:tab pos="3590925" algn="l"/>
              </a:tabLst>
              <a:defRPr>
                <a:solidFill>
                  <a:schemeClr val="tx1"/>
                </a:solidFill>
                <a:latin typeface="Arial" panose="020B0604020202020204" pitchFamily="34" charset="0"/>
              </a:defRPr>
            </a:lvl7pPr>
            <a:lvl8pPr eaLnBrk="0" fontAlgn="base" hangingPunct="0">
              <a:spcBef>
                <a:spcPct val="0"/>
              </a:spcBef>
              <a:spcAft>
                <a:spcPct val="0"/>
              </a:spcAft>
              <a:tabLst>
                <a:tab pos="3590925" algn="l"/>
              </a:tabLst>
              <a:defRPr>
                <a:solidFill>
                  <a:schemeClr val="tx1"/>
                </a:solidFill>
                <a:latin typeface="Arial" panose="020B0604020202020204" pitchFamily="34" charset="0"/>
              </a:defRPr>
            </a:lvl8pPr>
            <a:lvl9pPr eaLnBrk="0" fontAlgn="base" hangingPunct="0">
              <a:spcBef>
                <a:spcPct val="0"/>
              </a:spcBef>
              <a:spcAft>
                <a:spcPct val="0"/>
              </a:spcAft>
              <a:tabLst>
                <a:tab pos="3590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590925" algn="l"/>
              </a:tabLst>
            </a:pPr>
            <a:r>
              <a:rPr kumimoji="0" lang="en-US" altLang="en-US" sz="2400" b="1"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Inductor:</a:t>
            </a:r>
            <a:r>
              <a:rPr kumimoji="0" lang="en-US" altLang="en-US"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a:t>
            </a:r>
            <a:r>
              <a:rPr kumimoji="0" lang="en-US" altLang="en-US" b="1"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An inductor stores energy in form of the electromagnetic field. </a:t>
            </a:r>
            <a:endParaRPr kumimoji="0" lang="en-US" altLang="en-US" b="1" i="0" u="none" strike="noStrike" cap="none" normalizeH="0" baseline="0" dirty="0" smtClean="0">
              <a:ln>
                <a:noFill/>
              </a:ln>
              <a:solidFill>
                <a:schemeClr val="tx1"/>
              </a:solidFill>
              <a:effectLst/>
              <a:cs typeface="Arial" panose="020B0604020202020204" pitchFamily="34" charset="0"/>
            </a:endParaRPr>
          </a:p>
        </p:txBody>
      </p:sp>
      <p:sp>
        <p:nvSpPr>
          <p:cNvPr id="17" name="Rectangle 9"/>
          <p:cNvSpPr>
            <a:spLocks noChangeArrowheads="1"/>
          </p:cNvSpPr>
          <p:nvPr/>
        </p:nvSpPr>
        <p:spPr bwMode="auto">
          <a:xfrm>
            <a:off x="6391564" y="5874029"/>
            <a:ext cx="4913745"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20" name="Rectangle 19"/>
          <p:cNvSpPr/>
          <p:nvPr/>
        </p:nvSpPr>
        <p:spPr>
          <a:xfrm>
            <a:off x="1775338" y="5701560"/>
            <a:ext cx="6096000" cy="1015663"/>
          </a:xfrm>
          <a:prstGeom prst="rect">
            <a:avLst/>
          </a:prstGeom>
        </p:spPr>
        <p:txBody>
          <a:bodyPr>
            <a:spAutoFit/>
          </a:bodyPr>
          <a:lstStyle/>
          <a:p>
            <a:r>
              <a:rPr lang="en-US" sz="2400" b="1" dirty="0" smtClean="0"/>
              <a:t>Capacitor: </a:t>
            </a:r>
            <a:r>
              <a:rPr lang="en-US" b="1" dirty="0" smtClean="0"/>
              <a:t>A capacitor stores energy in form of the electrostatic field. The voltage across a capacitor is proportional to the charge. </a:t>
            </a:r>
            <a:endParaRPr lang="en-US" b="1" dirty="0"/>
          </a:p>
        </p:txBody>
      </p:sp>
      <p:sp>
        <p:nvSpPr>
          <p:cNvPr id="23" name="Right Arrow 22"/>
          <p:cNvSpPr/>
          <p:nvPr/>
        </p:nvSpPr>
        <p:spPr>
          <a:xfrm>
            <a:off x="249379" y="5663808"/>
            <a:ext cx="1256146" cy="1091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p:cNvPicPr>
            <a:picLocks noChangeAspect="1"/>
          </p:cNvPicPr>
          <p:nvPr/>
        </p:nvPicPr>
        <p:blipFill>
          <a:blip r:embed="rId4"/>
          <a:stretch>
            <a:fillRect/>
          </a:stretch>
        </p:blipFill>
        <p:spPr>
          <a:xfrm>
            <a:off x="7170126" y="5971772"/>
            <a:ext cx="4457700" cy="640080"/>
          </a:xfrm>
          <a:prstGeom prst="rect">
            <a:avLst/>
          </a:prstGeom>
        </p:spPr>
      </p:pic>
    </p:spTree>
    <p:extLst>
      <p:ext uri="{BB962C8B-B14F-4D97-AF65-F5344CB8AC3E}">
        <p14:creationId xmlns:p14="http://schemas.microsoft.com/office/powerpoint/2010/main" val="1156806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763" y="288252"/>
            <a:ext cx="3638367" cy="642035"/>
          </a:xfrm>
          <a:prstGeom prst="rect">
            <a:avLst/>
          </a:prstGeom>
          <a:solidFill>
            <a:srgbClr val="FFFF00"/>
          </a:solidFill>
        </p:spPr>
        <p:txBody>
          <a:bodyPr wrap="none">
            <a:spAutoFit/>
          </a:bodyPr>
          <a:lstStyle/>
          <a:p>
            <a:pPr algn="ctr">
              <a:lnSpc>
                <a:spcPct val="107000"/>
              </a:lnSpc>
              <a:spcAft>
                <a:spcPts val="800"/>
              </a:spcAft>
            </a:pPr>
            <a:r>
              <a:rPr lang="en-US" sz="3600" b="1" kern="100" dirty="0" smtClean="0">
                <a:latin typeface="Arial" panose="020B0604020202020204" pitchFamily="34" charset="0"/>
                <a:ea typeface="Calibri" panose="020F0502020204030204" pitchFamily="34" charset="0"/>
                <a:cs typeface="Arial" panose="020B0604020202020204" pitchFamily="34" charset="0"/>
              </a:rPr>
              <a:t>Kirchhoff’s </a:t>
            </a:r>
            <a:r>
              <a:rPr lang="en-US" sz="3600" b="1" kern="100" dirty="0">
                <a:latin typeface="Arial" panose="020B0604020202020204" pitchFamily="34" charset="0"/>
                <a:ea typeface="Calibri" panose="020F0502020204030204" pitchFamily="34" charset="0"/>
                <a:cs typeface="Arial" panose="020B0604020202020204" pitchFamily="34" charset="0"/>
              </a:rPr>
              <a:t>Law</a:t>
            </a: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4"/>
          <p:cNvSpPr/>
          <p:nvPr/>
        </p:nvSpPr>
        <p:spPr>
          <a:xfrm>
            <a:off x="424871" y="930287"/>
            <a:ext cx="11536219" cy="1499641"/>
          </a:xfrm>
          <a:prstGeom prst="rect">
            <a:avLst/>
          </a:prstGeom>
        </p:spPr>
        <p:txBody>
          <a:bodyPr wrap="square">
            <a:spAutoFit/>
          </a:bodyPr>
          <a:lstStyle/>
          <a:p>
            <a:pPr fontAlgn="base">
              <a:lnSpc>
                <a:spcPct val="107000"/>
              </a:lnSpc>
              <a:spcAft>
                <a:spcPts val="1500"/>
              </a:spcAft>
            </a:pPr>
            <a:r>
              <a:rPr lang="en-US" sz="2400" b="1" kern="0" dirty="0" smtClean="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Kirchhoff’s Current Law</a:t>
            </a:r>
            <a:endParaRPr lang="en-US" sz="1400" kern="1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960"/>
              </a:spcBef>
              <a:spcAft>
                <a:spcPts val="1440"/>
              </a:spcAft>
            </a:pP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Kirchhoff’s Current Law</a:t>
            </a:r>
            <a:r>
              <a:rPr lang="en-US"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 states that” the algebraic sum of all the currents at any node point or a junction of a circuit is zero</a:t>
            </a:r>
            <a:r>
              <a:rPr lang="en-US" kern="0" dirty="0" smtClean="0">
                <a:solidFill>
                  <a:srgbClr val="222222"/>
                </a:solidFill>
                <a:latin typeface="Arial" panose="020B0604020202020204" pitchFamily="34" charset="0"/>
                <a:ea typeface="Times New Roman" panose="02020603050405020304" pitchFamily="18" charset="0"/>
                <a:cs typeface="Times New Roman" panose="02020603050405020304" pitchFamily="18" charset="0"/>
              </a:rPr>
              <a:t>”.                                 </a:t>
            </a:r>
            <a:r>
              <a:rPr lang="en-US" sz="2400" kern="0" dirty="0" smtClean="0">
                <a:solidFill>
                  <a:srgbClr val="FF0000"/>
                </a:solidFill>
                <a:latin typeface="Arial" panose="020B0604020202020204" pitchFamily="34" charset="0"/>
                <a:ea typeface="Times New Roman" panose="02020603050405020304" pitchFamily="18" charset="0"/>
                <a:cs typeface="Times New Roman" panose="02020603050405020304" pitchFamily="18" charset="0"/>
              </a:rPr>
              <a:t>Σ </a:t>
            </a:r>
            <a:r>
              <a:rPr lang="en-US" sz="2400"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I = 0</a:t>
            </a:r>
            <a:endParaRPr lang="en-US"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KCL-FIGURE">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8596196" y="2680161"/>
            <a:ext cx="3474720" cy="3566160"/>
          </a:xfrm>
          <a:prstGeom prst="rect">
            <a:avLst/>
          </a:prstGeom>
          <a:noFill/>
          <a:ln>
            <a:noFill/>
          </a:ln>
        </p:spPr>
      </p:pic>
      <p:sp>
        <p:nvSpPr>
          <p:cNvPr id="7" name="Rectangle 6"/>
          <p:cNvSpPr/>
          <p:nvPr/>
        </p:nvSpPr>
        <p:spPr>
          <a:xfrm>
            <a:off x="424871" y="2456795"/>
            <a:ext cx="7850909" cy="4401205"/>
          </a:xfrm>
          <a:prstGeom prst="rect">
            <a:avLst/>
          </a:prstGeom>
        </p:spPr>
        <p:txBody>
          <a:bodyPr wrap="square">
            <a:spAutoFit/>
          </a:bodyPr>
          <a:lstStyle/>
          <a:p>
            <a:pPr fontAlgn="base">
              <a:spcBef>
                <a:spcPts val="960"/>
              </a:spcBef>
              <a:spcAft>
                <a:spcPts val="1440"/>
              </a:spcAft>
            </a:pPr>
            <a:r>
              <a:rPr lang="en-US" dirty="0">
                <a:solidFill>
                  <a:srgbClr val="222222"/>
                </a:solidFill>
                <a:latin typeface="Arial" panose="020B0604020202020204" pitchFamily="34" charset="0"/>
                <a:ea typeface="Times New Roman" panose="02020603050405020304" pitchFamily="18" charset="0"/>
              </a:rPr>
              <a:t>Considering the above figure as per the Kirchhoff’s Current Law:</a:t>
            </a:r>
            <a:endParaRPr lang="en-US" sz="1600" dirty="0" smtClean="0">
              <a:effectLst/>
              <a:latin typeface="Times New Roman" panose="02020603050405020304" pitchFamily="18" charset="0"/>
              <a:ea typeface="Times New Roman" panose="02020603050405020304" pitchFamily="18" charset="0"/>
            </a:endParaRPr>
          </a:p>
          <a:p>
            <a:pPr fontAlgn="base">
              <a:spcBef>
                <a:spcPts val="960"/>
              </a:spcBef>
              <a:spcAft>
                <a:spcPts val="1440"/>
              </a:spcAft>
            </a:pPr>
            <a:r>
              <a:rPr lang="en-US" b="1" dirty="0">
                <a:solidFill>
                  <a:srgbClr val="FF0000"/>
                </a:solidFill>
                <a:latin typeface="Arial" panose="020B0604020202020204" pitchFamily="34" charset="0"/>
                <a:ea typeface="Times New Roman" panose="02020603050405020304" pitchFamily="18" charset="0"/>
              </a:rPr>
              <a:t>i</a:t>
            </a:r>
            <a:r>
              <a:rPr lang="en-US" sz="1200" b="1" baseline="-25000" dirty="0" smtClean="0">
                <a:solidFill>
                  <a:srgbClr val="FF0000"/>
                </a:solidFill>
                <a:effectLst/>
                <a:latin typeface="Arial" panose="020B0604020202020204" pitchFamily="34" charset="0"/>
                <a:ea typeface="Times New Roman" panose="02020603050405020304" pitchFamily="18" charset="0"/>
              </a:rPr>
              <a:t>1</a:t>
            </a:r>
            <a:r>
              <a:rPr lang="en-US" b="1" dirty="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2</a:t>
            </a:r>
            <a:r>
              <a:rPr lang="en-US" b="1" dirty="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3</a:t>
            </a:r>
            <a:r>
              <a:rPr lang="en-US" b="1" dirty="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4</a:t>
            </a:r>
            <a:r>
              <a:rPr lang="en-US" b="1" dirty="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5</a:t>
            </a:r>
            <a:r>
              <a:rPr lang="en-US" b="1" dirty="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6</a:t>
            </a:r>
            <a:r>
              <a:rPr lang="en-US" b="1" dirty="0">
                <a:solidFill>
                  <a:srgbClr val="FF0000"/>
                </a:solidFill>
                <a:latin typeface="Arial" panose="020B0604020202020204" pitchFamily="34" charset="0"/>
                <a:ea typeface="Times New Roman" panose="02020603050405020304" pitchFamily="18" charset="0"/>
              </a:rPr>
              <a:t> = 0 ……… (1)</a:t>
            </a:r>
            <a:endParaRPr lang="en-US" sz="1600" dirty="0" smtClean="0">
              <a:solidFill>
                <a:srgbClr val="FF0000"/>
              </a:solidFill>
              <a:effectLst/>
              <a:latin typeface="Times New Roman" panose="02020603050405020304" pitchFamily="18" charset="0"/>
              <a:ea typeface="Times New Roman" panose="02020603050405020304" pitchFamily="18" charset="0"/>
            </a:endParaRPr>
          </a:p>
          <a:p>
            <a:pPr fontAlgn="base">
              <a:spcBef>
                <a:spcPts val="960"/>
              </a:spcBef>
              <a:spcAft>
                <a:spcPts val="1440"/>
              </a:spcAft>
            </a:pPr>
            <a:r>
              <a:rPr lang="en-US" dirty="0">
                <a:solidFill>
                  <a:srgbClr val="222222"/>
                </a:solidFill>
                <a:latin typeface="Arial" panose="020B0604020202020204" pitchFamily="34" charset="0"/>
                <a:ea typeface="Times New Roman" panose="02020603050405020304" pitchFamily="18" charset="0"/>
              </a:rPr>
              <a:t>The direction of incoming currents to a node is taken as positive while the outgoing currents are taken as negative. The reverse of this can also be </a:t>
            </a:r>
            <a:r>
              <a:rPr lang="en-US" dirty="0" err="1" smtClean="0">
                <a:solidFill>
                  <a:srgbClr val="222222"/>
                </a:solidFill>
                <a:latin typeface="Arial" panose="020B0604020202020204" pitchFamily="34" charset="0"/>
                <a:ea typeface="Times New Roman" panose="02020603050405020304" pitchFamily="18" charset="0"/>
              </a:rPr>
              <a:t>takenThe</a:t>
            </a:r>
            <a:r>
              <a:rPr lang="en-US" dirty="0" smtClean="0">
                <a:solidFill>
                  <a:srgbClr val="222222"/>
                </a:solidFill>
                <a:latin typeface="Arial" panose="020B0604020202020204" pitchFamily="34" charset="0"/>
                <a:ea typeface="Times New Roman" panose="02020603050405020304" pitchFamily="18" charset="0"/>
              </a:rPr>
              <a:t> </a:t>
            </a:r>
            <a:r>
              <a:rPr lang="en-US" dirty="0">
                <a:solidFill>
                  <a:srgbClr val="222222"/>
                </a:solidFill>
                <a:latin typeface="Arial" panose="020B0604020202020204" pitchFamily="34" charset="0"/>
                <a:ea typeface="Times New Roman" panose="02020603050405020304" pitchFamily="18" charset="0"/>
              </a:rPr>
              <a:t>equation (1) can also be written as:</a:t>
            </a:r>
            <a:endParaRPr lang="en-US" sz="1600" dirty="0" smtClean="0">
              <a:effectLst/>
              <a:latin typeface="Times New Roman" panose="02020603050405020304" pitchFamily="18" charset="0"/>
              <a:ea typeface="Times New Roman" panose="02020603050405020304" pitchFamily="18" charset="0"/>
            </a:endParaRPr>
          </a:p>
          <a:p>
            <a:pPr fontAlgn="base">
              <a:spcBef>
                <a:spcPts val="960"/>
              </a:spcBef>
              <a:spcAft>
                <a:spcPts val="1440"/>
              </a:spcAft>
            </a:pPr>
            <a:r>
              <a:rPr lang="en-US" b="1" dirty="0" smtClean="0">
                <a:solidFill>
                  <a:srgbClr val="FF0000"/>
                </a:solidFill>
                <a:latin typeface="Arial" panose="020B0604020202020204" pitchFamily="34" charset="0"/>
                <a:ea typeface="Times New Roman" panose="02020603050405020304" pitchFamily="18" charset="0"/>
              </a:rPr>
              <a:t>i</a:t>
            </a:r>
            <a:r>
              <a:rPr lang="en-US" sz="1200" b="1" baseline="-25000" dirty="0" smtClean="0">
                <a:solidFill>
                  <a:srgbClr val="FF0000"/>
                </a:solidFill>
                <a:effectLst/>
                <a:latin typeface="Arial" panose="020B0604020202020204" pitchFamily="34" charset="0"/>
                <a:ea typeface="Times New Roman" panose="02020603050405020304" pitchFamily="18" charset="0"/>
              </a:rPr>
              <a:t>1</a:t>
            </a:r>
            <a:r>
              <a:rPr lang="en-US" b="1" dirty="0" smtClean="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2</a:t>
            </a:r>
            <a:r>
              <a:rPr lang="en-US" b="1" dirty="0" smtClean="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6</a:t>
            </a:r>
            <a:r>
              <a:rPr lang="en-US" b="1" dirty="0" smtClean="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3</a:t>
            </a:r>
            <a:r>
              <a:rPr lang="en-US" b="1" dirty="0" smtClean="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4</a:t>
            </a:r>
            <a:r>
              <a:rPr lang="en-US" b="1" dirty="0" smtClean="0">
                <a:solidFill>
                  <a:srgbClr val="FF0000"/>
                </a:solidFill>
                <a:latin typeface="Arial" panose="020B0604020202020204" pitchFamily="34" charset="0"/>
                <a:ea typeface="Times New Roman" panose="02020603050405020304" pitchFamily="18" charset="0"/>
              </a:rPr>
              <a:t> + i</a:t>
            </a:r>
            <a:r>
              <a:rPr lang="en-US" sz="1200" b="1" baseline="-25000" dirty="0" smtClean="0">
                <a:solidFill>
                  <a:srgbClr val="FF0000"/>
                </a:solidFill>
                <a:effectLst/>
                <a:latin typeface="Arial" panose="020B0604020202020204" pitchFamily="34" charset="0"/>
                <a:ea typeface="Times New Roman" panose="02020603050405020304" pitchFamily="18" charset="0"/>
              </a:rPr>
              <a:t>5</a:t>
            </a:r>
            <a:endParaRPr lang="en-US" sz="1600" dirty="0" smtClean="0">
              <a:solidFill>
                <a:srgbClr val="FF0000"/>
              </a:solidFill>
              <a:effectLst/>
              <a:latin typeface="Times New Roman" panose="02020603050405020304" pitchFamily="18" charset="0"/>
              <a:ea typeface="Times New Roman" panose="02020603050405020304" pitchFamily="18" charset="0"/>
            </a:endParaRPr>
          </a:p>
          <a:p>
            <a:pPr fontAlgn="base">
              <a:spcBef>
                <a:spcPts val="960"/>
              </a:spcBef>
              <a:spcAft>
                <a:spcPts val="1440"/>
              </a:spcAft>
            </a:pPr>
            <a:r>
              <a:rPr lang="en-US" dirty="0" smtClean="0">
                <a:solidFill>
                  <a:srgbClr val="222222"/>
                </a:solidFill>
                <a:latin typeface="Arial" panose="020B0604020202020204" pitchFamily="34" charset="0"/>
                <a:ea typeface="Times New Roman" panose="02020603050405020304" pitchFamily="18" charset="0"/>
              </a:rPr>
              <a:t>Sum of incoming currents = Sum of outgoing currents</a:t>
            </a:r>
          </a:p>
          <a:p>
            <a:pPr fontAlgn="base">
              <a:spcBef>
                <a:spcPts val="960"/>
              </a:spcBef>
              <a:spcAft>
                <a:spcPts val="1440"/>
              </a:spcAft>
            </a:pPr>
            <a:r>
              <a:rPr lang="en-US" dirty="0" smtClean="0">
                <a:solidFill>
                  <a:srgbClr val="0070C0"/>
                </a:solidFill>
                <a:latin typeface="Arial" panose="020B0604020202020204" pitchFamily="34" charset="0"/>
                <a:ea typeface="Times New Roman" panose="02020603050405020304" pitchFamily="18" charset="0"/>
              </a:rPr>
              <a:t>According </a:t>
            </a:r>
            <a:r>
              <a:rPr lang="en-US" dirty="0">
                <a:solidFill>
                  <a:srgbClr val="0070C0"/>
                </a:solidFill>
                <a:latin typeface="Arial" panose="020B0604020202020204" pitchFamily="34" charset="0"/>
                <a:ea typeface="Times New Roman" panose="02020603050405020304" pitchFamily="18" charset="0"/>
              </a:rPr>
              <a:t>to the </a:t>
            </a:r>
            <a:r>
              <a:rPr lang="en-US" b="1" dirty="0">
                <a:solidFill>
                  <a:srgbClr val="0070C0"/>
                </a:solidFill>
                <a:latin typeface="Arial" panose="020B0604020202020204" pitchFamily="34" charset="0"/>
                <a:ea typeface="Times New Roman" panose="02020603050405020304" pitchFamily="18" charset="0"/>
              </a:rPr>
              <a:t>Kirchhoff’s Current Law</a:t>
            </a:r>
            <a:r>
              <a:rPr lang="en-US" dirty="0">
                <a:solidFill>
                  <a:srgbClr val="0070C0"/>
                </a:solidFill>
                <a:latin typeface="Arial" panose="020B0604020202020204" pitchFamily="34" charset="0"/>
                <a:ea typeface="Times New Roman" panose="02020603050405020304" pitchFamily="18" charset="0"/>
              </a:rPr>
              <a:t>, the algebraic sum of the currents entering a node must be equal to the algebraic sum of the currents leaving the node in an electrical network.</a:t>
            </a:r>
            <a:endParaRPr lang="en-US" sz="1600" dirty="0">
              <a:solidFill>
                <a:srgbClr val="0070C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01633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7782" y="205847"/>
            <a:ext cx="8885382" cy="1569660"/>
          </a:xfrm>
          <a:prstGeom prst="rect">
            <a:avLst/>
          </a:prstGeom>
        </p:spPr>
        <p:txBody>
          <a:bodyPr wrap="square">
            <a:spAutoFit/>
          </a:bodyPr>
          <a:lstStyle/>
          <a:p>
            <a:r>
              <a:rPr lang="en-US" sz="2400" b="1" dirty="0" smtClean="0">
                <a:solidFill>
                  <a:srgbClr val="FF0000"/>
                </a:solidFill>
              </a:rPr>
              <a:t>Kirchhoff’s Voltage Law</a:t>
            </a:r>
          </a:p>
          <a:p>
            <a:r>
              <a:rPr lang="en-US" b="1" dirty="0" smtClean="0"/>
              <a:t>Kirchhoff’s Voltage Law states that the algebraic sum of the voltages (or voltage drops) in any closed path of a network that is transverse in a single direction is zero. </a:t>
            </a:r>
            <a:endParaRPr lang="en-US" b="1" dirty="0" smtClean="0"/>
          </a:p>
          <a:p>
            <a:r>
              <a:rPr lang="en-US" b="1" dirty="0" smtClean="0"/>
              <a:t>In </a:t>
            </a:r>
            <a:r>
              <a:rPr lang="en-US" b="1" dirty="0" smtClean="0"/>
              <a:t>other words, in a closed circuit, the algebraic sum of all the EMFs and the algebraic sum of all the voltage drops (product of current (I) and resistance (R)) is zero.</a:t>
            </a:r>
            <a:endParaRPr lang="en-US" b="1" dirty="0"/>
          </a:p>
        </p:txBody>
      </p:sp>
      <p:pic>
        <p:nvPicPr>
          <p:cNvPr id="4098" name="Picture 12" descr="KVL-FIGURE-B">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7749" y="1513002"/>
            <a:ext cx="4381500" cy="3057525"/>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3" descr="kcl-eq3">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7798" y="2213089"/>
            <a:ext cx="4705350" cy="16573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222222"/>
                </a:solidFill>
                <a:effectLst/>
                <a:latin typeface="Arial" panose="020B0604020202020204" pitchFamily="34" charset="0"/>
                <a:ea typeface="Times New Roman" panose="02020603050405020304" pitchFamily="18" charset="0"/>
                <a:cs typeface="Arial" panose="020B0604020202020204" pitchFamily="34" charset="0"/>
              </a:rPr>
              <a:t>Considering the other figure shown below and assuming the direction of the current i</a:t>
            </a:r>
            <a:br>
              <a:rPr kumimoji="0" lang="en-US" altLang="en-US" sz="1400" b="0" i="0" u="none" strike="noStrike" cap="none" normalizeH="0" baseline="0" smtClean="0">
                <a:ln>
                  <a:noFill/>
                </a:ln>
                <a:solidFill>
                  <a:srgbClr val="222222"/>
                </a:solidFill>
                <a:effectLst/>
                <a:latin typeface="Arial" panose="020B0604020202020204" pitchFamily="34" charset="0"/>
                <a:ea typeface="Times New Roman" panose="02020603050405020304" pitchFamily="18" charset="0"/>
                <a:cs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471339" y="5084570"/>
            <a:ext cx="11347909"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0000"/>
                </a:solidFill>
                <a:effectLst/>
                <a:latin typeface="Arial" panose="020B0604020202020204" pitchFamily="34" charset="0"/>
                <a:ea typeface="Times New Roman" panose="02020603050405020304" pitchFamily="18" charset="0"/>
                <a:cs typeface="Arial" panose="020B0604020202020204" pitchFamily="34" charset="0"/>
              </a:rPr>
              <a:t>It is seen that the voltage V</a:t>
            </a:r>
            <a:r>
              <a:rPr kumimoji="0" lang="en-US" altLang="en-US" sz="1400" b="1" i="0" u="none" strike="noStrike" cap="none" normalizeH="0" baseline="-30000" dirty="0" smtClean="0">
                <a:ln>
                  <a:noFill/>
                </a:ln>
                <a:solidFill>
                  <a:srgbClr val="FF0000"/>
                </a:solidFill>
                <a:effectLst/>
                <a:latin typeface="Arial" panose="020B0604020202020204" pitchFamily="34" charset="0"/>
                <a:ea typeface="Times New Roman" panose="02020603050405020304" pitchFamily="18" charset="0"/>
                <a:cs typeface="Arial" panose="020B0604020202020204" pitchFamily="34" charset="0"/>
              </a:rPr>
              <a:t>1</a:t>
            </a:r>
            <a:r>
              <a:rPr kumimoji="0" lang="en-US" altLang="en-US" sz="1400" b="1" i="0" u="none" strike="noStrike" cap="none" normalizeH="0" baseline="-30000" dirty="0" smtClean="0">
                <a:ln>
                  <a:noFill/>
                </a:ln>
                <a:solidFill>
                  <a:srgbClr val="FF0000"/>
                </a:solidFill>
                <a:effectLst/>
                <a:latin typeface="Calibri" panose="020F0502020204030204" pitchFamily="34" charset="0"/>
                <a:ea typeface="Times New Roman" panose="02020603050405020304" pitchFamily="18" charset="0"/>
                <a:cs typeface="Arial" panose="020B0604020202020204" pitchFamily="34" charset="0"/>
              </a:rPr>
              <a:t> </a:t>
            </a:r>
            <a:r>
              <a:rPr kumimoji="0" lang="en-US" altLang="en-US" sz="2400" b="1" i="0" u="none" strike="noStrike" cap="none" normalizeH="0" baseline="0" dirty="0" smtClean="0">
                <a:ln>
                  <a:noFill/>
                </a:ln>
                <a:solidFill>
                  <a:srgbClr val="FF0000"/>
                </a:solidFill>
                <a:effectLst/>
                <a:latin typeface="Arial" panose="020B0604020202020204" pitchFamily="34" charset="0"/>
                <a:ea typeface="Times New Roman" panose="02020603050405020304" pitchFamily="18" charset="0"/>
                <a:cs typeface="Arial" panose="020B0604020202020204" pitchFamily="34" charset="0"/>
              </a:rPr>
              <a:t>is negative and  V</a:t>
            </a:r>
            <a:r>
              <a:rPr kumimoji="0" lang="en-US" altLang="en-US" sz="1400" b="1" i="0" u="none" strike="noStrike" cap="none" normalizeH="0" baseline="-30000" dirty="0" smtClean="0">
                <a:ln>
                  <a:noFill/>
                </a:ln>
                <a:solidFill>
                  <a:srgbClr val="FF0000"/>
                </a:solidFill>
                <a:effectLst/>
                <a:latin typeface="Arial" panose="020B0604020202020204" pitchFamily="34" charset="0"/>
                <a:ea typeface="Times New Roman" panose="02020603050405020304" pitchFamily="18" charset="0"/>
                <a:cs typeface="Arial" panose="020B0604020202020204" pitchFamily="34" charset="0"/>
              </a:rPr>
              <a:t>2</a:t>
            </a: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Arial" panose="020B0604020202020204" pitchFamily="34" charset="0"/>
              </a:rPr>
              <a:t> </a:t>
            </a:r>
            <a:r>
              <a:rPr kumimoji="0" lang="en-US" altLang="en-US" sz="2400" b="1" i="0" u="none" strike="noStrike" cap="none" normalizeH="0" baseline="0" dirty="0" smtClean="0">
                <a:ln>
                  <a:noFill/>
                </a:ln>
                <a:solidFill>
                  <a:srgbClr val="FF0000"/>
                </a:solidFill>
                <a:effectLst/>
                <a:latin typeface="Arial" panose="020B0604020202020204" pitchFamily="34" charset="0"/>
                <a:ea typeface="Times New Roman" panose="02020603050405020304" pitchFamily="18" charset="0"/>
                <a:cs typeface="Arial" panose="020B0604020202020204" pitchFamily="34" charset="0"/>
              </a:rPr>
              <a:t>is positive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0000"/>
                </a:solidFill>
                <a:effectLst/>
                <a:latin typeface="Arial" panose="020B0604020202020204" pitchFamily="34" charset="0"/>
                <a:ea typeface="Times New Roman" panose="02020603050405020304" pitchFamily="18" charset="0"/>
                <a:cs typeface="Arial" panose="020B0604020202020204" pitchFamily="34" charset="0"/>
              </a:rPr>
              <a:t>For the dependent sources in the circuit, KVL can also be applied. </a:t>
            </a:r>
            <a:endParaRPr kumimoji="0" lang="en-US" altLang="en-US" sz="3200" b="1" i="0" u="none" strike="noStrike" cap="none" normalizeH="0" baseline="0" dirty="0" smtClean="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2535461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56516" y="-20152"/>
            <a:ext cx="4383404" cy="2865368"/>
          </a:xfrm>
          <a:prstGeom prst="rect">
            <a:avLst/>
          </a:prstGeom>
        </p:spPr>
      </p:pic>
      <p:sp>
        <p:nvSpPr>
          <p:cNvPr id="5" name="Rectangle 4"/>
          <p:cNvSpPr/>
          <p:nvPr/>
        </p:nvSpPr>
        <p:spPr>
          <a:xfrm>
            <a:off x="267853" y="2771327"/>
            <a:ext cx="11693237" cy="4188391"/>
          </a:xfrm>
          <a:prstGeom prst="rect">
            <a:avLst/>
          </a:prstGeom>
        </p:spPr>
        <p:txBody>
          <a:bodyPr wrap="square">
            <a:spAutoFit/>
          </a:bodyPr>
          <a:lstStyle/>
          <a:p>
            <a:pPr fontAlgn="base">
              <a:lnSpc>
                <a:spcPct val="107000"/>
              </a:lnSpc>
              <a:spcBef>
                <a:spcPts val="960"/>
              </a:spcBef>
              <a:spcAft>
                <a:spcPts val="1440"/>
              </a:spcAft>
            </a:pPr>
            <a:r>
              <a:rPr lang="en-US" sz="2400" b="1"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A node </a:t>
            </a: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is a point in the network or circuit where two or more circuit elements are joined. For example, in the above circuit diagram, A and B is the node points.</a:t>
            </a:r>
            <a:endParaRPr lang="en-US" b="1"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960"/>
              </a:spcBef>
              <a:spcAft>
                <a:spcPts val="1440"/>
              </a:spcAft>
            </a:pPr>
            <a:r>
              <a:rPr lang="en-US" sz="2400" b="1"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A junction </a:t>
            </a: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is a point in the network where three or more circuit elements are joined. It is a point where the current is divided. In the above circuit, B and D are the junctions.</a:t>
            </a:r>
            <a:endParaRPr lang="en-US" b="1"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960"/>
              </a:spcBef>
              <a:spcAft>
                <a:spcPts val="1440"/>
              </a:spcAft>
            </a:pPr>
            <a:r>
              <a:rPr lang="en-US" sz="2400" b="1"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Branch</a:t>
            </a: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 is the part of a network, which lies between the two junction points is called a Branch. In the above circuit DAB, BCD and BD are the branches of the circuit.</a:t>
            </a:r>
            <a:endParaRPr lang="en-US" b="1"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960"/>
              </a:spcBef>
              <a:spcAft>
                <a:spcPts val="1440"/>
              </a:spcAft>
            </a:pP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A closed path of a network is called a </a:t>
            </a:r>
            <a:r>
              <a:rPr lang="en-US" sz="2400" b="1"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loop</a:t>
            </a:r>
            <a:r>
              <a:rPr lang="en-US" sz="2400"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a:t>
            </a: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 ABDA, BCDB are loops in the above circuit diagram shown.</a:t>
            </a:r>
            <a:endParaRPr lang="en-US" b="1"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960"/>
              </a:spcBef>
              <a:spcAft>
                <a:spcPts val="1440"/>
              </a:spcAft>
            </a:pPr>
            <a:r>
              <a:rPr lang="en-US" b="1" kern="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The most elementary form of a loop which cannot be further divided is called a </a:t>
            </a:r>
            <a:r>
              <a:rPr lang="en-US" sz="2400" b="1"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mesh.</a:t>
            </a:r>
            <a:endParaRPr lang="en-US"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9309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648</Words>
  <Application>Microsoft Office PowerPoint</Application>
  <PresentationFormat>Widescreen</PresentationFormat>
  <Paragraphs>44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Microsoft account</cp:lastModifiedBy>
  <cp:revision>10</cp:revision>
  <dcterms:created xsi:type="dcterms:W3CDTF">2025-11-09T11:10:23Z</dcterms:created>
  <dcterms:modified xsi:type="dcterms:W3CDTF">2026-01-08T07:36:27Z</dcterms:modified>
</cp:coreProperties>
</file>