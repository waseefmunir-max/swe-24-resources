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Lst>
  <p:sldSz cy="6858000" cx="9144000"/>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5">
          <p15:clr>
            <a:srgbClr val="000000"/>
          </p15:clr>
        </p15:guide>
        <p15:guide id="2" pos="2206">
          <p15:clr>
            <a:srgbClr val="000000"/>
          </p15:clr>
        </p15:guide>
      </p15:notesGuideLst>
    </p:ext>
    <p:ext uri="GoogleSlidesCustomDataVersion2">
      <go:slidesCustomData xmlns:go="http://customooxmlschemas.google.com/" r:id="rId99" roundtripDataSignature="AMtx7mj2CET7jZBnRExoO/SIZKYIuGNn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5" orient="horz"/>
        <p:guide pos="220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customschemas.google.com/relationships/presentationmetadata" Target="metadata"/><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lvl1pPr indent="-228600" lvl="0" marL="4572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1pPr>
            <a:lvl2pPr indent="-228600" lvl="1" marL="9144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2pPr>
            <a:lvl3pPr indent="-228600" lvl="2" marL="13716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3pPr>
            <a:lvl4pPr indent="-228600" lvl="3" marL="18288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4pPr>
            <a:lvl5pPr indent="-228600" lvl="4" marL="2286000" marR="0" rtl="0" algn="l">
              <a:spcBef>
                <a:spcPts val="42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1190625" y="703263"/>
            <a:ext cx="4624388"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1:notes"/>
          <p:cNvSpPr txBox="1"/>
          <p:nvPr>
            <p:ph idx="1" type="body"/>
          </p:nvPr>
        </p:nvSpPr>
        <p:spPr>
          <a:xfrm>
            <a:off x="389114" y="4413019"/>
            <a:ext cx="6303645" cy="4179379"/>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p:nvPr>
            <p:ph idx="2" type="sldImg"/>
          </p:nvPr>
        </p:nvSpPr>
        <p:spPr>
          <a:xfrm>
            <a:off x="1187450" y="703263"/>
            <a:ext cx="4629150" cy="34718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2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8:notes"/>
          <p:cNvSpPr/>
          <p:nvPr>
            <p:ph idx="2" type="sldImg"/>
          </p:nvPr>
        </p:nvSpPr>
        <p:spPr>
          <a:xfrm>
            <a:off x="1187450" y="703263"/>
            <a:ext cx="4629150" cy="34718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2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31:notes"/>
          <p:cNvSpPr txBox="1"/>
          <p:nvPr>
            <p:ph idx="1" type="body"/>
          </p:nvPr>
        </p:nvSpPr>
        <p:spPr>
          <a:xfrm>
            <a:off x="388938" y="4413250"/>
            <a:ext cx="6303962" cy="4179888"/>
          </a:xfrm>
          <a:prstGeom prst="rect">
            <a:avLst/>
          </a:prstGeom>
        </p:spPr>
        <p:txBody>
          <a:bodyPr anchorCtr="0" anchor="t" bIns="45125" lIns="91850" spcFirstLastPara="1" rIns="91850" wrap="square" tIns="45125">
            <a:noAutofit/>
          </a:bodyPr>
          <a:lstStyle/>
          <a:p>
            <a:pPr indent="0" lvl="0" marL="0" rtl="0" algn="l">
              <a:spcBef>
                <a:spcPts val="42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3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3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3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7:notes"/>
          <p:cNvSpPr/>
          <p:nvPr>
            <p:ph idx="2" type="sldImg"/>
          </p:nvPr>
        </p:nvSpPr>
        <p:spPr>
          <a:xfrm>
            <a:off x="1189038" y="703263"/>
            <a:ext cx="4627500" cy="3470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7:notes"/>
          <p:cNvSpPr txBox="1"/>
          <p:nvPr>
            <p:ph idx="1" type="body"/>
          </p:nvPr>
        </p:nvSpPr>
        <p:spPr>
          <a:xfrm>
            <a:off x="388938" y="4413250"/>
            <a:ext cx="6303900" cy="4179900"/>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4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4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4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4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4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p4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4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4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4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4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5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5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5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5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5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53:notes"/>
          <p:cNvSpPr/>
          <p:nvPr>
            <p:ph idx="2" type="sldImg"/>
          </p:nvPr>
        </p:nvSpPr>
        <p:spPr>
          <a:xfrm>
            <a:off x="1187450" y="703263"/>
            <a:ext cx="4629150" cy="34718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5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5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5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5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5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5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5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3" name="Google Shape;703;p5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5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3" name="Google Shape;713;p5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6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p6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6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p6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6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6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6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6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6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6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6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6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8" name="Google Shape;788;p6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6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p6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68:notes"/>
          <p:cNvSpPr/>
          <p:nvPr>
            <p:ph idx="2" type="sldImg"/>
          </p:nvPr>
        </p:nvSpPr>
        <p:spPr>
          <a:xfrm>
            <a:off x="1187450" y="703263"/>
            <a:ext cx="4629150" cy="34718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p6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6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7" name="Google Shape;817;p6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7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7" name="Google Shape;827;p7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7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7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1" name="Google Shape;851;p7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7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2" name="Google Shape;862;p7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3" name="Google Shape;873;p7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7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7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7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7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7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p7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7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4" name="Google Shape;944;p7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79:notes"/>
          <p:cNvSpPr/>
          <p:nvPr>
            <p:ph idx="2" type="sldImg"/>
          </p:nvPr>
        </p:nvSpPr>
        <p:spPr>
          <a:xfrm>
            <a:off x="1187450" y="703263"/>
            <a:ext cx="4629150" cy="34718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4" name="Google Shape;954;p7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8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2" name="Google Shape;962;p8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8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2" name="Google Shape;972;p8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8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8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83: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83: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84: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5" name="Google Shape;1005;p84: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85: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3" name="Google Shape;1023;p85: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86: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4" name="Google Shape;1034;p86: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87: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5" name="Google Shape;1045;p87: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88: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5" name="Google Shape;1055;p88: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89: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7" name="Google Shape;1067;p89: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90: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5" name="Google Shape;1075;p90: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91: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3" name="Google Shape;1083;p91: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92:notes"/>
          <p:cNvSpPr/>
          <p:nvPr>
            <p:ph idx="2" type="sldImg"/>
          </p:nvPr>
        </p:nvSpPr>
        <p:spPr>
          <a:xfrm>
            <a:off x="1189038" y="703263"/>
            <a:ext cx="4627562" cy="3470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2" name="Google Shape;1092;p92:notes"/>
          <p:cNvSpPr txBox="1"/>
          <p:nvPr>
            <p:ph idx="1" type="body"/>
          </p:nvPr>
        </p:nvSpPr>
        <p:spPr>
          <a:xfrm>
            <a:off x="388938" y="4413250"/>
            <a:ext cx="6303962" cy="4179888"/>
          </a:xfrm>
          <a:prstGeom prst="rect">
            <a:avLst/>
          </a:prstGeom>
          <a:noFill/>
          <a:ln>
            <a:noFill/>
          </a:ln>
        </p:spPr>
        <p:txBody>
          <a:bodyPr anchorCtr="0" anchor="t" bIns="45125" lIns="91850" spcFirstLastPara="1" rIns="91850" wrap="square" tIns="451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93:notes"/>
          <p:cNvSpPr/>
          <p:nvPr>
            <p:ph idx="2" type="sldImg"/>
          </p:nvPr>
        </p:nvSpPr>
        <p:spPr>
          <a:xfrm>
            <a:off x="1182688" y="698500"/>
            <a:ext cx="4638675"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0" name="Google Shape;1100;p93:notes"/>
          <p:cNvSpPr txBox="1"/>
          <p:nvPr>
            <p:ph idx="1" type="body"/>
          </p:nvPr>
        </p:nvSpPr>
        <p:spPr>
          <a:xfrm>
            <a:off x="933450" y="4413250"/>
            <a:ext cx="5137150" cy="4179888"/>
          </a:xfrm>
          <a:prstGeom prst="rect">
            <a:avLst/>
          </a:prstGeom>
          <a:noFill/>
          <a:ln>
            <a:noFill/>
          </a:ln>
        </p:spPr>
        <p:txBody>
          <a:bodyPr anchorCtr="0" anchor="t" bIns="46725" lIns="93475" spcFirstLastPara="1" rIns="93475" wrap="square" tIns="467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 name="Shape 8"/>
        <p:cNvGrpSpPr/>
        <p:nvPr/>
      </p:nvGrpSpPr>
      <p:grpSpPr>
        <a:xfrm>
          <a:off x="0" y="0"/>
          <a:ext cx="0" cy="0"/>
          <a:chOff x="0" y="0"/>
          <a:chExt cx="0" cy="0"/>
        </a:xfrm>
      </p:grpSpPr>
      <p:sp>
        <p:nvSpPr>
          <p:cNvPr id="9" name="Google Shape;9;p95"/>
          <p:cNvSpPr txBox="1"/>
          <p:nvPr>
            <p:ph idx="1" type="body"/>
          </p:nvPr>
        </p:nvSpPr>
        <p:spPr>
          <a:xfrm>
            <a:off x="457200" y="1600200"/>
            <a:ext cx="8229600" cy="4525963"/>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 name="Shape 10"/>
        <p:cNvGrpSpPr/>
        <p:nvPr/>
      </p:nvGrpSpPr>
      <p:grpSpPr>
        <a:xfrm>
          <a:off x="0" y="0"/>
          <a:ext cx="0" cy="0"/>
          <a:chOff x="0" y="0"/>
          <a:chExt cx="0" cy="0"/>
        </a:xfrm>
      </p:grpSpPr>
      <p:sp>
        <p:nvSpPr>
          <p:cNvPr id="11" name="Google Shape;11;p96"/>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12" name="Google Shape;12;p96"/>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
        <p:nvSpPr>
          <p:cNvPr id="13" name="Google Shape;13;p96"/>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97"/>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16" name="Google Shape;16;p97"/>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99"/>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00"/>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2" name="Google Shape;22;p100"/>
          <p:cNvSpPr txBox="1"/>
          <p:nvPr>
            <p:ph idx="1" type="subTitle"/>
          </p:nvPr>
        </p:nvSpPr>
        <p:spPr>
          <a:xfrm>
            <a:off x="1371600" y="3886200"/>
            <a:ext cx="6400800" cy="1752600"/>
          </a:xfrm>
          <a:prstGeom prst="rect">
            <a:avLst/>
          </a:prstGeom>
          <a:noFill/>
          <a:ln>
            <a:noFill/>
          </a:ln>
        </p:spPr>
        <p:txBody>
          <a:bodyPr anchorCtr="0" anchor="t" bIns="46025" lIns="182550" spcFirstLastPara="1" rIns="182550" wrap="square" tIns="46025">
            <a:noAutofit/>
          </a:bodyPr>
          <a:lstStyle>
            <a:lvl1pPr lvl="0" algn="ctr">
              <a:spcBef>
                <a:spcPts val="560"/>
              </a:spcBef>
              <a:spcAft>
                <a:spcPts val="0"/>
              </a:spcAft>
              <a:buSzPts val="2100"/>
              <a:buNone/>
              <a:defRPr/>
            </a:lvl1pPr>
            <a:lvl2pPr lvl="1" algn="ctr">
              <a:spcBef>
                <a:spcPts val="480"/>
              </a:spcBef>
              <a:spcAft>
                <a:spcPts val="0"/>
              </a:spcAft>
              <a:buSzPts val="1800"/>
              <a:buNone/>
              <a:defRPr/>
            </a:lvl2pPr>
            <a:lvl3pPr lvl="2" algn="ctr">
              <a:spcBef>
                <a:spcPts val="400"/>
              </a:spcBef>
              <a:spcAft>
                <a:spcPts val="0"/>
              </a:spcAft>
              <a:buSzPts val="1500"/>
              <a:buNone/>
              <a:defRPr/>
            </a:lvl3pPr>
            <a:lvl4pPr lvl="3" algn="ctr">
              <a:spcBef>
                <a:spcPts val="400"/>
              </a:spcBef>
              <a:spcAft>
                <a:spcPts val="0"/>
              </a:spcAft>
              <a:buSzPts val="1500"/>
              <a:buNone/>
              <a:defRPr/>
            </a:lvl4pPr>
            <a:lvl5pPr lvl="4" algn="ctr">
              <a:spcBef>
                <a:spcPts val="400"/>
              </a:spcBef>
              <a:spcAft>
                <a:spcPts val="0"/>
              </a:spcAft>
              <a:buSzPts val="1500"/>
              <a:buNone/>
              <a:defRPr/>
            </a:lvl5pPr>
            <a:lvl6pPr lvl="5" algn="ctr">
              <a:spcBef>
                <a:spcPts val="400"/>
              </a:spcBef>
              <a:spcAft>
                <a:spcPts val="0"/>
              </a:spcAft>
              <a:buSzPts val="1500"/>
              <a:buNone/>
              <a:defRPr/>
            </a:lvl6pPr>
            <a:lvl7pPr lvl="6" algn="ctr">
              <a:spcBef>
                <a:spcPts val="400"/>
              </a:spcBef>
              <a:spcAft>
                <a:spcPts val="0"/>
              </a:spcAft>
              <a:buSzPts val="1500"/>
              <a:buNone/>
              <a:defRPr/>
            </a:lvl7pPr>
            <a:lvl8pPr lvl="7" algn="ctr">
              <a:spcBef>
                <a:spcPts val="400"/>
              </a:spcBef>
              <a:spcAft>
                <a:spcPts val="0"/>
              </a:spcAft>
              <a:buSzPts val="1500"/>
              <a:buNone/>
              <a:defRPr/>
            </a:lvl8pPr>
            <a:lvl9pPr lvl="8" algn="ctr">
              <a:spcBef>
                <a:spcPts val="400"/>
              </a:spcBef>
              <a:spcAft>
                <a:spcPts val="0"/>
              </a:spcAft>
              <a:buSzPts val="1500"/>
              <a:buNone/>
              <a:defRPr/>
            </a:lvl9pPr>
          </a:lstStyle>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0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1" sz="4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5" name="Google Shape;25;p101"/>
          <p:cNvSpPr txBox="1"/>
          <p:nvPr>
            <p:ph idx="1" type="body"/>
          </p:nvPr>
        </p:nvSpPr>
        <p:spPr>
          <a:xfrm>
            <a:off x="722313" y="2906713"/>
            <a:ext cx="7772400" cy="1500187"/>
          </a:xfrm>
          <a:prstGeom prst="rect">
            <a:avLst/>
          </a:prstGeom>
          <a:noFill/>
          <a:ln>
            <a:noFill/>
          </a:ln>
        </p:spPr>
        <p:txBody>
          <a:bodyPr anchorCtr="0" anchor="b" bIns="46025" lIns="182550" spcFirstLastPara="1" rIns="182550" wrap="square" tIns="46025">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1050"/>
              <a:buNone/>
              <a:defRPr sz="1400"/>
            </a:lvl5pPr>
            <a:lvl6pPr indent="-228600" lvl="5" marL="2743200" algn="l">
              <a:spcBef>
                <a:spcPts val="280"/>
              </a:spcBef>
              <a:spcAft>
                <a:spcPts val="0"/>
              </a:spcAft>
              <a:buSzPts val="1050"/>
              <a:buNone/>
              <a:defRPr sz="1400"/>
            </a:lvl6pPr>
            <a:lvl7pPr indent="-228600" lvl="6" marL="3200400" algn="l">
              <a:spcBef>
                <a:spcPts val="280"/>
              </a:spcBef>
              <a:spcAft>
                <a:spcPts val="0"/>
              </a:spcAft>
              <a:buSzPts val="1050"/>
              <a:buNone/>
              <a:defRPr sz="1400"/>
            </a:lvl7pPr>
            <a:lvl8pPr indent="-228600" lvl="7" marL="3657600" algn="l">
              <a:spcBef>
                <a:spcPts val="280"/>
              </a:spcBef>
              <a:spcAft>
                <a:spcPts val="0"/>
              </a:spcAft>
              <a:buSzPts val="1050"/>
              <a:buNone/>
              <a:defRPr sz="1400"/>
            </a:lvl8pPr>
            <a:lvl9pPr indent="-228600" lvl="8" marL="4114800" algn="l">
              <a:spcBef>
                <a:spcPts val="280"/>
              </a:spcBef>
              <a:spcAft>
                <a:spcPts val="0"/>
              </a:spcAft>
              <a:buSzPts val="1050"/>
              <a:buNone/>
              <a:defRPr sz="1400"/>
            </a:lvl9pPr>
          </a:lstStyle>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102"/>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28" name="Google Shape;28;p102"/>
          <p:cNvSpPr txBox="1"/>
          <p:nvPr>
            <p:ph idx="1" type="body"/>
          </p:nvPr>
        </p:nvSpPr>
        <p:spPr>
          <a:xfrm>
            <a:off x="3810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
        <p:nvSpPr>
          <p:cNvPr id="29" name="Google Shape;29;p102"/>
          <p:cNvSpPr txBox="1"/>
          <p:nvPr>
            <p:ph idx="2" type="body"/>
          </p:nvPr>
        </p:nvSpPr>
        <p:spPr>
          <a:xfrm>
            <a:off x="4648200" y="1143000"/>
            <a:ext cx="4114800" cy="4800600"/>
          </a:xfrm>
          <a:prstGeom prst="rect">
            <a:avLst/>
          </a:prstGeom>
          <a:noFill/>
          <a:ln>
            <a:noFill/>
          </a:ln>
        </p:spPr>
        <p:txBody>
          <a:bodyPr anchorCtr="0" anchor="t" bIns="46025" lIns="182550" spcFirstLastPara="1" rIns="182550" wrap="square" tIns="46025">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Char char="●"/>
              <a:defRPr sz="2400"/>
            </a:lvl2pPr>
            <a:lvl3pPr indent="-323850" lvl="2" marL="1371600" algn="l">
              <a:spcBef>
                <a:spcPts val="400"/>
              </a:spcBef>
              <a:spcAft>
                <a:spcPts val="0"/>
              </a:spcAft>
              <a:buSzPts val="1500"/>
              <a:buChar char="●"/>
              <a:defRPr sz="2000"/>
            </a:lvl3pPr>
            <a:lvl4pPr indent="-314325" lvl="3" marL="1828800" algn="l">
              <a:spcBef>
                <a:spcPts val="360"/>
              </a:spcBef>
              <a:spcAft>
                <a:spcPts val="0"/>
              </a:spcAft>
              <a:buSzPts val="1350"/>
              <a:buChar char="●"/>
              <a:defRPr sz="1800"/>
            </a:lvl4pPr>
            <a:lvl5pPr indent="-314325" lvl="4" marL="2286000" algn="l">
              <a:spcBef>
                <a:spcPts val="360"/>
              </a:spcBef>
              <a:spcAft>
                <a:spcPts val="0"/>
              </a:spcAft>
              <a:buSzPts val="1350"/>
              <a:buChar char="●"/>
              <a:defRPr sz="1800"/>
            </a:lvl5pPr>
            <a:lvl6pPr indent="-314325" lvl="5" marL="2743200" algn="l">
              <a:spcBef>
                <a:spcPts val="360"/>
              </a:spcBef>
              <a:spcAft>
                <a:spcPts val="0"/>
              </a:spcAft>
              <a:buSzPts val="1350"/>
              <a:buChar char="●"/>
              <a:defRPr sz="1800"/>
            </a:lvl6pPr>
            <a:lvl7pPr indent="-314325" lvl="6" marL="3200400" algn="l">
              <a:spcBef>
                <a:spcPts val="360"/>
              </a:spcBef>
              <a:spcAft>
                <a:spcPts val="0"/>
              </a:spcAft>
              <a:buSzPts val="1350"/>
              <a:buChar char="●"/>
              <a:defRPr sz="1800"/>
            </a:lvl7pPr>
            <a:lvl8pPr indent="-314325" lvl="7" marL="3657600" algn="l">
              <a:spcBef>
                <a:spcPts val="360"/>
              </a:spcBef>
              <a:spcAft>
                <a:spcPts val="0"/>
              </a:spcAft>
              <a:buSzPts val="1350"/>
              <a:buChar char="●"/>
              <a:defRPr sz="1800"/>
            </a:lvl8pPr>
            <a:lvl9pPr indent="-314325" lvl="8" marL="4114800" algn="l">
              <a:spcBef>
                <a:spcPts val="360"/>
              </a:spcBef>
              <a:spcAft>
                <a:spcPts val="0"/>
              </a:spcAft>
              <a:buSzPts val="1350"/>
              <a:buChar char="●"/>
              <a:defRPr sz="1800"/>
            </a:lvl9pPr>
          </a:lstStyle>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10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32" name="Google Shape;32;p103"/>
          <p:cNvSpPr txBox="1"/>
          <p:nvPr>
            <p:ph idx="1" type="body"/>
          </p:nvPr>
        </p:nvSpPr>
        <p:spPr>
          <a:xfrm>
            <a:off x="457200" y="1535113"/>
            <a:ext cx="4040188"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3" name="Google Shape;33;p103"/>
          <p:cNvSpPr txBox="1"/>
          <p:nvPr>
            <p:ph idx="2" type="body"/>
          </p:nvPr>
        </p:nvSpPr>
        <p:spPr>
          <a:xfrm>
            <a:off x="457200" y="2174875"/>
            <a:ext cx="4040188"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
        <p:nvSpPr>
          <p:cNvPr id="34" name="Google Shape;34;p103"/>
          <p:cNvSpPr txBox="1"/>
          <p:nvPr>
            <p:ph idx="3" type="body"/>
          </p:nvPr>
        </p:nvSpPr>
        <p:spPr>
          <a:xfrm>
            <a:off x="4645025" y="1535113"/>
            <a:ext cx="4041775" cy="639762"/>
          </a:xfrm>
          <a:prstGeom prst="rect">
            <a:avLst/>
          </a:prstGeom>
          <a:noFill/>
          <a:ln>
            <a:noFill/>
          </a:ln>
        </p:spPr>
        <p:txBody>
          <a:bodyPr anchorCtr="0" anchor="b" bIns="46025" lIns="182550" spcFirstLastPara="1" rIns="182550"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1200"/>
              <a:buNone/>
              <a:defRPr b="1" sz="1600"/>
            </a:lvl5pPr>
            <a:lvl6pPr indent="-228600" lvl="5" marL="2743200" algn="l">
              <a:spcBef>
                <a:spcPts val="320"/>
              </a:spcBef>
              <a:spcAft>
                <a:spcPts val="0"/>
              </a:spcAft>
              <a:buSzPts val="1200"/>
              <a:buNone/>
              <a:defRPr b="1" sz="1600"/>
            </a:lvl6pPr>
            <a:lvl7pPr indent="-228600" lvl="6" marL="3200400" algn="l">
              <a:spcBef>
                <a:spcPts val="320"/>
              </a:spcBef>
              <a:spcAft>
                <a:spcPts val="0"/>
              </a:spcAft>
              <a:buSzPts val="1200"/>
              <a:buNone/>
              <a:defRPr b="1" sz="1600"/>
            </a:lvl7pPr>
            <a:lvl8pPr indent="-228600" lvl="7" marL="3657600" algn="l">
              <a:spcBef>
                <a:spcPts val="320"/>
              </a:spcBef>
              <a:spcAft>
                <a:spcPts val="0"/>
              </a:spcAft>
              <a:buSzPts val="1200"/>
              <a:buNone/>
              <a:defRPr b="1" sz="1600"/>
            </a:lvl8pPr>
            <a:lvl9pPr indent="-228600" lvl="8" marL="4114800" algn="l">
              <a:spcBef>
                <a:spcPts val="320"/>
              </a:spcBef>
              <a:spcAft>
                <a:spcPts val="0"/>
              </a:spcAft>
              <a:buSzPts val="1200"/>
              <a:buNone/>
              <a:defRPr b="1" sz="1600"/>
            </a:lvl9pPr>
          </a:lstStyle>
          <a:p/>
        </p:txBody>
      </p:sp>
      <p:sp>
        <p:nvSpPr>
          <p:cNvPr id="35" name="Google Shape;35;p103"/>
          <p:cNvSpPr txBox="1"/>
          <p:nvPr>
            <p:ph idx="4" type="body"/>
          </p:nvPr>
        </p:nvSpPr>
        <p:spPr>
          <a:xfrm>
            <a:off x="4645025" y="2174875"/>
            <a:ext cx="4041775" cy="3951288"/>
          </a:xfrm>
          <a:prstGeom prst="rect">
            <a:avLst/>
          </a:prstGeom>
          <a:noFill/>
          <a:ln>
            <a:noFill/>
          </a:ln>
        </p:spPr>
        <p:txBody>
          <a:bodyPr anchorCtr="0" anchor="t" bIns="46025" lIns="182550" spcFirstLastPara="1" rIns="182550" wrap="square" tIns="46025">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Char char="●"/>
              <a:defRPr sz="2000"/>
            </a:lvl2pPr>
            <a:lvl3pPr indent="-314325" lvl="2" marL="1371600" algn="l">
              <a:spcBef>
                <a:spcPts val="360"/>
              </a:spcBef>
              <a:spcAft>
                <a:spcPts val="0"/>
              </a:spcAft>
              <a:buSzPts val="1350"/>
              <a:buChar char="●"/>
              <a:defRPr sz="1800"/>
            </a:lvl3pPr>
            <a:lvl4pPr indent="-304800" lvl="3" marL="1828800" algn="l">
              <a:spcBef>
                <a:spcPts val="320"/>
              </a:spcBef>
              <a:spcAft>
                <a:spcPts val="0"/>
              </a:spcAft>
              <a:buSzPts val="1200"/>
              <a:buChar char="●"/>
              <a:defRPr sz="1600"/>
            </a:lvl4pPr>
            <a:lvl5pPr indent="-304800" lvl="4" marL="2286000" algn="l">
              <a:spcBef>
                <a:spcPts val="320"/>
              </a:spcBef>
              <a:spcAft>
                <a:spcPts val="0"/>
              </a:spcAft>
              <a:buSzPts val="1200"/>
              <a:buChar char="●"/>
              <a:defRPr sz="1600"/>
            </a:lvl5pPr>
            <a:lvl6pPr indent="-304800" lvl="5" marL="2743200" algn="l">
              <a:spcBef>
                <a:spcPts val="320"/>
              </a:spcBef>
              <a:spcAft>
                <a:spcPts val="0"/>
              </a:spcAft>
              <a:buSzPts val="1200"/>
              <a:buChar char="●"/>
              <a:defRPr sz="1600"/>
            </a:lvl6pPr>
            <a:lvl7pPr indent="-304800" lvl="6" marL="3200400" algn="l">
              <a:spcBef>
                <a:spcPts val="320"/>
              </a:spcBef>
              <a:spcAft>
                <a:spcPts val="0"/>
              </a:spcAft>
              <a:buSzPts val="1200"/>
              <a:buChar char="●"/>
              <a:defRPr sz="1600"/>
            </a:lvl7pPr>
            <a:lvl8pPr indent="-304800" lvl="7" marL="3657600" algn="l">
              <a:spcBef>
                <a:spcPts val="320"/>
              </a:spcBef>
              <a:spcAft>
                <a:spcPts val="0"/>
              </a:spcAft>
              <a:buSzPts val="1200"/>
              <a:buChar char="●"/>
              <a:defRPr sz="1600"/>
            </a:lvl8pPr>
            <a:lvl9pPr indent="-304800" lvl="8" marL="4114800" algn="l">
              <a:spcBef>
                <a:spcPts val="320"/>
              </a:spcBef>
              <a:spcAft>
                <a:spcPts val="0"/>
              </a:spcAft>
              <a:buSzPts val="1200"/>
              <a:buChar char="●"/>
              <a:defRPr sz="1600"/>
            </a:lvl9pPr>
          </a:lstStyle>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10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1" sz="2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38" name="Google Shape;38;p104"/>
          <p:cNvSpPr txBox="1"/>
          <p:nvPr>
            <p:ph idx="1" type="body"/>
          </p:nvPr>
        </p:nvSpPr>
        <p:spPr>
          <a:xfrm>
            <a:off x="3575050" y="273050"/>
            <a:ext cx="5111750" cy="5853113"/>
          </a:xfrm>
          <a:prstGeom prst="rect">
            <a:avLst/>
          </a:prstGeom>
          <a:noFill/>
          <a:ln>
            <a:noFill/>
          </a:ln>
        </p:spPr>
        <p:txBody>
          <a:bodyPr anchorCtr="0" anchor="t" bIns="46025" lIns="182550" spcFirstLastPara="1" rIns="182550" wrap="square" tIns="46025">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Char char="●"/>
              <a:defRPr sz="2800"/>
            </a:lvl2pPr>
            <a:lvl3pPr indent="-342900" lvl="2" marL="1371600" algn="l">
              <a:spcBef>
                <a:spcPts val="480"/>
              </a:spcBef>
              <a:spcAft>
                <a:spcPts val="0"/>
              </a:spcAft>
              <a:buSzPts val="1800"/>
              <a:buChar char="●"/>
              <a:defRPr sz="2400"/>
            </a:lvl3pPr>
            <a:lvl4pPr indent="-323850" lvl="3" marL="1828800" algn="l">
              <a:spcBef>
                <a:spcPts val="400"/>
              </a:spcBef>
              <a:spcAft>
                <a:spcPts val="0"/>
              </a:spcAft>
              <a:buSzPts val="1500"/>
              <a:buChar char="●"/>
              <a:defRPr sz="2000"/>
            </a:lvl4pPr>
            <a:lvl5pPr indent="-323850" lvl="4" marL="2286000" algn="l">
              <a:spcBef>
                <a:spcPts val="400"/>
              </a:spcBef>
              <a:spcAft>
                <a:spcPts val="0"/>
              </a:spcAft>
              <a:buSzPts val="1500"/>
              <a:buChar char="●"/>
              <a:defRPr sz="2000"/>
            </a:lvl5pPr>
            <a:lvl6pPr indent="-323850" lvl="5" marL="2743200" algn="l">
              <a:spcBef>
                <a:spcPts val="400"/>
              </a:spcBef>
              <a:spcAft>
                <a:spcPts val="0"/>
              </a:spcAft>
              <a:buSzPts val="1500"/>
              <a:buChar char="●"/>
              <a:defRPr sz="2000"/>
            </a:lvl6pPr>
            <a:lvl7pPr indent="-323850" lvl="6" marL="3200400" algn="l">
              <a:spcBef>
                <a:spcPts val="400"/>
              </a:spcBef>
              <a:spcAft>
                <a:spcPts val="0"/>
              </a:spcAft>
              <a:buSzPts val="1500"/>
              <a:buChar char="●"/>
              <a:defRPr sz="2000"/>
            </a:lvl7pPr>
            <a:lvl8pPr indent="-323850" lvl="7" marL="3657600" algn="l">
              <a:spcBef>
                <a:spcPts val="400"/>
              </a:spcBef>
              <a:spcAft>
                <a:spcPts val="0"/>
              </a:spcAft>
              <a:buSzPts val="1500"/>
              <a:buChar char="●"/>
              <a:defRPr sz="2000"/>
            </a:lvl8pPr>
            <a:lvl9pPr indent="-323850" lvl="8" marL="4114800" algn="l">
              <a:spcBef>
                <a:spcPts val="400"/>
              </a:spcBef>
              <a:spcAft>
                <a:spcPts val="0"/>
              </a:spcAft>
              <a:buSzPts val="1500"/>
              <a:buChar char="●"/>
              <a:defRPr sz="2000"/>
            </a:lvl9pPr>
          </a:lstStyle>
          <a:p/>
        </p:txBody>
      </p:sp>
      <p:sp>
        <p:nvSpPr>
          <p:cNvPr id="39" name="Google Shape;39;p104"/>
          <p:cNvSpPr txBox="1"/>
          <p:nvPr>
            <p:ph idx="2" type="body"/>
          </p:nvPr>
        </p:nvSpPr>
        <p:spPr>
          <a:xfrm>
            <a:off x="457200" y="1435100"/>
            <a:ext cx="3008313" cy="4691063"/>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 name="Shape 40"/>
        <p:cNvGrpSpPr/>
        <p:nvPr/>
      </p:nvGrpSpPr>
      <p:grpSpPr>
        <a:xfrm>
          <a:off x="0" y="0"/>
          <a:ext cx="0" cy="0"/>
          <a:chOff x="0" y="0"/>
          <a:chExt cx="0" cy="0"/>
        </a:xfrm>
      </p:grpSpPr>
      <p:sp>
        <p:nvSpPr>
          <p:cNvPr id="41" name="Google Shape;41;p10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1" sz="2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42" name="Google Shape;42;p105"/>
          <p:cNvSpPr/>
          <p:nvPr>
            <p:ph idx="2" type="pic"/>
          </p:nvPr>
        </p:nvSpPr>
        <p:spPr>
          <a:xfrm>
            <a:off x="1792288" y="612775"/>
            <a:ext cx="5486400" cy="4114800"/>
          </a:xfrm>
          <a:prstGeom prst="rect">
            <a:avLst/>
          </a:prstGeom>
          <a:noFill/>
          <a:ln>
            <a:noFill/>
          </a:ln>
        </p:spPr>
      </p:sp>
      <p:sp>
        <p:nvSpPr>
          <p:cNvPr id="43" name="Google Shape;43;p105"/>
          <p:cNvSpPr txBox="1"/>
          <p:nvPr>
            <p:ph idx="1" type="body"/>
          </p:nvPr>
        </p:nvSpPr>
        <p:spPr>
          <a:xfrm>
            <a:off x="1792288" y="5367338"/>
            <a:ext cx="5486400" cy="804862"/>
          </a:xfrm>
          <a:prstGeom prst="rect">
            <a:avLst/>
          </a:prstGeom>
          <a:noFill/>
          <a:ln>
            <a:noFill/>
          </a:ln>
        </p:spPr>
        <p:txBody>
          <a:bodyPr anchorCtr="0" anchor="t" bIns="46025" lIns="182550" spcFirstLastPara="1" rIns="182550" wrap="square" tIns="46025">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675"/>
              <a:buNone/>
              <a:defRPr sz="900"/>
            </a:lvl5pPr>
            <a:lvl6pPr indent="-228600" lvl="5" marL="2743200" algn="l">
              <a:spcBef>
                <a:spcPts val="180"/>
              </a:spcBef>
              <a:spcAft>
                <a:spcPts val="0"/>
              </a:spcAft>
              <a:buSzPts val="675"/>
              <a:buNone/>
              <a:defRPr sz="900"/>
            </a:lvl6pPr>
            <a:lvl7pPr indent="-228600" lvl="6" marL="3200400" algn="l">
              <a:spcBef>
                <a:spcPts val="180"/>
              </a:spcBef>
              <a:spcAft>
                <a:spcPts val="0"/>
              </a:spcAft>
              <a:buSzPts val="675"/>
              <a:buNone/>
              <a:defRPr sz="900"/>
            </a:lvl7pPr>
            <a:lvl8pPr indent="-228600" lvl="7" marL="3657600" algn="l">
              <a:spcBef>
                <a:spcPts val="180"/>
              </a:spcBef>
              <a:spcAft>
                <a:spcPts val="0"/>
              </a:spcAft>
              <a:buSzPts val="675"/>
              <a:buNone/>
              <a:defRPr sz="900"/>
            </a:lvl8pPr>
            <a:lvl9pPr indent="-228600" lvl="8" marL="4114800" algn="l">
              <a:spcBef>
                <a:spcPts val="180"/>
              </a:spcBef>
              <a:spcAft>
                <a:spcPts val="0"/>
              </a:spcAft>
              <a:buSzPts val="675"/>
              <a:buNone/>
              <a:defRPr sz="900"/>
            </a:lvl9pPr>
          </a:lstStyle>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106"/>
          <p:cNvSpPr txBox="1"/>
          <p:nvPr>
            <p:ph type="title"/>
          </p:nvPr>
        </p:nvSpPr>
        <p:spPr>
          <a:xfrm>
            <a:off x="1149350" y="354013"/>
            <a:ext cx="7607300" cy="5603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46" name="Google Shape;46;p106"/>
          <p:cNvSpPr txBox="1"/>
          <p:nvPr>
            <p:ph idx="1" type="body"/>
          </p:nvPr>
        </p:nvSpPr>
        <p:spPr>
          <a:xfrm rot="5400000">
            <a:off x="2171700" y="-647700"/>
            <a:ext cx="4800600" cy="83820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107"/>
          <p:cNvSpPr txBox="1"/>
          <p:nvPr>
            <p:ph type="title"/>
          </p:nvPr>
        </p:nvSpPr>
        <p:spPr>
          <a:xfrm rot="5400000">
            <a:off x="4920457" y="2101057"/>
            <a:ext cx="5589587" cy="20955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1pPr>
            <a:lvl2pPr lvl="1"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2pPr>
            <a:lvl3pPr lvl="2"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3pPr>
            <a:lvl4pPr lvl="3"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4pPr>
            <a:lvl5pPr lvl="4"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5pPr>
            <a:lvl6pPr lvl="5"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6pPr>
            <a:lvl7pPr lvl="6"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7pPr>
            <a:lvl8pPr lvl="7"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8pPr>
            <a:lvl9pPr lvl="8" marR="0" rtl="0" algn="ctr">
              <a:spcBef>
                <a:spcPts val="0"/>
              </a:spcBef>
              <a:spcAft>
                <a:spcPts val="0"/>
              </a:spcAft>
              <a:buSzPts val="1400"/>
              <a:buNone/>
              <a:defRPr b="1" i="1" sz="3000" u="none" cap="none" strike="noStrike">
                <a:solidFill>
                  <a:schemeClr val="lt1"/>
                </a:solidFill>
                <a:latin typeface="Comic Sans MS"/>
                <a:ea typeface="Comic Sans MS"/>
                <a:cs typeface="Comic Sans MS"/>
                <a:sym typeface="Comic Sans MS"/>
              </a:defRPr>
            </a:lvl9pPr>
          </a:lstStyle>
          <a:p/>
        </p:txBody>
      </p:sp>
      <p:sp>
        <p:nvSpPr>
          <p:cNvPr id="49" name="Google Shape;49;p107"/>
          <p:cNvSpPr txBox="1"/>
          <p:nvPr>
            <p:ph idx="1" type="body"/>
          </p:nvPr>
        </p:nvSpPr>
        <p:spPr>
          <a:xfrm rot="5400000">
            <a:off x="653256" y="81756"/>
            <a:ext cx="5589587" cy="6134100"/>
          </a:xfrm>
          <a:prstGeom prst="rect">
            <a:avLst/>
          </a:prstGeom>
          <a:noFill/>
          <a:ln>
            <a:noFill/>
          </a:ln>
        </p:spPr>
        <p:txBody>
          <a:bodyPr anchorCtr="0" anchor="t" bIns="46025" lIns="182550" spcFirstLastPara="1" rIns="182550" wrap="square" tIns="46025">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14325" lvl="3" marL="1828800" algn="l">
              <a:spcBef>
                <a:spcPts val="360"/>
              </a:spcBef>
              <a:spcAft>
                <a:spcPts val="0"/>
              </a:spcAft>
              <a:buSzPts val="1350"/>
              <a:buChar char="●"/>
              <a:defRPr/>
            </a:lvl4pPr>
            <a:lvl5pPr indent="-314325" lvl="4" marL="2286000" algn="l">
              <a:spcBef>
                <a:spcPts val="360"/>
              </a:spcBef>
              <a:spcAft>
                <a:spcPts val="0"/>
              </a:spcAft>
              <a:buSzPts val="1350"/>
              <a:buChar char="●"/>
              <a:defRPr/>
            </a:lvl5pPr>
            <a:lvl6pPr indent="-314325" lvl="5" marL="2743200" algn="l">
              <a:spcBef>
                <a:spcPts val="360"/>
              </a:spcBef>
              <a:spcAft>
                <a:spcPts val="0"/>
              </a:spcAft>
              <a:buSzPts val="1350"/>
              <a:buChar char="●"/>
              <a:defRPr/>
            </a:lvl6pPr>
            <a:lvl7pPr indent="-314325" lvl="6" marL="3200400" algn="l">
              <a:spcBef>
                <a:spcPts val="360"/>
              </a:spcBef>
              <a:spcAft>
                <a:spcPts val="0"/>
              </a:spcAft>
              <a:buSzPts val="1350"/>
              <a:buChar char="●"/>
              <a:defRPr/>
            </a:lvl7pPr>
            <a:lvl8pPr indent="-314325" lvl="7" marL="3657600" algn="l">
              <a:spcBef>
                <a:spcPts val="360"/>
              </a:spcBef>
              <a:spcAft>
                <a:spcPts val="0"/>
              </a:spcAft>
              <a:buSzPts val="1350"/>
              <a:buChar char="●"/>
              <a:defRPr/>
            </a:lvl8pPr>
            <a:lvl9pPr indent="-314325" lvl="8" marL="4114800" algn="l">
              <a:spcBef>
                <a:spcPts val="360"/>
              </a:spcBef>
              <a:spcAft>
                <a:spcPts val="0"/>
              </a:spcAft>
              <a:buSzPts val="1350"/>
              <a:buChar char="●"/>
              <a:defRPr/>
            </a:lvl9pPr>
          </a:lstStyle>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4"/>
          <p:cNvSpPr txBox="1"/>
          <p:nvPr>
            <p:ph idx="1" type="body"/>
          </p:nvPr>
        </p:nvSpPr>
        <p:spPr>
          <a:xfrm>
            <a:off x="381000" y="1143000"/>
            <a:ext cx="8382000" cy="4800600"/>
          </a:xfrm>
          <a:prstGeom prst="rect">
            <a:avLst/>
          </a:prstGeom>
          <a:noFill/>
          <a:ln>
            <a:noFill/>
          </a:ln>
        </p:spPr>
        <p:txBody>
          <a:bodyPr anchorCtr="0" anchor="t" bIns="46025" lIns="182550" spcFirstLastPara="1" rIns="182550" wrap="square" tIns="46025">
            <a:noAutofit/>
          </a:bodyPr>
          <a:lstStyle>
            <a:lvl1pPr indent="-361950" lvl="0" marL="457200" marR="0" rtl="0" algn="l">
              <a:spcBef>
                <a:spcPts val="560"/>
              </a:spcBef>
              <a:spcAft>
                <a:spcPts val="0"/>
              </a:spcAft>
              <a:buClr>
                <a:schemeClr val="accent2"/>
              </a:buClr>
              <a:buSzPts val="2100"/>
              <a:buFont typeface="Noto Sans Symbols"/>
              <a:buChar char="●"/>
              <a:defRPr b="1" i="0" sz="2800" u="none" cap="none" strike="noStrike">
                <a:solidFill>
                  <a:schemeClr val="lt2"/>
                </a:solidFill>
                <a:latin typeface="Arial"/>
                <a:ea typeface="Arial"/>
                <a:cs typeface="Arial"/>
                <a:sym typeface="Arial"/>
              </a:defRPr>
            </a:lvl1pPr>
            <a:lvl2pPr indent="-342900" lvl="1" marL="914400" marR="0" rtl="0" algn="l">
              <a:spcBef>
                <a:spcPts val="480"/>
              </a:spcBef>
              <a:spcAft>
                <a:spcPts val="0"/>
              </a:spcAft>
              <a:buClr>
                <a:schemeClr val="accent2"/>
              </a:buClr>
              <a:buSzPts val="1800"/>
              <a:buFont typeface="Noto Sans Symbols"/>
              <a:buChar char="●"/>
              <a:defRPr b="1" i="0" sz="2400" u="none" cap="none" strike="noStrike">
                <a:solidFill>
                  <a:schemeClr val="lt2"/>
                </a:solidFill>
                <a:latin typeface="Arial"/>
                <a:ea typeface="Arial"/>
                <a:cs typeface="Arial"/>
                <a:sym typeface="Arial"/>
              </a:defRPr>
            </a:lvl2pPr>
            <a:lvl3pPr indent="-323850" lvl="2" marL="1371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3pPr>
            <a:lvl4pPr indent="-323850" lvl="3" marL="1828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4pPr>
            <a:lvl5pPr indent="-323850" lvl="4" marL="22860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5pPr>
            <a:lvl6pPr indent="-323850" lvl="5" marL="27432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6pPr>
            <a:lvl7pPr indent="-323850" lvl="6" marL="32004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7pPr>
            <a:lvl8pPr indent="-323850" lvl="7" marL="36576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8pPr>
            <a:lvl9pPr indent="-323850" lvl="8" marL="4114800" marR="0" rtl="0" algn="l">
              <a:spcBef>
                <a:spcPts val="400"/>
              </a:spcBef>
              <a:spcAft>
                <a:spcPts val="0"/>
              </a:spcAft>
              <a:buClr>
                <a:schemeClr val="accent2"/>
              </a:buClr>
              <a:buSzPts val="1500"/>
              <a:buFont typeface="Noto Sans Symbols"/>
              <a:buChar char="●"/>
              <a:defRPr b="1" i="0" sz="2000" u="none" cap="none" strike="noStrike">
                <a:solidFill>
                  <a:schemeClr val="lt2"/>
                </a:solidFill>
                <a:latin typeface="Arial"/>
                <a:ea typeface="Arial"/>
                <a:cs typeface="Arial"/>
                <a:sym typeface="Arial"/>
              </a:defRPr>
            </a:lvl9pPr>
          </a:lstStyle>
          <a:p/>
        </p:txBody>
      </p:sp>
      <p:sp>
        <p:nvSpPr>
          <p:cNvPr id="7" name="Google Shape;7;p94"/>
          <p:cNvSpPr txBox="1"/>
          <p:nvPr/>
        </p:nvSpPr>
        <p:spPr>
          <a:xfrm>
            <a:off x="76200" y="6507162"/>
            <a:ext cx="685800" cy="2746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chemeClr val="dk1"/>
                </a:solidFill>
                <a:latin typeface="Arial"/>
                <a:ea typeface="Arial"/>
                <a:cs typeface="Arial"/>
                <a:sym typeface="Arial"/>
              </a:rPr>
              <a:t>22-</a:t>
            </a: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5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3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7.png"/><Relationship Id="rId4" Type="http://schemas.openxmlformats.org/officeDocument/2006/relationships/image" Target="../media/image4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0.png"/><Relationship Id="rId4" Type="http://schemas.openxmlformats.org/officeDocument/2006/relationships/image" Target="../media/image46.png"/><Relationship Id="rId5" Type="http://schemas.openxmlformats.org/officeDocument/2006/relationships/image" Target="../media/image3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3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4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4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4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p:nvPr/>
        </p:nvSpPr>
        <p:spPr>
          <a:xfrm>
            <a:off x="435429" y="1828800"/>
            <a:ext cx="4209143" cy="523355"/>
          </a:xfrm>
          <a:prstGeom prst="rect">
            <a:avLst/>
          </a:prstGeom>
          <a:noFill/>
          <a:ln>
            <a:noFill/>
          </a:ln>
        </p:spPr>
        <p:txBody>
          <a:bodyPr anchorCtr="0" anchor="t" bIns="43225" lIns="86475" spcFirstLastPara="1" rIns="86475" wrap="square" tIns="43225">
            <a:spAutoFit/>
          </a:bodyPr>
          <a:lstStyle/>
          <a:p>
            <a:pPr indent="0" lvl="0" marL="0" marR="0" rtl="0" algn="l">
              <a:lnSpc>
                <a:spcPct val="120000"/>
              </a:lnSpc>
              <a:spcBef>
                <a:spcPts val="0"/>
              </a:spcBef>
              <a:spcAft>
                <a:spcPts val="0"/>
              </a:spcAft>
              <a:buNone/>
            </a:pPr>
            <a:r>
              <a:rPr b="1" i="0" lang="en-US" sz="2600" u="none" cap="none" strike="noStrike">
                <a:solidFill>
                  <a:schemeClr val="dk1"/>
                </a:solidFill>
                <a:latin typeface="Arial"/>
                <a:ea typeface="Arial"/>
                <a:cs typeface="Arial"/>
                <a:sym typeface="Arial"/>
              </a:rPr>
              <a:t>Learning Objectives</a:t>
            </a:r>
            <a:endParaRPr/>
          </a:p>
        </p:txBody>
      </p:sp>
      <p:sp>
        <p:nvSpPr>
          <p:cNvPr id="55" name="Google Shape;55;p1"/>
          <p:cNvSpPr/>
          <p:nvPr/>
        </p:nvSpPr>
        <p:spPr>
          <a:xfrm>
            <a:off x="533400" y="243840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6" name="Google Shape;56;p1"/>
          <p:cNvSpPr/>
          <p:nvPr/>
        </p:nvSpPr>
        <p:spPr>
          <a:xfrm>
            <a:off x="1397575" y="2438400"/>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Explain variable, fixed, and mixed costs and the relevant range.</a:t>
            </a:r>
            <a:endParaRPr/>
          </a:p>
        </p:txBody>
      </p:sp>
      <p:sp>
        <p:nvSpPr>
          <p:cNvPr id="57" name="Google Shape;57;p1"/>
          <p:cNvSpPr/>
          <p:nvPr/>
        </p:nvSpPr>
        <p:spPr>
          <a:xfrm>
            <a:off x="709023" y="2493264"/>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1</a:t>
            </a:r>
            <a:endParaRPr/>
          </a:p>
        </p:txBody>
      </p:sp>
      <p:sp>
        <p:nvSpPr>
          <p:cNvPr id="58" name="Google Shape;58;p1"/>
          <p:cNvSpPr/>
          <p:nvPr/>
        </p:nvSpPr>
        <p:spPr>
          <a:xfrm>
            <a:off x="533400" y="3110552"/>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59" name="Google Shape;59;p1"/>
          <p:cNvSpPr/>
          <p:nvPr/>
        </p:nvSpPr>
        <p:spPr>
          <a:xfrm>
            <a:off x="1397575" y="3110552"/>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Apply the high-low method to determine the components of mixed costs.</a:t>
            </a:r>
            <a:endParaRPr/>
          </a:p>
        </p:txBody>
      </p:sp>
      <p:sp>
        <p:nvSpPr>
          <p:cNvPr id="60" name="Google Shape;60;p1"/>
          <p:cNvSpPr/>
          <p:nvPr/>
        </p:nvSpPr>
        <p:spPr>
          <a:xfrm>
            <a:off x="709023" y="3165416"/>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2</a:t>
            </a:r>
            <a:endParaRPr/>
          </a:p>
        </p:txBody>
      </p:sp>
      <p:sp>
        <p:nvSpPr>
          <p:cNvPr id="61" name="Google Shape;61;p1"/>
          <p:cNvSpPr/>
          <p:nvPr/>
        </p:nvSpPr>
        <p:spPr>
          <a:xfrm>
            <a:off x="533400" y="3796352"/>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62" name="Google Shape;62;p1"/>
          <p:cNvSpPr/>
          <p:nvPr/>
        </p:nvSpPr>
        <p:spPr>
          <a:xfrm>
            <a:off x="1397575" y="3796352"/>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Prepare a CVP income statement to determine contribution margin.</a:t>
            </a:r>
            <a:endParaRPr/>
          </a:p>
        </p:txBody>
      </p:sp>
      <p:sp>
        <p:nvSpPr>
          <p:cNvPr id="63" name="Google Shape;63;p1"/>
          <p:cNvSpPr/>
          <p:nvPr/>
        </p:nvSpPr>
        <p:spPr>
          <a:xfrm>
            <a:off x="709023" y="3851216"/>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3</a:t>
            </a:r>
            <a:endParaRPr/>
          </a:p>
        </p:txBody>
      </p:sp>
      <p:sp>
        <p:nvSpPr>
          <p:cNvPr id="64" name="Google Shape;64;p1"/>
          <p:cNvSpPr/>
          <p:nvPr/>
        </p:nvSpPr>
        <p:spPr>
          <a:xfrm>
            <a:off x="533400" y="4477090"/>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65" name="Google Shape;65;p1"/>
          <p:cNvSpPr/>
          <p:nvPr/>
        </p:nvSpPr>
        <p:spPr>
          <a:xfrm>
            <a:off x="1397575" y="4477090"/>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Compute the break-even point using three approaches.</a:t>
            </a:r>
            <a:endParaRPr/>
          </a:p>
        </p:txBody>
      </p:sp>
      <p:sp>
        <p:nvSpPr>
          <p:cNvPr id="66" name="Google Shape;66;p1"/>
          <p:cNvSpPr/>
          <p:nvPr/>
        </p:nvSpPr>
        <p:spPr>
          <a:xfrm>
            <a:off x="709023" y="4531954"/>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4</a:t>
            </a:r>
            <a:endParaRPr/>
          </a:p>
        </p:txBody>
      </p:sp>
      <p:sp>
        <p:nvSpPr>
          <p:cNvPr id="67" name="Google Shape;67;p1"/>
          <p:cNvSpPr/>
          <p:nvPr/>
        </p:nvSpPr>
        <p:spPr>
          <a:xfrm>
            <a:off x="533400" y="5162264"/>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68" name="Google Shape;68;p1"/>
          <p:cNvSpPr/>
          <p:nvPr/>
        </p:nvSpPr>
        <p:spPr>
          <a:xfrm>
            <a:off x="1397575" y="5162264"/>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i="0" lang="en-US" sz="1800" u="none" cap="none" strike="noStrike">
                <a:solidFill>
                  <a:schemeClr val="lt1"/>
                </a:solidFill>
                <a:latin typeface="Arial"/>
                <a:ea typeface="Arial"/>
                <a:cs typeface="Arial"/>
                <a:sym typeface="Arial"/>
              </a:rPr>
              <a:t>Determine the sales required to earn target net income and determine margin of safety.</a:t>
            </a:r>
            <a:endParaRPr/>
          </a:p>
        </p:txBody>
      </p:sp>
      <p:sp>
        <p:nvSpPr>
          <p:cNvPr id="69" name="Google Shape;69;p1"/>
          <p:cNvSpPr/>
          <p:nvPr/>
        </p:nvSpPr>
        <p:spPr>
          <a:xfrm>
            <a:off x="709023" y="5217128"/>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5</a:t>
            </a:r>
            <a:endParaRPr/>
          </a:p>
        </p:txBody>
      </p:sp>
      <p:sp>
        <p:nvSpPr>
          <p:cNvPr id="70" name="Google Shape;70;p1"/>
          <p:cNvSpPr/>
          <p:nvPr/>
        </p:nvSpPr>
        <p:spPr>
          <a:xfrm>
            <a:off x="0" y="0"/>
            <a:ext cx="9144000" cy="1752600"/>
          </a:xfrm>
          <a:prstGeom prst="rect">
            <a:avLst/>
          </a:prstGeom>
          <a:solidFill>
            <a:srgbClr val="C5C5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1" name="Google Shape;71;p1"/>
          <p:cNvSpPr/>
          <p:nvPr/>
        </p:nvSpPr>
        <p:spPr>
          <a:xfrm>
            <a:off x="0" y="457200"/>
            <a:ext cx="2514600" cy="91440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2" name="Google Shape;72;p1"/>
          <p:cNvSpPr/>
          <p:nvPr/>
        </p:nvSpPr>
        <p:spPr>
          <a:xfrm>
            <a:off x="762000" y="152400"/>
            <a:ext cx="1447800" cy="1447800"/>
          </a:xfrm>
          <a:prstGeom prst="ellipse">
            <a:avLst/>
          </a:prstGeom>
          <a:solidFill>
            <a:srgbClr val="0027A4"/>
          </a:solidFill>
          <a:ln>
            <a:noFill/>
          </a:ln>
        </p:spPr>
        <p:txBody>
          <a:bodyPr anchorCtr="0" anchor="ctr" bIns="45700" lIns="0" spcFirstLastPara="1" rIns="0" wrap="square" tIns="0">
            <a:noAutofit/>
          </a:bodyPr>
          <a:lstStyle/>
          <a:p>
            <a:pPr indent="0" lvl="0" marL="0" marR="0" rtl="0" algn="l">
              <a:spcBef>
                <a:spcPts val="0"/>
              </a:spcBef>
              <a:spcAft>
                <a:spcPts val="0"/>
              </a:spcAft>
              <a:buNone/>
            </a:pPr>
            <a:r>
              <a:rPr b="1" lang="en-US" sz="7200">
                <a:solidFill>
                  <a:schemeClr val="lt1"/>
                </a:solidFill>
                <a:latin typeface="Arial"/>
                <a:ea typeface="Arial"/>
                <a:cs typeface="Arial"/>
                <a:sym typeface="Arial"/>
              </a:rPr>
              <a:t>22</a:t>
            </a:r>
            <a:endParaRPr b="1" sz="7200">
              <a:solidFill>
                <a:schemeClr val="lt1"/>
              </a:solidFill>
              <a:latin typeface="Arial"/>
              <a:ea typeface="Arial"/>
              <a:cs typeface="Arial"/>
              <a:sym typeface="Arial"/>
            </a:endParaRPr>
          </a:p>
        </p:txBody>
      </p:sp>
      <p:sp>
        <p:nvSpPr>
          <p:cNvPr id="73" name="Google Shape;73;p1"/>
          <p:cNvSpPr/>
          <p:nvPr/>
        </p:nvSpPr>
        <p:spPr>
          <a:xfrm>
            <a:off x="533400" y="5853752"/>
            <a:ext cx="870857" cy="636270"/>
          </a:xfrm>
          <a:prstGeom prst="rect">
            <a:avLst/>
          </a:prstGeom>
          <a:solidFill>
            <a:srgbClr val="BFBFBF"/>
          </a:solidFill>
          <a:ln>
            <a:noFill/>
          </a:ln>
        </p:spPr>
        <p:txBody>
          <a:bodyPr anchorCtr="0" anchor="ctr" bIns="43225" lIns="86475" spcFirstLastPara="1" rIns="86475" wrap="square" tIns="43225">
            <a:no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74" name="Google Shape;74;p1"/>
          <p:cNvSpPr/>
          <p:nvPr/>
        </p:nvSpPr>
        <p:spPr>
          <a:xfrm>
            <a:off x="1397575" y="5853752"/>
            <a:ext cx="7205472" cy="636270"/>
          </a:xfrm>
          <a:prstGeom prst="rect">
            <a:avLst/>
          </a:prstGeom>
          <a:solidFill>
            <a:srgbClr val="0027A4"/>
          </a:solidFill>
          <a:ln>
            <a:noFill/>
          </a:ln>
        </p:spPr>
        <p:txBody>
          <a:bodyPr anchorCtr="0" anchor="ctr" bIns="45700" lIns="91425" spcFirstLastPara="1" rIns="91425" wrap="square" tIns="45700">
            <a:noAutofit/>
          </a:bodyPr>
          <a:lstStyle/>
          <a:p>
            <a:pPr indent="0" lvl="0" marL="117475" marR="0" rtl="0" algn="l">
              <a:spcBef>
                <a:spcPts val="0"/>
              </a:spcBef>
              <a:spcAft>
                <a:spcPts val="0"/>
              </a:spcAft>
              <a:buNone/>
            </a:pPr>
            <a:r>
              <a:rPr b="1" lang="en-US" sz="1800">
                <a:solidFill>
                  <a:schemeClr val="lt1"/>
                </a:solidFill>
                <a:latin typeface="Arial"/>
                <a:ea typeface="Arial"/>
                <a:cs typeface="Arial"/>
                <a:sym typeface="Arial"/>
              </a:rPr>
              <a:t>Use CVP analysis to respond to changes in the business environment.</a:t>
            </a:r>
            <a:endParaRPr/>
          </a:p>
        </p:txBody>
      </p:sp>
      <p:sp>
        <p:nvSpPr>
          <p:cNvPr id="75" name="Google Shape;75;p1"/>
          <p:cNvSpPr/>
          <p:nvPr/>
        </p:nvSpPr>
        <p:spPr>
          <a:xfrm>
            <a:off x="709023" y="5908616"/>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400">
                <a:solidFill>
                  <a:schemeClr val="lt1"/>
                </a:solidFill>
                <a:latin typeface="Arial"/>
                <a:ea typeface="Arial"/>
                <a:cs typeface="Arial"/>
                <a:sym typeface="Arial"/>
              </a:rPr>
              <a:t>6</a:t>
            </a:r>
            <a:endParaRPr/>
          </a:p>
        </p:txBody>
      </p:sp>
      <p:sp>
        <p:nvSpPr>
          <p:cNvPr id="76" name="Google Shape;76;p1"/>
          <p:cNvSpPr txBox="1"/>
          <p:nvPr/>
        </p:nvSpPr>
        <p:spPr>
          <a:xfrm>
            <a:off x="2514600" y="244783"/>
            <a:ext cx="6248400" cy="1320362"/>
          </a:xfrm>
          <a:prstGeom prst="rect">
            <a:avLst/>
          </a:pr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58738" marR="0" rtl="0" algn="l">
              <a:lnSpc>
                <a:spcPct val="110000"/>
              </a:lnSpc>
              <a:spcBef>
                <a:spcPts val="0"/>
              </a:spcBef>
              <a:spcAft>
                <a:spcPts val="0"/>
              </a:spcAft>
              <a:buClr>
                <a:schemeClr val="accent2"/>
              </a:buClr>
              <a:buSzPts val="4800"/>
              <a:buFont typeface="Arial"/>
              <a:buNone/>
            </a:pPr>
            <a:r>
              <a:rPr b="1" i="0" lang="en-US" sz="4800" u="none">
                <a:solidFill>
                  <a:srgbClr val="CC0000"/>
                </a:solidFill>
                <a:latin typeface="Arial"/>
                <a:ea typeface="Arial"/>
                <a:cs typeface="Arial"/>
                <a:sym typeface="Arial"/>
              </a:rPr>
              <a:t>Cost-Volume-Profit</a:t>
            </a:r>
            <a:endParaRPr b="1" i="0" sz="4800" u="none">
              <a:solidFill>
                <a:srgbClr val="CC0000"/>
              </a:solidFill>
              <a:latin typeface="Arial"/>
              <a:ea typeface="Arial"/>
              <a:cs typeface="Arial"/>
              <a:sym typeface="Arial"/>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ph idx="1" type="body"/>
          </p:nvPr>
        </p:nvSpPr>
        <p:spPr>
          <a:xfrm>
            <a:off x="533400" y="1447800"/>
            <a:ext cx="8077200" cy="3886200"/>
          </a:xfrm>
          <a:prstGeom prst="rect">
            <a:avLst/>
          </a:prstGeom>
          <a:solidFill>
            <a:schemeClr val="lt1"/>
          </a:solidFill>
          <a:ln>
            <a:noFill/>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800000"/>
              </a:buClr>
              <a:buSzPts val="1840"/>
              <a:buFont typeface="Noto Sans Symbols"/>
              <a:buNone/>
            </a:pPr>
            <a:r>
              <a:rPr lang="en-US" sz="2300">
                <a:solidFill>
                  <a:srgbClr val="0000BF"/>
                </a:solidFill>
                <a:latin typeface="Arial"/>
                <a:ea typeface="Arial"/>
                <a:cs typeface="Arial"/>
                <a:sym typeface="Arial"/>
              </a:rPr>
              <a:t>Cost Behavior Analysis</a:t>
            </a:r>
            <a:r>
              <a:rPr b="0" lang="en-US" sz="2300">
                <a:solidFill>
                  <a:srgbClr val="0000BF"/>
                </a:solidFill>
                <a:latin typeface="Arial"/>
                <a:ea typeface="Arial"/>
                <a:cs typeface="Arial"/>
                <a:sym typeface="Arial"/>
              </a:rPr>
              <a:t> </a:t>
            </a:r>
            <a:r>
              <a:rPr b="0" lang="en-US" sz="2300">
                <a:latin typeface="Arial"/>
                <a:ea typeface="Arial"/>
                <a:cs typeface="Arial"/>
                <a:sym typeface="Arial"/>
              </a:rPr>
              <a:t>is the study of how specific costs respond to changes in the level of business activity.</a:t>
            </a:r>
            <a:endParaRPr/>
          </a:p>
          <a:p>
            <a:pPr indent="-457200" lvl="1" marL="685800" rtl="0" algn="l">
              <a:lnSpc>
                <a:spcPct val="120000"/>
              </a:lnSpc>
              <a:spcBef>
                <a:spcPts val="1430"/>
              </a:spcBef>
              <a:spcAft>
                <a:spcPts val="0"/>
              </a:spcAft>
              <a:buClr>
                <a:srgbClr val="800000"/>
              </a:buClr>
              <a:buSzPts val="1760"/>
              <a:buFont typeface="Noto Sans Symbols"/>
              <a:buChar char="◆"/>
            </a:pPr>
            <a:r>
              <a:rPr b="0" lang="en-US" sz="2200">
                <a:latin typeface="Arial"/>
                <a:ea typeface="Arial"/>
                <a:cs typeface="Arial"/>
                <a:sym typeface="Arial"/>
              </a:rPr>
              <a:t>Some costs change; others remain the same.</a:t>
            </a:r>
            <a:endParaRPr/>
          </a:p>
          <a:p>
            <a:pPr indent="-457200" lvl="1" marL="685800" rtl="0" algn="l">
              <a:lnSpc>
                <a:spcPct val="120000"/>
              </a:lnSpc>
              <a:spcBef>
                <a:spcPts val="1540"/>
              </a:spcBef>
              <a:spcAft>
                <a:spcPts val="0"/>
              </a:spcAft>
              <a:buClr>
                <a:srgbClr val="800000"/>
              </a:buClr>
              <a:buSzPts val="1760"/>
              <a:buFont typeface="Noto Sans Symbols"/>
              <a:buChar char="◆"/>
            </a:pPr>
            <a:r>
              <a:rPr b="0" lang="en-US" sz="2200">
                <a:latin typeface="Arial"/>
                <a:ea typeface="Arial"/>
                <a:cs typeface="Arial"/>
                <a:sym typeface="Arial"/>
              </a:rPr>
              <a:t>Helps management plan operations and decide between alternative courses of action.</a:t>
            </a:r>
            <a:endParaRPr/>
          </a:p>
          <a:p>
            <a:pPr indent="-457200" lvl="1" marL="685800" rtl="0" algn="l">
              <a:lnSpc>
                <a:spcPct val="120000"/>
              </a:lnSpc>
              <a:spcBef>
                <a:spcPts val="1540"/>
              </a:spcBef>
              <a:spcAft>
                <a:spcPts val="0"/>
              </a:spcAft>
              <a:buClr>
                <a:srgbClr val="800000"/>
              </a:buClr>
              <a:buSzPts val="1760"/>
              <a:buFont typeface="Noto Sans Symbols"/>
              <a:buChar char="◆"/>
            </a:pPr>
            <a:r>
              <a:rPr b="0" lang="en-US" sz="2200">
                <a:latin typeface="Arial"/>
                <a:ea typeface="Arial"/>
                <a:cs typeface="Arial"/>
                <a:sym typeface="Arial"/>
              </a:rPr>
              <a:t>Applies to all types of businesses and entities.</a:t>
            </a:r>
            <a:endParaRPr/>
          </a:p>
          <a:p>
            <a:pPr indent="-457200" lvl="1" marL="685800" rtl="0" algn="l">
              <a:lnSpc>
                <a:spcPct val="120000"/>
              </a:lnSpc>
              <a:spcBef>
                <a:spcPts val="1100"/>
              </a:spcBef>
              <a:spcAft>
                <a:spcPts val="0"/>
              </a:spcAft>
              <a:buClr>
                <a:srgbClr val="800000"/>
              </a:buClr>
              <a:buSzPts val="1760"/>
              <a:buFont typeface="Noto Sans Symbols"/>
              <a:buChar char="◆"/>
            </a:pPr>
            <a:r>
              <a:rPr b="0" lang="en-US" sz="2200">
                <a:latin typeface="Arial"/>
                <a:ea typeface="Arial"/>
                <a:cs typeface="Arial"/>
                <a:sym typeface="Arial"/>
              </a:rPr>
              <a:t>Starting point is measuring key business activities.</a:t>
            </a:r>
            <a:endParaRPr/>
          </a:p>
          <a:p>
            <a:pPr indent="-345440" lvl="1" marL="685800" rtl="0" algn="l">
              <a:lnSpc>
                <a:spcPct val="120000"/>
              </a:lnSpc>
              <a:spcBef>
                <a:spcPts val="1540"/>
              </a:spcBef>
              <a:spcAft>
                <a:spcPts val="0"/>
              </a:spcAft>
              <a:buClr>
                <a:srgbClr val="800000"/>
              </a:buClr>
              <a:buSzPts val="1760"/>
              <a:buFont typeface="Noto Sans Symbols"/>
              <a:buNone/>
            </a:pPr>
            <a:r>
              <a:t/>
            </a:r>
            <a:endParaRPr b="0" sz="2200">
              <a:latin typeface="Arial"/>
              <a:ea typeface="Arial"/>
              <a:cs typeface="Arial"/>
              <a:sym typeface="Arial"/>
            </a:endParaRPr>
          </a:p>
        </p:txBody>
      </p:sp>
      <p:sp>
        <p:nvSpPr>
          <p:cNvPr id="82" name="Google Shape;82;p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83" name="Google Shape;83;p2"/>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000">
                <a:solidFill>
                  <a:schemeClr val="lt1"/>
                </a:solidFill>
                <a:latin typeface="Arial"/>
                <a:ea typeface="Arial"/>
                <a:cs typeface="Arial"/>
                <a:sym typeface="Arial"/>
              </a:rPr>
              <a:t>Explain variable, fixed, and mixed costs and the relevant range.</a:t>
            </a:r>
            <a:endParaRPr/>
          </a:p>
        </p:txBody>
      </p:sp>
      <p:sp>
        <p:nvSpPr>
          <p:cNvPr id="84" name="Google Shape;84;p2"/>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1</a:t>
            </a:r>
            <a:endParaRPr/>
          </a:p>
        </p:txBody>
      </p:sp>
      <p:sp>
        <p:nvSpPr>
          <p:cNvPr id="85" name="Google Shape;85;p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idx="1" type="body"/>
          </p:nvPr>
        </p:nvSpPr>
        <p:spPr>
          <a:xfrm>
            <a:off x="533400" y="1295400"/>
            <a:ext cx="8077200" cy="4648200"/>
          </a:xfrm>
          <a:prstGeom prst="rect">
            <a:avLst/>
          </a:prstGeom>
          <a:solidFill>
            <a:schemeClr val="lt1"/>
          </a:solidFill>
          <a:ln>
            <a:noFill/>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800000"/>
              </a:buClr>
              <a:buSzPts val="1840"/>
              <a:buFont typeface="Noto Sans Symbols"/>
              <a:buNone/>
            </a:pPr>
            <a:r>
              <a:rPr lang="en-US" sz="2300">
                <a:solidFill>
                  <a:srgbClr val="0000BF"/>
                </a:solidFill>
                <a:latin typeface="Arial"/>
                <a:ea typeface="Arial"/>
                <a:cs typeface="Arial"/>
                <a:sym typeface="Arial"/>
              </a:rPr>
              <a:t>Cost Behavior Analysis</a:t>
            </a:r>
            <a:r>
              <a:rPr b="0" lang="en-US" sz="2300">
                <a:solidFill>
                  <a:srgbClr val="0000BF"/>
                </a:solidFill>
                <a:latin typeface="Arial"/>
                <a:ea typeface="Arial"/>
                <a:cs typeface="Arial"/>
                <a:sym typeface="Arial"/>
              </a:rPr>
              <a:t> </a:t>
            </a:r>
            <a:r>
              <a:rPr b="0" lang="en-US" sz="2300">
                <a:latin typeface="Arial"/>
                <a:ea typeface="Arial"/>
                <a:cs typeface="Arial"/>
                <a:sym typeface="Arial"/>
              </a:rPr>
              <a:t>is the study of how specific costs respond to changes in the level of business activity.</a:t>
            </a:r>
            <a:endParaRPr/>
          </a:p>
          <a:p>
            <a:pPr indent="-457200" lvl="1" marL="685800" rtl="0" algn="l">
              <a:lnSpc>
                <a:spcPct val="120000"/>
              </a:lnSpc>
              <a:spcBef>
                <a:spcPts val="1430"/>
              </a:spcBef>
              <a:spcAft>
                <a:spcPts val="0"/>
              </a:spcAft>
              <a:buClr>
                <a:srgbClr val="800000"/>
              </a:buClr>
              <a:buSzPts val="1760"/>
              <a:buFont typeface="Noto Sans Symbols"/>
              <a:buChar char="◆"/>
            </a:pPr>
            <a:r>
              <a:rPr b="0" lang="en-US" sz="2200">
                <a:latin typeface="Arial"/>
                <a:ea typeface="Arial"/>
                <a:cs typeface="Arial"/>
                <a:sym typeface="Arial"/>
              </a:rPr>
              <a:t>Activity levels may be expressed in terms of:</a:t>
            </a:r>
            <a:endParaRPr/>
          </a:p>
          <a:p>
            <a:pPr indent="-457200" lvl="2" marL="1257300" rtl="0" algn="l">
              <a:lnSpc>
                <a:spcPct val="120000"/>
              </a:lnSpc>
              <a:spcBef>
                <a:spcPts val="840"/>
              </a:spcBef>
              <a:spcAft>
                <a:spcPts val="0"/>
              </a:spcAft>
              <a:buClr>
                <a:srgbClr val="800000"/>
              </a:buClr>
              <a:buSzPts val="1680"/>
              <a:buFont typeface="Arial"/>
              <a:buChar char="►"/>
            </a:pPr>
            <a:r>
              <a:rPr b="0" lang="en-US" sz="2100">
                <a:latin typeface="Arial"/>
                <a:ea typeface="Arial"/>
                <a:cs typeface="Arial"/>
                <a:sym typeface="Arial"/>
              </a:rPr>
              <a:t>Sales dollars (in a retail company)</a:t>
            </a:r>
            <a:endParaRPr/>
          </a:p>
          <a:p>
            <a:pPr indent="-457200" lvl="2" marL="1257300" rtl="0" algn="l">
              <a:lnSpc>
                <a:spcPct val="120000"/>
              </a:lnSpc>
              <a:spcBef>
                <a:spcPts val="840"/>
              </a:spcBef>
              <a:spcAft>
                <a:spcPts val="0"/>
              </a:spcAft>
              <a:buClr>
                <a:srgbClr val="800000"/>
              </a:buClr>
              <a:buSzPts val="1680"/>
              <a:buFont typeface="Arial"/>
              <a:buChar char="►"/>
            </a:pPr>
            <a:r>
              <a:rPr b="0" lang="en-US" sz="2100">
                <a:latin typeface="Arial"/>
                <a:ea typeface="Arial"/>
                <a:cs typeface="Arial"/>
                <a:sym typeface="Arial"/>
              </a:rPr>
              <a:t>Miles driven (in a trucking company)</a:t>
            </a:r>
            <a:endParaRPr/>
          </a:p>
          <a:p>
            <a:pPr indent="-457200" lvl="2" marL="1257300" rtl="0" algn="l">
              <a:lnSpc>
                <a:spcPct val="120000"/>
              </a:lnSpc>
              <a:spcBef>
                <a:spcPts val="840"/>
              </a:spcBef>
              <a:spcAft>
                <a:spcPts val="0"/>
              </a:spcAft>
              <a:buClr>
                <a:srgbClr val="800000"/>
              </a:buClr>
              <a:buSzPts val="1680"/>
              <a:buFont typeface="Arial"/>
              <a:buChar char="►"/>
            </a:pPr>
            <a:r>
              <a:rPr b="0" lang="en-US" sz="2100">
                <a:latin typeface="Arial"/>
                <a:ea typeface="Arial"/>
                <a:cs typeface="Arial"/>
                <a:sym typeface="Arial"/>
              </a:rPr>
              <a:t>Room occupancy (in a hotel)</a:t>
            </a:r>
            <a:endParaRPr/>
          </a:p>
          <a:p>
            <a:pPr indent="-457200" lvl="2" marL="1257300" rtl="0" algn="l">
              <a:lnSpc>
                <a:spcPct val="120000"/>
              </a:lnSpc>
              <a:spcBef>
                <a:spcPts val="840"/>
              </a:spcBef>
              <a:spcAft>
                <a:spcPts val="0"/>
              </a:spcAft>
              <a:buClr>
                <a:srgbClr val="800000"/>
              </a:buClr>
              <a:buSzPts val="1680"/>
              <a:buFont typeface="Arial"/>
              <a:buChar char="►"/>
            </a:pPr>
            <a:r>
              <a:rPr b="0" lang="en-US" sz="2100">
                <a:latin typeface="Arial"/>
                <a:ea typeface="Arial"/>
                <a:cs typeface="Arial"/>
                <a:sym typeface="Arial"/>
              </a:rPr>
              <a:t>Dance classes taught (by a dance studio)</a:t>
            </a:r>
            <a:endParaRPr/>
          </a:p>
          <a:p>
            <a:pPr indent="-457200" lvl="1" marL="685800" rtl="0" algn="l">
              <a:lnSpc>
                <a:spcPct val="120000"/>
              </a:lnSpc>
              <a:spcBef>
                <a:spcPts val="1540"/>
              </a:spcBef>
              <a:spcAft>
                <a:spcPts val="0"/>
              </a:spcAft>
              <a:buClr>
                <a:srgbClr val="800000"/>
              </a:buClr>
              <a:buSzPts val="1760"/>
              <a:buFont typeface="Noto Sans Symbols"/>
              <a:buChar char="◆"/>
            </a:pPr>
            <a:r>
              <a:rPr b="0" lang="en-US" sz="2200">
                <a:latin typeface="Arial"/>
                <a:ea typeface="Arial"/>
                <a:cs typeface="Arial"/>
                <a:sym typeface="Arial"/>
              </a:rPr>
              <a:t>Many companies use more than one measurement base.</a:t>
            </a:r>
            <a:endParaRPr/>
          </a:p>
        </p:txBody>
      </p:sp>
      <p:cxnSp>
        <p:nvCxnSpPr>
          <p:cNvPr id="91" name="Google Shape;91;p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2" name="Google Shape;92;p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Cost Behavior Analysis</a:t>
            </a:r>
            <a:endParaRPr/>
          </a:p>
        </p:txBody>
      </p:sp>
      <p:sp>
        <p:nvSpPr>
          <p:cNvPr id="93" name="Google Shape;93;p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ph idx="1" type="body"/>
          </p:nvPr>
        </p:nvSpPr>
        <p:spPr>
          <a:xfrm>
            <a:off x="533400" y="1295400"/>
            <a:ext cx="8077200" cy="4648200"/>
          </a:xfrm>
          <a:prstGeom prst="rect">
            <a:avLst/>
          </a:prstGeom>
          <a:solidFill>
            <a:schemeClr val="lt1"/>
          </a:solidFill>
          <a:ln>
            <a:noFill/>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800000"/>
              </a:buClr>
              <a:buSzPts val="1840"/>
              <a:buFont typeface="Noto Sans Symbols"/>
              <a:buNone/>
            </a:pPr>
            <a:r>
              <a:rPr lang="en-US" sz="2300">
                <a:solidFill>
                  <a:srgbClr val="0000BF"/>
                </a:solidFill>
                <a:latin typeface="Arial"/>
                <a:ea typeface="Arial"/>
                <a:cs typeface="Arial"/>
                <a:sym typeface="Arial"/>
              </a:rPr>
              <a:t>Cost Behavior Analysis</a:t>
            </a:r>
            <a:r>
              <a:rPr b="0" lang="en-US" sz="2300">
                <a:solidFill>
                  <a:srgbClr val="0000BF"/>
                </a:solidFill>
                <a:latin typeface="Arial"/>
                <a:ea typeface="Arial"/>
                <a:cs typeface="Arial"/>
                <a:sym typeface="Arial"/>
              </a:rPr>
              <a:t> </a:t>
            </a:r>
            <a:r>
              <a:rPr b="0" lang="en-US" sz="2300">
                <a:latin typeface="Arial"/>
                <a:ea typeface="Arial"/>
                <a:cs typeface="Arial"/>
                <a:sym typeface="Arial"/>
              </a:rPr>
              <a:t>is the study of how specific costs respond to changes in the level of business activity.</a:t>
            </a:r>
            <a:endParaRPr/>
          </a:p>
          <a:p>
            <a:pPr indent="-457200" lvl="1" marL="685800" rtl="0" algn="l">
              <a:lnSpc>
                <a:spcPct val="120000"/>
              </a:lnSpc>
              <a:spcBef>
                <a:spcPts val="1430"/>
              </a:spcBef>
              <a:spcAft>
                <a:spcPts val="0"/>
              </a:spcAft>
              <a:buClr>
                <a:srgbClr val="800000"/>
              </a:buClr>
              <a:buSzPts val="1760"/>
              <a:buFont typeface="Noto Sans Symbols"/>
              <a:buChar char="◆"/>
            </a:pPr>
            <a:r>
              <a:rPr b="0" lang="en-US" sz="2200">
                <a:latin typeface="Arial"/>
                <a:ea typeface="Arial"/>
                <a:cs typeface="Arial"/>
                <a:sym typeface="Arial"/>
              </a:rPr>
              <a:t>Changes in the level or volume of activity should be correlated with changes in costs.</a:t>
            </a:r>
            <a:endParaRPr/>
          </a:p>
          <a:p>
            <a:pPr indent="-457200" lvl="1" marL="685800" rtl="0" algn="l">
              <a:lnSpc>
                <a:spcPct val="120000"/>
              </a:lnSpc>
              <a:spcBef>
                <a:spcPts val="1100"/>
              </a:spcBef>
              <a:spcAft>
                <a:spcPts val="0"/>
              </a:spcAft>
              <a:buClr>
                <a:srgbClr val="800000"/>
              </a:buClr>
              <a:buSzPts val="1760"/>
              <a:buFont typeface="Noto Sans Symbols"/>
              <a:buChar char="◆"/>
            </a:pPr>
            <a:r>
              <a:rPr b="0" lang="en-US" sz="2200">
                <a:latin typeface="Arial"/>
                <a:ea typeface="Arial"/>
                <a:cs typeface="Arial"/>
                <a:sym typeface="Arial"/>
              </a:rPr>
              <a:t>Activity level selected is called activity or volume index.</a:t>
            </a:r>
            <a:endParaRPr/>
          </a:p>
          <a:p>
            <a:pPr indent="0" lvl="1" marL="0" rtl="0" algn="l">
              <a:lnSpc>
                <a:spcPct val="120000"/>
              </a:lnSpc>
              <a:spcBef>
                <a:spcPts val="1150"/>
              </a:spcBef>
              <a:spcAft>
                <a:spcPts val="0"/>
              </a:spcAft>
              <a:buClr>
                <a:srgbClr val="800000"/>
              </a:buClr>
              <a:buSzPts val="1840"/>
              <a:buNone/>
            </a:pPr>
            <a:r>
              <a:rPr lang="en-US" sz="2300">
                <a:solidFill>
                  <a:srgbClr val="0000BF"/>
                </a:solidFill>
                <a:latin typeface="Arial"/>
                <a:ea typeface="Arial"/>
                <a:cs typeface="Arial"/>
                <a:sym typeface="Arial"/>
              </a:rPr>
              <a:t>Activity index</a:t>
            </a:r>
            <a:r>
              <a:rPr b="0" lang="en-US" sz="2200">
                <a:latin typeface="Arial"/>
                <a:ea typeface="Arial"/>
                <a:cs typeface="Arial"/>
                <a:sym typeface="Arial"/>
              </a:rPr>
              <a:t>:</a:t>
            </a:r>
            <a:endParaRPr/>
          </a:p>
          <a:p>
            <a:pPr indent="-457199" lvl="2" marL="684213" rtl="0" algn="l">
              <a:lnSpc>
                <a:spcPct val="120000"/>
              </a:lnSpc>
              <a:spcBef>
                <a:spcPts val="1100"/>
              </a:spcBef>
              <a:spcAft>
                <a:spcPts val="0"/>
              </a:spcAft>
              <a:buClr>
                <a:srgbClr val="800000"/>
              </a:buClr>
              <a:buSzPts val="1760"/>
              <a:buFont typeface="Noto Sans Symbols"/>
              <a:buChar char="◆"/>
            </a:pPr>
            <a:r>
              <a:rPr b="0" lang="en-US" sz="2200">
                <a:latin typeface="Arial"/>
                <a:ea typeface="Arial"/>
                <a:cs typeface="Arial"/>
                <a:sym typeface="Arial"/>
              </a:rPr>
              <a:t>Identifies the activity that causes changes in the behavior of costs.</a:t>
            </a:r>
            <a:endParaRPr/>
          </a:p>
          <a:p>
            <a:pPr indent="-457199" lvl="2" marL="684213" rtl="0" algn="l">
              <a:lnSpc>
                <a:spcPct val="120000"/>
              </a:lnSpc>
              <a:spcBef>
                <a:spcPts val="1100"/>
              </a:spcBef>
              <a:spcAft>
                <a:spcPts val="0"/>
              </a:spcAft>
              <a:buClr>
                <a:srgbClr val="800000"/>
              </a:buClr>
              <a:buSzPts val="1760"/>
              <a:buFont typeface="Noto Sans Symbols"/>
              <a:buChar char="◆"/>
            </a:pPr>
            <a:r>
              <a:rPr b="0" lang="en-US" sz="2200">
                <a:latin typeface="Arial"/>
                <a:ea typeface="Arial"/>
                <a:cs typeface="Arial"/>
                <a:sym typeface="Arial"/>
              </a:rPr>
              <a:t>Allows costs to be classified as variable, fixed, or mixed.</a:t>
            </a:r>
            <a:endParaRPr/>
          </a:p>
        </p:txBody>
      </p:sp>
      <p:cxnSp>
        <p:nvCxnSpPr>
          <p:cNvPr id="99" name="Google Shape;99;p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0" name="Google Shape;100;p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Cost Behavior Analysis</a:t>
            </a:r>
            <a:endParaRPr/>
          </a:p>
        </p:txBody>
      </p:sp>
      <p:sp>
        <p:nvSpPr>
          <p:cNvPr id="101" name="Google Shape;101;p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533400" y="1295400"/>
            <a:ext cx="8001000" cy="3914470"/>
          </a:xfrm>
          <a:prstGeom prst="rect">
            <a:avLst/>
          </a:prstGeom>
          <a:noFill/>
          <a:ln>
            <a:noFill/>
          </a:ln>
        </p:spPr>
        <p:txBody>
          <a:bodyPr anchorCtr="0" anchor="t" bIns="45700" lIns="91425" spcFirstLastPara="1" rIns="91425" wrap="square" tIns="45700">
            <a:sp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Costs that vary in total directly and proportionately with changes in the activity level.</a:t>
            </a:r>
            <a:endParaRPr/>
          </a:p>
          <a:p>
            <a:pPr indent="-457200" lvl="2" marL="1257300" marR="0" rtl="0" algn="l">
              <a:lnSpc>
                <a:spcPct val="120000"/>
              </a:lnSpc>
              <a:spcBef>
                <a:spcPts val="1260"/>
              </a:spcBef>
              <a:spcAft>
                <a:spcPts val="0"/>
              </a:spcAft>
              <a:buClr>
                <a:srgbClr val="800000"/>
              </a:buClr>
              <a:buSzPts val="1680"/>
              <a:buFont typeface="Arial"/>
              <a:buChar char="►"/>
            </a:pPr>
            <a:r>
              <a:rPr b="1" i="0" lang="en-US" sz="2100" u="none" cap="none" strike="noStrike">
                <a:solidFill>
                  <a:srgbClr val="800000"/>
                </a:solidFill>
                <a:latin typeface="Arial"/>
                <a:ea typeface="Arial"/>
                <a:cs typeface="Arial"/>
                <a:sym typeface="Arial"/>
              </a:rPr>
              <a:t>Example:</a:t>
            </a:r>
            <a:r>
              <a:rPr b="0" i="0" lang="en-US" sz="2100" u="none" cap="none" strike="noStrike">
                <a:solidFill>
                  <a:schemeClr val="lt2"/>
                </a:solidFill>
                <a:latin typeface="Arial"/>
                <a:ea typeface="Arial"/>
                <a:cs typeface="Arial"/>
                <a:sym typeface="Arial"/>
              </a:rPr>
              <a:t>  If the activity level increases 10 percent, total variable costs increase 10 percent. </a:t>
            </a:r>
            <a:endParaRPr/>
          </a:p>
          <a:p>
            <a:pPr indent="-457200" lvl="2" marL="1257300" marR="0" rtl="0" algn="l">
              <a:lnSpc>
                <a:spcPct val="120000"/>
              </a:lnSpc>
              <a:spcBef>
                <a:spcPts val="1260"/>
              </a:spcBef>
              <a:spcAft>
                <a:spcPts val="0"/>
              </a:spcAft>
              <a:buClr>
                <a:srgbClr val="800000"/>
              </a:buClr>
              <a:buSzPts val="1680"/>
              <a:buFont typeface="Arial"/>
              <a:buChar char="►"/>
            </a:pPr>
            <a:r>
              <a:rPr b="1" i="0" lang="en-US" sz="2100" u="none" cap="none" strike="noStrike">
                <a:solidFill>
                  <a:srgbClr val="800000"/>
                </a:solidFill>
                <a:latin typeface="Arial"/>
                <a:ea typeface="Arial"/>
                <a:cs typeface="Arial"/>
                <a:sym typeface="Arial"/>
              </a:rPr>
              <a:t>Example:</a:t>
            </a:r>
            <a:r>
              <a:rPr b="0" i="0" lang="en-US" sz="2100" u="none" cap="none" strike="noStrike">
                <a:solidFill>
                  <a:schemeClr val="lt2"/>
                </a:solidFill>
                <a:latin typeface="Arial"/>
                <a:ea typeface="Arial"/>
                <a:cs typeface="Arial"/>
                <a:sym typeface="Arial"/>
              </a:rPr>
              <a:t> If the activity level decreases by 25 percent, total variable costs decrease by 25 percent.</a:t>
            </a:r>
            <a:endParaRPr/>
          </a:p>
          <a:p>
            <a:pPr indent="-457200" lvl="1" marL="685800" marR="0" rtl="0" algn="l">
              <a:lnSpc>
                <a:spcPct val="120000"/>
              </a:lnSpc>
              <a:spcBef>
                <a:spcPts val="1320"/>
              </a:spcBef>
              <a:spcAft>
                <a:spcPts val="0"/>
              </a:spcAft>
              <a:buClr>
                <a:srgbClr val="800000"/>
              </a:buClr>
              <a:buSzPts val="1760"/>
              <a:buFont typeface="Noto Sans Symbols"/>
              <a:buChar char="◆"/>
            </a:pPr>
            <a:r>
              <a:rPr b="0" i="0" lang="en-US" sz="2200" u="none" cap="none" strike="noStrike">
                <a:solidFill>
                  <a:schemeClr val="lt2"/>
                </a:solidFill>
                <a:latin typeface="Arial"/>
                <a:ea typeface="Arial"/>
                <a:cs typeface="Arial"/>
                <a:sym typeface="Arial"/>
              </a:rPr>
              <a:t>Variable costs </a:t>
            </a:r>
            <a:r>
              <a:rPr b="1" i="0" lang="en-US" sz="2200" u="none" cap="none" strike="noStrike">
                <a:solidFill>
                  <a:schemeClr val="lt2"/>
                </a:solidFill>
                <a:latin typeface="Arial"/>
                <a:ea typeface="Arial"/>
                <a:cs typeface="Arial"/>
                <a:sym typeface="Arial"/>
              </a:rPr>
              <a:t>remain the same</a:t>
            </a:r>
            <a:r>
              <a:rPr b="0" i="0" lang="en-US" sz="2200" u="none" cap="none" strike="noStrike">
                <a:solidFill>
                  <a:schemeClr val="lt2"/>
                </a:solidFill>
                <a:latin typeface="Arial"/>
                <a:ea typeface="Arial"/>
                <a:cs typeface="Arial"/>
                <a:sym typeface="Arial"/>
              </a:rPr>
              <a:t> per unit at every level of activity.</a:t>
            </a:r>
            <a:endParaRPr/>
          </a:p>
        </p:txBody>
      </p:sp>
      <p:cxnSp>
        <p:nvCxnSpPr>
          <p:cNvPr id="107" name="Google Shape;107;p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8" name="Google Shape;108;p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Variable Costs</a:t>
            </a:r>
            <a:endParaRPr/>
          </a:p>
        </p:txBody>
      </p:sp>
      <p:sp>
        <p:nvSpPr>
          <p:cNvPr id="109" name="Google Shape;109;p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b="0" l="0" r="0" t="0"/>
          <a:stretch/>
        </p:blipFill>
        <p:spPr>
          <a:xfrm>
            <a:off x="5181600" y="2287588"/>
            <a:ext cx="3673475" cy="3886200"/>
          </a:xfrm>
          <a:prstGeom prst="rect">
            <a:avLst/>
          </a:prstGeom>
          <a:noFill/>
          <a:ln>
            <a:noFill/>
          </a:ln>
        </p:spPr>
      </p:pic>
      <p:sp>
        <p:nvSpPr>
          <p:cNvPr id="115" name="Google Shape;115;p6"/>
          <p:cNvSpPr/>
          <p:nvPr/>
        </p:nvSpPr>
        <p:spPr>
          <a:xfrm>
            <a:off x="533400" y="1295400"/>
            <a:ext cx="8077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000">
                <a:solidFill>
                  <a:schemeClr val="dk1"/>
                </a:solidFill>
                <a:latin typeface="Arial"/>
                <a:ea typeface="Arial"/>
                <a:cs typeface="Arial"/>
                <a:sym typeface="Arial"/>
              </a:rPr>
              <a:t>Illustration:</a:t>
            </a:r>
            <a:r>
              <a:rPr lang="en-US" sz="2000">
                <a:solidFill>
                  <a:schemeClr val="dk1"/>
                </a:solidFill>
                <a:latin typeface="Arial"/>
                <a:ea typeface="Arial"/>
                <a:cs typeface="Arial"/>
                <a:sym typeface="Arial"/>
              </a:rPr>
              <a:t>  Damon Company manufactures tablet computers that contain a $10 camera. The activity index is the number of tablets</a:t>
            </a:r>
            <a:endParaRPr sz="2000">
              <a:solidFill>
                <a:schemeClr val="dk1"/>
              </a:solidFill>
              <a:latin typeface="Arial"/>
              <a:ea typeface="Arial"/>
              <a:cs typeface="Arial"/>
              <a:sym typeface="Arial"/>
            </a:endParaRPr>
          </a:p>
        </p:txBody>
      </p:sp>
      <p:sp>
        <p:nvSpPr>
          <p:cNvPr id="116" name="Google Shape;116;p6"/>
          <p:cNvSpPr/>
          <p:nvPr/>
        </p:nvSpPr>
        <p:spPr>
          <a:xfrm>
            <a:off x="533400" y="2039938"/>
            <a:ext cx="4800600" cy="375126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produced. As Damon manufactures each tablet, the total cost of the cameras used increases by $10. </a:t>
            </a:r>
            <a:r>
              <a:rPr b="1" lang="en-US" sz="2000">
                <a:solidFill>
                  <a:schemeClr val="dk1"/>
                </a:solidFill>
                <a:latin typeface="Arial"/>
                <a:ea typeface="Arial"/>
                <a:cs typeface="Arial"/>
                <a:sym typeface="Arial"/>
              </a:rPr>
              <a:t>As part (a)</a:t>
            </a:r>
            <a:r>
              <a:rPr lang="en-US" sz="2000">
                <a:solidFill>
                  <a:schemeClr val="dk1"/>
                </a:solidFill>
                <a:latin typeface="Arial"/>
                <a:ea typeface="Arial"/>
                <a:cs typeface="Arial"/>
                <a:sym typeface="Arial"/>
              </a:rPr>
              <a:t> of Illustration 22-1 shows, total cost of the cameras will be $20,000 if Damon produces 2,000 tablets, and $100,000 when it produces 10,000 tablets. We also can see that a variable cost remains the same per unit as the level of activity changes. </a:t>
            </a:r>
            <a:endParaRPr/>
          </a:p>
        </p:txBody>
      </p:sp>
      <p:sp>
        <p:nvSpPr>
          <p:cNvPr id="117" name="Google Shape;117;p6"/>
          <p:cNvSpPr/>
          <p:nvPr/>
        </p:nvSpPr>
        <p:spPr>
          <a:xfrm>
            <a:off x="7648369" y="2241550"/>
            <a:ext cx="132279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22-1</a:t>
            </a:r>
            <a:endParaRPr b="1" sz="1200">
              <a:solidFill>
                <a:schemeClr val="dk1"/>
              </a:solidFill>
              <a:latin typeface="Arial"/>
              <a:ea typeface="Arial"/>
              <a:cs typeface="Arial"/>
              <a:sym typeface="Arial"/>
            </a:endParaRPr>
          </a:p>
        </p:txBody>
      </p:sp>
      <p:cxnSp>
        <p:nvCxnSpPr>
          <p:cNvPr id="118" name="Google Shape;118;p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19" name="Google Shape;119;p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Variable Costs</a:t>
            </a:r>
            <a:endParaRPr/>
          </a:p>
        </p:txBody>
      </p:sp>
      <p:sp>
        <p:nvSpPr>
          <p:cNvPr id="120" name="Google Shape;120;p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7"/>
          <p:cNvPicPr preferRelativeResize="0"/>
          <p:nvPr/>
        </p:nvPicPr>
        <p:blipFill rotWithShape="1">
          <a:blip r:embed="rId3">
            <a:alphaModFix/>
          </a:blip>
          <a:srcRect b="0" l="0" r="0" t="0"/>
          <a:stretch/>
        </p:blipFill>
        <p:spPr>
          <a:xfrm>
            <a:off x="5334000" y="2303463"/>
            <a:ext cx="3646488" cy="3962400"/>
          </a:xfrm>
          <a:prstGeom prst="rect">
            <a:avLst/>
          </a:prstGeom>
          <a:noFill/>
          <a:ln>
            <a:noFill/>
          </a:ln>
        </p:spPr>
      </p:pic>
      <p:sp>
        <p:nvSpPr>
          <p:cNvPr id="126" name="Google Shape;126;p7"/>
          <p:cNvSpPr/>
          <p:nvPr/>
        </p:nvSpPr>
        <p:spPr>
          <a:xfrm>
            <a:off x="533400" y="1295400"/>
            <a:ext cx="8077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000">
                <a:solidFill>
                  <a:schemeClr val="dk1"/>
                </a:solidFill>
                <a:latin typeface="Arial"/>
                <a:ea typeface="Arial"/>
                <a:cs typeface="Arial"/>
                <a:sym typeface="Arial"/>
              </a:rPr>
              <a:t>Illustration:</a:t>
            </a:r>
            <a:r>
              <a:rPr lang="en-US" sz="2000">
                <a:solidFill>
                  <a:schemeClr val="dk1"/>
                </a:solidFill>
                <a:latin typeface="Arial"/>
                <a:ea typeface="Arial"/>
                <a:cs typeface="Arial"/>
                <a:sym typeface="Arial"/>
              </a:rPr>
              <a:t>  Damon Company manufactures tablet computers that contain a $10 camera. The activity index is the number of tablets</a:t>
            </a:r>
            <a:endParaRPr sz="2000">
              <a:solidFill>
                <a:schemeClr val="dk1"/>
              </a:solidFill>
              <a:latin typeface="Arial"/>
              <a:ea typeface="Arial"/>
              <a:cs typeface="Arial"/>
              <a:sym typeface="Arial"/>
            </a:endParaRPr>
          </a:p>
        </p:txBody>
      </p:sp>
      <p:sp>
        <p:nvSpPr>
          <p:cNvPr id="127" name="Google Shape;127;p7"/>
          <p:cNvSpPr/>
          <p:nvPr/>
        </p:nvSpPr>
        <p:spPr>
          <a:xfrm>
            <a:off x="7724569" y="2316163"/>
            <a:ext cx="132279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22-1</a:t>
            </a:r>
            <a:endParaRPr b="1" sz="1200">
              <a:solidFill>
                <a:schemeClr val="dk1"/>
              </a:solidFill>
              <a:latin typeface="Arial"/>
              <a:ea typeface="Arial"/>
              <a:cs typeface="Arial"/>
              <a:sym typeface="Arial"/>
            </a:endParaRPr>
          </a:p>
        </p:txBody>
      </p:sp>
      <p:cxnSp>
        <p:nvCxnSpPr>
          <p:cNvPr id="128" name="Google Shape;128;p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29" name="Google Shape;129;p7"/>
          <p:cNvSpPr/>
          <p:nvPr/>
        </p:nvSpPr>
        <p:spPr>
          <a:xfrm>
            <a:off x="533400" y="2039938"/>
            <a:ext cx="4800600" cy="26765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produced. As Damon manufactures each tablet, the total cost of the cameras used increases by $10. </a:t>
            </a:r>
            <a:r>
              <a:rPr b="1" lang="en-US" sz="2000">
                <a:solidFill>
                  <a:schemeClr val="dk1"/>
                </a:solidFill>
                <a:latin typeface="Arial"/>
                <a:ea typeface="Arial"/>
                <a:cs typeface="Arial"/>
                <a:sym typeface="Arial"/>
              </a:rPr>
              <a:t>As part (b)</a:t>
            </a:r>
            <a:r>
              <a:rPr lang="en-US" sz="2000">
                <a:solidFill>
                  <a:schemeClr val="dk1"/>
                </a:solidFill>
                <a:latin typeface="Arial"/>
                <a:ea typeface="Arial"/>
                <a:cs typeface="Arial"/>
                <a:sym typeface="Arial"/>
              </a:rPr>
              <a:t> of Illustration 22-1 shows, the unit cost of $10 for the camera is the same whether Damon produces 2,000 or 10,000 tablets.</a:t>
            </a:r>
            <a:endParaRPr/>
          </a:p>
        </p:txBody>
      </p:sp>
      <p:sp>
        <p:nvSpPr>
          <p:cNvPr id="130" name="Google Shape;130;p7"/>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Variable Costs</a:t>
            </a:r>
            <a:endParaRPr/>
          </a:p>
        </p:txBody>
      </p:sp>
      <p:sp>
        <p:nvSpPr>
          <p:cNvPr id="131" name="Google Shape;131;p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8"/>
          <p:cNvPicPr preferRelativeResize="0"/>
          <p:nvPr/>
        </p:nvPicPr>
        <p:blipFill rotWithShape="1">
          <a:blip r:embed="rId3">
            <a:alphaModFix/>
          </a:blip>
          <a:srcRect b="0" l="0" r="0" t="0"/>
          <a:stretch/>
        </p:blipFill>
        <p:spPr>
          <a:xfrm>
            <a:off x="457200" y="1371600"/>
            <a:ext cx="8153400" cy="4311650"/>
          </a:xfrm>
          <a:prstGeom prst="rect">
            <a:avLst/>
          </a:prstGeom>
          <a:noFill/>
          <a:ln>
            <a:noFill/>
          </a:ln>
        </p:spPr>
      </p:pic>
      <p:sp>
        <p:nvSpPr>
          <p:cNvPr id="137" name="Google Shape;137;p8"/>
          <p:cNvSpPr txBox="1"/>
          <p:nvPr/>
        </p:nvSpPr>
        <p:spPr>
          <a:xfrm>
            <a:off x="5851525" y="6213475"/>
            <a:ext cx="1841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38" name="Google Shape;138;p8"/>
          <p:cNvSpPr/>
          <p:nvPr/>
        </p:nvSpPr>
        <p:spPr>
          <a:xfrm>
            <a:off x="838200" y="5715000"/>
            <a:ext cx="1724025" cy="646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Behavior of total and unit variable costs</a:t>
            </a:r>
            <a:endParaRPr/>
          </a:p>
        </p:txBody>
      </p:sp>
      <p:cxnSp>
        <p:nvCxnSpPr>
          <p:cNvPr id="139" name="Google Shape;139;p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40" name="Google Shape;140;p8"/>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Variable Costs</a:t>
            </a:r>
            <a:endParaRPr/>
          </a:p>
        </p:txBody>
      </p:sp>
      <p:sp>
        <p:nvSpPr>
          <p:cNvPr id="141" name="Google Shape;141;p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idx="1" type="body"/>
          </p:nvPr>
        </p:nvSpPr>
        <p:spPr>
          <a:xfrm>
            <a:off x="533400" y="1981200"/>
            <a:ext cx="8077200" cy="431800"/>
          </a:xfrm>
          <a:prstGeom prst="rect">
            <a:avLst/>
          </a:prstGeom>
          <a:noFill/>
          <a:ln>
            <a:noFill/>
          </a:ln>
        </p:spPr>
        <p:txBody>
          <a:bodyPr anchorCtr="0" anchor="t" bIns="46025" lIns="91425" spcFirstLastPara="1" rIns="182550" wrap="square" tIns="46025">
            <a:spAutoFit/>
          </a:bodyPr>
          <a:lstStyle/>
          <a:p>
            <a:pPr indent="0" lvl="0" marL="0" rtl="0" algn="l">
              <a:spcBef>
                <a:spcPts val="0"/>
              </a:spcBef>
              <a:spcAft>
                <a:spcPts val="0"/>
              </a:spcAft>
              <a:buSzPts val="1650"/>
              <a:buFont typeface="Noto Sans Symbols"/>
              <a:buNone/>
            </a:pPr>
            <a:r>
              <a:rPr b="0" lang="en-US" sz="2200">
                <a:solidFill>
                  <a:schemeClr val="dk1"/>
                </a:solidFill>
                <a:latin typeface="Arial"/>
                <a:ea typeface="Arial"/>
                <a:cs typeface="Arial"/>
                <a:sym typeface="Arial"/>
              </a:rPr>
              <a:t>Variable costs are costs that:</a:t>
            </a:r>
            <a:endParaRPr/>
          </a:p>
        </p:txBody>
      </p:sp>
      <p:sp>
        <p:nvSpPr>
          <p:cNvPr id="147" name="Google Shape;147;p9"/>
          <p:cNvSpPr/>
          <p:nvPr/>
        </p:nvSpPr>
        <p:spPr>
          <a:xfrm>
            <a:off x="762000" y="2514600"/>
            <a:ext cx="7696200" cy="2590800"/>
          </a:xfrm>
          <a:prstGeom prst="rect">
            <a:avLst/>
          </a:prstGeom>
          <a:solidFill>
            <a:schemeClr val="lt1"/>
          </a:solidFill>
          <a:ln>
            <a:noFill/>
          </a:ln>
        </p:spPr>
        <p:txBody>
          <a:bodyPr anchorCtr="0" anchor="t" bIns="46025" lIns="182550" spcFirstLastPara="1" rIns="182550" wrap="square" tIns="46025">
            <a:noAutofit/>
          </a:bodyPr>
          <a:lstStyle/>
          <a:p>
            <a:pPr indent="-517525" lvl="0" marL="517525" marR="0" rtl="0" algn="l">
              <a:lnSpc>
                <a:spcPct val="120000"/>
              </a:lnSpc>
              <a:spcBef>
                <a:spcPts val="0"/>
              </a:spcBef>
              <a:spcAft>
                <a:spcPts val="0"/>
              </a:spcAft>
              <a:buClr>
                <a:schemeClr val="accent2"/>
              </a:buClr>
              <a:buSzPts val="1650"/>
              <a:buFont typeface="Noto Sans Symbols"/>
              <a:buNone/>
            </a:pPr>
            <a:r>
              <a:rPr lang="en-US" sz="2200">
                <a:solidFill>
                  <a:schemeClr val="dk1"/>
                </a:solidFill>
                <a:latin typeface="Arial"/>
                <a:ea typeface="Arial"/>
                <a:cs typeface="Arial"/>
                <a:sym typeface="Arial"/>
              </a:rPr>
              <a:t>a.	Vary in total directly and proportionately with changes in the activity level.</a:t>
            </a:r>
            <a:endParaRPr/>
          </a:p>
          <a:p>
            <a:pPr indent="-517525" lvl="0" marL="517525" marR="0" rtl="0" algn="l">
              <a:lnSpc>
                <a:spcPct val="120000"/>
              </a:lnSpc>
              <a:spcBef>
                <a:spcPts val="1100"/>
              </a:spcBef>
              <a:spcAft>
                <a:spcPts val="0"/>
              </a:spcAft>
              <a:buClr>
                <a:schemeClr val="accent2"/>
              </a:buClr>
              <a:buSzPts val="1650"/>
              <a:buFont typeface="Noto Sans Symbols"/>
              <a:buNone/>
            </a:pPr>
            <a:r>
              <a:rPr lang="en-US" sz="2200">
                <a:solidFill>
                  <a:schemeClr val="dk1"/>
                </a:solidFill>
                <a:latin typeface="Arial"/>
                <a:ea typeface="Arial"/>
                <a:cs typeface="Arial"/>
                <a:sym typeface="Arial"/>
              </a:rPr>
              <a:t>b. 	Remain the same per unit at every activity level. </a:t>
            </a:r>
            <a:endParaRPr/>
          </a:p>
          <a:p>
            <a:pPr indent="-517525" lvl="0" marL="517525" marR="0" rtl="0" algn="l">
              <a:lnSpc>
                <a:spcPct val="120000"/>
              </a:lnSpc>
              <a:spcBef>
                <a:spcPts val="1100"/>
              </a:spcBef>
              <a:spcAft>
                <a:spcPts val="0"/>
              </a:spcAft>
              <a:buClr>
                <a:schemeClr val="accent2"/>
              </a:buClr>
              <a:buSzPts val="1650"/>
              <a:buFont typeface="Noto Sans Symbols"/>
              <a:buNone/>
            </a:pPr>
            <a:r>
              <a:rPr lang="en-US" sz="2200">
                <a:solidFill>
                  <a:schemeClr val="dk1"/>
                </a:solidFill>
                <a:latin typeface="Arial"/>
                <a:ea typeface="Arial"/>
                <a:cs typeface="Arial"/>
                <a:sym typeface="Arial"/>
              </a:rPr>
              <a:t>c. 	Neither of the above.</a:t>
            </a:r>
            <a:endParaRPr/>
          </a:p>
          <a:p>
            <a:pPr indent="-517525" lvl="0" marL="517525" marR="0" rtl="0" algn="l">
              <a:lnSpc>
                <a:spcPct val="120000"/>
              </a:lnSpc>
              <a:spcBef>
                <a:spcPts val="1100"/>
              </a:spcBef>
              <a:spcAft>
                <a:spcPts val="0"/>
              </a:spcAft>
              <a:buClr>
                <a:schemeClr val="accent2"/>
              </a:buClr>
              <a:buSzPts val="1650"/>
              <a:buFont typeface="Noto Sans Symbols"/>
              <a:buNone/>
            </a:pPr>
            <a:r>
              <a:rPr lang="en-US" sz="2200">
                <a:solidFill>
                  <a:schemeClr val="dk1"/>
                </a:solidFill>
                <a:latin typeface="Arial"/>
                <a:ea typeface="Arial"/>
                <a:cs typeface="Arial"/>
                <a:sym typeface="Arial"/>
              </a:rPr>
              <a:t>d. 	Both (a) and (b) above. </a:t>
            </a:r>
            <a:endParaRPr/>
          </a:p>
        </p:txBody>
      </p:sp>
      <p:sp>
        <p:nvSpPr>
          <p:cNvPr id="148" name="Google Shape;148;p9"/>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149" name="Google Shape;149;p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50" name="Google Shape;150;p9"/>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Variable Costs</a:t>
            </a:r>
            <a:endParaRPr b="1" sz="3200">
              <a:solidFill>
                <a:srgbClr val="0000BF"/>
              </a:solidFill>
              <a:latin typeface="Arial"/>
              <a:ea typeface="Arial"/>
              <a:cs typeface="Arial"/>
              <a:sym typeface="Arial"/>
            </a:endParaRPr>
          </a:p>
        </p:txBody>
      </p:sp>
      <p:sp>
        <p:nvSpPr>
          <p:cNvPr id="151" name="Google Shape;151;p9"/>
          <p:cNvSpPr/>
          <p:nvPr/>
        </p:nvSpPr>
        <p:spPr>
          <a:xfrm>
            <a:off x="228600" y="46482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52" name="Google Shape;152;p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nvSpPr>
        <p:spPr>
          <a:xfrm>
            <a:off x="5851525" y="6213475"/>
            <a:ext cx="1841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58" name="Google Shape;158;p10"/>
          <p:cNvSpPr/>
          <p:nvPr/>
        </p:nvSpPr>
        <p:spPr>
          <a:xfrm>
            <a:off x="533400" y="1295400"/>
            <a:ext cx="7772400" cy="4267200"/>
          </a:xfrm>
          <a:prstGeom prst="rect">
            <a:avLst/>
          </a:prstGeom>
          <a:noFill/>
          <a:ln>
            <a:noFill/>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Costs that remain the same</a:t>
            </a:r>
            <a:r>
              <a:rPr b="0" i="0" lang="en-US" sz="2200" u="none" cap="none" strike="noStrike">
                <a:solidFill>
                  <a:schemeClr val="dk1"/>
                </a:solidFill>
                <a:latin typeface="Arial"/>
                <a:ea typeface="Arial"/>
                <a:cs typeface="Arial"/>
                <a:sym typeface="Arial"/>
              </a:rPr>
              <a:t> in total regardless of changes in the activity level within a relevant range.</a:t>
            </a:r>
            <a:endParaRPr b="0" i="0" sz="2200" u="none" cap="none" strike="noStrike">
              <a:solidFill>
                <a:schemeClr val="dk1"/>
              </a:solidFill>
              <a:latin typeface="Arial"/>
              <a:ea typeface="Arial"/>
              <a:cs typeface="Arial"/>
              <a:sym typeface="Arial"/>
            </a:endParaRPr>
          </a:p>
          <a:p>
            <a:pPr indent="-457200" lvl="1" marL="685800" marR="0" rtl="0" algn="l">
              <a:lnSpc>
                <a:spcPct val="120000"/>
              </a:lnSpc>
              <a:spcBef>
                <a:spcPts val="11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Fixed cost per unit cost</a:t>
            </a:r>
            <a:r>
              <a:rPr b="0" i="0" lang="en-US" sz="22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a:ea typeface="Arial"/>
                <a:cs typeface="Arial"/>
                <a:sym typeface="Arial"/>
              </a:rPr>
              <a:t>varies inversely</a:t>
            </a:r>
            <a:r>
              <a:rPr b="0" i="0" lang="en-US" sz="2200" u="none" cap="none" strike="noStrike">
                <a:solidFill>
                  <a:schemeClr val="dk1"/>
                </a:solidFill>
                <a:latin typeface="Arial"/>
                <a:ea typeface="Arial"/>
                <a:cs typeface="Arial"/>
                <a:sym typeface="Arial"/>
              </a:rPr>
              <a:t> with activity:  As volume increases, unit cost declines, and vice versa</a:t>
            </a:r>
            <a:endParaRPr/>
          </a:p>
          <a:p>
            <a:pPr indent="-457200" lvl="1" marL="685800" marR="0" rtl="0" algn="l">
              <a:lnSpc>
                <a:spcPct val="120000"/>
              </a:lnSpc>
              <a:spcBef>
                <a:spcPts val="1100"/>
              </a:spcBef>
              <a:spcAft>
                <a:spcPts val="0"/>
              </a:spcAft>
              <a:buClr>
                <a:srgbClr val="800000"/>
              </a:buClr>
              <a:buSzPts val="1760"/>
              <a:buFont typeface="Noto Sans Symbols"/>
              <a:buChar char="◆"/>
            </a:pPr>
            <a:r>
              <a:rPr b="1" i="0" lang="en-US" sz="2200" u="none" cap="none" strike="noStrike">
                <a:solidFill>
                  <a:schemeClr val="dk1"/>
                </a:solidFill>
                <a:latin typeface="Arial"/>
                <a:ea typeface="Arial"/>
                <a:cs typeface="Arial"/>
                <a:sym typeface="Arial"/>
              </a:rPr>
              <a:t>Examples</a:t>
            </a:r>
            <a:r>
              <a:rPr b="0" i="0" lang="en-US" sz="2200" u="none" cap="none" strike="noStrike">
                <a:solidFill>
                  <a:schemeClr val="dk1"/>
                </a:solidFill>
                <a:latin typeface="Arial"/>
                <a:ea typeface="Arial"/>
                <a:cs typeface="Arial"/>
                <a:sym typeface="Arial"/>
              </a:rPr>
              <a:t>:</a:t>
            </a:r>
            <a:endParaRPr/>
          </a:p>
          <a:p>
            <a:pPr indent="-457200" lvl="2" marL="1257300" marR="0" rtl="0" algn="l">
              <a:lnSpc>
                <a:spcPct val="115000"/>
              </a:lnSpc>
              <a:spcBef>
                <a:spcPts val="42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Property taxes</a:t>
            </a:r>
            <a:endParaRPr/>
          </a:p>
          <a:p>
            <a:pPr indent="-457200" lvl="2" marL="1257300" marR="0" rtl="0" algn="l">
              <a:lnSpc>
                <a:spcPct val="115000"/>
              </a:lnSpc>
              <a:spcBef>
                <a:spcPts val="42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Insurance</a:t>
            </a:r>
            <a:endParaRPr/>
          </a:p>
          <a:p>
            <a:pPr indent="-457200" lvl="2" marL="1257300" marR="0" rtl="0" algn="l">
              <a:lnSpc>
                <a:spcPct val="115000"/>
              </a:lnSpc>
              <a:spcBef>
                <a:spcPts val="42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Rent</a:t>
            </a:r>
            <a:endParaRPr/>
          </a:p>
          <a:p>
            <a:pPr indent="-457200" lvl="2" marL="1257300" marR="0" rtl="0" algn="l">
              <a:lnSpc>
                <a:spcPct val="115000"/>
              </a:lnSpc>
              <a:spcBef>
                <a:spcPts val="420"/>
              </a:spcBef>
              <a:spcAft>
                <a:spcPts val="0"/>
              </a:spcAft>
              <a:buClr>
                <a:srgbClr val="800000"/>
              </a:buClr>
              <a:buSzPts val="1680"/>
              <a:buFont typeface="Arial"/>
              <a:buChar char="►"/>
            </a:pPr>
            <a:r>
              <a:rPr b="0" i="0" lang="en-US" sz="2100" u="none" cap="none" strike="noStrike">
                <a:solidFill>
                  <a:schemeClr val="dk1"/>
                </a:solidFill>
                <a:latin typeface="Arial"/>
                <a:ea typeface="Arial"/>
                <a:cs typeface="Arial"/>
                <a:sym typeface="Arial"/>
              </a:rPr>
              <a:t>Depreciation on buildings and equipment	</a:t>
            </a:r>
            <a:endParaRPr/>
          </a:p>
        </p:txBody>
      </p:sp>
      <p:cxnSp>
        <p:nvCxnSpPr>
          <p:cNvPr id="159" name="Google Shape;159;p1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60" name="Google Shape;160;p10"/>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Fixed Costs</a:t>
            </a:r>
            <a:endParaRPr/>
          </a:p>
        </p:txBody>
      </p:sp>
      <p:sp>
        <p:nvSpPr>
          <p:cNvPr id="161" name="Google Shape;161;p1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1"/>
          <p:cNvPicPr preferRelativeResize="0"/>
          <p:nvPr/>
        </p:nvPicPr>
        <p:blipFill rotWithShape="1">
          <a:blip r:embed="rId3">
            <a:alphaModFix/>
          </a:blip>
          <a:srcRect b="0" l="0" r="0" t="0"/>
          <a:stretch/>
        </p:blipFill>
        <p:spPr>
          <a:xfrm>
            <a:off x="5454650" y="2438400"/>
            <a:ext cx="3308350" cy="3733800"/>
          </a:xfrm>
          <a:prstGeom prst="rect">
            <a:avLst/>
          </a:prstGeom>
          <a:noFill/>
          <a:ln>
            <a:noFill/>
          </a:ln>
        </p:spPr>
      </p:pic>
      <p:sp>
        <p:nvSpPr>
          <p:cNvPr id="167" name="Google Shape;167;p11"/>
          <p:cNvSpPr/>
          <p:nvPr/>
        </p:nvSpPr>
        <p:spPr>
          <a:xfrm>
            <a:off x="533400" y="1295400"/>
            <a:ext cx="8077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000">
                <a:solidFill>
                  <a:schemeClr val="dk1"/>
                </a:solidFill>
                <a:latin typeface="Arial"/>
                <a:ea typeface="Arial"/>
                <a:cs typeface="Arial"/>
                <a:sym typeface="Arial"/>
              </a:rPr>
              <a:t>Illustration:</a:t>
            </a:r>
            <a:r>
              <a:rPr lang="en-US" sz="2000">
                <a:solidFill>
                  <a:schemeClr val="dk1"/>
                </a:solidFill>
                <a:latin typeface="Arial"/>
                <a:ea typeface="Arial"/>
                <a:cs typeface="Arial"/>
                <a:sym typeface="Arial"/>
              </a:rPr>
              <a:t>  Damon Company leases its productive facilities at a cost of $10,000 per month. Total fixed costs of the facilities will remain</a:t>
            </a:r>
            <a:endParaRPr sz="2000">
              <a:solidFill>
                <a:schemeClr val="dk1"/>
              </a:solidFill>
              <a:latin typeface="Arial"/>
              <a:ea typeface="Arial"/>
              <a:cs typeface="Arial"/>
              <a:sym typeface="Arial"/>
            </a:endParaRPr>
          </a:p>
        </p:txBody>
      </p:sp>
      <p:sp>
        <p:nvSpPr>
          <p:cNvPr id="168" name="Google Shape;168;p11"/>
          <p:cNvSpPr/>
          <p:nvPr/>
        </p:nvSpPr>
        <p:spPr>
          <a:xfrm>
            <a:off x="533400" y="2033588"/>
            <a:ext cx="48006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constant at every level of activity, as part (a) of Illustration 22-2 shows. </a:t>
            </a:r>
            <a:endParaRPr/>
          </a:p>
        </p:txBody>
      </p:sp>
      <p:sp>
        <p:nvSpPr>
          <p:cNvPr id="169" name="Google Shape;169;p11"/>
          <p:cNvSpPr/>
          <p:nvPr/>
        </p:nvSpPr>
        <p:spPr>
          <a:xfrm>
            <a:off x="7488032" y="2209800"/>
            <a:ext cx="132279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a:t>
            </a:r>
            <a:endParaRPr b="1" sz="1200">
              <a:solidFill>
                <a:schemeClr val="dk1"/>
              </a:solidFill>
              <a:latin typeface="Arial"/>
              <a:ea typeface="Arial"/>
              <a:cs typeface="Arial"/>
              <a:sym typeface="Arial"/>
            </a:endParaRPr>
          </a:p>
        </p:txBody>
      </p:sp>
      <p:cxnSp>
        <p:nvCxnSpPr>
          <p:cNvPr id="170" name="Google Shape;170;p1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71" name="Google Shape;171;p11"/>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Fixed Costs</a:t>
            </a:r>
            <a:endParaRPr/>
          </a:p>
        </p:txBody>
      </p:sp>
      <p:sp>
        <p:nvSpPr>
          <p:cNvPr id="172" name="Google Shape;172;p1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p:nvPr/>
        </p:nvSpPr>
        <p:spPr>
          <a:xfrm>
            <a:off x="533400" y="1295400"/>
            <a:ext cx="8077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000">
                <a:solidFill>
                  <a:schemeClr val="dk1"/>
                </a:solidFill>
                <a:latin typeface="Arial"/>
                <a:ea typeface="Arial"/>
                <a:cs typeface="Arial"/>
                <a:sym typeface="Arial"/>
              </a:rPr>
              <a:t>Illustration:  </a:t>
            </a:r>
            <a:r>
              <a:rPr lang="en-US" sz="2000">
                <a:solidFill>
                  <a:schemeClr val="dk1"/>
                </a:solidFill>
                <a:latin typeface="Arial"/>
                <a:ea typeface="Arial"/>
                <a:cs typeface="Arial"/>
                <a:sym typeface="Arial"/>
              </a:rPr>
              <a:t>Damon Company leases its productive facilities at a cost of $10,000 per month. Total fixed costs of the facilities will remain</a:t>
            </a:r>
            <a:endParaRPr sz="2000">
              <a:solidFill>
                <a:schemeClr val="dk1"/>
              </a:solidFill>
              <a:latin typeface="Arial"/>
              <a:ea typeface="Arial"/>
              <a:cs typeface="Arial"/>
              <a:sym typeface="Arial"/>
            </a:endParaRPr>
          </a:p>
        </p:txBody>
      </p:sp>
      <p:sp>
        <p:nvSpPr>
          <p:cNvPr id="178" name="Google Shape;178;p12"/>
          <p:cNvSpPr/>
          <p:nvPr/>
        </p:nvSpPr>
        <p:spPr>
          <a:xfrm>
            <a:off x="533400" y="2027238"/>
            <a:ext cx="4800600" cy="341632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constant at every level of activity.  But, </a:t>
            </a:r>
            <a:r>
              <a:rPr b="1" lang="en-US" sz="2000">
                <a:solidFill>
                  <a:schemeClr val="dk1"/>
                </a:solidFill>
                <a:latin typeface="Arial"/>
                <a:ea typeface="Arial"/>
                <a:cs typeface="Arial"/>
                <a:sym typeface="Arial"/>
              </a:rPr>
              <a:t>on a per unit basis, the cost of rent will decline as activity increases</a:t>
            </a:r>
            <a:r>
              <a:rPr lang="en-US" sz="2000">
                <a:solidFill>
                  <a:schemeClr val="dk1"/>
                </a:solidFill>
                <a:latin typeface="Arial"/>
                <a:ea typeface="Arial"/>
                <a:cs typeface="Arial"/>
                <a:sym typeface="Arial"/>
              </a:rPr>
              <a:t>, as part (b) of Illustration 22-2 shows. At 2,000 units, the unit cost per tablet computer is $5 ($10,000 ÷ 2,000). When Damon produces 10,000 tablets, the unit cost of the rent is only $1 per tablet ($10,000 ÷ 10,000).</a:t>
            </a:r>
            <a:endParaRPr/>
          </a:p>
        </p:txBody>
      </p:sp>
      <p:sp>
        <p:nvSpPr>
          <p:cNvPr id="179" name="Google Shape;179;p12"/>
          <p:cNvSpPr/>
          <p:nvPr/>
        </p:nvSpPr>
        <p:spPr>
          <a:xfrm>
            <a:off x="7488032" y="2209800"/>
            <a:ext cx="132279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a:t>
            </a:r>
            <a:endParaRPr b="1" sz="1200">
              <a:solidFill>
                <a:schemeClr val="dk1"/>
              </a:solidFill>
              <a:latin typeface="Arial"/>
              <a:ea typeface="Arial"/>
              <a:cs typeface="Arial"/>
              <a:sym typeface="Arial"/>
            </a:endParaRPr>
          </a:p>
        </p:txBody>
      </p:sp>
      <p:pic>
        <p:nvPicPr>
          <p:cNvPr id="180" name="Google Shape;180;p12"/>
          <p:cNvPicPr preferRelativeResize="0"/>
          <p:nvPr/>
        </p:nvPicPr>
        <p:blipFill rotWithShape="1">
          <a:blip r:embed="rId3">
            <a:alphaModFix/>
          </a:blip>
          <a:srcRect b="0" l="0" r="0" t="0"/>
          <a:stretch/>
        </p:blipFill>
        <p:spPr>
          <a:xfrm>
            <a:off x="5554663" y="2438400"/>
            <a:ext cx="3208337" cy="3733800"/>
          </a:xfrm>
          <a:prstGeom prst="rect">
            <a:avLst/>
          </a:prstGeom>
          <a:noFill/>
          <a:ln>
            <a:noFill/>
          </a:ln>
        </p:spPr>
      </p:pic>
      <p:cxnSp>
        <p:nvCxnSpPr>
          <p:cNvPr id="181" name="Google Shape;181;p1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82" name="Google Shape;182;p12"/>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Fixed Costs</a:t>
            </a:r>
            <a:endParaRPr/>
          </a:p>
        </p:txBody>
      </p:sp>
      <p:sp>
        <p:nvSpPr>
          <p:cNvPr id="183" name="Google Shape;183;p1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txBox="1"/>
          <p:nvPr/>
        </p:nvSpPr>
        <p:spPr>
          <a:xfrm>
            <a:off x="5851525" y="6213475"/>
            <a:ext cx="1841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89" name="Google Shape;189;p13"/>
          <p:cNvSpPr/>
          <p:nvPr/>
        </p:nvSpPr>
        <p:spPr>
          <a:xfrm>
            <a:off x="820003" y="5715000"/>
            <a:ext cx="1724025"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Behavior of total and unit fixed costs</a:t>
            </a:r>
            <a:endParaRPr/>
          </a:p>
        </p:txBody>
      </p:sp>
      <p:pic>
        <p:nvPicPr>
          <p:cNvPr id="190" name="Google Shape;190;p13"/>
          <p:cNvPicPr preferRelativeResize="0"/>
          <p:nvPr/>
        </p:nvPicPr>
        <p:blipFill rotWithShape="1">
          <a:blip r:embed="rId3">
            <a:alphaModFix/>
          </a:blip>
          <a:srcRect b="0" l="0" r="0" t="0"/>
          <a:stretch/>
        </p:blipFill>
        <p:spPr>
          <a:xfrm>
            <a:off x="566738" y="1371600"/>
            <a:ext cx="7967662" cy="4097337"/>
          </a:xfrm>
          <a:prstGeom prst="rect">
            <a:avLst/>
          </a:prstGeom>
          <a:noFill/>
          <a:ln>
            <a:noFill/>
          </a:ln>
        </p:spPr>
      </p:pic>
      <p:cxnSp>
        <p:nvCxnSpPr>
          <p:cNvPr id="191" name="Google Shape;191;p1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92" name="Google Shape;192;p13"/>
          <p:cNvSpPr/>
          <p:nvPr/>
        </p:nvSpPr>
        <p:spPr>
          <a:xfrm>
            <a:off x="533400" y="2011363"/>
            <a:ext cx="304800" cy="350837"/>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93" name="Google Shape;193;p1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Fixed Costs</a:t>
            </a:r>
            <a:endParaRPr/>
          </a:p>
        </p:txBody>
      </p:sp>
      <p:sp>
        <p:nvSpPr>
          <p:cNvPr id="194" name="Google Shape;194;p1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195" name="Google Shape;195;p13"/>
          <p:cNvSpPr/>
          <p:nvPr/>
        </p:nvSpPr>
        <p:spPr>
          <a:xfrm>
            <a:off x="533400" y="1447800"/>
            <a:ext cx="286603"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p:nvPr/>
        </p:nvSpPr>
        <p:spPr>
          <a:xfrm>
            <a:off x="7086600" y="533400"/>
            <a:ext cx="1752600" cy="576620"/>
          </a:xfrm>
          <a:prstGeom prst="rect">
            <a:avLst/>
          </a:prstGeom>
          <a:solidFill>
            <a:srgbClr val="BFBFBF"/>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1" name="Google Shape;201;p14"/>
          <p:cNvSpPr/>
          <p:nvPr/>
        </p:nvSpPr>
        <p:spPr>
          <a:xfrm>
            <a:off x="381000" y="1272616"/>
            <a:ext cx="8305800" cy="5509184"/>
          </a:xfrm>
          <a:prstGeom prst="rect">
            <a:avLst/>
          </a:prstGeom>
          <a:noFill/>
          <a:ln>
            <a:noFill/>
          </a:ln>
        </p:spPr>
        <p:txBody>
          <a:bodyPr anchorCtr="0" anchor="t" bIns="91425" lIns="91425" spcFirstLastPara="1" rIns="91425" wrap="square" tIns="91425">
            <a:spAutoFit/>
          </a:bodyPr>
          <a:lstStyle/>
          <a:p>
            <a:pPr indent="0" lvl="0" marL="0" marR="0" rtl="0" algn="just">
              <a:lnSpc>
                <a:spcPct val="105000"/>
              </a:lnSpc>
              <a:spcBef>
                <a:spcPts val="0"/>
              </a:spcBef>
              <a:spcAft>
                <a:spcPts val="0"/>
              </a:spcAft>
              <a:buNone/>
            </a:pPr>
            <a:r>
              <a:rPr b="1" lang="en-US" sz="1600">
                <a:solidFill>
                  <a:schemeClr val="dk1"/>
                </a:solidFill>
                <a:latin typeface="Arial"/>
                <a:ea typeface="Arial"/>
                <a:cs typeface="Arial"/>
                <a:sym typeface="Arial"/>
              </a:rPr>
              <a:t>Gardens in the Sky</a:t>
            </a:r>
            <a:endParaRPr b="1" sz="16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1600">
                <a:solidFill>
                  <a:schemeClr val="dk1"/>
                </a:solidFill>
                <a:latin typeface="Arial"/>
                <a:ea typeface="Arial"/>
                <a:cs typeface="Arial"/>
                <a:sym typeface="Arial"/>
              </a:rPr>
              <a:t>Because of population increases, the United Nations’ Food and Agriculture Organization estimates that food production will need to increase by 70% by 2050. Also, by 2050, roughly 70% of people will live in cities, which means more food needs to be hauled further to get it to the consumer. To address the lack of farmable land and reduce the cost of transporting produce, some companies, such as New York-based </a:t>
            </a:r>
            <a:r>
              <a:rPr b="1" lang="en-US" sz="1600">
                <a:solidFill>
                  <a:srgbClr val="AD0000"/>
                </a:solidFill>
                <a:latin typeface="Arial"/>
                <a:ea typeface="Arial"/>
                <a:cs typeface="Arial"/>
                <a:sym typeface="Arial"/>
              </a:rPr>
              <a:t>Bright Farms</a:t>
            </a:r>
            <a:r>
              <a:rPr lang="en-US" sz="1600">
                <a:solidFill>
                  <a:schemeClr val="dk1"/>
                </a:solidFill>
                <a:latin typeface="Arial"/>
                <a:ea typeface="Arial"/>
                <a:cs typeface="Arial"/>
                <a:sym typeface="Arial"/>
              </a:rPr>
              <a:t>, are building urban greenhouses. This sounds great, but do the numbers work? Some variable costs would be reduced. For example, the use of pesticides, herbicides, fuel costs for shipping, and water would all drop. Soil erosion would be a non-issue since plants would be grown hydroponically (in a solution of water and minerals), and land requirements would be reduced because of vertical structures. But, other costs would be higher. First, there is the cost of the building. Also, any multistory building would require artificial lighting for plants on lower floors. Until these cost challenges can be overcome, it appears that these urban greenhouses may not break even. On the other hand, rooftop greenhouses on existing city structures already appear financially viable. For example, a 15,000 square-foot rooftop greenhouse in Brooklyn already produces roughly 30 tons of vegetables per year for local residents.</a:t>
            </a:r>
            <a:endParaRPr/>
          </a:p>
          <a:p>
            <a:pPr indent="0" lvl="0" marL="0" marR="0" rtl="0" algn="just">
              <a:lnSpc>
                <a:spcPct val="105000"/>
              </a:lnSpc>
              <a:spcBef>
                <a:spcPts val="600"/>
              </a:spcBef>
              <a:spcAft>
                <a:spcPts val="0"/>
              </a:spcAft>
              <a:buNone/>
            </a:pPr>
            <a:r>
              <a:rPr lang="en-US" sz="1400">
                <a:solidFill>
                  <a:schemeClr val="dk1"/>
                </a:solidFill>
                <a:latin typeface="Arial"/>
                <a:ea typeface="Arial"/>
                <a:cs typeface="Arial"/>
                <a:sym typeface="Arial"/>
              </a:rPr>
              <a:t>Sources: “Vertical Farming: Does It Really Stack Up?” The Economist (December 9, 2010); and Jane Black, “Bright Farms Idea: Greenhouses That Cut Short the Path from Plant to Grocery Shelf,” The Washington Post (May 7, 2013).</a:t>
            </a:r>
            <a:endParaRPr/>
          </a:p>
        </p:txBody>
      </p:sp>
      <p:sp>
        <p:nvSpPr>
          <p:cNvPr id="202" name="Google Shape;202;p14"/>
          <p:cNvSpPr/>
          <p:nvPr/>
        </p:nvSpPr>
        <p:spPr>
          <a:xfrm>
            <a:off x="365760" y="457200"/>
            <a:ext cx="6720840" cy="729020"/>
          </a:xfrm>
          <a:prstGeom prst="rect">
            <a:avLst/>
          </a:prstGeom>
          <a:solidFill>
            <a:srgbClr val="00B0F0"/>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3200">
                <a:solidFill>
                  <a:schemeClr val="accent3"/>
                </a:solidFill>
                <a:latin typeface="Arial"/>
                <a:ea typeface="Arial"/>
                <a:cs typeface="Arial"/>
                <a:sym typeface="Arial"/>
              </a:rPr>
              <a:t>People, Planet, and Profit Insight</a:t>
            </a:r>
            <a:endParaRPr/>
          </a:p>
        </p:txBody>
      </p:sp>
      <p:sp>
        <p:nvSpPr>
          <p:cNvPr id="203" name="Google Shape;203;p1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idx="1" type="body"/>
          </p:nvPr>
        </p:nvSpPr>
        <p:spPr>
          <a:xfrm>
            <a:off x="533400" y="1295400"/>
            <a:ext cx="7772400" cy="3886200"/>
          </a:xfrm>
          <a:prstGeom prst="rect">
            <a:avLst/>
          </a:prstGeom>
          <a:noFill/>
          <a:ln>
            <a:noFill/>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lang="en-US" sz="2100">
                <a:solidFill>
                  <a:schemeClr val="dk1"/>
                </a:solidFill>
                <a:latin typeface="Arial"/>
                <a:ea typeface="Arial"/>
                <a:cs typeface="Arial"/>
                <a:sym typeface="Arial"/>
              </a:rPr>
              <a:t>Throughout the range of possible levels of activity</a:t>
            </a:r>
            <a:r>
              <a:rPr b="0" lang="en-US" sz="2100">
                <a:solidFill>
                  <a:schemeClr val="dk1"/>
                </a:solidFill>
                <a:latin typeface="Arial"/>
                <a:ea typeface="Arial"/>
                <a:cs typeface="Arial"/>
                <a:sym typeface="Arial"/>
              </a:rPr>
              <a:t>, a straight-line relationship usually does not exist for either variable costs or fixed costs. </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Relationship between variable costs and changes in activity level is often </a:t>
            </a:r>
            <a:r>
              <a:rPr lang="en-US" sz="2100">
                <a:solidFill>
                  <a:schemeClr val="dk1"/>
                </a:solidFill>
                <a:latin typeface="Arial"/>
                <a:ea typeface="Arial"/>
                <a:cs typeface="Arial"/>
                <a:sym typeface="Arial"/>
              </a:rPr>
              <a:t>curvilinear</a:t>
            </a:r>
            <a:r>
              <a:rPr b="0" lang="en-US" sz="2100">
                <a:solidFill>
                  <a:schemeClr val="dk1"/>
                </a:solidFill>
                <a:latin typeface="Arial"/>
                <a:ea typeface="Arial"/>
                <a:cs typeface="Arial"/>
                <a:sym typeface="Arial"/>
              </a:rPr>
              <a:t>.</a:t>
            </a:r>
            <a:endParaRPr/>
          </a:p>
          <a:p>
            <a:pPr indent="-350520" lvl="1" marL="685800" rtl="0" algn="l">
              <a:lnSpc>
                <a:spcPct val="120000"/>
              </a:lnSpc>
              <a:spcBef>
                <a:spcPts val="1260"/>
              </a:spcBef>
              <a:spcAft>
                <a:spcPts val="0"/>
              </a:spcAft>
              <a:buClr>
                <a:srgbClr val="800000"/>
              </a:buClr>
              <a:buSzPts val="1680"/>
              <a:buFont typeface="Noto Sans Symbols"/>
              <a:buNone/>
            </a:pPr>
            <a:r>
              <a:t/>
            </a:r>
            <a:endParaRPr b="0" sz="2100">
              <a:solidFill>
                <a:schemeClr val="dk1"/>
              </a:solidFill>
              <a:latin typeface="Arial"/>
              <a:ea typeface="Arial"/>
              <a:cs typeface="Arial"/>
              <a:sym typeface="Arial"/>
            </a:endParaRPr>
          </a:p>
        </p:txBody>
      </p:sp>
      <p:cxnSp>
        <p:nvCxnSpPr>
          <p:cNvPr id="209" name="Google Shape;209;p1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10" name="Google Shape;210;p1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Relevant Range</a:t>
            </a:r>
            <a:endParaRPr/>
          </a:p>
        </p:txBody>
      </p:sp>
      <p:sp>
        <p:nvSpPr>
          <p:cNvPr id="211" name="Google Shape;211;p15"/>
          <p:cNvSpPr txBox="1"/>
          <p:nvPr/>
        </p:nvSpPr>
        <p:spPr>
          <a:xfrm>
            <a:off x="533400" y="3657600"/>
            <a:ext cx="4800600" cy="1752600"/>
          </a:xfrm>
          <a:prstGeom prst="rect">
            <a:avLst/>
          </a:prstGeom>
          <a:noFill/>
          <a:ln>
            <a:noFill/>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For </a:t>
            </a:r>
            <a:r>
              <a:rPr b="1" i="0" lang="en-US" sz="2100" u="none" cap="none" strike="noStrike">
                <a:solidFill>
                  <a:schemeClr val="dk1"/>
                </a:solidFill>
                <a:latin typeface="Arial"/>
                <a:ea typeface="Arial"/>
                <a:cs typeface="Arial"/>
                <a:sym typeface="Arial"/>
              </a:rPr>
              <a:t>fixed costs</a:t>
            </a:r>
            <a:r>
              <a:rPr b="0" i="0" lang="en-US" sz="2100" u="none" cap="none" strike="noStrike">
                <a:solidFill>
                  <a:schemeClr val="dk1"/>
                </a:solidFill>
                <a:latin typeface="Arial"/>
                <a:ea typeface="Arial"/>
                <a:cs typeface="Arial"/>
                <a:sym typeface="Arial"/>
              </a:rPr>
              <a:t>, the </a:t>
            </a:r>
            <a:r>
              <a:rPr b="1" i="0" lang="en-US" sz="2100" u="none" cap="none" strike="noStrike">
                <a:solidFill>
                  <a:schemeClr val="dk1"/>
                </a:solidFill>
                <a:latin typeface="Arial"/>
                <a:ea typeface="Arial"/>
                <a:cs typeface="Arial"/>
                <a:sym typeface="Arial"/>
              </a:rPr>
              <a:t>relationship is also nonlinear</a:t>
            </a:r>
            <a:r>
              <a:rPr b="0" i="0" lang="en-US" sz="2100" u="none" cap="none" strike="noStrike">
                <a:solidFill>
                  <a:schemeClr val="dk1"/>
                </a:solidFill>
                <a:latin typeface="Arial"/>
                <a:ea typeface="Arial"/>
                <a:cs typeface="Arial"/>
                <a:sym typeface="Arial"/>
              </a:rPr>
              <a:t> – some fixed costs will not change over the entire range of activities, while other fixed costs may change.</a:t>
            </a:r>
            <a:endParaRPr/>
          </a:p>
        </p:txBody>
      </p:sp>
      <p:pic>
        <p:nvPicPr>
          <p:cNvPr id="212" name="Google Shape;212;p15"/>
          <p:cNvPicPr preferRelativeResize="0"/>
          <p:nvPr/>
        </p:nvPicPr>
        <p:blipFill rotWithShape="1">
          <a:blip r:embed="rId3">
            <a:alphaModFix/>
          </a:blip>
          <a:srcRect b="0" l="0" r="0" t="0"/>
          <a:stretch/>
        </p:blipFill>
        <p:spPr>
          <a:xfrm>
            <a:off x="5849830" y="3885347"/>
            <a:ext cx="2646470" cy="1905853"/>
          </a:xfrm>
          <a:prstGeom prst="rect">
            <a:avLst/>
          </a:prstGeom>
          <a:noFill/>
          <a:ln cap="sq" cmpd="sng" w="12700">
            <a:solidFill>
              <a:schemeClr val="dk1"/>
            </a:solidFill>
            <a:prstDash val="solid"/>
            <a:miter lim="800000"/>
            <a:headEnd len="sm" w="sm" type="none"/>
            <a:tailEnd len="sm" w="sm" type="none"/>
          </a:ln>
        </p:spPr>
      </p:pic>
      <p:sp>
        <p:nvSpPr>
          <p:cNvPr id="213" name="Google Shape;213;p1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nvSpPr>
        <p:spPr>
          <a:xfrm>
            <a:off x="5851525" y="6213475"/>
            <a:ext cx="1841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219" name="Google Shape;219;p16"/>
          <p:cNvSpPr/>
          <p:nvPr/>
        </p:nvSpPr>
        <p:spPr>
          <a:xfrm>
            <a:off x="914400" y="5715000"/>
            <a:ext cx="1876425"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Nonlinear behavior of variable and fixed costs</a:t>
            </a:r>
            <a:endParaRPr/>
          </a:p>
        </p:txBody>
      </p:sp>
      <p:pic>
        <p:nvPicPr>
          <p:cNvPr id="220" name="Google Shape;220;p16"/>
          <p:cNvPicPr preferRelativeResize="0"/>
          <p:nvPr/>
        </p:nvPicPr>
        <p:blipFill rotWithShape="1">
          <a:blip r:embed="rId3">
            <a:alphaModFix/>
          </a:blip>
          <a:srcRect b="0" l="0" r="0" t="0"/>
          <a:stretch/>
        </p:blipFill>
        <p:spPr>
          <a:xfrm>
            <a:off x="838200" y="1447800"/>
            <a:ext cx="7315200" cy="4064000"/>
          </a:xfrm>
          <a:prstGeom prst="rect">
            <a:avLst/>
          </a:prstGeom>
          <a:noFill/>
          <a:ln>
            <a:noFill/>
          </a:ln>
        </p:spPr>
      </p:pic>
      <p:cxnSp>
        <p:nvCxnSpPr>
          <p:cNvPr id="221" name="Google Shape;221;p1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22" name="Google Shape;222;p1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Relevant Range</a:t>
            </a:r>
            <a:endParaRPr/>
          </a:p>
        </p:txBody>
      </p:sp>
      <p:sp>
        <p:nvSpPr>
          <p:cNvPr id="223" name="Google Shape;223;p1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17"/>
          <p:cNvPicPr preferRelativeResize="0"/>
          <p:nvPr/>
        </p:nvPicPr>
        <p:blipFill rotWithShape="1">
          <a:blip r:embed="rId3">
            <a:alphaModFix/>
          </a:blip>
          <a:srcRect b="0" l="0" r="0" t="0"/>
          <a:stretch/>
        </p:blipFill>
        <p:spPr>
          <a:xfrm>
            <a:off x="1143000" y="2438400"/>
            <a:ext cx="6629400" cy="3603625"/>
          </a:xfrm>
          <a:prstGeom prst="rect">
            <a:avLst/>
          </a:prstGeom>
          <a:noFill/>
          <a:ln>
            <a:noFill/>
          </a:ln>
        </p:spPr>
      </p:pic>
      <p:sp>
        <p:nvSpPr>
          <p:cNvPr id="229" name="Google Shape;229;p17"/>
          <p:cNvSpPr txBox="1"/>
          <p:nvPr/>
        </p:nvSpPr>
        <p:spPr>
          <a:xfrm>
            <a:off x="533400" y="1295400"/>
            <a:ext cx="6858000" cy="86748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lt2"/>
                </a:solidFill>
                <a:latin typeface="Arial"/>
                <a:ea typeface="Arial"/>
                <a:cs typeface="Arial"/>
                <a:sym typeface="Arial"/>
              </a:rPr>
              <a:t>Range of activity over which a company expects to operate during a year.</a:t>
            </a:r>
            <a:endParaRPr/>
          </a:p>
        </p:txBody>
      </p:sp>
      <p:sp>
        <p:nvSpPr>
          <p:cNvPr id="230" name="Google Shape;230;p17"/>
          <p:cNvSpPr/>
          <p:nvPr/>
        </p:nvSpPr>
        <p:spPr>
          <a:xfrm>
            <a:off x="7239000" y="1828800"/>
            <a:ext cx="1676400"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22-4</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Linear behavior within relevant range</a:t>
            </a:r>
            <a:endParaRPr/>
          </a:p>
        </p:txBody>
      </p:sp>
      <p:cxnSp>
        <p:nvCxnSpPr>
          <p:cNvPr id="231" name="Google Shape;231;p1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32" name="Google Shape;232;p17"/>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Relevant Range</a:t>
            </a:r>
            <a:endParaRPr/>
          </a:p>
        </p:txBody>
      </p:sp>
      <p:sp>
        <p:nvSpPr>
          <p:cNvPr id="233" name="Google Shape;233;p1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p:nvPr/>
        </p:nvSpPr>
        <p:spPr>
          <a:xfrm>
            <a:off x="533400" y="1905000"/>
            <a:ext cx="8077200" cy="3200400"/>
          </a:xfrm>
          <a:prstGeom prst="rect">
            <a:avLst/>
          </a:prstGeom>
          <a:solidFill>
            <a:schemeClr val="lt1"/>
          </a:solidFill>
          <a:ln>
            <a:noFill/>
          </a:ln>
        </p:spPr>
        <p:txBody>
          <a:bodyPr anchorCtr="0" anchor="t" bIns="46025" lIns="91425" spcFirstLastPara="1" rIns="182550" wrap="square" tIns="46025">
            <a:noAutofit/>
          </a:bodyPr>
          <a:lstStyle/>
          <a:p>
            <a:pPr indent="-517525" lvl="0" marL="517525" marR="0" rtl="0" algn="l">
              <a:lnSpc>
                <a:spcPct val="120000"/>
              </a:lnSpc>
              <a:spcBef>
                <a:spcPts val="0"/>
              </a:spcBef>
              <a:spcAft>
                <a:spcPts val="0"/>
              </a:spcAft>
              <a:buNone/>
            </a:pPr>
            <a:r>
              <a:rPr lang="en-US" sz="2200">
                <a:solidFill>
                  <a:schemeClr val="dk1"/>
                </a:solidFill>
                <a:latin typeface="Arial"/>
                <a:ea typeface="Arial"/>
                <a:cs typeface="Arial"/>
                <a:sym typeface="Arial"/>
              </a:rPr>
              <a:t>The relevant range is:</a:t>
            </a:r>
            <a:endParaRPr/>
          </a:p>
          <a:p>
            <a:pPr indent="-450850" lvl="0" marL="682625" marR="0" rtl="0" algn="l">
              <a:lnSpc>
                <a:spcPct val="120000"/>
              </a:lnSpc>
              <a:spcBef>
                <a:spcPts val="880"/>
              </a:spcBef>
              <a:spcAft>
                <a:spcPts val="0"/>
              </a:spcAft>
              <a:buClr>
                <a:schemeClr val="dk1"/>
              </a:buClr>
              <a:buSzPts val="2200"/>
              <a:buFont typeface="Comic Sans MS"/>
              <a:buAutoNum type="alphaLcPeriod"/>
            </a:pPr>
            <a:r>
              <a:rPr lang="en-US" sz="2200">
                <a:solidFill>
                  <a:schemeClr val="dk1"/>
                </a:solidFill>
                <a:latin typeface="Arial"/>
                <a:ea typeface="Arial"/>
                <a:cs typeface="Arial"/>
                <a:sym typeface="Arial"/>
              </a:rPr>
              <a:t>The range of activity in which variable costs will be curvilinear.</a:t>
            </a:r>
            <a:endParaRPr/>
          </a:p>
          <a:p>
            <a:pPr indent="-450850" lvl="0" marL="682625" marR="0" rtl="0" algn="l">
              <a:lnSpc>
                <a:spcPct val="120000"/>
              </a:lnSpc>
              <a:spcBef>
                <a:spcPts val="880"/>
              </a:spcBef>
              <a:spcAft>
                <a:spcPts val="0"/>
              </a:spcAft>
              <a:buClr>
                <a:schemeClr val="dk1"/>
              </a:buClr>
              <a:buSzPts val="2200"/>
              <a:buFont typeface="Comic Sans MS"/>
              <a:buAutoNum type="alphaLcPeriod"/>
            </a:pPr>
            <a:r>
              <a:rPr lang="en-US" sz="2200">
                <a:solidFill>
                  <a:schemeClr val="dk1"/>
                </a:solidFill>
                <a:latin typeface="Arial"/>
                <a:ea typeface="Arial"/>
                <a:cs typeface="Arial"/>
                <a:sym typeface="Arial"/>
              </a:rPr>
              <a:t>The range of activity in which fixed costs will be curvilinear. </a:t>
            </a:r>
            <a:endParaRPr/>
          </a:p>
          <a:p>
            <a:pPr indent="-450850" lvl="0" marL="682625" marR="0" rtl="0" algn="l">
              <a:lnSpc>
                <a:spcPct val="120000"/>
              </a:lnSpc>
              <a:spcBef>
                <a:spcPts val="880"/>
              </a:spcBef>
              <a:spcAft>
                <a:spcPts val="0"/>
              </a:spcAft>
              <a:buClr>
                <a:schemeClr val="dk1"/>
              </a:buClr>
              <a:buSzPts val="2200"/>
              <a:buFont typeface="Comic Sans MS"/>
              <a:buAutoNum type="alphaLcPeriod"/>
            </a:pPr>
            <a:r>
              <a:rPr lang="en-US" sz="2200">
                <a:solidFill>
                  <a:schemeClr val="dk1"/>
                </a:solidFill>
                <a:latin typeface="Arial"/>
                <a:ea typeface="Arial"/>
                <a:cs typeface="Arial"/>
                <a:sym typeface="Arial"/>
              </a:rPr>
              <a:t>The range over which the company expects to operate during a year.</a:t>
            </a:r>
            <a:endParaRPr/>
          </a:p>
          <a:p>
            <a:pPr indent="-450850" lvl="0" marL="682625" marR="0" rtl="0" algn="l">
              <a:lnSpc>
                <a:spcPct val="120000"/>
              </a:lnSpc>
              <a:spcBef>
                <a:spcPts val="880"/>
              </a:spcBef>
              <a:spcAft>
                <a:spcPts val="0"/>
              </a:spcAft>
              <a:buClr>
                <a:schemeClr val="dk1"/>
              </a:buClr>
              <a:buSzPts val="2200"/>
              <a:buFont typeface="Comic Sans MS"/>
              <a:buAutoNum type="alphaLcPeriod"/>
            </a:pPr>
            <a:r>
              <a:rPr lang="en-US" sz="2200">
                <a:solidFill>
                  <a:schemeClr val="dk1"/>
                </a:solidFill>
                <a:latin typeface="Arial"/>
                <a:ea typeface="Arial"/>
                <a:cs typeface="Arial"/>
                <a:sym typeface="Arial"/>
              </a:rPr>
              <a:t>Usually from zero to 100% of operating capacity. </a:t>
            </a:r>
            <a:endParaRPr/>
          </a:p>
        </p:txBody>
      </p:sp>
      <p:cxnSp>
        <p:nvCxnSpPr>
          <p:cNvPr id="239" name="Google Shape;239;p1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40" name="Google Shape;240;p18"/>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sp>
        <p:nvSpPr>
          <p:cNvPr id="241" name="Google Shape;241;p18"/>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Relevant Range</a:t>
            </a:r>
            <a:endParaRPr/>
          </a:p>
        </p:txBody>
      </p:sp>
      <p:sp>
        <p:nvSpPr>
          <p:cNvPr id="242" name="Google Shape;242;p18"/>
          <p:cNvSpPr/>
          <p:nvPr/>
        </p:nvSpPr>
        <p:spPr>
          <a:xfrm>
            <a:off x="152400" y="435136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43" name="Google Shape;243;p1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19"/>
          <p:cNvPicPr preferRelativeResize="0"/>
          <p:nvPr/>
        </p:nvPicPr>
        <p:blipFill rotWithShape="1">
          <a:blip r:embed="rId3">
            <a:alphaModFix/>
          </a:blip>
          <a:srcRect b="0" l="0" r="0" t="0"/>
          <a:stretch/>
        </p:blipFill>
        <p:spPr>
          <a:xfrm>
            <a:off x="1295400" y="3276600"/>
            <a:ext cx="5528106" cy="3266364"/>
          </a:xfrm>
          <a:prstGeom prst="rect">
            <a:avLst/>
          </a:prstGeom>
          <a:noFill/>
          <a:ln>
            <a:noFill/>
          </a:ln>
        </p:spPr>
      </p:pic>
      <p:sp>
        <p:nvSpPr>
          <p:cNvPr id="249" name="Google Shape;249;p19"/>
          <p:cNvSpPr txBox="1"/>
          <p:nvPr>
            <p:ph idx="1" type="body"/>
          </p:nvPr>
        </p:nvSpPr>
        <p:spPr>
          <a:xfrm>
            <a:off x="533400" y="1295400"/>
            <a:ext cx="7620000" cy="990600"/>
          </a:xfrm>
          <a:prstGeom prst="rect">
            <a:avLst/>
          </a:prstGeom>
          <a:noFill/>
          <a:ln>
            <a:noFill/>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Costs that have </a:t>
            </a:r>
            <a:r>
              <a:rPr lang="en-US" sz="2100">
                <a:solidFill>
                  <a:schemeClr val="dk1"/>
                </a:solidFill>
                <a:latin typeface="Arial"/>
                <a:ea typeface="Arial"/>
                <a:cs typeface="Arial"/>
                <a:sym typeface="Arial"/>
              </a:rPr>
              <a:t>both</a:t>
            </a:r>
            <a:r>
              <a:rPr b="0" lang="en-US" sz="2100">
                <a:solidFill>
                  <a:schemeClr val="dk1"/>
                </a:solidFill>
                <a:latin typeface="Arial"/>
                <a:ea typeface="Arial"/>
                <a:cs typeface="Arial"/>
                <a:sym typeface="Arial"/>
              </a:rPr>
              <a:t> a variable element </a:t>
            </a:r>
            <a:r>
              <a:rPr lang="en-US" sz="2100">
                <a:solidFill>
                  <a:schemeClr val="dk1"/>
                </a:solidFill>
                <a:latin typeface="Arial"/>
                <a:ea typeface="Arial"/>
                <a:cs typeface="Arial"/>
                <a:sym typeface="Arial"/>
              </a:rPr>
              <a:t>and </a:t>
            </a:r>
            <a:r>
              <a:rPr b="0" lang="en-US" sz="2100">
                <a:solidFill>
                  <a:schemeClr val="dk1"/>
                </a:solidFill>
                <a:latin typeface="Arial"/>
                <a:ea typeface="Arial"/>
                <a:cs typeface="Arial"/>
                <a:sym typeface="Arial"/>
              </a:rPr>
              <a:t>a fixed element.</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Change in total but  not proportionately with changes in activity level.</a:t>
            </a:r>
            <a:endParaRPr/>
          </a:p>
        </p:txBody>
      </p:sp>
      <p:cxnSp>
        <p:nvCxnSpPr>
          <p:cNvPr id="250" name="Google Shape;250;p1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51" name="Google Shape;251;p19"/>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Mixed Costs</a:t>
            </a:r>
            <a:endParaRPr/>
          </a:p>
        </p:txBody>
      </p:sp>
      <p:sp>
        <p:nvSpPr>
          <p:cNvPr id="252" name="Google Shape;252;p19"/>
          <p:cNvSpPr/>
          <p:nvPr/>
        </p:nvSpPr>
        <p:spPr>
          <a:xfrm>
            <a:off x="6858000" y="3424535"/>
            <a:ext cx="186621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22-5</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Behavior of a mixed cost</a:t>
            </a:r>
            <a:endParaRPr/>
          </a:p>
        </p:txBody>
      </p:sp>
      <p:sp>
        <p:nvSpPr>
          <p:cNvPr id="253" name="Google Shape;253;p1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0"/>
          <p:cNvSpPr/>
          <p:nvPr/>
        </p:nvSpPr>
        <p:spPr>
          <a:xfrm>
            <a:off x="609600" y="1422400"/>
            <a:ext cx="8001000" cy="863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2200">
                <a:solidFill>
                  <a:schemeClr val="dk1"/>
                </a:solidFill>
                <a:latin typeface="Arial"/>
                <a:ea typeface="Arial"/>
                <a:cs typeface="Arial"/>
                <a:sym typeface="Arial"/>
              </a:rPr>
              <a:t>Helena Company, reports the following total costs at two levels of production.</a:t>
            </a:r>
            <a:endParaRPr/>
          </a:p>
        </p:txBody>
      </p:sp>
      <p:sp>
        <p:nvSpPr>
          <p:cNvPr id="259" name="Google Shape;259;p20"/>
          <p:cNvSpPr txBox="1"/>
          <p:nvPr/>
        </p:nvSpPr>
        <p:spPr>
          <a:xfrm>
            <a:off x="609600" y="2417763"/>
            <a:ext cx="6858000" cy="47783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2200">
                <a:solidFill>
                  <a:schemeClr val="dk1"/>
                </a:solidFill>
                <a:latin typeface="Arial"/>
                <a:ea typeface="Arial"/>
                <a:cs typeface="Arial"/>
                <a:sym typeface="Arial"/>
              </a:rPr>
              <a:t>Classify each cost as </a:t>
            </a:r>
            <a:r>
              <a:rPr b="1" lang="en-US" sz="2200">
                <a:solidFill>
                  <a:srgbClr val="800000"/>
                </a:solidFill>
                <a:latin typeface="Arial"/>
                <a:ea typeface="Arial"/>
                <a:cs typeface="Arial"/>
                <a:sym typeface="Arial"/>
              </a:rPr>
              <a:t>variable</a:t>
            </a:r>
            <a:r>
              <a:rPr lang="en-US" sz="2200">
                <a:solidFill>
                  <a:schemeClr val="dk1"/>
                </a:solidFill>
                <a:latin typeface="Arial"/>
                <a:ea typeface="Arial"/>
                <a:cs typeface="Arial"/>
                <a:sym typeface="Arial"/>
              </a:rPr>
              <a:t>, </a:t>
            </a:r>
            <a:r>
              <a:rPr b="1" lang="en-US" sz="2200">
                <a:solidFill>
                  <a:srgbClr val="006600"/>
                </a:solidFill>
                <a:latin typeface="Arial"/>
                <a:ea typeface="Arial"/>
                <a:cs typeface="Arial"/>
                <a:sym typeface="Arial"/>
              </a:rPr>
              <a:t>fixed</a:t>
            </a:r>
            <a:r>
              <a:rPr lang="en-US" sz="2200">
                <a:solidFill>
                  <a:schemeClr val="dk1"/>
                </a:solidFill>
                <a:latin typeface="Arial"/>
                <a:ea typeface="Arial"/>
                <a:cs typeface="Arial"/>
                <a:sym typeface="Arial"/>
              </a:rPr>
              <a:t>, or </a:t>
            </a:r>
            <a:r>
              <a:rPr b="1" lang="en-US" sz="2200">
                <a:solidFill>
                  <a:srgbClr val="000099"/>
                </a:solidFill>
                <a:latin typeface="Arial"/>
                <a:ea typeface="Arial"/>
                <a:cs typeface="Arial"/>
                <a:sym typeface="Arial"/>
              </a:rPr>
              <a:t>mixed</a:t>
            </a:r>
            <a:r>
              <a:rPr lang="en-US" sz="2200">
                <a:solidFill>
                  <a:schemeClr val="dk1"/>
                </a:solidFill>
                <a:latin typeface="Arial"/>
                <a:ea typeface="Arial"/>
                <a:cs typeface="Arial"/>
                <a:sym typeface="Arial"/>
              </a:rPr>
              <a:t>.</a:t>
            </a:r>
            <a:endParaRPr/>
          </a:p>
        </p:txBody>
      </p:sp>
      <p:pic>
        <p:nvPicPr>
          <p:cNvPr id="260" name="Google Shape;260;p20"/>
          <p:cNvPicPr preferRelativeResize="0"/>
          <p:nvPr/>
        </p:nvPicPr>
        <p:blipFill rotWithShape="1">
          <a:blip r:embed="rId3">
            <a:alphaModFix/>
          </a:blip>
          <a:srcRect b="0" l="0" r="0" t="0"/>
          <a:stretch/>
        </p:blipFill>
        <p:spPr>
          <a:xfrm>
            <a:off x="2547938" y="3316288"/>
            <a:ext cx="6215062" cy="2322512"/>
          </a:xfrm>
          <a:prstGeom prst="rect">
            <a:avLst/>
          </a:prstGeom>
          <a:noFill/>
          <a:ln cap="sq" cmpd="sng" w="19050">
            <a:solidFill>
              <a:srgbClr val="800000"/>
            </a:solidFill>
            <a:prstDash val="solid"/>
            <a:miter lim="800000"/>
            <a:headEnd len="sm" w="sm" type="none"/>
            <a:tailEnd len="sm" w="sm" type="none"/>
          </a:ln>
        </p:spPr>
      </p:pic>
      <p:sp>
        <p:nvSpPr>
          <p:cNvPr id="261" name="Google Shape;261;p20"/>
          <p:cNvSpPr txBox="1"/>
          <p:nvPr/>
        </p:nvSpPr>
        <p:spPr>
          <a:xfrm>
            <a:off x="457200" y="3741738"/>
            <a:ext cx="1371600" cy="153118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200">
                <a:solidFill>
                  <a:srgbClr val="800000"/>
                </a:solidFill>
                <a:latin typeface="Arial"/>
                <a:ea typeface="Arial"/>
                <a:cs typeface="Arial"/>
                <a:sym typeface="Arial"/>
              </a:rPr>
              <a:t>Variable</a:t>
            </a:r>
            <a:endParaRPr/>
          </a:p>
          <a:p>
            <a:pPr indent="0" lvl="0" marL="0" marR="0" rtl="0" algn="l">
              <a:lnSpc>
                <a:spcPct val="115000"/>
              </a:lnSpc>
              <a:spcBef>
                <a:spcPts val="880"/>
              </a:spcBef>
              <a:spcAft>
                <a:spcPts val="0"/>
              </a:spcAft>
              <a:buNone/>
            </a:pPr>
            <a:r>
              <a:rPr b="1" lang="en-US" sz="2200">
                <a:solidFill>
                  <a:srgbClr val="006600"/>
                </a:solidFill>
                <a:latin typeface="Arial"/>
                <a:ea typeface="Arial"/>
                <a:cs typeface="Arial"/>
                <a:sym typeface="Arial"/>
              </a:rPr>
              <a:t>Fixed</a:t>
            </a:r>
            <a:endParaRPr/>
          </a:p>
          <a:p>
            <a:pPr indent="0" lvl="0" marL="0" marR="0" rtl="0" algn="l">
              <a:lnSpc>
                <a:spcPct val="115000"/>
              </a:lnSpc>
              <a:spcBef>
                <a:spcPts val="880"/>
              </a:spcBef>
              <a:spcAft>
                <a:spcPts val="0"/>
              </a:spcAft>
              <a:buNone/>
            </a:pPr>
            <a:r>
              <a:rPr b="1" lang="en-US" sz="2200">
                <a:solidFill>
                  <a:srgbClr val="000099"/>
                </a:solidFill>
                <a:latin typeface="Arial"/>
                <a:ea typeface="Arial"/>
                <a:cs typeface="Arial"/>
                <a:sym typeface="Arial"/>
              </a:rPr>
              <a:t>Mixed</a:t>
            </a:r>
            <a:endParaRPr/>
          </a:p>
        </p:txBody>
      </p:sp>
      <p:cxnSp>
        <p:nvCxnSpPr>
          <p:cNvPr id="262" name="Google Shape;262;p20"/>
          <p:cNvCxnSpPr/>
          <p:nvPr/>
        </p:nvCxnSpPr>
        <p:spPr>
          <a:xfrm flipH="1" rot="10800000">
            <a:off x="1676400" y="3886200"/>
            <a:ext cx="990600" cy="152400"/>
          </a:xfrm>
          <a:prstGeom prst="straightConnector1">
            <a:avLst/>
          </a:prstGeom>
          <a:noFill/>
          <a:ln cap="sq" cmpd="sng" w="19050">
            <a:solidFill>
              <a:srgbClr val="800000"/>
            </a:solidFill>
            <a:prstDash val="solid"/>
            <a:round/>
            <a:headEnd len="sm" w="sm" type="none"/>
            <a:tailEnd len="sm" w="sm" type="triangle"/>
          </a:ln>
        </p:spPr>
      </p:cxnSp>
      <p:cxnSp>
        <p:nvCxnSpPr>
          <p:cNvPr id="263" name="Google Shape;263;p20"/>
          <p:cNvCxnSpPr/>
          <p:nvPr/>
        </p:nvCxnSpPr>
        <p:spPr>
          <a:xfrm>
            <a:off x="1676400" y="4038600"/>
            <a:ext cx="990600" cy="304800"/>
          </a:xfrm>
          <a:prstGeom prst="straightConnector1">
            <a:avLst/>
          </a:prstGeom>
          <a:noFill/>
          <a:ln cap="sq" cmpd="sng" w="19050">
            <a:solidFill>
              <a:srgbClr val="800000"/>
            </a:solidFill>
            <a:prstDash val="solid"/>
            <a:round/>
            <a:headEnd len="sm" w="sm" type="none"/>
            <a:tailEnd len="sm" w="sm" type="triangle"/>
          </a:ln>
        </p:spPr>
      </p:cxnSp>
      <p:cxnSp>
        <p:nvCxnSpPr>
          <p:cNvPr id="264" name="Google Shape;264;p20"/>
          <p:cNvCxnSpPr/>
          <p:nvPr/>
        </p:nvCxnSpPr>
        <p:spPr>
          <a:xfrm>
            <a:off x="1676400" y="4038600"/>
            <a:ext cx="990600" cy="609600"/>
          </a:xfrm>
          <a:prstGeom prst="straightConnector1">
            <a:avLst/>
          </a:prstGeom>
          <a:noFill/>
          <a:ln cap="sq" cmpd="sng" w="19050">
            <a:solidFill>
              <a:srgbClr val="800000"/>
            </a:solidFill>
            <a:prstDash val="solid"/>
            <a:round/>
            <a:headEnd len="sm" w="sm" type="none"/>
            <a:tailEnd len="sm" w="sm" type="triangle"/>
          </a:ln>
        </p:spPr>
      </p:cxnSp>
      <p:cxnSp>
        <p:nvCxnSpPr>
          <p:cNvPr id="265" name="Google Shape;265;p20"/>
          <p:cNvCxnSpPr/>
          <p:nvPr/>
        </p:nvCxnSpPr>
        <p:spPr>
          <a:xfrm>
            <a:off x="1371600" y="4495800"/>
            <a:ext cx="1295400" cy="381000"/>
          </a:xfrm>
          <a:prstGeom prst="straightConnector1">
            <a:avLst/>
          </a:prstGeom>
          <a:noFill/>
          <a:ln cap="sq" cmpd="sng" w="19050">
            <a:solidFill>
              <a:srgbClr val="006600"/>
            </a:solidFill>
            <a:prstDash val="solid"/>
            <a:round/>
            <a:headEnd len="sm" w="sm" type="none"/>
            <a:tailEnd len="sm" w="sm" type="triangle"/>
          </a:ln>
        </p:spPr>
      </p:cxnSp>
      <p:cxnSp>
        <p:nvCxnSpPr>
          <p:cNvPr id="266" name="Google Shape;266;p20"/>
          <p:cNvCxnSpPr/>
          <p:nvPr/>
        </p:nvCxnSpPr>
        <p:spPr>
          <a:xfrm>
            <a:off x="1371600" y="4495800"/>
            <a:ext cx="1295400" cy="914400"/>
          </a:xfrm>
          <a:prstGeom prst="straightConnector1">
            <a:avLst/>
          </a:prstGeom>
          <a:noFill/>
          <a:ln cap="sq" cmpd="sng" w="19050">
            <a:solidFill>
              <a:srgbClr val="006600"/>
            </a:solidFill>
            <a:prstDash val="solid"/>
            <a:round/>
            <a:headEnd len="sm" w="sm" type="none"/>
            <a:tailEnd len="sm" w="sm" type="triangle"/>
          </a:ln>
        </p:spPr>
      </p:cxnSp>
      <p:cxnSp>
        <p:nvCxnSpPr>
          <p:cNvPr id="267" name="Google Shape;267;p20"/>
          <p:cNvCxnSpPr/>
          <p:nvPr/>
        </p:nvCxnSpPr>
        <p:spPr>
          <a:xfrm flipH="1" rot="10800000">
            <a:off x="1447800" y="4114800"/>
            <a:ext cx="1219200" cy="914400"/>
          </a:xfrm>
          <a:prstGeom prst="straightConnector1">
            <a:avLst/>
          </a:prstGeom>
          <a:noFill/>
          <a:ln cap="sq" cmpd="sng" w="19050">
            <a:solidFill>
              <a:srgbClr val="000099"/>
            </a:solidFill>
            <a:prstDash val="solid"/>
            <a:round/>
            <a:headEnd len="sm" w="sm" type="none"/>
            <a:tailEnd len="sm" w="sm" type="triangle"/>
          </a:ln>
        </p:spPr>
      </p:cxnSp>
      <p:cxnSp>
        <p:nvCxnSpPr>
          <p:cNvPr id="268" name="Google Shape;268;p20"/>
          <p:cNvCxnSpPr/>
          <p:nvPr/>
        </p:nvCxnSpPr>
        <p:spPr>
          <a:xfrm>
            <a:off x="1447800" y="5029200"/>
            <a:ext cx="1219200" cy="152400"/>
          </a:xfrm>
          <a:prstGeom prst="straightConnector1">
            <a:avLst/>
          </a:prstGeom>
          <a:noFill/>
          <a:ln cap="sq" cmpd="sng" w="19050">
            <a:solidFill>
              <a:srgbClr val="000099"/>
            </a:solidFill>
            <a:prstDash val="solid"/>
            <a:round/>
            <a:headEnd len="sm" w="sm" type="none"/>
            <a:tailEnd len="sm" w="sm" type="triangle"/>
          </a:ln>
        </p:spPr>
      </p:cxnSp>
      <p:sp>
        <p:nvSpPr>
          <p:cNvPr id="269" name="Google Shape;269;p2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1</a:t>
            </a:r>
            <a:endParaRPr b="1" i="1" sz="1600">
              <a:solidFill>
                <a:schemeClr val="dk1"/>
              </a:solidFill>
              <a:latin typeface="Arial"/>
              <a:ea typeface="Arial"/>
              <a:cs typeface="Arial"/>
              <a:sym typeface="Arial"/>
            </a:endParaRPr>
          </a:p>
        </p:txBody>
      </p:sp>
      <p:sp>
        <p:nvSpPr>
          <p:cNvPr id="270" name="Google Shape;270;p20"/>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271" name="Google Shape;271;p20"/>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Type of Costs</a:t>
            </a:r>
            <a:endParaRPr b="1" i="0" sz="3200">
              <a:solidFill>
                <a:schemeClr val="lt1"/>
              </a:solidFill>
              <a:latin typeface="Arial"/>
              <a:ea typeface="Arial"/>
              <a:cs typeface="Arial"/>
              <a:sym typeface="Arial"/>
            </a:endParaRPr>
          </a:p>
        </p:txBody>
      </p:sp>
      <p:sp>
        <p:nvSpPr>
          <p:cNvPr id="272" name="Google Shape;272;p20"/>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1</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1"/>
          <p:cNvSpPr txBox="1"/>
          <p:nvPr/>
        </p:nvSpPr>
        <p:spPr>
          <a:xfrm>
            <a:off x="533400" y="14478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High-Low Method</a:t>
            </a:r>
            <a:endParaRPr/>
          </a:p>
        </p:txBody>
      </p:sp>
      <p:sp>
        <p:nvSpPr>
          <p:cNvPr id="278" name="Google Shape;278;p21"/>
          <p:cNvSpPr/>
          <p:nvPr/>
        </p:nvSpPr>
        <p:spPr>
          <a:xfrm>
            <a:off x="533400" y="2057400"/>
            <a:ext cx="7924800" cy="4038600"/>
          </a:xfrm>
          <a:prstGeom prst="rect">
            <a:avLst/>
          </a:prstGeom>
          <a:noFill/>
          <a:ln>
            <a:noFill/>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High-Low Method uses the total costs incurred at the high and the low levels of activity to classify mixed costs into fixed and variable components.</a:t>
            </a:r>
            <a:endParaRPr/>
          </a:p>
          <a:p>
            <a:pPr indent="-457200" lvl="1" marL="685800" marR="0" rtl="0" algn="l">
              <a:lnSpc>
                <a:spcPct val="120000"/>
              </a:lnSpc>
              <a:spcBef>
                <a:spcPts val="126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The difference in costs between the high and low levels represents variable costs, since only variable-cost element can change as activity levels change.</a:t>
            </a:r>
            <a:endParaRPr/>
          </a:p>
        </p:txBody>
      </p:sp>
      <p:sp>
        <p:nvSpPr>
          <p:cNvPr id="279" name="Google Shape;279;p21"/>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280" name="Google Shape;280;p21"/>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000">
                <a:solidFill>
                  <a:schemeClr val="lt1"/>
                </a:solidFill>
                <a:latin typeface="Arial"/>
                <a:ea typeface="Arial"/>
                <a:cs typeface="Arial"/>
                <a:sym typeface="Arial"/>
              </a:rPr>
              <a:t>Apply the high-low method to determine the components of mixed costs.</a:t>
            </a:r>
            <a:endParaRPr/>
          </a:p>
        </p:txBody>
      </p:sp>
      <p:sp>
        <p:nvSpPr>
          <p:cNvPr id="281" name="Google Shape;281;p21"/>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2</a:t>
            </a:r>
            <a:endParaRPr b="1" sz="2700">
              <a:solidFill>
                <a:schemeClr val="lt1"/>
              </a:solidFill>
              <a:latin typeface="Arial"/>
              <a:ea typeface="Arial"/>
              <a:cs typeface="Arial"/>
              <a:sym typeface="Arial"/>
            </a:endParaRPr>
          </a:p>
        </p:txBody>
      </p:sp>
      <p:sp>
        <p:nvSpPr>
          <p:cNvPr id="282" name="Google Shape;282;p2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2"/>
          <p:cNvSpPr txBox="1"/>
          <p:nvPr>
            <p:ph idx="1" type="body"/>
          </p:nvPr>
        </p:nvSpPr>
        <p:spPr>
          <a:xfrm>
            <a:off x="533400" y="1295400"/>
            <a:ext cx="8258175" cy="914400"/>
          </a:xfrm>
          <a:prstGeom prst="rect">
            <a:avLst/>
          </a:prstGeom>
          <a:noFill/>
          <a:ln>
            <a:noFill/>
          </a:ln>
        </p:spPr>
        <p:txBody>
          <a:bodyPr anchorCtr="0" anchor="t" bIns="44450" lIns="90475" spcFirstLastPara="1" rIns="90475" wrap="square" tIns="44450">
            <a:noAutofit/>
          </a:bodyPr>
          <a:lstStyle/>
          <a:p>
            <a:pPr indent="0" lvl="1" marL="0" rtl="0" algn="l">
              <a:lnSpc>
                <a:spcPct val="120000"/>
              </a:lnSpc>
              <a:spcBef>
                <a:spcPts val="0"/>
              </a:spcBef>
              <a:spcAft>
                <a:spcPts val="0"/>
              </a:spcAft>
              <a:buClr>
                <a:srgbClr val="800000"/>
              </a:buClr>
              <a:buSzPts val="1760"/>
              <a:buFont typeface="Noto Sans Symbols"/>
              <a:buNone/>
            </a:pPr>
            <a:r>
              <a:rPr lang="en-US" sz="2200">
                <a:solidFill>
                  <a:schemeClr val="dk1"/>
                </a:solidFill>
                <a:latin typeface="Arial"/>
                <a:ea typeface="Arial"/>
                <a:cs typeface="Arial"/>
                <a:sym typeface="Arial"/>
              </a:rPr>
              <a:t>STEP 1</a:t>
            </a:r>
            <a:r>
              <a:rPr b="0" lang="en-US" sz="2200">
                <a:solidFill>
                  <a:schemeClr val="dk1"/>
                </a:solidFill>
                <a:latin typeface="Arial"/>
                <a:ea typeface="Arial"/>
                <a:cs typeface="Arial"/>
                <a:sym typeface="Arial"/>
              </a:rPr>
              <a:t>:  Determine </a:t>
            </a:r>
            <a:r>
              <a:rPr lang="en-US" sz="2200">
                <a:solidFill>
                  <a:schemeClr val="dk1"/>
                </a:solidFill>
                <a:latin typeface="Arial"/>
                <a:ea typeface="Arial"/>
                <a:cs typeface="Arial"/>
                <a:sym typeface="Arial"/>
              </a:rPr>
              <a:t>variable cost per unit</a:t>
            </a:r>
            <a:r>
              <a:rPr b="0" lang="en-US" sz="2200">
                <a:solidFill>
                  <a:schemeClr val="dk1"/>
                </a:solidFill>
                <a:latin typeface="Arial"/>
                <a:ea typeface="Arial"/>
                <a:cs typeface="Arial"/>
                <a:sym typeface="Arial"/>
              </a:rPr>
              <a:t> using </a:t>
            </a:r>
            <a:r>
              <a:rPr b="0" lang="en-US" sz="2200">
                <a:latin typeface="Arial"/>
                <a:ea typeface="Arial"/>
                <a:cs typeface="Arial"/>
                <a:sym typeface="Arial"/>
              </a:rPr>
              <a:t>the  following formula:</a:t>
            </a:r>
            <a:endParaRPr/>
          </a:p>
        </p:txBody>
      </p:sp>
      <p:cxnSp>
        <p:nvCxnSpPr>
          <p:cNvPr id="288" name="Google Shape;288;p2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289" name="Google Shape;289;p22"/>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pic>
        <p:nvPicPr>
          <p:cNvPr id="290" name="Google Shape;290;p22"/>
          <p:cNvPicPr preferRelativeResize="0"/>
          <p:nvPr/>
        </p:nvPicPr>
        <p:blipFill rotWithShape="1">
          <a:blip r:embed="rId3">
            <a:alphaModFix/>
          </a:blip>
          <a:srcRect b="0" l="0" r="0" t="0"/>
          <a:stretch/>
        </p:blipFill>
        <p:spPr>
          <a:xfrm>
            <a:off x="304800" y="2514600"/>
            <a:ext cx="8534400" cy="1203350"/>
          </a:xfrm>
          <a:prstGeom prst="rect">
            <a:avLst/>
          </a:prstGeom>
          <a:noFill/>
          <a:ln>
            <a:noFill/>
          </a:ln>
        </p:spPr>
      </p:pic>
      <p:sp>
        <p:nvSpPr>
          <p:cNvPr id="291" name="Google Shape;291;p22"/>
          <p:cNvSpPr/>
          <p:nvPr/>
        </p:nvSpPr>
        <p:spPr>
          <a:xfrm>
            <a:off x="228600" y="3697069"/>
            <a:ext cx="21387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variable cost per</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unit using high-low method</a:t>
            </a:r>
            <a:endParaRPr/>
          </a:p>
        </p:txBody>
      </p:sp>
      <p:sp>
        <p:nvSpPr>
          <p:cNvPr id="292" name="Google Shape;292;p2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23"/>
          <p:cNvPicPr preferRelativeResize="0"/>
          <p:nvPr/>
        </p:nvPicPr>
        <p:blipFill rotWithShape="1">
          <a:blip r:embed="rId3">
            <a:alphaModFix/>
          </a:blip>
          <a:srcRect b="0" l="0" r="0" t="0"/>
          <a:stretch/>
        </p:blipFill>
        <p:spPr>
          <a:xfrm>
            <a:off x="304800" y="2776182"/>
            <a:ext cx="8534400" cy="1719618"/>
          </a:xfrm>
          <a:prstGeom prst="rect">
            <a:avLst/>
          </a:prstGeom>
          <a:noFill/>
          <a:ln cap="flat" cmpd="sng" w="9525">
            <a:solidFill>
              <a:schemeClr val="dk1"/>
            </a:solidFill>
            <a:prstDash val="solid"/>
            <a:miter lim="800000"/>
            <a:headEnd len="sm" w="sm" type="none"/>
            <a:tailEnd len="sm" w="sm" type="none"/>
          </a:ln>
        </p:spPr>
      </p:pic>
      <p:sp>
        <p:nvSpPr>
          <p:cNvPr id="298" name="Google Shape;298;p23"/>
          <p:cNvSpPr txBox="1"/>
          <p:nvPr>
            <p:ph idx="1" type="body"/>
          </p:nvPr>
        </p:nvSpPr>
        <p:spPr>
          <a:xfrm>
            <a:off x="533400" y="1295400"/>
            <a:ext cx="6172200" cy="1207254"/>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2100"/>
              <a:buFont typeface="Arial"/>
              <a:buNone/>
            </a:pPr>
            <a:r>
              <a:rPr lang="en-US" sz="2100">
                <a:solidFill>
                  <a:schemeClr val="dk1"/>
                </a:solidFill>
                <a:latin typeface="Arial"/>
                <a:ea typeface="Arial"/>
                <a:cs typeface="Arial"/>
                <a:sym typeface="Arial"/>
              </a:rPr>
              <a:t>Illustration:</a:t>
            </a:r>
            <a:r>
              <a:rPr b="0" lang="en-US" sz="2100">
                <a:solidFill>
                  <a:schemeClr val="dk1"/>
                </a:solidFill>
                <a:latin typeface="Arial"/>
                <a:ea typeface="Arial"/>
                <a:cs typeface="Arial"/>
                <a:sym typeface="Arial"/>
              </a:rPr>
              <a:t>  Metro Transit Company has the following maintenance costs and mileage data for its fleet of buses over a 6-month period.</a:t>
            </a:r>
            <a:endParaRPr/>
          </a:p>
        </p:txBody>
      </p:sp>
      <p:sp>
        <p:nvSpPr>
          <p:cNvPr id="299" name="Google Shape;299;p23"/>
          <p:cNvSpPr txBox="1"/>
          <p:nvPr/>
        </p:nvSpPr>
        <p:spPr>
          <a:xfrm>
            <a:off x="609600" y="4800600"/>
            <a:ext cx="22860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Change in Costs</a:t>
            </a:r>
            <a:endParaRPr/>
          </a:p>
        </p:txBody>
      </p:sp>
      <p:sp>
        <p:nvSpPr>
          <p:cNvPr id="300" name="Google Shape;300;p23"/>
          <p:cNvSpPr txBox="1"/>
          <p:nvPr/>
        </p:nvSpPr>
        <p:spPr>
          <a:xfrm>
            <a:off x="2895600" y="4800600"/>
            <a:ext cx="44958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(63,000 - 30,000)</a:t>
            </a:r>
            <a:r>
              <a:rPr lang="en-US" sz="2200">
                <a:solidFill>
                  <a:schemeClr val="dk1"/>
                </a:solidFill>
                <a:latin typeface="Arial"/>
                <a:ea typeface="Arial"/>
                <a:cs typeface="Arial"/>
                <a:sym typeface="Arial"/>
              </a:rPr>
              <a:t>	$33,000</a:t>
            </a:r>
            <a:endParaRPr/>
          </a:p>
        </p:txBody>
      </p:sp>
      <p:sp>
        <p:nvSpPr>
          <p:cNvPr id="301" name="Google Shape;301;p23"/>
          <p:cNvSpPr txBox="1"/>
          <p:nvPr/>
        </p:nvSpPr>
        <p:spPr>
          <a:xfrm>
            <a:off x="609600" y="5257800"/>
            <a:ext cx="23622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High minus Low</a:t>
            </a:r>
            <a:endParaRPr/>
          </a:p>
        </p:txBody>
      </p:sp>
      <p:sp>
        <p:nvSpPr>
          <p:cNvPr id="302" name="Google Shape;302;p23"/>
          <p:cNvSpPr txBox="1"/>
          <p:nvPr/>
        </p:nvSpPr>
        <p:spPr>
          <a:xfrm>
            <a:off x="2895600" y="5257800"/>
            <a:ext cx="44958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(50,000 - 20,000)</a:t>
            </a:r>
            <a:r>
              <a:rPr lang="en-US" sz="2200">
                <a:solidFill>
                  <a:schemeClr val="dk1"/>
                </a:solidFill>
                <a:latin typeface="Arial"/>
                <a:ea typeface="Arial"/>
                <a:cs typeface="Arial"/>
                <a:sym typeface="Arial"/>
              </a:rPr>
              <a:t>  	30,000</a:t>
            </a:r>
            <a:endParaRPr/>
          </a:p>
        </p:txBody>
      </p:sp>
      <p:cxnSp>
        <p:nvCxnSpPr>
          <p:cNvPr id="303" name="Google Shape;303;p23"/>
          <p:cNvCxnSpPr/>
          <p:nvPr/>
        </p:nvCxnSpPr>
        <p:spPr>
          <a:xfrm>
            <a:off x="5181600" y="5257800"/>
            <a:ext cx="1295400" cy="0"/>
          </a:xfrm>
          <a:prstGeom prst="straightConnector1">
            <a:avLst/>
          </a:prstGeom>
          <a:noFill/>
          <a:ln cap="sq" cmpd="sng" w="19050">
            <a:solidFill>
              <a:schemeClr val="dk1"/>
            </a:solidFill>
            <a:prstDash val="solid"/>
            <a:round/>
            <a:headEnd len="sm" w="sm" type="none"/>
            <a:tailEnd len="sm" w="sm" type="none"/>
          </a:ln>
        </p:spPr>
      </p:cxnSp>
      <p:sp>
        <p:nvSpPr>
          <p:cNvPr id="304" name="Google Shape;304;p23"/>
          <p:cNvSpPr txBox="1"/>
          <p:nvPr/>
        </p:nvSpPr>
        <p:spPr>
          <a:xfrm>
            <a:off x="6705600" y="5015552"/>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t>
            </a:r>
            <a:endParaRPr/>
          </a:p>
        </p:txBody>
      </p:sp>
      <p:sp>
        <p:nvSpPr>
          <p:cNvPr id="305" name="Google Shape;305;p23"/>
          <p:cNvSpPr txBox="1"/>
          <p:nvPr/>
        </p:nvSpPr>
        <p:spPr>
          <a:xfrm>
            <a:off x="7162800" y="5040576"/>
            <a:ext cx="9144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800000"/>
                </a:solidFill>
                <a:latin typeface="Arial"/>
                <a:ea typeface="Arial"/>
                <a:cs typeface="Arial"/>
                <a:sym typeface="Arial"/>
              </a:rPr>
              <a:t>$1.10</a:t>
            </a:r>
            <a:endParaRPr/>
          </a:p>
        </p:txBody>
      </p:sp>
      <p:sp>
        <p:nvSpPr>
          <p:cNvPr id="306" name="Google Shape;306;p23"/>
          <p:cNvSpPr txBox="1"/>
          <p:nvPr/>
        </p:nvSpPr>
        <p:spPr>
          <a:xfrm>
            <a:off x="7086600" y="5389826"/>
            <a:ext cx="1066800" cy="641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cost per unit</a:t>
            </a:r>
            <a:endParaRPr/>
          </a:p>
        </p:txBody>
      </p:sp>
      <p:cxnSp>
        <p:nvCxnSpPr>
          <p:cNvPr id="307" name="Google Shape;307;p2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08" name="Google Shape;308;p2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sp>
        <p:nvSpPr>
          <p:cNvPr id="309" name="Google Shape;309;p23"/>
          <p:cNvSpPr/>
          <p:nvPr/>
        </p:nvSpPr>
        <p:spPr>
          <a:xfrm>
            <a:off x="7155671" y="2057400"/>
            <a:ext cx="192123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22-7</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Assumed maintenance costs and mileage data</a:t>
            </a:r>
            <a:endParaRPr/>
          </a:p>
        </p:txBody>
      </p:sp>
      <p:sp>
        <p:nvSpPr>
          <p:cNvPr id="310" name="Google Shape;310;p2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24"/>
          <p:cNvPicPr preferRelativeResize="0"/>
          <p:nvPr/>
        </p:nvPicPr>
        <p:blipFill rotWithShape="1">
          <a:blip r:embed="rId3">
            <a:alphaModFix/>
          </a:blip>
          <a:srcRect b="0" l="0" r="0" t="0"/>
          <a:stretch/>
        </p:blipFill>
        <p:spPr>
          <a:xfrm>
            <a:off x="304801" y="2727661"/>
            <a:ext cx="8534400" cy="3520739"/>
          </a:xfrm>
          <a:prstGeom prst="rect">
            <a:avLst/>
          </a:prstGeom>
          <a:noFill/>
          <a:ln cap="sq" cmpd="sng" w="19050">
            <a:solidFill>
              <a:schemeClr val="dk1"/>
            </a:solidFill>
            <a:prstDash val="solid"/>
            <a:miter lim="800000"/>
            <a:headEnd len="sm" w="sm" type="none"/>
            <a:tailEnd len="sm" w="sm" type="none"/>
          </a:ln>
        </p:spPr>
      </p:pic>
      <p:sp>
        <p:nvSpPr>
          <p:cNvPr id="316" name="Google Shape;316;p24"/>
          <p:cNvSpPr/>
          <p:nvPr/>
        </p:nvSpPr>
        <p:spPr>
          <a:xfrm>
            <a:off x="533400" y="1295400"/>
            <a:ext cx="6248400" cy="1219200"/>
          </a:xfrm>
          <a:prstGeom prst="rect">
            <a:avLst/>
          </a:prstGeom>
          <a:noFill/>
          <a:ln>
            <a:noFill/>
          </a:ln>
        </p:spPr>
        <p:txBody>
          <a:bodyPr anchorCtr="0" anchor="t" bIns="44450" lIns="90475" spcFirstLastPara="1" rIns="90475" wrap="square" tIns="44450">
            <a:noAutofit/>
          </a:bodyPr>
          <a:lstStyle/>
          <a:p>
            <a:pPr indent="0" lvl="0" marL="0" marR="0" rtl="0" algn="l">
              <a:lnSpc>
                <a:spcPct val="120000"/>
              </a:lnSpc>
              <a:spcBef>
                <a:spcPts val="0"/>
              </a:spcBef>
              <a:spcAft>
                <a:spcPts val="0"/>
              </a:spcAft>
              <a:buClr>
                <a:srgbClr val="800000"/>
              </a:buClr>
              <a:buSzPts val="1680"/>
              <a:buFont typeface="Noto Sans Symbols"/>
              <a:buNone/>
            </a:pPr>
            <a:r>
              <a:rPr b="1" lang="en-US" sz="2100">
                <a:solidFill>
                  <a:schemeClr val="dk1"/>
                </a:solidFill>
                <a:latin typeface="Arial"/>
                <a:ea typeface="Arial"/>
                <a:cs typeface="Arial"/>
                <a:sym typeface="Arial"/>
              </a:rPr>
              <a:t>STEP 2</a:t>
            </a:r>
            <a:r>
              <a:rPr lang="en-US" sz="2100">
                <a:solidFill>
                  <a:schemeClr val="dk1"/>
                </a:solidFill>
                <a:latin typeface="Arial"/>
                <a:ea typeface="Arial"/>
                <a:cs typeface="Arial"/>
                <a:sym typeface="Arial"/>
              </a:rPr>
              <a:t>:  Determine the </a:t>
            </a:r>
            <a:r>
              <a:rPr b="1" lang="en-US" sz="2100">
                <a:solidFill>
                  <a:schemeClr val="dk1"/>
                </a:solidFill>
                <a:latin typeface="Arial"/>
                <a:ea typeface="Arial"/>
                <a:cs typeface="Arial"/>
                <a:sym typeface="Arial"/>
              </a:rPr>
              <a:t>fixed cost</a:t>
            </a:r>
            <a:r>
              <a:rPr lang="en-US" sz="2100">
                <a:solidFill>
                  <a:schemeClr val="dk1"/>
                </a:solidFill>
                <a:latin typeface="Arial"/>
                <a:ea typeface="Arial"/>
                <a:cs typeface="Arial"/>
                <a:sym typeface="Arial"/>
              </a:rPr>
              <a:t> by subtracting the total variable cost at </a:t>
            </a:r>
            <a:r>
              <a:rPr b="1" lang="en-US" sz="2100">
                <a:solidFill>
                  <a:schemeClr val="dk1"/>
                </a:solidFill>
                <a:latin typeface="Arial"/>
                <a:ea typeface="Arial"/>
                <a:cs typeface="Arial"/>
                <a:sym typeface="Arial"/>
              </a:rPr>
              <a:t>either</a:t>
            </a:r>
            <a:r>
              <a:rPr lang="en-US" sz="2100">
                <a:solidFill>
                  <a:schemeClr val="dk1"/>
                </a:solidFill>
                <a:latin typeface="Arial"/>
                <a:ea typeface="Arial"/>
                <a:cs typeface="Arial"/>
                <a:sym typeface="Arial"/>
              </a:rPr>
              <a:t> the high or the low activity level from the total cost at that activity level.</a:t>
            </a:r>
            <a:endParaRPr/>
          </a:p>
        </p:txBody>
      </p:sp>
      <p:cxnSp>
        <p:nvCxnSpPr>
          <p:cNvPr id="317" name="Google Shape;317;p2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18" name="Google Shape;318;p2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sp>
        <p:nvSpPr>
          <p:cNvPr id="319" name="Google Shape;319;p24"/>
          <p:cNvSpPr/>
          <p:nvPr/>
        </p:nvSpPr>
        <p:spPr>
          <a:xfrm>
            <a:off x="7543801" y="1828800"/>
            <a:ext cx="152399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22-8</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High-low method computation of fixed costs</a:t>
            </a:r>
            <a:endParaRPr/>
          </a:p>
        </p:txBody>
      </p:sp>
      <p:sp>
        <p:nvSpPr>
          <p:cNvPr id="320" name="Google Shape;320;p2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p:nvPr/>
        </p:nvSpPr>
        <p:spPr>
          <a:xfrm>
            <a:off x="533400" y="1295400"/>
            <a:ext cx="7924800" cy="303212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lang="en-US" sz="2100">
                <a:solidFill>
                  <a:schemeClr val="dk1"/>
                </a:solidFill>
                <a:latin typeface="Arial"/>
                <a:ea typeface="Arial"/>
                <a:cs typeface="Arial"/>
                <a:sym typeface="Arial"/>
              </a:rPr>
              <a:t>Maintenance costs are therefore $8,000 per month of fixed costs plus $1.10 per mile of variable costs. </a:t>
            </a:r>
            <a:r>
              <a:rPr lang="en-US" sz="2100">
                <a:solidFill>
                  <a:schemeClr val="dk1"/>
                </a:solidFill>
                <a:latin typeface="Arial"/>
                <a:ea typeface="Arial"/>
                <a:cs typeface="Arial"/>
                <a:sym typeface="Arial"/>
              </a:rPr>
              <a:t>This is represented by the following formula:</a:t>
            </a:r>
            <a:endParaRPr/>
          </a:p>
          <a:p>
            <a:pPr indent="0" lvl="0" marL="0" marR="0" rtl="0" algn="l">
              <a:lnSpc>
                <a:spcPct val="125000"/>
              </a:lnSpc>
              <a:spcBef>
                <a:spcPts val="1260"/>
              </a:spcBef>
              <a:spcAft>
                <a:spcPts val="0"/>
              </a:spcAft>
              <a:buNone/>
            </a:pPr>
            <a:r>
              <a:rPr lang="en-US" sz="2100">
                <a:solidFill>
                  <a:schemeClr val="dk1"/>
                </a:solidFill>
                <a:latin typeface="Arial"/>
                <a:ea typeface="Arial"/>
                <a:cs typeface="Arial"/>
                <a:sym typeface="Arial"/>
              </a:rPr>
              <a:t>Maintenance costs  =  $8,000  +  ($1.10 x Miles driven)</a:t>
            </a:r>
            <a:endParaRPr/>
          </a:p>
          <a:p>
            <a:pPr indent="0" lvl="0" marL="0" marR="0" rtl="0" algn="l">
              <a:lnSpc>
                <a:spcPct val="125000"/>
              </a:lnSpc>
              <a:spcBef>
                <a:spcPts val="2100"/>
              </a:spcBef>
              <a:spcAft>
                <a:spcPts val="0"/>
              </a:spcAft>
              <a:buNone/>
            </a:pPr>
            <a:r>
              <a:rPr b="1" lang="en-US" sz="2100">
                <a:solidFill>
                  <a:srgbClr val="800000"/>
                </a:solidFill>
                <a:latin typeface="Arial"/>
                <a:ea typeface="Arial"/>
                <a:cs typeface="Arial"/>
                <a:sym typeface="Arial"/>
              </a:rPr>
              <a:t>Example: </a:t>
            </a:r>
            <a:r>
              <a:rPr lang="en-US" sz="2100">
                <a:solidFill>
                  <a:schemeClr val="dk1"/>
                </a:solidFill>
                <a:latin typeface="Arial"/>
                <a:ea typeface="Arial"/>
                <a:cs typeface="Arial"/>
                <a:sym typeface="Arial"/>
              </a:rPr>
              <a:t>At 45,000 miles, estimated maintenance costs would be: </a:t>
            </a:r>
            <a:endParaRPr/>
          </a:p>
        </p:txBody>
      </p:sp>
      <p:sp>
        <p:nvSpPr>
          <p:cNvPr id="326" name="Google Shape;326;p25"/>
          <p:cNvSpPr txBox="1"/>
          <p:nvPr/>
        </p:nvSpPr>
        <p:spPr>
          <a:xfrm>
            <a:off x="1828800" y="4113212"/>
            <a:ext cx="18288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Fixed</a:t>
            </a:r>
            <a:endParaRPr/>
          </a:p>
        </p:txBody>
      </p:sp>
      <p:sp>
        <p:nvSpPr>
          <p:cNvPr id="327" name="Google Shape;327;p25"/>
          <p:cNvSpPr txBox="1"/>
          <p:nvPr/>
        </p:nvSpPr>
        <p:spPr>
          <a:xfrm>
            <a:off x="4114800" y="4113212"/>
            <a:ext cx="32766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	$  8,000</a:t>
            </a:r>
            <a:endParaRPr/>
          </a:p>
        </p:txBody>
      </p:sp>
      <p:sp>
        <p:nvSpPr>
          <p:cNvPr id="328" name="Google Shape;328;p25"/>
          <p:cNvSpPr txBox="1"/>
          <p:nvPr/>
        </p:nvSpPr>
        <p:spPr>
          <a:xfrm>
            <a:off x="1828800" y="4570412"/>
            <a:ext cx="18288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Variable</a:t>
            </a:r>
            <a:endParaRPr/>
          </a:p>
        </p:txBody>
      </p:sp>
      <p:sp>
        <p:nvSpPr>
          <p:cNvPr id="329" name="Google Shape;329;p25"/>
          <p:cNvSpPr txBox="1"/>
          <p:nvPr/>
        </p:nvSpPr>
        <p:spPr>
          <a:xfrm>
            <a:off x="4114800" y="4570412"/>
            <a:ext cx="3276600" cy="427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($1.10 x 45,000)</a:t>
            </a:r>
            <a:r>
              <a:rPr lang="en-US" sz="2200">
                <a:solidFill>
                  <a:schemeClr val="dk1"/>
                </a:solidFill>
                <a:latin typeface="Arial"/>
                <a:ea typeface="Arial"/>
                <a:cs typeface="Arial"/>
                <a:sym typeface="Arial"/>
              </a:rPr>
              <a:t>  	49,500</a:t>
            </a:r>
            <a:endParaRPr/>
          </a:p>
        </p:txBody>
      </p:sp>
      <p:sp>
        <p:nvSpPr>
          <p:cNvPr id="330" name="Google Shape;330;p25"/>
          <p:cNvSpPr txBox="1"/>
          <p:nvPr/>
        </p:nvSpPr>
        <p:spPr>
          <a:xfrm>
            <a:off x="5943600" y="5057775"/>
            <a:ext cx="1447800" cy="4270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800000"/>
                </a:solidFill>
                <a:latin typeface="Arial"/>
                <a:ea typeface="Arial"/>
                <a:cs typeface="Arial"/>
                <a:sym typeface="Arial"/>
              </a:rPr>
              <a:t>	$57,500</a:t>
            </a:r>
            <a:endParaRPr/>
          </a:p>
        </p:txBody>
      </p:sp>
      <p:cxnSp>
        <p:nvCxnSpPr>
          <p:cNvPr id="331" name="Google Shape;331;p25"/>
          <p:cNvCxnSpPr/>
          <p:nvPr/>
        </p:nvCxnSpPr>
        <p:spPr>
          <a:xfrm>
            <a:off x="6096000" y="5027612"/>
            <a:ext cx="1295400" cy="0"/>
          </a:xfrm>
          <a:prstGeom prst="straightConnector1">
            <a:avLst/>
          </a:prstGeom>
          <a:noFill/>
          <a:ln cap="sq" cmpd="sng" w="19050">
            <a:solidFill>
              <a:schemeClr val="dk1"/>
            </a:solidFill>
            <a:prstDash val="solid"/>
            <a:round/>
            <a:headEnd len="sm" w="sm" type="none"/>
            <a:tailEnd len="sm" w="sm" type="none"/>
          </a:ln>
        </p:spPr>
      </p:cxnSp>
      <p:cxnSp>
        <p:nvCxnSpPr>
          <p:cNvPr id="332" name="Google Shape;332;p25"/>
          <p:cNvCxnSpPr/>
          <p:nvPr/>
        </p:nvCxnSpPr>
        <p:spPr>
          <a:xfrm>
            <a:off x="6096000" y="5512108"/>
            <a:ext cx="1295400" cy="0"/>
          </a:xfrm>
          <a:prstGeom prst="straightConnector1">
            <a:avLst/>
          </a:prstGeom>
          <a:noFill/>
          <a:ln cap="sq" cmpd="sng" w="19050">
            <a:solidFill>
              <a:schemeClr val="dk1"/>
            </a:solidFill>
            <a:prstDash val="solid"/>
            <a:round/>
            <a:headEnd len="sm" w="sm" type="none"/>
            <a:tailEnd len="sm" w="sm" type="none"/>
          </a:ln>
        </p:spPr>
      </p:cxnSp>
      <p:cxnSp>
        <p:nvCxnSpPr>
          <p:cNvPr id="333" name="Google Shape;333;p2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34" name="Google Shape;334;p2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sp>
        <p:nvSpPr>
          <p:cNvPr id="335" name="Google Shape;335;p2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26"/>
          <p:cNvPicPr preferRelativeResize="0"/>
          <p:nvPr/>
        </p:nvPicPr>
        <p:blipFill rotWithShape="1">
          <a:blip r:embed="rId3">
            <a:alphaModFix/>
          </a:blip>
          <a:srcRect b="0" l="0" r="0" t="0"/>
          <a:stretch/>
        </p:blipFill>
        <p:spPr>
          <a:xfrm>
            <a:off x="304801" y="1295400"/>
            <a:ext cx="8534400" cy="4868934"/>
          </a:xfrm>
          <a:prstGeom prst="rect">
            <a:avLst/>
          </a:prstGeom>
          <a:noFill/>
          <a:ln>
            <a:noFill/>
          </a:ln>
        </p:spPr>
      </p:pic>
      <p:sp>
        <p:nvSpPr>
          <p:cNvPr id="341" name="Google Shape;341;p26"/>
          <p:cNvSpPr/>
          <p:nvPr/>
        </p:nvSpPr>
        <p:spPr>
          <a:xfrm>
            <a:off x="1219200" y="5867400"/>
            <a:ext cx="1676400" cy="64611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22-9</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Scatter plot for Metro Transit Company</a:t>
            </a:r>
            <a:endParaRPr/>
          </a:p>
        </p:txBody>
      </p:sp>
      <p:cxnSp>
        <p:nvCxnSpPr>
          <p:cNvPr id="342" name="Google Shape;342;p2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43" name="Google Shape;343;p2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sp>
        <p:nvSpPr>
          <p:cNvPr id="344" name="Google Shape;344;p2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p:nvPr/>
        </p:nvSpPr>
        <p:spPr>
          <a:xfrm>
            <a:off x="533400" y="1905000"/>
            <a:ext cx="7696200" cy="3200400"/>
          </a:xfrm>
          <a:prstGeom prst="rect">
            <a:avLst/>
          </a:prstGeom>
          <a:solidFill>
            <a:schemeClr val="lt1"/>
          </a:solidFill>
          <a:ln>
            <a:noFill/>
          </a:ln>
        </p:spPr>
        <p:txBody>
          <a:bodyPr anchorCtr="0" anchor="t" bIns="46025" lIns="91425" spcFirstLastPara="1" rIns="182550" wrap="square" tIns="46025">
            <a:noAutofit/>
          </a:bodyPr>
          <a:lstStyle/>
          <a:p>
            <a:pPr indent="-517525" lvl="0" marL="517525" marR="0" rtl="0" algn="l">
              <a:lnSpc>
                <a:spcPct val="120000"/>
              </a:lnSpc>
              <a:spcBef>
                <a:spcPts val="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Mixed costs consist of a:</a:t>
            </a:r>
            <a:endParaRPr/>
          </a:p>
          <a:p>
            <a:pPr indent="-457200" lvl="0" marL="688975"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Variable cost element and a fixed cost element.</a:t>
            </a:r>
            <a:endParaRPr/>
          </a:p>
          <a:p>
            <a:pPr indent="-457200" lvl="0" marL="688975"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Fixed cost element and a controllable cost element. </a:t>
            </a:r>
            <a:endParaRPr/>
          </a:p>
          <a:p>
            <a:pPr indent="-457200" lvl="0" marL="688975"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Relevant cost element and a controllable cost element.</a:t>
            </a:r>
            <a:endParaRPr/>
          </a:p>
          <a:p>
            <a:pPr indent="-457200" lvl="0" marL="688975"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Variable cost element and a relevant cost element. </a:t>
            </a:r>
            <a:endParaRPr/>
          </a:p>
        </p:txBody>
      </p:sp>
      <p:cxnSp>
        <p:nvCxnSpPr>
          <p:cNvPr id="350" name="Google Shape;350;p2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351" name="Google Shape;351;p27"/>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sp>
        <p:nvSpPr>
          <p:cNvPr id="352" name="Google Shape;352;p27"/>
          <p:cNvSpPr/>
          <p:nvPr/>
        </p:nvSpPr>
        <p:spPr>
          <a:xfrm>
            <a:off x="152400" y="2542168"/>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53" name="Google Shape;353;p27"/>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High-Low Method</a:t>
            </a:r>
            <a:endParaRPr/>
          </a:p>
        </p:txBody>
      </p:sp>
      <p:sp>
        <p:nvSpPr>
          <p:cNvPr id="354" name="Google Shape;354;p2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8"/>
          <p:cNvSpPr/>
          <p:nvPr/>
        </p:nvSpPr>
        <p:spPr>
          <a:xfrm>
            <a:off x="4648200" y="533400"/>
            <a:ext cx="4191000" cy="576620"/>
          </a:xfrm>
          <a:prstGeom prst="rect">
            <a:avLst/>
          </a:prstGeom>
          <a:solidFill>
            <a:srgbClr val="BFBFBF"/>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2400">
                <a:solidFill>
                  <a:schemeClr val="dk1"/>
                </a:solidFill>
                <a:latin typeface="Arial"/>
                <a:ea typeface="Arial"/>
                <a:cs typeface="Arial"/>
                <a:sym typeface="Arial"/>
              </a:rPr>
              <a:t>Temper Sealy International</a:t>
            </a:r>
            <a:endParaRPr b="1" sz="2400">
              <a:solidFill>
                <a:schemeClr val="dk1"/>
              </a:solidFill>
              <a:latin typeface="Arial"/>
              <a:ea typeface="Arial"/>
              <a:cs typeface="Arial"/>
              <a:sym typeface="Arial"/>
            </a:endParaRPr>
          </a:p>
        </p:txBody>
      </p:sp>
      <p:sp>
        <p:nvSpPr>
          <p:cNvPr id="360" name="Google Shape;360;p28"/>
          <p:cNvSpPr/>
          <p:nvPr/>
        </p:nvSpPr>
        <p:spPr>
          <a:xfrm>
            <a:off x="381000" y="1363242"/>
            <a:ext cx="8305800" cy="5229364"/>
          </a:xfrm>
          <a:prstGeom prst="rect">
            <a:avLst/>
          </a:prstGeom>
          <a:noFill/>
          <a:ln>
            <a:noFill/>
          </a:ln>
        </p:spPr>
        <p:txBody>
          <a:bodyPr anchorCtr="0" anchor="t" bIns="91425" lIns="91425" spcFirstLastPara="1" rIns="91425" wrap="square" tIns="91425">
            <a:spAutoFit/>
          </a:bodyPr>
          <a:lstStyle/>
          <a:p>
            <a:pPr indent="0" lvl="0" marL="0" marR="0" rtl="0" algn="just">
              <a:lnSpc>
                <a:spcPct val="105000"/>
              </a:lnSpc>
              <a:spcBef>
                <a:spcPts val="0"/>
              </a:spcBef>
              <a:spcAft>
                <a:spcPts val="0"/>
              </a:spcAft>
              <a:buNone/>
            </a:pPr>
            <a:r>
              <a:rPr b="1" lang="en-US" sz="1900">
                <a:solidFill>
                  <a:schemeClr val="dk1"/>
                </a:solidFill>
                <a:latin typeface="Arial"/>
                <a:ea typeface="Arial"/>
                <a:cs typeface="Arial"/>
                <a:sym typeface="Arial"/>
              </a:rPr>
              <a:t>Skilled Labor Is Truly Essential</a:t>
            </a:r>
            <a:endParaRPr b="1" sz="19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1900">
                <a:solidFill>
                  <a:schemeClr val="dk1"/>
                </a:solidFill>
                <a:latin typeface="Arial"/>
                <a:ea typeface="Arial"/>
                <a:cs typeface="Arial"/>
                <a:sym typeface="Arial"/>
              </a:rPr>
              <a:t>The recent recession had devastating implications for employment. But one surprise was that for some manufacturers, the number  of jobs lost was actually lower than in previous recessions. One of the main explanations for this was that in the years preceding the recession, many companies, such as Tempur Sealy International, adopted lean manufacturing practices. This meant that production relied less on large numbers of low-skilled workers and more on machines and a few highly skilled workers. As a result of this approach, a single employee supports far more dollars in sales. Thus, it requires a larger decline in sales before an employee would need to be laid-off in order for the company to continue to break even. Also, because the employees are highly skilled, employers are reluctant to lose them. Instead of lay-offs, many manufacturers now resort to cutting employees’ hours when necessary. </a:t>
            </a:r>
            <a:endParaRPr sz="17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1700">
                <a:solidFill>
                  <a:schemeClr val="dk1"/>
                </a:solidFill>
                <a:latin typeface="Arial"/>
                <a:ea typeface="Arial"/>
                <a:cs typeface="Arial"/>
                <a:sym typeface="Arial"/>
              </a:rPr>
              <a:t>Source: Timothy Aeppel and Justin Lahart, “Lean Factories Find It Hard to Cut Jobs Even in a Slump,” Wall Street Journal Online (March 9, 2009).</a:t>
            </a:r>
            <a:endParaRPr/>
          </a:p>
        </p:txBody>
      </p:sp>
      <p:sp>
        <p:nvSpPr>
          <p:cNvPr id="361" name="Google Shape;361;p28"/>
          <p:cNvSpPr/>
          <p:nvPr/>
        </p:nvSpPr>
        <p:spPr>
          <a:xfrm>
            <a:off x="365760" y="457200"/>
            <a:ext cx="4282440" cy="729020"/>
          </a:xfrm>
          <a:prstGeom prst="rect">
            <a:avLst/>
          </a:prstGeom>
          <a:solidFill>
            <a:srgbClr val="CC0000"/>
          </a:solidFill>
          <a:ln cap="sq" cmpd="sng" w="12700">
            <a:solidFill>
              <a:srgbClr val="339966"/>
            </a:solidFill>
            <a:prstDash val="solid"/>
            <a:round/>
            <a:headEnd len="sm" w="sm" type="none"/>
            <a:tailEnd len="sm" w="sm" type="none"/>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3200">
                <a:solidFill>
                  <a:schemeClr val="accent3"/>
                </a:solidFill>
                <a:latin typeface="Arial"/>
                <a:ea typeface="Arial"/>
                <a:cs typeface="Arial"/>
                <a:sym typeface="Arial"/>
              </a:rPr>
              <a:t>Management Insight</a:t>
            </a:r>
            <a:endParaRPr/>
          </a:p>
        </p:txBody>
      </p:sp>
      <p:sp>
        <p:nvSpPr>
          <p:cNvPr id="362" name="Google Shape;362;p2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p:nvPr/>
        </p:nvSpPr>
        <p:spPr>
          <a:xfrm>
            <a:off x="609600" y="1349375"/>
            <a:ext cx="8001000" cy="7969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000">
                <a:solidFill>
                  <a:schemeClr val="dk1"/>
                </a:solidFill>
                <a:latin typeface="Arial"/>
                <a:ea typeface="Arial"/>
                <a:cs typeface="Arial"/>
                <a:sym typeface="Arial"/>
              </a:rPr>
              <a:t>Byrnes Company accumulates the following data concerning a mixed cost, using units produced as the activity level.</a:t>
            </a:r>
            <a:endParaRPr/>
          </a:p>
        </p:txBody>
      </p:sp>
      <p:sp>
        <p:nvSpPr>
          <p:cNvPr id="368" name="Google Shape;368;p29"/>
          <p:cNvSpPr txBox="1"/>
          <p:nvPr/>
        </p:nvSpPr>
        <p:spPr>
          <a:xfrm>
            <a:off x="685800" y="4876800"/>
            <a:ext cx="8153400" cy="1277938"/>
          </a:xfrm>
          <a:prstGeom prst="rect">
            <a:avLst/>
          </a:prstGeom>
          <a:noFill/>
          <a:ln>
            <a:noFill/>
          </a:ln>
        </p:spPr>
        <p:txBody>
          <a:bodyPr anchorCtr="0" anchor="t" bIns="45700" lIns="91425" spcFirstLastPara="1" rIns="91425" wrap="square" tIns="45700">
            <a:spAutoFit/>
          </a:bodyPr>
          <a:lstStyle/>
          <a:p>
            <a:pPr indent="-514350" lvl="0" marL="514350" marR="0" rtl="0" algn="l">
              <a:lnSpc>
                <a:spcPct val="115000"/>
              </a:lnSpc>
              <a:spcBef>
                <a:spcPts val="0"/>
              </a:spcBef>
              <a:spcAft>
                <a:spcPts val="0"/>
              </a:spcAft>
              <a:buClr>
                <a:schemeClr val="dk1"/>
              </a:buClr>
              <a:buSzPts val="2000"/>
              <a:buFont typeface="Arial"/>
              <a:buAutoNum type="alphaLcParenBoth"/>
            </a:pPr>
            <a:r>
              <a:rPr lang="en-US" sz="2000">
                <a:solidFill>
                  <a:schemeClr val="dk1"/>
                </a:solidFill>
                <a:latin typeface="Arial"/>
                <a:ea typeface="Arial"/>
                <a:cs typeface="Arial"/>
                <a:sym typeface="Arial"/>
              </a:rPr>
              <a:t>Compute the variable- and fixed-cost elements using the high-low method.</a:t>
            </a:r>
            <a:endParaRPr/>
          </a:p>
          <a:p>
            <a:pPr indent="-514350" lvl="0" marL="514350" marR="0" rtl="0" algn="l">
              <a:lnSpc>
                <a:spcPct val="115000"/>
              </a:lnSpc>
              <a:spcBef>
                <a:spcPts val="800"/>
              </a:spcBef>
              <a:spcAft>
                <a:spcPts val="0"/>
              </a:spcAft>
              <a:buClr>
                <a:schemeClr val="dk1"/>
              </a:buClr>
              <a:buSzPts val="2000"/>
              <a:buFont typeface="Arial"/>
              <a:buAutoNum type="alphaLcParenBoth"/>
            </a:pPr>
            <a:r>
              <a:rPr lang="en-US" sz="2000">
                <a:solidFill>
                  <a:schemeClr val="dk1"/>
                </a:solidFill>
                <a:latin typeface="Arial"/>
                <a:ea typeface="Arial"/>
                <a:cs typeface="Arial"/>
                <a:sym typeface="Arial"/>
              </a:rPr>
              <a:t>Estimate the total cost if the company produces 8,000 units.</a:t>
            </a:r>
            <a:endParaRPr/>
          </a:p>
        </p:txBody>
      </p:sp>
      <p:pic>
        <p:nvPicPr>
          <p:cNvPr id="369" name="Google Shape;369;p29"/>
          <p:cNvPicPr preferRelativeResize="0"/>
          <p:nvPr/>
        </p:nvPicPr>
        <p:blipFill rotWithShape="1">
          <a:blip r:embed="rId3">
            <a:alphaModFix/>
          </a:blip>
          <a:srcRect b="0" l="0" r="0" t="0"/>
          <a:stretch/>
        </p:blipFill>
        <p:spPr>
          <a:xfrm>
            <a:off x="1600200" y="2438400"/>
            <a:ext cx="5943600" cy="2149475"/>
          </a:xfrm>
          <a:prstGeom prst="rect">
            <a:avLst/>
          </a:prstGeom>
          <a:noFill/>
          <a:ln cap="sq" cmpd="sng" w="19050">
            <a:solidFill>
              <a:schemeClr val="dk1"/>
            </a:solidFill>
            <a:prstDash val="solid"/>
            <a:miter lim="800000"/>
            <a:headEnd len="sm" w="sm" type="none"/>
            <a:tailEnd len="sm" w="sm" type="none"/>
          </a:ln>
        </p:spPr>
      </p:pic>
      <p:sp>
        <p:nvSpPr>
          <p:cNvPr id="370" name="Google Shape;370;p2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71" name="Google Shape;371;p29"/>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72" name="Google Shape;372;p29"/>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High-Low Method</a:t>
            </a:r>
            <a:endParaRPr b="1" i="0" sz="3200">
              <a:solidFill>
                <a:schemeClr val="lt1"/>
              </a:solidFill>
              <a:latin typeface="Arial"/>
              <a:ea typeface="Arial"/>
              <a:cs typeface="Arial"/>
              <a:sym typeface="Arial"/>
            </a:endParaRPr>
          </a:p>
        </p:txBody>
      </p:sp>
      <p:sp>
        <p:nvSpPr>
          <p:cNvPr id="373" name="Google Shape;373;p29"/>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2</a:t>
            </a:r>
            <a:endParaRPr b="1" i="0" sz="4000">
              <a:solidFill>
                <a:srgbClr val="FF0000"/>
              </a:solidFill>
              <a:latin typeface="Arial"/>
              <a:ea typeface="Arial"/>
              <a:cs typeface="Arial"/>
              <a:sym typeface="Arial"/>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30"/>
          <p:cNvPicPr preferRelativeResize="0"/>
          <p:nvPr/>
        </p:nvPicPr>
        <p:blipFill rotWithShape="1">
          <a:blip r:embed="rId3">
            <a:alphaModFix/>
          </a:blip>
          <a:srcRect b="0" l="0" r="0" t="0"/>
          <a:stretch/>
        </p:blipFill>
        <p:spPr>
          <a:xfrm>
            <a:off x="1600200" y="1508125"/>
            <a:ext cx="5943600" cy="2149475"/>
          </a:xfrm>
          <a:prstGeom prst="rect">
            <a:avLst/>
          </a:prstGeom>
          <a:noFill/>
          <a:ln cap="sq" cmpd="sng" w="19050">
            <a:solidFill>
              <a:schemeClr val="dk1"/>
            </a:solidFill>
            <a:prstDash val="solid"/>
            <a:miter lim="800000"/>
            <a:headEnd len="sm" w="sm" type="none"/>
            <a:tailEnd len="sm" w="sm" type="none"/>
          </a:ln>
        </p:spPr>
      </p:pic>
      <p:sp>
        <p:nvSpPr>
          <p:cNvPr id="379" name="Google Shape;379;p30"/>
          <p:cNvSpPr txBox="1"/>
          <p:nvPr/>
        </p:nvSpPr>
        <p:spPr>
          <a:xfrm>
            <a:off x="685800" y="3836988"/>
            <a:ext cx="8153400" cy="800219"/>
          </a:xfrm>
          <a:prstGeom prst="rect">
            <a:avLst/>
          </a:prstGeom>
          <a:noFill/>
          <a:ln>
            <a:noFill/>
          </a:ln>
        </p:spPr>
        <p:txBody>
          <a:bodyPr anchorCtr="0" anchor="t" bIns="45700" lIns="91425" spcFirstLastPara="1" rIns="91425" wrap="square" tIns="45700">
            <a:spAutoFit/>
          </a:bodyPr>
          <a:lstStyle/>
          <a:p>
            <a:pPr indent="-514350" lvl="0" marL="514350" marR="0" rtl="0" algn="l">
              <a:lnSpc>
                <a:spcPct val="115000"/>
              </a:lnSpc>
              <a:spcBef>
                <a:spcPts val="0"/>
              </a:spcBef>
              <a:spcAft>
                <a:spcPts val="0"/>
              </a:spcAft>
              <a:buClr>
                <a:schemeClr val="dk1"/>
              </a:buClr>
              <a:buSzPts val="2000"/>
              <a:buFont typeface="Arial"/>
              <a:buAutoNum type="alphaLcParenBoth"/>
            </a:pPr>
            <a:r>
              <a:rPr lang="en-US" sz="2000">
                <a:solidFill>
                  <a:schemeClr val="dk1"/>
                </a:solidFill>
                <a:latin typeface="Arial"/>
                <a:ea typeface="Arial"/>
                <a:cs typeface="Arial"/>
                <a:sym typeface="Arial"/>
              </a:rPr>
              <a:t>Compute the variable and fixed cost elements using the high-low method.</a:t>
            </a:r>
            <a:endParaRPr/>
          </a:p>
        </p:txBody>
      </p:sp>
      <p:sp>
        <p:nvSpPr>
          <p:cNvPr id="380" name="Google Shape;380;p30"/>
          <p:cNvSpPr/>
          <p:nvPr/>
        </p:nvSpPr>
        <p:spPr>
          <a:xfrm>
            <a:off x="533400" y="4783138"/>
            <a:ext cx="8305800" cy="138906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15000"/>
              </a:lnSpc>
              <a:spcBef>
                <a:spcPts val="0"/>
              </a:spcBef>
              <a:spcAft>
                <a:spcPts val="0"/>
              </a:spcAft>
              <a:buNone/>
            </a:pPr>
            <a:r>
              <a:rPr b="1" lang="en-US" sz="2000">
                <a:solidFill>
                  <a:srgbClr val="800000"/>
                </a:solidFill>
                <a:latin typeface="Arial"/>
                <a:ea typeface="Arial"/>
                <a:cs typeface="Arial"/>
                <a:sym typeface="Arial"/>
              </a:rPr>
              <a:t>Variable cost</a:t>
            </a:r>
            <a:r>
              <a:rPr lang="en-US" sz="2000">
                <a:solidFill>
                  <a:schemeClr val="dk1"/>
                </a:solidFill>
                <a:latin typeface="Arial"/>
                <a:ea typeface="Arial"/>
                <a:cs typeface="Arial"/>
                <a:sym typeface="Arial"/>
              </a:rPr>
              <a:t>: ($14,740 - $11,100) / (9,800 - 7,000) = </a:t>
            </a:r>
            <a:r>
              <a:rPr b="1" lang="en-US" sz="2000">
                <a:solidFill>
                  <a:srgbClr val="800000"/>
                </a:solidFill>
                <a:latin typeface="Arial"/>
                <a:ea typeface="Arial"/>
                <a:cs typeface="Arial"/>
                <a:sym typeface="Arial"/>
              </a:rPr>
              <a:t>$1.30 per unit</a:t>
            </a:r>
            <a:endParaRPr/>
          </a:p>
          <a:p>
            <a:pPr indent="-457200" lvl="0" marL="457200" marR="0" rtl="0" algn="l">
              <a:lnSpc>
                <a:spcPct val="115000"/>
              </a:lnSpc>
              <a:spcBef>
                <a:spcPts val="800"/>
              </a:spcBef>
              <a:spcAft>
                <a:spcPts val="0"/>
              </a:spcAft>
              <a:buNone/>
            </a:pPr>
            <a:r>
              <a:rPr b="1" lang="en-US" sz="2000">
                <a:solidFill>
                  <a:srgbClr val="800000"/>
                </a:solidFill>
                <a:latin typeface="Arial"/>
                <a:ea typeface="Arial"/>
                <a:cs typeface="Arial"/>
                <a:sym typeface="Arial"/>
              </a:rPr>
              <a:t>Fixed cost</a:t>
            </a:r>
            <a:r>
              <a:rPr lang="en-US" sz="2000">
                <a:solidFill>
                  <a:schemeClr val="dk1"/>
                </a:solidFill>
                <a:latin typeface="Arial"/>
                <a:ea typeface="Arial"/>
                <a:cs typeface="Arial"/>
                <a:sym typeface="Arial"/>
              </a:rPr>
              <a:t>: $14,740 - $12,740 ($1.30 x 9,800 units) = </a:t>
            </a:r>
            <a:r>
              <a:rPr b="1" lang="en-US" sz="2000">
                <a:solidFill>
                  <a:srgbClr val="800000"/>
                </a:solidFill>
                <a:latin typeface="Arial"/>
                <a:ea typeface="Arial"/>
                <a:cs typeface="Arial"/>
                <a:sym typeface="Arial"/>
              </a:rPr>
              <a:t>$2,000</a:t>
            </a:r>
            <a:endParaRPr/>
          </a:p>
          <a:p>
            <a:pPr indent="-457200" lvl="0" marL="457200" marR="0" rtl="0" algn="l">
              <a:lnSpc>
                <a:spcPct val="115000"/>
              </a:lnSpc>
              <a:spcBef>
                <a:spcPts val="800"/>
              </a:spcBef>
              <a:spcAft>
                <a:spcPts val="0"/>
              </a:spcAft>
              <a:buNone/>
            </a:pPr>
            <a:r>
              <a:rPr b="1" lang="en-US" sz="2000">
                <a:solidFill>
                  <a:schemeClr val="dk1"/>
                </a:solidFill>
                <a:latin typeface="Arial"/>
                <a:ea typeface="Arial"/>
                <a:cs typeface="Arial"/>
                <a:sym typeface="Arial"/>
              </a:rPr>
              <a:t>	or</a:t>
            </a:r>
            <a:r>
              <a:rPr lang="en-US" sz="2000">
                <a:solidFill>
                  <a:schemeClr val="dk1"/>
                </a:solidFill>
                <a:latin typeface="Arial"/>
                <a:ea typeface="Arial"/>
                <a:cs typeface="Arial"/>
                <a:sym typeface="Arial"/>
              </a:rPr>
              <a:t> $11,100 - $9,100 ($1.30 x 7,000) = </a:t>
            </a:r>
            <a:r>
              <a:rPr b="1" lang="en-US" sz="2000">
                <a:solidFill>
                  <a:srgbClr val="800000"/>
                </a:solidFill>
                <a:latin typeface="Arial"/>
                <a:ea typeface="Arial"/>
                <a:cs typeface="Arial"/>
                <a:sym typeface="Arial"/>
              </a:rPr>
              <a:t>$2,000</a:t>
            </a:r>
            <a:endParaRPr/>
          </a:p>
        </p:txBody>
      </p:sp>
      <p:sp>
        <p:nvSpPr>
          <p:cNvPr id="381" name="Google Shape;381;p3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82" name="Google Shape;382;p30"/>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83" name="Google Shape;383;p30"/>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High-Low Method</a:t>
            </a:r>
            <a:endParaRPr b="1" i="0" sz="3200">
              <a:solidFill>
                <a:schemeClr val="lt1"/>
              </a:solidFill>
              <a:latin typeface="Arial"/>
              <a:ea typeface="Arial"/>
              <a:cs typeface="Arial"/>
              <a:sym typeface="Arial"/>
            </a:endParaRPr>
          </a:p>
        </p:txBody>
      </p:sp>
      <p:sp>
        <p:nvSpPr>
          <p:cNvPr id="384" name="Google Shape;384;p30"/>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2</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animEffect filter="fade" transition="in">
                                      <p:cBhvr>
                                        <p:cTn dur="500"/>
                                        <p:tgtEl>
                                          <p:spTgt spid="3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animEffect filter="fade" transition="in">
                                      <p:cBhvr>
                                        <p:cTn dur="500"/>
                                        <p:tgtEl>
                                          <p:spTgt spid="3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animEffect filter="fade" transition="in">
                                      <p:cBhvr>
                                        <p:cTn dur="500"/>
                                        <p:tgtEl>
                                          <p:spTgt spid="38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1"/>
          <p:cNvSpPr txBox="1"/>
          <p:nvPr/>
        </p:nvSpPr>
        <p:spPr>
          <a:xfrm>
            <a:off x="685800" y="3840163"/>
            <a:ext cx="8153400" cy="446276"/>
          </a:xfrm>
          <a:prstGeom prst="rect">
            <a:avLst/>
          </a:prstGeom>
          <a:noFill/>
          <a:ln>
            <a:noFill/>
          </a:ln>
        </p:spPr>
        <p:txBody>
          <a:bodyPr anchorCtr="0" anchor="t" bIns="45700" lIns="91425" spcFirstLastPara="1" rIns="91425" wrap="square" tIns="45700">
            <a:spAutoFit/>
          </a:bodyPr>
          <a:lstStyle/>
          <a:p>
            <a:pPr indent="-514350" lvl="0" marL="514350" marR="0" rtl="0" algn="l">
              <a:lnSpc>
                <a:spcPct val="115000"/>
              </a:lnSpc>
              <a:spcBef>
                <a:spcPts val="0"/>
              </a:spcBef>
              <a:spcAft>
                <a:spcPts val="0"/>
              </a:spcAft>
              <a:buClr>
                <a:schemeClr val="dk1"/>
              </a:buClr>
              <a:buSzPts val="2000"/>
              <a:buFont typeface="Arial"/>
              <a:buAutoNum type="alphaLcParenBoth" startAt="2"/>
            </a:pPr>
            <a:r>
              <a:rPr lang="en-US" sz="2000">
                <a:solidFill>
                  <a:schemeClr val="dk1"/>
                </a:solidFill>
                <a:latin typeface="Arial"/>
                <a:ea typeface="Arial"/>
                <a:cs typeface="Arial"/>
                <a:sym typeface="Arial"/>
              </a:rPr>
              <a:t>Estimate the total cost if the company produces 8,000 units.</a:t>
            </a:r>
            <a:endParaRPr/>
          </a:p>
        </p:txBody>
      </p:sp>
      <p:sp>
        <p:nvSpPr>
          <p:cNvPr id="390" name="Google Shape;390;p31"/>
          <p:cNvSpPr/>
          <p:nvPr/>
        </p:nvSpPr>
        <p:spPr>
          <a:xfrm>
            <a:off x="457200" y="4662488"/>
            <a:ext cx="8153400" cy="446276"/>
          </a:xfrm>
          <a:prstGeom prst="rect">
            <a:avLst/>
          </a:prstGeom>
          <a:noFill/>
          <a:ln>
            <a:noFill/>
          </a:ln>
        </p:spPr>
        <p:txBody>
          <a:bodyPr anchorCtr="0" anchor="t" bIns="45700" lIns="91425" spcFirstLastPara="1" rIns="91425" wrap="square" tIns="45700">
            <a:spAutoFit/>
          </a:bodyPr>
          <a:lstStyle/>
          <a:p>
            <a:pPr indent="-457200" lvl="0" marL="457200" marR="0" rtl="0" algn="l">
              <a:lnSpc>
                <a:spcPct val="115000"/>
              </a:lnSpc>
              <a:spcBef>
                <a:spcPts val="0"/>
              </a:spcBef>
              <a:spcAft>
                <a:spcPts val="0"/>
              </a:spcAft>
              <a:buNone/>
            </a:pPr>
            <a:r>
              <a:rPr b="1" lang="en-US" sz="2000">
                <a:solidFill>
                  <a:srgbClr val="800000"/>
                </a:solidFill>
                <a:latin typeface="Arial"/>
                <a:ea typeface="Arial"/>
                <a:cs typeface="Arial"/>
                <a:sym typeface="Arial"/>
              </a:rPr>
              <a:t>Total cost (8,000 units)</a:t>
            </a:r>
            <a:r>
              <a:rPr b="1"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 $2,000 + $10,400 ($1.30 x 8,000) =  </a:t>
            </a:r>
            <a:r>
              <a:rPr b="1" lang="en-US" sz="2000">
                <a:solidFill>
                  <a:srgbClr val="800000"/>
                </a:solidFill>
                <a:latin typeface="Arial"/>
                <a:ea typeface="Arial"/>
                <a:cs typeface="Arial"/>
                <a:sym typeface="Arial"/>
              </a:rPr>
              <a:t>$12,400</a:t>
            </a:r>
            <a:endParaRPr b="1" sz="2000">
              <a:solidFill>
                <a:srgbClr val="800000"/>
              </a:solidFill>
              <a:latin typeface="Arial"/>
              <a:ea typeface="Arial"/>
              <a:cs typeface="Arial"/>
              <a:sym typeface="Arial"/>
            </a:endParaRPr>
          </a:p>
        </p:txBody>
      </p:sp>
      <p:pic>
        <p:nvPicPr>
          <p:cNvPr id="391" name="Google Shape;391;p31"/>
          <p:cNvPicPr preferRelativeResize="0"/>
          <p:nvPr/>
        </p:nvPicPr>
        <p:blipFill rotWithShape="1">
          <a:blip r:embed="rId3">
            <a:alphaModFix/>
          </a:blip>
          <a:srcRect b="0" l="0" r="0" t="0"/>
          <a:stretch/>
        </p:blipFill>
        <p:spPr>
          <a:xfrm>
            <a:off x="1600200" y="1508125"/>
            <a:ext cx="5943600" cy="2149475"/>
          </a:xfrm>
          <a:prstGeom prst="rect">
            <a:avLst/>
          </a:prstGeom>
          <a:noFill/>
          <a:ln cap="sq" cmpd="sng" w="19050">
            <a:solidFill>
              <a:schemeClr val="dk1"/>
            </a:solidFill>
            <a:prstDash val="solid"/>
            <a:miter lim="800000"/>
            <a:headEnd len="sm" w="sm" type="none"/>
            <a:tailEnd len="sm" w="sm" type="none"/>
          </a:ln>
        </p:spPr>
      </p:pic>
      <p:sp>
        <p:nvSpPr>
          <p:cNvPr id="392" name="Google Shape;392;p3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2</a:t>
            </a:r>
            <a:endParaRPr b="1" i="1" sz="1600">
              <a:solidFill>
                <a:schemeClr val="dk1"/>
              </a:solidFill>
              <a:latin typeface="Arial"/>
              <a:ea typeface="Arial"/>
              <a:cs typeface="Arial"/>
              <a:sym typeface="Arial"/>
            </a:endParaRPr>
          </a:p>
        </p:txBody>
      </p:sp>
      <p:sp>
        <p:nvSpPr>
          <p:cNvPr id="393" name="Google Shape;393;p31"/>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394" name="Google Shape;394;p31"/>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High-Low Method</a:t>
            </a:r>
            <a:endParaRPr b="1" i="0" sz="3200">
              <a:solidFill>
                <a:schemeClr val="lt1"/>
              </a:solidFill>
              <a:latin typeface="Arial"/>
              <a:ea typeface="Arial"/>
              <a:cs typeface="Arial"/>
              <a:sym typeface="Arial"/>
            </a:endParaRPr>
          </a:p>
        </p:txBody>
      </p:sp>
      <p:sp>
        <p:nvSpPr>
          <p:cNvPr id="395" name="Google Shape;395;p31"/>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2</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Effect filter="fade" transition="in">
                                      <p:cBhvr>
                                        <p:cTn dur="500"/>
                                        <p:tgtEl>
                                          <p:spTgt spid="39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2"/>
          <p:cNvSpPr txBox="1"/>
          <p:nvPr>
            <p:ph idx="1" type="body"/>
          </p:nvPr>
        </p:nvSpPr>
        <p:spPr>
          <a:xfrm>
            <a:off x="533400" y="1524000"/>
            <a:ext cx="8001000" cy="4191000"/>
          </a:xfrm>
          <a:prstGeom prst="rect">
            <a:avLst/>
          </a:prstGeom>
          <a:noFill/>
          <a:ln>
            <a:noFill/>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800000"/>
              </a:buClr>
              <a:buSzPts val="1840"/>
              <a:buFont typeface="Noto Sans Symbols"/>
              <a:buNone/>
            </a:pPr>
            <a:r>
              <a:rPr lang="en-US" sz="2300">
                <a:solidFill>
                  <a:srgbClr val="0000BF"/>
                </a:solidFill>
                <a:latin typeface="Arial"/>
                <a:ea typeface="Arial"/>
                <a:cs typeface="Arial"/>
                <a:sym typeface="Arial"/>
              </a:rPr>
              <a:t>Cost-volume-profit (CVP) analysis </a:t>
            </a:r>
            <a:r>
              <a:rPr b="0" lang="en-US" sz="2300">
                <a:latin typeface="Arial"/>
                <a:ea typeface="Arial"/>
                <a:cs typeface="Arial"/>
                <a:sym typeface="Arial"/>
              </a:rPr>
              <a:t>is the study of the effects of changes in costs and volume on a company’s profits.</a:t>
            </a:r>
            <a:endParaRPr/>
          </a:p>
          <a:p>
            <a:pPr indent="-457200" lvl="1" marL="685800" rtl="0" algn="l">
              <a:lnSpc>
                <a:spcPct val="120000"/>
              </a:lnSpc>
              <a:spcBef>
                <a:spcPts val="1320"/>
              </a:spcBef>
              <a:spcAft>
                <a:spcPts val="0"/>
              </a:spcAft>
              <a:buClr>
                <a:srgbClr val="800000"/>
              </a:buClr>
              <a:buSzPts val="1760"/>
              <a:buFont typeface="Noto Sans Symbols"/>
              <a:buChar char="◆"/>
            </a:pPr>
            <a:r>
              <a:rPr b="0" lang="en-US" sz="2200">
                <a:latin typeface="Arial"/>
                <a:ea typeface="Arial"/>
                <a:cs typeface="Arial"/>
                <a:sym typeface="Arial"/>
              </a:rPr>
              <a:t>Important in profit planning.</a:t>
            </a:r>
            <a:endParaRPr/>
          </a:p>
          <a:p>
            <a:pPr indent="-457200" lvl="1" marL="685800" rtl="0" algn="l">
              <a:lnSpc>
                <a:spcPct val="120000"/>
              </a:lnSpc>
              <a:spcBef>
                <a:spcPts val="1320"/>
              </a:spcBef>
              <a:spcAft>
                <a:spcPts val="0"/>
              </a:spcAft>
              <a:buClr>
                <a:srgbClr val="800000"/>
              </a:buClr>
              <a:buSzPts val="1760"/>
              <a:buFont typeface="Noto Sans Symbols"/>
              <a:buChar char="◆"/>
            </a:pPr>
            <a:r>
              <a:rPr b="0" lang="en-US" sz="2200">
                <a:latin typeface="Arial"/>
                <a:ea typeface="Arial"/>
                <a:cs typeface="Arial"/>
                <a:sym typeface="Arial"/>
              </a:rPr>
              <a:t>Critical factor in management decisions as</a:t>
            </a:r>
            <a:endParaRPr/>
          </a:p>
          <a:p>
            <a:pPr indent="-457200" lvl="2" marL="1257300" rtl="0" algn="l">
              <a:lnSpc>
                <a:spcPct val="120000"/>
              </a:lnSpc>
              <a:spcBef>
                <a:spcPts val="1260"/>
              </a:spcBef>
              <a:spcAft>
                <a:spcPts val="0"/>
              </a:spcAft>
              <a:buClr>
                <a:srgbClr val="800000"/>
              </a:buClr>
              <a:buSzPts val="1680"/>
              <a:buFont typeface="Arial"/>
              <a:buChar char="►"/>
            </a:pPr>
            <a:r>
              <a:rPr b="0" lang="en-US" sz="2100">
                <a:latin typeface="Arial"/>
                <a:ea typeface="Arial"/>
                <a:cs typeface="Arial"/>
                <a:sym typeface="Arial"/>
              </a:rPr>
              <a:t>Setting selling prices,</a:t>
            </a:r>
            <a:endParaRPr/>
          </a:p>
          <a:p>
            <a:pPr indent="-457200" lvl="2" marL="1257300" rtl="0" algn="l">
              <a:lnSpc>
                <a:spcPct val="120000"/>
              </a:lnSpc>
              <a:spcBef>
                <a:spcPts val="1260"/>
              </a:spcBef>
              <a:spcAft>
                <a:spcPts val="0"/>
              </a:spcAft>
              <a:buClr>
                <a:srgbClr val="800000"/>
              </a:buClr>
              <a:buSzPts val="1680"/>
              <a:buFont typeface="Arial"/>
              <a:buChar char="►"/>
            </a:pPr>
            <a:r>
              <a:rPr b="0" lang="en-US" sz="2100">
                <a:latin typeface="Arial"/>
                <a:ea typeface="Arial"/>
                <a:cs typeface="Arial"/>
                <a:sym typeface="Arial"/>
              </a:rPr>
              <a:t>Determining product mix, and </a:t>
            </a:r>
            <a:endParaRPr/>
          </a:p>
          <a:p>
            <a:pPr indent="-457200" lvl="2" marL="1257300" rtl="0" algn="l">
              <a:lnSpc>
                <a:spcPct val="120000"/>
              </a:lnSpc>
              <a:spcBef>
                <a:spcPts val="1260"/>
              </a:spcBef>
              <a:spcAft>
                <a:spcPts val="0"/>
              </a:spcAft>
              <a:buClr>
                <a:srgbClr val="800000"/>
              </a:buClr>
              <a:buSzPts val="1680"/>
              <a:buFont typeface="Arial"/>
              <a:buChar char="►"/>
            </a:pPr>
            <a:r>
              <a:rPr b="0" lang="en-US" sz="2100">
                <a:latin typeface="Arial"/>
                <a:ea typeface="Arial"/>
                <a:cs typeface="Arial"/>
                <a:sym typeface="Arial"/>
              </a:rPr>
              <a:t>Maximizing use of production facilities.</a:t>
            </a:r>
            <a:endParaRPr/>
          </a:p>
        </p:txBody>
      </p:sp>
      <p:sp>
        <p:nvSpPr>
          <p:cNvPr id="401" name="Google Shape;401;p32"/>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402" name="Google Shape;402;p32"/>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000">
                <a:solidFill>
                  <a:schemeClr val="lt1"/>
                </a:solidFill>
                <a:latin typeface="Arial"/>
                <a:ea typeface="Arial"/>
                <a:cs typeface="Arial"/>
                <a:sym typeface="Arial"/>
              </a:rPr>
              <a:t>Prepare a CVP income statement to determine contribution margin.</a:t>
            </a:r>
            <a:endParaRPr/>
          </a:p>
        </p:txBody>
      </p:sp>
      <p:sp>
        <p:nvSpPr>
          <p:cNvPr id="403" name="Google Shape;403;p32"/>
          <p:cNvSpPr/>
          <p:nvPr/>
        </p:nvSpPr>
        <p:spPr>
          <a:xfrm>
            <a:off x="1872343" y="485775"/>
            <a:ext cx="522514" cy="514350"/>
          </a:xfrm>
          <a:prstGeom prst="ellipse">
            <a:avLst/>
          </a:prstGeom>
          <a:solidFill>
            <a:schemeClr val="accent2"/>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3</a:t>
            </a:r>
            <a:endParaRPr b="1" sz="2700">
              <a:solidFill>
                <a:schemeClr val="lt1"/>
              </a:solidFill>
              <a:latin typeface="Arial"/>
              <a:ea typeface="Arial"/>
              <a:cs typeface="Arial"/>
              <a:sym typeface="Arial"/>
            </a:endParaRPr>
          </a:p>
        </p:txBody>
      </p:sp>
      <p:sp>
        <p:nvSpPr>
          <p:cNvPr id="404" name="Google Shape;404;p3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33"/>
          <p:cNvPicPr preferRelativeResize="0"/>
          <p:nvPr/>
        </p:nvPicPr>
        <p:blipFill rotWithShape="1">
          <a:blip r:embed="rId3">
            <a:alphaModFix/>
          </a:blip>
          <a:srcRect b="0" l="0" r="0" t="0"/>
          <a:stretch/>
        </p:blipFill>
        <p:spPr>
          <a:xfrm>
            <a:off x="361950" y="2133600"/>
            <a:ext cx="8372475" cy="1868488"/>
          </a:xfrm>
          <a:prstGeom prst="rect">
            <a:avLst/>
          </a:prstGeom>
          <a:noFill/>
          <a:ln>
            <a:noFill/>
          </a:ln>
        </p:spPr>
      </p:pic>
      <p:sp>
        <p:nvSpPr>
          <p:cNvPr id="410" name="Google Shape;410;p33"/>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Basic Components</a:t>
            </a:r>
            <a:endParaRPr/>
          </a:p>
        </p:txBody>
      </p:sp>
      <p:cxnSp>
        <p:nvCxnSpPr>
          <p:cNvPr id="411" name="Google Shape;411;p3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12" name="Google Shape;412;p3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Cost-Volume-Profit Analysis</a:t>
            </a:r>
            <a:endParaRPr/>
          </a:p>
        </p:txBody>
      </p:sp>
      <p:sp>
        <p:nvSpPr>
          <p:cNvPr id="413" name="Google Shape;413;p33"/>
          <p:cNvSpPr/>
          <p:nvPr/>
        </p:nvSpPr>
        <p:spPr>
          <a:xfrm>
            <a:off x="381000" y="4034135"/>
            <a:ext cx="2590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22-10</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Components of CVP analysis</a:t>
            </a:r>
            <a:endParaRPr/>
          </a:p>
        </p:txBody>
      </p:sp>
      <p:sp>
        <p:nvSpPr>
          <p:cNvPr id="414" name="Google Shape;414;p3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4"/>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Assumptions</a:t>
            </a:r>
            <a:endParaRPr b="1" sz="2800">
              <a:solidFill>
                <a:schemeClr val="dk1"/>
              </a:solidFill>
              <a:latin typeface="Arial"/>
              <a:ea typeface="Arial"/>
              <a:cs typeface="Arial"/>
              <a:sym typeface="Arial"/>
            </a:endParaRPr>
          </a:p>
        </p:txBody>
      </p:sp>
      <p:sp>
        <p:nvSpPr>
          <p:cNvPr id="420" name="Google Shape;420;p34"/>
          <p:cNvSpPr txBox="1"/>
          <p:nvPr>
            <p:ph idx="1" type="body"/>
          </p:nvPr>
        </p:nvSpPr>
        <p:spPr>
          <a:xfrm>
            <a:off x="533400" y="1905000"/>
            <a:ext cx="7924800" cy="4191000"/>
          </a:xfrm>
          <a:prstGeom prst="rect">
            <a:avLst/>
          </a:prstGeom>
          <a:noFill/>
          <a:ln>
            <a:noFill/>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latin typeface="Arial"/>
                <a:ea typeface="Arial"/>
                <a:cs typeface="Arial"/>
                <a:sym typeface="Arial"/>
              </a:rPr>
              <a:t>Behavior of both costs and revenues is linear throughout the relevant range of the activity index.</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latin typeface="Arial"/>
                <a:ea typeface="Arial"/>
                <a:cs typeface="Arial"/>
                <a:sym typeface="Arial"/>
              </a:rPr>
              <a:t>Costs can be classified accurately as either variable or fixed.</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latin typeface="Arial"/>
                <a:ea typeface="Arial"/>
                <a:cs typeface="Arial"/>
                <a:sym typeface="Arial"/>
              </a:rPr>
              <a:t>Changes in activity are the only factors that affect costs. </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latin typeface="Arial"/>
                <a:ea typeface="Arial"/>
                <a:cs typeface="Arial"/>
                <a:sym typeface="Arial"/>
              </a:rPr>
              <a:t>All units produced are sold.</a:t>
            </a:r>
            <a:endParaRPr/>
          </a:p>
          <a:p>
            <a:pPr indent="-457200" lvl="1" marL="685800" rtl="0" algn="l">
              <a:lnSpc>
                <a:spcPct val="120000"/>
              </a:lnSpc>
              <a:spcBef>
                <a:spcPts val="1260"/>
              </a:spcBef>
              <a:spcAft>
                <a:spcPts val="0"/>
              </a:spcAft>
              <a:buClr>
                <a:srgbClr val="800000"/>
              </a:buClr>
              <a:buSzPts val="1680"/>
              <a:buFont typeface="Noto Sans Symbols"/>
              <a:buChar char="◆"/>
            </a:pPr>
            <a:r>
              <a:rPr b="0" lang="en-US" sz="2100">
                <a:latin typeface="Arial"/>
                <a:ea typeface="Arial"/>
                <a:cs typeface="Arial"/>
                <a:sym typeface="Arial"/>
              </a:rPr>
              <a:t>When more than one type of product is sold, the sales mix will remain constant.</a:t>
            </a:r>
            <a:endParaRPr/>
          </a:p>
        </p:txBody>
      </p:sp>
      <p:cxnSp>
        <p:nvCxnSpPr>
          <p:cNvPr id="421" name="Google Shape;421;p3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22" name="Google Shape;422;p3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Components</a:t>
            </a:r>
            <a:endParaRPr/>
          </a:p>
        </p:txBody>
      </p:sp>
      <p:sp>
        <p:nvSpPr>
          <p:cNvPr id="423" name="Google Shape;423;p3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5"/>
          <p:cNvSpPr/>
          <p:nvPr/>
        </p:nvSpPr>
        <p:spPr>
          <a:xfrm>
            <a:off x="533400" y="1905000"/>
            <a:ext cx="7696200" cy="2667000"/>
          </a:xfrm>
          <a:prstGeom prst="rect">
            <a:avLst/>
          </a:prstGeom>
          <a:solidFill>
            <a:schemeClr val="lt1"/>
          </a:solidFill>
          <a:ln>
            <a:noFill/>
          </a:ln>
        </p:spPr>
        <p:txBody>
          <a:bodyPr anchorCtr="0" anchor="t" bIns="46025" lIns="91425" spcFirstLastPara="1" rIns="182550" wrap="square" tIns="46025">
            <a:noAutofit/>
          </a:bodyPr>
          <a:lstStyle/>
          <a:p>
            <a:pPr indent="-517525" lvl="0" marL="517525" marR="0" rtl="0" algn="l">
              <a:spcBef>
                <a:spcPts val="0"/>
              </a:spcBef>
              <a:spcAft>
                <a:spcPts val="0"/>
              </a:spcAft>
              <a:buClr>
                <a:schemeClr val="accent2"/>
              </a:buClr>
              <a:buSzPts val="1650"/>
              <a:buFont typeface="Noto Sans Symbols"/>
              <a:buNone/>
            </a:pPr>
            <a:r>
              <a:rPr lang="en-US" sz="2200">
                <a:solidFill>
                  <a:schemeClr val="dk1"/>
                </a:solidFill>
                <a:latin typeface="Arial"/>
                <a:ea typeface="Arial"/>
                <a:cs typeface="Arial"/>
                <a:sym typeface="Arial"/>
              </a:rPr>
              <a:t>Which of the following is </a:t>
            </a:r>
            <a:r>
              <a:rPr b="1" lang="en-US" sz="2200">
                <a:solidFill>
                  <a:schemeClr val="dk1"/>
                </a:solidFill>
                <a:latin typeface="Arial"/>
                <a:ea typeface="Arial"/>
                <a:cs typeface="Arial"/>
                <a:sym typeface="Arial"/>
              </a:rPr>
              <a:t>not</a:t>
            </a:r>
            <a:r>
              <a:rPr lang="en-US" sz="2200">
                <a:solidFill>
                  <a:schemeClr val="dk1"/>
                </a:solidFill>
                <a:latin typeface="Arial"/>
                <a:ea typeface="Arial"/>
                <a:cs typeface="Arial"/>
                <a:sym typeface="Arial"/>
              </a:rPr>
              <a:t> involved in CVP analysis?</a:t>
            </a:r>
            <a:endParaRPr/>
          </a:p>
          <a:p>
            <a:pPr indent="-457200" lvl="0" marL="688975" marR="0" rtl="0" algn="l">
              <a:spcBef>
                <a:spcPts val="1320"/>
              </a:spcBef>
              <a:spcAft>
                <a:spcPts val="0"/>
              </a:spcAft>
              <a:buClr>
                <a:schemeClr val="dk1"/>
              </a:buClr>
              <a:buSzPts val="2200"/>
              <a:buFont typeface="Noto Sans Symbols"/>
              <a:buAutoNum type="alphaLcPeriod"/>
            </a:pPr>
            <a:r>
              <a:rPr lang="en-US" sz="2200">
                <a:solidFill>
                  <a:schemeClr val="dk1"/>
                </a:solidFill>
                <a:latin typeface="Arial"/>
                <a:ea typeface="Arial"/>
                <a:cs typeface="Arial"/>
                <a:sym typeface="Arial"/>
              </a:rPr>
              <a:t>Sales mix.</a:t>
            </a:r>
            <a:endParaRPr/>
          </a:p>
          <a:p>
            <a:pPr indent="-457200" lvl="0" marL="688975" marR="0" rtl="0" algn="l">
              <a:spcBef>
                <a:spcPts val="1320"/>
              </a:spcBef>
              <a:spcAft>
                <a:spcPts val="0"/>
              </a:spcAft>
              <a:buClr>
                <a:schemeClr val="dk1"/>
              </a:buClr>
              <a:buSzPts val="2200"/>
              <a:buFont typeface="Noto Sans Symbols"/>
              <a:buAutoNum type="alphaLcPeriod"/>
            </a:pPr>
            <a:r>
              <a:rPr lang="en-US" sz="2200">
                <a:solidFill>
                  <a:schemeClr val="dk1"/>
                </a:solidFill>
                <a:latin typeface="Arial"/>
                <a:ea typeface="Arial"/>
                <a:cs typeface="Arial"/>
                <a:sym typeface="Arial"/>
              </a:rPr>
              <a:t>Unit selling prices. </a:t>
            </a:r>
            <a:endParaRPr/>
          </a:p>
          <a:p>
            <a:pPr indent="-457200" lvl="0" marL="688975" marR="0" rtl="0" algn="l">
              <a:spcBef>
                <a:spcPts val="1320"/>
              </a:spcBef>
              <a:spcAft>
                <a:spcPts val="0"/>
              </a:spcAft>
              <a:buClr>
                <a:schemeClr val="dk1"/>
              </a:buClr>
              <a:buSzPts val="2200"/>
              <a:buFont typeface="Noto Sans Symbols"/>
              <a:buAutoNum type="alphaLcPeriod"/>
            </a:pPr>
            <a:r>
              <a:rPr lang="en-US" sz="2200">
                <a:solidFill>
                  <a:schemeClr val="dk1"/>
                </a:solidFill>
                <a:latin typeface="Arial"/>
                <a:ea typeface="Arial"/>
                <a:cs typeface="Arial"/>
                <a:sym typeface="Arial"/>
              </a:rPr>
              <a:t>Fixed costs per unit.</a:t>
            </a:r>
            <a:endParaRPr/>
          </a:p>
          <a:p>
            <a:pPr indent="-457200" lvl="0" marL="688975" marR="0" rtl="0" algn="l">
              <a:spcBef>
                <a:spcPts val="1320"/>
              </a:spcBef>
              <a:spcAft>
                <a:spcPts val="0"/>
              </a:spcAft>
              <a:buClr>
                <a:schemeClr val="dk1"/>
              </a:buClr>
              <a:buSzPts val="2200"/>
              <a:buFont typeface="Noto Sans Symbols"/>
              <a:buAutoNum type="alphaLcPeriod"/>
            </a:pPr>
            <a:r>
              <a:rPr lang="en-US" sz="2200">
                <a:solidFill>
                  <a:schemeClr val="dk1"/>
                </a:solidFill>
                <a:latin typeface="Arial"/>
                <a:ea typeface="Arial"/>
                <a:cs typeface="Arial"/>
                <a:sym typeface="Arial"/>
              </a:rPr>
              <a:t>Volume or level of activity. </a:t>
            </a:r>
            <a:endParaRPr/>
          </a:p>
        </p:txBody>
      </p:sp>
      <p:sp>
        <p:nvSpPr>
          <p:cNvPr id="429" name="Google Shape;429;p35"/>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430" name="Google Shape;430;p3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31" name="Google Shape;431;p35"/>
          <p:cNvSpPr/>
          <p:nvPr/>
        </p:nvSpPr>
        <p:spPr>
          <a:xfrm>
            <a:off x="152400" y="35052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432" name="Google Shape;432;p3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Components</a:t>
            </a:r>
            <a:endParaRPr/>
          </a:p>
        </p:txBody>
      </p:sp>
      <p:sp>
        <p:nvSpPr>
          <p:cNvPr id="433" name="Google Shape;433;p3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6"/>
          <p:cNvSpPr txBox="1"/>
          <p:nvPr>
            <p:ph idx="1" type="body"/>
          </p:nvPr>
        </p:nvSpPr>
        <p:spPr>
          <a:xfrm>
            <a:off x="533400" y="1905000"/>
            <a:ext cx="7696200" cy="4191000"/>
          </a:xfrm>
          <a:prstGeom prst="rect">
            <a:avLst/>
          </a:prstGeom>
          <a:noFill/>
          <a:ln>
            <a:noFill/>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A statement for </a:t>
            </a:r>
            <a:r>
              <a:rPr lang="en-US" sz="2200">
                <a:solidFill>
                  <a:schemeClr val="dk1"/>
                </a:solidFill>
                <a:latin typeface="Arial"/>
                <a:ea typeface="Arial"/>
                <a:cs typeface="Arial"/>
                <a:sym typeface="Arial"/>
              </a:rPr>
              <a:t>internal use</a:t>
            </a:r>
            <a:r>
              <a:rPr b="0" lang="en-US" sz="2200">
                <a:solidFill>
                  <a:schemeClr val="dk1"/>
                </a:solidFill>
                <a:latin typeface="Arial"/>
                <a:ea typeface="Arial"/>
                <a:cs typeface="Arial"/>
                <a:sym typeface="Arial"/>
              </a:rPr>
              <a:t>.</a:t>
            </a:r>
            <a:endParaRPr/>
          </a:p>
          <a:p>
            <a:pPr indent="-457200" lvl="1" marL="685800" rtl="0" algn="l">
              <a:lnSpc>
                <a:spcPct val="120000"/>
              </a:lnSpc>
              <a:spcBef>
                <a:spcPts val="11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Classifies costs and expenses as fixed or variable.  </a:t>
            </a:r>
            <a:endParaRPr/>
          </a:p>
          <a:p>
            <a:pPr indent="-457200" lvl="1" marL="685800" rtl="0" algn="l">
              <a:lnSpc>
                <a:spcPct val="120000"/>
              </a:lnSpc>
              <a:spcBef>
                <a:spcPts val="11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Reports </a:t>
            </a:r>
            <a:r>
              <a:rPr lang="en-US" sz="2200">
                <a:solidFill>
                  <a:schemeClr val="dk1"/>
                </a:solidFill>
                <a:latin typeface="Arial"/>
                <a:ea typeface="Arial"/>
                <a:cs typeface="Arial"/>
                <a:sym typeface="Arial"/>
              </a:rPr>
              <a:t>contribution margin</a:t>
            </a:r>
            <a:r>
              <a:rPr b="0" lang="en-US" sz="2200">
                <a:solidFill>
                  <a:schemeClr val="dk1"/>
                </a:solidFill>
                <a:latin typeface="Arial"/>
                <a:ea typeface="Arial"/>
                <a:cs typeface="Arial"/>
                <a:sym typeface="Arial"/>
              </a:rPr>
              <a:t> in the body of the statement.</a:t>
            </a:r>
            <a:endParaRPr/>
          </a:p>
          <a:p>
            <a:pPr indent="-457200" lvl="2" marL="1257300" rtl="0" algn="l">
              <a:lnSpc>
                <a:spcPct val="120000"/>
              </a:lnSpc>
              <a:spcBef>
                <a:spcPts val="1050"/>
              </a:spcBef>
              <a:spcAft>
                <a:spcPts val="0"/>
              </a:spcAft>
              <a:buClr>
                <a:srgbClr val="800000"/>
              </a:buClr>
              <a:buSzPts val="1680"/>
              <a:buFont typeface="Arial"/>
              <a:buChar char="►"/>
            </a:pPr>
            <a:r>
              <a:rPr lang="en-US" sz="2100">
                <a:solidFill>
                  <a:schemeClr val="dk1"/>
                </a:solidFill>
                <a:latin typeface="Arial"/>
                <a:ea typeface="Arial"/>
                <a:cs typeface="Arial"/>
                <a:sym typeface="Arial"/>
              </a:rPr>
              <a:t>Contribution margin</a:t>
            </a:r>
            <a:r>
              <a:rPr b="0" lang="en-US" sz="2100">
                <a:solidFill>
                  <a:schemeClr val="dk1"/>
                </a:solidFill>
                <a:latin typeface="Arial"/>
                <a:ea typeface="Arial"/>
                <a:cs typeface="Arial"/>
                <a:sym typeface="Arial"/>
              </a:rPr>
              <a:t> – amount of revenue remaining after deducting variable costs. </a:t>
            </a:r>
            <a:endParaRPr/>
          </a:p>
          <a:p>
            <a:pPr indent="-457200" lvl="1" marL="685800" rtl="0" algn="l">
              <a:lnSpc>
                <a:spcPct val="120000"/>
              </a:lnSpc>
              <a:spcBef>
                <a:spcPts val="1100"/>
              </a:spcBef>
              <a:spcAft>
                <a:spcPts val="0"/>
              </a:spcAft>
              <a:buClr>
                <a:srgbClr val="800000"/>
              </a:buClr>
              <a:buSzPts val="1760"/>
              <a:buFont typeface="Noto Sans Symbols"/>
              <a:buChar char="◆"/>
            </a:pPr>
            <a:r>
              <a:rPr b="0" lang="en-US" sz="2200">
                <a:solidFill>
                  <a:schemeClr val="dk1"/>
                </a:solidFill>
                <a:latin typeface="Arial"/>
                <a:ea typeface="Arial"/>
                <a:cs typeface="Arial"/>
                <a:sym typeface="Arial"/>
              </a:rPr>
              <a:t>Reports the </a:t>
            </a:r>
            <a:r>
              <a:rPr lang="en-US" sz="2200">
                <a:solidFill>
                  <a:schemeClr val="dk1"/>
                </a:solidFill>
                <a:latin typeface="Arial"/>
                <a:ea typeface="Arial"/>
                <a:cs typeface="Arial"/>
                <a:sym typeface="Arial"/>
              </a:rPr>
              <a:t>same net income</a:t>
            </a:r>
            <a:r>
              <a:rPr b="0" lang="en-US" sz="2200">
                <a:solidFill>
                  <a:schemeClr val="dk1"/>
                </a:solidFill>
                <a:latin typeface="Arial"/>
                <a:ea typeface="Arial"/>
                <a:cs typeface="Arial"/>
                <a:sym typeface="Arial"/>
              </a:rPr>
              <a:t> as a traditional income statement.</a:t>
            </a:r>
            <a:endParaRPr/>
          </a:p>
        </p:txBody>
      </p:sp>
      <p:sp>
        <p:nvSpPr>
          <p:cNvPr id="439" name="Google Shape;439;p36"/>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CVP Income Statement</a:t>
            </a:r>
            <a:endParaRPr/>
          </a:p>
        </p:txBody>
      </p:sp>
      <p:cxnSp>
        <p:nvCxnSpPr>
          <p:cNvPr id="440" name="Google Shape;440;p3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41" name="Google Shape;441;p3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Cost-Volume-Profit Analysis</a:t>
            </a:r>
            <a:endParaRPr/>
          </a:p>
        </p:txBody>
      </p:sp>
      <p:sp>
        <p:nvSpPr>
          <p:cNvPr id="442" name="Google Shape;442;p3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7"/>
          <p:cNvSpPr txBox="1"/>
          <p:nvPr>
            <p:ph idx="1" type="body"/>
          </p:nvPr>
        </p:nvSpPr>
        <p:spPr>
          <a:xfrm>
            <a:off x="533400" y="1295400"/>
            <a:ext cx="7772400" cy="1304100"/>
          </a:xfrm>
          <a:prstGeom prst="rect">
            <a:avLst/>
          </a:prstGeom>
          <a:noFill/>
          <a:ln>
            <a:noFill/>
          </a:ln>
        </p:spPr>
        <p:txBody>
          <a:bodyPr anchorCtr="0" anchor="t" bIns="45700" lIns="91425" spcFirstLastPara="1" rIns="91425" wrap="square" tIns="45700">
            <a:spAutoFit/>
          </a:bodyPr>
          <a:lstStyle/>
          <a:p>
            <a:pPr indent="0" lvl="0" marL="0" rtl="0" algn="l">
              <a:lnSpc>
                <a:spcPct val="125000"/>
              </a:lnSpc>
              <a:spcBef>
                <a:spcPts val="0"/>
              </a:spcBef>
              <a:spcAft>
                <a:spcPts val="0"/>
              </a:spcAft>
              <a:buClr>
                <a:schemeClr val="dk1"/>
              </a:buClr>
              <a:buSzPts val="2100"/>
              <a:buFont typeface="Arial"/>
              <a:buNone/>
            </a:pPr>
            <a:r>
              <a:rPr lang="en-US" sz="2100">
                <a:solidFill>
                  <a:schemeClr val="dk1"/>
                </a:solidFill>
                <a:latin typeface="Arial"/>
                <a:ea typeface="Arial"/>
                <a:cs typeface="Arial"/>
                <a:sym typeface="Arial"/>
              </a:rPr>
              <a:t>Illustration:</a:t>
            </a:r>
            <a:r>
              <a:rPr b="0" lang="en-US" sz="2100">
                <a:solidFill>
                  <a:schemeClr val="dk1"/>
                </a:solidFill>
                <a:latin typeface="Arial"/>
                <a:ea typeface="Arial"/>
                <a:cs typeface="Arial"/>
                <a:sym typeface="Arial"/>
              </a:rPr>
              <a:t>  Vargo Video Company produces a high-definition digital camcorder.  Relevant data for the camcorders sold by this company in June 2014 are as follows.</a:t>
            </a:r>
            <a:endParaRPr/>
          </a:p>
        </p:txBody>
      </p:sp>
      <p:pic>
        <p:nvPicPr>
          <p:cNvPr id="448" name="Google Shape;448;p37"/>
          <p:cNvPicPr preferRelativeResize="0"/>
          <p:nvPr/>
        </p:nvPicPr>
        <p:blipFill rotWithShape="1">
          <a:blip r:embed="rId3">
            <a:alphaModFix/>
          </a:blip>
          <a:srcRect b="0" l="0" r="0" t="0"/>
          <a:stretch/>
        </p:blipFill>
        <p:spPr>
          <a:xfrm>
            <a:off x="304801" y="2895600"/>
            <a:ext cx="8534399" cy="1798073"/>
          </a:xfrm>
          <a:prstGeom prst="rect">
            <a:avLst/>
          </a:prstGeom>
          <a:noFill/>
          <a:ln cap="sq" cmpd="sng" w="19050">
            <a:solidFill>
              <a:schemeClr val="dk1"/>
            </a:solidFill>
            <a:prstDash val="solid"/>
            <a:miter lim="800000"/>
            <a:headEnd len="sm" w="sm" type="none"/>
            <a:tailEnd len="sm" w="sm" type="none"/>
          </a:ln>
        </p:spPr>
      </p:pic>
      <p:cxnSp>
        <p:nvCxnSpPr>
          <p:cNvPr id="449" name="Google Shape;449;p3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50" name="Google Shape;450;p37"/>
          <p:cNvSpPr/>
          <p:nvPr/>
        </p:nvSpPr>
        <p:spPr>
          <a:xfrm>
            <a:off x="533400" y="304800"/>
            <a:ext cx="8305800" cy="560400"/>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451" name="Google Shape;451;p37"/>
          <p:cNvSpPr/>
          <p:nvPr/>
        </p:nvSpPr>
        <p:spPr>
          <a:xfrm>
            <a:off x="228600" y="4763869"/>
            <a:ext cx="45720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22-11</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Assumed selling and cost data</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 Vargo Video</a:t>
            </a:r>
            <a:endParaRPr/>
          </a:p>
        </p:txBody>
      </p:sp>
      <p:sp>
        <p:nvSpPr>
          <p:cNvPr id="452" name="Google Shape;452;p37"/>
          <p:cNvSpPr txBox="1"/>
          <p:nvPr/>
        </p:nvSpPr>
        <p:spPr>
          <a:xfrm>
            <a:off x="8077200" y="6369050"/>
            <a:ext cx="914400" cy="33660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8"/>
          <p:cNvSpPr/>
          <p:nvPr/>
        </p:nvSpPr>
        <p:spPr>
          <a:xfrm>
            <a:off x="533400" y="1295400"/>
            <a:ext cx="7772400" cy="832279"/>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  </a:t>
            </a:r>
            <a:r>
              <a:rPr lang="en-US" sz="2100">
                <a:solidFill>
                  <a:schemeClr val="dk1"/>
                </a:solidFill>
                <a:latin typeface="Arial"/>
                <a:ea typeface="Arial"/>
                <a:cs typeface="Arial"/>
                <a:sym typeface="Arial"/>
              </a:rPr>
              <a:t>The CVP income statement for Vargo Video therefore would be reported as follows.</a:t>
            </a:r>
            <a:endParaRPr/>
          </a:p>
        </p:txBody>
      </p:sp>
      <p:cxnSp>
        <p:nvCxnSpPr>
          <p:cNvPr id="458" name="Google Shape;458;p3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59" name="Google Shape;459;p38"/>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pic>
        <p:nvPicPr>
          <p:cNvPr id="460" name="Google Shape;460;p38"/>
          <p:cNvPicPr preferRelativeResize="0"/>
          <p:nvPr/>
        </p:nvPicPr>
        <p:blipFill rotWithShape="1">
          <a:blip r:embed="rId3">
            <a:alphaModFix/>
          </a:blip>
          <a:srcRect b="0" l="0" r="0" t="0"/>
          <a:stretch/>
        </p:blipFill>
        <p:spPr>
          <a:xfrm>
            <a:off x="990600" y="2362200"/>
            <a:ext cx="6986766" cy="3715755"/>
          </a:xfrm>
          <a:prstGeom prst="rect">
            <a:avLst/>
          </a:prstGeom>
          <a:noFill/>
          <a:ln cap="sq" cmpd="sng" w="19050">
            <a:solidFill>
              <a:schemeClr val="dk1"/>
            </a:solidFill>
            <a:prstDash val="solid"/>
            <a:miter lim="800000"/>
            <a:headEnd len="sm" w="sm" type="none"/>
            <a:tailEnd len="sm" w="sm" type="none"/>
          </a:ln>
        </p:spPr>
      </p:pic>
      <p:sp>
        <p:nvSpPr>
          <p:cNvPr id="461" name="Google Shape;461;p38"/>
          <p:cNvSpPr/>
          <p:nvPr/>
        </p:nvSpPr>
        <p:spPr>
          <a:xfrm>
            <a:off x="914400" y="6123801"/>
            <a:ext cx="4572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22-12</a:t>
            </a:r>
            <a:endParaRPr b="1" sz="1200">
              <a:solidFill>
                <a:schemeClr val="dk1"/>
              </a:solidFill>
              <a:latin typeface="Arial"/>
              <a:ea typeface="Arial"/>
              <a:cs typeface="Arial"/>
              <a:sym typeface="Arial"/>
            </a:endParaRPr>
          </a:p>
        </p:txBody>
      </p:sp>
      <p:sp>
        <p:nvSpPr>
          <p:cNvPr id="462" name="Google Shape;462;p3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p:nvPr/>
        </p:nvSpPr>
        <p:spPr>
          <a:xfrm>
            <a:off x="533400" y="1905000"/>
            <a:ext cx="7620000" cy="2057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Contribution margin is available to</a:t>
            </a:r>
            <a:r>
              <a:rPr b="1" i="0" lang="en-US" sz="2200" u="none" cap="none" strike="noStrike">
                <a:solidFill>
                  <a:schemeClr val="dk1"/>
                </a:solidFill>
                <a:latin typeface="Arial"/>
                <a:ea typeface="Arial"/>
                <a:cs typeface="Arial"/>
                <a:sym typeface="Arial"/>
              </a:rPr>
              <a:t> cover fixed costs </a:t>
            </a:r>
            <a:r>
              <a:rPr b="0" i="0" lang="en-US" sz="2200" u="none" cap="none" strike="noStrike">
                <a:solidFill>
                  <a:schemeClr val="dk1"/>
                </a:solidFill>
                <a:latin typeface="Arial"/>
                <a:ea typeface="Arial"/>
                <a:cs typeface="Arial"/>
                <a:sym typeface="Arial"/>
              </a:rPr>
              <a:t>and to</a:t>
            </a:r>
            <a:r>
              <a:rPr b="1" i="0" lang="en-US" sz="2200" u="none" cap="none" strike="noStrike">
                <a:solidFill>
                  <a:schemeClr val="dk1"/>
                </a:solidFill>
                <a:latin typeface="Arial"/>
                <a:ea typeface="Arial"/>
                <a:cs typeface="Arial"/>
                <a:sym typeface="Arial"/>
              </a:rPr>
              <a:t> contribute to income</a:t>
            </a:r>
            <a:r>
              <a:rPr b="0" i="0" lang="en-US" sz="2200" u="none" cap="none" strike="noStrike">
                <a:solidFill>
                  <a:schemeClr val="dk1"/>
                </a:solidFill>
                <a:latin typeface="Arial"/>
                <a:ea typeface="Arial"/>
                <a:cs typeface="Arial"/>
                <a:sym typeface="Arial"/>
              </a:rPr>
              <a:t>.</a:t>
            </a:r>
            <a:endParaRPr/>
          </a:p>
          <a:p>
            <a:pPr indent="-457200" lvl="1" marL="685800" marR="0" rtl="0" algn="l">
              <a:lnSpc>
                <a:spcPct val="120000"/>
              </a:lnSpc>
              <a:spcBef>
                <a:spcPts val="11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Formula for </a:t>
            </a:r>
            <a:r>
              <a:rPr b="1" i="0" lang="en-US" sz="2200" u="none" cap="none" strike="noStrike">
                <a:solidFill>
                  <a:srgbClr val="0000BF"/>
                </a:solidFill>
                <a:latin typeface="Arial"/>
                <a:ea typeface="Arial"/>
                <a:cs typeface="Arial"/>
                <a:sym typeface="Arial"/>
              </a:rPr>
              <a:t>contribution margin per unit </a:t>
            </a:r>
            <a:r>
              <a:rPr b="0" i="0" lang="en-US" sz="2200" u="none" cap="none" strike="noStrike">
                <a:solidFill>
                  <a:schemeClr val="dk1"/>
                </a:solidFill>
                <a:latin typeface="Arial"/>
                <a:ea typeface="Arial"/>
                <a:cs typeface="Arial"/>
                <a:sym typeface="Arial"/>
              </a:rPr>
              <a:t>and the computation for Vargo Video are:</a:t>
            </a:r>
            <a:endParaRPr/>
          </a:p>
        </p:txBody>
      </p:sp>
      <p:sp>
        <p:nvSpPr>
          <p:cNvPr id="468" name="Google Shape;468;p39"/>
          <p:cNvSpPr txBox="1"/>
          <p:nvPr/>
        </p:nvSpPr>
        <p:spPr>
          <a:xfrm>
            <a:off x="533400" y="1295400"/>
            <a:ext cx="70104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UNIT CONTRIBUTION MARGIN</a:t>
            </a:r>
            <a:endParaRPr/>
          </a:p>
        </p:txBody>
      </p:sp>
      <p:cxnSp>
        <p:nvCxnSpPr>
          <p:cNvPr id="469" name="Google Shape;469;p3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70" name="Google Shape;470;p39"/>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471" name="Google Shape;471;p39"/>
          <p:cNvSpPr/>
          <p:nvPr/>
        </p:nvSpPr>
        <p:spPr>
          <a:xfrm>
            <a:off x="228600" y="5473975"/>
            <a:ext cx="4572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22-13</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unit contribution margin</a:t>
            </a:r>
            <a:endParaRPr sz="1200">
              <a:solidFill>
                <a:schemeClr val="dk1"/>
              </a:solidFill>
              <a:latin typeface="Arial"/>
              <a:ea typeface="Arial"/>
              <a:cs typeface="Arial"/>
              <a:sym typeface="Arial"/>
            </a:endParaRPr>
          </a:p>
        </p:txBody>
      </p:sp>
      <p:pic>
        <p:nvPicPr>
          <p:cNvPr id="472" name="Google Shape;472;p39"/>
          <p:cNvPicPr preferRelativeResize="0"/>
          <p:nvPr/>
        </p:nvPicPr>
        <p:blipFill rotWithShape="1">
          <a:blip r:embed="rId3">
            <a:alphaModFix/>
          </a:blip>
          <a:srcRect b="0" l="0" r="0" t="0"/>
          <a:stretch/>
        </p:blipFill>
        <p:spPr>
          <a:xfrm>
            <a:off x="304800" y="4030640"/>
            <a:ext cx="8534400" cy="1411942"/>
          </a:xfrm>
          <a:prstGeom prst="rect">
            <a:avLst/>
          </a:prstGeom>
          <a:noFill/>
          <a:ln>
            <a:noFill/>
          </a:ln>
        </p:spPr>
      </p:pic>
      <p:sp>
        <p:nvSpPr>
          <p:cNvPr id="473" name="Google Shape;473;p3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40"/>
          <p:cNvPicPr preferRelativeResize="0"/>
          <p:nvPr/>
        </p:nvPicPr>
        <p:blipFill rotWithShape="1">
          <a:blip r:embed="rId3">
            <a:alphaModFix/>
          </a:blip>
          <a:srcRect b="0" l="0" r="0" t="0"/>
          <a:stretch/>
        </p:blipFill>
        <p:spPr>
          <a:xfrm>
            <a:off x="838200" y="2590800"/>
            <a:ext cx="7543800" cy="3509061"/>
          </a:xfrm>
          <a:prstGeom prst="rect">
            <a:avLst/>
          </a:prstGeom>
          <a:noFill/>
          <a:ln cap="sq" cmpd="sng" w="19050">
            <a:solidFill>
              <a:schemeClr val="dk1"/>
            </a:solidFill>
            <a:prstDash val="solid"/>
            <a:miter lim="800000"/>
            <a:headEnd len="sm" w="sm" type="none"/>
            <a:tailEnd len="sm" w="sm" type="none"/>
          </a:ln>
        </p:spPr>
      </p:pic>
      <p:sp>
        <p:nvSpPr>
          <p:cNvPr id="479" name="Google Shape;479;p40"/>
          <p:cNvSpPr/>
          <p:nvPr/>
        </p:nvSpPr>
        <p:spPr>
          <a:xfrm>
            <a:off x="533400" y="1905000"/>
            <a:ext cx="8001000" cy="46121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Vargo’s CVP income statement assuming a zero net income.</a:t>
            </a:r>
            <a:endParaRPr/>
          </a:p>
        </p:txBody>
      </p:sp>
      <p:sp>
        <p:nvSpPr>
          <p:cNvPr id="480" name="Google Shape;480;p40"/>
          <p:cNvSpPr/>
          <p:nvPr/>
        </p:nvSpPr>
        <p:spPr>
          <a:xfrm>
            <a:off x="762000" y="6172200"/>
            <a:ext cx="14077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22-14</a:t>
            </a:r>
            <a:endParaRPr b="1" sz="1200">
              <a:solidFill>
                <a:schemeClr val="dk1"/>
              </a:solidFill>
              <a:latin typeface="Arial"/>
              <a:ea typeface="Arial"/>
              <a:cs typeface="Arial"/>
              <a:sym typeface="Arial"/>
            </a:endParaRPr>
          </a:p>
        </p:txBody>
      </p:sp>
      <p:cxnSp>
        <p:nvCxnSpPr>
          <p:cNvPr id="481" name="Google Shape;481;p4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82" name="Google Shape;482;p40"/>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483" name="Google Shape;483;p40"/>
          <p:cNvSpPr txBox="1"/>
          <p:nvPr/>
        </p:nvSpPr>
        <p:spPr>
          <a:xfrm>
            <a:off x="533400" y="1295400"/>
            <a:ext cx="70104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UNIT CONTRIBUTION MARGIN</a:t>
            </a:r>
            <a:endParaRPr/>
          </a:p>
        </p:txBody>
      </p:sp>
      <p:sp>
        <p:nvSpPr>
          <p:cNvPr id="484" name="Google Shape;484;p4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1"/>
          <p:cNvSpPr/>
          <p:nvPr/>
        </p:nvSpPr>
        <p:spPr>
          <a:xfrm>
            <a:off x="533400" y="1905000"/>
            <a:ext cx="7848600" cy="86793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Assume that Vargo sold one more camcorder, for a total of 1,001 camcorders sold.</a:t>
            </a:r>
            <a:endParaRPr/>
          </a:p>
        </p:txBody>
      </p:sp>
      <p:sp>
        <p:nvSpPr>
          <p:cNvPr id="490" name="Google Shape;490;p41"/>
          <p:cNvSpPr/>
          <p:nvPr/>
        </p:nvSpPr>
        <p:spPr>
          <a:xfrm>
            <a:off x="6995187" y="2667000"/>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22-15</a:t>
            </a:r>
            <a:endParaRPr b="1" sz="1200">
              <a:solidFill>
                <a:schemeClr val="dk1"/>
              </a:solidFill>
              <a:latin typeface="Arial"/>
              <a:ea typeface="Arial"/>
              <a:cs typeface="Arial"/>
              <a:sym typeface="Arial"/>
            </a:endParaRPr>
          </a:p>
        </p:txBody>
      </p:sp>
      <p:cxnSp>
        <p:nvCxnSpPr>
          <p:cNvPr id="491" name="Google Shape;491;p4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492" name="Google Shape;492;p41"/>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493" name="Google Shape;493;p41"/>
          <p:cNvSpPr txBox="1"/>
          <p:nvPr/>
        </p:nvSpPr>
        <p:spPr>
          <a:xfrm>
            <a:off x="533400" y="1295400"/>
            <a:ext cx="70104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UNIT CONTRIBUTION MARGIN</a:t>
            </a:r>
            <a:endParaRPr/>
          </a:p>
        </p:txBody>
      </p:sp>
      <p:pic>
        <p:nvPicPr>
          <p:cNvPr id="494" name="Google Shape;494;p41"/>
          <p:cNvPicPr preferRelativeResize="0"/>
          <p:nvPr/>
        </p:nvPicPr>
        <p:blipFill rotWithShape="1">
          <a:blip r:embed="rId3">
            <a:alphaModFix/>
          </a:blip>
          <a:srcRect b="0" l="0" r="0" t="0"/>
          <a:stretch/>
        </p:blipFill>
        <p:spPr>
          <a:xfrm>
            <a:off x="762000" y="3018890"/>
            <a:ext cx="7543800" cy="3305710"/>
          </a:xfrm>
          <a:prstGeom prst="rect">
            <a:avLst/>
          </a:prstGeom>
          <a:noFill/>
          <a:ln cap="sq" cmpd="sng" w="19050">
            <a:solidFill>
              <a:schemeClr val="dk1"/>
            </a:solidFill>
            <a:prstDash val="solid"/>
            <a:miter lim="800000"/>
            <a:headEnd len="sm" w="sm" type="none"/>
            <a:tailEnd len="sm" w="sm" type="none"/>
          </a:ln>
        </p:spPr>
      </p:pic>
      <p:sp>
        <p:nvSpPr>
          <p:cNvPr id="495" name="Google Shape;495;p4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2"/>
          <p:cNvSpPr/>
          <p:nvPr/>
        </p:nvSpPr>
        <p:spPr>
          <a:xfrm>
            <a:off x="533400" y="1905000"/>
            <a:ext cx="7620000" cy="21336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Shows the percentage of each sales dollar available to apply toward fixed costs and profits.</a:t>
            </a:r>
            <a:endParaRPr/>
          </a:p>
          <a:p>
            <a:pPr indent="-457200" lvl="1" marL="685800" marR="0" rtl="0" algn="l">
              <a:lnSpc>
                <a:spcPct val="120000"/>
              </a:lnSpc>
              <a:spcBef>
                <a:spcPts val="1200"/>
              </a:spcBef>
              <a:spcAft>
                <a:spcPts val="0"/>
              </a:spcAft>
              <a:buClr>
                <a:srgbClr val="800000"/>
              </a:buClr>
              <a:buSzPts val="1760"/>
              <a:buFont typeface="Noto Sans Symbols"/>
              <a:buChar char="◆"/>
            </a:pPr>
            <a:r>
              <a:rPr b="0" i="0" lang="en-US" sz="2200" u="none" cap="none" strike="noStrike">
                <a:solidFill>
                  <a:schemeClr val="dk1"/>
                </a:solidFill>
                <a:latin typeface="Arial"/>
                <a:ea typeface="Arial"/>
                <a:cs typeface="Arial"/>
                <a:sym typeface="Arial"/>
              </a:rPr>
              <a:t>Formula for </a:t>
            </a:r>
            <a:r>
              <a:rPr b="1" i="0" lang="en-US" sz="2200" u="none" cap="none" strike="noStrike">
                <a:solidFill>
                  <a:srgbClr val="0000BF"/>
                </a:solidFill>
                <a:latin typeface="Arial"/>
                <a:ea typeface="Arial"/>
                <a:cs typeface="Arial"/>
                <a:sym typeface="Arial"/>
              </a:rPr>
              <a:t>contribution margin ratio</a:t>
            </a:r>
            <a:r>
              <a:rPr b="0" i="0" lang="en-US" sz="2200" u="none" cap="none" strike="noStrike">
                <a:solidFill>
                  <a:srgbClr val="0000BF"/>
                </a:solidFill>
                <a:latin typeface="Arial"/>
                <a:ea typeface="Arial"/>
                <a:cs typeface="Arial"/>
                <a:sym typeface="Arial"/>
              </a:rPr>
              <a:t> </a:t>
            </a:r>
            <a:r>
              <a:rPr b="0" i="0" lang="en-US" sz="2200" u="none" cap="none" strike="noStrike">
                <a:solidFill>
                  <a:schemeClr val="dk1"/>
                </a:solidFill>
                <a:latin typeface="Arial"/>
                <a:ea typeface="Arial"/>
                <a:cs typeface="Arial"/>
                <a:sym typeface="Arial"/>
              </a:rPr>
              <a:t>and the computation for Vargo Video are:</a:t>
            </a:r>
            <a:endParaRPr/>
          </a:p>
        </p:txBody>
      </p:sp>
      <p:sp>
        <p:nvSpPr>
          <p:cNvPr id="501" name="Google Shape;501;p42"/>
          <p:cNvSpPr/>
          <p:nvPr/>
        </p:nvSpPr>
        <p:spPr>
          <a:xfrm>
            <a:off x="228600" y="5213109"/>
            <a:ext cx="18053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22-17</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contribution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margin ratio</a:t>
            </a:r>
            <a:endParaRPr b="1" sz="1200">
              <a:solidFill>
                <a:schemeClr val="dk1"/>
              </a:solidFill>
              <a:latin typeface="Arial"/>
              <a:ea typeface="Arial"/>
              <a:cs typeface="Arial"/>
              <a:sym typeface="Arial"/>
            </a:endParaRPr>
          </a:p>
        </p:txBody>
      </p:sp>
      <p:sp>
        <p:nvSpPr>
          <p:cNvPr id="502" name="Google Shape;502;p42"/>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RATIO</a:t>
            </a:r>
            <a:endParaRPr b="1" sz="2800">
              <a:solidFill>
                <a:schemeClr val="dk1"/>
              </a:solidFill>
              <a:latin typeface="Arial"/>
              <a:ea typeface="Arial"/>
              <a:cs typeface="Arial"/>
              <a:sym typeface="Arial"/>
            </a:endParaRPr>
          </a:p>
        </p:txBody>
      </p:sp>
      <p:cxnSp>
        <p:nvCxnSpPr>
          <p:cNvPr id="503" name="Google Shape;503;p4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04" name="Google Shape;504;p42"/>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pic>
        <p:nvPicPr>
          <p:cNvPr id="505" name="Google Shape;505;p42"/>
          <p:cNvPicPr preferRelativeResize="0"/>
          <p:nvPr/>
        </p:nvPicPr>
        <p:blipFill rotWithShape="1">
          <a:blip r:embed="rId3">
            <a:alphaModFix/>
          </a:blip>
          <a:srcRect b="0" l="0" r="0" t="0"/>
          <a:stretch/>
        </p:blipFill>
        <p:spPr>
          <a:xfrm>
            <a:off x="304801" y="4010725"/>
            <a:ext cx="8534400" cy="1202384"/>
          </a:xfrm>
          <a:prstGeom prst="rect">
            <a:avLst/>
          </a:prstGeom>
          <a:noFill/>
          <a:ln>
            <a:noFill/>
          </a:ln>
        </p:spPr>
      </p:pic>
      <p:sp>
        <p:nvSpPr>
          <p:cNvPr id="506" name="Google Shape;506;p4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3"/>
          <p:cNvSpPr/>
          <p:nvPr/>
        </p:nvSpPr>
        <p:spPr>
          <a:xfrm>
            <a:off x="228600" y="5410200"/>
            <a:ext cx="267754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CVP income statement, with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net income and percent of sales data</a:t>
            </a:r>
            <a:endParaRPr sz="1200">
              <a:solidFill>
                <a:schemeClr val="dk1"/>
              </a:solidFill>
              <a:latin typeface="Arial"/>
              <a:ea typeface="Arial"/>
              <a:cs typeface="Arial"/>
              <a:sym typeface="Arial"/>
            </a:endParaRPr>
          </a:p>
        </p:txBody>
      </p:sp>
      <p:cxnSp>
        <p:nvCxnSpPr>
          <p:cNvPr id="512" name="Google Shape;512;p4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13" name="Google Shape;513;p4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514" name="Google Shape;514;p43"/>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RATIO</a:t>
            </a:r>
            <a:endParaRPr b="1" sz="2800">
              <a:solidFill>
                <a:schemeClr val="dk1"/>
              </a:solidFill>
              <a:latin typeface="Arial"/>
              <a:ea typeface="Arial"/>
              <a:cs typeface="Arial"/>
              <a:sym typeface="Arial"/>
            </a:endParaRPr>
          </a:p>
        </p:txBody>
      </p:sp>
      <p:pic>
        <p:nvPicPr>
          <p:cNvPr id="515" name="Google Shape;515;p43"/>
          <p:cNvPicPr preferRelativeResize="0"/>
          <p:nvPr/>
        </p:nvPicPr>
        <p:blipFill rotWithShape="1">
          <a:blip r:embed="rId3">
            <a:alphaModFix/>
          </a:blip>
          <a:srcRect b="0" l="0" r="0" t="0"/>
          <a:stretch/>
        </p:blipFill>
        <p:spPr>
          <a:xfrm>
            <a:off x="304801" y="2057400"/>
            <a:ext cx="8534400" cy="3276955"/>
          </a:xfrm>
          <a:prstGeom prst="rect">
            <a:avLst/>
          </a:prstGeom>
          <a:noFill/>
          <a:ln cap="sq" cmpd="sng" w="19050">
            <a:solidFill>
              <a:schemeClr val="dk1"/>
            </a:solidFill>
            <a:prstDash val="solid"/>
            <a:miter lim="800000"/>
            <a:headEnd len="sm" w="sm" type="none"/>
            <a:tailEnd len="sm" w="sm" type="none"/>
          </a:ln>
        </p:spPr>
      </p:pic>
      <p:sp>
        <p:nvSpPr>
          <p:cNvPr id="516" name="Google Shape;516;p4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44"/>
          <p:cNvPicPr preferRelativeResize="0"/>
          <p:nvPr/>
        </p:nvPicPr>
        <p:blipFill rotWithShape="1">
          <a:blip r:embed="rId3">
            <a:alphaModFix/>
          </a:blip>
          <a:srcRect b="0" l="0" r="0" t="0"/>
          <a:stretch/>
        </p:blipFill>
        <p:spPr>
          <a:xfrm>
            <a:off x="228600" y="3054193"/>
            <a:ext cx="8610600" cy="2801611"/>
          </a:xfrm>
          <a:prstGeom prst="rect">
            <a:avLst/>
          </a:prstGeom>
          <a:noFill/>
          <a:ln cap="sq" cmpd="sng" w="19050">
            <a:solidFill>
              <a:schemeClr val="dk1"/>
            </a:solidFill>
            <a:prstDash val="solid"/>
            <a:miter lim="800000"/>
            <a:headEnd len="sm" w="sm" type="none"/>
            <a:tailEnd len="sm" w="sm" type="none"/>
          </a:ln>
        </p:spPr>
      </p:pic>
      <p:sp>
        <p:nvSpPr>
          <p:cNvPr id="522" name="Google Shape;522;p44"/>
          <p:cNvSpPr/>
          <p:nvPr/>
        </p:nvSpPr>
        <p:spPr>
          <a:xfrm>
            <a:off x="533400" y="1905000"/>
            <a:ext cx="8153400" cy="86793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Assume Vargo Video’s current sales are $500,000 and it wants to know the effect of a $100,000 (200-unit) increase in sales.</a:t>
            </a:r>
            <a:endParaRPr/>
          </a:p>
        </p:txBody>
      </p:sp>
      <p:sp>
        <p:nvSpPr>
          <p:cNvPr id="523" name="Google Shape;523;p44"/>
          <p:cNvSpPr/>
          <p:nvPr/>
        </p:nvSpPr>
        <p:spPr>
          <a:xfrm>
            <a:off x="152400" y="5922497"/>
            <a:ext cx="14077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22-18</a:t>
            </a:r>
            <a:endParaRPr b="1" sz="1200">
              <a:solidFill>
                <a:schemeClr val="dk1"/>
              </a:solidFill>
              <a:latin typeface="Arial"/>
              <a:ea typeface="Arial"/>
              <a:cs typeface="Arial"/>
              <a:sym typeface="Arial"/>
            </a:endParaRPr>
          </a:p>
        </p:txBody>
      </p:sp>
      <p:cxnSp>
        <p:nvCxnSpPr>
          <p:cNvPr id="524" name="Google Shape;524;p4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25" name="Google Shape;525;p4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526" name="Google Shape;526;p44"/>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RATIO</a:t>
            </a:r>
            <a:endParaRPr/>
          </a:p>
        </p:txBody>
      </p:sp>
      <p:sp>
        <p:nvSpPr>
          <p:cNvPr id="527" name="Google Shape;527;p4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5"/>
          <p:cNvSpPr/>
          <p:nvPr/>
        </p:nvSpPr>
        <p:spPr>
          <a:xfrm>
            <a:off x="533400" y="1905000"/>
            <a:ext cx="7696200" cy="2971800"/>
          </a:xfrm>
          <a:prstGeom prst="rect">
            <a:avLst/>
          </a:prstGeom>
          <a:solidFill>
            <a:schemeClr val="lt1"/>
          </a:solidFill>
          <a:ln>
            <a:noFill/>
          </a:ln>
        </p:spPr>
        <p:txBody>
          <a:bodyPr anchorCtr="0" anchor="t" bIns="46025" lIns="91425" spcFirstLastPara="1" rIns="182550" wrap="square" tIns="46025">
            <a:noAutofit/>
          </a:bodyPr>
          <a:lstStyle/>
          <a:p>
            <a:pPr indent="-517525" lvl="0" marL="517525" marR="0" rtl="0" algn="l">
              <a:lnSpc>
                <a:spcPct val="120000"/>
              </a:lnSpc>
              <a:spcBef>
                <a:spcPts val="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Contribution margin:</a:t>
            </a:r>
            <a:endParaRPr/>
          </a:p>
          <a:p>
            <a:pPr indent="-450850" lvl="0" marL="682625" marR="0" rtl="0" algn="l">
              <a:lnSpc>
                <a:spcPct val="120000"/>
              </a:lnSpc>
              <a:spcBef>
                <a:spcPts val="115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a.	Is revenue remaining after deducting variable costs.</a:t>
            </a:r>
            <a:endParaRPr/>
          </a:p>
          <a:p>
            <a:pPr indent="-450850" lvl="0" marL="682625" marR="0" rtl="0" algn="l">
              <a:lnSpc>
                <a:spcPct val="120000"/>
              </a:lnSpc>
              <a:spcBef>
                <a:spcPts val="115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b. 	May be expressed as contribution margin per unit. </a:t>
            </a:r>
            <a:endParaRPr/>
          </a:p>
          <a:p>
            <a:pPr indent="-450850" lvl="0" marL="682625" marR="0" rtl="0" algn="l">
              <a:lnSpc>
                <a:spcPct val="120000"/>
              </a:lnSpc>
              <a:spcBef>
                <a:spcPts val="115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c. 	Is selling price less cost of goods sold.</a:t>
            </a:r>
            <a:endParaRPr/>
          </a:p>
          <a:p>
            <a:pPr indent="-450850" lvl="0" marL="682625" marR="0" rtl="0" algn="l">
              <a:lnSpc>
                <a:spcPct val="120000"/>
              </a:lnSpc>
              <a:spcBef>
                <a:spcPts val="1150"/>
              </a:spcBef>
              <a:spcAft>
                <a:spcPts val="0"/>
              </a:spcAft>
              <a:buClr>
                <a:schemeClr val="accent2"/>
              </a:buClr>
              <a:buSzPts val="1725"/>
              <a:buFont typeface="Noto Sans Symbols"/>
              <a:buNone/>
            </a:pPr>
            <a:r>
              <a:rPr lang="en-US" sz="2300">
                <a:solidFill>
                  <a:schemeClr val="dk1"/>
                </a:solidFill>
                <a:latin typeface="Arial"/>
                <a:ea typeface="Arial"/>
                <a:cs typeface="Arial"/>
                <a:sym typeface="Arial"/>
              </a:rPr>
              <a:t>d. 	Both (a) and (b) above. </a:t>
            </a:r>
            <a:endParaRPr/>
          </a:p>
        </p:txBody>
      </p:sp>
      <p:sp>
        <p:nvSpPr>
          <p:cNvPr id="533" name="Google Shape;533;p45"/>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534" name="Google Shape;534;p4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35" name="Google Shape;535;p45"/>
          <p:cNvSpPr/>
          <p:nvPr/>
        </p:nvSpPr>
        <p:spPr>
          <a:xfrm>
            <a:off x="152400" y="4316104"/>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536" name="Google Shape;536;p4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a:t>
            </a:r>
            <a:endParaRPr/>
          </a:p>
        </p:txBody>
      </p:sp>
      <p:sp>
        <p:nvSpPr>
          <p:cNvPr id="537" name="Google Shape;537;p4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6"/>
          <p:cNvSpPr/>
          <p:nvPr/>
        </p:nvSpPr>
        <p:spPr>
          <a:xfrm>
            <a:off x="609600" y="1456759"/>
            <a:ext cx="8001000" cy="409605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Ampco Industries produces and sells a cell phone-operated thermostat. Information regarding the costs and sales of thermostats during September 2017 are provided below.</a:t>
            </a:r>
            <a:endParaRPr/>
          </a:p>
          <a:p>
            <a:pPr indent="0" lvl="0" marL="0" marR="0" rtl="0" algn="l">
              <a:lnSpc>
                <a:spcPct val="120000"/>
              </a:lnSpc>
              <a:spcBef>
                <a:spcPts val="1200"/>
              </a:spcBef>
              <a:spcAft>
                <a:spcPts val="0"/>
              </a:spcAft>
              <a:buNone/>
            </a:pPr>
            <a:r>
              <a:rPr lang="en-US" sz="2200">
                <a:solidFill>
                  <a:schemeClr val="dk1"/>
                </a:solidFill>
                <a:latin typeface="Arial"/>
                <a:ea typeface="Arial"/>
                <a:cs typeface="Arial"/>
                <a:sym typeface="Arial"/>
              </a:rPr>
              <a:t>	Unit selling price of thermostat 	$85</a:t>
            </a:r>
            <a:endParaRPr/>
          </a:p>
          <a:p>
            <a:pPr indent="0" lvl="0" marL="0" marR="0" rtl="0" algn="l">
              <a:lnSpc>
                <a:spcPct val="120000"/>
              </a:lnSpc>
              <a:spcBef>
                <a:spcPts val="200"/>
              </a:spcBef>
              <a:spcAft>
                <a:spcPts val="0"/>
              </a:spcAft>
              <a:buNone/>
            </a:pPr>
            <a:r>
              <a:rPr lang="en-US" sz="2200">
                <a:solidFill>
                  <a:schemeClr val="dk1"/>
                </a:solidFill>
                <a:latin typeface="Arial"/>
                <a:ea typeface="Arial"/>
                <a:cs typeface="Arial"/>
                <a:sym typeface="Arial"/>
              </a:rPr>
              <a:t>	Unit variable costs 	$32</a:t>
            </a:r>
            <a:endParaRPr/>
          </a:p>
          <a:p>
            <a:pPr indent="0" lvl="0" marL="0" marR="0" rtl="0" algn="l">
              <a:lnSpc>
                <a:spcPct val="120000"/>
              </a:lnSpc>
              <a:spcBef>
                <a:spcPts val="200"/>
              </a:spcBef>
              <a:spcAft>
                <a:spcPts val="0"/>
              </a:spcAft>
              <a:buNone/>
            </a:pPr>
            <a:r>
              <a:rPr lang="en-US" sz="2200">
                <a:solidFill>
                  <a:schemeClr val="dk1"/>
                </a:solidFill>
                <a:latin typeface="Arial"/>
                <a:ea typeface="Arial"/>
                <a:cs typeface="Arial"/>
                <a:sym typeface="Arial"/>
              </a:rPr>
              <a:t>	Total monthly fixed costs 	$190,000</a:t>
            </a:r>
            <a:endParaRPr/>
          </a:p>
          <a:p>
            <a:pPr indent="0" lvl="0" marL="0" marR="0" rtl="0" algn="l">
              <a:lnSpc>
                <a:spcPct val="120000"/>
              </a:lnSpc>
              <a:spcBef>
                <a:spcPts val="200"/>
              </a:spcBef>
              <a:spcAft>
                <a:spcPts val="0"/>
              </a:spcAft>
              <a:buNone/>
            </a:pPr>
            <a:r>
              <a:rPr lang="en-US" sz="2200">
                <a:solidFill>
                  <a:schemeClr val="dk1"/>
                </a:solidFill>
                <a:latin typeface="Arial"/>
                <a:ea typeface="Arial"/>
                <a:cs typeface="Arial"/>
                <a:sym typeface="Arial"/>
              </a:rPr>
              <a:t>	Units sold 	4,000</a:t>
            </a:r>
            <a:endParaRPr sz="2200">
              <a:solidFill>
                <a:schemeClr val="dk1"/>
              </a:solidFill>
              <a:latin typeface="Arial"/>
              <a:ea typeface="Arial"/>
              <a:cs typeface="Arial"/>
              <a:sym typeface="Arial"/>
            </a:endParaRPr>
          </a:p>
          <a:p>
            <a:pPr indent="0" lvl="0" marL="0" marR="0" rtl="0" algn="l">
              <a:lnSpc>
                <a:spcPct val="120000"/>
              </a:lnSpc>
              <a:spcBef>
                <a:spcPts val="1200"/>
              </a:spcBef>
              <a:spcAft>
                <a:spcPts val="0"/>
              </a:spcAft>
              <a:buNone/>
            </a:pPr>
            <a:r>
              <a:rPr lang="en-US" sz="2200">
                <a:solidFill>
                  <a:schemeClr val="dk1"/>
                </a:solidFill>
                <a:latin typeface="Arial"/>
                <a:ea typeface="Arial"/>
                <a:cs typeface="Arial"/>
                <a:sym typeface="Arial"/>
              </a:rPr>
              <a:t>Prepare a CVP income statement for Ampco Industries for the month of September. Provide per unit values and total values.</a:t>
            </a:r>
            <a:endParaRPr sz="2200">
              <a:solidFill>
                <a:schemeClr val="dk1"/>
              </a:solidFill>
              <a:latin typeface="Arial"/>
              <a:ea typeface="Arial"/>
              <a:cs typeface="Arial"/>
              <a:sym typeface="Arial"/>
            </a:endParaRPr>
          </a:p>
        </p:txBody>
      </p:sp>
      <p:sp>
        <p:nvSpPr>
          <p:cNvPr id="543" name="Google Shape;543;p4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544" name="Google Shape;544;p46"/>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545" name="Google Shape;545;p46"/>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CVP Income Statement</a:t>
            </a:r>
            <a:endParaRPr b="1" i="0" sz="3200">
              <a:solidFill>
                <a:schemeClr val="lt1"/>
              </a:solidFill>
              <a:latin typeface="Arial"/>
              <a:ea typeface="Arial"/>
              <a:cs typeface="Arial"/>
              <a:sym typeface="Arial"/>
            </a:endParaRPr>
          </a:p>
        </p:txBody>
      </p:sp>
      <p:sp>
        <p:nvSpPr>
          <p:cNvPr id="546" name="Google Shape;546;p46"/>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3</a:t>
            </a:r>
            <a:endParaRPr b="1" i="0" sz="4000">
              <a:solidFill>
                <a:srgbClr val="FF0000"/>
              </a:solidFill>
              <a:latin typeface="Arial"/>
              <a:ea typeface="Arial"/>
              <a:cs typeface="Arial"/>
              <a:sym typeface="Arial"/>
            </a:endParaRP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7"/>
          <p:cNvSpPr/>
          <p:nvPr/>
        </p:nvSpPr>
        <p:spPr>
          <a:xfrm>
            <a:off x="609600" y="1456759"/>
            <a:ext cx="8001000" cy="86748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Prepare a CVP income statement for Ampco Industries for the month of September. Provide per unit values and total values.</a:t>
            </a:r>
            <a:endParaRPr sz="2200">
              <a:solidFill>
                <a:schemeClr val="dk1"/>
              </a:solidFill>
              <a:latin typeface="Arial"/>
              <a:ea typeface="Arial"/>
              <a:cs typeface="Arial"/>
              <a:sym typeface="Arial"/>
            </a:endParaRPr>
          </a:p>
        </p:txBody>
      </p:sp>
      <p:pic>
        <p:nvPicPr>
          <p:cNvPr id="552" name="Google Shape;552;p47"/>
          <p:cNvPicPr preferRelativeResize="0"/>
          <p:nvPr/>
        </p:nvPicPr>
        <p:blipFill rotWithShape="1">
          <a:blip r:embed="rId3">
            <a:alphaModFix/>
          </a:blip>
          <a:srcRect b="0" l="0" r="0" t="0"/>
          <a:stretch/>
        </p:blipFill>
        <p:spPr>
          <a:xfrm>
            <a:off x="249261" y="2538230"/>
            <a:ext cx="8677026" cy="3481570"/>
          </a:xfrm>
          <a:prstGeom prst="rect">
            <a:avLst/>
          </a:prstGeom>
          <a:noFill/>
          <a:ln>
            <a:noFill/>
          </a:ln>
        </p:spPr>
      </p:pic>
      <p:sp>
        <p:nvSpPr>
          <p:cNvPr id="553" name="Google Shape;553;p47"/>
          <p:cNvSpPr/>
          <p:nvPr/>
        </p:nvSpPr>
        <p:spPr>
          <a:xfrm>
            <a:off x="4495800" y="4279015"/>
            <a:ext cx="3505200" cy="292985"/>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4" name="Google Shape;554;p47"/>
          <p:cNvSpPr/>
          <p:nvPr/>
        </p:nvSpPr>
        <p:spPr>
          <a:xfrm>
            <a:off x="4495800" y="4583815"/>
            <a:ext cx="3505200" cy="292985"/>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5" name="Google Shape;555;p47"/>
          <p:cNvSpPr/>
          <p:nvPr/>
        </p:nvSpPr>
        <p:spPr>
          <a:xfrm>
            <a:off x="4495800" y="4888615"/>
            <a:ext cx="3505200" cy="292985"/>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6" name="Google Shape;556;p47"/>
          <p:cNvSpPr/>
          <p:nvPr/>
        </p:nvSpPr>
        <p:spPr>
          <a:xfrm>
            <a:off x="4495800" y="5193415"/>
            <a:ext cx="3505200" cy="292985"/>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7" name="Google Shape;557;p47"/>
          <p:cNvSpPr/>
          <p:nvPr/>
        </p:nvSpPr>
        <p:spPr>
          <a:xfrm>
            <a:off x="4495800" y="5498215"/>
            <a:ext cx="3505200" cy="292985"/>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8" name="Google Shape;558;p4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3</a:t>
            </a:r>
            <a:endParaRPr b="1" i="1" sz="1600">
              <a:solidFill>
                <a:schemeClr val="dk1"/>
              </a:solidFill>
              <a:latin typeface="Arial"/>
              <a:ea typeface="Arial"/>
              <a:cs typeface="Arial"/>
              <a:sym typeface="Arial"/>
            </a:endParaRPr>
          </a:p>
        </p:txBody>
      </p:sp>
      <p:sp>
        <p:nvSpPr>
          <p:cNvPr id="559" name="Google Shape;559;p47"/>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560" name="Google Shape;560;p47"/>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CVP Income Statement</a:t>
            </a:r>
            <a:endParaRPr b="1" i="0" sz="3200">
              <a:solidFill>
                <a:schemeClr val="lt1"/>
              </a:solidFill>
              <a:latin typeface="Arial"/>
              <a:ea typeface="Arial"/>
              <a:cs typeface="Arial"/>
              <a:sym typeface="Arial"/>
            </a:endParaRPr>
          </a:p>
        </p:txBody>
      </p:sp>
      <p:sp>
        <p:nvSpPr>
          <p:cNvPr id="561" name="Google Shape;561;p47"/>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3</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3"/>
                                        </p:tgtEl>
                                      </p:cBhvr>
                                    </p:animEffect>
                                    <p:set>
                                      <p:cBhvr>
                                        <p:cTn dur="1" fill="hold">
                                          <p:stCondLst>
                                            <p:cond delay="500"/>
                                          </p:stCondLst>
                                        </p:cTn>
                                        <p:tgtEl>
                                          <p:spTgt spid="5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4"/>
                                        </p:tgtEl>
                                      </p:cBhvr>
                                    </p:animEffect>
                                    <p:set>
                                      <p:cBhvr>
                                        <p:cTn dur="1" fill="hold">
                                          <p:stCondLst>
                                            <p:cond delay="500"/>
                                          </p:stCondLst>
                                        </p:cTn>
                                        <p:tgtEl>
                                          <p:spTgt spid="5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5"/>
                                        </p:tgtEl>
                                      </p:cBhvr>
                                    </p:animEffect>
                                    <p:set>
                                      <p:cBhvr>
                                        <p:cTn dur="1" fill="hold">
                                          <p:stCondLst>
                                            <p:cond delay="500"/>
                                          </p:stCondLst>
                                        </p:cTn>
                                        <p:tgtEl>
                                          <p:spTgt spid="5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6"/>
                                        </p:tgtEl>
                                      </p:cBhvr>
                                    </p:animEffect>
                                    <p:set>
                                      <p:cBhvr>
                                        <p:cTn dur="1" fill="hold">
                                          <p:stCondLst>
                                            <p:cond delay="500"/>
                                          </p:stCondLst>
                                        </p:cTn>
                                        <p:tgtEl>
                                          <p:spTgt spid="5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7"/>
                                        </p:tgtEl>
                                      </p:cBhvr>
                                    </p:animEffect>
                                    <p:set>
                                      <p:cBhvr>
                                        <p:cTn dur="1" fill="hold">
                                          <p:stCondLst>
                                            <p:cond delay="500"/>
                                          </p:stCondLst>
                                        </p:cTn>
                                        <p:tgtEl>
                                          <p:spTgt spid="5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8"/>
          <p:cNvSpPr txBox="1"/>
          <p:nvPr>
            <p:ph idx="1" type="body"/>
          </p:nvPr>
        </p:nvSpPr>
        <p:spPr>
          <a:xfrm>
            <a:off x="828675" y="2098344"/>
            <a:ext cx="7620000" cy="41910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0" marL="4572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Process of finding the </a:t>
            </a:r>
            <a:r>
              <a:rPr lang="en-US" sz="2100">
                <a:solidFill>
                  <a:schemeClr val="dk1"/>
                </a:solidFill>
                <a:latin typeface="Arial"/>
                <a:ea typeface="Arial"/>
                <a:cs typeface="Arial"/>
                <a:sym typeface="Arial"/>
              </a:rPr>
              <a:t>break-even point </a:t>
            </a:r>
            <a:r>
              <a:rPr b="0" lang="en-US" sz="2100">
                <a:solidFill>
                  <a:schemeClr val="dk1"/>
                </a:solidFill>
                <a:latin typeface="Arial"/>
                <a:ea typeface="Arial"/>
                <a:cs typeface="Arial"/>
                <a:sym typeface="Arial"/>
              </a:rPr>
              <a:t>level of activity at </a:t>
            </a:r>
            <a:r>
              <a:rPr lang="en-US" sz="2100">
                <a:solidFill>
                  <a:schemeClr val="dk1"/>
                </a:solidFill>
                <a:latin typeface="Arial"/>
                <a:ea typeface="Arial"/>
                <a:cs typeface="Arial"/>
                <a:sym typeface="Arial"/>
              </a:rPr>
              <a:t>which</a:t>
            </a:r>
            <a:r>
              <a:rPr b="0" lang="en-US" sz="2100">
                <a:solidFill>
                  <a:schemeClr val="dk1"/>
                </a:solidFill>
                <a:latin typeface="Arial"/>
                <a:ea typeface="Arial"/>
                <a:cs typeface="Arial"/>
                <a:sym typeface="Arial"/>
              </a:rPr>
              <a:t> </a:t>
            </a:r>
            <a:r>
              <a:rPr lang="en-US" sz="2100">
                <a:solidFill>
                  <a:schemeClr val="dk1"/>
                </a:solidFill>
                <a:latin typeface="Arial"/>
                <a:ea typeface="Arial"/>
                <a:cs typeface="Arial"/>
                <a:sym typeface="Arial"/>
              </a:rPr>
              <a:t>total revenues equal total costs </a:t>
            </a:r>
            <a:r>
              <a:rPr b="0" lang="en-US" sz="2100">
                <a:solidFill>
                  <a:schemeClr val="dk1"/>
                </a:solidFill>
                <a:latin typeface="Arial"/>
                <a:ea typeface="Arial"/>
                <a:cs typeface="Arial"/>
                <a:sym typeface="Arial"/>
              </a:rPr>
              <a:t>(both fixed and variable).</a:t>
            </a:r>
            <a:endParaRPr/>
          </a:p>
          <a:p>
            <a:pPr indent="-457200" lvl="0" marL="457200" rtl="0" algn="l">
              <a:lnSpc>
                <a:spcPct val="120000"/>
              </a:lnSpc>
              <a:spcBef>
                <a:spcPts val="120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Can be computed or derived</a:t>
            </a:r>
            <a:endParaRPr/>
          </a:p>
          <a:p>
            <a:pPr indent="-457200" lvl="1" marL="1089025" rtl="0" algn="l">
              <a:lnSpc>
                <a:spcPct val="120000"/>
              </a:lnSpc>
              <a:spcBef>
                <a:spcPts val="1200"/>
              </a:spcBef>
              <a:spcAft>
                <a:spcPts val="0"/>
              </a:spcAft>
              <a:buClr>
                <a:srgbClr val="800000"/>
              </a:buClr>
              <a:buSzPts val="1600"/>
              <a:buFont typeface="Arial"/>
              <a:buChar char="►"/>
            </a:pPr>
            <a:r>
              <a:rPr b="0" lang="en-US" sz="2000">
                <a:solidFill>
                  <a:schemeClr val="dk1"/>
                </a:solidFill>
                <a:latin typeface="Arial"/>
                <a:ea typeface="Arial"/>
                <a:cs typeface="Arial"/>
                <a:sym typeface="Arial"/>
              </a:rPr>
              <a:t>from a </a:t>
            </a:r>
            <a:r>
              <a:rPr lang="en-US" sz="2000">
                <a:solidFill>
                  <a:schemeClr val="dk1"/>
                </a:solidFill>
                <a:latin typeface="Arial"/>
                <a:ea typeface="Arial"/>
                <a:cs typeface="Arial"/>
                <a:sym typeface="Arial"/>
              </a:rPr>
              <a:t>mathematical equation</a:t>
            </a:r>
            <a:r>
              <a:rPr b="0" lang="en-US" sz="2000">
                <a:solidFill>
                  <a:schemeClr val="dk1"/>
                </a:solidFill>
                <a:latin typeface="Arial"/>
                <a:ea typeface="Arial"/>
                <a:cs typeface="Arial"/>
                <a:sym typeface="Arial"/>
              </a:rPr>
              <a:t>,</a:t>
            </a:r>
            <a:endParaRPr/>
          </a:p>
          <a:p>
            <a:pPr indent="-457200" lvl="1" marL="1089025" rtl="0" algn="l">
              <a:lnSpc>
                <a:spcPct val="120000"/>
              </a:lnSpc>
              <a:spcBef>
                <a:spcPts val="1200"/>
              </a:spcBef>
              <a:spcAft>
                <a:spcPts val="0"/>
              </a:spcAft>
              <a:buClr>
                <a:srgbClr val="800000"/>
              </a:buClr>
              <a:buSzPts val="1600"/>
              <a:buFont typeface="Arial"/>
              <a:buChar char="►"/>
            </a:pPr>
            <a:r>
              <a:rPr b="0" lang="en-US" sz="2000">
                <a:solidFill>
                  <a:schemeClr val="dk1"/>
                </a:solidFill>
                <a:latin typeface="Arial"/>
                <a:ea typeface="Arial"/>
                <a:cs typeface="Arial"/>
                <a:sym typeface="Arial"/>
              </a:rPr>
              <a:t>by using </a:t>
            </a:r>
            <a:r>
              <a:rPr lang="en-US" sz="2000">
                <a:solidFill>
                  <a:schemeClr val="dk1"/>
                </a:solidFill>
                <a:latin typeface="Arial"/>
                <a:ea typeface="Arial"/>
                <a:cs typeface="Arial"/>
                <a:sym typeface="Arial"/>
              </a:rPr>
              <a:t>contribution margin</a:t>
            </a:r>
            <a:r>
              <a:rPr b="0" lang="en-US" sz="2000">
                <a:solidFill>
                  <a:schemeClr val="dk1"/>
                </a:solidFill>
                <a:latin typeface="Arial"/>
                <a:ea typeface="Arial"/>
                <a:cs typeface="Arial"/>
                <a:sym typeface="Arial"/>
              </a:rPr>
              <a:t>, or</a:t>
            </a:r>
            <a:endParaRPr/>
          </a:p>
          <a:p>
            <a:pPr indent="-457200" lvl="1" marL="1089025" rtl="0" algn="l">
              <a:lnSpc>
                <a:spcPct val="120000"/>
              </a:lnSpc>
              <a:spcBef>
                <a:spcPts val="1200"/>
              </a:spcBef>
              <a:spcAft>
                <a:spcPts val="0"/>
              </a:spcAft>
              <a:buClr>
                <a:srgbClr val="800000"/>
              </a:buClr>
              <a:buSzPts val="1600"/>
              <a:buFont typeface="Arial"/>
              <a:buChar char="►"/>
            </a:pPr>
            <a:r>
              <a:rPr b="0" lang="en-US" sz="2000">
                <a:solidFill>
                  <a:schemeClr val="dk1"/>
                </a:solidFill>
                <a:latin typeface="Arial"/>
                <a:ea typeface="Arial"/>
                <a:cs typeface="Arial"/>
                <a:sym typeface="Arial"/>
              </a:rPr>
              <a:t>from a </a:t>
            </a:r>
            <a:r>
              <a:rPr lang="en-US" sz="2000">
                <a:solidFill>
                  <a:schemeClr val="dk1"/>
                </a:solidFill>
                <a:latin typeface="Arial"/>
                <a:ea typeface="Arial"/>
                <a:cs typeface="Arial"/>
                <a:sym typeface="Arial"/>
              </a:rPr>
              <a:t>cost-volume profit</a:t>
            </a:r>
            <a:r>
              <a:rPr b="0" lang="en-US" sz="2000">
                <a:solidFill>
                  <a:schemeClr val="dk1"/>
                </a:solidFill>
                <a:latin typeface="Arial"/>
                <a:ea typeface="Arial"/>
                <a:cs typeface="Arial"/>
                <a:sym typeface="Arial"/>
              </a:rPr>
              <a:t> </a:t>
            </a:r>
            <a:r>
              <a:rPr lang="en-US" sz="2000">
                <a:solidFill>
                  <a:schemeClr val="dk1"/>
                </a:solidFill>
                <a:latin typeface="Arial"/>
                <a:ea typeface="Arial"/>
                <a:cs typeface="Arial"/>
                <a:sym typeface="Arial"/>
              </a:rPr>
              <a:t>(CVP) graph</a:t>
            </a:r>
            <a:r>
              <a:rPr b="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 </a:t>
            </a:r>
            <a:endParaRPr/>
          </a:p>
          <a:p>
            <a:pPr indent="-457200" lvl="0" marL="457200" rtl="0" algn="l">
              <a:lnSpc>
                <a:spcPct val="120000"/>
              </a:lnSpc>
              <a:spcBef>
                <a:spcPts val="120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Expressed either in </a:t>
            </a:r>
            <a:r>
              <a:rPr lang="en-US" sz="2100">
                <a:solidFill>
                  <a:schemeClr val="dk1"/>
                </a:solidFill>
                <a:latin typeface="Arial"/>
                <a:ea typeface="Arial"/>
                <a:cs typeface="Arial"/>
                <a:sym typeface="Arial"/>
              </a:rPr>
              <a:t>sales units</a:t>
            </a:r>
            <a:r>
              <a:rPr b="0" lang="en-US" sz="2100">
                <a:solidFill>
                  <a:schemeClr val="dk1"/>
                </a:solidFill>
                <a:latin typeface="Arial"/>
                <a:ea typeface="Arial"/>
                <a:cs typeface="Arial"/>
                <a:sym typeface="Arial"/>
              </a:rPr>
              <a:t> or in </a:t>
            </a:r>
            <a:r>
              <a:rPr lang="en-US" sz="2100">
                <a:solidFill>
                  <a:schemeClr val="dk1"/>
                </a:solidFill>
                <a:latin typeface="Arial"/>
                <a:ea typeface="Arial"/>
                <a:cs typeface="Arial"/>
                <a:sym typeface="Arial"/>
              </a:rPr>
              <a:t>sales dollars</a:t>
            </a:r>
            <a:r>
              <a:rPr b="0" lang="en-US" sz="2100">
                <a:solidFill>
                  <a:schemeClr val="dk1"/>
                </a:solidFill>
                <a:latin typeface="Arial"/>
                <a:ea typeface="Arial"/>
                <a:cs typeface="Arial"/>
                <a:sym typeface="Arial"/>
              </a:rPr>
              <a:t>.</a:t>
            </a:r>
            <a:endParaRPr/>
          </a:p>
        </p:txBody>
      </p:sp>
      <p:sp>
        <p:nvSpPr>
          <p:cNvPr id="567" name="Google Shape;567;p48"/>
          <p:cNvSpPr txBox="1"/>
          <p:nvPr/>
        </p:nvSpPr>
        <p:spPr>
          <a:xfrm>
            <a:off x="533400" y="1488744"/>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Break-Even Analysis</a:t>
            </a:r>
            <a:endParaRPr/>
          </a:p>
        </p:txBody>
      </p:sp>
      <p:sp>
        <p:nvSpPr>
          <p:cNvPr id="568" name="Google Shape;568;p48"/>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569" name="Google Shape;569;p48"/>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111120" marR="0" rtl="0" algn="l">
              <a:spcBef>
                <a:spcPts val="0"/>
              </a:spcBef>
              <a:spcAft>
                <a:spcPts val="0"/>
              </a:spcAft>
              <a:buNone/>
            </a:pPr>
            <a:r>
              <a:rPr b="1" lang="en-US" sz="2200">
                <a:solidFill>
                  <a:schemeClr val="lt1"/>
                </a:solidFill>
                <a:latin typeface="Arial"/>
                <a:ea typeface="Arial"/>
                <a:cs typeface="Arial"/>
                <a:sym typeface="Arial"/>
              </a:rPr>
              <a:t>Compute the break-even point using three approaches.</a:t>
            </a:r>
            <a:endParaRPr b="1" sz="2200">
              <a:solidFill>
                <a:schemeClr val="lt1"/>
              </a:solidFill>
              <a:latin typeface="Arial"/>
              <a:ea typeface="Arial"/>
              <a:cs typeface="Arial"/>
              <a:sym typeface="Arial"/>
            </a:endParaRPr>
          </a:p>
        </p:txBody>
      </p:sp>
      <p:sp>
        <p:nvSpPr>
          <p:cNvPr id="570" name="Google Shape;570;p48"/>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4</a:t>
            </a:r>
            <a:endParaRPr b="1" sz="2700">
              <a:solidFill>
                <a:schemeClr val="lt1"/>
              </a:solidFill>
              <a:latin typeface="Arial"/>
              <a:ea typeface="Arial"/>
              <a:cs typeface="Arial"/>
              <a:sym typeface="Arial"/>
            </a:endParaRPr>
          </a:p>
        </p:txBody>
      </p:sp>
      <p:sp>
        <p:nvSpPr>
          <p:cNvPr id="571" name="Google Shape;571;p4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9"/>
          <p:cNvSpPr/>
          <p:nvPr/>
        </p:nvSpPr>
        <p:spPr>
          <a:xfrm>
            <a:off x="719520" y="5895201"/>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22-20</a:t>
            </a:r>
            <a:endParaRPr b="1" sz="1200">
              <a:solidFill>
                <a:schemeClr val="dk1"/>
              </a:solidFill>
              <a:latin typeface="Arial"/>
              <a:ea typeface="Arial"/>
              <a:cs typeface="Arial"/>
              <a:sym typeface="Arial"/>
            </a:endParaRPr>
          </a:p>
        </p:txBody>
      </p:sp>
      <p:sp>
        <p:nvSpPr>
          <p:cNvPr id="577" name="Google Shape;577;p49"/>
          <p:cNvSpPr/>
          <p:nvPr/>
        </p:nvSpPr>
        <p:spPr>
          <a:xfrm>
            <a:off x="304800" y="2667000"/>
            <a:ext cx="1752600" cy="13716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0000"/>
              </a:lnSpc>
              <a:spcBef>
                <a:spcPts val="0"/>
              </a:spcBef>
              <a:spcAft>
                <a:spcPts val="0"/>
              </a:spcAft>
              <a:buClr>
                <a:srgbClr val="FF0000"/>
              </a:buClr>
              <a:buSzPts val="1575"/>
              <a:buFont typeface="Noto Sans Symbols"/>
              <a:buNone/>
            </a:pPr>
            <a:r>
              <a:rPr lang="en-US" sz="2100">
                <a:solidFill>
                  <a:schemeClr val="lt2"/>
                </a:solidFill>
                <a:latin typeface="Arial"/>
                <a:ea typeface="Arial"/>
                <a:cs typeface="Arial"/>
                <a:sym typeface="Arial"/>
              </a:rPr>
              <a:t>Computation of break-even point in units.</a:t>
            </a:r>
            <a:endParaRPr/>
          </a:p>
        </p:txBody>
      </p:sp>
      <p:sp>
        <p:nvSpPr>
          <p:cNvPr id="578" name="Google Shape;578;p49"/>
          <p:cNvSpPr/>
          <p:nvPr/>
        </p:nvSpPr>
        <p:spPr>
          <a:xfrm>
            <a:off x="533400" y="1295400"/>
            <a:ext cx="8077200" cy="86793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lt2"/>
                </a:solidFill>
                <a:latin typeface="Arial"/>
                <a:ea typeface="Arial"/>
                <a:cs typeface="Arial"/>
                <a:sym typeface="Arial"/>
              </a:rPr>
              <a:t>Break-even occurs where total sales equal variable costs plus fixed costs; i.e., net income is zero</a:t>
            </a:r>
            <a:endParaRPr/>
          </a:p>
        </p:txBody>
      </p:sp>
      <p:cxnSp>
        <p:nvCxnSpPr>
          <p:cNvPr id="579" name="Google Shape;579;p4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80" name="Google Shape;580;p49"/>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Mathematical Equation</a:t>
            </a:r>
            <a:endParaRPr/>
          </a:p>
        </p:txBody>
      </p:sp>
      <p:pic>
        <p:nvPicPr>
          <p:cNvPr id="581" name="Google Shape;581;p49"/>
          <p:cNvPicPr preferRelativeResize="0"/>
          <p:nvPr/>
        </p:nvPicPr>
        <p:blipFill rotWithShape="1">
          <a:blip r:embed="rId3">
            <a:alphaModFix/>
          </a:blip>
          <a:srcRect b="0" l="0" r="0" t="0"/>
          <a:stretch/>
        </p:blipFill>
        <p:spPr>
          <a:xfrm>
            <a:off x="2286000" y="2352675"/>
            <a:ext cx="6400800" cy="3860800"/>
          </a:xfrm>
          <a:prstGeom prst="rect">
            <a:avLst/>
          </a:prstGeom>
          <a:noFill/>
          <a:ln cap="sq" cmpd="sng" w="12700">
            <a:solidFill>
              <a:schemeClr val="dk1"/>
            </a:solidFill>
            <a:prstDash val="solid"/>
            <a:miter lim="800000"/>
            <a:headEnd len="sm" w="sm" type="none"/>
            <a:tailEnd len="sm" w="sm" type="none"/>
          </a:ln>
        </p:spPr>
      </p:pic>
      <p:sp>
        <p:nvSpPr>
          <p:cNvPr id="582" name="Google Shape;582;p4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0"/>
          <p:cNvSpPr txBox="1"/>
          <p:nvPr>
            <p:ph idx="1" type="body"/>
          </p:nvPr>
        </p:nvSpPr>
        <p:spPr>
          <a:xfrm>
            <a:off x="533400" y="1295400"/>
            <a:ext cx="8001000" cy="3124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At the break-even point, contribution margin must equal total fixed costs </a:t>
            </a:r>
            <a:endParaRPr/>
          </a:p>
          <a:p>
            <a:pPr indent="0" lvl="0" marL="0" rtl="0" algn="l">
              <a:lnSpc>
                <a:spcPct val="120000"/>
              </a:lnSpc>
              <a:spcBef>
                <a:spcPts val="1050"/>
              </a:spcBef>
              <a:spcAft>
                <a:spcPts val="0"/>
              </a:spcAft>
              <a:buClr>
                <a:srgbClr val="800000"/>
              </a:buClr>
              <a:buSzPts val="1680"/>
              <a:buFont typeface="Noto Sans Symbols"/>
              <a:buNone/>
            </a:pPr>
            <a:r>
              <a:rPr b="0" lang="en-US" sz="2100">
                <a:solidFill>
                  <a:schemeClr val="dk1"/>
                </a:solidFill>
                <a:latin typeface="Arial"/>
                <a:ea typeface="Arial"/>
                <a:cs typeface="Arial"/>
                <a:sym typeface="Arial"/>
              </a:rPr>
              <a:t>		(CM = total revenues – variable costs) </a:t>
            </a:r>
            <a:endParaRPr/>
          </a:p>
          <a:p>
            <a:pPr indent="-457200" lvl="1" marL="685800" rtl="0" algn="l">
              <a:lnSpc>
                <a:spcPct val="120000"/>
              </a:lnSpc>
              <a:spcBef>
                <a:spcPts val="105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Break-even point can be computed using either contribution margin per unit or contribution margin ratio.</a:t>
            </a:r>
            <a:endParaRPr/>
          </a:p>
        </p:txBody>
      </p:sp>
      <p:cxnSp>
        <p:nvCxnSpPr>
          <p:cNvPr id="588" name="Google Shape;588;p5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589" name="Google Shape;589;p50"/>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Contribution Margin Technique</a:t>
            </a:r>
            <a:endParaRPr/>
          </a:p>
        </p:txBody>
      </p:sp>
      <p:sp>
        <p:nvSpPr>
          <p:cNvPr id="590" name="Google Shape;590;p5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1"/>
          <p:cNvSpPr txBox="1"/>
          <p:nvPr>
            <p:ph idx="1" type="body"/>
          </p:nvPr>
        </p:nvSpPr>
        <p:spPr>
          <a:xfrm>
            <a:off x="533400" y="1905000"/>
            <a:ext cx="7696200" cy="13716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When the break-even-point in </a:t>
            </a:r>
            <a:r>
              <a:rPr lang="en-US" sz="2100">
                <a:solidFill>
                  <a:schemeClr val="dk1"/>
                </a:solidFill>
                <a:latin typeface="Arial"/>
                <a:ea typeface="Arial"/>
                <a:cs typeface="Arial"/>
                <a:sym typeface="Arial"/>
              </a:rPr>
              <a:t>units</a:t>
            </a:r>
            <a:r>
              <a:rPr b="0" lang="en-US" sz="2100">
                <a:solidFill>
                  <a:schemeClr val="dk1"/>
                </a:solidFill>
                <a:latin typeface="Arial"/>
                <a:ea typeface="Arial"/>
                <a:cs typeface="Arial"/>
                <a:sym typeface="Arial"/>
              </a:rPr>
              <a:t> is desired, contribution margin per unit is used in the following formula which shows the computation for Vargo Video: </a:t>
            </a:r>
            <a:endParaRPr/>
          </a:p>
        </p:txBody>
      </p:sp>
      <p:sp>
        <p:nvSpPr>
          <p:cNvPr id="596" name="Google Shape;596;p51"/>
          <p:cNvSpPr/>
          <p:nvPr/>
        </p:nvSpPr>
        <p:spPr>
          <a:xfrm>
            <a:off x="457200" y="4766859"/>
            <a:ext cx="220445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break-even point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 units using unit contribution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margin</a:t>
            </a:r>
            <a:endParaRPr b="1" sz="1200">
              <a:solidFill>
                <a:schemeClr val="dk1"/>
              </a:solidFill>
              <a:latin typeface="Arial"/>
              <a:ea typeface="Arial"/>
              <a:cs typeface="Arial"/>
              <a:sym typeface="Arial"/>
            </a:endParaRPr>
          </a:p>
        </p:txBody>
      </p:sp>
      <p:sp>
        <p:nvSpPr>
          <p:cNvPr id="597" name="Google Shape;597;p51"/>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IN UNITS</a:t>
            </a:r>
            <a:endParaRPr/>
          </a:p>
        </p:txBody>
      </p:sp>
      <p:cxnSp>
        <p:nvCxnSpPr>
          <p:cNvPr id="598" name="Google Shape;598;p5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599" name="Google Shape;599;p51"/>
          <p:cNvPicPr preferRelativeResize="0"/>
          <p:nvPr/>
        </p:nvPicPr>
        <p:blipFill rotWithShape="1">
          <a:blip r:embed="rId3">
            <a:alphaModFix/>
          </a:blip>
          <a:srcRect b="0" l="0" r="0" t="0"/>
          <a:stretch/>
        </p:blipFill>
        <p:spPr>
          <a:xfrm>
            <a:off x="503238" y="3505200"/>
            <a:ext cx="7993062" cy="1198563"/>
          </a:xfrm>
          <a:prstGeom prst="rect">
            <a:avLst/>
          </a:prstGeom>
          <a:noFill/>
          <a:ln cap="sq" cmpd="sng" w="12700">
            <a:solidFill>
              <a:schemeClr val="dk1"/>
            </a:solidFill>
            <a:prstDash val="solid"/>
            <a:miter lim="800000"/>
            <a:headEnd len="sm" w="sm" type="none"/>
            <a:tailEnd len="sm" w="sm" type="none"/>
          </a:ln>
        </p:spPr>
      </p:pic>
      <p:sp>
        <p:nvSpPr>
          <p:cNvPr id="600" name="Google Shape;600;p5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
        <p:nvSpPr>
          <p:cNvPr id="601" name="Google Shape;601;p51"/>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Contribution Margin Technique</a:t>
            </a:r>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2"/>
          <p:cNvSpPr txBox="1"/>
          <p:nvPr>
            <p:ph idx="1" type="body"/>
          </p:nvPr>
        </p:nvSpPr>
        <p:spPr>
          <a:xfrm>
            <a:off x="539750" y="1905000"/>
            <a:ext cx="7696200" cy="13716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When the break-even-point </a:t>
            </a:r>
            <a:r>
              <a:rPr lang="en-US" sz="2100">
                <a:solidFill>
                  <a:schemeClr val="dk1"/>
                </a:solidFill>
                <a:latin typeface="Arial"/>
                <a:ea typeface="Arial"/>
                <a:cs typeface="Arial"/>
                <a:sym typeface="Arial"/>
              </a:rPr>
              <a:t>in dollars</a:t>
            </a:r>
            <a:r>
              <a:rPr b="0" lang="en-US" sz="2100">
                <a:solidFill>
                  <a:schemeClr val="dk1"/>
                </a:solidFill>
                <a:latin typeface="Arial"/>
                <a:ea typeface="Arial"/>
                <a:cs typeface="Arial"/>
                <a:sym typeface="Arial"/>
              </a:rPr>
              <a:t> is desired, contribution margin ratio is used in the following formula which shows the computation for Vargo Video:</a:t>
            </a:r>
            <a:endParaRPr/>
          </a:p>
        </p:txBody>
      </p:sp>
      <p:sp>
        <p:nvSpPr>
          <p:cNvPr id="607" name="Google Shape;607;p52"/>
          <p:cNvSpPr txBox="1"/>
          <p:nvPr/>
        </p:nvSpPr>
        <p:spPr>
          <a:xfrm>
            <a:off x="53975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RATIO</a:t>
            </a:r>
            <a:endParaRPr/>
          </a:p>
        </p:txBody>
      </p:sp>
      <p:cxnSp>
        <p:nvCxnSpPr>
          <p:cNvPr id="608" name="Google Shape;608;p5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pic>
        <p:nvPicPr>
          <p:cNvPr id="609" name="Google Shape;609;p52"/>
          <p:cNvPicPr preferRelativeResize="0"/>
          <p:nvPr/>
        </p:nvPicPr>
        <p:blipFill rotWithShape="1">
          <a:blip r:embed="rId3">
            <a:alphaModFix/>
          </a:blip>
          <a:srcRect b="0" l="0" r="0" t="0"/>
          <a:stretch/>
        </p:blipFill>
        <p:spPr>
          <a:xfrm>
            <a:off x="533400" y="3505200"/>
            <a:ext cx="7961313" cy="1235075"/>
          </a:xfrm>
          <a:prstGeom prst="rect">
            <a:avLst/>
          </a:prstGeom>
          <a:noFill/>
          <a:ln cap="sq" cmpd="sng" w="12700">
            <a:solidFill>
              <a:schemeClr val="dk1"/>
            </a:solidFill>
            <a:prstDash val="solid"/>
            <a:miter lim="800000"/>
            <a:headEnd len="sm" w="sm" type="none"/>
            <a:tailEnd len="sm" w="sm" type="none"/>
          </a:ln>
        </p:spPr>
      </p:pic>
      <p:sp>
        <p:nvSpPr>
          <p:cNvPr id="610" name="Google Shape;610;p52"/>
          <p:cNvSpPr/>
          <p:nvPr/>
        </p:nvSpPr>
        <p:spPr>
          <a:xfrm>
            <a:off x="457200" y="4794155"/>
            <a:ext cx="216116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break-even point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 dollars using contribution</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Margin ratio</a:t>
            </a:r>
            <a:endParaRPr b="1" sz="1200">
              <a:solidFill>
                <a:schemeClr val="dk1"/>
              </a:solidFill>
              <a:latin typeface="Arial"/>
              <a:ea typeface="Arial"/>
              <a:cs typeface="Arial"/>
              <a:sym typeface="Arial"/>
            </a:endParaRPr>
          </a:p>
        </p:txBody>
      </p:sp>
      <p:sp>
        <p:nvSpPr>
          <p:cNvPr id="611" name="Google Shape;611;p5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
        <p:nvSpPr>
          <p:cNvPr id="612" name="Google Shape;612;p52"/>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Contribution Margin Technique</a:t>
            </a:r>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3"/>
          <p:cNvSpPr/>
          <p:nvPr/>
        </p:nvSpPr>
        <p:spPr>
          <a:xfrm>
            <a:off x="5638800" y="533400"/>
            <a:ext cx="3200400" cy="576620"/>
          </a:xfrm>
          <a:prstGeom prst="rect">
            <a:avLst/>
          </a:prstGeom>
          <a:solidFill>
            <a:srgbClr val="BFBFBF"/>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2400">
                <a:solidFill>
                  <a:schemeClr val="dk1"/>
                </a:solidFill>
                <a:latin typeface="Arial"/>
                <a:ea typeface="Arial"/>
                <a:cs typeface="Arial"/>
                <a:sym typeface="Arial"/>
              </a:rPr>
              <a:t>Flightserve</a:t>
            </a:r>
            <a:endParaRPr b="1" sz="2400">
              <a:solidFill>
                <a:schemeClr val="dk1"/>
              </a:solidFill>
              <a:latin typeface="Arial"/>
              <a:ea typeface="Arial"/>
              <a:cs typeface="Arial"/>
              <a:sym typeface="Arial"/>
            </a:endParaRPr>
          </a:p>
        </p:txBody>
      </p:sp>
      <p:sp>
        <p:nvSpPr>
          <p:cNvPr id="618" name="Google Shape;618;p53"/>
          <p:cNvSpPr/>
          <p:nvPr/>
        </p:nvSpPr>
        <p:spPr>
          <a:xfrm>
            <a:off x="381000" y="1363242"/>
            <a:ext cx="8305800" cy="5065538"/>
          </a:xfrm>
          <a:prstGeom prst="rect">
            <a:avLst/>
          </a:prstGeom>
          <a:noFill/>
          <a:ln>
            <a:noFill/>
          </a:ln>
        </p:spPr>
        <p:txBody>
          <a:bodyPr anchorCtr="0" anchor="t" bIns="91425" lIns="91425" spcFirstLastPara="1" rIns="91425" wrap="square" tIns="91425">
            <a:spAutoFit/>
          </a:bodyPr>
          <a:lstStyle/>
          <a:p>
            <a:pPr indent="0" lvl="0" marL="0" marR="0" rtl="0" algn="just">
              <a:lnSpc>
                <a:spcPct val="105000"/>
              </a:lnSpc>
              <a:spcBef>
                <a:spcPts val="0"/>
              </a:spcBef>
              <a:spcAft>
                <a:spcPts val="0"/>
              </a:spcAft>
              <a:buNone/>
            </a:pPr>
            <a:r>
              <a:rPr b="1" lang="en-US" sz="2100">
                <a:solidFill>
                  <a:schemeClr val="dk1"/>
                </a:solidFill>
                <a:latin typeface="Arial"/>
                <a:ea typeface="Arial"/>
                <a:cs typeface="Arial"/>
                <a:sym typeface="Arial"/>
              </a:rPr>
              <a:t>Charter Flights Offer a Good Deal</a:t>
            </a:r>
            <a:endParaRPr b="1" sz="21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2100">
                <a:solidFill>
                  <a:schemeClr val="dk1"/>
                </a:solidFill>
                <a:latin typeface="Arial"/>
                <a:ea typeface="Arial"/>
                <a:cs typeface="Arial"/>
                <a:sym typeface="Arial"/>
              </a:rPr>
              <a:t>The Internet is wringing inefficiencies out of nearly every industry. While commercial aircraft spend roughly 4,000 hours a year in the air, chartered aircraft are flown only 500 hours annually. That means that they are sitting on the ground—not making any money—about 90% of the time. One company, </a:t>
            </a:r>
            <a:r>
              <a:rPr b="1" lang="en-US" sz="2100">
                <a:solidFill>
                  <a:srgbClr val="AD0000"/>
                </a:solidFill>
                <a:latin typeface="Arial"/>
                <a:ea typeface="Arial"/>
                <a:cs typeface="Arial"/>
                <a:sym typeface="Arial"/>
              </a:rPr>
              <a:t>Flightserve</a:t>
            </a:r>
            <a:r>
              <a:rPr lang="en-US" sz="2100">
                <a:solidFill>
                  <a:schemeClr val="dk1"/>
                </a:solidFill>
                <a:latin typeface="Arial"/>
                <a:ea typeface="Arial"/>
                <a:cs typeface="Arial"/>
                <a:sym typeface="Arial"/>
              </a:rPr>
              <a:t>, saw a business opportunity in that fact. For about the same cost as a first-class ticket, Flightserve matches up executives with charter flights in small “private jets.” The executive gets a more comfortable ride and avoids the hassle of big airports. Flightserve noted that the average charter jet has eight seats. When all eight seats are full, the company has an 80% profit margin. It breaks even at an average of 3.3 full seats per flight. </a:t>
            </a:r>
            <a:endParaRPr/>
          </a:p>
          <a:p>
            <a:pPr indent="0" lvl="0" marL="0" marR="0" rtl="0" algn="just">
              <a:lnSpc>
                <a:spcPct val="105000"/>
              </a:lnSpc>
              <a:spcBef>
                <a:spcPts val="600"/>
              </a:spcBef>
              <a:spcAft>
                <a:spcPts val="0"/>
              </a:spcAft>
              <a:buNone/>
            </a:pPr>
            <a:r>
              <a:rPr lang="en-US" sz="1900">
                <a:solidFill>
                  <a:schemeClr val="dk1"/>
                </a:solidFill>
                <a:latin typeface="Arial"/>
                <a:ea typeface="Arial"/>
                <a:cs typeface="Arial"/>
                <a:sym typeface="Arial"/>
              </a:rPr>
              <a:t>Source: “Jet Set Go,” The Economist (March 18, 2000), p. 68.</a:t>
            </a:r>
            <a:endParaRPr/>
          </a:p>
        </p:txBody>
      </p:sp>
      <p:sp>
        <p:nvSpPr>
          <p:cNvPr id="619" name="Google Shape;619;p53"/>
          <p:cNvSpPr/>
          <p:nvPr/>
        </p:nvSpPr>
        <p:spPr>
          <a:xfrm>
            <a:off x="365760" y="457200"/>
            <a:ext cx="5273040" cy="729020"/>
          </a:xfrm>
          <a:prstGeom prst="rect">
            <a:avLst/>
          </a:prstGeom>
          <a:solidFill>
            <a:srgbClr val="00B0F0"/>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3200">
                <a:solidFill>
                  <a:schemeClr val="accent3"/>
                </a:solidFill>
                <a:latin typeface="Arial"/>
                <a:ea typeface="Arial"/>
                <a:cs typeface="Arial"/>
                <a:sym typeface="Arial"/>
              </a:rPr>
              <a:t>Service Company Insight</a:t>
            </a:r>
            <a:endParaRPr/>
          </a:p>
        </p:txBody>
      </p:sp>
      <p:sp>
        <p:nvSpPr>
          <p:cNvPr id="620" name="Google Shape;620;p5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pic>
        <p:nvPicPr>
          <p:cNvPr id="625" name="Google Shape;625;p54"/>
          <p:cNvPicPr preferRelativeResize="0"/>
          <p:nvPr/>
        </p:nvPicPr>
        <p:blipFill rotWithShape="1">
          <a:blip r:embed="rId3">
            <a:alphaModFix/>
          </a:blip>
          <a:srcRect b="0" l="0" r="0" t="0"/>
          <a:stretch/>
        </p:blipFill>
        <p:spPr>
          <a:xfrm>
            <a:off x="3200400" y="1320800"/>
            <a:ext cx="5724525" cy="5124238"/>
          </a:xfrm>
          <a:prstGeom prst="rect">
            <a:avLst/>
          </a:prstGeom>
          <a:noFill/>
          <a:ln>
            <a:noFill/>
          </a:ln>
        </p:spPr>
      </p:pic>
      <p:sp>
        <p:nvSpPr>
          <p:cNvPr id="626" name="Google Shape;626;p54"/>
          <p:cNvSpPr txBox="1"/>
          <p:nvPr>
            <p:ph idx="1" type="body"/>
          </p:nvPr>
        </p:nvSpPr>
        <p:spPr>
          <a:xfrm>
            <a:off x="457200" y="1295400"/>
            <a:ext cx="2514600" cy="27432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rtl="0" algn="l">
              <a:lnSpc>
                <a:spcPct val="130000"/>
              </a:lnSpc>
              <a:spcBef>
                <a:spcPts val="0"/>
              </a:spcBef>
              <a:spcAft>
                <a:spcPts val="0"/>
              </a:spcAft>
              <a:buClr>
                <a:srgbClr val="FF0000"/>
              </a:buClr>
              <a:buSzPts val="1650"/>
              <a:buFont typeface="Noto Sans Symbols"/>
              <a:buNone/>
            </a:pPr>
            <a:r>
              <a:rPr b="0" lang="en-US" sz="2200">
                <a:solidFill>
                  <a:schemeClr val="dk1"/>
                </a:solidFill>
                <a:latin typeface="Arial"/>
                <a:ea typeface="Arial"/>
                <a:cs typeface="Arial"/>
                <a:sym typeface="Arial"/>
              </a:rPr>
              <a:t>Because this graph also shows costs, volume, and profits, it is referred to as a </a:t>
            </a:r>
            <a:r>
              <a:rPr lang="en-US" sz="2200">
                <a:solidFill>
                  <a:srgbClr val="0000BF"/>
                </a:solidFill>
                <a:latin typeface="Arial"/>
                <a:ea typeface="Arial"/>
                <a:cs typeface="Arial"/>
                <a:sym typeface="Arial"/>
              </a:rPr>
              <a:t>cost-volume-profit (CVP) graph</a:t>
            </a:r>
            <a:r>
              <a:rPr b="0" lang="en-US" sz="2200">
                <a:solidFill>
                  <a:schemeClr val="dk1"/>
                </a:solidFill>
                <a:latin typeface="Arial"/>
                <a:ea typeface="Arial"/>
                <a:cs typeface="Arial"/>
                <a:sym typeface="Arial"/>
              </a:rPr>
              <a:t>.</a:t>
            </a:r>
            <a:endParaRPr/>
          </a:p>
        </p:txBody>
      </p:sp>
      <p:sp>
        <p:nvSpPr>
          <p:cNvPr id="627" name="Google Shape;627;p54"/>
          <p:cNvSpPr/>
          <p:nvPr/>
        </p:nvSpPr>
        <p:spPr>
          <a:xfrm>
            <a:off x="1676400" y="5745163"/>
            <a:ext cx="1407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CVP graph</a:t>
            </a:r>
            <a:endParaRPr sz="1200">
              <a:solidFill>
                <a:schemeClr val="dk1"/>
              </a:solidFill>
              <a:latin typeface="Arial"/>
              <a:ea typeface="Arial"/>
              <a:cs typeface="Arial"/>
              <a:sym typeface="Arial"/>
            </a:endParaRPr>
          </a:p>
        </p:txBody>
      </p:sp>
      <p:cxnSp>
        <p:nvCxnSpPr>
          <p:cNvPr id="628" name="Google Shape;628;p5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29" name="Google Shape;629;p5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Graphic Presentation</a:t>
            </a:r>
            <a:endParaRPr/>
          </a:p>
        </p:txBody>
      </p:sp>
      <p:sp>
        <p:nvSpPr>
          <p:cNvPr id="630" name="Google Shape;630;p5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5"/>
          <p:cNvSpPr/>
          <p:nvPr/>
        </p:nvSpPr>
        <p:spPr>
          <a:xfrm>
            <a:off x="533400" y="1905000"/>
            <a:ext cx="7696200" cy="4267200"/>
          </a:xfrm>
          <a:prstGeom prst="rect">
            <a:avLst/>
          </a:prstGeom>
          <a:solidFill>
            <a:schemeClr val="lt1"/>
          </a:solidFill>
          <a:ln>
            <a:noFill/>
          </a:ln>
        </p:spPr>
        <p:txBody>
          <a:bodyPr anchorCtr="0" anchor="t" bIns="46025" lIns="91425" spcFirstLastPara="1" rIns="182550" wrap="square" tIns="46025">
            <a:noAutofit/>
          </a:bodyPr>
          <a:lstStyle/>
          <a:p>
            <a:pPr indent="0" lvl="0" marL="0" marR="0" rtl="0" algn="l">
              <a:lnSpc>
                <a:spcPct val="120000"/>
              </a:lnSpc>
              <a:spcBef>
                <a:spcPts val="0"/>
              </a:spcBef>
              <a:spcAft>
                <a:spcPts val="0"/>
              </a:spcAft>
              <a:buNone/>
            </a:pPr>
            <a:r>
              <a:rPr lang="en-US" sz="2300">
                <a:solidFill>
                  <a:schemeClr val="dk1"/>
                </a:solidFill>
                <a:latin typeface="Arial"/>
                <a:ea typeface="Arial"/>
                <a:cs typeface="Arial"/>
                <a:sym typeface="Arial"/>
              </a:rPr>
              <a:t>Gossen Company is planning to sell 200,000 pliers for $4 per unit.  The contribution margin ratio is 25%.  If Gossen will break even at this level of sales, what are the fixed costs?</a:t>
            </a:r>
            <a:endParaRPr/>
          </a:p>
          <a:p>
            <a:pPr indent="-463550" lvl="0" marL="804863"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$100,000.</a:t>
            </a:r>
            <a:endParaRPr/>
          </a:p>
          <a:p>
            <a:pPr indent="-463550" lvl="0" marL="804863"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$160,000. </a:t>
            </a:r>
            <a:endParaRPr/>
          </a:p>
          <a:p>
            <a:pPr indent="-463550" lvl="0" marL="804863"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$200,000.</a:t>
            </a:r>
            <a:endParaRPr/>
          </a:p>
          <a:p>
            <a:pPr indent="-463550" lvl="0" marL="804863" marR="0" rtl="0" algn="l">
              <a:lnSpc>
                <a:spcPct val="120000"/>
              </a:lnSpc>
              <a:spcBef>
                <a:spcPts val="1150"/>
              </a:spcBef>
              <a:spcAft>
                <a:spcPts val="0"/>
              </a:spcAft>
              <a:buClr>
                <a:schemeClr val="dk1"/>
              </a:buClr>
              <a:buSzPts val="2300"/>
              <a:buFont typeface="Noto Sans Symbols"/>
              <a:buAutoNum type="alphaLcPeriod"/>
            </a:pPr>
            <a:r>
              <a:rPr lang="en-US" sz="2300">
                <a:solidFill>
                  <a:schemeClr val="dk1"/>
                </a:solidFill>
                <a:latin typeface="Arial"/>
                <a:ea typeface="Arial"/>
                <a:cs typeface="Arial"/>
                <a:sym typeface="Arial"/>
              </a:rPr>
              <a:t>$300,000. </a:t>
            </a:r>
            <a:endParaRPr/>
          </a:p>
        </p:txBody>
      </p:sp>
      <p:sp>
        <p:nvSpPr>
          <p:cNvPr id="636" name="Google Shape;636;p55"/>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637" name="Google Shape;637;p5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638" name="Google Shape;638;p5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Break-Even Analysis</a:t>
            </a:r>
            <a:endParaRPr/>
          </a:p>
        </p:txBody>
      </p:sp>
      <p:sp>
        <p:nvSpPr>
          <p:cNvPr id="639" name="Google Shape;639;p55"/>
          <p:cNvSpPr/>
          <p:nvPr/>
        </p:nvSpPr>
        <p:spPr>
          <a:xfrm>
            <a:off x="228600" y="4988256"/>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640" name="Google Shape;640;p5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6"/>
          <p:cNvSpPr/>
          <p:nvPr/>
        </p:nvSpPr>
        <p:spPr>
          <a:xfrm>
            <a:off x="609600" y="1412875"/>
            <a:ext cx="8001000" cy="171739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Lombardi Company has a unit selling price of $400, variable costs per unit of $240, and fixed costs of $180,000. Compute the </a:t>
            </a:r>
            <a:r>
              <a:rPr b="1" lang="en-US" sz="2200">
                <a:solidFill>
                  <a:schemeClr val="dk1"/>
                </a:solidFill>
                <a:latin typeface="Arial"/>
                <a:ea typeface="Arial"/>
                <a:cs typeface="Arial"/>
                <a:sym typeface="Arial"/>
              </a:rPr>
              <a:t>break-even point</a:t>
            </a:r>
            <a:r>
              <a:rPr lang="en-US" sz="2200">
                <a:solidFill>
                  <a:schemeClr val="dk1"/>
                </a:solidFill>
                <a:latin typeface="Arial"/>
                <a:ea typeface="Arial"/>
                <a:cs typeface="Arial"/>
                <a:sym typeface="Arial"/>
              </a:rPr>
              <a:t> in units using </a:t>
            </a:r>
            <a:r>
              <a:rPr b="1" lang="en-US" sz="2200">
                <a:solidFill>
                  <a:srgbClr val="800000"/>
                </a:solidFill>
                <a:latin typeface="Arial"/>
                <a:ea typeface="Arial"/>
                <a:cs typeface="Arial"/>
                <a:sym typeface="Arial"/>
              </a:rPr>
              <a:t>(a) a mathematical equation</a:t>
            </a:r>
            <a:r>
              <a:rPr lang="en-US" sz="2200">
                <a:solidFill>
                  <a:schemeClr val="dk1"/>
                </a:solidFill>
                <a:latin typeface="Arial"/>
                <a:ea typeface="Arial"/>
                <a:cs typeface="Arial"/>
                <a:sym typeface="Arial"/>
              </a:rPr>
              <a:t> and (b) contribution margin per unit. </a:t>
            </a:r>
            <a:endParaRPr/>
          </a:p>
        </p:txBody>
      </p:sp>
      <p:sp>
        <p:nvSpPr>
          <p:cNvPr id="646" name="Google Shape;646;p56"/>
          <p:cNvSpPr txBox="1"/>
          <p:nvPr/>
        </p:nvSpPr>
        <p:spPr>
          <a:xfrm>
            <a:off x="914400" y="4495800"/>
            <a:ext cx="11430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$400Q</a:t>
            </a:r>
            <a:endParaRPr/>
          </a:p>
        </p:txBody>
      </p:sp>
      <p:sp>
        <p:nvSpPr>
          <p:cNvPr id="647" name="Google Shape;647;p56"/>
          <p:cNvSpPr txBox="1"/>
          <p:nvPr/>
        </p:nvSpPr>
        <p:spPr>
          <a:xfrm>
            <a:off x="2971800" y="4495800"/>
            <a:ext cx="11430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$240Q</a:t>
            </a:r>
            <a:endParaRPr/>
          </a:p>
        </p:txBody>
      </p:sp>
      <p:sp>
        <p:nvSpPr>
          <p:cNvPr id="648" name="Google Shape;648;p56"/>
          <p:cNvSpPr txBox="1"/>
          <p:nvPr/>
        </p:nvSpPr>
        <p:spPr>
          <a:xfrm>
            <a:off x="5029200" y="4495800"/>
            <a:ext cx="15240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$180,000</a:t>
            </a:r>
            <a:endParaRPr/>
          </a:p>
        </p:txBody>
      </p:sp>
      <p:sp>
        <p:nvSpPr>
          <p:cNvPr id="649" name="Google Shape;649;p56"/>
          <p:cNvSpPr txBox="1"/>
          <p:nvPr/>
        </p:nvSpPr>
        <p:spPr>
          <a:xfrm>
            <a:off x="7162800" y="4495800"/>
            <a:ext cx="12954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0</a:t>
            </a:r>
            <a:endParaRPr/>
          </a:p>
        </p:txBody>
      </p:sp>
      <p:sp>
        <p:nvSpPr>
          <p:cNvPr id="650" name="Google Shape;650;p56"/>
          <p:cNvSpPr txBox="1"/>
          <p:nvPr/>
        </p:nvSpPr>
        <p:spPr>
          <a:xfrm>
            <a:off x="914400" y="5059363"/>
            <a:ext cx="11430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$160Q</a:t>
            </a:r>
            <a:endParaRPr/>
          </a:p>
        </p:txBody>
      </p:sp>
      <p:sp>
        <p:nvSpPr>
          <p:cNvPr id="651" name="Google Shape;651;p56"/>
          <p:cNvSpPr txBox="1"/>
          <p:nvPr/>
        </p:nvSpPr>
        <p:spPr>
          <a:xfrm>
            <a:off x="2819400" y="5059363"/>
            <a:ext cx="15240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$180,000</a:t>
            </a:r>
            <a:endParaRPr/>
          </a:p>
        </p:txBody>
      </p:sp>
      <p:sp>
        <p:nvSpPr>
          <p:cNvPr id="652" name="Google Shape;652;p56"/>
          <p:cNvSpPr txBox="1"/>
          <p:nvPr/>
        </p:nvSpPr>
        <p:spPr>
          <a:xfrm>
            <a:off x="914400" y="5592763"/>
            <a:ext cx="11430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Q</a:t>
            </a:r>
            <a:endParaRPr/>
          </a:p>
        </p:txBody>
      </p:sp>
      <p:sp>
        <p:nvSpPr>
          <p:cNvPr id="653" name="Google Shape;653;p56"/>
          <p:cNvSpPr txBox="1"/>
          <p:nvPr/>
        </p:nvSpPr>
        <p:spPr>
          <a:xfrm>
            <a:off x="2743200" y="5592763"/>
            <a:ext cx="18288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rgbClr val="800000"/>
                </a:solidFill>
                <a:latin typeface="Arial"/>
                <a:ea typeface="Arial"/>
                <a:cs typeface="Arial"/>
                <a:sym typeface="Arial"/>
              </a:rPr>
              <a:t>1,125 units</a:t>
            </a:r>
            <a:endParaRPr/>
          </a:p>
        </p:txBody>
      </p:sp>
      <p:sp>
        <p:nvSpPr>
          <p:cNvPr id="654" name="Google Shape;654;p56"/>
          <p:cNvSpPr txBox="1"/>
          <p:nvPr/>
        </p:nvSpPr>
        <p:spPr>
          <a:xfrm>
            <a:off x="2209800" y="4495800"/>
            <a:ext cx="4572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55" name="Google Shape;655;p56"/>
          <p:cNvSpPr txBox="1"/>
          <p:nvPr/>
        </p:nvSpPr>
        <p:spPr>
          <a:xfrm>
            <a:off x="2209800" y="50593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56" name="Google Shape;656;p56"/>
          <p:cNvSpPr txBox="1"/>
          <p:nvPr/>
        </p:nvSpPr>
        <p:spPr>
          <a:xfrm>
            <a:off x="2209800" y="55927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57" name="Google Shape;657;p56"/>
          <p:cNvSpPr txBox="1"/>
          <p:nvPr/>
        </p:nvSpPr>
        <p:spPr>
          <a:xfrm>
            <a:off x="4419600" y="4495800"/>
            <a:ext cx="4572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58" name="Google Shape;658;p56"/>
          <p:cNvSpPr txBox="1"/>
          <p:nvPr/>
        </p:nvSpPr>
        <p:spPr>
          <a:xfrm>
            <a:off x="6629400" y="4495800"/>
            <a:ext cx="4572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59" name="Google Shape;659;p56"/>
          <p:cNvSpPr txBox="1"/>
          <p:nvPr/>
        </p:nvSpPr>
        <p:spPr>
          <a:xfrm>
            <a:off x="914400" y="4495800"/>
            <a:ext cx="1143000" cy="4460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0" name="Google Shape;660;p56"/>
          <p:cNvSpPr txBox="1"/>
          <p:nvPr/>
        </p:nvSpPr>
        <p:spPr>
          <a:xfrm>
            <a:off x="2743200" y="4506913"/>
            <a:ext cx="16764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1" name="Google Shape;661;p56"/>
          <p:cNvSpPr txBox="1"/>
          <p:nvPr/>
        </p:nvSpPr>
        <p:spPr>
          <a:xfrm>
            <a:off x="4876800" y="4495800"/>
            <a:ext cx="1676400" cy="4460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2" name="Google Shape;662;p56"/>
          <p:cNvSpPr txBox="1"/>
          <p:nvPr/>
        </p:nvSpPr>
        <p:spPr>
          <a:xfrm>
            <a:off x="7086600" y="4495800"/>
            <a:ext cx="1676400" cy="4460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3" name="Google Shape;663;p56"/>
          <p:cNvSpPr txBox="1"/>
          <p:nvPr/>
        </p:nvSpPr>
        <p:spPr>
          <a:xfrm>
            <a:off x="914400" y="5040313"/>
            <a:ext cx="11430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4" name="Google Shape;664;p56"/>
          <p:cNvSpPr txBox="1"/>
          <p:nvPr/>
        </p:nvSpPr>
        <p:spPr>
          <a:xfrm>
            <a:off x="2743200" y="5040313"/>
            <a:ext cx="16764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5" name="Google Shape;665;p56"/>
          <p:cNvSpPr txBox="1"/>
          <p:nvPr/>
        </p:nvSpPr>
        <p:spPr>
          <a:xfrm>
            <a:off x="914400" y="5573713"/>
            <a:ext cx="11430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6" name="Google Shape;666;p56"/>
          <p:cNvSpPr txBox="1"/>
          <p:nvPr/>
        </p:nvSpPr>
        <p:spPr>
          <a:xfrm>
            <a:off x="2743200" y="5573713"/>
            <a:ext cx="16764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67" name="Google Shape;667;p56"/>
          <p:cNvSpPr txBox="1"/>
          <p:nvPr/>
        </p:nvSpPr>
        <p:spPr>
          <a:xfrm>
            <a:off x="990600" y="3581400"/>
            <a:ext cx="990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a:t>
            </a:r>
            <a:endParaRPr/>
          </a:p>
        </p:txBody>
      </p:sp>
      <p:sp>
        <p:nvSpPr>
          <p:cNvPr id="668" name="Google Shape;668;p56"/>
          <p:cNvSpPr txBox="1"/>
          <p:nvPr/>
        </p:nvSpPr>
        <p:spPr>
          <a:xfrm>
            <a:off x="2743200" y="3429000"/>
            <a:ext cx="16764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Variable Costs</a:t>
            </a:r>
            <a:endParaRPr/>
          </a:p>
        </p:txBody>
      </p:sp>
      <p:sp>
        <p:nvSpPr>
          <p:cNvPr id="669" name="Google Shape;669;p56"/>
          <p:cNvSpPr txBox="1"/>
          <p:nvPr/>
        </p:nvSpPr>
        <p:spPr>
          <a:xfrm>
            <a:off x="4876800" y="3429000"/>
            <a:ext cx="16764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Fixed Costs</a:t>
            </a:r>
            <a:endParaRPr/>
          </a:p>
        </p:txBody>
      </p:sp>
      <p:sp>
        <p:nvSpPr>
          <p:cNvPr id="670" name="Google Shape;670;p56"/>
          <p:cNvSpPr txBox="1"/>
          <p:nvPr/>
        </p:nvSpPr>
        <p:spPr>
          <a:xfrm>
            <a:off x="7086600" y="3429000"/>
            <a:ext cx="16764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Net Income</a:t>
            </a:r>
            <a:endParaRPr/>
          </a:p>
        </p:txBody>
      </p:sp>
      <p:sp>
        <p:nvSpPr>
          <p:cNvPr id="671" name="Google Shape;671;p56"/>
          <p:cNvSpPr txBox="1"/>
          <p:nvPr/>
        </p:nvSpPr>
        <p:spPr>
          <a:xfrm>
            <a:off x="2209800" y="36115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72" name="Google Shape;672;p56"/>
          <p:cNvSpPr txBox="1"/>
          <p:nvPr/>
        </p:nvSpPr>
        <p:spPr>
          <a:xfrm>
            <a:off x="4419600" y="36115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73" name="Google Shape;673;p56"/>
          <p:cNvSpPr txBox="1"/>
          <p:nvPr/>
        </p:nvSpPr>
        <p:spPr>
          <a:xfrm>
            <a:off x="6629400" y="36115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cxnSp>
        <p:nvCxnSpPr>
          <p:cNvPr id="674" name="Google Shape;674;p56"/>
          <p:cNvCxnSpPr>
            <a:stCxn id="667" idx="1"/>
            <a:endCxn id="659" idx="1"/>
          </p:cNvCxnSpPr>
          <p:nvPr/>
        </p:nvCxnSpPr>
        <p:spPr>
          <a:xfrm flipH="1">
            <a:off x="914400" y="3810000"/>
            <a:ext cx="76200" cy="908700"/>
          </a:xfrm>
          <a:prstGeom prst="bentConnector3">
            <a:avLst>
              <a:gd fmla="val 714583" name="adj1"/>
            </a:avLst>
          </a:prstGeom>
          <a:noFill/>
          <a:ln cap="sq" cmpd="sng" w="28575">
            <a:solidFill>
              <a:srgbClr val="800000"/>
            </a:solidFill>
            <a:prstDash val="solid"/>
            <a:miter lim="800000"/>
            <a:headEnd len="sm" w="sm" type="none"/>
            <a:tailEnd len="sm" w="sm" type="triangle"/>
          </a:ln>
        </p:spPr>
      </p:cxnSp>
      <p:sp>
        <p:nvSpPr>
          <p:cNvPr id="675" name="Google Shape;675;p5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
        <p:nvSpPr>
          <p:cNvPr id="676" name="Google Shape;676;p56"/>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677" name="Google Shape;677;p56"/>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Break-Even Analysis</a:t>
            </a:r>
            <a:endParaRPr b="1" i="0" sz="3200">
              <a:solidFill>
                <a:schemeClr val="lt1"/>
              </a:solidFill>
              <a:latin typeface="Arial"/>
              <a:ea typeface="Arial"/>
              <a:cs typeface="Arial"/>
              <a:sym typeface="Arial"/>
            </a:endParaRPr>
          </a:p>
        </p:txBody>
      </p:sp>
      <p:sp>
        <p:nvSpPr>
          <p:cNvPr id="678" name="Google Shape;678;p56"/>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4</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59"/>
                                        </p:tgtEl>
                                      </p:cBhvr>
                                    </p:animEffect>
                                    <p:set>
                                      <p:cBhvr>
                                        <p:cTn dur="1" fill="hold">
                                          <p:stCondLst>
                                            <p:cond delay="500"/>
                                          </p:stCondLst>
                                        </p:cTn>
                                        <p:tgtEl>
                                          <p:spTgt spid="6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0"/>
                                        </p:tgtEl>
                                      </p:cBhvr>
                                    </p:animEffect>
                                    <p:set>
                                      <p:cBhvr>
                                        <p:cTn dur="1" fill="hold">
                                          <p:stCondLst>
                                            <p:cond delay="500"/>
                                          </p:stCondLst>
                                        </p:cTn>
                                        <p:tgtEl>
                                          <p:spTgt spid="6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1"/>
                                        </p:tgtEl>
                                      </p:cBhvr>
                                    </p:animEffect>
                                    <p:set>
                                      <p:cBhvr>
                                        <p:cTn dur="1" fill="hold">
                                          <p:stCondLst>
                                            <p:cond delay="500"/>
                                          </p:stCondLst>
                                        </p:cTn>
                                        <p:tgtEl>
                                          <p:spTgt spid="6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2"/>
                                        </p:tgtEl>
                                      </p:cBhvr>
                                    </p:animEffect>
                                    <p:set>
                                      <p:cBhvr>
                                        <p:cTn dur="1" fill="hold">
                                          <p:stCondLst>
                                            <p:cond delay="500"/>
                                          </p:stCondLst>
                                        </p:cTn>
                                        <p:tgtEl>
                                          <p:spTgt spid="6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3"/>
                                        </p:tgtEl>
                                      </p:cBhvr>
                                    </p:animEffect>
                                    <p:set>
                                      <p:cBhvr>
                                        <p:cTn dur="1" fill="hold">
                                          <p:stCondLst>
                                            <p:cond delay="500"/>
                                          </p:stCondLst>
                                        </p:cTn>
                                        <p:tgtEl>
                                          <p:spTgt spid="6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4"/>
                                        </p:tgtEl>
                                      </p:cBhvr>
                                    </p:animEffect>
                                    <p:set>
                                      <p:cBhvr>
                                        <p:cTn dur="1" fill="hold">
                                          <p:stCondLst>
                                            <p:cond delay="500"/>
                                          </p:stCondLst>
                                        </p:cTn>
                                        <p:tgtEl>
                                          <p:spTgt spid="6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5"/>
                                        </p:tgtEl>
                                      </p:cBhvr>
                                    </p:animEffect>
                                    <p:set>
                                      <p:cBhvr>
                                        <p:cTn dur="1" fill="hold">
                                          <p:stCondLst>
                                            <p:cond delay="500"/>
                                          </p:stCondLst>
                                        </p:cTn>
                                        <p:tgtEl>
                                          <p:spTgt spid="6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6"/>
                                        </p:tgtEl>
                                      </p:cBhvr>
                                    </p:animEffect>
                                    <p:set>
                                      <p:cBhvr>
                                        <p:cTn dur="1" fill="hold">
                                          <p:stCondLst>
                                            <p:cond delay="500"/>
                                          </p:stCondLst>
                                        </p:cTn>
                                        <p:tgtEl>
                                          <p:spTgt spid="6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7"/>
          <p:cNvSpPr txBox="1"/>
          <p:nvPr/>
        </p:nvSpPr>
        <p:spPr>
          <a:xfrm>
            <a:off x="838200" y="4754563"/>
            <a:ext cx="1600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$180,000</a:t>
            </a:r>
            <a:endParaRPr/>
          </a:p>
        </p:txBody>
      </p:sp>
      <p:sp>
        <p:nvSpPr>
          <p:cNvPr id="684" name="Google Shape;684;p57"/>
          <p:cNvSpPr txBox="1"/>
          <p:nvPr/>
        </p:nvSpPr>
        <p:spPr>
          <a:xfrm>
            <a:off x="3657600" y="4754563"/>
            <a:ext cx="11430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$160</a:t>
            </a:r>
            <a:endParaRPr/>
          </a:p>
        </p:txBody>
      </p:sp>
      <p:sp>
        <p:nvSpPr>
          <p:cNvPr id="685" name="Google Shape;685;p57"/>
          <p:cNvSpPr txBox="1"/>
          <p:nvPr/>
        </p:nvSpPr>
        <p:spPr>
          <a:xfrm>
            <a:off x="6324600" y="4724400"/>
            <a:ext cx="22098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rgbClr val="800000"/>
                </a:solidFill>
                <a:latin typeface="Arial"/>
                <a:ea typeface="Arial"/>
                <a:cs typeface="Arial"/>
                <a:sym typeface="Arial"/>
              </a:rPr>
              <a:t>1,125 units</a:t>
            </a:r>
            <a:endParaRPr/>
          </a:p>
        </p:txBody>
      </p:sp>
      <p:sp>
        <p:nvSpPr>
          <p:cNvPr id="686" name="Google Shape;686;p57"/>
          <p:cNvSpPr txBox="1"/>
          <p:nvPr/>
        </p:nvSpPr>
        <p:spPr>
          <a:xfrm>
            <a:off x="5715000" y="47545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a:t>
            </a:r>
            <a:endParaRPr/>
          </a:p>
        </p:txBody>
      </p:sp>
      <p:sp>
        <p:nvSpPr>
          <p:cNvPr id="687" name="Google Shape;687;p57"/>
          <p:cNvSpPr/>
          <p:nvPr/>
        </p:nvSpPr>
        <p:spPr>
          <a:xfrm>
            <a:off x="609600" y="1412875"/>
            <a:ext cx="8001000" cy="1717393"/>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200">
                <a:solidFill>
                  <a:schemeClr val="dk1"/>
                </a:solidFill>
                <a:latin typeface="Arial"/>
                <a:ea typeface="Arial"/>
                <a:cs typeface="Arial"/>
                <a:sym typeface="Arial"/>
              </a:rPr>
              <a:t>Lombardi Company has a unit selling price of $400, variable costs per unit of $240, and fixed costs of $180,000. Compute the </a:t>
            </a:r>
            <a:r>
              <a:rPr b="1" lang="en-US" sz="2200">
                <a:solidFill>
                  <a:schemeClr val="dk1"/>
                </a:solidFill>
                <a:latin typeface="Arial"/>
                <a:ea typeface="Arial"/>
                <a:cs typeface="Arial"/>
                <a:sym typeface="Arial"/>
              </a:rPr>
              <a:t>break-even point</a:t>
            </a:r>
            <a:r>
              <a:rPr lang="en-US" sz="2200">
                <a:solidFill>
                  <a:schemeClr val="dk1"/>
                </a:solidFill>
                <a:latin typeface="Arial"/>
                <a:ea typeface="Arial"/>
                <a:cs typeface="Arial"/>
                <a:sym typeface="Arial"/>
              </a:rPr>
              <a:t> in units using (a) a mathematical equation and </a:t>
            </a:r>
            <a:r>
              <a:rPr b="1" lang="en-US" sz="2200">
                <a:solidFill>
                  <a:srgbClr val="800000"/>
                </a:solidFill>
                <a:latin typeface="Arial"/>
                <a:ea typeface="Arial"/>
                <a:cs typeface="Arial"/>
                <a:sym typeface="Arial"/>
              </a:rPr>
              <a:t>(b) contribution margin per unit</a:t>
            </a:r>
            <a:r>
              <a:rPr lang="en-US" sz="2200">
                <a:solidFill>
                  <a:schemeClr val="dk1"/>
                </a:solidFill>
                <a:latin typeface="Arial"/>
                <a:ea typeface="Arial"/>
                <a:cs typeface="Arial"/>
                <a:sym typeface="Arial"/>
              </a:rPr>
              <a:t>. </a:t>
            </a:r>
            <a:endParaRPr/>
          </a:p>
        </p:txBody>
      </p:sp>
      <p:sp>
        <p:nvSpPr>
          <p:cNvPr id="688" name="Google Shape;688;p57"/>
          <p:cNvSpPr txBox="1"/>
          <p:nvPr/>
        </p:nvSpPr>
        <p:spPr>
          <a:xfrm>
            <a:off x="1143000" y="3581400"/>
            <a:ext cx="11430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Fixed Costs</a:t>
            </a:r>
            <a:endParaRPr/>
          </a:p>
        </p:txBody>
      </p:sp>
      <p:sp>
        <p:nvSpPr>
          <p:cNvPr id="689" name="Google Shape;689;p57"/>
          <p:cNvSpPr txBox="1"/>
          <p:nvPr/>
        </p:nvSpPr>
        <p:spPr>
          <a:xfrm>
            <a:off x="3048000" y="3597275"/>
            <a:ext cx="25146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Contribution Margin per Unit</a:t>
            </a:r>
            <a:endParaRPr/>
          </a:p>
        </p:txBody>
      </p:sp>
      <p:sp>
        <p:nvSpPr>
          <p:cNvPr id="690" name="Google Shape;690;p57"/>
          <p:cNvSpPr txBox="1"/>
          <p:nvPr/>
        </p:nvSpPr>
        <p:spPr>
          <a:xfrm>
            <a:off x="6248400" y="3597275"/>
            <a:ext cx="22860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Break-Even Point in Units</a:t>
            </a:r>
            <a:endParaRPr/>
          </a:p>
        </p:txBody>
      </p:sp>
      <p:sp>
        <p:nvSpPr>
          <p:cNvPr id="691" name="Google Shape;691;p57"/>
          <p:cNvSpPr txBox="1"/>
          <p:nvPr/>
        </p:nvSpPr>
        <p:spPr>
          <a:xfrm>
            <a:off x="2514600" y="3810000"/>
            <a:ext cx="4572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92" name="Google Shape;692;p57"/>
          <p:cNvSpPr txBox="1"/>
          <p:nvPr/>
        </p:nvSpPr>
        <p:spPr>
          <a:xfrm>
            <a:off x="5715000" y="3810000"/>
            <a:ext cx="457200" cy="427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93" name="Google Shape;693;p57"/>
          <p:cNvSpPr txBox="1"/>
          <p:nvPr/>
        </p:nvSpPr>
        <p:spPr>
          <a:xfrm>
            <a:off x="2819400" y="4754563"/>
            <a:ext cx="457200" cy="4270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Arial"/>
                <a:ea typeface="Arial"/>
                <a:cs typeface="Arial"/>
                <a:sym typeface="Arial"/>
              </a:rPr>
              <a:t>÷</a:t>
            </a:r>
            <a:endParaRPr/>
          </a:p>
        </p:txBody>
      </p:sp>
      <p:sp>
        <p:nvSpPr>
          <p:cNvPr id="694" name="Google Shape;694;p57"/>
          <p:cNvSpPr txBox="1"/>
          <p:nvPr/>
        </p:nvSpPr>
        <p:spPr>
          <a:xfrm>
            <a:off x="838200" y="4754880"/>
            <a:ext cx="1676400" cy="446087"/>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95" name="Google Shape;695;p57"/>
          <p:cNvSpPr txBox="1"/>
          <p:nvPr/>
        </p:nvSpPr>
        <p:spPr>
          <a:xfrm>
            <a:off x="3505200" y="4754880"/>
            <a:ext cx="16764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96" name="Google Shape;696;p57"/>
          <p:cNvSpPr txBox="1"/>
          <p:nvPr/>
        </p:nvSpPr>
        <p:spPr>
          <a:xfrm>
            <a:off x="6553200" y="4754880"/>
            <a:ext cx="1676400" cy="4460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200">
              <a:solidFill>
                <a:schemeClr val="dk1"/>
              </a:solidFill>
              <a:latin typeface="Arial"/>
              <a:ea typeface="Arial"/>
              <a:cs typeface="Arial"/>
              <a:sym typeface="Arial"/>
            </a:endParaRPr>
          </a:p>
        </p:txBody>
      </p:sp>
      <p:sp>
        <p:nvSpPr>
          <p:cNvPr id="697" name="Google Shape;697;p5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4</a:t>
            </a:r>
            <a:endParaRPr b="1" i="1" sz="1600">
              <a:solidFill>
                <a:schemeClr val="dk1"/>
              </a:solidFill>
              <a:latin typeface="Arial"/>
              <a:ea typeface="Arial"/>
              <a:cs typeface="Arial"/>
              <a:sym typeface="Arial"/>
            </a:endParaRPr>
          </a:p>
        </p:txBody>
      </p:sp>
      <p:sp>
        <p:nvSpPr>
          <p:cNvPr id="698" name="Google Shape;698;p57"/>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699" name="Google Shape;699;p57"/>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3200">
                <a:solidFill>
                  <a:schemeClr val="lt1"/>
                </a:solidFill>
                <a:latin typeface="Arial"/>
                <a:ea typeface="Arial"/>
                <a:cs typeface="Arial"/>
                <a:sym typeface="Arial"/>
              </a:rPr>
              <a:t>Break-Even Analysis</a:t>
            </a:r>
            <a:endParaRPr b="1" i="0" sz="3200">
              <a:solidFill>
                <a:schemeClr val="lt1"/>
              </a:solidFill>
              <a:latin typeface="Arial"/>
              <a:ea typeface="Arial"/>
              <a:cs typeface="Arial"/>
              <a:sym typeface="Arial"/>
            </a:endParaRPr>
          </a:p>
        </p:txBody>
      </p:sp>
      <p:sp>
        <p:nvSpPr>
          <p:cNvPr id="700" name="Google Shape;700;p57"/>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4</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4"/>
                                        </p:tgtEl>
                                      </p:cBhvr>
                                    </p:animEffect>
                                    <p:set>
                                      <p:cBhvr>
                                        <p:cTn dur="1" fill="hold">
                                          <p:stCondLst>
                                            <p:cond delay="500"/>
                                          </p:stCondLst>
                                        </p:cTn>
                                        <p:tgtEl>
                                          <p:spTgt spid="6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5"/>
                                        </p:tgtEl>
                                      </p:cBhvr>
                                    </p:animEffect>
                                    <p:set>
                                      <p:cBhvr>
                                        <p:cTn dur="1" fill="hold">
                                          <p:stCondLst>
                                            <p:cond delay="500"/>
                                          </p:stCondLst>
                                        </p:cTn>
                                        <p:tgtEl>
                                          <p:spTgt spid="6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6"/>
                                        </p:tgtEl>
                                      </p:cBhvr>
                                    </p:animEffect>
                                    <p:set>
                                      <p:cBhvr>
                                        <p:cTn dur="1" fill="hold">
                                          <p:stCondLst>
                                            <p:cond delay="500"/>
                                          </p:stCondLst>
                                        </p:cTn>
                                        <p:tgtEl>
                                          <p:spTgt spid="6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8"/>
          <p:cNvSpPr txBox="1"/>
          <p:nvPr>
            <p:ph idx="1" type="body"/>
          </p:nvPr>
        </p:nvSpPr>
        <p:spPr>
          <a:xfrm>
            <a:off x="533400" y="2057400"/>
            <a:ext cx="7696200" cy="41148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Level of sales necessary to achieve a specified income.</a:t>
            </a:r>
            <a:endParaRPr/>
          </a:p>
          <a:p>
            <a:pPr indent="-457200" lvl="1" marL="685800" rtl="0" algn="l">
              <a:lnSpc>
                <a:spcPct val="120000"/>
              </a:lnSpc>
              <a:spcBef>
                <a:spcPts val="120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Can be determined from each of the approaches used to determine break-even sales/units:</a:t>
            </a:r>
            <a:endParaRPr/>
          </a:p>
          <a:p>
            <a:pPr indent="-457200" lvl="2" marL="1257300" rtl="0" algn="l">
              <a:lnSpc>
                <a:spcPct val="120000"/>
              </a:lnSpc>
              <a:spcBef>
                <a:spcPts val="1200"/>
              </a:spcBef>
              <a:spcAft>
                <a:spcPts val="0"/>
              </a:spcAft>
              <a:buClr>
                <a:srgbClr val="800000"/>
              </a:buClr>
              <a:buSzPts val="1600"/>
              <a:buFont typeface="Arial"/>
              <a:buChar char="►"/>
            </a:pPr>
            <a:r>
              <a:rPr b="0" lang="en-US">
                <a:solidFill>
                  <a:schemeClr val="dk1"/>
                </a:solidFill>
                <a:latin typeface="Arial"/>
                <a:ea typeface="Arial"/>
                <a:cs typeface="Arial"/>
                <a:sym typeface="Arial"/>
              </a:rPr>
              <a:t>from a </a:t>
            </a:r>
            <a:r>
              <a:rPr lang="en-US">
                <a:solidFill>
                  <a:schemeClr val="dk1"/>
                </a:solidFill>
                <a:latin typeface="Arial"/>
                <a:ea typeface="Arial"/>
                <a:cs typeface="Arial"/>
                <a:sym typeface="Arial"/>
              </a:rPr>
              <a:t>mathematical equation</a:t>
            </a:r>
            <a:r>
              <a:rPr b="0" lang="en-US">
                <a:solidFill>
                  <a:schemeClr val="dk1"/>
                </a:solidFill>
                <a:latin typeface="Arial"/>
                <a:ea typeface="Arial"/>
                <a:cs typeface="Arial"/>
                <a:sym typeface="Arial"/>
              </a:rPr>
              <a:t>,</a:t>
            </a:r>
            <a:endParaRPr/>
          </a:p>
          <a:p>
            <a:pPr indent="-457200" lvl="2" marL="1257300" rtl="0" algn="l">
              <a:lnSpc>
                <a:spcPct val="120000"/>
              </a:lnSpc>
              <a:spcBef>
                <a:spcPts val="1200"/>
              </a:spcBef>
              <a:spcAft>
                <a:spcPts val="0"/>
              </a:spcAft>
              <a:buClr>
                <a:srgbClr val="800000"/>
              </a:buClr>
              <a:buSzPts val="1600"/>
              <a:buFont typeface="Arial"/>
              <a:buChar char="►"/>
            </a:pPr>
            <a:r>
              <a:rPr b="0" lang="en-US">
                <a:solidFill>
                  <a:schemeClr val="dk1"/>
                </a:solidFill>
                <a:latin typeface="Arial"/>
                <a:ea typeface="Arial"/>
                <a:cs typeface="Arial"/>
                <a:sym typeface="Arial"/>
              </a:rPr>
              <a:t>by using </a:t>
            </a:r>
            <a:r>
              <a:rPr lang="en-US">
                <a:solidFill>
                  <a:schemeClr val="dk1"/>
                </a:solidFill>
                <a:latin typeface="Arial"/>
                <a:ea typeface="Arial"/>
                <a:cs typeface="Arial"/>
                <a:sym typeface="Arial"/>
              </a:rPr>
              <a:t>contribution margin technique</a:t>
            </a:r>
            <a:r>
              <a:rPr b="0" lang="en-US">
                <a:solidFill>
                  <a:schemeClr val="dk1"/>
                </a:solidFill>
                <a:latin typeface="Arial"/>
                <a:ea typeface="Arial"/>
                <a:cs typeface="Arial"/>
                <a:sym typeface="Arial"/>
              </a:rPr>
              <a:t>, or</a:t>
            </a:r>
            <a:endParaRPr/>
          </a:p>
          <a:p>
            <a:pPr indent="-457200" lvl="2" marL="1257300" rtl="0" algn="l">
              <a:lnSpc>
                <a:spcPct val="120000"/>
              </a:lnSpc>
              <a:spcBef>
                <a:spcPts val="1200"/>
              </a:spcBef>
              <a:spcAft>
                <a:spcPts val="0"/>
              </a:spcAft>
              <a:buClr>
                <a:srgbClr val="800000"/>
              </a:buClr>
              <a:buSzPts val="1600"/>
              <a:buFont typeface="Arial"/>
              <a:buChar char="►"/>
            </a:pPr>
            <a:r>
              <a:rPr b="0" lang="en-US">
                <a:solidFill>
                  <a:schemeClr val="dk1"/>
                </a:solidFill>
                <a:latin typeface="Arial"/>
                <a:ea typeface="Arial"/>
                <a:cs typeface="Arial"/>
                <a:sym typeface="Arial"/>
              </a:rPr>
              <a:t>from a cost-volume profit </a:t>
            </a:r>
            <a:r>
              <a:rPr lang="en-US">
                <a:solidFill>
                  <a:schemeClr val="dk1"/>
                </a:solidFill>
                <a:latin typeface="Arial"/>
                <a:ea typeface="Arial"/>
                <a:cs typeface="Arial"/>
                <a:sym typeface="Arial"/>
              </a:rPr>
              <a:t>(CVP) graph</a:t>
            </a:r>
            <a:r>
              <a:rPr b="0" lang="en-US">
                <a:solidFill>
                  <a:schemeClr val="dk1"/>
                </a:solidFill>
                <a:latin typeface="Arial"/>
                <a:ea typeface="Arial"/>
                <a:cs typeface="Arial"/>
                <a:sym typeface="Arial"/>
              </a:rPr>
              <a:t>.</a:t>
            </a:r>
            <a:r>
              <a:rPr lang="en-US">
                <a:solidFill>
                  <a:schemeClr val="dk1"/>
                </a:solidFill>
                <a:latin typeface="Arial"/>
                <a:ea typeface="Arial"/>
                <a:cs typeface="Arial"/>
                <a:sym typeface="Arial"/>
              </a:rPr>
              <a:t> </a:t>
            </a:r>
            <a:endParaRPr/>
          </a:p>
          <a:p>
            <a:pPr indent="-457200" lvl="1" marL="685800" rtl="0" algn="l">
              <a:lnSpc>
                <a:spcPct val="120000"/>
              </a:lnSpc>
              <a:spcBef>
                <a:spcPts val="120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Expressed either in </a:t>
            </a:r>
            <a:r>
              <a:rPr lang="en-US" sz="2100">
                <a:solidFill>
                  <a:schemeClr val="dk1"/>
                </a:solidFill>
                <a:latin typeface="Arial"/>
                <a:ea typeface="Arial"/>
                <a:cs typeface="Arial"/>
                <a:sym typeface="Arial"/>
              </a:rPr>
              <a:t>sales units</a:t>
            </a:r>
            <a:r>
              <a:rPr b="0" lang="en-US" sz="2100">
                <a:solidFill>
                  <a:schemeClr val="dk1"/>
                </a:solidFill>
                <a:latin typeface="Arial"/>
                <a:ea typeface="Arial"/>
                <a:cs typeface="Arial"/>
                <a:sym typeface="Arial"/>
              </a:rPr>
              <a:t> or in </a:t>
            </a:r>
            <a:r>
              <a:rPr lang="en-US" sz="2100">
                <a:solidFill>
                  <a:schemeClr val="dk1"/>
                </a:solidFill>
                <a:latin typeface="Arial"/>
                <a:ea typeface="Arial"/>
                <a:cs typeface="Arial"/>
                <a:sym typeface="Arial"/>
              </a:rPr>
              <a:t>sales dollars</a:t>
            </a:r>
            <a:r>
              <a:rPr b="0" lang="en-US" sz="2100">
                <a:solidFill>
                  <a:schemeClr val="dk1"/>
                </a:solidFill>
                <a:latin typeface="Arial"/>
                <a:ea typeface="Arial"/>
                <a:cs typeface="Arial"/>
                <a:sym typeface="Arial"/>
              </a:rPr>
              <a:t>.</a:t>
            </a:r>
            <a:endParaRPr/>
          </a:p>
        </p:txBody>
      </p:sp>
      <p:sp>
        <p:nvSpPr>
          <p:cNvPr id="706" name="Google Shape;706;p58"/>
          <p:cNvSpPr txBox="1"/>
          <p:nvPr/>
        </p:nvSpPr>
        <p:spPr>
          <a:xfrm>
            <a:off x="533400" y="1447800"/>
            <a:ext cx="42672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00BF"/>
                </a:solidFill>
                <a:latin typeface="Arial"/>
                <a:ea typeface="Arial"/>
                <a:cs typeface="Arial"/>
                <a:sym typeface="Arial"/>
              </a:rPr>
              <a:t>Target Net Income </a:t>
            </a:r>
            <a:endParaRPr/>
          </a:p>
        </p:txBody>
      </p:sp>
      <p:sp>
        <p:nvSpPr>
          <p:cNvPr id="707" name="Google Shape;707;p58"/>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708" name="Google Shape;708;p58"/>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53975" marR="0" rtl="0" algn="l">
              <a:spcBef>
                <a:spcPts val="0"/>
              </a:spcBef>
              <a:spcAft>
                <a:spcPts val="0"/>
              </a:spcAft>
              <a:buNone/>
            </a:pPr>
            <a:r>
              <a:rPr b="1" lang="en-US" sz="2100">
                <a:solidFill>
                  <a:schemeClr val="lt1"/>
                </a:solidFill>
                <a:latin typeface="Arial"/>
                <a:ea typeface="Arial"/>
                <a:cs typeface="Arial"/>
                <a:sym typeface="Arial"/>
              </a:rPr>
              <a:t>Determine the sales required to earn target net income and determine margin of safety.</a:t>
            </a:r>
            <a:endParaRPr/>
          </a:p>
        </p:txBody>
      </p:sp>
      <p:sp>
        <p:nvSpPr>
          <p:cNvPr id="709" name="Google Shape;709;p58"/>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5</a:t>
            </a:r>
            <a:endParaRPr b="1" sz="2700">
              <a:solidFill>
                <a:schemeClr val="lt1"/>
              </a:solidFill>
              <a:latin typeface="Arial"/>
              <a:ea typeface="Arial"/>
              <a:cs typeface="Arial"/>
              <a:sym typeface="Arial"/>
            </a:endParaRPr>
          </a:p>
        </p:txBody>
      </p:sp>
      <p:sp>
        <p:nvSpPr>
          <p:cNvPr id="710" name="Google Shape;710;p5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9"/>
          <p:cNvSpPr/>
          <p:nvPr/>
        </p:nvSpPr>
        <p:spPr>
          <a:xfrm>
            <a:off x="533400" y="1295400"/>
            <a:ext cx="64008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MATHEMATICAL EQUATION</a:t>
            </a:r>
            <a:endParaRPr/>
          </a:p>
        </p:txBody>
      </p:sp>
      <p:sp>
        <p:nvSpPr>
          <p:cNvPr id="716" name="Google Shape;716;p59"/>
          <p:cNvSpPr/>
          <p:nvPr/>
        </p:nvSpPr>
        <p:spPr>
          <a:xfrm>
            <a:off x="7190758" y="2620963"/>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22-24</a:t>
            </a:r>
            <a:endParaRPr b="1" sz="1200">
              <a:solidFill>
                <a:schemeClr val="dk1"/>
              </a:solidFill>
              <a:latin typeface="Arial"/>
              <a:ea typeface="Arial"/>
              <a:cs typeface="Arial"/>
              <a:sym typeface="Arial"/>
            </a:endParaRPr>
          </a:p>
        </p:txBody>
      </p:sp>
      <p:sp>
        <p:nvSpPr>
          <p:cNvPr id="717" name="Google Shape;717;p59"/>
          <p:cNvSpPr/>
          <p:nvPr/>
        </p:nvSpPr>
        <p:spPr>
          <a:xfrm>
            <a:off x="533400" y="1905000"/>
            <a:ext cx="7696200" cy="5334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0000"/>
              </a:lnSpc>
              <a:spcBef>
                <a:spcPts val="0"/>
              </a:spcBef>
              <a:spcAft>
                <a:spcPts val="0"/>
              </a:spcAft>
              <a:buClr>
                <a:srgbClr val="FF0000"/>
              </a:buClr>
              <a:buSzPts val="1650"/>
              <a:buFont typeface="Noto Sans Symbols"/>
              <a:buNone/>
            </a:pPr>
            <a:r>
              <a:rPr lang="en-US" sz="2200">
                <a:solidFill>
                  <a:schemeClr val="lt2"/>
                </a:solidFill>
                <a:latin typeface="Arial"/>
                <a:ea typeface="Arial"/>
                <a:cs typeface="Arial"/>
                <a:sym typeface="Arial"/>
              </a:rPr>
              <a:t>Formula for required sales to meet target net income.</a:t>
            </a:r>
            <a:endParaRPr/>
          </a:p>
        </p:txBody>
      </p:sp>
      <p:cxnSp>
        <p:nvCxnSpPr>
          <p:cNvPr id="718" name="Google Shape;718;p59"/>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19" name="Google Shape;719;p59"/>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pic>
        <p:nvPicPr>
          <p:cNvPr id="720" name="Google Shape;720;p59"/>
          <p:cNvPicPr preferRelativeResize="0"/>
          <p:nvPr/>
        </p:nvPicPr>
        <p:blipFill rotWithShape="1">
          <a:blip r:embed="rId3">
            <a:alphaModFix/>
          </a:blip>
          <a:srcRect b="0" l="0" r="0" t="0"/>
          <a:stretch/>
        </p:blipFill>
        <p:spPr>
          <a:xfrm>
            <a:off x="457200" y="2971800"/>
            <a:ext cx="8077200" cy="855663"/>
          </a:xfrm>
          <a:prstGeom prst="rect">
            <a:avLst/>
          </a:prstGeom>
          <a:noFill/>
          <a:ln cap="sq" cmpd="sng" w="19050">
            <a:solidFill>
              <a:schemeClr val="dk1"/>
            </a:solidFill>
            <a:prstDash val="solid"/>
            <a:miter lim="800000"/>
            <a:headEnd len="sm" w="sm" type="none"/>
            <a:tailEnd len="sm" w="sm" type="none"/>
          </a:ln>
        </p:spPr>
      </p:pic>
      <p:sp>
        <p:nvSpPr>
          <p:cNvPr id="721" name="Google Shape;721;p5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0"/>
          <p:cNvSpPr txBox="1"/>
          <p:nvPr>
            <p:ph idx="1" type="body"/>
          </p:nvPr>
        </p:nvSpPr>
        <p:spPr>
          <a:xfrm>
            <a:off x="533400" y="1905000"/>
            <a:ext cx="7696200" cy="9144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FF0000"/>
              </a:buClr>
              <a:buSzPts val="1575"/>
              <a:buFont typeface="Noto Sans Symbols"/>
              <a:buNone/>
            </a:pPr>
            <a:r>
              <a:rPr b="0" lang="en-US" sz="2100">
                <a:latin typeface="Arial"/>
                <a:ea typeface="Arial"/>
                <a:cs typeface="Arial"/>
                <a:sym typeface="Arial"/>
              </a:rPr>
              <a:t>Using the formula for the break-even point, simply include the desired net income as a factor. </a:t>
            </a:r>
            <a:endParaRPr/>
          </a:p>
        </p:txBody>
      </p:sp>
      <p:sp>
        <p:nvSpPr>
          <p:cNvPr id="727" name="Google Shape;727;p60"/>
          <p:cNvSpPr/>
          <p:nvPr/>
        </p:nvSpPr>
        <p:spPr>
          <a:xfrm>
            <a:off x="6628783" y="2667000"/>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22-25</a:t>
            </a:r>
            <a:endParaRPr b="1" sz="1200">
              <a:solidFill>
                <a:schemeClr val="dk1"/>
              </a:solidFill>
              <a:latin typeface="Arial"/>
              <a:ea typeface="Arial"/>
              <a:cs typeface="Arial"/>
              <a:sym typeface="Arial"/>
            </a:endParaRPr>
          </a:p>
        </p:txBody>
      </p:sp>
      <p:sp>
        <p:nvSpPr>
          <p:cNvPr id="728" name="Google Shape;728;p60"/>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MATHEMATICAL EQUATION</a:t>
            </a:r>
            <a:endParaRPr/>
          </a:p>
        </p:txBody>
      </p:sp>
      <p:cxnSp>
        <p:nvCxnSpPr>
          <p:cNvPr id="729" name="Google Shape;729;p6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30" name="Google Shape;730;p60"/>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pic>
        <p:nvPicPr>
          <p:cNvPr id="731" name="Google Shape;731;p60"/>
          <p:cNvPicPr preferRelativeResize="0"/>
          <p:nvPr/>
        </p:nvPicPr>
        <p:blipFill rotWithShape="1">
          <a:blip r:embed="rId3">
            <a:alphaModFix/>
          </a:blip>
          <a:srcRect b="0" l="0" r="0" t="0"/>
          <a:stretch/>
        </p:blipFill>
        <p:spPr>
          <a:xfrm>
            <a:off x="1066800" y="2971800"/>
            <a:ext cx="6934200" cy="3598863"/>
          </a:xfrm>
          <a:prstGeom prst="rect">
            <a:avLst/>
          </a:prstGeom>
          <a:noFill/>
          <a:ln>
            <a:noFill/>
          </a:ln>
        </p:spPr>
      </p:pic>
      <p:sp>
        <p:nvSpPr>
          <p:cNvPr id="732" name="Google Shape;732;p6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1"/>
          <p:cNvSpPr/>
          <p:nvPr/>
        </p:nvSpPr>
        <p:spPr>
          <a:xfrm>
            <a:off x="533400" y="1905000"/>
            <a:ext cx="7696200" cy="6858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0000"/>
              </a:lnSpc>
              <a:spcBef>
                <a:spcPts val="0"/>
              </a:spcBef>
              <a:spcAft>
                <a:spcPts val="0"/>
              </a:spcAft>
              <a:buClr>
                <a:srgbClr val="FF0000"/>
              </a:buClr>
              <a:buSzPts val="1575"/>
              <a:buFont typeface="Noto Sans Symbols"/>
              <a:buNone/>
            </a:pPr>
            <a:r>
              <a:rPr lang="en-US" sz="2100">
                <a:solidFill>
                  <a:schemeClr val="lt2"/>
                </a:solidFill>
                <a:latin typeface="Arial"/>
                <a:ea typeface="Arial"/>
                <a:cs typeface="Arial"/>
                <a:sym typeface="Arial"/>
              </a:rPr>
              <a:t>To determine the required </a:t>
            </a:r>
            <a:r>
              <a:rPr b="1" lang="en-US" sz="2100">
                <a:solidFill>
                  <a:srgbClr val="800000"/>
                </a:solidFill>
                <a:latin typeface="Arial"/>
                <a:ea typeface="Arial"/>
                <a:cs typeface="Arial"/>
                <a:sym typeface="Arial"/>
              </a:rPr>
              <a:t>sales in units</a:t>
            </a:r>
            <a:r>
              <a:rPr lang="en-US" sz="2100">
                <a:solidFill>
                  <a:schemeClr val="lt2"/>
                </a:solidFill>
                <a:latin typeface="Arial"/>
                <a:ea typeface="Arial"/>
                <a:cs typeface="Arial"/>
                <a:sym typeface="Arial"/>
              </a:rPr>
              <a:t> for Vargo Video:</a:t>
            </a:r>
            <a:endParaRPr/>
          </a:p>
        </p:txBody>
      </p:sp>
      <p:sp>
        <p:nvSpPr>
          <p:cNvPr id="738" name="Google Shape;738;p61"/>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TECHNIQUE</a:t>
            </a:r>
            <a:endParaRPr/>
          </a:p>
        </p:txBody>
      </p:sp>
      <p:cxnSp>
        <p:nvCxnSpPr>
          <p:cNvPr id="739" name="Google Shape;739;p6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40" name="Google Shape;740;p61"/>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pic>
        <p:nvPicPr>
          <p:cNvPr id="741" name="Google Shape;741;p61"/>
          <p:cNvPicPr preferRelativeResize="0"/>
          <p:nvPr/>
        </p:nvPicPr>
        <p:blipFill rotWithShape="1">
          <a:blip r:embed="rId3">
            <a:alphaModFix/>
          </a:blip>
          <a:srcRect b="0" l="0" r="0" t="0"/>
          <a:stretch/>
        </p:blipFill>
        <p:spPr>
          <a:xfrm>
            <a:off x="457200" y="2714625"/>
            <a:ext cx="8124825" cy="1019175"/>
          </a:xfrm>
          <a:prstGeom prst="rect">
            <a:avLst/>
          </a:prstGeom>
          <a:noFill/>
          <a:ln>
            <a:noFill/>
          </a:ln>
        </p:spPr>
      </p:pic>
      <p:sp>
        <p:nvSpPr>
          <p:cNvPr id="742" name="Google Shape;742;p61"/>
          <p:cNvSpPr/>
          <p:nvPr/>
        </p:nvSpPr>
        <p:spPr>
          <a:xfrm>
            <a:off x="457200" y="3762611"/>
            <a:ext cx="4572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22-26</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required sales in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units using unit contribution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margin</a:t>
            </a:r>
            <a:endParaRPr/>
          </a:p>
        </p:txBody>
      </p:sp>
      <p:sp>
        <p:nvSpPr>
          <p:cNvPr id="743" name="Google Shape;743;p6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2"/>
          <p:cNvSpPr/>
          <p:nvPr/>
        </p:nvSpPr>
        <p:spPr>
          <a:xfrm>
            <a:off x="533400" y="1905000"/>
            <a:ext cx="7696200" cy="6858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20000"/>
              </a:lnSpc>
              <a:spcBef>
                <a:spcPts val="0"/>
              </a:spcBef>
              <a:spcAft>
                <a:spcPts val="0"/>
              </a:spcAft>
              <a:buClr>
                <a:srgbClr val="FF0000"/>
              </a:buClr>
              <a:buSzPts val="1575"/>
              <a:buFont typeface="Noto Sans Symbols"/>
              <a:buNone/>
            </a:pPr>
            <a:r>
              <a:rPr lang="en-US" sz="2100">
                <a:solidFill>
                  <a:schemeClr val="lt2"/>
                </a:solidFill>
                <a:latin typeface="Arial"/>
                <a:ea typeface="Arial"/>
                <a:cs typeface="Arial"/>
                <a:sym typeface="Arial"/>
              </a:rPr>
              <a:t>To determine the required </a:t>
            </a:r>
            <a:r>
              <a:rPr b="1" lang="en-US" sz="2100">
                <a:solidFill>
                  <a:srgbClr val="800000"/>
                </a:solidFill>
                <a:latin typeface="Arial"/>
                <a:ea typeface="Arial"/>
                <a:cs typeface="Arial"/>
                <a:sym typeface="Arial"/>
              </a:rPr>
              <a:t>sales in dollars</a:t>
            </a:r>
            <a:r>
              <a:rPr lang="en-US" sz="2100">
                <a:solidFill>
                  <a:schemeClr val="lt2"/>
                </a:solidFill>
                <a:latin typeface="Arial"/>
                <a:ea typeface="Arial"/>
                <a:cs typeface="Arial"/>
                <a:sym typeface="Arial"/>
              </a:rPr>
              <a:t> for Vargo Video:</a:t>
            </a:r>
            <a:endParaRPr/>
          </a:p>
        </p:txBody>
      </p:sp>
      <p:cxnSp>
        <p:nvCxnSpPr>
          <p:cNvPr id="749" name="Google Shape;749;p6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50" name="Google Shape;750;p62"/>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pic>
        <p:nvPicPr>
          <p:cNvPr id="751" name="Google Shape;751;p62"/>
          <p:cNvPicPr preferRelativeResize="0"/>
          <p:nvPr/>
        </p:nvPicPr>
        <p:blipFill rotWithShape="1">
          <a:blip r:embed="rId3">
            <a:alphaModFix/>
          </a:blip>
          <a:srcRect b="0" l="0" r="0" t="0"/>
          <a:stretch/>
        </p:blipFill>
        <p:spPr>
          <a:xfrm>
            <a:off x="457200" y="2743200"/>
            <a:ext cx="8124825" cy="1012825"/>
          </a:xfrm>
          <a:prstGeom prst="rect">
            <a:avLst/>
          </a:prstGeom>
          <a:noFill/>
          <a:ln>
            <a:noFill/>
          </a:ln>
        </p:spPr>
      </p:pic>
      <p:sp>
        <p:nvSpPr>
          <p:cNvPr id="752" name="Google Shape;752;p62"/>
          <p:cNvSpPr txBox="1"/>
          <p:nvPr/>
        </p:nvSpPr>
        <p:spPr>
          <a:xfrm>
            <a:off x="533400" y="1295400"/>
            <a:ext cx="7010400"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CONTRIBUTION MARGIN TECHNIQUE</a:t>
            </a:r>
            <a:endParaRPr/>
          </a:p>
        </p:txBody>
      </p:sp>
      <p:sp>
        <p:nvSpPr>
          <p:cNvPr id="753" name="Google Shape;753;p62"/>
          <p:cNvSpPr/>
          <p:nvPr/>
        </p:nvSpPr>
        <p:spPr>
          <a:xfrm>
            <a:off x="457200" y="3789907"/>
            <a:ext cx="4572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22-27</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required sales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 dollars using contribution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margin ratio</a:t>
            </a:r>
            <a:endParaRPr/>
          </a:p>
        </p:txBody>
      </p:sp>
      <p:sp>
        <p:nvSpPr>
          <p:cNvPr id="754" name="Google Shape;754;p6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63"/>
          <p:cNvSpPr txBox="1"/>
          <p:nvPr/>
        </p:nvSpPr>
        <p:spPr>
          <a:xfrm>
            <a:off x="533400" y="2209800"/>
            <a:ext cx="2819400" cy="3725863"/>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1800">
                <a:solidFill>
                  <a:schemeClr val="dk1"/>
                </a:solidFill>
                <a:latin typeface="Arial"/>
                <a:ea typeface="Arial"/>
                <a:cs typeface="Arial"/>
                <a:sym typeface="Arial"/>
              </a:rPr>
              <a:t>Suppose Vargo Video sells 1,400 camcorders. Illustration 22-23 shows that a vertical line drawn at 1,400 units intersects the sales line at $700,000 and the total cost line at $620,000. The difference between the two amounts represents the net income (profit) of $80,000.</a:t>
            </a:r>
            <a:endParaRPr b="1" sz="1800">
              <a:solidFill>
                <a:schemeClr val="dk1"/>
              </a:solidFill>
              <a:latin typeface="Arial"/>
              <a:ea typeface="Arial"/>
              <a:cs typeface="Arial"/>
              <a:sym typeface="Arial"/>
            </a:endParaRPr>
          </a:p>
        </p:txBody>
      </p:sp>
      <p:cxnSp>
        <p:nvCxnSpPr>
          <p:cNvPr id="760" name="Google Shape;760;p6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61" name="Google Shape;761;p63"/>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pic>
        <p:nvPicPr>
          <p:cNvPr id="762" name="Google Shape;762;p63"/>
          <p:cNvPicPr preferRelativeResize="0"/>
          <p:nvPr/>
        </p:nvPicPr>
        <p:blipFill rotWithShape="1">
          <a:blip r:embed="rId3">
            <a:alphaModFix/>
          </a:blip>
          <a:srcRect b="0" l="0" r="0" t="0"/>
          <a:stretch/>
        </p:blipFill>
        <p:spPr>
          <a:xfrm>
            <a:off x="3505200" y="1320800"/>
            <a:ext cx="5419725" cy="4851400"/>
          </a:xfrm>
          <a:prstGeom prst="rect">
            <a:avLst/>
          </a:prstGeom>
          <a:noFill/>
          <a:ln>
            <a:noFill/>
          </a:ln>
        </p:spPr>
      </p:pic>
      <p:sp>
        <p:nvSpPr>
          <p:cNvPr id="763" name="Google Shape;763;p63"/>
          <p:cNvSpPr/>
          <p:nvPr/>
        </p:nvSpPr>
        <p:spPr>
          <a:xfrm>
            <a:off x="2513983" y="5954713"/>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22-23</a:t>
            </a:r>
            <a:endParaRPr b="1" sz="1200">
              <a:solidFill>
                <a:schemeClr val="dk1"/>
              </a:solidFill>
              <a:latin typeface="Arial"/>
              <a:ea typeface="Arial"/>
              <a:cs typeface="Arial"/>
              <a:sym typeface="Arial"/>
            </a:endParaRPr>
          </a:p>
        </p:txBody>
      </p:sp>
      <p:sp>
        <p:nvSpPr>
          <p:cNvPr id="764" name="Google Shape;764;p63"/>
          <p:cNvSpPr txBox="1"/>
          <p:nvPr/>
        </p:nvSpPr>
        <p:spPr>
          <a:xfrm>
            <a:off x="533400" y="1179513"/>
            <a:ext cx="2971800" cy="954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GRAPHIC PRESENTATION</a:t>
            </a:r>
            <a:endParaRPr/>
          </a:p>
        </p:txBody>
      </p:sp>
      <p:sp>
        <p:nvSpPr>
          <p:cNvPr id="765" name="Google Shape;765;p6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4"/>
          <p:cNvSpPr txBox="1"/>
          <p:nvPr>
            <p:ph idx="1" type="body"/>
          </p:nvPr>
        </p:nvSpPr>
        <p:spPr>
          <a:xfrm>
            <a:off x="533400" y="1905000"/>
            <a:ext cx="8077200" cy="3962400"/>
          </a:xfrm>
          <a:prstGeom prst="rect">
            <a:avLst/>
          </a:prstGeom>
          <a:solidFill>
            <a:schemeClr val="lt1"/>
          </a:solidFill>
          <a:ln>
            <a:noFill/>
          </a:ln>
        </p:spPr>
        <p:txBody>
          <a:bodyPr anchorCtr="0" anchor="t" bIns="46025" lIns="91425" spcFirstLastPara="1" rIns="182550" wrap="square" tIns="46025">
            <a:noAutofit/>
          </a:bodyPr>
          <a:lstStyle/>
          <a:p>
            <a:pPr indent="0" lvl="0" marL="0" rtl="0" algn="l">
              <a:lnSpc>
                <a:spcPct val="120000"/>
              </a:lnSpc>
              <a:spcBef>
                <a:spcPts val="0"/>
              </a:spcBef>
              <a:spcAft>
                <a:spcPts val="0"/>
              </a:spcAft>
              <a:buSzPts val="1650"/>
              <a:buFont typeface="Noto Sans Symbols"/>
              <a:buNone/>
            </a:pPr>
            <a:r>
              <a:rPr b="0" lang="en-US" sz="2200">
                <a:latin typeface="Arial"/>
                <a:ea typeface="Arial"/>
                <a:cs typeface="Arial"/>
                <a:sym typeface="Arial"/>
              </a:rPr>
              <a:t>The mathematical equation for computing required sales to obtain target net income is:</a:t>
            </a:r>
            <a:endParaRPr/>
          </a:p>
          <a:p>
            <a:pPr indent="0" lvl="0" marL="0" rtl="0" algn="l">
              <a:lnSpc>
                <a:spcPct val="120000"/>
              </a:lnSpc>
              <a:spcBef>
                <a:spcPts val="440"/>
              </a:spcBef>
              <a:spcAft>
                <a:spcPts val="0"/>
              </a:spcAft>
              <a:buSzPts val="1650"/>
              <a:buFont typeface="Noto Sans Symbols"/>
              <a:buNone/>
            </a:pPr>
            <a:r>
              <a:rPr b="0" lang="en-US" sz="2200">
                <a:latin typeface="Arial"/>
                <a:ea typeface="Arial"/>
                <a:cs typeface="Arial"/>
                <a:sym typeface="Arial"/>
              </a:rPr>
              <a:t>Required sales =</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Variable costs + Target net income.</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Variable costs + Fixed costs + Target net income.</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Fixed costs + Target net income.</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No correct answer is given. </a:t>
            </a:r>
            <a:endParaRPr/>
          </a:p>
          <a:p>
            <a:pPr indent="0" lvl="0" marL="0" rtl="0" algn="l">
              <a:lnSpc>
                <a:spcPct val="120000"/>
              </a:lnSpc>
              <a:spcBef>
                <a:spcPts val="440"/>
              </a:spcBef>
              <a:spcAft>
                <a:spcPts val="0"/>
              </a:spcAft>
              <a:buSzPts val="1650"/>
              <a:buFont typeface="Noto Sans Symbols"/>
              <a:buNone/>
            </a:pPr>
            <a:r>
              <a:t/>
            </a:r>
            <a:endParaRPr b="0" sz="2200">
              <a:latin typeface="Arial"/>
              <a:ea typeface="Arial"/>
              <a:cs typeface="Arial"/>
              <a:sym typeface="Arial"/>
            </a:endParaRPr>
          </a:p>
        </p:txBody>
      </p:sp>
      <p:sp>
        <p:nvSpPr>
          <p:cNvPr id="771" name="Google Shape;771;p64"/>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772" name="Google Shape;772;p6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73" name="Google Shape;773;p6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Target Net Income</a:t>
            </a:r>
            <a:endParaRPr/>
          </a:p>
        </p:txBody>
      </p:sp>
      <p:sp>
        <p:nvSpPr>
          <p:cNvPr id="774" name="Google Shape;774;p64"/>
          <p:cNvSpPr/>
          <p:nvPr/>
        </p:nvSpPr>
        <p:spPr>
          <a:xfrm>
            <a:off x="228600" y="3837296"/>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75" name="Google Shape;775;p6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5"/>
          <p:cNvSpPr txBox="1"/>
          <p:nvPr>
            <p:ph idx="1" type="body"/>
          </p:nvPr>
        </p:nvSpPr>
        <p:spPr>
          <a:xfrm>
            <a:off x="533400" y="1295400"/>
            <a:ext cx="7696200" cy="28194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Difference between </a:t>
            </a:r>
            <a:r>
              <a:rPr lang="en-US" sz="2100">
                <a:solidFill>
                  <a:schemeClr val="dk1"/>
                </a:solidFill>
                <a:latin typeface="Arial"/>
                <a:ea typeface="Arial"/>
                <a:cs typeface="Arial"/>
                <a:sym typeface="Arial"/>
              </a:rPr>
              <a:t>actual or expected sales</a:t>
            </a:r>
            <a:r>
              <a:rPr b="0" lang="en-US" sz="2100">
                <a:solidFill>
                  <a:schemeClr val="dk1"/>
                </a:solidFill>
                <a:latin typeface="Arial"/>
                <a:ea typeface="Arial"/>
                <a:cs typeface="Arial"/>
                <a:sym typeface="Arial"/>
              </a:rPr>
              <a:t> and sales at the </a:t>
            </a:r>
            <a:r>
              <a:rPr lang="en-US" sz="2100">
                <a:solidFill>
                  <a:schemeClr val="dk1"/>
                </a:solidFill>
                <a:latin typeface="Arial"/>
                <a:ea typeface="Arial"/>
                <a:cs typeface="Arial"/>
                <a:sym typeface="Arial"/>
              </a:rPr>
              <a:t>break-even point</a:t>
            </a:r>
            <a:r>
              <a:rPr b="0" lang="en-US" sz="2100">
                <a:solidFill>
                  <a:schemeClr val="dk1"/>
                </a:solidFill>
                <a:latin typeface="Arial"/>
                <a:ea typeface="Arial"/>
                <a:cs typeface="Arial"/>
                <a:sym typeface="Arial"/>
              </a:rPr>
              <a:t>.</a:t>
            </a:r>
            <a:endParaRPr/>
          </a:p>
          <a:p>
            <a:pPr indent="-457200" lvl="1" marL="685800" rtl="0" algn="l">
              <a:lnSpc>
                <a:spcPct val="120000"/>
              </a:lnSpc>
              <a:spcBef>
                <a:spcPts val="84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Measures the “cushion” that a particular level of sales provides.</a:t>
            </a:r>
            <a:endParaRPr/>
          </a:p>
          <a:p>
            <a:pPr indent="-457200" lvl="1" marL="685800" rtl="0" algn="l">
              <a:lnSpc>
                <a:spcPct val="120000"/>
              </a:lnSpc>
              <a:spcBef>
                <a:spcPts val="84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May be expressed </a:t>
            </a:r>
            <a:r>
              <a:rPr lang="en-US" sz="2100">
                <a:solidFill>
                  <a:schemeClr val="dk1"/>
                </a:solidFill>
                <a:latin typeface="Arial"/>
                <a:ea typeface="Arial"/>
                <a:cs typeface="Arial"/>
                <a:sym typeface="Arial"/>
              </a:rPr>
              <a:t>in dollars or as a ratio.</a:t>
            </a:r>
            <a:endParaRPr/>
          </a:p>
          <a:p>
            <a:pPr indent="-457200" lvl="1" marL="685800" rtl="0" algn="l">
              <a:lnSpc>
                <a:spcPct val="120000"/>
              </a:lnSpc>
              <a:spcBef>
                <a:spcPts val="84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Assuming actual/expected sales are $750,000:</a:t>
            </a:r>
            <a:endParaRPr/>
          </a:p>
        </p:txBody>
      </p:sp>
      <p:cxnSp>
        <p:nvCxnSpPr>
          <p:cNvPr id="781" name="Google Shape;781;p6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82" name="Google Shape;782;p6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Margin of Safety</a:t>
            </a:r>
            <a:endParaRPr/>
          </a:p>
        </p:txBody>
      </p:sp>
      <p:pic>
        <p:nvPicPr>
          <p:cNvPr id="783" name="Google Shape;783;p65"/>
          <p:cNvPicPr preferRelativeResize="0"/>
          <p:nvPr/>
        </p:nvPicPr>
        <p:blipFill rotWithShape="1">
          <a:blip r:embed="rId3">
            <a:alphaModFix/>
          </a:blip>
          <a:srcRect b="0" l="0" r="0" t="0"/>
          <a:stretch/>
        </p:blipFill>
        <p:spPr>
          <a:xfrm>
            <a:off x="304801" y="4351181"/>
            <a:ext cx="8534400" cy="1287619"/>
          </a:xfrm>
          <a:prstGeom prst="rect">
            <a:avLst/>
          </a:prstGeom>
          <a:noFill/>
          <a:ln>
            <a:noFill/>
          </a:ln>
        </p:spPr>
      </p:pic>
      <p:sp>
        <p:nvSpPr>
          <p:cNvPr id="784" name="Google Shape;784;p65"/>
          <p:cNvSpPr/>
          <p:nvPr/>
        </p:nvSpPr>
        <p:spPr>
          <a:xfrm>
            <a:off x="228600" y="5642549"/>
            <a:ext cx="457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22-28</a:t>
            </a:r>
            <a:endParaRPr b="1"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Formula for margin of safety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in dollars</a:t>
            </a:r>
            <a:endParaRPr/>
          </a:p>
        </p:txBody>
      </p:sp>
      <p:sp>
        <p:nvSpPr>
          <p:cNvPr id="785" name="Google Shape;785;p6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pic>
        <p:nvPicPr>
          <p:cNvPr id="790" name="Google Shape;790;p66"/>
          <p:cNvPicPr preferRelativeResize="0"/>
          <p:nvPr/>
        </p:nvPicPr>
        <p:blipFill rotWithShape="1">
          <a:blip r:embed="rId3">
            <a:alphaModFix/>
          </a:blip>
          <a:srcRect b="0" l="0" r="0" t="0"/>
          <a:stretch/>
        </p:blipFill>
        <p:spPr>
          <a:xfrm>
            <a:off x="304801" y="2979581"/>
            <a:ext cx="8534400" cy="1287619"/>
          </a:xfrm>
          <a:prstGeom prst="rect">
            <a:avLst/>
          </a:prstGeom>
          <a:noFill/>
          <a:ln>
            <a:noFill/>
          </a:ln>
        </p:spPr>
      </p:pic>
      <p:sp>
        <p:nvSpPr>
          <p:cNvPr id="791" name="Google Shape;791;p66"/>
          <p:cNvSpPr txBox="1"/>
          <p:nvPr>
            <p:ph idx="1" type="body"/>
          </p:nvPr>
        </p:nvSpPr>
        <p:spPr>
          <a:xfrm>
            <a:off x="533400" y="1295400"/>
            <a:ext cx="7696200" cy="14478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rtl="0" algn="l">
              <a:lnSpc>
                <a:spcPct val="120000"/>
              </a:lnSpc>
              <a:spcBef>
                <a:spcPts val="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Computed by dividing the margin of safety in dollars by the actual (or expected) sales.</a:t>
            </a:r>
            <a:endParaRPr/>
          </a:p>
          <a:p>
            <a:pPr indent="-457200" lvl="1" marL="685800" rtl="0" algn="l">
              <a:lnSpc>
                <a:spcPct val="120000"/>
              </a:lnSpc>
              <a:spcBef>
                <a:spcPts val="840"/>
              </a:spcBef>
              <a:spcAft>
                <a:spcPts val="0"/>
              </a:spcAft>
              <a:buClr>
                <a:srgbClr val="800000"/>
              </a:buClr>
              <a:buSzPts val="1680"/>
              <a:buFont typeface="Noto Sans Symbols"/>
              <a:buChar char="◆"/>
            </a:pPr>
            <a:r>
              <a:rPr b="0" lang="en-US" sz="2100">
                <a:solidFill>
                  <a:schemeClr val="dk1"/>
                </a:solidFill>
                <a:latin typeface="Arial"/>
                <a:ea typeface="Arial"/>
                <a:cs typeface="Arial"/>
                <a:sym typeface="Arial"/>
              </a:rPr>
              <a:t>Assuming actual/expected sales are $750,000:</a:t>
            </a:r>
            <a:endParaRPr/>
          </a:p>
        </p:txBody>
      </p:sp>
      <p:sp>
        <p:nvSpPr>
          <p:cNvPr id="792" name="Google Shape;792;p66"/>
          <p:cNvSpPr/>
          <p:nvPr/>
        </p:nvSpPr>
        <p:spPr>
          <a:xfrm>
            <a:off x="7522826" y="2667000"/>
            <a:ext cx="140775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Illustration 22-29</a:t>
            </a:r>
            <a:endParaRPr b="1" sz="1200">
              <a:solidFill>
                <a:schemeClr val="dk1"/>
              </a:solidFill>
              <a:latin typeface="Arial"/>
              <a:ea typeface="Arial"/>
              <a:cs typeface="Arial"/>
              <a:sym typeface="Arial"/>
            </a:endParaRPr>
          </a:p>
        </p:txBody>
      </p:sp>
      <p:sp>
        <p:nvSpPr>
          <p:cNvPr id="793" name="Google Shape;793;p66"/>
          <p:cNvSpPr/>
          <p:nvPr/>
        </p:nvSpPr>
        <p:spPr>
          <a:xfrm>
            <a:off x="533400" y="4572000"/>
            <a:ext cx="7696200" cy="9144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457200" lvl="1" marL="685800" marR="0" rtl="0" algn="l">
              <a:lnSpc>
                <a:spcPct val="120000"/>
              </a:lnSpc>
              <a:spcBef>
                <a:spcPts val="0"/>
              </a:spcBef>
              <a:spcAft>
                <a:spcPts val="0"/>
              </a:spcAft>
              <a:buClr>
                <a:srgbClr val="800000"/>
              </a:buClr>
              <a:buSzPts val="1680"/>
              <a:buFont typeface="Noto Sans Symbols"/>
              <a:buChar char="◆"/>
            </a:pPr>
            <a:r>
              <a:rPr b="0" i="0" lang="en-US" sz="2100" u="none" cap="none" strike="noStrike">
                <a:solidFill>
                  <a:schemeClr val="dk1"/>
                </a:solidFill>
                <a:latin typeface="Arial"/>
                <a:ea typeface="Arial"/>
                <a:cs typeface="Arial"/>
                <a:sym typeface="Arial"/>
              </a:rPr>
              <a:t>The higher the dollars or percentage, the greater the margin of safety.</a:t>
            </a:r>
            <a:endParaRPr/>
          </a:p>
        </p:txBody>
      </p:sp>
      <p:cxnSp>
        <p:nvCxnSpPr>
          <p:cNvPr id="794" name="Google Shape;794;p6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795" name="Google Shape;795;p6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Margin of Safety</a:t>
            </a:r>
            <a:endParaRPr/>
          </a:p>
        </p:txBody>
      </p:sp>
      <p:sp>
        <p:nvSpPr>
          <p:cNvPr id="796" name="Google Shape;796;p6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7"/>
          <p:cNvSpPr txBox="1"/>
          <p:nvPr>
            <p:ph idx="1" type="body"/>
          </p:nvPr>
        </p:nvSpPr>
        <p:spPr>
          <a:xfrm>
            <a:off x="533400" y="1905000"/>
            <a:ext cx="8077200" cy="3733800"/>
          </a:xfrm>
          <a:prstGeom prst="rect">
            <a:avLst/>
          </a:prstGeom>
          <a:solidFill>
            <a:schemeClr val="lt1"/>
          </a:solidFill>
          <a:ln>
            <a:noFill/>
          </a:ln>
        </p:spPr>
        <p:txBody>
          <a:bodyPr anchorCtr="0" anchor="t" bIns="46025" lIns="91425" spcFirstLastPara="1" rIns="182550" wrap="square" tIns="46025">
            <a:noAutofit/>
          </a:bodyPr>
          <a:lstStyle/>
          <a:p>
            <a:pPr indent="0" lvl="0" marL="0" rtl="0" algn="l">
              <a:lnSpc>
                <a:spcPct val="120000"/>
              </a:lnSpc>
              <a:spcBef>
                <a:spcPts val="0"/>
              </a:spcBef>
              <a:spcAft>
                <a:spcPts val="0"/>
              </a:spcAft>
              <a:buSzPts val="1650"/>
              <a:buFont typeface="Noto Sans Symbols"/>
              <a:buNone/>
            </a:pPr>
            <a:r>
              <a:rPr b="0" lang="en-US" sz="2200">
                <a:latin typeface="Arial"/>
                <a:ea typeface="Arial"/>
                <a:cs typeface="Arial"/>
                <a:sym typeface="Arial"/>
              </a:rPr>
              <a:t>Marshall Company had actual sales of $600,000 when break-even sales were $420,000.  What is the margin of safety ratio?</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25%.</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30%. </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33 1/3%.</a:t>
            </a:r>
            <a:endParaRPr/>
          </a:p>
          <a:p>
            <a:pPr indent="-463550" lvl="0" marL="804863" rtl="0" algn="l">
              <a:spcBef>
                <a:spcPts val="1100"/>
              </a:spcBef>
              <a:spcAft>
                <a:spcPts val="0"/>
              </a:spcAft>
              <a:buClr>
                <a:schemeClr val="lt2"/>
              </a:buClr>
              <a:buSzPts val="2200"/>
              <a:buFont typeface="Comic Sans MS"/>
              <a:buAutoNum type="alphaLcPeriod"/>
            </a:pPr>
            <a:r>
              <a:rPr b="0" lang="en-US" sz="2200">
                <a:latin typeface="Arial"/>
                <a:ea typeface="Arial"/>
                <a:cs typeface="Arial"/>
                <a:sym typeface="Arial"/>
              </a:rPr>
              <a:t>45%. </a:t>
            </a:r>
            <a:endParaRPr/>
          </a:p>
          <a:p>
            <a:pPr indent="0" lvl="0" marL="0" rtl="0" algn="l">
              <a:lnSpc>
                <a:spcPct val="120000"/>
              </a:lnSpc>
              <a:spcBef>
                <a:spcPts val="440"/>
              </a:spcBef>
              <a:spcAft>
                <a:spcPts val="0"/>
              </a:spcAft>
              <a:buSzPts val="1650"/>
              <a:buFont typeface="Noto Sans Symbols"/>
              <a:buNone/>
            </a:pPr>
            <a:r>
              <a:t/>
            </a:r>
            <a:endParaRPr b="0" sz="2200">
              <a:latin typeface="Arial"/>
              <a:ea typeface="Arial"/>
              <a:cs typeface="Arial"/>
              <a:sym typeface="Arial"/>
            </a:endParaRPr>
          </a:p>
        </p:txBody>
      </p:sp>
      <p:sp>
        <p:nvSpPr>
          <p:cNvPr id="802" name="Google Shape;802;p67"/>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a:p>
        </p:txBody>
      </p:sp>
      <p:cxnSp>
        <p:nvCxnSpPr>
          <p:cNvPr id="803" name="Google Shape;803;p6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804" name="Google Shape;804;p67"/>
          <p:cNvSpPr/>
          <p:nvPr/>
        </p:nvSpPr>
        <p:spPr>
          <a:xfrm>
            <a:off x="228600" y="3352800"/>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805" name="Google Shape;805;p67"/>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Margin of Safety</a:t>
            </a:r>
            <a:endParaRPr/>
          </a:p>
        </p:txBody>
      </p:sp>
      <p:sp>
        <p:nvSpPr>
          <p:cNvPr id="806" name="Google Shape;806;p6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500"/>
                                        <p:tgtEl>
                                          <p:spTgt spid="8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8"/>
          <p:cNvSpPr/>
          <p:nvPr/>
        </p:nvSpPr>
        <p:spPr>
          <a:xfrm>
            <a:off x="5638800" y="533400"/>
            <a:ext cx="3200400" cy="576620"/>
          </a:xfrm>
          <a:prstGeom prst="rect">
            <a:avLst/>
          </a:prstGeom>
          <a:solidFill>
            <a:srgbClr val="BFBFBF"/>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2400">
                <a:solidFill>
                  <a:schemeClr val="dk1"/>
                </a:solidFill>
                <a:latin typeface="Arial"/>
                <a:ea typeface="Arial"/>
                <a:cs typeface="Arial"/>
                <a:sym typeface="Arial"/>
              </a:rPr>
              <a:t>Rolling Stones</a:t>
            </a:r>
            <a:endParaRPr b="1" sz="2400">
              <a:solidFill>
                <a:schemeClr val="dk1"/>
              </a:solidFill>
              <a:latin typeface="Arial"/>
              <a:ea typeface="Arial"/>
              <a:cs typeface="Arial"/>
              <a:sym typeface="Arial"/>
            </a:endParaRPr>
          </a:p>
        </p:txBody>
      </p:sp>
      <p:sp>
        <p:nvSpPr>
          <p:cNvPr id="812" name="Google Shape;812;p68"/>
          <p:cNvSpPr/>
          <p:nvPr/>
        </p:nvSpPr>
        <p:spPr>
          <a:xfrm>
            <a:off x="381000" y="1363242"/>
            <a:ext cx="8305800" cy="4640485"/>
          </a:xfrm>
          <a:prstGeom prst="rect">
            <a:avLst/>
          </a:prstGeom>
          <a:noFill/>
          <a:ln>
            <a:noFill/>
          </a:ln>
        </p:spPr>
        <p:txBody>
          <a:bodyPr anchorCtr="0" anchor="t" bIns="91425" lIns="91425" spcFirstLastPara="1" rIns="91425" wrap="square" tIns="91425">
            <a:spAutoFit/>
          </a:bodyPr>
          <a:lstStyle/>
          <a:p>
            <a:pPr indent="0" lvl="0" marL="0" marR="0" rtl="0" algn="just">
              <a:lnSpc>
                <a:spcPct val="105000"/>
              </a:lnSpc>
              <a:spcBef>
                <a:spcPts val="0"/>
              </a:spcBef>
              <a:spcAft>
                <a:spcPts val="0"/>
              </a:spcAft>
              <a:buNone/>
            </a:pPr>
            <a:r>
              <a:rPr b="1" lang="en-US" sz="2100">
                <a:solidFill>
                  <a:schemeClr val="dk1"/>
                </a:solidFill>
                <a:latin typeface="Arial"/>
                <a:ea typeface="Arial"/>
                <a:cs typeface="Arial"/>
                <a:sym typeface="Arial"/>
              </a:rPr>
              <a:t>How a Rolling Stones’ Tour Makes Money</a:t>
            </a:r>
            <a:endParaRPr b="1" sz="21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2100">
                <a:solidFill>
                  <a:schemeClr val="dk1"/>
                </a:solidFill>
                <a:latin typeface="Arial"/>
                <a:ea typeface="Arial"/>
                <a:cs typeface="Arial"/>
                <a:sym typeface="Arial"/>
              </a:rPr>
              <a:t>Computations of break-even and margin of safety are important for service companies. Consider how the promoter for the </a:t>
            </a:r>
            <a:r>
              <a:rPr b="1" lang="en-US" sz="2100">
                <a:solidFill>
                  <a:srgbClr val="AD0000"/>
                </a:solidFill>
                <a:latin typeface="Arial"/>
                <a:ea typeface="Arial"/>
                <a:cs typeface="Arial"/>
                <a:sym typeface="Arial"/>
              </a:rPr>
              <a:t>Rolling Stones</a:t>
            </a:r>
            <a:r>
              <a:rPr lang="en-US" sz="2100">
                <a:solidFill>
                  <a:schemeClr val="dk1"/>
                </a:solidFill>
                <a:latin typeface="Arial"/>
                <a:ea typeface="Arial"/>
                <a:cs typeface="Arial"/>
                <a:sym typeface="Arial"/>
              </a:rPr>
              <a:t>’ tour used the break-even point and margin of safety. For example, say one outdoor show should bring 70,000 individuals for a gross of $2.45 million. The promoter guarantees $1.2 million to the Rolling Stones. In addition, 20% of gross goes to the stadium in which the performance is staged. Add another$400,000 for other expenses such as ticket takers, parking attendants, advertising, and so on. The promoter also shares in sales of T-shirts and memorabilia for which the promoter will net over $7 million during the tour. From a successful Rolling Stones’ tour, the promoter could make $35 million!</a:t>
            </a:r>
            <a:endParaRPr/>
          </a:p>
        </p:txBody>
      </p:sp>
      <p:sp>
        <p:nvSpPr>
          <p:cNvPr id="813" name="Google Shape;813;p68"/>
          <p:cNvSpPr/>
          <p:nvPr/>
        </p:nvSpPr>
        <p:spPr>
          <a:xfrm>
            <a:off x="365760" y="457200"/>
            <a:ext cx="5273040" cy="729020"/>
          </a:xfrm>
          <a:prstGeom prst="rect">
            <a:avLst/>
          </a:prstGeom>
          <a:solidFill>
            <a:srgbClr val="00B0F0"/>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3200">
                <a:solidFill>
                  <a:schemeClr val="accent3"/>
                </a:solidFill>
                <a:latin typeface="Arial"/>
                <a:ea typeface="Arial"/>
                <a:cs typeface="Arial"/>
                <a:sym typeface="Arial"/>
              </a:rPr>
              <a:t>Service Company Insight</a:t>
            </a:r>
            <a:endParaRPr/>
          </a:p>
        </p:txBody>
      </p:sp>
      <p:sp>
        <p:nvSpPr>
          <p:cNvPr id="814" name="Google Shape;814;p6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69"/>
          <p:cNvSpPr/>
          <p:nvPr/>
        </p:nvSpPr>
        <p:spPr>
          <a:xfrm>
            <a:off x="685800" y="1371600"/>
            <a:ext cx="8001000" cy="4744312"/>
          </a:xfrm>
          <a:prstGeom prst="rect">
            <a:avLst/>
          </a:prstGeom>
          <a:noFill/>
          <a:ln>
            <a:noFill/>
          </a:ln>
        </p:spPr>
        <p:txBody>
          <a:bodyPr anchorCtr="0" anchor="t" bIns="45700" lIns="91425" spcFirstLastPara="1" rIns="91425" wrap="square" tIns="45700">
            <a:spAutoFit/>
          </a:bodyPr>
          <a:lstStyle/>
          <a:p>
            <a:pPr indent="0" lvl="1" marL="0" marR="0" rtl="0" algn="l">
              <a:lnSpc>
                <a:spcPct val="125000"/>
              </a:lnSpc>
              <a:spcBef>
                <a:spcPts val="0"/>
              </a:spcBef>
              <a:spcAft>
                <a:spcPts val="0"/>
              </a:spcAft>
              <a:buNone/>
            </a:pPr>
            <a:r>
              <a:rPr b="0" i="0" lang="en-US" sz="2200" u="none" cap="none" strike="noStrike">
                <a:solidFill>
                  <a:schemeClr val="dk1"/>
                </a:solidFill>
                <a:latin typeface="Arial"/>
                <a:ea typeface="Arial"/>
                <a:cs typeface="Arial"/>
                <a:sym typeface="Arial"/>
              </a:rPr>
              <a:t>Zootsuit Inc. makes travel bags that sell for $56 each. For the coming year, management expects fixed costs to total $320,000 and variable costs to be $42 per unit. Compute the following: </a:t>
            </a:r>
            <a:endParaRPr b="0" i="0" sz="22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chemeClr val="dk1"/>
              </a:buClr>
              <a:buSzPts val="2200"/>
              <a:buFont typeface="Arial"/>
              <a:buAutoNum type="alphaLcParenR"/>
            </a:pPr>
            <a:r>
              <a:rPr b="0" i="0" lang="en-US" sz="2200" u="none" cap="none" strike="noStrike">
                <a:solidFill>
                  <a:schemeClr val="dk1"/>
                </a:solidFill>
                <a:latin typeface="Arial"/>
                <a:ea typeface="Arial"/>
                <a:cs typeface="Arial"/>
                <a:sym typeface="Arial"/>
              </a:rPr>
              <a:t>break-even point in dollars using the contribution margin (CM) ratio; </a:t>
            </a:r>
            <a:endParaRPr b="0" i="0" sz="2200" u="none" cap="none" strike="noStrike">
              <a:solidFill>
                <a:schemeClr val="dk1"/>
              </a:solidFill>
              <a:latin typeface="Arial"/>
              <a:ea typeface="Arial"/>
              <a:cs typeface="Arial"/>
              <a:sym typeface="Arial"/>
            </a:endParaRPr>
          </a:p>
          <a:p>
            <a:pPr indent="-457200" lvl="1" marL="685800" marR="0" rtl="0" algn="l">
              <a:lnSpc>
                <a:spcPct val="125000"/>
              </a:lnSpc>
              <a:spcBef>
                <a:spcPts val="1200"/>
              </a:spcBef>
              <a:spcAft>
                <a:spcPts val="0"/>
              </a:spcAft>
              <a:buClr>
                <a:schemeClr val="dk1"/>
              </a:buClr>
              <a:buSzPts val="2200"/>
              <a:buFont typeface="Arial"/>
              <a:buAutoNum type="alphaLcParenR"/>
            </a:pPr>
            <a:r>
              <a:rPr b="0" i="0" lang="en-US" sz="2200" u="none" cap="none" strike="noStrike">
                <a:solidFill>
                  <a:schemeClr val="dk1"/>
                </a:solidFill>
                <a:latin typeface="Arial"/>
                <a:ea typeface="Arial"/>
                <a:cs typeface="Arial"/>
                <a:sym typeface="Arial"/>
              </a:rPr>
              <a:t>the margin of safety and margin of safety ratio assuming actual sales are $1,382,400; and</a:t>
            </a:r>
            <a:endParaRPr/>
          </a:p>
          <a:p>
            <a:pPr indent="-457200" lvl="1" marL="685800" marR="0" rtl="0" algn="l">
              <a:lnSpc>
                <a:spcPct val="125000"/>
              </a:lnSpc>
              <a:spcBef>
                <a:spcPts val="1200"/>
              </a:spcBef>
              <a:spcAft>
                <a:spcPts val="0"/>
              </a:spcAft>
              <a:buClr>
                <a:schemeClr val="dk1"/>
              </a:buClr>
              <a:buSzPts val="2200"/>
              <a:buFont typeface="Arial"/>
              <a:buAutoNum type="alphaLcParenR"/>
            </a:pPr>
            <a:r>
              <a:rPr b="0" i="0" lang="en-US" sz="2200" u="none" cap="none" strike="noStrike">
                <a:solidFill>
                  <a:schemeClr val="dk1"/>
                </a:solidFill>
                <a:latin typeface="Arial"/>
                <a:ea typeface="Arial"/>
                <a:cs typeface="Arial"/>
                <a:sym typeface="Arial"/>
              </a:rPr>
              <a:t>the sales dollars required to earn net income of $410,000.</a:t>
            </a:r>
            <a:endParaRPr b="0" i="0" sz="2200" u="none" cap="none" strike="noStrike">
              <a:solidFill>
                <a:schemeClr val="dk1"/>
              </a:solidFill>
              <a:latin typeface="Arial"/>
              <a:ea typeface="Arial"/>
              <a:cs typeface="Arial"/>
              <a:sym typeface="Arial"/>
            </a:endParaRPr>
          </a:p>
        </p:txBody>
      </p:sp>
      <p:sp>
        <p:nvSpPr>
          <p:cNvPr id="820" name="Google Shape;820;p69"/>
          <p:cNvSpPr txBox="1"/>
          <p:nvPr/>
        </p:nvSpPr>
        <p:spPr>
          <a:xfrm>
            <a:off x="2590800" y="609600"/>
            <a:ext cx="3124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Comprehensive</a:t>
            </a:r>
            <a:endParaRPr/>
          </a:p>
        </p:txBody>
      </p:sp>
      <p:sp>
        <p:nvSpPr>
          <p:cNvPr id="821" name="Google Shape;821;p6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
        <p:nvSpPr>
          <p:cNvPr id="822" name="Google Shape;822;p69"/>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823" name="Google Shape;823;p69"/>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400">
                <a:solidFill>
                  <a:schemeClr val="lt1"/>
                </a:solidFill>
                <a:latin typeface="Arial"/>
                <a:ea typeface="Arial"/>
                <a:cs typeface="Arial"/>
                <a:sym typeface="Arial"/>
              </a:rPr>
              <a:t>Break-Even, Margin of </a:t>
            </a:r>
            <a:br>
              <a:rPr b="1" lang="en-US" sz="2400">
                <a:solidFill>
                  <a:schemeClr val="lt1"/>
                </a:solidFill>
                <a:latin typeface="Arial"/>
                <a:ea typeface="Arial"/>
                <a:cs typeface="Arial"/>
                <a:sym typeface="Arial"/>
              </a:rPr>
            </a:br>
            <a:r>
              <a:rPr b="1" lang="en-US" sz="2400">
                <a:solidFill>
                  <a:schemeClr val="lt1"/>
                </a:solidFill>
                <a:latin typeface="Arial"/>
                <a:ea typeface="Arial"/>
                <a:cs typeface="Arial"/>
                <a:sym typeface="Arial"/>
              </a:rPr>
              <a:t>Safety, and Target Net Income</a:t>
            </a:r>
            <a:endParaRPr b="1" i="0" sz="2400">
              <a:solidFill>
                <a:schemeClr val="lt1"/>
              </a:solidFill>
              <a:latin typeface="Arial"/>
              <a:ea typeface="Arial"/>
              <a:cs typeface="Arial"/>
              <a:sym typeface="Arial"/>
            </a:endParaRPr>
          </a:p>
        </p:txBody>
      </p:sp>
      <p:sp>
        <p:nvSpPr>
          <p:cNvPr id="824" name="Google Shape;824;p69"/>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5</a:t>
            </a:r>
            <a:endParaRPr b="1" i="0" sz="4000">
              <a:solidFill>
                <a:srgbClr val="FF0000"/>
              </a:solidFill>
              <a:latin typeface="Arial"/>
              <a:ea typeface="Arial"/>
              <a:cs typeface="Arial"/>
              <a:sym typeface="Arial"/>
            </a:endParaRPr>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70"/>
          <p:cNvSpPr/>
          <p:nvPr/>
        </p:nvSpPr>
        <p:spPr>
          <a:xfrm>
            <a:off x="685800" y="1371600"/>
            <a:ext cx="8001000" cy="2166683"/>
          </a:xfrm>
          <a:prstGeom prst="rect">
            <a:avLst/>
          </a:prstGeom>
          <a:noFill/>
          <a:ln>
            <a:noFill/>
          </a:ln>
        </p:spPr>
        <p:txBody>
          <a:bodyPr anchorCtr="0" anchor="t" bIns="45700" lIns="91425" spcFirstLastPara="1" rIns="91425" wrap="square" tIns="45700">
            <a:spAutoFit/>
          </a:bodyPr>
          <a:lstStyle/>
          <a:p>
            <a:pPr indent="0" lvl="1" marL="0" marR="0" rtl="0" algn="l">
              <a:lnSpc>
                <a:spcPct val="125000"/>
              </a:lnSpc>
              <a:spcBef>
                <a:spcPts val="0"/>
              </a:spcBef>
              <a:spcAft>
                <a:spcPts val="0"/>
              </a:spcAft>
              <a:buNone/>
            </a:pPr>
            <a:r>
              <a:rPr b="0" i="0" lang="en-US" sz="2200" u="none" cap="none" strike="noStrike">
                <a:solidFill>
                  <a:schemeClr val="dk1"/>
                </a:solidFill>
                <a:latin typeface="Arial"/>
                <a:ea typeface="Arial"/>
                <a:cs typeface="Arial"/>
                <a:sym typeface="Arial"/>
              </a:rPr>
              <a:t>Zootsuit Inc. makes travel bags that sell for $56 each. For the coming year, management expects fixed costs to total $320,000 and variable costs to be $42 per unit. </a:t>
            </a:r>
            <a:r>
              <a:rPr b="1" i="0" lang="en-US" sz="2200" u="none" cap="none" strike="noStrike">
                <a:solidFill>
                  <a:schemeClr val="dk1"/>
                </a:solidFill>
                <a:latin typeface="Arial"/>
                <a:ea typeface="Arial"/>
                <a:cs typeface="Arial"/>
                <a:sym typeface="Arial"/>
              </a:rPr>
              <a:t>Compute break-even point in dollars using the contribution margin (CM) ratio. </a:t>
            </a:r>
            <a:endParaRPr/>
          </a:p>
        </p:txBody>
      </p:sp>
      <p:sp>
        <p:nvSpPr>
          <p:cNvPr id="830" name="Google Shape;830;p70"/>
          <p:cNvSpPr/>
          <p:nvPr/>
        </p:nvSpPr>
        <p:spPr>
          <a:xfrm>
            <a:off x="685800" y="3822665"/>
            <a:ext cx="7848600" cy="1054135"/>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200">
                <a:solidFill>
                  <a:schemeClr val="dk1"/>
                </a:solidFill>
                <a:latin typeface="Arial"/>
                <a:ea typeface="Arial"/>
                <a:cs typeface="Arial"/>
                <a:sym typeface="Arial"/>
              </a:rPr>
              <a:t>Contribution margin ratio = [($56 - $42) ÷ $56] = </a:t>
            </a:r>
            <a:r>
              <a:rPr b="1" lang="en-US" sz="2200">
                <a:solidFill>
                  <a:schemeClr val="dk1"/>
                </a:solidFill>
                <a:latin typeface="Arial"/>
                <a:ea typeface="Arial"/>
                <a:cs typeface="Arial"/>
                <a:sym typeface="Arial"/>
              </a:rPr>
              <a:t>25%</a:t>
            </a:r>
            <a:endParaRPr/>
          </a:p>
          <a:p>
            <a:pPr indent="0" lvl="0" marL="0" marR="0" rtl="0" algn="l">
              <a:lnSpc>
                <a:spcPct val="125000"/>
              </a:lnSpc>
              <a:spcBef>
                <a:spcPts val="1200"/>
              </a:spcBef>
              <a:spcAft>
                <a:spcPts val="0"/>
              </a:spcAft>
              <a:buNone/>
            </a:pPr>
            <a:r>
              <a:rPr lang="en-US" sz="2200">
                <a:solidFill>
                  <a:schemeClr val="dk1"/>
                </a:solidFill>
                <a:latin typeface="Arial"/>
                <a:ea typeface="Arial"/>
                <a:cs typeface="Arial"/>
                <a:sym typeface="Arial"/>
              </a:rPr>
              <a:t>Break-even sales in dollars = $320,000 ÷ 25% = </a:t>
            </a:r>
            <a:r>
              <a:rPr b="1" lang="en-US" sz="2200">
                <a:solidFill>
                  <a:schemeClr val="dk1"/>
                </a:solidFill>
                <a:latin typeface="Arial"/>
                <a:ea typeface="Arial"/>
                <a:cs typeface="Arial"/>
                <a:sym typeface="Arial"/>
              </a:rPr>
              <a:t>$1,280,000</a:t>
            </a:r>
            <a:endParaRPr/>
          </a:p>
        </p:txBody>
      </p:sp>
      <p:sp>
        <p:nvSpPr>
          <p:cNvPr id="831" name="Google Shape;831;p70"/>
          <p:cNvSpPr/>
          <p:nvPr/>
        </p:nvSpPr>
        <p:spPr>
          <a:xfrm>
            <a:off x="4114800" y="3886200"/>
            <a:ext cx="45720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32" name="Google Shape;832;p70"/>
          <p:cNvSpPr/>
          <p:nvPr/>
        </p:nvSpPr>
        <p:spPr>
          <a:xfrm>
            <a:off x="4419600" y="4495800"/>
            <a:ext cx="42672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33" name="Google Shape;833;p7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
        <p:nvSpPr>
          <p:cNvPr id="834" name="Google Shape;834;p70"/>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835" name="Google Shape;835;p70"/>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400">
                <a:solidFill>
                  <a:schemeClr val="lt1"/>
                </a:solidFill>
                <a:latin typeface="Arial"/>
                <a:ea typeface="Arial"/>
                <a:cs typeface="Arial"/>
                <a:sym typeface="Arial"/>
              </a:rPr>
              <a:t>Break-Even, Margin of </a:t>
            </a:r>
            <a:br>
              <a:rPr b="1" lang="en-US" sz="2400">
                <a:solidFill>
                  <a:schemeClr val="lt1"/>
                </a:solidFill>
                <a:latin typeface="Arial"/>
                <a:ea typeface="Arial"/>
                <a:cs typeface="Arial"/>
                <a:sym typeface="Arial"/>
              </a:rPr>
            </a:br>
            <a:r>
              <a:rPr b="1" lang="en-US" sz="2400">
                <a:solidFill>
                  <a:schemeClr val="lt1"/>
                </a:solidFill>
                <a:latin typeface="Arial"/>
                <a:ea typeface="Arial"/>
                <a:cs typeface="Arial"/>
                <a:sym typeface="Arial"/>
              </a:rPr>
              <a:t>Safety, and Target Net Income</a:t>
            </a:r>
            <a:endParaRPr b="1" i="0" sz="2400">
              <a:solidFill>
                <a:schemeClr val="lt1"/>
              </a:solidFill>
              <a:latin typeface="Arial"/>
              <a:ea typeface="Arial"/>
              <a:cs typeface="Arial"/>
              <a:sym typeface="Arial"/>
            </a:endParaRPr>
          </a:p>
        </p:txBody>
      </p:sp>
      <p:sp>
        <p:nvSpPr>
          <p:cNvPr id="836" name="Google Shape;836;p70"/>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5</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31"/>
                                        </p:tgtEl>
                                      </p:cBhvr>
                                    </p:animEffect>
                                    <p:set>
                                      <p:cBhvr>
                                        <p:cTn dur="1" fill="hold">
                                          <p:stCondLst>
                                            <p:cond delay="500"/>
                                          </p:stCondLst>
                                        </p:cTn>
                                        <p:tgtEl>
                                          <p:spTgt spid="8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32"/>
                                        </p:tgtEl>
                                      </p:cBhvr>
                                    </p:animEffect>
                                    <p:set>
                                      <p:cBhvr>
                                        <p:cTn dur="1" fill="hold">
                                          <p:stCondLst>
                                            <p:cond delay="500"/>
                                          </p:stCondLst>
                                        </p:cTn>
                                        <p:tgtEl>
                                          <p:spTgt spid="8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71"/>
          <p:cNvSpPr/>
          <p:nvPr/>
        </p:nvSpPr>
        <p:spPr>
          <a:xfrm>
            <a:off x="685800" y="3822665"/>
            <a:ext cx="7848600" cy="1092607"/>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200">
                <a:solidFill>
                  <a:schemeClr val="dk1"/>
                </a:solidFill>
                <a:latin typeface="Arial"/>
                <a:ea typeface="Arial"/>
                <a:cs typeface="Arial"/>
                <a:sym typeface="Arial"/>
              </a:rPr>
              <a:t>Margin of safety = $1,382,400 - $1,280,000 = </a:t>
            </a:r>
            <a:r>
              <a:rPr b="1" lang="en-US" sz="2200">
                <a:solidFill>
                  <a:schemeClr val="dk1"/>
                </a:solidFill>
                <a:latin typeface="Arial"/>
                <a:ea typeface="Arial"/>
                <a:cs typeface="Arial"/>
                <a:sym typeface="Arial"/>
              </a:rPr>
              <a:t>$102,400</a:t>
            </a:r>
            <a:endParaRPr/>
          </a:p>
          <a:p>
            <a:pPr indent="0" lvl="0" marL="0" marR="0" rtl="0" algn="l">
              <a:lnSpc>
                <a:spcPct val="125000"/>
              </a:lnSpc>
              <a:spcBef>
                <a:spcPts val="1200"/>
              </a:spcBef>
              <a:spcAft>
                <a:spcPts val="0"/>
              </a:spcAft>
              <a:buNone/>
            </a:pPr>
            <a:r>
              <a:rPr lang="en-US" sz="2200">
                <a:solidFill>
                  <a:schemeClr val="dk1"/>
                </a:solidFill>
                <a:latin typeface="Arial"/>
                <a:ea typeface="Arial"/>
                <a:cs typeface="Arial"/>
                <a:sym typeface="Arial"/>
              </a:rPr>
              <a:t>Margin of safety ratio = $102,400 ÷ $1,382,400 = </a:t>
            </a:r>
            <a:r>
              <a:rPr b="1" lang="en-US" sz="2200">
                <a:solidFill>
                  <a:schemeClr val="dk1"/>
                </a:solidFill>
                <a:latin typeface="Arial"/>
                <a:ea typeface="Arial"/>
                <a:cs typeface="Arial"/>
                <a:sym typeface="Arial"/>
              </a:rPr>
              <a:t>7.4%</a:t>
            </a:r>
            <a:endParaRPr/>
          </a:p>
        </p:txBody>
      </p:sp>
      <p:sp>
        <p:nvSpPr>
          <p:cNvPr id="842" name="Google Shape;842;p71"/>
          <p:cNvSpPr/>
          <p:nvPr/>
        </p:nvSpPr>
        <p:spPr>
          <a:xfrm>
            <a:off x="685800" y="1371600"/>
            <a:ext cx="8001000" cy="2166683"/>
          </a:xfrm>
          <a:prstGeom prst="rect">
            <a:avLst/>
          </a:prstGeom>
          <a:noFill/>
          <a:ln>
            <a:noFill/>
          </a:ln>
        </p:spPr>
        <p:txBody>
          <a:bodyPr anchorCtr="0" anchor="t" bIns="45700" lIns="91425" spcFirstLastPara="1" rIns="91425" wrap="square" tIns="45700">
            <a:spAutoFit/>
          </a:bodyPr>
          <a:lstStyle/>
          <a:p>
            <a:pPr indent="0" lvl="1" marL="0" marR="0" rtl="0" algn="l">
              <a:lnSpc>
                <a:spcPct val="125000"/>
              </a:lnSpc>
              <a:spcBef>
                <a:spcPts val="0"/>
              </a:spcBef>
              <a:spcAft>
                <a:spcPts val="0"/>
              </a:spcAft>
              <a:buNone/>
            </a:pPr>
            <a:r>
              <a:rPr b="0" i="0" lang="en-US" sz="2200" u="none" cap="none" strike="noStrike">
                <a:solidFill>
                  <a:schemeClr val="dk1"/>
                </a:solidFill>
                <a:latin typeface="Arial"/>
                <a:ea typeface="Arial"/>
                <a:cs typeface="Arial"/>
                <a:sym typeface="Arial"/>
              </a:rPr>
              <a:t>Zootsuit Inc. makes travel bags that sell for $56 each. For the coming year, management expects fixed costs to total $320,000 and variable costs to be $42 per unit. </a:t>
            </a:r>
            <a:r>
              <a:rPr b="1" i="0" lang="en-US" sz="2200" u="none" cap="none" strike="noStrike">
                <a:solidFill>
                  <a:schemeClr val="dk1"/>
                </a:solidFill>
                <a:latin typeface="Arial"/>
                <a:ea typeface="Arial"/>
                <a:cs typeface="Arial"/>
                <a:sym typeface="Arial"/>
              </a:rPr>
              <a:t>Compute the margin of safety and margin of safety ratio assuming actual sales are $1,382,400.</a:t>
            </a:r>
            <a:endParaRPr b="1" i="0" sz="2200" u="none" cap="none" strike="noStrike">
              <a:solidFill>
                <a:schemeClr val="dk1"/>
              </a:solidFill>
              <a:latin typeface="Arial"/>
              <a:ea typeface="Arial"/>
              <a:cs typeface="Arial"/>
              <a:sym typeface="Arial"/>
            </a:endParaRPr>
          </a:p>
        </p:txBody>
      </p:sp>
      <p:sp>
        <p:nvSpPr>
          <p:cNvPr id="843" name="Google Shape;843;p71"/>
          <p:cNvSpPr/>
          <p:nvPr/>
        </p:nvSpPr>
        <p:spPr>
          <a:xfrm>
            <a:off x="3048000" y="3886200"/>
            <a:ext cx="56388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44" name="Google Shape;844;p71"/>
          <p:cNvSpPr/>
          <p:nvPr/>
        </p:nvSpPr>
        <p:spPr>
          <a:xfrm>
            <a:off x="3657600" y="4495800"/>
            <a:ext cx="50292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45" name="Google Shape;845;p7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
        <p:nvSpPr>
          <p:cNvPr id="846" name="Google Shape;846;p71"/>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847" name="Google Shape;847;p71"/>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400">
                <a:solidFill>
                  <a:schemeClr val="lt1"/>
                </a:solidFill>
                <a:latin typeface="Arial"/>
                <a:ea typeface="Arial"/>
                <a:cs typeface="Arial"/>
                <a:sym typeface="Arial"/>
              </a:rPr>
              <a:t>Break-Even, Margin of </a:t>
            </a:r>
            <a:br>
              <a:rPr b="1" lang="en-US" sz="2400">
                <a:solidFill>
                  <a:schemeClr val="lt1"/>
                </a:solidFill>
                <a:latin typeface="Arial"/>
                <a:ea typeface="Arial"/>
                <a:cs typeface="Arial"/>
                <a:sym typeface="Arial"/>
              </a:rPr>
            </a:br>
            <a:r>
              <a:rPr b="1" lang="en-US" sz="2400">
                <a:solidFill>
                  <a:schemeClr val="lt1"/>
                </a:solidFill>
                <a:latin typeface="Arial"/>
                <a:ea typeface="Arial"/>
                <a:cs typeface="Arial"/>
                <a:sym typeface="Arial"/>
              </a:rPr>
              <a:t>Safety, and Target Net Income</a:t>
            </a:r>
            <a:endParaRPr b="1" i="0" sz="2400">
              <a:solidFill>
                <a:schemeClr val="lt1"/>
              </a:solidFill>
              <a:latin typeface="Arial"/>
              <a:ea typeface="Arial"/>
              <a:cs typeface="Arial"/>
              <a:sym typeface="Arial"/>
            </a:endParaRPr>
          </a:p>
        </p:txBody>
      </p:sp>
      <p:sp>
        <p:nvSpPr>
          <p:cNvPr id="848" name="Google Shape;848;p71"/>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5</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43"/>
                                        </p:tgtEl>
                                      </p:cBhvr>
                                    </p:animEffect>
                                    <p:set>
                                      <p:cBhvr>
                                        <p:cTn dur="1" fill="hold">
                                          <p:stCondLst>
                                            <p:cond delay="500"/>
                                          </p:stCondLst>
                                        </p:cTn>
                                        <p:tgtEl>
                                          <p:spTgt spid="8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44"/>
                                        </p:tgtEl>
                                      </p:cBhvr>
                                    </p:animEffect>
                                    <p:set>
                                      <p:cBhvr>
                                        <p:cTn dur="1" fill="hold">
                                          <p:stCondLst>
                                            <p:cond delay="500"/>
                                          </p:stCondLst>
                                        </p:cTn>
                                        <p:tgtEl>
                                          <p:spTgt spid="84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72"/>
          <p:cNvSpPr/>
          <p:nvPr/>
        </p:nvSpPr>
        <p:spPr>
          <a:xfrm>
            <a:off x="685800" y="3429000"/>
            <a:ext cx="7848600" cy="1092607"/>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2200">
                <a:solidFill>
                  <a:schemeClr val="dk1"/>
                </a:solidFill>
                <a:latin typeface="Arial"/>
                <a:ea typeface="Arial"/>
                <a:cs typeface="Arial"/>
                <a:sym typeface="Arial"/>
              </a:rPr>
              <a:t>Required sales in dollars = </a:t>
            </a:r>
            <a:endParaRPr/>
          </a:p>
          <a:p>
            <a:pPr indent="0" lvl="0" marL="0" marR="0" rtl="0" algn="ctr">
              <a:lnSpc>
                <a:spcPct val="125000"/>
              </a:lnSpc>
              <a:spcBef>
                <a:spcPts val="1200"/>
              </a:spcBef>
              <a:spcAft>
                <a:spcPts val="0"/>
              </a:spcAft>
              <a:buNone/>
            </a:pPr>
            <a:r>
              <a:rPr lang="en-US" sz="2200">
                <a:solidFill>
                  <a:schemeClr val="dk1"/>
                </a:solidFill>
                <a:latin typeface="Arial"/>
                <a:ea typeface="Arial"/>
                <a:cs typeface="Arial"/>
                <a:sym typeface="Arial"/>
              </a:rPr>
              <a:t>($320,000 + $410,000) ÷ 25% = </a:t>
            </a:r>
            <a:r>
              <a:rPr b="1" lang="en-US" sz="2200">
                <a:solidFill>
                  <a:schemeClr val="dk1"/>
                </a:solidFill>
                <a:latin typeface="Arial"/>
                <a:ea typeface="Arial"/>
                <a:cs typeface="Arial"/>
                <a:sym typeface="Arial"/>
              </a:rPr>
              <a:t>$2,920,000</a:t>
            </a:r>
            <a:endParaRPr/>
          </a:p>
        </p:txBody>
      </p:sp>
      <p:sp>
        <p:nvSpPr>
          <p:cNvPr id="854" name="Google Shape;854;p72"/>
          <p:cNvSpPr/>
          <p:nvPr/>
        </p:nvSpPr>
        <p:spPr>
          <a:xfrm>
            <a:off x="685800" y="1371600"/>
            <a:ext cx="8001000" cy="1743491"/>
          </a:xfrm>
          <a:prstGeom prst="rect">
            <a:avLst/>
          </a:prstGeom>
          <a:noFill/>
          <a:ln>
            <a:noFill/>
          </a:ln>
        </p:spPr>
        <p:txBody>
          <a:bodyPr anchorCtr="0" anchor="t" bIns="45700" lIns="91425" spcFirstLastPara="1" rIns="91425" wrap="square" tIns="45700">
            <a:spAutoFit/>
          </a:bodyPr>
          <a:lstStyle/>
          <a:p>
            <a:pPr indent="0" lvl="1" marL="0" marR="0" rtl="0" algn="l">
              <a:lnSpc>
                <a:spcPct val="125000"/>
              </a:lnSpc>
              <a:spcBef>
                <a:spcPts val="0"/>
              </a:spcBef>
              <a:spcAft>
                <a:spcPts val="0"/>
              </a:spcAft>
              <a:buNone/>
            </a:pPr>
            <a:r>
              <a:rPr b="0" i="0" lang="en-US" sz="2200" u="none" cap="none" strike="noStrike">
                <a:solidFill>
                  <a:schemeClr val="dk1"/>
                </a:solidFill>
                <a:latin typeface="Arial"/>
                <a:ea typeface="Arial"/>
                <a:cs typeface="Arial"/>
                <a:sym typeface="Arial"/>
              </a:rPr>
              <a:t>Zootsuit Inc. makes travel bags that sell for $56 each. For the coming year, management expects fixed costs to total $320,000 and variable costs to be $42 per unit. </a:t>
            </a:r>
            <a:r>
              <a:rPr b="1" i="0" lang="en-US" sz="2200" u="none" cap="none" strike="noStrike">
                <a:solidFill>
                  <a:schemeClr val="dk1"/>
                </a:solidFill>
                <a:latin typeface="Arial"/>
                <a:ea typeface="Arial"/>
                <a:cs typeface="Arial"/>
                <a:sym typeface="Arial"/>
              </a:rPr>
              <a:t>Compute the sales dollars required to earn net income of $410,000.</a:t>
            </a:r>
            <a:endParaRPr b="1" i="0" sz="2200" u="none" cap="none" strike="noStrike">
              <a:solidFill>
                <a:schemeClr val="dk1"/>
              </a:solidFill>
              <a:latin typeface="Arial"/>
              <a:ea typeface="Arial"/>
              <a:cs typeface="Arial"/>
              <a:sym typeface="Arial"/>
            </a:endParaRPr>
          </a:p>
        </p:txBody>
      </p:sp>
      <p:sp>
        <p:nvSpPr>
          <p:cNvPr id="855" name="Google Shape;855;p72"/>
          <p:cNvSpPr/>
          <p:nvPr/>
        </p:nvSpPr>
        <p:spPr>
          <a:xfrm>
            <a:off x="1752600" y="4102135"/>
            <a:ext cx="59436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56" name="Google Shape;856;p7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5</a:t>
            </a:r>
            <a:endParaRPr b="1" i="1" sz="1600">
              <a:solidFill>
                <a:schemeClr val="dk1"/>
              </a:solidFill>
              <a:latin typeface="Arial"/>
              <a:ea typeface="Arial"/>
              <a:cs typeface="Arial"/>
              <a:sym typeface="Arial"/>
            </a:endParaRPr>
          </a:p>
        </p:txBody>
      </p:sp>
      <p:sp>
        <p:nvSpPr>
          <p:cNvPr id="857" name="Google Shape;857;p72"/>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858" name="Google Shape;858;p72"/>
          <p:cNvSpPr txBox="1"/>
          <p:nvPr/>
        </p:nvSpPr>
        <p:spPr>
          <a:xfrm>
            <a:off x="3276600" y="283994"/>
            <a:ext cx="5486400" cy="919772"/>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400">
                <a:solidFill>
                  <a:schemeClr val="lt1"/>
                </a:solidFill>
                <a:latin typeface="Arial"/>
                <a:ea typeface="Arial"/>
                <a:cs typeface="Arial"/>
                <a:sym typeface="Arial"/>
              </a:rPr>
              <a:t>Break-Even, Margin of </a:t>
            </a:r>
            <a:br>
              <a:rPr b="1" lang="en-US" sz="2400">
                <a:solidFill>
                  <a:schemeClr val="lt1"/>
                </a:solidFill>
                <a:latin typeface="Arial"/>
                <a:ea typeface="Arial"/>
                <a:cs typeface="Arial"/>
                <a:sym typeface="Arial"/>
              </a:rPr>
            </a:br>
            <a:r>
              <a:rPr b="1" lang="en-US" sz="2400">
                <a:solidFill>
                  <a:schemeClr val="lt1"/>
                </a:solidFill>
                <a:latin typeface="Arial"/>
                <a:ea typeface="Arial"/>
                <a:cs typeface="Arial"/>
                <a:sym typeface="Arial"/>
              </a:rPr>
              <a:t>Safety, and Target Net Income</a:t>
            </a:r>
            <a:endParaRPr b="1" i="0" sz="2400">
              <a:solidFill>
                <a:schemeClr val="lt1"/>
              </a:solidFill>
              <a:latin typeface="Arial"/>
              <a:ea typeface="Arial"/>
              <a:cs typeface="Arial"/>
              <a:sym typeface="Arial"/>
            </a:endParaRPr>
          </a:p>
        </p:txBody>
      </p:sp>
      <p:sp>
        <p:nvSpPr>
          <p:cNvPr id="859" name="Google Shape;859;p72"/>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000">
                <a:solidFill>
                  <a:srgbClr val="FF0000"/>
                </a:solidFill>
                <a:latin typeface="Arial"/>
                <a:ea typeface="Arial"/>
                <a:cs typeface="Arial"/>
                <a:sym typeface="Arial"/>
              </a:rPr>
              <a:t>5</a:t>
            </a:r>
            <a:endParaRPr b="1" i="0" sz="4000">
              <a:solidFill>
                <a:srgbClr val="FF0000"/>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55"/>
                                        </p:tgtEl>
                                      </p:cBhvr>
                                    </p:animEffect>
                                    <p:set>
                                      <p:cBhvr>
                                        <p:cTn dur="1" fill="hold">
                                          <p:stCondLst>
                                            <p:cond delay="500"/>
                                          </p:stCondLst>
                                        </p:cTn>
                                        <p:tgtEl>
                                          <p:spTgt spid="8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3"/>
          <p:cNvSpPr/>
          <p:nvPr/>
        </p:nvSpPr>
        <p:spPr>
          <a:xfrm>
            <a:off x="609600" y="1524000"/>
            <a:ext cx="8001000" cy="122007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2100">
                <a:solidFill>
                  <a:schemeClr val="dk1"/>
                </a:solidFill>
                <a:latin typeface="Arial"/>
                <a:ea typeface="Arial"/>
                <a:cs typeface="Arial"/>
                <a:sym typeface="Arial"/>
              </a:rPr>
              <a:t>Illustration:</a:t>
            </a:r>
            <a:r>
              <a:rPr lang="en-US" sz="2100">
                <a:solidFill>
                  <a:schemeClr val="dk1"/>
                </a:solidFill>
                <a:latin typeface="Arial"/>
                <a:ea typeface="Arial"/>
                <a:cs typeface="Arial"/>
                <a:sym typeface="Arial"/>
              </a:rPr>
              <a:t>  Three independent situations that might occur at Vargo Video. Each case uses the original camcorder sales and cost data, which were as follows.</a:t>
            </a:r>
            <a:endParaRPr sz="2100">
              <a:solidFill>
                <a:schemeClr val="dk1"/>
              </a:solidFill>
              <a:latin typeface="Arial"/>
              <a:ea typeface="Arial"/>
              <a:cs typeface="Arial"/>
              <a:sym typeface="Arial"/>
            </a:endParaRPr>
          </a:p>
        </p:txBody>
      </p:sp>
      <p:pic>
        <p:nvPicPr>
          <p:cNvPr id="865" name="Google Shape;865;p73"/>
          <p:cNvPicPr preferRelativeResize="0"/>
          <p:nvPr/>
        </p:nvPicPr>
        <p:blipFill rotWithShape="1">
          <a:blip r:embed="rId3">
            <a:alphaModFix/>
          </a:blip>
          <a:srcRect b="0" l="0" r="0" t="0"/>
          <a:stretch/>
        </p:blipFill>
        <p:spPr>
          <a:xfrm>
            <a:off x="685800" y="3048000"/>
            <a:ext cx="7929535" cy="1634332"/>
          </a:xfrm>
          <a:prstGeom prst="rect">
            <a:avLst/>
          </a:prstGeom>
          <a:noFill/>
          <a:ln cap="sq" cmpd="sng" w="19050">
            <a:solidFill>
              <a:schemeClr val="dk1"/>
            </a:solidFill>
            <a:prstDash val="solid"/>
            <a:miter lim="800000"/>
            <a:headEnd len="sm" w="sm" type="none"/>
            <a:tailEnd len="sm" w="sm" type="none"/>
          </a:ln>
        </p:spPr>
      </p:pic>
      <p:sp>
        <p:nvSpPr>
          <p:cNvPr id="866" name="Google Shape;866;p7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
        <p:nvSpPr>
          <p:cNvPr id="867" name="Google Shape;867;p73"/>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868" name="Google Shape;868;p73"/>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53975" marR="0" rtl="0" algn="l">
              <a:spcBef>
                <a:spcPts val="0"/>
              </a:spcBef>
              <a:spcAft>
                <a:spcPts val="0"/>
              </a:spcAft>
              <a:buNone/>
            </a:pPr>
            <a:r>
              <a:rPr b="1" lang="en-US" sz="2400">
                <a:solidFill>
                  <a:schemeClr val="lt1"/>
                </a:solidFill>
                <a:latin typeface="Arial"/>
                <a:ea typeface="Arial"/>
                <a:cs typeface="Arial"/>
                <a:sym typeface="Arial"/>
              </a:rPr>
              <a:t>Use CVP analysis to respond to changes in the business environment.</a:t>
            </a:r>
            <a:endParaRPr b="1" sz="2400">
              <a:solidFill>
                <a:schemeClr val="lt1"/>
              </a:solidFill>
              <a:latin typeface="Arial"/>
              <a:ea typeface="Arial"/>
              <a:cs typeface="Arial"/>
              <a:sym typeface="Arial"/>
            </a:endParaRPr>
          </a:p>
        </p:txBody>
      </p:sp>
      <p:sp>
        <p:nvSpPr>
          <p:cNvPr id="869" name="Google Shape;869;p73"/>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6</a:t>
            </a:r>
            <a:endParaRPr b="1" sz="2700">
              <a:solidFill>
                <a:schemeClr val="lt1"/>
              </a:solidFill>
              <a:latin typeface="Arial"/>
              <a:ea typeface="Arial"/>
              <a:cs typeface="Arial"/>
              <a:sym typeface="Arial"/>
            </a:endParaRPr>
          </a:p>
        </p:txBody>
      </p:sp>
      <p:sp>
        <p:nvSpPr>
          <p:cNvPr id="870" name="Google Shape;870;p73"/>
          <p:cNvSpPr/>
          <p:nvPr/>
        </p:nvSpPr>
        <p:spPr>
          <a:xfrm>
            <a:off x="617560" y="4750221"/>
            <a:ext cx="457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Original camcorder sales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and cost data</a:t>
            </a:r>
            <a:endParaRP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74"/>
          <p:cNvSpPr/>
          <p:nvPr/>
        </p:nvSpPr>
        <p:spPr>
          <a:xfrm>
            <a:off x="533400" y="1295400"/>
            <a:ext cx="8001000" cy="2160591"/>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A competitor is offering a 10% discount on the selling price of its camcorders. Management must decide whether to offer a similar discount.</a:t>
            </a:r>
            <a:endParaRPr/>
          </a:p>
          <a:p>
            <a:pPr indent="0" lvl="0" marL="0" marR="0" rtl="0" algn="l">
              <a:lnSpc>
                <a:spcPct val="120000"/>
              </a:lnSpc>
              <a:spcBef>
                <a:spcPts val="840"/>
              </a:spcBef>
              <a:spcAft>
                <a:spcPts val="0"/>
              </a:spcAft>
              <a:buNone/>
            </a:pPr>
            <a:r>
              <a:rPr b="1" lang="en-US" sz="2100">
                <a:solidFill>
                  <a:schemeClr val="dk1"/>
                </a:solidFill>
                <a:latin typeface="Arial"/>
                <a:ea typeface="Arial"/>
                <a:cs typeface="Arial"/>
                <a:sym typeface="Arial"/>
              </a:rPr>
              <a:t>Question: </a:t>
            </a:r>
            <a:r>
              <a:rPr lang="en-US" sz="2100">
                <a:solidFill>
                  <a:schemeClr val="dk1"/>
                </a:solidFill>
                <a:latin typeface="Arial"/>
                <a:ea typeface="Arial"/>
                <a:cs typeface="Arial"/>
                <a:sym typeface="Arial"/>
              </a:rPr>
              <a:t> What effect will a 10% discount on selling price ($500 x 10% = $50) have on the breakeven point?</a:t>
            </a:r>
            <a:endParaRPr/>
          </a:p>
        </p:txBody>
      </p:sp>
      <p:sp>
        <p:nvSpPr>
          <p:cNvPr id="876" name="Google Shape;876;p74"/>
          <p:cNvSpPr txBox="1"/>
          <p:nvPr/>
        </p:nvSpPr>
        <p:spPr>
          <a:xfrm>
            <a:off x="685800" y="5257800"/>
            <a:ext cx="2362200" cy="646331"/>
          </a:xfrm>
          <a:prstGeom prst="rect">
            <a:avLst/>
          </a:prstGeom>
          <a:noFill/>
          <a:ln cap="sq" cmpd="sng" w="127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Computation of break-even sales in units</a:t>
            </a:r>
            <a:endParaRPr sz="1200">
              <a:solidFill>
                <a:schemeClr val="dk1"/>
              </a:solidFill>
              <a:latin typeface="Arial"/>
              <a:ea typeface="Arial"/>
              <a:cs typeface="Arial"/>
              <a:sym typeface="Arial"/>
            </a:endParaRPr>
          </a:p>
        </p:txBody>
      </p:sp>
      <p:sp>
        <p:nvSpPr>
          <p:cNvPr id="877" name="Google Shape;877;p74"/>
          <p:cNvSpPr/>
          <p:nvPr/>
        </p:nvSpPr>
        <p:spPr>
          <a:xfrm>
            <a:off x="685800" y="3657600"/>
            <a:ext cx="28194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Fixed Costs</a:t>
            </a:r>
            <a:endParaRPr sz="2000">
              <a:solidFill>
                <a:schemeClr val="dk1"/>
              </a:solidFill>
              <a:latin typeface="Arial"/>
              <a:ea typeface="Arial"/>
              <a:cs typeface="Arial"/>
              <a:sym typeface="Arial"/>
            </a:endParaRPr>
          </a:p>
        </p:txBody>
      </p:sp>
      <p:sp>
        <p:nvSpPr>
          <p:cNvPr id="878" name="Google Shape;878;p74"/>
          <p:cNvSpPr/>
          <p:nvPr/>
        </p:nvSpPr>
        <p:spPr>
          <a:xfrm>
            <a:off x="3657600" y="3657600"/>
            <a:ext cx="22098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Unit Contribution Margin</a:t>
            </a:r>
            <a:endParaRPr sz="2000">
              <a:solidFill>
                <a:schemeClr val="dk1"/>
              </a:solidFill>
              <a:latin typeface="Arial"/>
              <a:ea typeface="Arial"/>
              <a:cs typeface="Arial"/>
              <a:sym typeface="Arial"/>
            </a:endParaRPr>
          </a:p>
        </p:txBody>
      </p:sp>
      <p:sp>
        <p:nvSpPr>
          <p:cNvPr id="879" name="Google Shape;879;p74"/>
          <p:cNvSpPr/>
          <p:nvPr/>
        </p:nvSpPr>
        <p:spPr>
          <a:xfrm>
            <a:off x="6248400" y="3657600"/>
            <a:ext cx="2286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Break-Even Sales</a:t>
            </a:r>
            <a:endParaRPr b="1" sz="2000">
              <a:solidFill>
                <a:schemeClr val="dk1"/>
              </a:solidFill>
              <a:latin typeface="Arial"/>
              <a:ea typeface="Arial"/>
              <a:cs typeface="Arial"/>
              <a:sym typeface="Arial"/>
            </a:endParaRPr>
          </a:p>
        </p:txBody>
      </p:sp>
      <p:sp>
        <p:nvSpPr>
          <p:cNvPr id="880" name="Google Shape;880;p74"/>
          <p:cNvSpPr/>
          <p:nvPr/>
        </p:nvSpPr>
        <p:spPr>
          <a:xfrm>
            <a:off x="3276600" y="3657600"/>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881" name="Google Shape;881;p74"/>
          <p:cNvSpPr/>
          <p:nvPr/>
        </p:nvSpPr>
        <p:spPr>
          <a:xfrm>
            <a:off x="5867400" y="3657600"/>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882" name="Google Shape;882;p74"/>
          <p:cNvSpPr/>
          <p:nvPr/>
        </p:nvSpPr>
        <p:spPr>
          <a:xfrm>
            <a:off x="609600" y="4660919"/>
            <a:ext cx="29017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$200,000</a:t>
            </a:r>
            <a:endParaRPr sz="2000">
              <a:solidFill>
                <a:schemeClr val="dk1"/>
              </a:solidFill>
              <a:latin typeface="Arial"/>
              <a:ea typeface="Arial"/>
              <a:cs typeface="Arial"/>
              <a:sym typeface="Arial"/>
            </a:endParaRPr>
          </a:p>
        </p:txBody>
      </p:sp>
      <p:sp>
        <p:nvSpPr>
          <p:cNvPr id="883" name="Google Shape;883;p74"/>
          <p:cNvSpPr/>
          <p:nvPr/>
        </p:nvSpPr>
        <p:spPr>
          <a:xfrm>
            <a:off x="3651445" y="4660919"/>
            <a:ext cx="22159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$150</a:t>
            </a:r>
            <a:endParaRPr sz="2000">
              <a:solidFill>
                <a:schemeClr val="dk1"/>
              </a:solidFill>
              <a:latin typeface="Arial"/>
              <a:ea typeface="Arial"/>
              <a:cs typeface="Arial"/>
              <a:sym typeface="Arial"/>
            </a:endParaRPr>
          </a:p>
        </p:txBody>
      </p:sp>
      <p:sp>
        <p:nvSpPr>
          <p:cNvPr id="884" name="Google Shape;884;p74"/>
          <p:cNvSpPr/>
          <p:nvPr/>
        </p:nvSpPr>
        <p:spPr>
          <a:xfrm>
            <a:off x="6553200" y="4800600"/>
            <a:ext cx="1731818"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rgbClr val="A50021"/>
                </a:solidFill>
                <a:latin typeface="Arial"/>
                <a:ea typeface="Arial"/>
                <a:cs typeface="Arial"/>
                <a:sym typeface="Arial"/>
              </a:rPr>
              <a:t>1,333 units </a:t>
            </a:r>
            <a:r>
              <a:rPr b="1" lang="en-US" sz="1600">
                <a:solidFill>
                  <a:srgbClr val="A50021"/>
                </a:solidFill>
                <a:latin typeface="Arial"/>
                <a:ea typeface="Arial"/>
                <a:cs typeface="Arial"/>
                <a:sym typeface="Arial"/>
              </a:rPr>
              <a:t>(rounded)</a:t>
            </a:r>
            <a:endParaRPr/>
          </a:p>
        </p:txBody>
      </p:sp>
      <p:sp>
        <p:nvSpPr>
          <p:cNvPr id="885" name="Google Shape;885;p74"/>
          <p:cNvSpPr/>
          <p:nvPr/>
        </p:nvSpPr>
        <p:spPr>
          <a:xfrm>
            <a:off x="3276600" y="4660919"/>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886" name="Google Shape;886;p74"/>
          <p:cNvSpPr/>
          <p:nvPr/>
        </p:nvSpPr>
        <p:spPr>
          <a:xfrm>
            <a:off x="5867400" y="4660919"/>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cxnSp>
        <p:nvCxnSpPr>
          <p:cNvPr id="887" name="Google Shape;887;p74"/>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888" name="Google Shape;888;p74"/>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Case I: Offering a Discount</a:t>
            </a:r>
            <a:endParaRPr b="1" sz="3200">
              <a:solidFill>
                <a:srgbClr val="0000BF"/>
              </a:solidFill>
              <a:latin typeface="Arial"/>
              <a:ea typeface="Arial"/>
              <a:cs typeface="Arial"/>
              <a:sym typeface="Arial"/>
            </a:endParaRPr>
          </a:p>
        </p:txBody>
      </p:sp>
      <p:sp>
        <p:nvSpPr>
          <p:cNvPr id="889" name="Google Shape;889;p7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75"/>
          <p:cNvSpPr/>
          <p:nvPr/>
        </p:nvSpPr>
        <p:spPr>
          <a:xfrm>
            <a:off x="533400" y="1295400"/>
            <a:ext cx="8153400" cy="254839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Management invests in new robotic equipment that will lower the amount of direct labor required to make camcorders. Estimates are that total fixed costs will increase 30% and that variable cost per unit will decrease 30%.</a:t>
            </a:r>
            <a:endParaRPr/>
          </a:p>
          <a:p>
            <a:pPr indent="0" lvl="0" marL="0" marR="0" rtl="0" algn="l">
              <a:lnSpc>
                <a:spcPct val="120000"/>
              </a:lnSpc>
              <a:spcBef>
                <a:spcPts val="840"/>
              </a:spcBef>
              <a:spcAft>
                <a:spcPts val="0"/>
              </a:spcAft>
              <a:buNone/>
            </a:pPr>
            <a:r>
              <a:rPr b="1" lang="en-US" sz="2100">
                <a:solidFill>
                  <a:schemeClr val="dk1"/>
                </a:solidFill>
                <a:latin typeface="Arial"/>
                <a:ea typeface="Arial"/>
                <a:cs typeface="Arial"/>
                <a:sym typeface="Arial"/>
              </a:rPr>
              <a:t>Question: </a:t>
            </a:r>
            <a:r>
              <a:rPr lang="en-US" sz="2100">
                <a:solidFill>
                  <a:schemeClr val="dk1"/>
                </a:solidFill>
                <a:latin typeface="Arial"/>
                <a:ea typeface="Arial"/>
                <a:cs typeface="Arial"/>
                <a:sym typeface="Arial"/>
              </a:rPr>
              <a:t> What effect will the new equipment have on the sales volume required to break even?</a:t>
            </a:r>
            <a:endParaRPr/>
          </a:p>
        </p:txBody>
      </p:sp>
      <p:sp>
        <p:nvSpPr>
          <p:cNvPr id="895" name="Google Shape;895;p75"/>
          <p:cNvSpPr txBox="1"/>
          <p:nvPr/>
        </p:nvSpPr>
        <p:spPr>
          <a:xfrm>
            <a:off x="685800" y="5449669"/>
            <a:ext cx="2362200" cy="646331"/>
          </a:xfrm>
          <a:prstGeom prst="rect">
            <a:avLst/>
          </a:prstGeom>
          <a:noFill/>
          <a:ln cap="sq" cmpd="sng" w="127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Computation of break-even sales in units</a:t>
            </a:r>
            <a:endParaRPr sz="1200">
              <a:solidFill>
                <a:schemeClr val="dk1"/>
              </a:solidFill>
              <a:latin typeface="Arial"/>
              <a:ea typeface="Arial"/>
              <a:cs typeface="Arial"/>
              <a:sym typeface="Arial"/>
            </a:endParaRPr>
          </a:p>
        </p:txBody>
      </p:sp>
      <p:sp>
        <p:nvSpPr>
          <p:cNvPr id="896" name="Google Shape;896;p75"/>
          <p:cNvSpPr/>
          <p:nvPr/>
        </p:nvSpPr>
        <p:spPr>
          <a:xfrm>
            <a:off x="685800" y="3849469"/>
            <a:ext cx="28194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Fixed Costs</a:t>
            </a:r>
            <a:endParaRPr sz="2000">
              <a:solidFill>
                <a:schemeClr val="dk1"/>
              </a:solidFill>
              <a:latin typeface="Arial"/>
              <a:ea typeface="Arial"/>
              <a:cs typeface="Arial"/>
              <a:sym typeface="Arial"/>
            </a:endParaRPr>
          </a:p>
        </p:txBody>
      </p:sp>
      <p:sp>
        <p:nvSpPr>
          <p:cNvPr id="897" name="Google Shape;897;p75"/>
          <p:cNvSpPr/>
          <p:nvPr/>
        </p:nvSpPr>
        <p:spPr>
          <a:xfrm>
            <a:off x="3657600" y="3849469"/>
            <a:ext cx="22098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Unit Contribution Margin</a:t>
            </a:r>
            <a:endParaRPr sz="2000">
              <a:solidFill>
                <a:schemeClr val="dk1"/>
              </a:solidFill>
              <a:latin typeface="Arial"/>
              <a:ea typeface="Arial"/>
              <a:cs typeface="Arial"/>
              <a:sym typeface="Arial"/>
            </a:endParaRPr>
          </a:p>
        </p:txBody>
      </p:sp>
      <p:sp>
        <p:nvSpPr>
          <p:cNvPr id="898" name="Google Shape;898;p75"/>
          <p:cNvSpPr/>
          <p:nvPr/>
        </p:nvSpPr>
        <p:spPr>
          <a:xfrm>
            <a:off x="6248400" y="3849469"/>
            <a:ext cx="2286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Break-Even Sales</a:t>
            </a:r>
            <a:endParaRPr b="1" sz="2000">
              <a:solidFill>
                <a:schemeClr val="dk1"/>
              </a:solidFill>
              <a:latin typeface="Arial"/>
              <a:ea typeface="Arial"/>
              <a:cs typeface="Arial"/>
              <a:sym typeface="Arial"/>
            </a:endParaRPr>
          </a:p>
        </p:txBody>
      </p:sp>
      <p:sp>
        <p:nvSpPr>
          <p:cNvPr id="899" name="Google Shape;899;p75"/>
          <p:cNvSpPr/>
          <p:nvPr/>
        </p:nvSpPr>
        <p:spPr>
          <a:xfrm>
            <a:off x="3276600" y="3849469"/>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00" name="Google Shape;900;p75"/>
          <p:cNvSpPr/>
          <p:nvPr/>
        </p:nvSpPr>
        <p:spPr>
          <a:xfrm>
            <a:off x="5867400" y="3849469"/>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01" name="Google Shape;901;p75"/>
          <p:cNvSpPr/>
          <p:nvPr/>
        </p:nvSpPr>
        <p:spPr>
          <a:xfrm>
            <a:off x="609600" y="4852788"/>
            <a:ext cx="29017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$260,000</a:t>
            </a:r>
            <a:endParaRPr sz="2000">
              <a:solidFill>
                <a:schemeClr val="dk1"/>
              </a:solidFill>
              <a:latin typeface="Arial"/>
              <a:ea typeface="Arial"/>
              <a:cs typeface="Arial"/>
              <a:sym typeface="Arial"/>
            </a:endParaRPr>
          </a:p>
        </p:txBody>
      </p:sp>
      <p:sp>
        <p:nvSpPr>
          <p:cNvPr id="902" name="Google Shape;902;p75"/>
          <p:cNvSpPr/>
          <p:nvPr/>
        </p:nvSpPr>
        <p:spPr>
          <a:xfrm>
            <a:off x="3651445" y="4852788"/>
            <a:ext cx="22159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($500 - $210)</a:t>
            </a:r>
            <a:endParaRPr sz="2000">
              <a:solidFill>
                <a:schemeClr val="dk1"/>
              </a:solidFill>
              <a:latin typeface="Arial"/>
              <a:ea typeface="Arial"/>
              <a:cs typeface="Arial"/>
              <a:sym typeface="Arial"/>
            </a:endParaRPr>
          </a:p>
        </p:txBody>
      </p:sp>
      <p:sp>
        <p:nvSpPr>
          <p:cNvPr id="903" name="Google Shape;903;p75"/>
          <p:cNvSpPr/>
          <p:nvPr/>
        </p:nvSpPr>
        <p:spPr>
          <a:xfrm>
            <a:off x="6647949" y="4987327"/>
            <a:ext cx="1505451"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rgbClr val="A50021"/>
                </a:solidFill>
                <a:latin typeface="Arial"/>
                <a:ea typeface="Arial"/>
                <a:cs typeface="Arial"/>
                <a:sym typeface="Arial"/>
              </a:rPr>
              <a:t>897 units </a:t>
            </a:r>
            <a:r>
              <a:rPr b="1" lang="en-US" sz="1600">
                <a:solidFill>
                  <a:srgbClr val="A50021"/>
                </a:solidFill>
                <a:latin typeface="Arial"/>
                <a:ea typeface="Arial"/>
                <a:cs typeface="Arial"/>
                <a:sym typeface="Arial"/>
              </a:rPr>
              <a:t>(rounded)</a:t>
            </a:r>
            <a:endParaRPr b="1" sz="2000">
              <a:solidFill>
                <a:srgbClr val="A50021"/>
              </a:solidFill>
              <a:latin typeface="Arial"/>
              <a:ea typeface="Arial"/>
              <a:cs typeface="Arial"/>
              <a:sym typeface="Arial"/>
            </a:endParaRPr>
          </a:p>
        </p:txBody>
      </p:sp>
      <p:sp>
        <p:nvSpPr>
          <p:cNvPr id="904" name="Google Shape;904;p75"/>
          <p:cNvSpPr/>
          <p:nvPr/>
        </p:nvSpPr>
        <p:spPr>
          <a:xfrm>
            <a:off x="3276600" y="4852788"/>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05" name="Google Shape;905;p75"/>
          <p:cNvSpPr/>
          <p:nvPr/>
        </p:nvSpPr>
        <p:spPr>
          <a:xfrm>
            <a:off x="5867400" y="4852788"/>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cxnSp>
        <p:nvCxnSpPr>
          <p:cNvPr id="906" name="Google Shape;906;p75"/>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07" name="Google Shape;907;p75"/>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Case II: Investing in New Equipment</a:t>
            </a:r>
            <a:endParaRPr b="1" sz="3200">
              <a:solidFill>
                <a:srgbClr val="0000BF"/>
              </a:solidFill>
              <a:latin typeface="Arial"/>
              <a:ea typeface="Arial"/>
              <a:cs typeface="Arial"/>
              <a:sym typeface="Arial"/>
            </a:endParaRPr>
          </a:p>
        </p:txBody>
      </p:sp>
      <p:sp>
        <p:nvSpPr>
          <p:cNvPr id="908" name="Google Shape;908;p7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500"/>
                                        <p:tgtEl>
                                          <p:spTgt spid="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76"/>
          <p:cNvSpPr/>
          <p:nvPr/>
        </p:nvSpPr>
        <p:spPr>
          <a:xfrm>
            <a:off x="533400" y="1295400"/>
            <a:ext cx="8153400" cy="367665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100">
                <a:solidFill>
                  <a:schemeClr val="dk1"/>
                </a:solidFill>
                <a:latin typeface="Arial"/>
                <a:ea typeface="Arial"/>
                <a:cs typeface="Arial"/>
                <a:sym typeface="Arial"/>
              </a:rPr>
              <a:t>Vargo’s principal supplier of raw materials has just announced a price increase. The higher cost is expected to increase the variable cost of camcorders by $25 per unit. Management decides to hold the line on the selling price of the camcorders. It plans a cost-cutting program that will save $17,500 in fixed costs per month. Vargo is currently realizing monthly net income of $80,000 on sales of 1,400 camcorders.</a:t>
            </a:r>
            <a:endParaRPr/>
          </a:p>
          <a:p>
            <a:pPr indent="0" lvl="0" marL="0" marR="0" rtl="0" algn="l">
              <a:lnSpc>
                <a:spcPct val="120000"/>
              </a:lnSpc>
              <a:spcBef>
                <a:spcPts val="840"/>
              </a:spcBef>
              <a:spcAft>
                <a:spcPts val="0"/>
              </a:spcAft>
              <a:buNone/>
            </a:pPr>
            <a:r>
              <a:rPr b="1" lang="en-US" sz="2100">
                <a:solidFill>
                  <a:schemeClr val="dk1"/>
                </a:solidFill>
                <a:latin typeface="Arial"/>
                <a:ea typeface="Arial"/>
                <a:cs typeface="Arial"/>
                <a:sym typeface="Arial"/>
              </a:rPr>
              <a:t>Question:  </a:t>
            </a:r>
            <a:r>
              <a:rPr lang="en-US" sz="2100">
                <a:solidFill>
                  <a:schemeClr val="dk1"/>
                </a:solidFill>
                <a:latin typeface="Arial"/>
                <a:ea typeface="Arial"/>
                <a:cs typeface="Arial"/>
                <a:sym typeface="Arial"/>
              </a:rPr>
              <a:t>What increase in units sold will be needed to maintain the same level of net income?</a:t>
            </a:r>
            <a:endParaRPr/>
          </a:p>
        </p:txBody>
      </p:sp>
      <p:cxnSp>
        <p:nvCxnSpPr>
          <p:cNvPr id="914" name="Google Shape;914;p76"/>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15" name="Google Shape;915;p76"/>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Case III: Determining Required Sales</a:t>
            </a:r>
            <a:endParaRPr b="1" sz="3200">
              <a:solidFill>
                <a:srgbClr val="0000BF"/>
              </a:solidFill>
              <a:latin typeface="Arial"/>
              <a:ea typeface="Arial"/>
              <a:cs typeface="Arial"/>
              <a:sym typeface="Arial"/>
            </a:endParaRPr>
          </a:p>
        </p:txBody>
      </p:sp>
      <p:sp>
        <p:nvSpPr>
          <p:cNvPr id="916" name="Google Shape;916;p7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77"/>
          <p:cNvSpPr/>
          <p:nvPr/>
        </p:nvSpPr>
        <p:spPr>
          <a:xfrm>
            <a:off x="914400" y="1447800"/>
            <a:ext cx="8077200" cy="145415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US" sz="2100">
                <a:solidFill>
                  <a:schemeClr val="dk1"/>
                </a:solidFill>
                <a:latin typeface="Arial"/>
                <a:ea typeface="Arial"/>
                <a:cs typeface="Arial"/>
                <a:sym typeface="Arial"/>
              </a:rPr>
              <a:t>Variable cost per unit</a:t>
            </a:r>
            <a:r>
              <a:rPr lang="en-US" sz="2100">
                <a:solidFill>
                  <a:schemeClr val="dk1"/>
                </a:solidFill>
                <a:latin typeface="Arial"/>
                <a:ea typeface="Arial"/>
                <a:cs typeface="Arial"/>
                <a:sym typeface="Arial"/>
              </a:rPr>
              <a:t> increases to  </a:t>
            </a:r>
            <a:r>
              <a:rPr b="1" lang="en-US" sz="2100">
                <a:solidFill>
                  <a:srgbClr val="800000"/>
                </a:solidFill>
                <a:latin typeface="Arial"/>
                <a:ea typeface="Arial"/>
                <a:cs typeface="Arial"/>
                <a:sym typeface="Arial"/>
              </a:rPr>
              <a:t>$325</a:t>
            </a:r>
            <a:r>
              <a:rPr lang="en-US" sz="2100">
                <a:solidFill>
                  <a:schemeClr val="dk1"/>
                </a:solidFill>
                <a:latin typeface="Arial"/>
                <a:ea typeface="Arial"/>
                <a:cs typeface="Arial"/>
                <a:sym typeface="Arial"/>
              </a:rPr>
              <a:t>  ($300 + $25).</a:t>
            </a:r>
            <a:endParaRPr/>
          </a:p>
          <a:p>
            <a:pPr indent="0" lvl="0" marL="0" marR="0" rtl="0" algn="l">
              <a:lnSpc>
                <a:spcPct val="115000"/>
              </a:lnSpc>
              <a:spcBef>
                <a:spcPts val="840"/>
              </a:spcBef>
              <a:spcAft>
                <a:spcPts val="0"/>
              </a:spcAft>
              <a:buNone/>
            </a:pPr>
            <a:r>
              <a:rPr b="1" lang="en-US" sz="2100">
                <a:solidFill>
                  <a:schemeClr val="dk1"/>
                </a:solidFill>
                <a:latin typeface="Arial"/>
                <a:ea typeface="Arial"/>
                <a:cs typeface="Arial"/>
                <a:sym typeface="Arial"/>
              </a:rPr>
              <a:t>Fixed costs</a:t>
            </a:r>
            <a:r>
              <a:rPr lang="en-US" sz="2100">
                <a:solidFill>
                  <a:schemeClr val="dk1"/>
                </a:solidFill>
                <a:latin typeface="Arial"/>
                <a:ea typeface="Arial"/>
                <a:cs typeface="Arial"/>
                <a:sym typeface="Arial"/>
              </a:rPr>
              <a:t> are reduced to  </a:t>
            </a:r>
            <a:r>
              <a:rPr b="1" lang="en-US" sz="2100">
                <a:solidFill>
                  <a:srgbClr val="800000"/>
                </a:solidFill>
                <a:latin typeface="Arial"/>
                <a:ea typeface="Arial"/>
                <a:cs typeface="Arial"/>
                <a:sym typeface="Arial"/>
              </a:rPr>
              <a:t>$182,500</a:t>
            </a:r>
            <a:r>
              <a:rPr lang="en-US" sz="2100">
                <a:solidFill>
                  <a:schemeClr val="dk1"/>
                </a:solidFill>
                <a:latin typeface="Arial"/>
                <a:ea typeface="Arial"/>
                <a:cs typeface="Arial"/>
                <a:sym typeface="Arial"/>
              </a:rPr>
              <a:t>  ($200,000 - $17,500). </a:t>
            </a:r>
            <a:endParaRPr/>
          </a:p>
          <a:p>
            <a:pPr indent="0" lvl="0" marL="0" marR="0" rtl="0" algn="l">
              <a:lnSpc>
                <a:spcPct val="115000"/>
              </a:lnSpc>
              <a:spcBef>
                <a:spcPts val="840"/>
              </a:spcBef>
              <a:spcAft>
                <a:spcPts val="0"/>
              </a:spcAft>
              <a:buNone/>
            </a:pPr>
            <a:r>
              <a:rPr b="1" lang="en-US" sz="2100">
                <a:solidFill>
                  <a:schemeClr val="dk1"/>
                </a:solidFill>
                <a:latin typeface="Arial"/>
                <a:ea typeface="Arial"/>
                <a:cs typeface="Arial"/>
                <a:sym typeface="Arial"/>
              </a:rPr>
              <a:t>Contribution margin per unit</a:t>
            </a:r>
            <a:r>
              <a:rPr lang="en-US" sz="2100">
                <a:solidFill>
                  <a:schemeClr val="dk1"/>
                </a:solidFill>
                <a:latin typeface="Arial"/>
                <a:ea typeface="Arial"/>
                <a:cs typeface="Arial"/>
                <a:sym typeface="Arial"/>
              </a:rPr>
              <a:t> becomes  </a:t>
            </a:r>
            <a:r>
              <a:rPr b="1" lang="en-US" sz="2100">
                <a:solidFill>
                  <a:srgbClr val="800000"/>
                </a:solidFill>
                <a:latin typeface="Arial"/>
                <a:ea typeface="Arial"/>
                <a:cs typeface="Arial"/>
                <a:sym typeface="Arial"/>
              </a:rPr>
              <a:t>$175</a:t>
            </a:r>
            <a:r>
              <a:rPr lang="en-US" sz="2100">
                <a:solidFill>
                  <a:schemeClr val="dk1"/>
                </a:solidFill>
                <a:latin typeface="Arial"/>
                <a:ea typeface="Arial"/>
                <a:cs typeface="Arial"/>
                <a:sym typeface="Arial"/>
              </a:rPr>
              <a:t>  ($500 - $325).</a:t>
            </a:r>
            <a:endParaRPr/>
          </a:p>
        </p:txBody>
      </p:sp>
      <p:sp>
        <p:nvSpPr>
          <p:cNvPr id="922" name="Google Shape;922;p77"/>
          <p:cNvSpPr/>
          <p:nvPr/>
        </p:nvSpPr>
        <p:spPr>
          <a:xfrm>
            <a:off x="5273720" y="1524000"/>
            <a:ext cx="33528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sp>
        <p:nvSpPr>
          <p:cNvPr id="923" name="Google Shape;923;p77"/>
          <p:cNvSpPr/>
          <p:nvPr/>
        </p:nvSpPr>
        <p:spPr>
          <a:xfrm>
            <a:off x="5834416" y="2514600"/>
            <a:ext cx="28194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sp>
        <p:nvSpPr>
          <p:cNvPr id="924" name="Google Shape;924;p77"/>
          <p:cNvSpPr txBox="1"/>
          <p:nvPr/>
        </p:nvSpPr>
        <p:spPr>
          <a:xfrm>
            <a:off x="762000" y="4719935"/>
            <a:ext cx="2362200" cy="461665"/>
          </a:xfrm>
          <a:prstGeom prst="rect">
            <a:avLst/>
          </a:prstGeom>
          <a:noFill/>
          <a:ln cap="sq" cmpd="sng" w="127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Computation of required sales</a:t>
            </a:r>
            <a:endParaRPr sz="1200">
              <a:solidFill>
                <a:schemeClr val="dk1"/>
              </a:solidFill>
              <a:latin typeface="Arial"/>
              <a:ea typeface="Arial"/>
              <a:cs typeface="Arial"/>
              <a:sym typeface="Arial"/>
            </a:endParaRPr>
          </a:p>
        </p:txBody>
      </p:sp>
      <p:sp>
        <p:nvSpPr>
          <p:cNvPr id="925" name="Google Shape;925;p77"/>
          <p:cNvSpPr/>
          <p:nvPr/>
        </p:nvSpPr>
        <p:spPr>
          <a:xfrm>
            <a:off x="685800" y="3200400"/>
            <a:ext cx="28194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(Fixed Cost + Target Net Income)</a:t>
            </a:r>
            <a:endParaRPr sz="2000">
              <a:solidFill>
                <a:schemeClr val="dk1"/>
              </a:solidFill>
              <a:latin typeface="Arial"/>
              <a:ea typeface="Arial"/>
              <a:cs typeface="Arial"/>
              <a:sym typeface="Arial"/>
            </a:endParaRPr>
          </a:p>
        </p:txBody>
      </p:sp>
      <p:sp>
        <p:nvSpPr>
          <p:cNvPr id="926" name="Google Shape;926;p77"/>
          <p:cNvSpPr/>
          <p:nvPr/>
        </p:nvSpPr>
        <p:spPr>
          <a:xfrm>
            <a:off x="3886200" y="3200400"/>
            <a:ext cx="22098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Unit Contribution Margin</a:t>
            </a:r>
            <a:endParaRPr sz="2000">
              <a:solidFill>
                <a:schemeClr val="dk1"/>
              </a:solidFill>
              <a:latin typeface="Arial"/>
              <a:ea typeface="Arial"/>
              <a:cs typeface="Arial"/>
              <a:sym typeface="Arial"/>
            </a:endParaRPr>
          </a:p>
        </p:txBody>
      </p:sp>
      <p:sp>
        <p:nvSpPr>
          <p:cNvPr id="927" name="Google Shape;927;p77"/>
          <p:cNvSpPr/>
          <p:nvPr/>
        </p:nvSpPr>
        <p:spPr>
          <a:xfrm>
            <a:off x="6477000" y="3200400"/>
            <a:ext cx="2286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Required Sales in Units</a:t>
            </a:r>
            <a:endParaRPr b="1" sz="2000">
              <a:solidFill>
                <a:schemeClr val="dk1"/>
              </a:solidFill>
              <a:latin typeface="Arial"/>
              <a:ea typeface="Arial"/>
              <a:cs typeface="Arial"/>
              <a:sym typeface="Arial"/>
            </a:endParaRPr>
          </a:p>
        </p:txBody>
      </p:sp>
      <p:sp>
        <p:nvSpPr>
          <p:cNvPr id="928" name="Google Shape;928;p77"/>
          <p:cNvSpPr/>
          <p:nvPr/>
        </p:nvSpPr>
        <p:spPr>
          <a:xfrm>
            <a:off x="3505200" y="3200400"/>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29" name="Google Shape;929;p77"/>
          <p:cNvSpPr/>
          <p:nvPr/>
        </p:nvSpPr>
        <p:spPr>
          <a:xfrm>
            <a:off x="6096000" y="3200400"/>
            <a:ext cx="381000" cy="832279"/>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30" name="Google Shape;930;p77"/>
          <p:cNvSpPr/>
          <p:nvPr/>
        </p:nvSpPr>
        <p:spPr>
          <a:xfrm>
            <a:off x="609600" y="4114800"/>
            <a:ext cx="29017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($182,500 + $80,000)</a:t>
            </a:r>
            <a:endParaRPr sz="2000">
              <a:solidFill>
                <a:schemeClr val="dk1"/>
              </a:solidFill>
              <a:latin typeface="Arial"/>
              <a:ea typeface="Arial"/>
              <a:cs typeface="Arial"/>
              <a:sym typeface="Arial"/>
            </a:endParaRPr>
          </a:p>
        </p:txBody>
      </p:sp>
      <p:sp>
        <p:nvSpPr>
          <p:cNvPr id="931" name="Google Shape;931;p77"/>
          <p:cNvSpPr/>
          <p:nvPr/>
        </p:nvSpPr>
        <p:spPr>
          <a:xfrm>
            <a:off x="3880045" y="4114800"/>
            <a:ext cx="2215955"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lang="en-US" sz="2000">
                <a:solidFill>
                  <a:schemeClr val="dk1"/>
                </a:solidFill>
                <a:latin typeface="Arial"/>
                <a:ea typeface="Arial"/>
                <a:cs typeface="Arial"/>
                <a:sym typeface="Arial"/>
              </a:rPr>
              <a:t>$175</a:t>
            </a:r>
            <a:endParaRPr sz="2000">
              <a:solidFill>
                <a:schemeClr val="dk1"/>
              </a:solidFill>
              <a:latin typeface="Arial"/>
              <a:ea typeface="Arial"/>
              <a:cs typeface="Arial"/>
              <a:sym typeface="Arial"/>
            </a:endParaRPr>
          </a:p>
        </p:txBody>
      </p:sp>
      <p:sp>
        <p:nvSpPr>
          <p:cNvPr id="932" name="Google Shape;932;p77"/>
          <p:cNvSpPr/>
          <p:nvPr/>
        </p:nvSpPr>
        <p:spPr>
          <a:xfrm>
            <a:off x="6477001" y="4114800"/>
            <a:ext cx="20574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rgbClr val="A50021"/>
                </a:solidFill>
                <a:latin typeface="Arial"/>
                <a:ea typeface="Arial"/>
                <a:cs typeface="Arial"/>
                <a:sym typeface="Arial"/>
              </a:rPr>
              <a:t>1,500</a:t>
            </a:r>
            <a:endParaRPr b="1" sz="2000">
              <a:solidFill>
                <a:srgbClr val="A50021"/>
              </a:solidFill>
              <a:latin typeface="Arial"/>
              <a:ea typeface="Arial"/>
              <a:cs typeface="Arial"/>
              <a:sym typeface="Arial"/>
            </a:endParaRPr>
          </a:p>
        </p:txBody>
      </p:sp>
      <p:sp>
        <p:nvSpPr>
          <p:cNvPr id="933" name="Google Shape;933;p77"/>
          <p:cNvSpPr/>
          <p:nvPr/>
        </p:nvSpPr>
        <p:spPr>
          <a:xfrm>
            <a:off x="3505200" y="4114800"/>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sp>
        <p:nvSpPr>
          <p:cNvPr id="934" name="Google Shape;934;p77"/>
          <p:cNvSpPr/>
          <p:nvPr/>
        </p:nvSpPr>
        <p:spPr>
          <a:xfrm>
            <a:off x="6096000" y="4114800"/>
            <a:ext cx="381000" cy="444481"/>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p:txBody>
      </p:sp>
      <p:cxnSp>
        <p:nvCxnSpPr>
          <p:cNvPr id="935" name="Google Shape;935;p7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cxnSp>
        <p:nvCxnSpPr>
          <p:cNvPr id="936" name="Google Shape;936;p77"/>
          <p:cNvCxnSpPr/>
          <p:nvPr/>
        </p:nvCxnSpPr>
        <p:spPr>
          <a:xfrm>
            <a:off x="5285096" y="1836760"/>
            <a:ext cx="2362200" cy="0"/>
          </a:xfrm>
          <a:prstGeom prst="straightConnector1">
            <a:avLst/>
          </a:prstGeom>
          <a:solidFill>
            <a:schemeClr val="accent1"/>
          </a:solidFill>
          <a:ln cap="sq" cmpd="sng" w="28575">
            <a:solidFill>
              <a:schemeClr val="dk1"/>
            </a:solidFill>
            <a:prstDash val="solid"/>
            <a:round/>
            <a:headEnd len="sm" w="sm" type="none"/>
            <a:tailEnd len="sm" w="sm" type="none"/>
          </a:ln>
        </p:spPr>
      </p:cxnSp>
      <p:cxnSp>
        <p:nvCxnSpPr>
          <p:cNvPr id="937" name="Google Shape;937;p77"/>
          <p:cNvCxnSpPr/>
          <p:nvPr/>
        </p:nvCxnSpPr>
        <p:spPr>
          <a:xfrm>
            <a:off x="5821912" y="2833048"/>
            <a:ext cx="2505496"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938" name="Google Shape;938;p77"/>
          <p:cNvSpPr/>
          <p:nvPr/>
        </p:nvSpPr>
        <p:spPr>
          <a:xfrm>
            <a:off x="4312691" y="2000536"/>
            <a:ext cx="4343400" cy="381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cxnSp>
        <p:nvCxnSpPr>
          <p:cNvPr id="939" name="Google Shape;939;p77"/>
          <p:cNvCxnSpPr/>
          <p:nvPr/>
        </p:nvCxnSpPr>
        <p:spPr>
          <a:xfrm>
            <a:off x="4308108" y="2348552"/>
            <a:ext cx="3950208" cy="0"/>
          </a:xfrm>
          <a:prstGeom prst="straightConnector1">
            <a:avLst/>
          </a:prstGeom>
          <a:solidFill>
            <a:schemeClr val="accent1"/>
          </a:solidFill>
          <a:ln cap="sq" cmpd="sng" w="28575">
            <a:solidFill>
              <a:schemeClr val="dk1"/>
            </a:solidFill>
            <a:prstDash val="solid"/>
            <a:round/>
            <a:headEnd len="sm" w="sm" type="none"/>
            <a:tailEnd len="sm" w="sm" type="none"/>
          </a:ln>
        </p:spPr>
      </p:cxnSp>
      <p:sp>
        <p:nvSpPr>
          <p:cNvPr id="940" name="Google Shape;940;p7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
        <p:nvSpPr>
          <p:cNvPr id="941" name="Google Shape;941;p77"/>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Case III: Determining Required Sales</a:t>
            </a:r>
            <a:endParaRPr b="1" sz="3200">
              <a:solidFill>
                <a:srgbClr val="0000BF"/>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2"/>
                                        </p:tgtEl>
                                      </p:cBhvr>
                                    </p:animEffect>
                                    <p:set>
                                      <p:cBhvr>
                                        <p:cTn dur="1" fill="hold">
                                          <p:stCondLst>
                                            <p:cond delay="500"/>
                                          </p:stCondLst>
                                        </p:cTn>
                                        <p:tgtEl>
                                          <p:spTgt spid="9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8"/>
                                        </p:tgtEl>
                                      </p:cBhvr>
                                    </p:animEffect>
                                    <p:set>
                                      <p:cBhvr>
                                        <p:cTn dur="1" fill="hold">
                                          <p:stCondLst>
                                            <p:cond delay="500"/>
                                          </p:stCondLst>
                                        </p:cTn>
                                        <p:tgtEl>
                                          <p:spTgt spid="9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3"/>
                                        </p:tgtEl>
                                      </p:cBhvr>
                                    </p:animEffect>
                                    <p:set>
                                      <p:cBhvr>
                                        <p:cTn dur="1" fill="hold">
                                          <p:stCondLst>
                                            <p:cond delay="500"/>
                                          </p:stCondLst>
                                        </p:cTn>
                                        <p:tgtEl>
                                          <p:spTgt spid="9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500"/>
                                        <p:tgtEl>
                                          <p:spTgt spid="9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500"/>
                                        <p:tgtEl>
                                          <p:spTgt spid="9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8"/>
          <p:cNvSpPr txBox="1"/>
          <p:nvPr>
            <p:ph idx="1" type="body"/>
          </p:nvPr>
        </p:nvSpPr>
        <p:spPr>
          <a:xfrm>
            <a:off x="457200" y="1905000"/>
            <a:ext cx="8001000" cy="3411538"/>
          </a:xfrm>
          <a:prstGeom prst="rect">
            <a:avLst/>
          </a:prstGeom>
          <a:solidFill>
            <a:schemeClr val="lt1"/>
          </a:solidFill>
          <a:ln>
            <a:noFill/>
          </a:ln>
        </p:spPr>
        <p:txBody>
          <a:bodyPr anchorCtr="0" anchor="t" bIns="46025" lIns="182550" spcFirstLastPara="1" rIns="182550" wrap="square" tIns="46025">
            <a:spAutoFit/>
          </a:bodyPr>
          <a:lstStyle/>
          <a:p>
            <a:pPr indent="0" lvl="0" marL="0" rtl="0" algn="l">
              <a:lnSpc>
                <a:spcPct val="120000"/>
              </a:lnSpc>
              <a:spcBef>
                <a:spcPts val="0"/>
              </a:spcBef>
              <a:spcAft>
                <a:spcPts val="0"/>
              </a:spcAft>
              <a:buSzPts val="1650"/>
              <a:buFont typeface="Noto Sans Symbols"/>
              <a:buNone/>
            </a:pPr>
            <a:r>
              <a:rPr b="0" lang="en-US" sz="2200">
                <a:solidFill>
                  <a:schemeClr val="dk1"/>
                </a:solidFill>
                <a:latin typeface="Arial"/>
                <a:ea typeface="Arial"/>
                <a:cs typeface="Arial"/>
                <a:sym typeface="Arial"/>
              </a:rPr>
              <a:t>Croc Catchers calculates its contribution margin to be less than zero.  Which statement is true?</a:t>
            </a:r>
            <a:endParaRPr/>
          </a:p>
          <a:p>
            <a:pPr indent="-450850" lvl="0" marL="682625" rtl="0" algn="l">
              <a:spcBef>
                <a:spcPts val="1100"/>
              </a:spcBef>
              <a:spcAft>
                <a:spcPts val="0"/>
              </a:spcAft>
              <a:buClr>
                <a:schemeClr val="dk1"/>
              </a:buClr>
              <a:buSzPts val="2200"/>
              <a:buFont typeface="Comic Sans MS"/>
              <a:buAutoNum type="alphaLcPeriod"/>
            </a:pPr>
            <a:r>
              <a:rPr b="0" lang="en-US" sz="2200">
                <a:solidFill>
                  <a:schemeClr val="dk1"/>
                </a:solidFill>
                <a:latin typeface="Arial"/>
                <a:ea typeface="Arial"/>
                <a:cs typeface="Arial"/>
                <a:sym typeface="Arial"/>
              </a:rPr>
              <a:t>Its fixed costs are less than the variable cost per unit.</a:t>
            </a:r>
            <a:endParaRPr/>
          </a:p>
          <a:p>
            <a:pPr indent="-450850" lvl="0" marL="682625" rtl="0" algn="l">
              <a:spcBef>
                <a:spcPts val="1100"/>
              </a:spcBef>
              <a:spcAft>
                <a:spcPts val="0"/>
              </a:spcAft>
              <a:buClr>
                <a:schemeClr val="dk1"/>
              </a:buClr>
              <a:buSzPts val="2200"/>
              <a:buFont typeface="Comic Sans MS"/>
              <a:buAutoNum type="alphaLcPeriod"/>
            </a:pPr>
            <a:r>
              <a:rPr b="0" lang="en-US" sz="2200">
                <a:solidFill>
                  <a:schemeClr val="dk1"/>
                </a:solidFill>
                <a:latin typeface="Arial"/>
                <a:ea typeface="Arial"/>
                <a:cs typeface="Arial"/>
                <a:sym typeface="Arial"/>
              </a:rPr>
              <a:t>Its profits are greater than its total costs. </a:t>
            </a:r>
            <a:endParaRPr/>
          </a:p>
          <a:p>
            <a:pPr indent="-450850" lvl="0" marL="682625" rtl="0" algn="l">
              <a:spcBef>
                <a:spcPts val="1100"/>
              </a:spcBef>
              <a:spcAft>
                <a:spcPts val="0"/>
              </a:spcAft>
              <a:buClr>
                <a:schemeClr val="dk1"/>
              </a:buClr>
              <a:buSzPts val="2200"/>
              <a:buFont typeface="Comic Sans MS"/>
              <a:buAutoNum type="alphaLcPeriod"/>
            </a:pPr>
            <a:r>
              <a:rPr b="0" lang="en-US" sz="2200">
                <a:solidFill>
                  <a:schemeClr val="dk1"/>
                </a:solidFill>
                <a:latin typeface="Arial"/>
                <a:ea typeface="Arial"/>
                <a:cs typeface="Arial"/>
                <a:sym typeface="Arial"/>
              </a:rPr>
              <a:t>The company should sell more units.</a:t>
            </a:r>
            <a:endParaRPr/>
          </a:p>
          <a:p>
            <a:pPr indent="-450850" lvl="0" marL="682625" rtl="0" algn="l">
              <a:spcBef>
                <a:spcPts val="1100"/>
              </a:spcBef>
              <a:spcAft>
                <a:spcPts val="0"/>
              </a:spcAft>
              <a:buClr>
                <a:schemeClr val="dk1"/>
              </a:buClr>
              <a:buSzPts val="2200"/>
              <a:buFont typeface="Comic Sans MS"/>
              <a:buAutoNum type="alphaLcPeriod"/>
            </a:pPr>
            <a:r>
              <a:rPr b="0" lang="en-US" sz="2200">
                <a:solidFill>
                  <a:schemeClr val="dk1"/>
                </a:solidFill>
                <a:latin typeface="Arial"/>
                <a:ea typeface="Arial"/>
                <a:cs typeface="Arial"/>
                <a:sym typeface="Arial"/>
              </a:rPr>
              <a:t>Its selling price is less than its variable costs. </a:t>
            </a:r>
            <a:endParaRPr/>
          </a:p>
          <a:p>
            <a:pPr indent="0" lvl="0" marL="0" rtl="0" algn="l">
              <a:lnSpc>
                <a:spcPct val="120000"/>
              </a:lnSpc>
              <a:spcBef>
                <a:spcPts val="440"/>
              </a:spcBef>
              <a:spcAft>
                <a:spcPts val="0"/>
              </a:spcAft>
              <a:buSzPts val="1650"/>
              <a:buFont typeface="Noto Sans Symbols"/>
              <a:buNone/>
            </a:pPr>
            <a:r>
              <a:t/>
            </a:r>
            <a:endParaRPr b="0" sz="2200">
              <a:solidFill>
                <a:schemeClr val="dk1"/>
              </a:solidFill>
              <a:latin typeface="Arial"/>
              <a:ea typeface="Arial"/>
              <a:cs typeface="Arial"/>
              <a:sym typeface="Arial"/>
            </a:endParaRPr>
          </a:p>
        </p:txBody>
      </p:sp>
      <p:sp>
        <p:nvSpPr>
          <p:cNvPr id="947" name="Google Shape;947;p78"/>
          <p:cNvSpPr txBox="1"/>
          <p:nvPr/>
        </p:nvSpPr>
        <p:spPr>
          <a:xfrm>
            <a:off x="533400" y="1295400"/>
            <a:ext cx="41148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0000BF"/>
                </a:solidFill>
                <a:latin typeface="Arial"/>
                <a:ea typeface="Arial"/>
                <a:cs typeface="Arial"/>
                <a:sym typeface="Arial"/>
              </a:rPr>
              <a:t>Question</a:t>
            </a:r>
            <a:endParaRPr b="1" sz="3000">
              <a:solidFill>
                <a:srgbClr val="0000BF"/>
              </a:solidFill>
              <a:latin typeface="Arial"/>
              <a:ea typeface="Arial"/>
              <a:cs typeface="Arial"/>
              <a:sym typeface="Arial"/>
            </a:endParaRPr>
          </a:p>
        </p:txBody>
      </p:sp>
      <p:cxnSp>
        <p:nvCxnSpPr>
          <p:cNvPr id="948" name="Google Shape;948;p7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49" name="Google Shape;949;p78"/>
          <p:cNvSpPr/>
          <p:nvPr/>
        </p:nvSpPr>
        <p:spPr>
          <a:xfrm>
            <a:off x="5334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Basic Concepts</a:t>
            </a:r>
            <a:endParaRPr/>
          </a:p>
        </p:txBody>
      </p:sp>
      <p:sp>
        <p:nvSpPr>
          <p:cNvPr id="950" name="Google Shape;950;p78"/>
          <p:cNvSpPr/>
          <p:nvPr/>
        </p:nvSpPr>
        <p:spPr>
          <a:xfrm>
            <a:off x="152400" y="4384616"/>
            <a:ext cx="609600" cy="457200"/>
          </a:xfrm>
          <a:prstGeom prst="notchedRightArrow">
            <a:avLst>
              <a:gd fmla="val 50000" name="adj1"/>
              <a:gd fmla="val 50000" name="adj2"/>
            </a:avLst>
          </a:prstGeom>
          <a:solidFill>
            <a:srgbClr val="0000BF"/>
          </a:solidFill>
          <a:ln cap="sq"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1" name="Google Shape;951;p7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500"/>
                                        <p:tgtEl>
                                          <p:spTgt spid="9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79"/>
          <p:cNvSpPr/>
          <p:nvPr/>
        </p:nvSpPr>
        <p:spPr>
          <a:xfrm>
            <a:off x="4789714" y="533400"/>
            <a:ext cx="4049486" cy="576620"/>
          </a:xfrm>
          <a:prstGeom prst="rect">
            <a:avLst/>
          </a:prstGeom>
          <a:solidFill>
            <a:srgbClr val="BFBFBF"/>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2400">
                <a:solidFill>
                  <a:schemeClr val="dk1"/>
                </a:solidFill>
                <a:latin typeface="Arial"/>
                <a:ea typeface="Arial"/>
                <a:cs typeface="Arial"/>
                <a:sym typeface="Arial"/>
              </a:rPr>
              <a:t>Amazon.com</a:t>
            </a:r>
            <a:endParaRPr b="1" sz="2400">
              <a:solidFill>
                <a:schemeClr val="dk1"/>
              </a:solidFill>
              <a:latin typeface="Arial"/>
              <a:ea typeface="Arial"/>
              <a:cs typeface="Arial"/>
              <a:sym typeface="Arial"/>
            </a:endParaRPr>
          </a:p>
        </p:txBody>
      </p:sp>
      <p:sp>
        <p:nvSpPr>
          <p:cNvPr id="957" name="Google Shape;957;p79"/>
          <p:cNvSpPr/>
          <p:nvPr/>
        </p:nvSpPr>
        <p:spPr>
          <a:xfrm>
            <a:off x="381000" y="1363242"/>
            <a:ext cx="8305800" cy="4978270"/>
          </a:xfrm>
          <a:prstGeom prst="rect">
            <a:avLst/>
          </a:prstGeom>
          <a:noFill/>
          <a:ln>
            <a:noFill/>
          </a:ln>
        </p:spPr>
        <p:txBody>
          <a:bodyPr anchorCtr="0" anchor="t" bIns="91425" lIns="91425" spcFirstLastPara="1" rIns="91425" wrap="square" tIns="91425">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Don’t Just Look—Buy Something</a:t>
            </a:r>
            <a:endParaRPr/>
          </a:p>
          <a:p>
            <a:pPr indent="0" lvl="0" marL="0" marR="0" rtl="0" algn="just">
              <a:lnSpc>
                <a:spcPct val="105000"/>
              </a:lnSpc>
              <a:spcBef>
                <a:spcPts val="600"/>
              </a:spcBef>
              <a:spcAft>
                <a:spcPts val="0"/>
              </a:spcAft>
              <a:buNone/>
            </a:pPr>
            <a:r>
              <a:rPr lang="en-US" sz="1800">
                <a:solidFill>
                  <a:schemeClr val="dk1"/>
                </a:solidFill>
                <a:latin typeface="Arial"/>
                <a:ea typeface="Arial"/>
                <a:cs typeface="Arial"/>
                <a:sym typeface="Arial"/>
              </a:rPr>
              <a:t>When analyzing an Internet business such as </a:t>
            </a:r>
            <a:r>
              <a:rPr b="1" lang="en-US" sz="1800">
                <a:solidFill>
                  <a:srgbClr val="AD0000"/>
                </a:solidFill>
                <a:latin typeface="Arial"/>
                <a:ea typeface="Arial"/>
                <a:cs typeface="Arial"/>
                <a:sym typeface="Arial"/>
              </a:rPr>
              <a:t>Amazon. com</a:t>
            </a:r>
            <a:r>
              <a:rPr lang="en-US" sz="1800">
                <a:solidFill>
                  <a:schemeClr val="dk1"/>
                </a:solidFill>
                <a:latin typeface="Arial"/>
                <a:ea typeface="Arial"/>
                <a:cs typeface="Arial"/>
                <a:sym typeface="Arial"/>
              </a:rPr>
              <a:t>, analysts closely watch the so-called “conversion rate.” This rate is calculated by dividing the number of people who actually take action at an Internet site (buy something) by the total number of people who visit the site. Average conversion rates are from 3% to 5%. A rate below 2% is poor, while a rate above 10% is great. Conversion rates have an obvious effect on the breakeven point. Suppose you spend $10,000 on your site, which then attracts 5,000 visitors. If you get a 2% conversion rate (100 purchases), your site costs $100 per purchase ($10,000 ÷ 100). A 4% conversion rate lowers your cost to $50 per transaction, and an 8% conversion rate gets you down to $25. Studies show that conversion rates increase if the site has an easy-to-use interface, fast-performing screens, a convenient ordering process, and advertising that is both clever and clear. </a:t>
            </a:r>
            <a:endParaRPr sz="1800">
              <a:solidFill>
                <a:schemeClr val="dk1"/>
              </a:solidFill>
              <a:latin typeface="Arial"/>
              <a:ea typeface="Arial"/>
              <a:cs typeface="Arial"/>
              <a:sym typeface="Arial"/>
            </a:endParaRPr>
          </a:p>
          <a:p>
            <a:pPr indent="0" lvl="0" marL="0" marR="0" rtl="0" algn="just">
              <a:lnSpc>
                <a:spcPct val="105000"/>
              </a:lnSpc>
              <a:spcBef>
                <a:spcPts val="600"/>
              </a:spcBef>
              <a:spcAft>
                <a:spcPts val="0"/>
              </a:spcAft>
              <a:buNone/>
            </a:pPr>
            <a:r>
              <a:rPr lang="en-US" sz="1600">
                <a:solidFill>
                  <a:schemeClr val="dk1"/>
                </a:solidFill>
                <a:latin typeface="Arial"/>
                <a:ea typeface="Arial"/>
                <a:cs typeface="Arial"/>
                <a:sym typeface="Arial"/>
              </a:rPr>
              <a:t>Sources: J. William Gurley, “The One Internet Metric That Really Counts” Fortune (March 6, 2000), p. 392; and Milind Mody, “Chief Mentor: How Startups Can Win Customers Online,” Wall Street Journal Online, (May 11, 2011).</a:t>
            </a:r>
            <a:endParaRPr/>
          </a:p>
        </p:txBody>
      </p:sp>
      <p:sp>
        <p:nvSpPr>
          <p:cNvPr id="958" name="Google Shape;958;p79"/>
          <p:cNvSpPr/>
          <p:nvPr/>
        </p:nvSpPr>
        <p:spPr>
          <a:xfrm>
            <a:off x="365760" y="457200"/>
            <a:ext cx="4423954" cy="729020"/>
          </a:xfrm>
          <a:prstGeom prst="rect">
            <a:avLst/>
          </a:prstGeom>
          <a:solidFill>
            <a:srgbClr val="CC0000"/>
          </a:solidFill>
          <a:ln>
            <a:noFill/>
          </a:ln>
        </p:spPr>
        <p:txBody>
          <a:bodyPr anchorCtr="0" anchor="ctr" bIns="45700" lIns="91425" spcFirstLastPara="1" rIns="91425" wrap="square" tIns="0">
            <a:noAutofit/>
          </a:bodyPr>
          <a:lstStyle/>
          <a:p>
            <a:pPr indent="0" lvl="0" marL="53969" marR="0" rtl="0" algn="l">
              <a:spcBef>
                <a:spcPts val="0"/>
              </a:spcBef>
              <a:spcAft>
                <a:spcPts val="0"/>
              </a:spcAft>
              <a:buNone/>
            </a:pPr>
            <a:r>
              <a:rPr b="1" lang="en-US" sz="3200">
                <a:solidFill>
                  <a:schemeClr val="accent3"/>
                </a:solidFill>
                <a:latin typeface="Arial"/>
                <a:ea typeface="Arial"/>
                <a:cs typeface="Arial"/>
                <a:sym typeface="Arial"/>
              </a:rPr>
              <a:t>Management Insight</a:t>
            </a:r>
            <a:endParaRPr/>
          </a:p>
        </p:txBody>
      </p:sp>
      <p:sp>
        <p:nvSpPr>
          <p:cNvPr id="959" name="Google Shape;959;p7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80"/>
          <p:cNvSpPr txBox="1"/>
          <p:nvPr>
            <p:ph idx="1" type="body"/>
          </p:nvPr>
        </p:nvSpPr>
        <p:spPr>
          <a:xfrm>
            <a:off x="609600" y="1295400"/>
            <a:ext cx="7948613" cy="1752600"/>
          </a:xfrm>
          <a:prstGeom prst="rect">
            <a:avLst/>
          </a:prstGeom>
          <a:noFill/>
          <a:ln cap="flat" cmpd="sng" w="12700">
            <a:solidFill>
              <a:schemeClr val="lt1"/>
            </a:solidFill>
            <a:prstDash val="solid"/>
            <a:miter lim="800000"/>
            <a:headEnd len="sm" w="sm" type="none"/>
            <a:tailEnd len="sm" w="sm" type="none"/>
          </a:ln>
        </p:spPr>
        <p:txBody>
          <a:bodyPr anchorCtr="0" anchor="t" bIns="44450" lIns="90475" spcFirstLastPara="1" rIns="90475" wrap="square" tIns="44450">
            <a:noAutofit/>
          </a:bodyPr>
          <a:lstStyle/>
          <a:p>
            <a:pPr indent="0" lvl="0" marL="0" rtl="0" algn="l">
              <a:lnSpc>
                <a:spcPct val="120000"/>
              </a:lnSpc>
              <a:spcBef>
                <a:spcPts val="0"/>
              </a:spcBef>
              <a:spcAft>
                <a:spcPts val="0"/>
              </a:spcAft>
              <a:buClr>
                <a:srgbClr val="800000"/>
              </a:buClr>
              <a:buSzPts val="1680"/>
              <a:buFont typeface="Noto Sans Symbols"/>
              <a:buNone/>
            </a:pPr>
            <a:r>
              <a:rPr b="0" lang="en-US" sz="2100">
                <a:latin typeface="Arial"/>
                <a:ea typeface="Arial"/>
                <a:cs typeface="Arial"/>
                <a:sym typeface="Arial"/>
              </a:rPr>
              <a:t>Assume that Vargo Video reaches its target net income of $120,000. The following information is obtained on the $680,000 of costs that were incurred in June to produce and sell 1,600 units.</a:t>
            </a:r>
            <a:endParaRPr/>
          </a:p>
        </p:txBody>
      </p:sp>
      <p:cxnSp>
        <p:nvCxnSpPr>
          <p:cNvPr id="965" name="Google Shape;965;p80"/>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966" name="Google Shape;966;p80"/>
          <p:cNvSpPr/>
          <p:nvPr/>
        </p:nvSpPr>
        <p:spPr>
          <a:xfrm>
            <a:off x="6096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 Revisited</a:t>
            </a:r>
            <a:endParaRPr b="1" sz="3200">
              <a:solidFill>
                <a:srgbClr val="0000BF"/>
              </a:solidFill>
              <a:latin typeface="Arial"/>
              <a:ea typeface="Arial"/>
              <a:cs typeface="Arial"/>
              <a:sym typeface="Arial"/>
            </a:endParaRPr>
          </a:p>
        </p:txBody>
      </p:sp>
      <p:pic>
        <p:nvPicPr>
          <p:cNvPr id="967" name="Google Shape;967;p80"/>
          <p:cNvPicPr preferRelativeResize="0"/>
          <p:nvPr/>
        </p:nvPicPr>
        <p:blipFill rotWithShape="1">
          <a:blip r:embed="rId3">
            <a:alphaModFix/>
          </a:blip>
          <a:srcRect b="0" l="0" r="0" t="0"/>
          <a:stretch/>
        </p:blipFill>
        <p:spPr>
          <a:xfrm>
            <a:off x="304800" y="3124200"/>
            <a:ext cx="8534400" cy="2015938"/>
          </a:xfrm>
          <a:prstGeom prst="rect">
            <a:avLst/>
          </a:prstGeom>
          <a:noFill/>
          <a:ln cap="flat" cmpd="sng" w="9525">
            <a:solidFill>
              <a:schemeClr val="dk1"/>
            </a:solidFill>
            <a:prstDash val="solid"/>
            <a:miter lim="800000"/>
            <a:headEnd len="sm" w="sm" type="none"/>
            <a:tailEnd len="sm" w="sm" type="none"/>
          </a:ln>
        </p:spPr>
      </p:pic>
      <p:sp>
        <p:nvSpPr>
          <p:cNvPr id="968" name="Google Shape;968;p80"/>
          <p:cNvSpPr/>
          <p:nvPr/>
        </p:nvSpPr>
        <p:spPr>
          <a:xfrm>
            <a:off x="255896" y="5207421"/>
            <a:ext cx="4572000" cy="646331"/>
          </a:xfrm>
          <a:prstGeom prst="rect">
            <a:avLst/>
          </a:prstGeom>
          <a:noFill/>
          <a:ln cap="sq" cmpd="sng" w="12700">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Assumed cost and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expense data</a:t>
            </a:r>
            <a:endParaRPr/>
          </a:p>
        </p:txBody>
      </p:sp>
      <p:sp>
        <p:nvSpPr>
          <p:cNvPr id="969" name="Google Shape;969;p8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1"/>
          <p:cNvSpPr/>
          <p:nvPr/>
        </p:nvSpPr>
        <p:spPr>
          <a:xfrm>
            <a:off x="304800" y="5943600"/>
            <a:ext cx="2590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22-35</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Detailed CVP income statement</a:t>
            </a:r>
            <a:endParaRPr sz="1200">
              <a:solidFill>
                <a:schemeClr val="dk1"/>
              </a:solidFill>
              <a:latin typeface="Arial"/>
              <a:ea typeface="Arial"/>
              <a:cs typeface="Arial"/>
              <a:sym typeface="Arial"/>
            </a:endParaRPr>
          </a:p>
        </p:txBody>
      </p:sp>
      <p:pic>
        <p:nvPicPr>
          <p:cNvPr id="975" name="Google Shape;975;p81"/>
          <p:cNvPicPr preferRelativeResize="0"/>
          <p:nvPr/>
        </p:nvPicPr>
        <p:blipFill rotWithShape="1">
          <a:blip r:embed="rId3">
            <a:alphaModFix/>
          </a:blip>
          <a:srcRect b="0" l="0" r="0" t="0"/>
          <a:stretch/>
        </p:blipFill>
        <p:spPr>
          <a:xfrm>
            <a:off x="367352" y="393951"/>
            <a:ext cx="8389938" cy="5491705"/>
          </a:xfrm>
          <a:prstGeom prst="rect">
            <a:avLst/>
          </a:prstGeom>
          <a:noFill/>
          <a:ln cap="flat" cmpd="sng" w="9525">
            <a:solidFill>
              <a:schemeClr val="dk1"/>
            </a:solidFill>
            <a:prstDash val="solid"/>
            <a:miter lim="800000"/>
            <a:headEnd len="sm" w="sm" type="none"/>
            <a:tailEnd len="sm" w="sm" type="none"/>
          </a:ln>
        </p:spPr>
      </p:pic>
      <p:sp>
        <p:nvSpPr>
          <p:cNvPr id="976" name="Google Shape;976;p8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2"/>
          <p:cNvSpPr/>
          <p:nvPr/>
        </p:nvSpPr>
        <p:spPr>
          <a:xfrm>
            <a:off x="457200" y="1422400"/>
            <a:ext cx="8244115" cy="7023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1800">
                <a:solidFill>
                  <a:schemeClr val="dk1"/>
                </a:solidFill>
                <a:latin typeface="Arial"/>
                <a:ea typeface="Arial"/>
                <a:cs typeface="Arial"/>
                <a:sym typeface="Arial"/>
              </a:rPr>
              <a:t>Krisanne Company reports the following operating results for the month of June 2017.</a:t>
            </a:r>
            <a:endParaRPr sz="1800">
              <a:solidFill>
                <a:schemeClr val="dk1"/>
              </a:solidFill>
              <a:latin typeface="Arial"/>
              <a:ea typeface="Arial"/>
              <a:cs typeface="Arial"/>
              <a:sym typeface="Arial"/>
            </a:endParaRPr>
          </a:p>
        </p:txBody>
      </p:sp>
      <p:sp>
        <p:nvSpPr>
          <p:cNvPr id="982" name="Google Shape;982;p82"/>
          <p:cNvSpPr/>
          <p:nvPr/>
        </p:nvSpPr>
        <p:spPr>
          <a:xfrm>
            <a:off x="457201" y="4267200"/>
            <a:ext cx="8316686" cy="2322174"/>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1800">
                <a:solidFill>
                  <a:schemeClr val="dk1"/>
                </a:solidFill>
                <a:latin typeface="Arial"/>
                <a:ea typeface="Arial"/>
                <a:cs typeface="Arial"/>
                <a:sym typeface="Arial"/>
              </a:rPr>
              <a:t>To increase net income, management is considering reducing the selling price by 10%, with no changes to unit variable costs or fixed costs. Management is confident that this change will increase unit sales by 25%. Using the contribution margin technique, compute the break-even point in units and dollars and margin of safety in dollars (a) assuming no changes to sales price or costs, and (b) assuming changes to sales price and volume as described above. (c) Comment on your findings.</a:t>
            </a:r>
            <a:endParaRPr/>
          </a:p>
        </p:txBody>
      </p:sp>
      <p:pic>
        <p:nvPicPr>
          <p:cNvPr id="983" name="Google Shape;983;p82"/>
          <p:cNvPicPr preferRelativeResize="0"/>
          <p:nvPr/>
        </p:nvPicPr>
        <p:blipFill rotWithShape="1">
          <a:blip r:embed="rId3">
            <a:alphaModFix/>
          </a:blip>
          <a:srcRect b="0" l="0" r="0" t="0"/>
          <a:stretch/>
        </p:blipFill>
        <p:spPr>
          <a:xfrm>
            <a:off x="2057400" y="1981200"/>
            <a:ext cx="6705600" cy="2164171"/>
          </a:xfrm>
          <a:prstGeom prst="rect">
            <a:avLst/>
          </a:prstGeom>
          <a:noFill/>
          <a:ln cap="flat" cmpd="sng" w="9525">
            <a:solidFill>
              <a:schemeClr val="dk1"/>
            </a:solidFill>
            <a:prstDash val="solid"/>
            <a:miter lim="800000"/>
            <a:headEnd len="sm" w="sm" type="none"/>
            <a:tailEnd len="sm" w="sm" type="none"/>
          </a:ln>
        </p:spPr>
      </p:pic>
      <p:sp>
        <p:nvSpPr>
          <p:cNvPr id="984" name="Google Shape;984;p82"/>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985" name="Google Shape;985;p82"/>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CVP Analysis</a:t>
            </a:r>
            <a:endParaRPr b="1" i="0" sz="2800">
              <a:solidFill>
                <a:schemeClr val="lt1"/>
              </a:solidFill>
              <a:latin typeface="Arial"/>
              <a:ea typeface="Arial"/>
              <a:cs typeface="Arial"/>
              <a:sym typeface="Arial"/>
            </a:endParaRPr>
          </a:p>
        </p:txBody>
      </p:sp>
      <p:sp>
        <p:nvSpPr>
          <p:cNvPr id="986" name="Google Shape;986;p82"/>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200">
                <a:solidFill>
                  <a:srgbClr val="FF0000"/>
                </a:solidFill>
                <a:latin typeface="Arial"/>
                <a:ea typeface="Arial"/>
                <a:cs typeface="Arial"/>
                <a:sym typeface="Arial"/>
              </a:rPr>
              <a:t>6</a:t>
            </a:r>
            <a:endParaRPr b="1" i="0" sz="4200">
              <a:solidFill>
                <a:srgbClr val="FF0000"/>
              </a:solidFill>
              <a:latin typeface="Arial"/>
              <a:ea typeface="Arial"/>
              <a:cs typeface="Arial"/>
              <a:sym typeface="Arial"/>
            </a:endParaRPr>
          </a:p>
        </p:txBody>
      </p:sp>
      <p:sp>
        <p:nvSpPr>
          <p:cNvPr id="987" name="Google Shape;987;p8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83"/>
          <p:cNvSpPr/>
          <p:nvPr/>
        </p:nvSpPr>
        <p:spPr>
          <a:xfrm>
            <a:off x="457200" y="1422400"/>
            <a:ext cx="8244115" cy="7023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1800">
                <a:solidFill>
                  <a:schemeClr val="dk1"/>
                </a:solidFill>
                <a:latin typeface="Arial"/>
                <a:ea typeface="Arial"/>
                <a:cs typeface="Arial"/>
                <a:sym typeface="Arial"/>
              </a:rPr>
              <a:t>Krisanne Company reports the following operating results for the month of June 2017.</a:t>
            </a:r>
            <a:endParaRPr sz="1800">
              <a:solidFill>
                <a:schemeClr val="dk1"/>
              </a:solidFill>
              <a:latin typeface="Arial"/>
              <a:ea typeface="Arial"/>
              <a:cs typeface="Arial"/>
              <a:sym typeface="Arial"/>
            </a:endParaRPr>
          </a:p>
        </p:txBody>
      </p:sp>
      <p:pic>
        <p:nvPicPr>
          <p:cNvPr id="993" name="Google Shape;993;p83"/>
          <p:cNvPicPr preferRelativeResize="0"/>
          <p:nvPr/>
        </p:nvPicPr>
        <p:blipFill rotWithShape="1">
          <a:blip r:embed="rId3">
            <a:alphaModFix/>
          </a:blip>
          <a:srcRect b="0" l="0" r="0" t="0"/>
          <a:stretch/>
        </p:blipFill>
        <p:spPr>
          <a:xfrm>
            <a:off x="2057400" y="1981200"/>
            <a:ext cx="6705600" cy="2164171"/>
          </a:xfrm>
          <a:prstGeom prst="rect">
            <a:avLst/>
          </a:prstGeom>
          <a:noFill/>
          <a:ln cap="flat" cmpd="sng" w="9525">
            <a:solidFill>
              <a:schemeClr val="dk1"/>
            </a:solidFill>
            <a:prstDash val="solid"/>
            <a:miter lim="800000"/>
            <a:headEnd len="sm" w="sm" type="none"/>
            <a:tailEnd len="sm" w="sm" type="none"/>
          </a:ln>
        </p:spPr>
      </p:pic>
      <p:pic>
        <p:nvPicPr>
          <p:cNvPr id="994" name="Google Shape;994;p83"/>
          <p:cNvPicPr preferRelativeResize="0"/>
          <p:nvPr/>
        </p:nvPicPr>
        <p:blipFill rotWithShape="1">
          <a:blip r:embed="rId4">
            <a:alphaModFix/>
          </a:blip>
          <a:srcRect b="0" l="0" r="0" t="0"/>
          <a:stretch/>
        </p:blipFill>
        <p:spPr>
          <a:xfrm>
            <a:off x="457200" y="4292588"/>
            <a:ext cx="8469086" cy="2032012"/>
          </a:xfrm>
          <a:prstGeom prst="rect">
            <a:avLst/>
          </a:prstGeom>
          <a:noFill/>
          <a:ln>
            <a:noFill/>
          </a:ln>
        </p:spPr>
      </p:pic>
      <p:sp>
        <p:nvSpPr>
          <p:cNvPr id="995" name="Google Shape;995;p83"/>
          <p:cNvSpPr/>
          <p:nvPr/>
        </p:nvSpPr>
        <p:spPr>
          <a:xfrm>
            <a:off x="4191000" y="5105400"/>
            <a:ext cx="4510315"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996" name="Google Shape;996;p83"/>
          <p:cNvSpPr/>
          <p:nvPr/>
        </p:nvSpPr>
        <p:spPr>
          <a:xfrm>
            <a:off x="4953000" y="5410200"/>
            <a:ext cx="3748315"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997" name="Google Shape;997;p83"/>
          <p:cNvSpPr/>
          <p:nvPr/>
        </p:nvSpPr>
        <p:spPr>
          <a:xfrm>
            <a:off x="4343400" y="5715000"/>
            <a:ext cx="3748315"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998" name="Google Shape;998;p83"/>
          <p:cNvSpPr/>
          <p:nvPr/>
        </p:nvSpPr>
        <p:spPr>
          <a:xfrm>
            <a:off x="1066801" y="6019800"/>
            <a:ext cx="1400628"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999" name="Google Shape;999;p83"/>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1000" name="Google Shape;1000;p83"/>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CVP Analysis</a:t>
            </a:r>
            <a:endParaRPr b="1" i="0" sz="2800">
              <a:solidFill>
                <a:schemeClr val="lt1"/>
              </a:solidFill>
              <a:latin typeface="Arial"/>
              <a:ea typeface="Arial"/>
              <a:cs typeface="Arial"/>
              <a:sym typeface="Arial"/>
            </a:endParaRPr>
          </a:p>
        </p:txBody>
      </p:sp>
      <p:sp>
        <p:nvSpPr>
          <p:cNvPr id="1001" name="Google Shape;1001;p83"/>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200">
                <a:solidFill>
                  <a:srgbClr val="FF0000"/>
                </a:solidFill>
                <a:latin typeface="Arial"/>
                <a:ea typeface="Arial"/>
                <a:cs typeface="Arial"/>
                <a:sym typeface="Arial"/>
              </a:rPr>
              <a:t>6</a:t>
            </a:r>
            <a:endParaRPr b="1" i="0" sz="4200">
              <a:solidFill>
                <a:srgbClr val="FF0000"/>
              </a:solidFill>
              <a:latin typeface="Arial"/>
              <a:ea typeface="Arial"/>
              <a:cs typeface="Arial"/>
              <a:sym typeface="Arial"/>
            </a:endParaRPr>
          </a:p>
        </p:txBody>
      </p:sp>
      <p:sp>
        <p:nvSpPr>
          <p:cNvPr id="1002" name="Google Shape;1002;p83"/>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95"/>
                                        </p:tgtEl>
                                      </p:cBhvr>
                                    </p:animEffect>
                                    <p:set>
                                      <p:cBhvr>
                                        <p:cTn dur="1" fill="hold">
                                          <p:stCondLst>
                                            <p:cond delay="500"/>
                                          </p:stCondLst>
                                        </p:cTn>
                                        <p:tgtEl>
                                          <p:spTgt spid="9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96"/>
                                        </p:tgtEl>
                                      </p:cBhvr>
                                    </p:animEffect>
                                    <p:set>
                                      <p:cBhvr>
                                        <p:cTn dur="1" fill="hold">
                                          <p:stCondLst>
                                            <p:cond delay="500"/>
                                          </p:stCondLst>
                                        </p:cTn>
                                        <p:tgtEl>
                                          <p:spTgt spid="996"/>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98"/>
                                        </p:tgtEl>
                                      </p:cBhvr>
                                    </p:animEffect>
                                    <p:set>
                                      <p:cBhvr>
                                        <p:cTn dur="1" fill="hold">
                                          <p:stCondLst>
                                            <p:cond delay="500"/>
                                          </p:stCondLst>
                                        </p:cTn>
                                        <p:tgtEl>
                                          <p:spTgt spid="9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97"/>
                                        </p:tgtEl>
                                      </p:cBhvr>
                                    </p:animEffect>
                                    <p:set>
                                      <p:cBhvr>
                                        <p:cTn dur="1" fill="hold">
                                          <p:stCondLst>
                                            <p:cond delay="500"/>
                                          </p:stCondLst>
                                        </p:cTn>
                                        <p:tgtEl>
                                          <p:spTgt spid="9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p84"/>
          <p:cNvPicPr preferRelativeResize="0"/>
          <p:nvPr/>
        </p:nvPicPr>
        <p:blipFill rotWithShape="1">
          <a:blip r:embed="rId3">
            <a:alphaModFix/>
          </a:blip>
          <a:srcRect b="0" l="0" r="0" t="0"/>
          <a:stretch/>
        </p:blipFill>
        <p:spPr>
          <a:xfrm>
            <a:off x="457200" y="4038600"/>
            <a:ext cx="8469086" cy="2032012"/>
          </a:xfrm>
          <a:prstGeom prst="rect">
            <a:avLst/>
          </a:prstGeom>
          <a:noFill/>
          <a:ln>
            <a:noFill/>
          </a:ln>
        </p:spPr>
      </p:pic>
      <p:pic>
        <p:nvPicPr>
          <p:cNvPr id="1008" name="Google Shape;1008;p84"/>
          <p:cNvPicPr preferRelativeResize="0"/>
          <p:nvPr/>
        </p:nvPicPr>
        <p:blipFill rotWithShape="1">
          <a:blip r:embed="rId4">
            <a:alphaModFix/>
          </a:blip>
          <a:srcRect b="0" l="0" r="0" t="0"/>
          <a:stretch/>
        </p:blipFill>
        <p:spPr>
          <a:xfrm>
            <a:off x="609599" y="4546612"/>
            <a:ext cx="8244115" cy="2110102"/>
          </a:xfrm>
          <a:prstGeom prst="rect">
            <a:avLst/>
          </a:prstGeom>
          <a:noFill/>
          <a:ln>
            <a:noFill/>
          </a:ln>
        </p:spPr>
      </p:pic>
      <p:sp>
        <p:nvSpPr>
          <p:cNvPr id="1009" name="Google Shape;1009;p84"/>
          <p:cNvSpPr/>
          <p:nvPr/>
        </p:nvSpPr>
        <p:spPr>
          <a:xfrm>
            <a:off x="457200" y="1422400"/>
            <a:ext cx="8244115" cy="7023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1800">
                <a:solidFill>
                  <a:schemeClr val="dk1"/>
                </a:solidFill>
                <a:latin typeface="Arial"/>
                <a:ea typeface="Arial"/>
                <a:cs typeface="Arial"/>
                <a:sym typeface="Arial"/>
              </a:rPr>
              <a:t>Krisanne Company reports the following operating results for the month of June 2017.</a:t>
            </a:r>
            <a:endParaRPr sz="1800">
              <a:solidFill>
                <a:schemeClr val="dk1"/>
              </a:solidFill>
              <a:latin typeface="Arial"/>
              <a:ea typeface="Arial"/>
              <a:cs typeface="Arial"/>
              <a:sym typeface="Arial"/>
            </a:endParaRPr>
          </a:p>
        </p:txBody>
      </p:sp>
      <p:sp>
        <p:nvSpPr>
          <p:cNvPr id="1010" name="Google Shape;1010;p84"/>
          <p:cNvSpPr/>
          <p:nvPr/>
        </p:nvSpPr>
        <p:spPr>
          <a:xfrm>
            <a:off x="4114800" y="4876800"/>
            <a:ext cx="4510315"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1011" name="Google Shape;1011;p84"/>
          <p:cNvSpPr/>
          <p:nvPr/>
        </p:nvSpPr>
        <p:spPr>
          <a:xfrm>
            <a:off x="4876800" y="5181600"/>
            <a:ext cx="3886200"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1012" name="Google Shape;1012;p84"/>
          <p:cNvSpPr/>
          <p:nvPr/>
        </p:nvSpPr>
        <p:spPr>
          <a:xfrm>
            <a:off x="4267200" y="5486400"/>
            <a:ext cx="3748315"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1013" name="Google Shape;1013;p84"/>
          <p:cNvSpPr/>
          <p:nvPr/>
        </p:nvSpPr>
        <p:spPr>
          <a:xfrm>
            <a:off x="1066800" y="5715000"/>
            <a:ext cx="3200399"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pic>
        <p:nvPicPr>
          <p:cNvPr id="1014" name="Google Shape;1014;p84"/>
          <p:cNvPicPr preferRelativeResize="0"/>
          <p:nvPr/>
        </p:nvPicPr>
        <p:blipFill rotWithShape="1">
          <a:blip r:embed="rId5">
            <a:alphaModFix/>
          </a:blip>
          <a:srcRect b="0" l="0" r="0" t="0"/>
          <a:stretch/>
        </p:blipFill>
        <p:spPr>
          <a:xfrm>
            <a:off x="2057400" y="1981200"/>
            <a:ext cx="6705600" cy="2164171"/>
          </a:xfrm>
          <a:prstGeom prst="rect">
            <a:avLst/>
          </a:prstGeom>
          <a:noFill/>
          <a:ln cap="flat" cmpd="sng" w="9525">
            <a:solidFill>
              <a:schemeClr val="dk1"/>
            </a:solidFill>
            <a:prstDash val="solid"/>
            <a:miter lim="800000"/>
            <a:headEnd len="sm" w="sm" type="none"/>
            <a:tailEnd len="sm" w="sm" type="none"/>
          </a:ln>
        </p:spPr>
      </p:pic>
      <p:sp>
        <p:nvSpPr>
          <p:cNvPr id="1015" name="Google Shape;1015;p84"/>
          <p:cNvSpPr/>
          <p:nvPr/>
        </p:nvSpPr>
        <p:spPr>
          <a:xfrm>
            <a:off x="1066800" y="6019800"/>
            <a:ext cx="3200399"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1016" name="Google Shape;1016;p84"/>
          <p:cNvSpPr/>
          <p:nvPr/>
        </p:nvSpPr>
        <p:spPr>
          <a:xfrm>
            <a:off x="1066800" y="6324600"/>
            <a:ext cx="6629400" cy="3048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Comic Sans MS"/>
              <a:ea typeface="Comic Sans MS"/>
              <a:cs typeface="Comic Sans MS"/>
              <a:sym typeface="Comic Sans MS"/>
            </a:endParaRPr>
          </a:p>
        </p:txBody>
      </p:sp>
      <p:sp>
        <p:nvSpPr>
          <p:cNvPr id="1017" name="Google Shape;1017;p84"/>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1018" name="Google Shape;1018;p84"/>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CVP Analysis</a:t>
            </a:r>
            <a:endParaRPr b="1" i="0" sz="2800">
              <a:solidFill>
                <a:schemeClr val="lt1"/>
              </a:solidFill>
              <a:latin typeface="Arial"/>
              <a:ea typeface="Arial"/>
              <a:cs typeface="Arial"/>
              <a:sym typeface="Arial"/>
            </a:endParaRPr>
          </a:p>
        </p:txBody>
      </p:sp>
      <p:sp>
        <p:nvSpPr>
          <p:cNvPr id="1019" name="Google Shape;1019;p84"/>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200">
                <a:solidFill>
                  <a:srgbClr val="FF0000"/>
                </a:solidFill>
                <a:latin typeface="Arial"/>
                <a:ea typeface="Arial"/>
                <a:cs typeface="Arial"/>
                <a:sym typeface="Arial"/>
              </a:rPr>
              <a:t>6</a:t>
            </a:r>
            <a:endParaRPr b="1" i="0" sz="4200">
              <a:solidFill>
                <a:srgbClr val="FF0000"/>
              </a:solidFill>
              <a:latin typeface="Arial"/>
              <a:ea typeface="Arial"/>
              <a:cs typeface="Arial"/>
              <a:sym typeface="Arial"/>
            </a:endParaRPr>
          </a:p>
        </p:txBody>
      </p:sp>
      <p:sp>
        <p:nvSpPr>
          <p:cNvPr id="1020" name="Google Shape;1020;p84"/>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10"/>
                                        </p:tgtEl>
                                      </p:cBhvr>
                                    </p:animEffect>
                                    <p:set>
                                      <p:cBhvr>
                                        <p:cTn dur="1" fill="hold">
                                          <p:stCondLst>
                                            <p:cond delay="500"/>
                                          </p:stCondLst>
                                        </p:cTn>
                                        <p:tgtEl>
                                          <p:spTgt spid="1010"/>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13"/>
                                        </p:tgtEl>
                                      </p:cBhvr>
                                    </p:animEffect>
                                    <p:set>
                                      <p:cBhvr>
                                        <p:cTn dur="1" fill="hold">
                                          <p:stCondLst>
                                            <p:cond delay="500"/>
                                          </p:stCondLst>
                                        </p:cTn>
                                        <p:tgtEl>
                                          <p:spTgt spid="10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11"/>
                                        </p:tgtEl>
                                      </p:cBhvr>
                                    </p:animEffect>
                                    <p:set>
                                      <p:cBhvr>
                                        <p:cTn dur="1" fill="hold">
                                          <p:stCondLst>
                                            <p:cond delay="500"/>
                                          </p:stCondLst>
                                        </p:cTn>
                                        <p:tgtEl>
                                          <p:spTgt spid="1011"/>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15"/>
                                        </p:tgtEl>
                                      </p:cBhvr>
                                    </p:animEffect>
                                    <p:set>
                                      <p:cBhvr>
                                        <p:cTn dur="1" fill="hold">
                                          <p:stCondLst>
                                            <p:cond delay="500"/>
                                          </p:stCondLst>
                                        </p:cTn>
                                        <p:tgtEl>
                                          <p:spTgt spid="10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012"/>
                                        </p:tgtEl>
                                      </p:cBhvr>
                                    </p:animEffect>
                                    <p:set>
                                      <p:cBhvr>
                                        <p:cTn dur="1" fill="hold">
                                          <p:stCondLst>
                                            <p:cond delay="500"/>
                                          </p:stCondLst>
                                        </p:cTn>
                                        <p:tgtEl>
                                          <p:spTgt spid="1012"/>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016"/>
                                        </p:tgtEl>
                                      </p:cBhvr>
                                    </p:animEffect>
                                    <p:set>
                                      <p:cBhvr>
                                        <p:cTn dur="1" fill="hold">
                                          <p:stCondLst>
                                            <p:cond delay="500"/>
                                          </p:stCondLst>
                                        </p:cTn>
                                        <p:tgtEl>
                                          <p:spTgt spid="10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85"/>
          <p:cNvSpPr/>
          <p:nvPr/>
        </p:nvSpPr>
        <p:spPr>
          <a:xfrm>
            <a:off x="457200" y="1422400"/>
            <a:ext cx="8244115" cy="7023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1800">
                <a:solidFill>
                  <a:schemeClr val="dk1"/>
                </a:solidFill>
                <a:latin typeface="Arial"/>
                <a:ea typeface="Arial"/>
                <a:cs typeface="Arial"/>
                <a:sym typeface="Arial"/>
              </a:rPr>
              <a:t>Krisanne Company reports the following operating results for the month of June 2017.</a:t>
            </a:r>
            <a:endParaRPr sz="1800">
              <a:solidFill>
                <a:schemeClr val="dk1"/>
              </a:solidFill>
              <a:latin typeface="Arial"/>
              <a:ea typeface="Arial"/>
              <a:cs typeface="Arial"/>
              <a:sym typeface="Arial"/>
            </a:endParaRPr>
          </a:p>
        </p:txBody>
      </p:sp>
      <p:pic>
        <p:nvPicPr>
          <p:cNvPr id="1026" name="Google Shape;1026;p85"/>
          <p:cNvPicPr preferRelativeResize="0"/>
          <p:nvPr/>
        </p:nvPicPr>
        <p:blipFill rotWithShape="1">
          <a:blip r:embed="rId3">
            <a:alphaModFix/>
          </a:blip>
          <a:srcRect b="0" l="0" r="0" t="0"/>
          <a:stretch/>
        </p:blipFill>
        <p:spPr>
          <a:xfrm>
            <a:off x="2057400" y="1981200"/>
            <a:ext cx="6705600" cy="2164171"/>
          </a:xfrm>
          <a:prstGeom prst="rect">
            <a:avLst/>
          </a:prstGeom>
          <a:noFill/>
          <a:ln cap="flat" cmpd="sng" w="9525">
            <a:solidFill>
              <a:schemeClr val="dk1"/>
            </a:solidFill>
            <a:prstDash val="solid"/>
            <a:miter lim="800000"/>
            <a:headEnd len="sm" w="sm" type="none"/>
            <a:tailEnd len="sm" w="sm" type="none"/>
          </a:ln>
        </p:spPr>
      </p:pic>
      <p:sp>
        <p:nvSpPr>
          <p:cNvPr id="1027" name="Google Shape;1027;p85"/>
          <p:cNvSpPr/>
          <p:nvPr/>
        </p:nvSpPr>
        <p:spPr>
          <a:xfrm>
            <a:off x="457200" y="4535725"/>
            <a:ext cx="8305800" cy="1339469"/>
          </a:xfrm>
          <a:prstGeom prst="rect">
            <a:avLst/>
          </a:prstGeom>
          <a:noFill/>
          <a:ln>
            <a:noFill/>
          </a:ln>
        </p:spPr>
        <p:txBody>
          <a:bodyPr anchorCtr="0" anchor="t" bIns="45700" lIns="91425" spcFirstLastPara="1" rIns="91425" wrap="square" tIns="45700">
            <a:spAutoFit/>
          </a:bodyPr>
          <a:lstStyle/>
          <a:p>
            <a:pPr indent="-463550" lvl="0" marL="463550" marR="0" rtl="0" algn="l">
              <a:lnSpc>
                <a:spcPct val="115000"/>
              </a:lnSpc>
              <a:spcBef>
                <a:spcPts val="0"/>
              </a:spcBef>
              <a:spcAft>
                <a:spcPts val="0"/>
              </a:spcAft>
              <a:buNone/>
            </a:pPr>
            <a:r>
              <a:rPr lang="en-US" sz="1800">
                <a:solidFill>
                  <a:schemeClr val="dk1"/>
                </a:solidFill>
                <a:latin typeface="Arial"/>
                <a:ea typeface="Arial"/>
                <a:cs typeface="Arial"/>
                <a:sym typeface="Arial"/>
              </a:rPr>
              <a:t>(c) 	The increase in the break-even point and the decrease in the margin of safety indicate that management should not implement the proposed change. The increase in sales volume will result in contribution margin of $112,500 (6,250 x $18), which is $7,500 less than the current amount.</a:t>
            </a:r>
            <a:endParaRPr/>
          </a:p>
        </p:txBody>
      </p:sp>
      <p:sp>
        <p:nvSpPr>
          <p:cNvPr id="1028" name="Google Shape;1028;p85"/>
          <p:cNvSpPr txBox="1"/>
          <p:nvPr/>
        </p:nvSpPr>
        <p:spPr>
          <a:xfrm>
            <a:off x="304800" y="398360"/>
            <a:ext cx="2971800" cy="691039"/>
          </a:xfrm>
          <a:prstGeom prst="rect">
            <a:avLst/>
          </a:prstGeom>
          <a:solidFill>
            <a:srgbClr val="D8D8D8"/>
          </a:solidFill>
          <a:ln>
            <a:noFill/>
          </a:ln>
        </p:spPr>
        <p:txBody>
          <a:bodyPr anchorCtr="0" anchor="ctr" bIns="45700" lIns="91425" spcFirstLastPara="1" rIns="91425" wrap="square" tIns="18275">
            <a:noAutofit/>
          </a:bodyPr>
          <a:lstStyle/>
          <a:p>
            <a:pPr indent="0" lvl="0" marL="0" marR="0" rtl="0" algn="l">
              <a:spcBef>
                <a:spcPts val="0"/>
              </a:spcBef>
              <a:spcAft>
                <a:spcPts val="0"/>
              </a:spcAft>
              <a:buNone/>
            </a:pPr>
            <a:r>
              <a:rPr b="1" i="0" lang="en-US" sz="4200">
                <a:solidFill>
                  <a:srgbClr val="FF0000"/>
                </a:solidFill>
                <a:latin typeface="Arial"/>
                <a:ea typeface="Arial"/>
                <a:cs typeface="Arial"/>
                <a:sym typeface="Arial"/>
              </a:rPr>
              <a:t>DO IT!</a:t>
            </a:r>
            <a:endParaRPr/>
          </a:p>
        </p:txBody>
      </p:sp>
      <p:sp>
        <p:nvSpPr>
          <p:cNvPr id="1029" name="Google Shape;1029;p85"/>
          <p:cNvSpPr txBox="1"/>
          <p:nvPr/>
        </p:nvSpPr>
        <p:spPr>
          <a:xfrm>
            <a:off x="3276600" y="429772"/>
            <a:ext cx="5486400" cy="628216"/>
          </a:xfrm>
          <a:prstGeom prst="rect">
            <a:avLst/>
          </a:prstGeom>
          <a:solidFill>
            <a:srgbClr val="0027A4"/>
          </a:solidFill>
          <a:ln>
            <a:noFill/>
          </a:ln>
        </p:spPr>
        <p:txBody>
          <a:bodyPr anchorCtr="0" anchor="ctr" bIns="43225" lIns="86475" spcFirstLastPara="1" rIns="86475" wrap="square" tIns="18275">
            <a:noAutofit/>
          </a:bodyPr>
          <a:lstStyle/>
          <a:p>
            <a:pPr indent="0" lvl="0" marL="109538" marR="0" rtl="0" algn="l">
              <a:spcBef>
                <a:spcPts val="0"/>
              </a:spcBef>
              <a:spcAft>
                <a:spcPts val="0"/>
              </a:spcAft>
              <a:buNone/>
            </a:pPr>
            <a:r>
              <a:rPr b="1" lang="en-US" sz="2800">
                <a:solidFill>
                  <a:schemeClr val="lt1"/>
                </a:solidFill>
                <a:latin typeface="Arial"/>
                <a:ea typeface="Arial"/>
                <a:cs typeface="Arial"/>
                <a:sym typeface="Arial"/>
              </a:rPr>
              <a:t>CVP Analysis</a:t>
            </a:r>
            <a:endParaRPr b="1" i="0" sz="2800">
              <a:solidFill>
                <a:schemeClr val="lt1"/>
              </a:solidFill>
              <a:latin typeface="Arial"/>
              <a:ea typeface="Arial"/>
              <a:cs typeface="Arial"/>
              <a:sym typeface="Arial"/>
            </a:endParaRPr>
          </a:p>
        </p:txBody>
      </p:sp>
      <p:sp>
        <p:nvSpPr>
          <p:cNvPr id="1030" name="Google Shape;1030;p85"/>
          <p:cNvSpPr/>
          <p:nvPr/>
        </p:nvSpPr>
        <p:spPr>
          <a:xfrm>
            <a:off x="2286000" y="398360"/>
            <a:ext cx="685800" cy="691039"/>
          </a:xfrm>
          <a:prstGeom prst="ellipse">
            <a:avLst/>
          </a:prstGeom>
          <a:solidFill>
            <a:schemeClr val="accent3"/>
          </a:solidFill>
          <a:ln cap="sq" cmpd="sng" w="12700">
            <a:solidFill>
              <a:schemeClr val="dk1"/>
            </a:solidFill>
            <a:prstDash val="dot"/>
            <a:round/>
            <a:headEnd len="sm" w="sm" type="none"/>
            <a:tailEnd len="sm" w="sm" type="none"/>
          </a:ln>
        </p:spPr>
        <p:txBody>
          <a:bodyPr anchorCtr="0" anchor="ctr" bIns="45700" lIns="91425" spcFirstLastPara="1" rIns="91425" wrap="square" tIns="18275">
            <a:noAutofit/>
          </a:bodyPr>
          <a:lstStyle/>
          <a:p>
            <a:pPr indent="0" lvl="0" marL="0" marR="0" rtl="0" algn="ctr">
              <a:spcBef>
                <a:spcPts val="0"/>
              </a:spcBef>
              <a:spcAft>
                <a:spcPts val="0"/>
              </a:spcAft>
              <a:buNone/>
            </a:pPr>
            <a:r>
              <a:rPr b="1" i="0" lang="en-US" sz="4200">
                <a:solidFill>
                  <a:srgbClr val="FF0000"/>
                </a:solidFill>
                <a:latin typeface="Arial"/>
                <a:ea typeface="Arial"/>
                <a:cs typeface="Arial"/>
                <a:sym typeface="Arial"/>
              </a:rPr>
              <a:t>6</a:t>
            </a:r>
            <a:endParaRPr b="1" i="0" sz="4200">
              <a:solidFill>
                <a:srgbClr val="FF0000"/>
              </a:solidFill>
              <a:latin typeface="Arial"/>
              <a:ea typeface="Arial"/>
              <a:cs typeface="Arial"/>
              <a:sym typeface="Arial"/>
            </a:endParaRPr>
          </a:p>
        </p:txBody>
      </p:sp>
      <p:sp>
        <p:nvSpPr>
          <p:cNvPr id="1031" name="Google Shape;1031;p85"/>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6</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86"/>
          <p:cNvSpPr txBox="1"/>
          <p:nvPr>
            <p:ph idx="1" type="body"/>
          </p:nvPr>
        </p:nvSpPr>
        <p:spPr>
          <a:xfrm>
            <a:off x="609600" y="1447800"/>
            <a:ext cx="8077200" cy="2133600"/>
          </a:xfrm>
          <a:prstGeom prst="rect">
            <a:avLst/>
          </a:prstGeom>
          <a:solidFill>
            <a:schemeClr val="lt1"/>
          </a:solidFill>
          <a:ln>
            <a:noFill/>
          </a:ln>
        </p:spPr>
        <p:txBody>
          <a:bodyPr anchorCtr="0" anchor="t" bIns="46025" lIns="91425" spcFirstLastPara="1" rIns="182550" wrap="square" tIns="46025">
            <a:noAutofit/>
          </a:bodyPr>
          <a:lstStyle/>
          <a:p>
            <a:pPr indent="0" lvl="0" marL="0" rtl="0" algn="l">
              <a:lnSpc>
                <a:spcPct val="125000"/>
              </a:lnSpc>
              <a:spcBef>
                <a:spcPts val="0"/>
              </a:spcBef>
              <a:spcAft>
                <a:spcPts val="0"/>
              </a:spcAft>
              <a:buSzPts val="1650"/>
              <a:buFont typeface="Noto Sans Symbols"/>
              <a:buNone/>
            </a:pPr>
            <a:r>
              <a:rPr b="0" lang="en-US" sz="2200">
                <a:latin typeface="Arial"/>
                <a:ea typeface="Arial"/>
                <a:cs typeface="Arial"/>
                <a:sym typeface="Arial"/>
              </a:rPr>
              <a:t>Under </a:t>
            </a:r>
            <a:r>
              <a:rPr lang="en-US" sz="2200">
                <a:solidFill>
                  <a:srgbClr val="0000BF"/>
                </a:solidFill>
                <a:latin typeface="Arial"/>
                <a:ea typeface="Arial"/>
                <a:cs typeface="Arial"/>
                <a:sym typeface="Arial"/>
              </a:rPr>
              <a:t>variable costing </a:t>
            </a:r>
            <a:r>
              <a:rPr b="0" lang="en-US" sz="2200">
                <a:latin typeface="Arial"/>
                <a:ea typeface="Arial"/>
                <a:cs typeface="Arial"/>
                <a:sym typeface="Arial"/>
              </a:rPr>
              <a:t>only direct materials, direct labor, and variable manufacturing overhead costs are considered product costs. Companies recognize fixed manufacturing overhead costs as period costs (expenses) when incurred.</a:t>
            </a:r>
            <a:endParaRPr/>
          </a:p>
        </p:txBody>
      </p:sp>
      <p:sp>
        <p:nvSpPr>
          <p:cNvPr id="1037" name="Google Shape;1037;p86"/>
          <p:cNvSpPr/>
          <p:nvPr/>
        </p:nvSpPr>
        <p:spPr>
          <a:xfrm>
            <a:off x="304800" y="5221069"/>
            <a:ext cx="2438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Difference between absorption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costing and variable costing</a:t>
            </a:r>
            <a:endParaRPr/>
          </a:p>
        </p:txBody>
      </p:sp>
      <p:sp>
        <p:nvSpPr>
          <p:cNvPr id="1038" name="Google Shape;1038;p86"/>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
        <p:nvSpPr>
          <p:cNvPr id="1039" name="Google Shape;1039;p86"/>
          <p:cNvSpPr/>
          <p:nvPr/>
        </p:nvSpPr>
        <p:spPr>
          <a:xfrm>
            <a:off x="290286" y="405765"/>
            <a:ext cx="2249714" cy="677228"/>
          </a:xfrm>
          <a:prstGeom prst="rect">
            <a:avLst/>
          </a:prstGeom>
          <a:solidFill>
            <a:srgbClr val="D8D8D8"/>
          </a:solidFill>
          <a:ln>
            <a:noFill/>
          </a:ln>
        </p:spPr>
        <p:txBody>
          <a:bodyPr anchorCtr="0" anchor="ctr" bIns="43225" lIns="86475" spcFirstLastPara="1" rIns="86475" wrap="square" tIns="43225">
            <a:noAutofit/>
          </a:bodyPr>
          <a:lstStyle/>
          <a:p>
            <a:pPr indent="0" lvl="0" marL="0" marR="0" rtl="0" algn="l">
              <a:spcBef>
                <a:spcPts val="0"/>
              </a:spcBef>
              <a:spcAft>
                <a:spcPts val="0"/>
              </a:spcAft>
              <a:buNone/>
            </a:pPr>
            <a:r>
              <a:rPr b="1" lang="en-US" sz="1700">
                <a:solidFill>
                  <a:schemeClr val="dk1"/>
                </a:solidFill>
                <a:latin typeface="Arial"/>
                <a:ea typeface="Arial"/>
                <a:cs typeface="Arial"/>
                <a:sym typeface="Arial"/>
              </a:rPr>
              <a:t>LEARNING</a:t>
            </a:r>
            <a:endParaRPr/>
          </a:p>
          <a:p>
            <a:pPr indent="0" lvl="0" marL="0" marR="0" rtl="0" algn="l">
              <a:spcBef>
                <a:spcPts val="0"/>
              </a:spcBef>
              <a:spcAft>
                <a:spcPts val="0"/>
              </a:spcAft>
              <a:buNone/>
            </a:pPr>
            <a:r>
              <a:rPr b="1" lang="en-US" sz="1700">
                <a:solidFill>
                  <a:schemeClr val="dk1"/>
                </a:solidFill>
                <a:latin typeface="Arial"/>
                <a:ea typeface="Arial"/>
                <a:cs typeface="Arial"/>
                <a:sym typeface="Arial"/>
              </a:rPr>
              <a:t>OBJECTIVE</a:t>
            </a:r>
            <a:endParaRPr/>
          </a:p>
        </p:txBody>
      </p:sp>
      <p:sp>
        <p:nvSpPr>
          <p:cNvPr id="1040" name="Google Shape;1040;p86"/>
          <p:cNvSpPr/>
          <p:nvPr/>
        </p:nvSpPr>
        <p:spPr>
          <a:xfrm>
            <a:off x="2540000" y="274320"/>
            <a:ext cx="6241143" cy="928688"/>
          </a:xfrm>
          <a:prstGeom prst="rect">
            <a:avLst/>
          </a:prstGeom>
          <a:solidFill>
            <a:srgbClr val="0027A4"/>
          </a:solidFill>
          <a:ln>
            <a:noFill/>
          </a:ln>
        </p:spPr>
        <p:txBody>
          <a:bodyPr anchorCtr="0" anchor="ctr" bIns="43225" lIns="86475" spcFirstLastPara="1" rIns="86475" wrap="square" tIns="34575">
            <a:noAutofit/>
          </a:bodyPr>
          <a:lstStyle/>
          <a:p>
            <a:pPr indent="0" lvl="0" marL="53975" marR="0" rtl="0" algn="l">
              <a:spcBef>
                <a:spcPts val="0"/>
              </a:spcBef>
              <a:spcAft>
                <a:spcPts val="0"/>
              </a:spcAft>
              <a:buNone/>
            </a:pPr>
            <a:r>
              <a:rPr b="1" lang="en-US" sz="2100">
                <a:solidFill>
                  <a:schemeClr val="lt1"/>
                </a:solidFill>
                <a:latin typeface="Arial"/>
                <a:ea typeface="Arial"/>
                <a:cs typeface="Arial"/>
                <a:sym typeface="Arial"/>
              </a:rPr>
              <a:t>APPENDIX 22A: Explain the difference between absorption costing and variable costing.</a:t>
            </a:r>
            <a:endParaRPr b="1" sz="2100">
              <a:solidFill>
                <a:schemeClr val="lt1"/>
              </a:solidFill>
              <a:latin typeface="Arial"/>
              <a:ea typeface="Arial"/>
              <a:cs typeface="Arial"/>
              <a:sym typeface="Arial"/>
            </a:endParaRPr>
          </a:p>
        </p:txBody>
      </p:sp>
      <p:sp>
        <p:nvSpPr>
          <p:cNvPr id="1041" name="Google Shape;1041;p86"/>
          <p:cNvSpPr/>
          <p:nvPr/>
        </p:nvSpPr>
        <p:spPr>
          <a:xfrm>
            <a:off x="1872343" y="485775"/>
            <a:ext cx="522514" cy="514350"/>
          </a:xfrm>
          <a:prstGeom prst="ellipse">
            <a:avLst/>
          </a:prstGeom>
          <a:solidFill>
            <a:srgbClr val="FF0000"/>
          </a:solidFill>
          <a:ln>
            <a:noFill/>
          </a:ln>
        </p:spPr>
        <p:txBody>
          <a:bodyPr anchorCtr="0" anchor="ctr" bIns="43225" lIns="86475" spcFirstLastPara="1" rIns="86475" wrap="square" tIns="0">
            <a:noAutofit/>
          </a:bodyPr>
          <a:lstStyle/>
          <a:p>
            <a:pPr indent="0" lvl="0" marL="0" marR="0" rtl="0" algn="ctr">
              <a:spcBef>
                <a:spcPts val="0"/>
              </a:spcBef>
              <a:spcAft>
                <a:spcPts val="0"/>
              </a:spcAft>
              <a:buNone/>
            </a:pPr>
            <a:r>
              <a:rPr b="1" lang="en-US" sz="2700">
                <a:solidFill>
                  <a:schemeClr val="lt1"/>
                </a:solidFill>
                <a:latin typeface="Arial"/>
                <a:ea typeface="Arial"/>
                <a:cs typeface="Arial"/>
                <a:sym typeface="Arial"/>
              </a:rPr>
              <a:t>7</a:t>
            </a:r>
            <a:endParaRPr b="1" sz="2700">
              <a:solidFill>
                <a:schemeClr val="lt1"/>
              </a:solidFill>
              <a:latin typeface="Arial"/>
              <a:ea typeface="Arial"/>
              <a:cs typeface="Arial"/>
              <a:sym typeface="Arial"/>
            </a:endParaRPr>
          </a:p>
        </p:txBody>
      </p:sp>
      <p:pic>
        <p:nvPicPr>
          <p:cNvPr id="1042" name="Google Shape;1042;p86"/>
          <p:cNvPicPr preferRelativeResize="0"/>
          <p:nvPr/>
        </p:nvPicPr>
        <p:blipFill rotWithShape="1">
          <a:blip r:embed="rId3">
            <a:alphaModFix/>
          </a:blip>
          <a:srcRect b="0" l="0" r="0" t="0"/>
          <a:stretch/>
        </p:blipFill>
        <p:spPr>
          <a:xfrm>
            <a:off x="381000" y="3482117"/>
            <a:ext cx="8400143" cy="1680029"/>
          </a:xfrm>
          <a:prstGeom prst="rect">
            <a:avLst/>
          </a:prstGeom>
          <a:noFill/>
          <a:ln cap="flat" cmpd="sng" w="9525">
            <a:solidFill>
              <a:schemeClr val="dk1"/>
            </a:solidFill>
            <a:prstDash val="solid"/>
            <a:miter lim="800000"/>
            <a:headEnd len="sm" w="sm" type="none"/>
            <a:tailEnd len="sm" w="sm" type="none"/>
          </a:ln>
        </p:spPr>
      </p:pic>
    </p:spTree>
  </p:cSld>
  <p:clrMapOvr>
    <a:masterClrMapping/>
  </p:clrMapOvr>
  <p:transition>
    <p:wipe dir="r"/>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87"/>
          <p:cNvSpPr txBox="1"/>
          <p:nvPr>
            <p:ph idx="1" type="body"/>
          </p:nvPr>
        </p:nvSpPr>
        <p:spPr>
          <a:xfrm>
            <a:off x="609600" y="1295400"/>
            <a:ext cx="8077200" cy="1600200"/>
          </a:xfrm>
          <a:prstGeom prst="rect">
            <a:avLst/>
          </a:prstGeom>
          <a:solidFill>
            <a:schemeClr val="lt1"/>
          </a:solidFill>
          <a:ln>
            <a:noFill/>
          </a:ln>
        </p:spPr>
        <p:txBody>
          <a:bodyPr anchorCtr="0" anchor="t" bIns="46025" lIns="91425" spcFirstLastPara="1" rIns="182550" wrap="square" tIns="46025">
            <a:noAutofit/>
          </a:bodyPr>
          <a:lstStyle/>
          <a:p>
            <a:pPr indent="0" lvl="0" marL="0" rtl="0" algn="l">
              <a:lnSpc>
                <a:spcPct val="125000"/>
              </a:lnSpc>
              <a:spcBef>
                <a:spcPts val="0"/>
              </a:spcBef>
              <a:spcAft>
                <a:spcPts val="0"/>
              </a:spcAft>
              <a:buSzPts val="1650"/>
              <a:buFont typeface="Noto Sans Symbols"/>
              <a:buNone/>
            </a:pPr>
            <a:r>
              <a:rPr lang="en-US" sz="2200">
                <a:solidFill>
                  <a:schemeClr val="dk1"/>
                </a:solidFill>
                <a:latin typeface="Arial"/>
                <a:ea typeface="Arial"/>
                <a:cs typeface="Arial"/>
                <a:sym typeface="Arial"/>
              </a:rPr>
              <a:t>Illustration:  </a:t>
            </a:r>
            <a:r>
              <a:rPr b="0" lang="en-US" sz="2200">
                <a:solidFill>
                  <a:schemeClr val="dk1"/>
                </a:solidFill>
                <a:latin typeface="Arial"/>
                <a:ea typeface="Arial"/>
                <a:cs typeface="Arial"/>
                <a:sym typeface="Arial"/>
              </a:rPr>
              <a:t>Assume that Premium Products Corporation manufactures a polyurethane sealant, called Fix-It, for car windshields.  Relevant data for Fix-It in January 2017, the first month of production, are as follows.</a:t>
            </a:r>
            <a:endParaRPr/>
          </a:p>
        </p:txBody>
      </p:sp>
      <p:pic>
        <p:nvPicPr>
          <p:cNvPr id="1048" name="Google Shape;1048;p87"/>
          <p:cNvPicPr preferRelativeResize="0"/>
          <p:nvPr/>
        </p:nvPicPr>
        <p:blipFill rotWithShape="1">
          <a:blip r:embed="rId3">
            <a:alphaModFix/>
          </a:blip>
          <a:srcRect b="0" l="0" r="0" t="0"/>
          <a:stretch/>
        </p:blipFill>
        <p:spPr>
          <a:xfrm>
            <a:off x="533400" y="3352800"/>
            <a:ext cx="8181975" cy="1828800"/>
          </a:xfrm>
          <a:prstGeom prst="rect">
            <a:avLst/>
          </a:prstGeom>
          <a:noFill/>
          <a:ln cap="sq" cmpd="sng" w="12700">
            <a:solidFill>
              <a:schemeClr val="dk1"/>
            </a:solidFill>
            <a:prstDash val="solid"/>
            <a:miter lim="800000"/>
            <a:headEnd len="sm" w="sm" type="none"/>
            <a:tailEnd len="sm" w="sm" type="none"/>
          </a:ln>
        </p:spPr>
      </p:pic>
      <p:cxnSp>
        <p:nvCxnSpPr>
          <p:cNvPr id="1049" name="Google Shape;1049;p87"/>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50" name="Google Shape;1050;p87"/>
          <p:cNvSpPr/>
          <p:nvPr/>
        </p:nvSpPr>
        <p:spPr>
          <a:xfrm>
            <a:off x="6096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 Revisited</a:t>
            </a:r>
            <a:endParaRPr b="1" sz="3200">
              <a:solidFill>
                <a:srgbClr val="0000BF"/>
              </a:solidFill>
              <a:latin typeface="Arial"/>
              <a:ea typeface="Arial"/>
              <a:cs typeface="Arial"/>
              <a:sym typeface="Arial"/>
            </a:endParaRPr>
          </a:p>
        </p:txBody>
      </p:sp>
      <p:sp>
        <p:nvSpPr>
          <p:cNvPr id="1051" name="Google Shape;1051;p87"/>
          <p:cNvSpPr/>
          <p:nvPr/>
        </p:nvSpPr>
        <p:spPr>
          <a:xfrm>
            <a:off x="484496" y="5249840"/>
            <a:ext cx="457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22A-2</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Sealant sales and cost data for</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Premium Products Corporation</a:t>
            </a:r>
            <a:endParaRPr/>
          </a:p>
        </p:txBody>
      </p:sp>
      <p:sp>
        <p:nvSpPr>
          <p:cNvPr id="1052" name="Google Shape;1052;p87"/>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8"/>
          <p:cNvSpPr/>
          <p:nvPr/>
        </p:nvSpPr>
        <p:spPr>
          <a:xfrm>
            <a:off x="609600" y="4800600"/>
            <a:ext cx="8382000" cy="1143000"/>
          </a:xfrm>
          <a:prstGeom prst="rect">
            <a:avLst/>
          </a:prstGeom>
          <a:noFill/>
          <a:ln>
            <a:noFill/>
          </a:ln>
        </p:spPr>
        <p:txBody>
          <a:bodyPr anchorCtr="0" anchor="t" bIns="46025" lIns="91425" spcFirstLastPara="1" rIns="182550" wrap="square" tIns="46025">
            <a:noAutofit/>
          </a:bodyPr>
          <a:lstStyle/>
          <a:p>
            <a:pPr indent="0" lvl="0" marL="0" marR="0" rtl="0" algn="l">
              <a:lnSpc>
                <a:spcPct val="110000"/>
              </a:lnSpc>
              <a:spcBef>
                <a:spcPts val="0"/>
              </a:spcBef>
              <a:spcAft>
                <a:spcPts val="0"/>
              </a:spcAft>
              <a:buClr>
                <a:schemeClr val="accent2"/>
              </a:buClr>
              <a:buSzPts val="1500"/>
              <a:buFont typeface="Noto Sans Symbols"/>
              <a:buNone/>
            </a:pPr>
            <a:r>
              <a:rPr lang="en-US" sz="2000">
                <a:solidFill>
                  <a:schemeClr val="lt2"/>
                </a:solidFill>
                <a:latin typeface="Arial"/>
                <a:ea typeface="Arial"/>
                <a:cs typeface="Arial"/>
                <a:sym typeface="Arial"/>
              </a:rPr>
              <a:t>Based on these data, each unit sold and each unit remaining in inventory is costed under absorption costing at $13 and under variable costing at $9.</a:t>
            </a:r>
            <a:endParaRPr sz="2000">
              <a:solidFill>
                <a:schemeClr val="lt2"/>
              </a:solidFill>
              <a:latin typeface="Arial"/>
              <a:ea typeface="Arial"/>
              <a:cs typeface="Arial"/>
              <a:sym typeface="Arial"/>
            </a:endParaRPr>
          </a:p>
        </p:txBody>
      </p:sp>
      <p:sp>
        <p:nvSpPr>
          <p:cNvPr id="1058" name="Google Shape;1058;p88"/>
          <p:cNvSpPr txBox="1"/>
          <p:nvPr>
            <p:ph idx="1" type="body"/>
          </p:nvPr>
        </p:nvSpPr>
        <p:spPr>
          <a:xfrm>
            <a:off x="609600" y="1295400"/>
            <a:ext cx="6019800" cy="914400"/>
          </a:xfrm>
          <a:prstGeom prst="rect">
            <a:avLst/>
          </a:prstGeom>
          <a:solidFill>
            <a:schemeClr val="lt1"/>
          </a:solidFill>
          <a:ln>
            <a:noFill/>
          </a:ln>
        </p:spPr>
        <p:txBody>
          <a:bodyPr anchorCtr="0" anchor="t" bIns="46025" lIns="91425" spcFirstLastPara="1" rIns="182550" wrap="square" tIns="46025">
            <a:noAutofit/>
          </a:bodyPr>
          <a:lstStyle/>
          <a:p>
            <a:pPr indent="0" lvl="0" marL="0" rtl="0" algn="l">
              <a:lnSpc>
                <a:spcPct val="125000"/>
              </a:lnSpc>
              <a:spcBef>
                <a:spcPts val="0"/>
              </a:spcBef>
              <a:spcAft>
                <a:spcPts val="0"/>
              </a:spcAft>
              <a:buSzPts val="1650"/>
              <a:buFont typeface="Noto Sans Symbols"/>
              <a:buNone/>
            </a:pPr>
            <a:r>
              <a:rPr lang="en-US" sz="2200">
                <a:solidFill>
                  <a:schemeClr val="dk1"/>
                </a:solidFill>
                <a:latin typeface="Arial"/>
                <a:ea typeface="Arial"/>
                <a:cs typeface="Arial"/>
                <a:sym typeface="Arial"/>
              </a:rPr>
              <a:t>Illustration:  </a:t>
            </a:r>
            <a:r>
              <a:rPr b="0" lang="en-US" sz="2000">
                <a:solidFill>
                  <a:schemeClr val="dk1"/>
                </a:solidFill>
                <a:latin typeface="Arial"/>
                <a:ea typeface="Arial"/>
                <a:cs typeface="Arial"/>
                <a:sym typeface="Arial"/>
              </a:rPr>
              <a:t>The per unit production cost of Fix-It under each costing approach is:</a:t>
            </a:r>
            <a:endParaRPr/>
          </a:p>
        </p:txBody>
      </p:sp>
      <p:sp>
        <p:nvSpPr>
          <p:cNvPr id="1059" name="Google Shape;1059;p88"/>
          <p:cNvSpPr txBox="1"/>
          <p:nvPr/>
        </p:nvSpPr>
        <p:spPr>
          <a:xfrm>
            <a:off x="5867400" y="3398838"/>
            <a:ext cx="304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800000"/>
                </a:solidFill>
                <a:latin typeface="Arial"/>
                <a:ea typeface="Arial"/>
                <a:cs typeface="Arial"/>
                <a:sym typeface="Arial"/>
              </a:rPr>
              <a:t>*</a:t>
            </a:r>
            <a:endParaRPr b="1" sz="1800">
              <a:solidFill>
                <a:schemeClr val="dk1"/>
              </a:solidFill>
              <a:latin typeface="Arial"/>
              <a:ea typeface="Arial"/>
              <a:cs typeface="Arial"/>
              <a:sym typeface="Arial"/>
            </a:endParaRPr>
          </a:p>
        </p:txBody>
      </p:sp>
      <p:pic>
        <p:nvPicPr>
          <p:cNvPr id="1060" name="Google Shape;1060;p88"/>
          <p:cNvPicPr preferRelativeResize="0"/>
          <p:nvPr/>
        </p:nvPicPr>
        <p:blipFill rotWithShape="1">
          <a:blip r:embed="rId3">
            <a:alphaModFix/>
          </a:blip>
          <a:srcRect b="0" l="0" r="0" t="0"/>
          <a:stretch/>
        </p:blipFill>
        <p:spPr>
          <a:xfrm>
            <a:off x="457200" y="2435225"/>
            <a:ext cx="8305800" cy="2136775"/>
          </a:xfrm>
          <a:prstGeom prst="rect">
            <a:avLst/>
          </a:prstGeom>
          <a:noFill/>
          <a:ln cap="sq" cmpd="sng" w="12700">
            <a:solidFill>
              <a:schemeClr val="dk1"/>
            </a:solidFill>
            <a:prstDash val="solid"/>
            <a:miter lim="800000"/>
            <a:headEnd len="sm" w="sm" type="none"/>
            <a:tailEnd len="sm" w="sm" type="none"/>
          </a:ln>
        </p:spPr>
      </p:pic>
      <p:cxnSp>
        <p:nvCxnSpPr>
          <p:cNvPr id="1061" name="Google Shape;1061;p88"/>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62" name="Google Shape;1062;p88"/>
          <p:cNvSpPr/>
          <p:nvPr/>
        </p:nvSpPr>
        <p:spPr>
          <a:xfrm>
            <a:off x="6096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CVP Income Statement Revisited</a:t>
            </a:r>
            <a:endParaRPr b="1" sz="3200">
              <a:solidFill>
                <a:srgbClr val="0000BF"/>
              </a:solidFill>
              <a:latin typeface="Arial"/>
              <a:ea typeface="Arial"/>
              <a:cs typeface="Arial"/>
              <a:sym typeface="Arial"/>
            </a:endParaRPr>
          </a:p>
        </p:txBody>
      </p:sp>
      <p:sp>
        <p:nvSpPr>
          <p:cNvPr id="1063" name="Google Shape;1063;p88"/>
          <p:cNvSpPr/>
          <p:nvPr/>
        </p:nvSpPr>
        <p:spPr>
          <a:xfrm>
            <a:off x="7048500" y="1715869"/>
            <a:ext cx="17907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Computation of per unit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manufacturing cost</a:t>
            </a:r>
            <a:endParaRPr/>
          </a:p>
        </p:txBody>
      </p:sp>
      <p:sp>
        <p:nvSpPr>
          <p:cNvPr id="1064" name="Google Shape;1064;p88"/>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500"/>
                                        <p:tgtEl>
                                          <p:spTgt spid="10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89"/>
          <p:cNvSpPr/>
          <p:nvPr/>
        </p:nvSpPr>
        <p:spPr>
          <a:xfrm>
            <a:off x="340056" y="5320352"/>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Absorption costing income statement</a:t>
            </a:r>
            <a:endParaRPr/>
          </a:p>
        </p:txBody>
      </p:sp>
      <p:pic>
        <p:nvPicPr>
          <p:cNvPr id="1070" name="Google Shape;1070;p89"/>
          <p:cNvPicPr preferRelativeResize="0"/>
          <p:nvPr/>
        </p:nvPicPr>
        <p:blipFill rotWithShape="1">
          <a:blip r:embed="rId3">
            <a:alphaModFix/>
          </a:blip>
          <a:srcRect b="0" l="0" r="0" t="0"/>
          <a:stretch/>
        </p:blipFill>
        <p:spPr>
          <a:xfrm>
            <a:off x="408296" y="462547"/>
            <a:ext cx="8305800" cy="4795253"/>
          </a:xfrm>
          <a:prstGeom prst="rect">
            <a:avLst/>
          </a:prstGeom>
          <a:noFill/>
          <a:ln cap="sq" cmpd="sng" w="12700">
            <a:solidFill>
              <a:schemeClr val="dk1"/>
            </a:solidFill>
            <a:prstDash val="solid"/>
            <a:miter lim="800000"/>
            <a:headEnd len="sm" w="sm" type="none"/>
            <a:tailEnd len="sm" w="sm" type="none"/>
          </a:ln>
        </p:spPr>
      </p:pic>
      <p:sp>
        <p:nvSpPr>
          <p:cNvPr id="1071" name="Google Shape;1071;p89"/>
          <p:cNvSpPr/>
          <p:nvPr/>
        </p:nvSpPr>
        <p:spPr>
          <a:xfrm>
            <a:off x="2743200" y="5446693"/>
            <a:ext cx="457200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2346"/>
                </a:solidFill>
                <a:latin typeface="Arial"/>
                <a:ea typeface="Arial"/>
                <a:cs typeface="Arial"/>
                <a:sym typeface="Arial"/>
              </a:rPr>
              <a:t>Helpful Hint</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The income statement format in Illustration 22A-4</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is the same as that used under generally accepted</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accounting principles.</a:t>
            </a:r>
            <a:endParaRPr/>
          </a:p>
        </p:txBody>
      </p:sp>
      <p:sp>
        <p:nvSpPr>
          <p:cNvPr id="1072" name="Google Shape;1072;p89"/>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pic>
        <p:nvPicPr>
          <p:cNvPr id="1077" name="Google Shape;1077;p90"/>
          <p:cNvPicPr preferRelativeResize="0"/>
          <p:nvPr/>
        </p:nvPicPr>
        <p:blipFill rotWithShape="1">
          <a:blip r:embed="rId3">
            <a:alphaModFix/>
          </a:blip>
          <a:srcRect b="0" l="0" r="0" t="0"/>
          <a:stretch/>
        </p:blipFill>
        <p:spPr>
          <a:xfrm>
            <a:off x="408298" y="457200"/>
            <a:ext cx="8305800" cy="5299166"/>
          </a:xfrm>
          <a:prstGeom prst="rect">
            <a:avLst/>
          </a:prstGeom>
          <a:noFill/>
          <a:ln cap="sq" cmpd="sng" w="12700">
            <a:solidFill>
              <a:schemeClr val="dk1"/>
            </a:solidFill>
            <a:prstDash val="solid"/>
            <a:miter lim="800000"/>
            <a:headEnd len="sm" w="sm" type="none"/>
            <a:tailEnd len="sm" w="sm" type="none"/>
          </a:ln>
        </p:spPr>
      </p:pic>
      <p:sp>
        <p:nvSpPr>
          <p:cNvPr id="1078" name="Google Shape;1078;p90"/>
          <p:cNvSpPr/>
          <p:nvPr/>
        </p:nvSpPr>
        <p:spPr>
          <a:xfrm>
            <a:off x="365080" y="5823590"/>
            <a:ext cx="1676400" cy="6397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22A-5</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Variable costing income statement</a:t>
            </a:r>
            <a:endParaRPr/>
          </a:p>
        </p:txBody>
      </p:sp>
      <p:sp>
        <p:nvSpPr>
          <p:cNvPr id="1079" name="Google Shape;1079;p90"/>
          <p:cNvSpPr/>
          <p:nvPr/>
        </p:nvSpPr>
        <p:spPr>
          <a:xfrm>
            <a:off x="2438400" y="5867400"/>
            <a:ext cx="51054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2346"/>
                </a:solidFill>
                <a:latin typeface="Arial"/>
                <a:ea typeface="Arial"/>
                <a:cs typeface="Arial"/>
                <a:sym typeface="Arial"/>
              </a:rPr>
              <a:t>Helpful Hint</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Note the difference in the computation of the ending inventory: $9 per unit here, $13 per unit in Illustration 22A-4.</a:t>
            </a:r>
            <a:endParaRPr/>
          </a:p>
        </p:txBody>
      </p:sp>
      <p:sp>
        <p:nvSpPr>
          <p:cNvPr id="1080" name="Google Shape;1080;p90"/>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pic>
        <p:nvPicPr>
          <p:cNvPr id="1085" name="Google Shape;1085;p91"/>
          <p:cNvPicPr preferRelativeResize="0"/>
          <p:nvPr/>
        </p:nvPicPr>
        <p:blipFill rotWithShape="1">
          <a:blip r:embed="rId3">
            <a:alphaModFix/>
          </a:blip>
          <a:srcRect b="0" l="0" r="0" t="0"/>
          <a:stretch/>
        </p:blipFill>
        <p:spPr>
          <a:xfrm>
            <a:off x="304800" y="1371600"/>
            <a:ext cx="8534400" cy="4504858"/>
          </a:xfrm>
          <a:prstGeom prst="rect">
            <a:avLst/>
          </a:prstGeom>
          <a:noFill/>
          <a:ln>
            <a:noFill/>
          </a:ln>
        </p:spPr>
      </p:pic>
      <p:cxnSp>
        <p:nvCxnSpPr>
          <p:cNvPr id="1086" name="Google Shape;1086;p91"/>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87" name="Google Shape;1087;p91"/>
          <p:cNvSpPr/>
          <p:nvPr/>
        </p:nvSpPr>
        <p:spPr>
          <a:xfrm>
            <a:off x="6096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chemeClr val="dk1"/>
                </a:solidFill>
                <a:latin typeface="Arial"/>
                <a:ea typeface="Arial"/>
                <a:cs typeface="Arial"/>
                <a:sym typeface="Arial"/>
              </a:rPr>
              <a:t>Absorption and Variable Costing</a:t>
            </a:r>
            <a:endParaRPr b="1" sz="3200">
              <a:solidFill>
                <a:schemeClr val="dk1"/>
              </a:solidFill>
              <a:latin typeface="Arial"/>
              <a:ea typeface="Arial"/>
              <a:cs typeface="Arial"/>
              <a:sym typeface="Arial"/>
            </a:endParaRPr>
          </a:p>
        </p:txBody>
      </p:sp>
      <p:sp>
        <p:nvSpPr>
          <p:cNvPr id="1088" name="Google Shape;1088;p91"/>
          <p:cNvSpPr/>
          <p:nvPr/>
        </p:nvSpPr>
        <p:spPr>
          <a:xfrm>
            <a:off x="762000" y="5896968"/>
            <a:ext cx="3543300" cy="646331"/>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Illustration 22A-6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Summary of income effects under absorption costing and variable costing</a:t>
            </a:r>
            <a:endParaRPr/>
          </a:p>
        </p:txBody>
      </p:sp>
      <p:sp>
        <p:nvSpPr>
          <p:cNvPr id="1089" name="Google Shape;1089;p91"/>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92"/>
          <p:cNvSpPr/>
          <p:nvPr/>
        </p:nvSpPr>
        <p:spPr>
          <a:xfrm>
            <a:off x="762000" y="1295400"/>
            <a:ext cx="7543800" cy="248375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rgbClr val="800000"/>
              </a:buClr>
              <a:buSzPts val="1680"/>
              <a:buFont typeface="Noto Sans Symbols"/>
              <a:buChar char="◆"/>
            </a:pPr>
            <a:r>
              <a:rPr lang="en-US" sz="2100">
                <a:solidFill>
                  <a:schemeClr val="dk1"/>
                </a:solidFill>
                <a:latin typeface="Arial"/>
                <a:ea typeface="Arial"/>
                <a:cs typeface="Arial"/>
                <a:sym typeface="Arial"/>
              </a:rPr>
              <a:t>The purpose of fixed manufacturing costs is </a:t>
            </a:r>
            <a:r>
              <a:rPr b="1" lang="en-US" sz="2100">
                <a:solidFill>
                  <a:schemeClr val="dk1"/>
                </a:solidFill>
                <a:latin typeface="Arial"/>
                <a:ea typeface="Arial"/>
                <a:cs typeface="Arial"/>
                <a:sym typeface="Arial"/>
              </a:rPr>
              <a:t>to have productive facilities available for use.</a:t>
            </a:r>
            <a:endParaRPr/>
          </a:p>
          <a:p>
            <a:pPr indent="-457200" lvl="0" marL="457200" marR="0" rtl="0" algn="l">
              <a:lnSpc>
                <a:spcPct val="120000"/>
              </a:lnSpc>
              <a:spcBef>
                <a:spcPts val="1470"/>
              </a:spcBef>
              <a:spcAft>
                <a:spcPts val="0"/>
              </a:spcAft>
              <a:buClr>
                <a:srgbClr val="800000"/>
              </a:buClr>
              <a:buSzPts val="1680"/>
              <a:buFont typeface="Noto Sans Symbols"/>
              <a:buChar char="◆"/>
            </a:pPr>
            <a:r>
              <a:rPr lang="en-US" sz="2100">
                <a:solidFill>
                  <a:schemeClr val="dk1"/>
                </a:solidFill>
                <a:latin typeface="Arial"/>
                <a:ea typeface="Arial"/>
                <a:cs typeface="Arial"/>
                <a:sym typeface="Arial"/>
              </a:rPr>
              <a:t>The use of variable costing is acceptable</a:t>
            </a:r>
            <a:r>
              <a:rPr b="1" lang="en-US" sz="2100">
                <a:solidFill>
                  <a:schemeClr val="dk1"/>
                </a:solidFill>
                <a:latin typeface="Arial"/>
                <a:ea typeface="Arial"/>
                <a:cs typeface="Arial"/>
                <a:sym typeface="Arial"/>
              </a:rPr>
              <a:t> only for internal use by management.</a:t>
            </a:r>
            <a:endParaRPr/>
          </a:p>
          <a:p>
            <a:pPr indent="-457200" lvl="0" marL="457200" marR="0" rtl="0" algn="l">
              <a:lnSpc>
                <a:spcPct val="120000"/>
              </a:lnSpc>
              <a:spcBef>
                <a:spcPts val="1470"/>
              </a:spcBef>
              <a:spcAft>
                <a:spcPts val="0"/>
              </a:spcAft>
              <a:buNone/>
            </a:pPr>
            <a:r>
              <a:t/>
            </a:r>
            <a:endParaRPr b="1" sz="2100">
              <a:solidFill>
                <a:schemeClr val="dk1"/>
              </a:solidFill>
              <a:latin typeface="Arial"/>
              <a:ea typeface="Arial"/>
              <a:cs typeface="Arial"/>
              <a:sym typeface="Arial"/>
            </a:endParaRPr>
          </a:p>
        </p:txBody>
      </p:sp>
      <p:cxnSp>
        <p:nvCxnSpPr>
          <p:cNvPr id="1095" name="Google Shape;1095;p92"/>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096" name="Google Shape;1096;p92"/>
          <p:cNvSpPr/>
          <p:nvPr/>
        </p:nvSpPr>
        <p:spPr>
          <a:xfrm>
            <a:off x="609600" y="304800"/>
            <a:ext cx="83058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Rationale for Variable Costing</a:t>
            </a:r>
            <a:endParaRPr/>
          </a:p>
        </p:txBody>
      </p:sp>
      <p:sp>
        <p:nvSpPr>
          <p:cNvPr id="1097" name="Google Shape;1097;p92"/>
          <p:cNvSpPr txBox="1"/>
          <p:nvPr/>
        </p:nvSpPr>
        <p:spPr>
          <a:xfrm>
            <a:off x="8077200" y="6369050"/>
            <a:ext cx="914400" cy="336550"/>
          </a:xfrm>
          <a:prstGeom prst="rect">
            <a:avLst/>
          </a:prstGeom>
          <a:noFill/>
          <a:ln>
            <a:noFill/>
          </a:ln>
        </p:spPr>
        <p:txBody>
          <a:bodyPr anchorCtr="0" anchor="t" bIns="45700" lIns="91425" spcFirstLastPara="1" rIns="91425" wrap="square" tIns="45700">
            <a:spAutoFit/>
          </a:bodyPr>
          <a:lstStyle/>
          <a:p>
            <a:pPr indent="-457200" lvl="0" marL="457200" marR="0" rtl="0" algn="r">
              <a:spcBef>
                <a:spcPts val="0"/>
              </a:spcBef>
              <a:spcAft>
                <a:spcPts val="0"/>
              </a:spcAft>
              <a:buNone/>
            </a:pPr>
            <a:r>
              <a:rPr b="1" i="1" lang="en-US" sz="1600">
                <a:solidFill>
                  <a:schemeClr val="dk1"/>
                </a:solidFill>
                <a:latin typeface="Arial"/>
                <a:ea typeface="Arial"/>
                <a:cs typeface="Arial"/>
                <a:sym typeface="Arial"/>
              </a:rPr>
              <a:t>LO 7</a:t>
            </a:r>
            <a:endParaRPr b="1" i="1" sz="1600">
              <a:solidFill>
                <a:schemeClr val="dk1"/>
              </a:solidFill>
              <a:latin typeface="Arial"/>
              <a:ea typeface="Arial"/>
              <a:cs typeface="Arial"/>
              <a:sym typeface="Arial"/>
            </a:endParaRPr>
          </a:p>
        </p:txBody>
      </p:sp>
    </p:spTree>
  </p:cSld>
  <p:clrMapOvr>
    <a:masterClrMapping/>
  </p:clrMapOvr>
  <p:transition>
    <p:wipe dir="r"/>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93"/>
          <p:cNvSpPr/>
          <p:nvPr/>
        </p:nvSpPr>
        <p:spPr>
          <a:xfrm>
            <a:off x="609600" y="1371600"/>
            <a:ext cx="8153400" cy="4060825"/>
          </a:xfrm>
          <a:prstGeom prst="rect">
            <a:avLst/>
          </a:prstGeom>
          <a:noFill/>
          <a:ln>
            <a:noFill/>
          </a:ln>
        </p:spPr>
        <p:txBody>
          <a:bodyPr anchorCtr="0" anchor="t" bIns="46025" lIns="92075" spcFirstLastPara="1" rIns="92075" wrap="square" tIns="46025">
            <a:spAutoFit/>
          </a:bodyPr>
          <a:lstStyle/>
          <a:p>
            <a:pPr indent="0" lvl="0" marL="0" marR="0" rtl="0" algn="l">
              <a:lnSpc>
                <a:spcPct val="130000"/>
              </a:lnSpc>
              <a:spcBef>
                <a:spcPts val="0"/>
              </a:spcBef>
              <a:spcAft>
                <a:spcPts val="0"/>
              </a:spcAft>
              <a:buNone/>
            </a:pPr>
            <a:r>
              <a:rPr lang="en-US" sz="2000">
                <a:solidFill>
                  <a:schemeClr val="dk1"/>
                </a:solidFill>
                <a:latin typeface="Arial"/>
                <a:ea typeface="Arial"/>
                <a:cs typeface="Arial"/>
                <a:sym typeface="Arial"/>
              </a:rPr>
              <a:t>“Copyright © 2015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endParaRPr/>
          </a:p>
        </p:txBody>
      </p:sp>
      <p:cxnSp>
        <p:nvCxnSpPr>
          <p:cNvPr id="1103" name="Google Shape;1103;p93"/>
          <p:cNvCxnSpPr/>
          <p:nvPr/>
        </p:nvCxnSpPr>
        <p:spPr>
          <a:xfrm>
            <a:off x="304800" y="990600"/>
            <a:ext cx="8534400" cy="0"/>
          </a:xfrm>
          <a:prstGeom prst="straightConnector1">
            <a:avLst/>
          </a:prstGeom>
          <a:noFill/>
          <a:ln cap="sq" cmpd="sng" w="57150">
            <a:solidFill>
              <a:schemeClr val="dk1"/>
            </a:solidFill>
            <a:prstDash val="solid"/>
            <a:round/>
            <a:headEnd len="sm" w="sm" type="none"/>
            <a:tailEnd len="sm" w="sm" type="none"/>
          </a:ln>
        </p:spPr>
      </p:cxnSp>
      <p:sp>
        <p:nvSpPr>
          <p:cNvPr id="1104" name="Google Shape;1104;p93"/>
          <p:cNvSpPr/>
          <p:nvPr/>
        </p:nvSpPr>
        <p:spPr>
          <a:xfrm>
            <a:off x="609600" y="304800"/>
            <a:ext cx="7772400" cy="560388"/>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200">
                <a:solidFill>
                  <a:srgbClr val="0000BF"/>
                </a:solidFill>
                <a:latin typeface="Arial"/>
                <a:ea typeface="Arial"/>
                <a:cs typeface="Arial"/>
                <a:sym typeface="Arial"/>
              </a:rPr>
              <a:t>Copyright</a:t>
            </a:r>
            <a:endParaRPr/>
          </a:p>
        </p:txBody>
      </p:sp>
    </p:spTree>
  </p:cSld>
  <p:clrMapOvr>
    <a:masterClrMapping/>
  </p:clrMapOvr>
  <p:transition>
    <p:zoom dir="in"/>
  </p:transition>
</p:sld>
</file>

<file path=ppt/theme/theme1.xml><?xml version="1.0" encoding="utf-8"?>
<a:theme xmlns:a="http://schemas.openxmlformats.org/drawingml/2006/main" xmlns:r="http://schemas.openxmlformats.org/officeDocument/2006/relationships"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1997-03-28T18:03:02Z</dcterms:created>
  <dc:creator>Dan &amp; Suzanne Ward</dc:creator>
</cp:coreProperties>
</file>