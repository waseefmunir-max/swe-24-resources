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6858000" cx="9144000"/>
  <p:notesSz cx="7004050" cy="92900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925">
          <p15:clr>
            <a:srgbClr val="000000"/>
          </p15:clr>
        </p15:guide>
        <p15:guide id="2" pos="2206">
          <p15:clr>
            <a:srgbClr val="000000"/>
          </p15:clr>
        </p15:guide>
      </p15:notesGuideLst>
    </p:ext>
    <p:ext uri="GoogleSlidesCustomDataVersion2">
      <go:slidesCustomData xmlns:go="http://customooxmlschemas.google.com/" r:id="rId66" roundtripDataSignature="AMtx7mhO1jjeOKplJ3mXldAmnZ8p8u5T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925" orient="horz"/>
        <p:guide pos="2206"/>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customschemas.google.com/relationships/presentationmetadata" Target="meta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lvl1pPr indent="-228600" lvl="0" marL="4572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1pPr>
            <a:lvl2pPr indent="-228600" lvl="1" marL="9144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2pPr>
            <a:lvl3pPr indent="-228600" lvl="2" marL="13716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3pPr>
            <a:lvl4pPr indent="-228600" lvl="3" marL="18288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4pPr>
            <a:lvl5pPr indent="-228600" lvl="4" marL="22860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4" name="Google Shape;4;n"/>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miter lim="800000"/>
            <a:headEnd len="sm" w="sm" type="none"/>
            <a:tailEnd len="sm" w="sm" type="none"/>
          </a:ln>
        </p:spPr>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p:nvPr>
            <p:ph idx="2" type="sldImg"/>
          </p:nvPr>
        </p:nvSpPr>
        <p:spPr>
          <a:xfrm>
            <a:off x="1190625" y="703263"/>
            <a:ext cx="4624388"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 name="Google Shape;48;p1:notes"/>
          <p:cNvSpPr txBox="1"/>
          <p:nvPr>
            <p:ph idx="1" type="body"/>
          </p:nvPr>
        </p:nvSpPr>
        <p:spPr>
          <a:xfrm>
            <a:off x="389114" y="4413019"/>
            <a:ext cx="6303645" cy="4179379"/>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 name="Google Shape;72;p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1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1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1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1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1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1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 name="Google Shape;222;p1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2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2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2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2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2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5: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2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2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2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2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p2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3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3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3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 name="Google Shape;377;p3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p3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3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3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3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p3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3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4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 name="Google Shape;454;p4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 name="Google Shape;467;p4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4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4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4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8" name="Google Shape;488;p4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8" name="Google Shape;498;p4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4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8" name="Google Shape;508;p4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4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8" name="Google Shape;518;p4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4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0" name="Google Shape;530;p4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2" name="Google Shape;542;p4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4" name="Google Shape;554;p4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5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 name="Google Shape;564;p5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5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4" name="Google Shape;574;p5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52: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5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5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1" name="Google Shape;591;p5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5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1" name="Google Shape;601;p5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5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5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5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5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5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3" name="Google Shape;633;p5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5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4" name="Google Shape;644;p5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5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5" name="Google Shape;655;p5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60:notes"/>
          <p:cNvSpPr/>
          <p:nvPr>
            <p:ph idx="2" type="sldImg"/>
          </p:nvPr>
        </p:nvSpPr>
        <p:spPr>
          <a:xfrm>
            <a:off x="1182688" y="698500"/>
            <a:ext cx="4638675" cy="34798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69" name="Google Shape;669;p60:notes"/>
          <p:cNvSpPr txBox="1"/>
          <p:nvPr>
            <p:ph idx="1" type="body"/>
          </p:nvPr>
        </p:nvSpPr>
        <p:spPr>
          <a:xfrm>
            <a:off x="933450" y="4413250"/>
            <a:ext cx="5137150" cy="4179888"/>
          </a:xfrm>
          <a:prstGeom prst="rect">
            <a:avLst/>
          </a:prstGeom>
          <a:noFill/>
          <a:ln>
            <a:noFill/>
          </a:ln>
        </p:spPr>
        <p:txBody>
          <a:bodyPr anchorCtr="0" anchor="t" bIns="46725" lIns="93450" spcFirstLastPara="1" rIns="93450" wrap="square" tIns="467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8" name="Shape 8"/>
        <p:cNvGrpSpPr/>
        <p:nvPr/>
      </p:nvGrpSpPr>
      <p:grpSpPr>
        <a:xfrm>
          <a:off x="0" y="0"/>
          <a:ext cx="0" cy="0"/>
          <a:chOff x="0" y="0"/>
          <a:chExt cx="0" cy="0"/>
        </a:xfrm>
      </p:grpSpPr>
      <p:sp>
        <p:nvSpPr>
          <p:cNvPr id="9" name="Google Shape;9;p62"/>
          <p:cNvSpPr txBox="1"/>
          <p:nvPr>
            <p:ph idx="1" type="body"/>
          </p:nvPr>
        </p:nvSpPr>
        <p:spPr>
          <a:xfrm>
            <a:off x="457200" y="1600200"/>
            <a:ext cx="8229600" cy="4525963"/>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 name="Shape 10"/>
        <p:cNvGrpSpPr/>
        <p:nvPr/>
      </p:nvGrpSpPr>
      <p:grpSpPr>
        <a:xfrm>
          <a:off x="0" y="0"/>
          <a:ext cx="0" cy="0"/>
          <a:chOff x="0" y="0"/>
          <a:chExt cx="0" cy="0"/>
        </a:xfrm>
      </p:grpSpPr>
      <p:sp>
        <p:nvSpPr>
          <p:cNvPr id="11" name="Google Shape;11;p63"/>
          <p:cNvSpPr txBox="1"/>
          <p:nvPr>
            <p:ph type="title"/>
          </p:nvPr>
        </p:nvSpPr>
        <p:spPr>
          <a:xfrm>
            <a:off x="1149350" y="354013"/>
            <a:ext cx="7607300" cy="560387"/>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12" name="Google Shape;12;p63"/>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 name="Shape 13"/>
        <p:cNvGrpSpPr/>
        <p:nvPr/>
      </p:nvGrpSpPr>
      <p:grpSpPr>
        <a:xfrm>
          <a:off x="0" y="0"/>
          <a:ext cx="0" cy="0"/>
          <a:chOff x="0" y="0"/>
          <a:chExt cx="0" cy="0"/>
        </a:xfrm>
      </p:grpSpPr>
      <p:sp>
        <p:nvSpPr>
          <p:cNvPr id="14" name="Google Shape;14;p64"/>
          <p:cNvSpPr txBox="1"/>
          <p:nvPr>
            <p:ph type="title"/>
          </p:nvPr>
        </p:nvSpPr>
        <p:spPr>
          <a:xfrm>
            <a:off x="1149350" y="354013"/>
            <a:ext cx="7607300" cy="560387"/>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15" name="Google Shape;15;p64"/>
          <p:cNvSpPr txBox="1"/>
          <p:nvPr>
            <p:ph idx="1" type="body"/>
          </p:nvPr>
        </p:nvSpPr>
        <p:spPr>
          <a:xfrm>
            <a:off x="381000" y="1143000"/>
            <a:ext cx="4114800" cy="4800600"/>
          </a:xfrm>
          <a:prstGeom prst="rect">
            <a:avLst/>
          </a:prstGeom>
          <a:noFill/>
          <a:ln>
            <a:noFill/>
          </a:ln>
        </p:spPr>
        <p:txBody>
          <a:bodyPr anchorCtr="0" anchor="t" bIns="46025" lIns="182550" spcFirstLastPara="1" rIns="182550" wrap="square" tIns="46025">
            <a:noAutofit/>
          </a:bodyPr>
          <a:lstStyle>
            <a:lvl1pPr indent="-361950" lvl="0" marL="457200" algn="l">
              <a:spcBef>
                <a:spcPts val="560"/>
              </a:spcBef>
              <a:spcAft>
                <a:spcPts val="0"/>
              </a:spcAft>
              <a:buSzPts val="2100"/>
              <a:buChar char="●"/>
              <a:defRPr sz="2800"/>
            </a:lvl1pPr>
            <a:lvl2pPr indent="-342900" lvl="1" marL="914400" algn="l">
              <a:spcBef>
                <a:spcPts val="480"/>
              </a:spcBef>
              <a:spcAft>
                <a:spcPts val="0"/>
              </a:spcAft>
              <a:buSzPts val="1800"/>
              <a:buChar char="●"/>
              <a:defRPr sz="2400"/>
            </a:lvl2pPr>
            <a:lvl3pPr indent="-323850" lvl="2" marL="1371600" algn="l">
              <a:spcBef>
                <a:spcPts val="400"/>
              </a:spcBef>
              <a:spcAft>
                <a:spcPts val="0"/>
              </a:spcAft>
              <a:buSzPts val="1500"/>
              <a:buChar char="●"/>
              <a:defRPr sz="2000"/>
            </a:lvl3pPr>
            <a:lvl4pPr indent="-314325" lvl="3" marL="1828800" algn="l">
              <a:spcBef>
                <a:spcPts val="360"/>
              </a:spcBef>
              <a:spcAft>
                <a:spcPts val="0"/>
              </a:spcAft>
              <a:buSzPts val="1350"/>
              <a:buChar char="●"/>
              <a:defRPr sz="1800"/>
            </a:lvl4pPr>
            <a:lvl5pPr indent="-314325" lvl="4" marL="2286000" algn="l">
              <a:spcBef>
                <a:spcPts val="360"/>
              </a:spcBef>
              <a:spcAft>
                <a:spcPts val="0"/>
              </a:spcAft>
              <a:buSzPts val="1350"/>
              <a:buChar char="●"/>
              <a:defRPr sz="1800"/>
            </a:lvl5pPr>
            <a:lvl6pPr indent="-314325" lvl="5" marL="2743200" algn="l">
              <a:spcBef>
                <a:spcPts val="360"/>
              </a:spcBef>
              <a:spcAft>
                <a:spcPts val="0"/>
              </a:spcAft>
              <a:buSzPts val="1350"/>
              <a:buChar char="●"/>
              <a:defRPr sz="1800"/>
            </a:lvl6pPr>
            <a:lvl7pPr indent="-314325" lvl="6" marL="3200400" algn="l">
              <a:spcBef>
                <a:spcPts val="360"/>
              </a:spcBef>
              <a:spcAft>
                <a:spcPts val="0"/>
              </a:spcAft>
              <a:buSzPts val="1350"/>
              <a:buChar char="●"/>
              <a:defRPr sz="1800"/>
            </a:lvl7pPr>
            <a:lvl8pPr indent="-314325" lvl="7" marL="3657600" algn="l">
              <a:spcBef>
                <a:spcPts val="360"/>
              </a:spcBef>
              <a:spcAft>
                <a:spcPts val="0"/>
              </a:spcAft>
              <a:buSzPts val="1350"/>
              <a:buChar char="●"/>
              <a:defRPr sz="1800"/>
            </a:lvl8pPr>
            <a:lvl9pPr indent="-314325" lvl="8" marL="4114800" algn="l">
              <a:spcBef>
                <a:spcPts val="360"/>
              </a:spcBef>
              <a:spcAft>
                <a:spcPts val="0"/>
              </a:spcAft>
              <a:buSzPts val="1350"/>
              <a:buChar char="●"/>
              <a:defRPr sz="1800"/>
            </a:lvl9pPr>
          </a:lstStyle>
          <a:p/>
        </p:txBody>
      </p:sp>
      <p:sp>
        <p:nvSpPr>
          <p:cNvPr id="16" name="Google Shape;16;p64"/>
          <p:cNvSpPr txBox="1"/>
          <p:nvPr>
            <p:ph idx="2" type="body"/>
          </p:nvPr>
        </p:nvSpPr>
        <p:spPr>
          <a:xfrm>
            <a:off x="4648200" y="1143000"/>
            <a:ext cx="4114800" cy="4800600"/>
          </a:xfrm>
          <a:prstGeom prst="rect">
            <a:avLst/>
          </a:prstGeom>
          <a:noFill/>
          <a:ln>
            <a:noFill/>
          </a:ln>
        </p:spPr>
        <p:txBody>
          <a:bodyPr anchorCtr="0" anchor="t" bIns="46025" lIns="182550" spcFirstLastPara="1" rIns="182550" wrap="square" tIns="46025">
            <a:noAutofit/>
          </a:bodyPr>
          <a:lstStyle>
            <a:lvl1pPr indent="-361950" lvl="0" marL="457200" algn="l">
              <a:spcBef>
                <a:spcPts val="560"/>
              </a:spcBef>
              <a:spcAft>
                <a:spcPts val="0"/>
              </a:spcAft>
              <a:buSzPts val="2100"/>
              <a:buChar char="●"/>
              <a:defRPr sz="2800"/>
            </a:lvl1pPr>
            <a:lvl2pPr indent="-342900" lvl="1" marL="914400" algn="l">
              <a:spcBef>
                <a:spcPts val="480"/>
              </a:spcBef>
              <a:spcAft>
                <a:spcPts val="0"/>
              </a:spcAft>
              <a:buSzPts val="1800"/>
              <a:buChar char="●"/>
              <a:defRPr sz="2400"/>
            </a:lvl2pPr>
            <a:lvl3pPr indent="-323850" lvl="2" marL="1371600" algn="l">
              <a:spcBef>
                <a:spcPts val="400"/>
              </a:spcBef>
              <a:spcAft>
                <a:spcPts val="0"/>
              </a:spcAft>
              <a:buSzPts val="1500"/>
              <a:buChar char="●"/>
              <a:defRPr sz="2000"/>
            </a:lvl3pPr>
            <a:lvl4pPr indent="-314325" lvl="3" marL="1828800" algn="l">
              <a:spcBef>
                <a:spcPts val="360"/>
              </a:spcBef>
              <a:spcAft>
                <a:spcPts val="0"/>
              </a:spcAft>
              <a:buSzPts val="1350"/>
              <a:buChar char="●"/>
              <a:defRPr sz="1800"/>
            </a:lvl4pPr>
            <a:lvl5pPr indent="-314325" lvl="4" marL="2286000" algn="l">
              <a:spcBef>
                <a:spcPts val="360"/>
              </a:spcBef>
              <a:spcAft>
                <a:spcPts val="0"/>
              </a:spcAft>
              <a:buSzPts val="1350"/>
              <a:buChar char="●"/>
              <a:defRPr sz="1800"/>
            </a:lvl5pPr>
            <a:lvl6pPr indent="-314325" lvl="5" marL="2743200" algn="l">
              <a:spcBef>
                <a:spcPts val="360"/>
              </a:spcBef>
              <a:spcAft>
                <a:spcPts val="0"/>
              </a:spcAft>
              <a:buSzPts val="1350"/>
              <a:buChar char="●"/>
              <a:defRPr sz="1800"/>
            </a:lvl6pPr>
            <a:lvl7pPr indent="-314325" lvl="6" marL="3200400" algn="l">
              <a:spcBef>
                <a:spcPts val="360"/>
              </a:spcBef>
              <a:spcAft>
                <a:spcPts val="0"/>
              </a:spcAft>
              <a:buSzPts val="1350"/>
              <a:buChar char="●"/>
              <a:defRPr sz="1800"/>
            </a:lvl7pPr>
            <a:lvl8pPr indent="-314325" lvl="7" marL="3657600" algn="l">
              <a:spcBef>
                <a:spcPts val="360"/>
              </a:spcBef>
              <a:spcAft>
                <a:spcPts val="0"/>
              </a:spcAft>
              <a:buSzPts val="1350"/>
              <a:buChar char="●"/>
              <a:defRPr sz="1800"/>
            </a:lvl8pPr>
            <a:lvl9pPr indent="-314325" lvl="8" marL="4114800" algn="l">
              <a:spcBef>
                <a:spcPts val="360"/>
              </a:spcBef>
              <a:spcAft>
                <a:spcPts val="0"/>
              </a:spcAft>
              <a:buSzPts val="1350"/>
              <a:buChar char="●"/>
              <a:defRPr sz="1800"/>
            </a:lvl9pPr>
          </a:lstStyle>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 name="Shape 18"/>
        <p:cNvGrpSpPr/>
        <p:nvPr/>
      </p:nvGrpSpPr>
      <p:grpSpPr>
        <a:xfrm>
          <a:off x="0" y="0"/>
          <a:ext cx="0" cy="0"/>
          <a:chOff x="0" y="0"/>
          <a:chExt cx="0" cy="0"/>
        </a:xfrm>
      </p:grpSpPr>
      <p:sp>
        <p:nvSpPr>
          <p:cNvPr id="19" name="Google Shape;19;p66"/>
          <p:cNvSpPr txBox="1"/>
          <p:nvPr>
            <p:ph type="title"/>
          </p:nvPr>
        </p:nvSpPr>
        <p:spPr>
          <a:xfrm>
            <a:off x="1149350" y="354013"/>
            <a:ext cx="7607300" cy="560387"/>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67"/>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22" name="Google Shape;22;p67"/>
          <p:cNvSpPr txBox="1"/>
          <p:nvPr>
            <p:ph idx="1" type="subTitle"/>
          </p:nvPr>
        </p:nvSpPr>
        <p:spPr>
          <a:xfrm>
            <a:off x="1371600" y="3886200"/>
            <a:ext cx="6400800" cy="1752600"/>
          </a:xfrm>
          <a:prstGeom prst="rect">
            <a:avLst/>
          </a:prstGeom>
          <a:noFill/>
          <a:ln>
            <a:noFill/>
          </a:ln>
        </p:spPr>
        <p:txBody>
          <a:bodyPr anchorCtr="0" anchor="t" bIns="46025" lIns="182550" spcFirstLastPara="1" rIns="182550" wrap="square" tIns="46025">
            <a:noAutofit/>
          </a:bodyPr>
          <a:lstStyle>
            <a:lvl1pPr lvl="0" algn="ctr">
              <a:spcBef>
                <a:spcPts val="560"/>
              </a:spcBef>
              <a:spcAft>
                <a:spcPts val="0"/>
              </a:spcAft>
              <a:buSzPts val="2100"/>
              <a:buNone/>
              <a:defRPr/>
            </a:lvl1pPr>
            <a:lvl2pPr lvl="1" algn="ctr">
              <a:spcBef>
                <a:spcPts val="480"/>
              </a:spcBef>
              <a:spcAft>
                <a:spcPts val="0"/>
              </a:spcAft>
              <a:buSzPts val="1800"/>
              <a:buNone/>
              <a:defRPr/>
            </a:lvl2pPr>
            <a:lvl3pPr lvl="2" algn="ctr">
              <a:spcBef>
                <a:spcPts val="400"/>
              </a:spcBef>
              <a:spcAft>
                <a:spcPts val="0"/>
              </a:spcAft>
              <a:buSzPts val="1500"/>
              <a:buNone/>
              <a:defRPr/>
            </a:lvl3pPr>
            <a:lvl4pPr lvl="3" algn="ctr">
              <a:spcBef>
                <a:spcPts val="400"/>
              </a:spcBef>
              <a:spcAft>
                <a:spcPts val="0"/>
              </a:spcAft>
              <a:buSzPts val="1500"/>
              <a:buNone/>
              <a:defRPr/>
            </a:lvl4pPr>
            <a:lvl5pPr lvl="4" algn="ctr">
              <a:spcBef>
                <a:spcPts val="400"/>
              </a:spcBef>
              <a:spcAft>
                <a:spcPts val="0"/>
              </a:spcAft>
              <a:buSzPts val="1500"/>
              <a:buNone/>
              <a:defRPr/>
            </a:lvl5pPr>
            <a:lvl6pPr lvl="5" algn="ctr">
              <a:spcBef>
                <a:spcPts val="400"/>
              </a:spcBef>
              <a:spcAft>
                <a:spcPts val="0"/>
              </a:spcAft>
              <a:buSzPts val="1500"/>
              <a:buNone/>
              <a:defRPr/>
            </a:lvl6pPr>
            <a:lvl7pPr lvl="6" algn="ctr">
              <a:spcBef>
                <a:spcPts val="400"/>
              </a:spcBef>
              <a:spcAft>
                <a:spcPts val="0"/>
              </a:spcAft>
              <a:buSzPts val="1500"/>
              <a:buNone/>
              <a:defRPr/>
            </a:lvl7pPr>
            <a:lvl8pPr lvl="7" algn="ctr">
              <a:spcBef>
                <a:spcPts val="400"/>
              </a:spcBef>
              <a:spcAft>
                <a:spcPts val="0"/>
              </a:spcAft>
              <a:buSzPts val="1500"/>
              <a:buNone/>
              <a:defRPr/>
            </a:lvl8pPr>
            <a:lvl9pPr lvl="8" algn="ctr">
              <a:spcBef>
                <a:spcPts val="400"/>
              </a:spcBef>
              <a:spcAft>
                <a:spcPts val="0"/>
              </a:spcAft>
              <a:buSzPts val="1500"/>
              <a:buNone/>
              <a:defRPr/>
            </a:lvl9pPr>
          </a:lstStyle>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6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1" sz="4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25" name="Google Shape;25;p68"/>
          <p:cNvSpPr txBox="1"/>
          <p:nvPr>
            <p:ph idx="1" type="body"/>
          </p:nvPr>
        </p:nvSpPr>
        <p:spPr>
          <a:xfrm>
            <a:off x="722313" y="2906713"/>
            <a:ext cx="7772400" cy="1500187"/>
          </a:xfrm>
          <a:prstGeom prst="rect">
            <a:avLst/>
          </a:prstGeom>
          <a:noFill/>
          <a:ln>
            <a:noFill/>
          </a:ln>
        </p:spPr>
        <p:txBody>
          <a:bodyPr anchorCtr="0" anchor="b" bIns="46025" lIns="182550" spcFirstLastPara="1" rIns="182550" wrap="square" tIns="46025">
            <a:noAutofit/>
          </a:bodyPr>
          <a:lstStyle>
            <a:lvl1pPr indent="-228600" lvl="0" marL="457200" algn="l">
              <a:spcBef>
                <a:spcPts val="400"/>
              </a:spcBef>
              <a:spcAft>
                <a:spcPts val="0"/>
              </a:spcAft>
              <a:buSzPts val="1500"/>
              <a:buNone/>
              <a:defRPr sz="2000"/>
            </a:lvl1pPr>
            <a:lvl2pPr indent="-228600" lvl="1" marL="914400" algn="l">
              <a:spcBef>
                <a:spcPts val="360"/>
              </a:spcBef>
              <a:spcAft>
                <a:spcPts val="0"/>
              </a:spcAft>
              <a:buSzPts val="1350"/>
              <a:buNone/>
              <a:defRPr sz="1800"/>
            </a:lvl2pPr>
            <a:lvl3pPr indent="-228600" lvl="2" marL="1371600" algn="l">
              <a:spcBef>
                <a:spcPts val="320"/>
              </a:spcBef>
              <a:spcAft>
                <a:spcPts val="0"/>
              </a:spcAft>
              <a:buSzPts val="1200"/>
              <a:buNone/>
              <a:defRPr sz="1600"/>
            </a:lvl3pPr>
            <a:lvl4pPr indent="-228600" lvl="3" marL="1828800" algn="l">
              <a:spcBef>
                <a:spcPts val="280"/>
              </a:spcBef>
              <a:spcAft>
                <a:spcPts val="0"/>
              </a:spcAft>
              <a:buSzPts val="1050"/>
              <a:buNone/>
              <a:defRPr sz="1400"/>
            </a:lvl4pPr>
            <a:lvl5pPr indent="-228600" lvl="4" marL="2286000" algn="l">
              <a:spcBef>
                <a:spcPts val="280"/>
              </a:spcBef>
              <a:spcAft>
                <a:spcPts val="0"/>
              </a:spcAft>
              <a:buSzPts val="1050"/>
              <a:buNone/>
              <a:defRPr sz="1400"/>
            </a:lvl5pPr>
            <a:lvl6pPr indent="-228600" lvl="5" marL="2743200" algn="l">
              <a:spcBef>
                <a:spcPts val="280"/>
              </a:spcBef>
              <a:spcAft>
                <a:spcPts val="0"/>
              </a:spcAft>
              <a:buSzPts val="1050"/>
              <a:buNone/>
              <a:defRPr sz="1400"/>
            </a:lvl6pPr>
            <a:lvl7pPr indent="-228600" lvl="6" marL="3200400" algn="l">
              <a:spcBef>
                <a:spcPts val="280"/>
              </a:spcBef>
              <a:spcAft>
                <a:spcPts val="0"/>
              </a:spcAft>
              <a:buSzPts val="1050"/>
              <a:buNone/>
              <a:defRPr sz="1400"/>
            </a:lvl7pPr>
            <a:lvl8pPr indent="-228600" lvl="7" marL="3657600" algn="l">
              <a:spcBef>
                <a:spcPts val="280"/>
              </a:spcBef>
              <a:spcAft>
                <a:spcPts val="0"/>
              </a:spcAft>
              <a:buSzPts val="1050"/>
              <a:buNone/>
              <a:defRPr sz="1400"/>
            </a:lvl8pPr>
            <a:lvl9pPr indent="-228600" lvl="8" marL="4114800" algn="l">
              <a:spcBef>
                <a:spcPts val="280"/>
              </a:spcBef>
              <a:spcAft>
                <a:spcPts val="0"/>
              </a:spcAft>
              <a:buSzPts val="1050"/>
              <a:buNone/>
              <a:defRPr sz="1400"/>
            </a:lvl9pPr>
          </a:lstStyle>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6" name="Shape 26"/>
        <p:cNvGrpSpPr/>
        <p:nvPr/>
      </p:nvGrpSpPr>
      <p:grpSpPr>
        <a:xfrm>
          <a:off x="0" y="0"/>
          <a:ext cx="0" cy="0"/>
          <a:chOff x="0" y="0"/>
          <a:chExt cx="0" cy="0"/>
        </a:xfrm>
      </p:grpSpPr>
      <p:sp>
        <p:nvSpPr>
          <p:cNvPr id="27" name="Google Shape;27;p6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28" name="Google Shape;28;p69"/>
          <p:cNvSpPr txBox="1"/>
          <p:nvPr>
            <p:ph idx="1" type="body"/>
          </p:nvPr>
        </p:nvSpPr>
        <p:spPr>
          <a:xfrm>
            <a:off x="457200" y="1535113"/>
            <a:ext cx="4040188" cy="639762"/>
          </a:xfrm>
          <a:prstGeom prst="rect">
            <a:avLst/>
          </a:prstGeom>
          <a:noFill/>
          <a:ln>
            <a:noFill/>
          </a:ln>
        </p:spPr>
        <p:txBody>
          <a:bodyPr anchorCtr="0" anchor="b" bIns="46025" lIns="182550" spcFirstLastPara="1" rIns="182550" wrap="square" tIns="46025">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500"/>
              <a:buNone/>
              <a:defRPr b="1" sz="2000"/>
            </a:lvl2pPr>
            <a:lvl3pPr indent="-228600" lvl="2" marL="1371600" algn="l">
              <a:spcBef>
                <a:spcPts val="360"/>
              </a:spcBef>
              <a:spcAft>
                <a:spcPts val="0"/>
              </a:spcAft>
              <a:buSzPts val="1350"/>
              <a:buNone/>
              <a:defRPr b="1" sz="1800"/>
            </a:lvl3pPr>
            <a:lvl4pPr indent="-228600" lvl="3" marL="1828800" algn="l">
              <a:spcBef>
                <a:spcPts val="320"/>
              </a:spcBef>
              <a:spcAft>
                <a:spcPts val="0"/>
              </a:spcAft>
              <a:buSzPts val="1200"/>
              <a:buNone/>
              <a:defRPr b="1" sz="1600"/>
            </a:lvl4pPr>
            <a:lvl5pPr indent="-228600" lvl="4" marL="2286000" algn="l">
              <a:spcBef>
                <a:spcPts val="320"/>
              </a:spcBef>
              <a:spcAft>
                <a:spcPts val="0"/>
              </a:spcAft>
              <a:buSzPts val="1200"/>
              <a:buNone/>
              <a:defRPr b="1" sz="1600"/>
            </a:lvl5pPr>
            <a:lvl6pPr indent="-228600" lvl="5" marL="2743200" algn="l">
              <a:spcBef>
                <a:spcPts val="320"/>
              </a:spcBef>
              <a:spcAft>
                <a:spcPts val="0"/>
              </a:spcAft>
              <a:buSzPts val="1200"/>
              <a:buNone/>
              <a:defRPr b="1" sz="1600"/>
            </a:lvl6pPr>
            <a:lvl7pPr indent="-228600" lvl="6" marL="3200400" algn="l">
              <a:spcBef>
                <a:spcPts val="320"/>
              </a:spcBef>
              <a:spcAft>
                <a:spcPts val="0"/>
              </a:spcAft>
              <a:buSzPts val="1200"/>
              <a:buNone/>
              <a:defRPr b="1" sz="1600"/>
            </a:lvl7pPr>
            <a:lvl8pPr indent="-228600" lvl="7" marL="3657600" algn="l">
              <a:spcBef>
                <a:spcPts val="320"/>
              </a:spcBef>
              <a:spcAft>
                <a:spcPts val="0"/>
              </a:spcAft>
              <a:buSzPts val="1200"/>
              <a:buNone/>
              <a:defRPr b="1" sz="1600"/>
            </a:lvl8pPr>
            <a:lvl9pPr indent="-228600" lvl="8" marL="4114800" algn="l">
              <a:spcBef>
                <a:spcPts val="320"/>
              </a:spcBef>
              <a:spcAft>
                <a:spcPts val="0"/>
              </a:spcAft>
              <a:buSzPts val="1200"/>
              <a:buNone/>
              <a:defRPr b="1" sz="1600"/>
            </a:lvl9pPr>
          </a:lstStyle>
          <a:p/>
        </p:txBody>
      </p:sp>
      <p:sp>
        <p:nvSpPr>
          <p:cNvPr id="29" name="Google Shape;29;p69"/>
          <p:cNvSpPr txBox="1"/>
          <p:nvPr>
            <p:ph idx="2" type="body"/>
          </p:nvPr>
        </p:nvSpPr>
        <p:spPr>
          <a:xfrm>
            <a:off x="457200" y="2174875"/>
            <a:ext cx="4040188" cy="3951288"/>
          </a:xfrm>
          <a:prstGeom prst="rect">
            <a:avLst/>
          </a:prstGeom>
          <a:noFill/>
          <a:ln>
            <a:noFill/>
          </a:ln>
        </p:spPr>
        <p:txBody>
          <a:bodyPr anchorCtr="0" anchor="t" bIns="46025" lIns="182550" spcFirstLastPara="1" rIns="182550" wrap="square" tIns="46025">
            <a:noAutofit/>
          </a:bodyPr>
          <a:lstStyle>
            <a:lvl1pPr indent="-342900" lvl="0" marL="457200" algn="l">
              <a:spcBef>
                <a:spcPts val="480"/>
              </a:spcBef>
              <a:spcAft>
                <a:spcPts val="0"/>
              </a:spcAft>
              <a:buSzPts val="1800"/>
              <a:buChar char="●"/>
              <a:defRPr sz="2400"/>
            </a:lvl1pPr>
            <a:lvl2pPr indent="-323850" lvl="1" marL="914400" algn="l">
              <a:spcBef>
                <a:spcPts val="400"/>
              </a:spcBef>
              <a:spcAft>
                <a:spcPts val="0"/>
              </a:spcAft>
              <a:buSzPts val="1500"/>
              <a:buChar char="●"/>
              <a:defRPr sz="2000"/>
            </a:lvl2pPr>
            <a:lvl3pPr indent="-314325" lvl="2" marL="1371600" algn="l">
              <a:spcBef>
                <a:spcPts val="360"/>
              </a:spcBef>
              <a:spcAft>
                <a:spcPts val="0"/>
              </a:spcAft>
              <a:buSzPts val="1350"/>
              <a:buChar char="●"/>
              <a:defRPr sz="1800"/>
            </a:lvl3pPr>
            <a:lvl4pPr indent="-304800" lvl="3" marL="1828800" algn="l">
              <a:spcBef>
                <a:spcPts val="320"/>
              </a:spcBef>
              <a:spcAft>
                <a:spcPts val="0"/>
              </a:spcAft>
              <a:buSzPts val="1200"/>
              <a:buChar char="●"/>
              <a:defRPr sz="1600"/>
            </a:lvl4pPr>
            <a:lvl5pPr indent="-304800" lvl="4" marL="2286000" algn="l">
              <a:spcBef>
                <a:spcPts val="320"/>
              </a:spcBef>
              <a:spcAft>
                <a:spcPts val="0"/>
              </a:spcAft>
              <a:buSzPts val="1200"/>
              <a:buChar char="●"/>
              <a:defRPr sz="1600"/>
            </a:lvl5pPr>
            <a:lvl6pPr indent="-304800" lvl="5" marL="2743200" algn="l">
              <a:spcBef>
                <a:spcPts val="320"/>
              </a:spcBef>
              <a:spcAft>
                <a:spcPts val="0"/>
              </a:spcAft>
              <a:buSzPts val="1200"/>
              <a:buChar char="●"/>
              <a:defRPr sz="1600"/>
            </a:lvl6pPr>
            <a:lvl7pPr indent="-304800" lvl="6" marL="3200400" algn="l">
              <a:spcBef>
                <a:spcPts val="320"/>
              </a:spcBef>
              <a:spcAft>
                <a:spcPts val="0"/>
              </a:spcAft>
              <a:buSzPts val="1200"/>
              <a:buChar char="●"/>
              <a:defRPr sz="1600"/>
            </a:lvl7pPr>
            <a:lvl8pPr indent="-304800" lvl="7" marL="3657600" algn="l">
              <a:spcBef>
                <a:spcPts val="320"/>
              </a:spcBef>
              <a:spcAft>
                <a:spcPts val="0"/>
              </a:spcAft>
              <a:buSzPts val="1200"/>
              <a:buChar char="●"/>
              <a:defRPr sz="1600"/>
            </a:lvl8pPr>
            <a:lvl9pPr indent="-304800" lvl="8" marL="4114800" algn="l">
              <a:spcBef>
                <a:spcPts val="320"/>
              </a:spcBef>
              <a:spcAft>
                <a:spcPts val="0"/>
              </a:spcAft>
              <a:buSzPts val="1200"/>
              <a:buChar char="●"/>
              <a:defRPr sz="1600"/>
            </a:lvl9pPr>
          </a:lstStyle>
          <a:p/>
        </p:txBody>
      </p:sp>
      <p:sp>
        <p:nvSpPr>
          <p:cNvPr id="30" name="Google Shape;30;p69"/>
          <p:cNvSpPr txBox="1"/>
          <p:nvPr>
            <p:ph idx="3" type="body"/>
          </p:nvPr>
        </p:nvSpPr>
        <p:spPr>
          <a:xfrm>
            <a:off x="4645025" y="1535113"/>
            <a:ext cx="4041775" cy="639762"/>
          </a:xfrm>
          <a:prstGeom prst="rect">
            <a:avLst/>
          </a:prstGeom>
          <a:noFill/>
          <a:ln>
            <a:noFill/>
          </a:ln>
        </p:spPr>
        <p:txBody>
          <a:bodyPr anchorCtr="0" anchor="b" bIns="46025" lIns="182550" spcFirstLastPara="1" rIns="182550" wrap="square" tIns="46025">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500"/>
              <a:buNone/>
              <a:defRPr b="1" sz="2000"/>
            </a:lvl2pPr>
            <a:lvl3pPr indent="-228600" lvl="2" marL="1371600" algn="l">
              <a:spcBef>
                <a:spcPts val="360"/>
              </a:spcBef>
              <a:spcAft>
                <a:spcPts val="0"/>
              </a:spcAft>
              <a:buSzPts val="1350"/>
              <a:buNone/>
              <a:defRPr b="1" sz="1800"/>
            </a:lvl3pPr>
            <a:lvl4pPr indent="-228600" lvl="3" marL="1828800" algn="l">
              <a:spcBef>
                <a:spcPts val="320"/>
              </a:spcBef>
              <a:spcAft>
                <a:spcPts val="0"/>
              </a:spcAft>
              <a:buSzPts val="1200"/>
              <a:buNone/>
              <a:defRPr b="1" sz="1600"/>
            </a:lvl4pPr>
            <a:lvl5pPr indent="-228600" lvl="4" marL="2286000" algn="l">
              <a:spcBef>
                <a:spcPts val="320"/>
              </a:spcBef>
              <a:spcAft>
                <a:spcPts val="0"/>
              </a:spcAft>
              <a:buSzPts val="1200"/>
              <a:buNone/>
              <a:defRPr b="1" sz="1600"/>
            </a:lvl5pPr>
            <a:lvl6pPr indent="-228600" lvl="5" marL="2743200" algn="l">
              <a:spcBef>
                <a:spcPts val="320"/>
              </a:spcBef>
              <a:spcAft>
                <a:spcPts val="0"/>
              </a:spcAft>
              <a:buSzPts val="1200"/>
              <a:buNone/>
              <a:defRPr b="1" sz="1600"/>
            </a:lvl6pPr>
            <a:lvl7pPr indent="-228600" lvl="6" marL="3200400" algn="l">
              <a:spcBef>
                <a:spcPts val="320"/>
              </a:spcBef>
              <a:spcAft>
                <a:spcPts val="0"/>
              </a:spcAft>
              <a:buSzPts val="1200"/>
              <a:buNone/>
              <a:defRPr b="1" sz="1600"/>
            </a:lvl7pPr>
            <a:lvl8pPr indent="-228600" lvl="7" marL="3657600" algn="l">
              <a:spcBef>
                <a:spcPts val="320"/>
              </a:spcBef>
              <a:spcAft>
                <a:spcPts val="0"/>
              </a:spcAft>
              <a:buSzPts val="1200"/>
              <a:buNone/>
              <a:defRPr b="1" sz="1600"/>
            </a:lvl8pPr>
            <a:lvl9pPr indent="-228600" lvl="8" marL="4114800" algn="l">
              <a:spcBef>
                <a:spcPts val="320"/>
              </a:spcBef>
              <a:spcAft>
                <a:spcPts val="0"/>
              </a:spcAft>
              <a:buSzPts val="1200"/>
              <a:buNone/>
              <a:defRPr b="1" sz="1600"/>
            </a:lvl9pPr>
          </a:lstStyle>
          <a:p/>
        </p:txBody>
      </p:sp>
      <p:sp>
        <p:nvSpPr>
          <p:cNvPr id="31" name="Google Shape;31;p69"/>
          <p:cNvSpPr txBox="1"/>
          <p:nvPr>
            <p:ph idx="4" type="body"/>
          </p:nvPr>
        </p:nvSpPr>
        <p:spPr>
          <a:xfrm>
            <a:off x="4645025" y="2174875"/>
            <a:ext cx="4041775" cy="3951288"/>
          </a:xfrm>
          <a:prstGeom prst="rect">
            <a:avLst/>
          </a:prstGeom>
          <a:noFill/>
          <a:ln>
            <a:noFill/>
          </a:ln>
        </p:spPr>
        <p:txBody>
          <a:bodyPr anchorCtr="0" anchor="t" bIns="46025" lIns="182550" spcFirstLastPara="1" rIns="182550" wrap="square" tIns="46025">
            <a:noAutofit/>
          </a:bodyPr>
          <a:lstStyle>
            <a:lvl1pPr indent="-342900" lvl="0" marL="457200" algn="l">
              <a:spcBef>
                <a:spcPts val="480"/>
              </a:spcBef>
              <a:spcAft>
                <a:spcPts val="0"/>
              </a:spcAft>
              <a:buSzPts val="1800"/>
              <a:buChar char="●"/>
              <a:defRPr sz="2400"/>
            </a:lvl1pPr>
            <a:lvl2pPr indent="-323850" lvl="1" marL="914400" algn="l">
              <a:spcBef>
                <a:spcPts val="400"/>
              </a:spcBef>
              <a:spcAft>
                <a:spcPts val="0"/>
              </a:spcAft>
              <a:buSzPts val="1500"/>
              <a:buChar char="●"/>
              <a:defRPr sz="2000"/>
            </a:lvl2pPr>
            <a:lvl3pPr indent="-314325" lvl="2" marL="1371600" algn="l">
              <a:spcBef>
                <a:spcPts val="360"/>
              </a:spcBef>
              <a:spcAft>
                <a:spcPts val="0"/>
              </a:spcAft>
              <a:buSzPts val="1350"/>
              <a:buChar char="●"/>
              <a:defRPr sz="1800"/>
            </a:lvl3pPr>
            <a:lvl4pPr indent="-304800" lvl="3" marL="1828800" algn="l">
              <a:spcBef>
                <a:spcPts val="320"/>
              </a:spcBef>
              <a:spcAft>
                <a:spcPts val="0"/>
              </a:spcAft>
              <a:buSzPts val="1200"/>
              <a:buChar char="●"/>
              <a:defRPr sz="1600"/>
            </a:lvl4pPr>
            <a:lvl5pPr indent="-304800" lvl="4" marL="2286000" algn="l">
              <a:spcBef>
                <a:spcPts val="320"/>
              </a:spcBef>
              <a:spcAft>
                <a:spcPts val="0"/>
              </a:spcAft>
              <a:buSzPts val="1200"/>
              <a:buChar char="●"/>
              <a:defRPr sz="1600"/>
            </a:lvl5pPr>
            <a:lvl6pPr indent="-304800" lvl="5" marL="2743200" algn="l">
              <a:spcBef>
                <a:spcPts val="320"/>
              </a:spcBef>
              <a:spcAft>
                <a:spcPts val="0"/>
              </a:spcAft>
              <a:buSzPts val="1200"/>
              <a:buChar char="●"/>
              <a:defRPr sz="1600"/>
            </a:lvl6pPr>
            <a:lvl7pPr indent="-304800" lvl="6" marL="3200400" algn="l">
              <a:spcBef>
                <a:spcPts val="320"/>
              </a:spcBef>
              <a:spcAft>
                <a:spcPts val="0"/>
              </a:spcAft>
              <a:buSzPts val="1200"/>
              <a:buChar char="●"/>
              <a:defRPr sz="1600"/>
            </a:lvl7pPr>
            <a:lvl8pPr indent="-304800" lvl="7" marL="3657600" algn="l">
              <a:spcBef>
                <a:spcPts val="320"/>
              </a:spcBef>
              <a:spcAft>
                <a:spcPts val="0"/>
              </a:spcAft>
              <a:buSzPts val="1200"/>
              <a:buChar char="●"/>
              <a:defRPr sz="1600"/>
            </a:lvl8pPr>
            <a:lvl9pPr indent="-304800" lvl="8" marL="4114800" algn="l">
              <a:spcBef>
                <a:spcPts val="320"/>
              </a:spcBef>
              <a:spcAft>
                <a:spcPts val="0"/>
              </a:spcAft>
              <a:buSzPts val="1200"/>
              <a:buChar char="●"/>
              <a:defRPr sz="1600"/>
            </a:lvl9pPr>
          </a:lstStyle>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2" name="Shape 32"/>
        <p:cNvGrpSpPr/>
        <p:nvPr/>
      </p:nvGrpSpPr>
      <p:grpSpPr>
        <a:xfrm>
          <a:off x="0" y="0"/>
          <a:ext cx="0" cy="0"/>
          <a:chOff x="0" y="0"/>
          <a:chExt cx="0" cy="0"/>
        </a:xfrm>
      </p:grpSpPr>
      <p:sp>
        <p:nvSpPr>
          <p:cNvPr id="33" name="Google Shape;33;p7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1" sz="2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34" name="Google Shape;34;p70"/>
          <p:cNvSpPr txBox="1"/>
          <p:nvPr>
            <p:ph idx="1" type="body"/>
          </p:nvPr>
        </p:nvSpPr>
        <p:spPr>
          <a:xfrm>
            <a:off x="3575050" y="273050"/>
            <a:ext cx="5111750" cy="5853113"/>
          </a:xfrm>
          <a:prstGeom prst="rect">
            <a:avLst/>
          </a:prstGeom>
          <a:noFill/>
          <a:ln>
            <a:noFill/>
          </a:ln>
        </p:spPr>
        <p:txBody>
          <a:bodyPr anchorCtr="0" anchor="t" bIns="46025" lIns="182550" spcFirstLastPara="1" rIns="182550" wrap="square" tIns="46025">
            <a:noAutofit/>
          </a:bodyPr>
          <a:lstStyle>
            <a:lvl1pPr indent="-381000" lvl="0" marL="457200" algn="l">
              <a:spcBef>
                <a:spcPts val="640"/>
              </a:spcBef>
              <a:spcAft>
                <a:spcPts val="0"/>
              </a:spcAft>
              <a:buSzPts val="2400"/>
              <a:buChar char="●"/>
              <a:defRPr sz="3200"/>
            </a:lvl1pPr>
            <a:lvl2pPr indent="-361950" lvl="1" marL="914400" algn="l">
              <a:spcBef>
                <a:spcPts val="560"/>
              </a:spcBef>
              <a:spcAft>
                <a:spcPts val="0"/>
              </a:spcAft>
              <a:buSzPts val="2100"/>
              <a:buChar char="●"/>
              <a:defRPr sz="2800"/>
            </a:lvl2pPr>
            <a:lvl3pPr indent="-342900" lvl="2" marL="1371600" algn="l">
              <a:spcBef>
                <a:spcPts val="480"/>
              </a:spcBef>
              <a:spcAft>
                <a:spcPts val="0"/>
              </a:spcAft>
              <a:buSzPts val="1800"/>
              <a:buChar char="●"/>
              <a:defRPr sz="2400"/>
            </a:lvl3pPr>
            <a:lvl4pPr indent="-323850" lvl="3" marL="1828800" algn="l">
              <a:spcBef>
                <a:spcPts val="400"/>
              </a:spcBef>
              <a:spcAft>
                <a:spcPts val="0"/>
              </a:spcAft>
              <a:buSzPts val="1500"/>
              <a:buChar char="●"/>
              <a:defRPr sz="2000"/>
            </a:lvl4pPr>
            <a:lvl5pPr indent="-323850" lvl="4" marL="2286000" algn="l">
              <a:spcBef>
                <a:spcPts val="400"/>
              </a:spcBef>
              <a:spcAft>
                <a:spcPts val="0"/>
              </a:spcAft>
              <a:buSzPts val="1500"/>
              <a:buChar char="●"/>
              <a:defRPr sz="2000"/>
            </a:lvl5pPr>
            <a:lvl6pPr indent="-323850" lvl="5" marL="2743200" algn="l">
              <a:spcBef>
                <a:spcPts val="400"/>
              </a:spcBef>
              <a:spcAft>
                <a:spcPts val="0"/>
              </a:spcAft>
              <a:buSzPts val="1500"/>
              <a:buChar char="●"/>
              <a:defRPr sz="2000"/>
            </a:lvl6pPr>
            <a:lvl7pPr indent="-323850" lvl="6" marL="3200400" algn="l">
              <a:spcBef>
                <a:spcPts val="400"/>
              </a:spcBef>
              <a:spcAft>
                <a:spcPts val="0"/>
              </a:spcAft>
              <a:buSzPts val="1500"/>
              <a:buChar char="●"/>
              <a:defRPr sz="2000"/>
            </a:lvl7pPr>
            <a:lvl8pPr indent="-323850" lvl="7" marL="3657600" algn="l">
              <a:spcBef>
                <a:spcPts val="400"/>
              </a:spcBef>
              <a:spcAft>
                <a:spcPts val="0"/>
              </a:spcAft>
              <a:buSzPts val="1500"/>
              <a:buChar char="●"/>
              <a:defRPr sz="2000"/>
            </a:lvl8pPr>
            <a:lvl9pPr indent="-323850" lvl="8" marL="4114800" algn="l">
              <a:spcBef>
                <a:spcPts val="400"/>
              </a:spcBef>
              <a:spcAft>
                <a:spcPts val="0"/>
              </a:spcAft>
              <a:buSzPts val="1500"/>
              <a:buChar char="●"/>
              <a:defRPr sz="2000"/>
            </a:lvl9pPr>
          </a:lstStyle>
          <a:p/>
        </p:txBody>
      </p:sp>
      <p:sp>
        <p:nvSpPr>
          <p:cNvPr id="35" name="Google Shape;35;p70"/>
          <p:cNvSpPr txBox="1"/>
          <p:nvPr>
            <p:ph idx="2" type="body"/>
          </p:nvPr>
        </p:nvSpPr>
        <p:spPr>
          <a:xfrm>
            <a:off x="457200" y="1435100"/>
            <a:ext cx="3008313" cy="4691063"/>
          </a:xfrm>
          <a:prstGeom prst="rect">
            <a:avLst/>
          </a:prstGeom>
          <a:noFill/>
          <a:ln>
            <a:noFill/>
          </a:ln>
        </p:spPr>
        <p:txBody>
          <a:bodyPr anchorCtr="0" anchor="t" bIns="46025" lIns="182550" spcFirstLastPara="1" rIns="182550" wrap="square" tIns="46025">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00"/>
              <a:buNone/>
              <a:defRPr sz="1200"/>
            </a:lvl2pPr>
            <a:lvl3pPr indent="-228600" lvl="2" marL="1371600" algn="l">
              <a:spcBef>
                <a:spcPts val="200"/>
              </a:spcBef>
              <a:spcAft>
                <a:spcPts val="0"/>
              </a:spcAft>
              <a:buSzPts val="750"/>
              <a:buNone/>
              <a:defRPr sz="1000"/>
            </a:lvl3pPr>
            <a:lvl4pPr indent="-228600" lvl="3" marL="1828800" algn="l">
              <a:spcBef>
                <a:spcPts val="180"/>
              </a:spcBef>
              <a:spcAft>
                <a:spcPts val="0"/>
              </a:spcAft>
              <a:buSzPts val="675"/>
              <a:buNone/>
              <a:defRPr sz="900"/>
            </a:lvl4pPr>
            <a:lvl5pPr indent="-228600" lvl="4" marL="2286000" algn="l">
              <a:spcBef>
                <a:spcPts val="180"/>
              </a:spcBef>
              <a:spcAft>
                <a:spcPts val="0"/>
              </a:spcAft>
              <a:buSzPts val="675"/>
              <a:buNone/>
              <a:defRPr sz="900"/>
            </a:lvl5pPr>
            <a:lvl6pPr indent="-228600" lvl="5" marL="2743200" algn="l">
              <a:spcBef>
                <a:spcPts val="180"/>
              </a:spcBef>
              <a:spcAft>
                <a:spcPts val="0"/>
              </a:spcAft>
              <a:buSzPts val="675"/>
              <a:buNone/>
              <a:defRPr sz="900"/>
            </a:lvl6pPr>
            <a:lvl7pPr indent="-228600" lvl="6" marL="3200400" algn="l">
              <a:spcBef>
                <a:spcPts val="180"/>
              </a:spcBef>
              <a:spcAft>
                <a:spcPts val="0"/>
              </a:spcAft>
              <a:buSzPts val="675"/>
              <a:buNone/>
              <a:defRPr sz="900"/>
            </a:lvl7pPr>
            <a:lvl8pPr indent="-228600" lvl="7" marL="3657600" algn="l">
              <a:spcBef>
                <a:spcPts val="180"/>
              </a:spcBef>
              <a:spcAft>
                <a:spcPts val="0"/>
              </a:spcAft>
              <a:buSzPts val="675"/>
              <a:buNone/>
              <a:defRPr sz="900"/>
            </a:lvl8pPr>
            <a:lvl9pPr indent="-228600" lvl="8" marL="4114800" algn="l">
              <a:spcBef>
                <a:spcPts val="180"/>
              </a:spcBef>
              <a:spcAft>
                <a:spcPts val="0"/>
              </a:spcAft>
              <a:buSzPts val="675"/>
              <a:buNone/>
              <a:defRPr sz="900"/>
            </a:lvl9pPr>
          </a:lstStyle>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6" name="Shape 36"/>
        <p:cNvGrpSpPr/>
        <p:nvPr/>
      </p:nvGrpSpPr>
      <p:grpSpPr>
        <a:xfrm>
          <a:off x="0" y="0"/>
          <a:ext cx="0" cy="0"/>
          <a:chOff x="0" y="0"/>
          <a:chExt cx="0" cy="0"/>
        </a:xfrm>
      </p:grpSpPr>
      <p:sp>
        <p:nvSpPr>
          <p:cNvPr id="37" name="Google Shape;37;p7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1" sz="2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38" name="Google Shape;38;p71"/>
          <p:cNvSpPr/>
          <p:nvPr>
            <p:ph idx="2" type="pic"/>
          </p:nvPr>
        </p:nvSpPr>
        <p:spPr>
          <a:xfrm>
            <a:off x="1792288" y="612775"/>
            <a:ext cx="5486400" cy="4114800"/>
          </a:xfrm>
          <a:prstGeom prst="rect">
            <a:avLst/>
          </a:prstGeom>
          <a:noFill/>
          <a:ln>
            <a:noFill/>
          </a:ln>
        </p:spPr>
      </p:sp>
      <p:sp>
        <p:nvSpPr>
          <p:cNvPr id="39" name="Google Shape;39;p71"/>
          <p:cNvSpPr txBox="1"/>
          <p:nvPr>
            <p:ph idx="1" type="body"/>
          </p:nvPr>
        </p:nvSpPr>
        <p:spPr>
          <a:xfrm>
            <a:off x="1792288" y="5367338"/>
            <a:ext cx="5486400" cy="804862"/>
          </a:xfrm>
          <a:prstGeom prst="rect">
            <a:avLst/>
          </a:prstGeom>
          <a:noFill/>
          <a:ln>
            <a:noFill/>
          </a:ln>
        </p:spPr>
        <p:txBody>
          <a:bodyPr anchorCtr="0" anchor="t" bIns="46025" lIns="182550" spcFirstLastPara="1" rIns="182550" wrap="square" tIns="46025">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00"/>
              <a:buNone/>
              <a:defRPr sz="1200"/>
            </a:lvl2pPr>
            <a:lvl3pPr indent="-228600" lvl="2" marL="1371600" algn="l">
              <a:spcBef>
                <a:spcPts val="200"/>
              </a:spcBef>
              <a:spcAft>
                <a:spcPts val="0"/>
              </a:spcAft>
              <a:buSzPts val="750"/>
              <a:buNone/>
              <a:defRPr sz="1000"/>
            </a:lvl3pPr>
            <a:lvl4pPr indent="-228600" lvl="3" marL="1828800" algn="l">
              <a:spcBef>
                <a:spcPts val="180"/>
              </a:spcBef>
              <a:spcAft>
                <a:spcPts val="0"/>
              </a:spcAft>
              <a:buSzPts val="675"/>
              <a:buNone/>
              <a:defRPr sz="900"/>
            </a:lvl4pPr>
            <a:lvl5pPr indent="-228600" lvl="4" marL="2286000" algn="l">
              <a:spcBef>
                <a:spcPts val="180"/>
              </a:spcBef>
              <a:spcAft>
                <a:spcPts val="0"/>
              </a:spcAft>
              <a:buSzPts val="675"/>
              <a:buNone/>
              <a:defRPr sz="900"/>
            </a:lvl5pPr>
            <a:lvl6pPr indent="-228600" lvl="5" marL="2743200" algn="l">
              <a:spcBef>
                <a:spcPts val="180"/>
              </a:spcBef>
              <a:spcAft>
                <a:spcPts val="0"/>
              </a:spcAft>
              <a:buSzPts val="675"/>
              <a:buNone/>
              <a:defRPr sz="900"/>
            </a:lvl6pPr>
            <a:lvl7pPr indent="-228600" lvl="6" marL="3200400" algn="l">
              <a:spcBef>
                <a:spcPts val="180"/>
              </a:spcBef>
              <a:spcAft>
                <a:spcPts val="0"/>
              </a:spcAft>
              <a:buSzPts val="675"/>
              <a:buNone/>
              <a:defRPr sz="900"/>
            </a:lvl7pPr>
            <a:lvl8pPr indent="-228600" lvl="7" marL="3657600" algn="l">
              <a:spcBef>
                <a:spcPts val="180"/>
              </a:spcBef>
              <a:spcAft>
                <a:spcPts val="0"/>
              </a:spcAft>
              <a:buSzPts val="675"/>
              <a:buNone/>
              <a:defRPr sz="900"/>
            </a:lvl8pPr>
            <a:lvl9pPr indent="-228600" lvl="8" marL="4114800" algn="l">
              <a:spcBef>
                <a:spcPts val="180"/>
              </a:spcBef>
              <a:spcAft>
                <a:spcPts val="0"/>
              </a:spcAft>
              <a:buSzPts val="675"/>
              <a:buNone/>
              <a:defRPr sz="900"/>
            </a:lvl9pPr>
          </a:lstStyle>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0" name="Shape 40"/>
        <p:cNvGrpSpPr/>
        <p:nvPr/>
      </p:nvGrpSpPr>
      <p:grpSpPr>
        <a:xfrm>
          <a:off x="0" y="0"/>
          <a:ext cx="0" cy="0"/>
          <a:chOff x="0" y="0"/>
          <a:chExt cx="0" cy="0"/>
        </a:xfrm>
      </p:grpSpPr>
      <p:sp>
        <p:nvSpPr>
          <p:cNvPr id="41" name="Google Shape;41;p72"/>
          <p:cNvSpPr txBox="1"/>
          <p:nvPr>
            <p:ph type="title"/>
          </p:nvPr>
        </p:nvSpPr>
        <p:spPr>
          <a:xfrm>
            <a:off x="1149350" y="354013"/>
            <a:ext cx="7607300" cy="560387"/>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42" name="Google Shape;42;p72"/>
          <p:cNvSpPr txBox="1"/>
          <p:nvPr>
            <p:ph idx="1" type="body"/>
          </p:nvPr>
        </p:nvSpPr>
        <p:spPr>
          <a:xfrm rot="5400000">
            <a:off x="2171700" y="-647700"/>
            <a:ext cx="4800600" cy="83820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3" name="Shape 43"/>
        <p:cNvGrpSpPr/>
        <p:nvPr/>
      </p:nvGrpSpPr>
      <p:grpSpPr>
        <a:xfrm>
          <a:off x="0" y="0"/>
          <a:ext cx="0" cy="0"/>
          <a:chOff x="0" y="0"/>
          <a:chExt cx="0" cy="0"/>
        </a:xfrm>
      </p:grpSpPr>
      <p:sp>
        <p:nvSpPr>
          <p:cNvPr id="44" name="Google Shape;44;p73"/>
          <p:cNvSpPr txBox="1"/>
          <p:nvPr>
            <p:ph type="title"/>
          </p:nvPr>
        </p:nvSpPr>
        <p:spPr>
          <a:xfrm rot="5400000">
            <a:off x="4920457" y="2101057"/>
            <a:ext cx="5589587" cy="20955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45" name="Google Shape;45;p73"/>
          <p:cNvSpPr txBox="1"/>
          <p:nvPr>
            <p:ph idx="1" type="body"/>
          </p:nvPr>
        </p:nvSpPr>
        <p:spPr>
          <a:xfrm rot="5400000">
            <a:off x="653256" y="81756"/>
            <a:ext cx="5589587" cy="61341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1"/>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61950" lvl="0" marL="457200" marR="0" rtl="0" algn="l">
              <a:spcBef>
                <a:spcPts val="560"/>
              </a:spcBef>
              <a:spcAft>
                <a:spcPts val="0"/>
              </a:spcAft>
              <a:buClr>
                <a:schemeClr val="accent2"/>
              </a:buClr>
              <a:buSzPts val="2100"/>
              <a:buFont typeface="Noto Sans Symbols"/>
              <a:buChar char="●"/>
              <a:defRPr b="1" i="0" sz="2800" u="none" cap="none" strike="noStrike">
                <a:solidFill>
                  <a:schemeClr val="lt2"/>
                </a:solidFill>
                <a:latin typeface="Arial"/>
                <a:ea typeface="Arial"/>
                <a:cs typeface="Arial"/>
                <a:sym typeface="Arial"/>
              </a:defRPr>
            </a:lvl1pPr>
            <a:lvl2pPr indent="-342900" lvl="1" marL="914400" marR="0" rtl="0" algn="l">
              <a:spcBef>
                <a:spcPts val="480"/>
              </a:spcBef>
              <a:spcAft>
                <a:spcPts val="0"/>
              </a:spcAft>
              <a:buClr>
                <a:schemeClr val="accent2"/>
              </a:buClr>
              <a:buSzPts val="1800"/>
              <a:buFont typeface="Noto Sans Symbols"/>
              <a:buChar char="●"/>
              <a:defRPr b="1" i="0" sz="2400" u="none" cap="none" strike="noStrike">
                <a:solidFill>
                  <a:schemeClr val="lt2"/>
                </a:solidFill>
                <a:latin typeface="Arial"/>
                <a:ea typeface="Arial"/>
                <a:cs typeface="Arial"/>
                <a:sym typeface="Arial"/>
              </a:defRPr>
            </a:lvl2pPr>
            <a:lvl3pPr indent="-323850" lvl="2" marL="13716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3pPr>
            <a:lvl4pPr indent="-323850" lvl="3" marL="18288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4pPr>
            <a:lvl5pPr indent="-323850" lvl="4" marL="22860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5pPr>
            <a:lvl6pPr indent="-323850" lvl="5" marL="27432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6pPr>
            <a:lvl7pPr indent="-323850" lvl="6" marL="32004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7pPr>
            <a:lvl8pPr indent="-323850" lvl="7" marL="36576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8pPr>
            <a:lvl9pPr indent="-323850" lvl="8" marL="41148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9pPr>
          </a:lstStyle>
          <a:p/>
        </p:txBody>
      </p:sp>
      <p:sp>
        <p:nvSpPr>
          <p:cNvPr id="7" name="Google Shape;7;p61"/>
          <p:cNvSpPr txBox="1"/>
          <p:nvPr/>
        </p:nvSpPr>
        <p:spPr>
          <a:xfrm>
            <a:off x="76200" y="6400800"/>
            <a:ext cx="609600" cy="2746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chemeClr val="dk1"/>
                </a:solidFill>
                <a:latin typeface="Arial"/>
                <a:ea typeface="Arial"/>
                <a:cs typeface="Arial"/>
                <a:sym typeface="Arial"/>
              </a:rPr>
              <a:t>20-</a:t>
            </a: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wipe dir="r"/>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
          <p:cNvSpPr/>
          <p:nvPr/>
        </p:nvSpPr>
        <p:spPr>
          <a:xfrm>
            <a:off x="435429" y="1991245"/>
            <a:ext cx="4209143" cy="523355"/>
          </a:xfrm>
          <a:prstGeom prst="rect">
            <a:avLst/>
          </a:prstGeom>
          <a:noFill/>
          <a:ln>
            <a:noFill/>
          </a:ln>
        </p:spPr>
        <p:txBody>
          <a:bodyPr anchorCtr="0" anchor="t" bIns="43225" lIns="86475" spcFirstLastPara="1" rIns="86475" wrap="square" tIns="43225">
            <a:spAutoFit/>
          </a:bodyPr>
          <a:lstStyle/>
          <a:p>
            <a:pPr indent="0" lvl="0" marL="0" marR="0" rtl="0" algn="l">
              <a:lnSpc>
                <a:spcPct val="120000"/>
              </a:lnSpc>
              <a:spcBef>
                <a:spcPts val="0"/>
              </a:spcBef>
              <a:spcAft>
                <a:spcPts val="0"/>
              </a:spcAft>
              <a:buNone/>
            </a:pPr>
            <a:r>
              <a:rPr b="1" i="0" lang="en-US" sz="2600" u="none" cap="none" strike="noStrike">
                <a:solidFill>
                  <a:schemeClr val="dk1"/>
                </a:solidFill>
                <a:latin typeface="Arial"/>
                <a:ea typeface="Arial"/>
                <a:cs typeface="Arial"/>
                <a:sym typeface="Arial"/>
              </a:rPr>
              <a:t>Learning Objectives</a:t>
            </a:r>
            <a:endParaRPr/>
          </a:p>
        </p:txBody>
      </p:sp>
      <p:sp>
        <p:nvSpPr>
          <p:cNvPr id="51" name="Google Shape;51;p1"/>
          <p:cNvSpPr/>
          <p:nvPr/>
        </p:nvSpPr>
        <p:spPr>
          <a:xfrm>
            <a:off x="533400" y="2590800"/>
            <a:ext cx="870857" cy="636270"/>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52" name="Google Shape;52;p1"/>
          <p:cNvSpPr/>
          <p:nvPr/>
        </p:nvSpPr>
        <p:spPr>
          <a:xfrm>
            <a:off x="1411224" y="2590800"/>
            <a:ext cx="7184571" cy="636270"/>
          </a:xfrm>
          <a:prstGeom prst="rect">
            <a:avLst/>
          </a:prstGeom>
          <a:solidFill>
            <a:srgbClr val="0000BF"/>
          </a:solidFill>
          <a:ln>
            <a:noFill/>
          </a:ln>
        </p:spPr>
        <p:txBody>
          <a:bodyPr anchorCtr="0" anchor="ctr" bIns="45700" lIns="91425" spcFirstLastPara="1" rIns="91425" wrap="square" tIns="45700">
            <a:noAutofit/>
          </a:bodyPr>
          <a:lstStyle/>
          <a:p>
            <a:pPr indent="0" lvl="0" marL="117475" marR="0" rtl="0" algn="l">
              <a:spcBef>
                <a:spcPts val="0"/>
              </a:spcBef>
              <a:spcAft>
                <a:spcPts val="0"/>
              </a:spcAft>
              <a:buNone/>
            </a:pPr>
            <a:r>
              <a:rPr b="1" i="0" lang="en-US" sz="1800" u="none" cap="none" strike="noStrike">
                <a:solidFill>
                  <a:schemeClr val="lt1"/>
                </a:solidFill>
                <a:latin typeface="Arial"/>
                <a:ea typeface="Arial"/>
                <a:cs typeface="Arial"/>
                <a:sym typeface="Arial"/>
              </a:rPr>
              <a:t>Describe cost systems and the flow of costs in a job order system.</a:t>
            </a:r>
            <a:endParaRPr/>
          </a:p>
        </p:txBody>
      </p:sp>
      <p:sp>
        <p:nvSpPr>
          <p:cNvPr id="53" name="Google Shape;53;p1"/>
          <p:cNvSpPr/>
          <p:nvPr/>
        </p:nvSpPr>
        <p:spPr>
          <a:xfrm>
            <a:off x="709023" y="2645664"/>
            <a:ext cx="522514" cy="514350"/>
          </a:xfrm>
          <a:prstGeom prst="ellipse">
            <a:avLst/>
          </a:prstGeom>
          <a:solidFill>
            <a:srgbClr val="FF00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i="0" lang="en-US" sz="2400" u="none" cap="none" strike="noStrike">
                <a:solidFill>
                  <a:schemeClr val="lt1"/>
                </a:solidFill>
                <a:latin typeface="Arial"/>
                <a:ea typeface="Arial"/>
                <a:cs typeface="Arial"/>
                <a:sym typeface="Arial"/>
              </a:rPr>
              <a:t>1</a:t>
            </a:r>
            <a:endParaRPr b="1" sz="2400">
              <a:solidFill>
                <a:schemeClr val="lt1"/>
              </a:solidFill>
              <a:latin typeface="Arial"/>
              <a:ea typeface="Arial"/>
              <a:cs typeface="Arial"/>
              <a:sym typeface="Arial"/>
            </a:endParaRPr>
          </a:p>
        </p:txBody>
      </p:sp>
      <p:sp>
        <p:nvSpPr>
          <p:cNvPr id="54" name="Google Shape;54;p1"/>
          <p:cNvSpPr/>
          <p:nvPr/>
        </p:nvSpPr>
        <p:spPr>
          <a:xfrm>
            <a:off x="533400" y="3352800"/>
            <a:ext cx="870857" cy="636270"/>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55" name="Google Shape;55;p1"/>
          <p:cNvSpPr/>
          <p:nvPr/>
        </p:nvSpPr>
        <p:spPr>
          <a:xfrm>
            <a:off x="1411224" y="3352800"/>
            <a:ext cx="7184571" cy="636270"/>
          </a:xfrm>
          <a:prstGeom prst="rect">
            <a:avLst/>
          </a:prstGeom>
          <a:solidFill>
            <a:srgbClr val="0000BF"/>
          </a:solidFill>
          <a:ln>
            <a:noFill/>
          </a:ln>
        </p:spPr>
        <p:txBody>
          <a:bodyPr anchorCtr="0" anchor="ctr" bIns="45700" lIns="91425" spcFirstLastPara="1" rIns="91425" wrap="square" tIns="45700">
            <a:noAutofit/>
          </a:bodyPr>
          <a:lstStyle/>
          <a:p>
            <a:pPr indent="0" lvl="0" marL="117475" marR="0" rtl="0" algn="l">
              <a:spcBef>
                <a:spcPts val="0"/>
              </a:spcBef>
              <a:spcAft>
                <a:spcPts val="0"/>
              </a:spcAft>
              <a:buNone/>
            </a:pPr>
            <a:r>
              <a:rPr b="1" lang="en-US" sz="1800">
                <a:solidFill>
                  <a:schemeClr val="lt1"/>
                </a:solidFill>
                <a:latin typeface="Arial"/>
                <a:ea typeface="Arial"/>
                <a:cs typeface="Arial"/>
                <a:sym typeface="Arial"/>
              </a:rPr>
              <a:t>Use a job cost sheet to assign costs to work in process.</a:t>
            </a:r>
            <a:endParaRPr/>
          </a:p>
        </p:txBody>
      </p:sp>
      <p:sp>
        <p:nvSpPr>
          <p:cNvPr id="56" name="Google Shape;56;p1"/>
          <p:cNvSpPr/>
          <p:nvPr/>
        </p:nvSpPr>
        <p:spPr>
          <a:xfrm>
            <a:off x="709023" y="3407664"/>
            <a:ext cx="522514" cy="514350"/>
          </a:xfrm>
          <a:prstGeom prst="ellipse">
            <a:avLst/>
          </a:prstGeom>
          <a:solidFill>
            <a:srgbClr val="FF00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2</a:t>
            </a:r>
            <a:endParaRPr/>
          </a:p>
        </p:txBody>
      </p:sp>
      <p:sp>
        <p:nvSpPr>
          <p:cNvPr id="57" name="Google Shape;57;p1"/>
          <p:cNvSpPr/>
          <p:nvPr/>
        </p:nvSpPr>
        <p:spPr>
          <a:xfrm>
            <a:off x="533400" y="4114800"/>
            <a:ext cx="870857" cy="636270"/>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58" name="Google Shape;58;p1"/>
          <p:cNvSpPr/>
          <p:nvPr/>
        </p:nvSpPr>
        <p:spPr>
          <a:xfrm>
            <a:off x="1411224" y="4114800"/>
            <a:ext cx="7184571" cy="636270"/>
          </a:xfrm>
          <a:prstGeom prst="rect">
            <a:avLst/>
          </a:prstGeom>
          <a:solidFill>
            <a:srgbClr val="0000BF"/>
          </a:solidFill>
          <a:ln>
            <a:noFill/>
          </a:ln>
        </p:spPr>
        <p:txBody>
          <a:bodyPr anchorCtr="0" anchor="ctr" bIns="45700" lIns="91425" spcFirstLastPara="1" rIns="91425" wrap="square" tIns="45700">
            <a:noAutofit/>
          </a:bodyPr>
          <a:lstStyle/>
          <a:p>
            <a:pPr indent="0" lvl="0" marL="117475" marR="0" rtl="0" algn="l">
              <a:spcBef>
                <a:spcPts val="0"/>
              </a:spcBef>
              <a:spcAft>
                <a:spcPts val="0"/>
              </a:spcAft>
              <a:buNone/>
            </a:pPr>
            <a:r>
              <a:rPr b="1" lang="en-US" sz="1800">
                <a:solidFill>
                  <a:schemeClr val="lt1"/>
                </a:solidFill>
                <a:latin typeface="Arial"/>
                <a:ea typeface="Arial"/>
                <a:cs typeface="Arial"/>
                <a:sym typeface="Arial"/>
              </a:rPr>
              <a:t>Demonstrate how to determine and use the predetermined overhead rate.</a:t>
            </a:r>
            <a:endParaRPr/>
          </a:p>
        </p:txBody>
      </p:sp>
      <p:sp>
        <p:nvSpPr>
          <p:cNvPr id="59" name="Google Shape;59;p1"/>
          <p:cNvSpPr/>
          <p:nvPr/>
        </p:nvSpPr>
        <p:spPr>
          <a:xfrm>
            <a:off x="709023" y="4169664"/>
            <a:ext cx="522514" cy="514350"/>
          </a:xfrm>
          <a:prstGeom prst="ellipse">
            <a:avLst/>
          </a:prstGeom>
          <a:solidFill>
            <a:srgbClr val="FF00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3</a:t>
            </a:r>
            <a:endParaRPr/>
          </a:p>
        </p:txBody>
      </p:sp>
      <p:sp>
        <p:nvSpPr>
          <p:cNvPr id="60" name="Google Shape;60;p1"/>
          <p:cNvSpPr/>
          <p:nvPr/>
        </p:nvSpPr>
        <p:spPr>
          <a:xfrm>
            <a:off x="533400" y="4876800"/>
            <a:ext cx="870857" cy="636270"/>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61" name="Google Shape;61;p1"/>
          <p:cNvSpPr/>
          <p:nvPr/>
        </p:nvSpPr>
        <p:spPr>
          <a:xfrm>
            <a:off x="1411224" y="4876800"/>
            <a:ext cx="7184571" cy="636270"/>
          </a:xfrm>
          <a:prstGeom prst="rect">
            <a:avLst/>
          </a:prstGeom>
          <a:solidFill>
            <a:srgbClr val="0000BF"/>
          </a:solidFill>
          <a:ln>
            <a:noFill/>
          </a:ln>
        </p:spPr>
        <p:txBody>
          <a:bodyPr anchorCtr="0" anchor="ctr" bIns="45700" lIns="91425" spcFirstLastPara="1" rIns="91425" wrap="square" tIns="45700">
            <a:noAutofit/>
          </a:bodyPr>
          <a:lstStyle/>
          <a:p>
            <a:pPr indent="0" lvl="0" marL="117475" marR="0" rtl="0" algn="l">
              <a:spcBef>
                <a:spcPts val="0"/>
              </a:spcBef>
              <a:spcAft>
                <a:spcPts val="0"/>
              </a:spcAft>
              <a:buNone/>
            </a:pPr>
            <a:r>
              <a:rPr b="1" lang="en-US" sz="1800">
                <a:solidFill>
                  <a:schemeClr val="lt1"/>
                </a:solidFill>
                <a:latin typeface="Arial"/>
                <a:ea typeface="Arial"/>
                <a:cs typeface="Arial"/>
                <a:sym typeface="Arial"/>
              </a:rPr>
              <a:t>Prepare entries for manufacturing and service jobs completed and sold.</a:t>
            </a:r>
            <a:endParaRPr/>
          </a:p>
        </p:txBody>
      </p:sp>
      <p:sp>
        <p:nvSpPr>
          <p:cNvPr id="62" name="Google Shape;62;p1"/>
          <p:cNvSpPr/>
          <p:nvPr/>
        </p:nvSpPr>
        <p:spPr>
          <a:xfrm>
            <a:off x="709023" y="4931664"/>
            <a:ext cx="522514" cy="514350"/>
          </a:xfrm>
          <a:prstGeom prst="ellipse">
            <a:avLst/>
          </a:prstGeom>
          <a:solidFill>
            <a:srgbClr val="FF00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4</a:t>
            </a:r>
            <a:endParaRPr/>
          </a:p>
        </p:txBody>
      </p:sp>
      <p:sp>
        <p:nvSpPr>
          <p:cNvPr id="63" name="Google Shape;63;p1"/>
          <p:cNvSpPr/>
          <p:nvPr/>
        </p:nvSpPr>
        <p:spPr>
          <a:xfrm>
            <a:off x="533400" y="5638800"/>
            <a:ext cx="870857" cy="636270"/>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64" name="Google Shape;64;p1"/>
          <p:cNvSpPr/>
          <p:nvPr/>
        </p:nvSpPr>
        <p:spPr>
          <a:xfrm>
            <a:off x="1411224" y="5638800"/>
            <a:ext cx="7184571" cy="636270"/>
          </a:xfrm>
          <a:prstGeom prst="rect">
            <a:avLst/>
          </a:prstGeom>
          <a:solidFill>
            <a:srgbClr val="0000BF"/>
          </a:solidFill>
          <a:ln>
            <a:noFill/>
          </a:ln>
        </p:spPr>
        <p:txBody>
          <a:bodyPr anchorCtr="0" anchor="ctr" bIns="45700" lIns="91425" spcFirstLastPara="1" rIns="91425" wrap="square" tIns="45700">
            <a:noAutofit/>
          </a:bodyPr>
          <a:lstStyle/>
          <a:p>
            <a:pPr indent="0" lvl="0" marL="117475" marR="0" rtl="0" algn="l">
              <a:spcBef>
                <a:spcPts val="0"/>
              </a:spcBef>
              <a:spcAft>
                <a:spcPts val="0"/>
              </a:spcAft>
              <a:buNone/>
            </a:pPr>
            <a:r>
              <a:rPr b="1" lang="en-US" sz="1800">
                <a:solidFill>
                  <a:schemeClr val="lt1"/>
                </a:solidFill>
                <a:latin typeface="Arial"/>
                <a:ea typeface="Arial"/>
                <a:cs typeface="Arial"/>
                <a:sym typeface="Arial"/>
              </a:rPr>
              <a:t>Distinguish between under- and overapplied manufacturing overhead.</a:t>
            </a:r>
            <a:endParaRPr/>
          </a:p>
        </p:txBody>
      </p:sp>
      <p:sp>
        <p:nvSpPr>
          <p:cNvPr id="65" name="Google Shape;65;p1"/>
          <p:cNvSpPr/>
          <p:nvPr/>
        </p:nvSpPr>
        <p:spPr>
          <a:xfrm>
            <a:off x="709023" y="5693664"/>
            <a:ext cx="522514" cy="514350"/>
          </a:xfrm>
          <a:prstGeom prst="ellipse">
            <a:avLst/>
          </a:prstGeom>
          <a:solidFill>
            <a:srgbClr val="FF00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5</a:t>
            </a:r>
            <a:endParaRPr/>
          </a:p>
        </p:txBody>
      </p:sp>
      <p:sp>
        <p:nvSpPr>
          <p:cNvPr id="66" name="Google Shape;66;p1"/>
          <p:cNvSpPr/>
          <p:nvPr/>
        </p:nvSpPr>
        <p:spPr>
          <a:xfrm>
            <a:off x="0" y="228600"/>
            <a:ext cx="9144000" cy="1752600"/>
          </a:xfrm>
          <a:prstGeom prst="rect">
            <a:avLst/>
          </a:prstGeom>
          <a:solidFill>
            <a:srgbClr val="C5C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67" name="Google Shape;67;p1"/>
          <p:cNvSpPr/>
          <p:nvPr/>
        </p:nvSpPr>
        <p:spPr>
          <a:xfrm>
            <a:off x="0" y="685800"/>
            <a:ext cx="2514600" cy="914400"/>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68" name="Google Shape;68;p1"/>
          <p:cNvSpPr txBox="1"/>
          <p:nvPr/>
        </p:nvSpPr>
        <p:spPr>
          <a:xfrm>
            <a:off x="2514600" y="473383"/>
            <a:ext cx="6248400" cy="1320362"/>
          </a:xfrm>
          <a:prstGeom prst="rect">
            <a:avLst/>
          </a:pr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58738" marR="0" rtl="0" algn="l">
              <a:lnSpc>
                <a:spcPct val="110000"/>
              </a:lnSpc>
              <a:spcBef>
                <a:spcPts val="0"/>
              </a:spcBef>
              <a:spcAft>
                <a:spcPts val="0"/>
              </a:spcAft>
              <a:buClr>
                <a:schemeClr val="accent2"/>
              </a:buClr>
              <a:buSzPts val="4800"/>
              <a:buFont typeface="Arial"/>
              <a:buNone/>
            </a:pPr>
            <a:r>
              <a:rPr b="1" i="0" lang="en-US" sz="4800" u="none">
                <a:solidFill>
                  <a:srgbClr val="CC0000"/>
                </a:solidFill>
                <a:latin typeface="Arial"/>
                <a:ea typeface="Arial"/>
                <a:cs typeface="Arial"/>
                <a:sym typeface="Arial"/>
              </a:rPr>
              <a:t>Job Order Costing</a:t>
            </a:r>
            <a:endParaRPr b="1" i="0" sz="4800" u="none">
              <a:solidFill>
                <a:srgbClr val="CC0000"/>
              </a:solidFill>
              <a:latin typeface="Arial"/>
              <a:ea typeface="Arial"/>
              <a:cs typeface="Arial"/>
              <a:sym typeface="Arial"/>
            </a:endParaRPr>
          </a:p>
        </p:txBody>
      </p:sp>
      <p:sp>
        <p:nvSpPr>
          <p:cNvPr id="69" name="Google Shape;69;p1"/>
          <p:cNvSpPr/>
          <p:nvPr/>
        </p:nvSpPr>
        <p:spPr>
          <a:xfrm>
            <a:off x="762000" y="381000"/>
            <a:ext cx="1447800" cy="1447800"/>
          </a:xfrm>
          <a:prstGeom prst="ellipse">
            <a:avLst/>
          </a:prstGeom>
          <a:solidFill>
            <a:srgbClr val="0027A4"/>
          </a:solid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7200">
                <a:solidFill>
                  <a:schemeClr val="lt1"/>
                </a:solidFill>
                <a:latin typeface="Arial"/>
                <a:ea typeface="Arial"/>
                <a:cs typeface="Arial"/>
                <a:sym typeface="Arial"/>
              </a:rPr>
              <a:t>20</a:t>
            </a:r>
            <a:endParaRPr b="1" sz="7200">
              <a:solidFill>
                <a:schemeClr val="lt1"/>
              </a:solidFill>
              <a:latin typeface="Arial"/>
              <a:ea typeface="Arial"/>
              <a:cs typeface="Arial"/>
              <a:sym typeface="Arial"/>
            </a:endParaRP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
          <p:cNvSpPr/>
          <p:nvPr/>
        </p:nvSpPr>
        <p:spPr>
          <a:xfrm>
            <a:off x="609600" y="1371600"/>
            <a:ext cx="8001000" cy="4953000"/>
          </a:xfrm>
          <a:prstGeom prst="rect">
            <a:avLst/>
          </a:prstGeom>
          <a:noFill/>
          <a:ln>
            <a:noFill/>
          </a:ln>
        </p:spPr>
        <p:txBody>
          <a:bodyPr anchorCtr="0" anchor="t" bIns="45700" lIns="91425" spcFirstLastPara="1" rIns="91425" wrap="square" tIns="137150">
            <a:noAutofit/>
          </a:bodyPr>
          <a:lstStyle/>
          <a:p>
            <a:pPr indent="0" lvl="0" marL="0" marR="0" rtl="0" algn="l">
              <a:lnSpc>
                <a:spcPct val="120000"/>
              </a:lnSpc>
              <a:spcBef>
                <a:spcPts val="0"/>
              </a:spcBef>
              <a:spcAft>
                <a:spcPts val="0"/>
              </a:spcAft>
              <a:buNone/>
            </a:pPr>
            <a:r>
              <a:rPr b="1" lang="en-US" sz="2500">
                <a:solidFill>
                  <a:srgbClr val="0000BF"/>
                </a:solidFill>
                <a:latin typeface="Arial"/>
                <a:ea typeface="Arial"/>
                <a:cs typeface="Arial"/>
                <a:sym typeface="Arial"/>
              </a:rPr>
              <a:t>Cost Accounting</a:t>
            </a:r>
            <a:r>
              <a:rPr lang="en-US" sz="2400">
                <a:solidFill>
                  <a:srgbClr val="0000BF"/>
                </a:solidFill>
                <a:latin typeface="Arial"/>
                <a:ea typeface="Arial"/>
                <a:cs typeface="Arial"/>
                <a:sym typeface="Arial"/>
              </a:rPr>
              <a:t> </a:t>
            </a:r>
            <a:r>
              <a:rPr lang="en-US" sz="2400">
                <a:solidFill>
                  <a:schemeClr val="dk1"/>
                </a:solidFill>
                <a:latin typeface="Arial"/>
                <a:ea typeface="Arial"/>
                <a:cs typeface="Arial"/>
                <a:sym typeface="Arial"/>
              </a:rPr>
              <a:t>involves</a:t>
            </a:r>
            <a:endParaRPr sz="2400">
              <a:solidFill>
                <a:schemeClr val="dk1"/>
              </a:solidFill>
              <a:latin typeface="Arial"/>
              <a:ea typeface="Arial"/>
              <a:cs typeface="Arial"/>
              <a:sym typeface="Arial"/>
            </a:endParaRPr>
          </a:p>
          <a:p>
            <a:pPr indent="0" lvl="0" marL="0" marR="0" rtl="0" algn="l">
              <a:lnSpc>
                <a:spcPct val="120000"/>
              </a:lnSpc>
              <a:spcBef>
                <a:spcPts val="920"/>
              </a:spcBef>
              <a:spcAft>
                <a:spcPts val="0"/>
              </a:spcAft>
              <a:buClr>
                <a:schemeClr val="dk1"/>
              </a:buClr>
              <a:buSzPts val="1600"/>
              <a:buFont typeface="Comic Sans MS"/>
              <a:buNone/>
            </a:pPr>
            <a:r>
              <a:rPr lang="en-US" sz="2000">
                <a:solidFill>
                  <a:schemeClr val="dk1"/>
                </a:solidFill>
                <a:latin typeface="Arial"/>
                <a:ea typeface="Arial"/>
                <a:cs typeface="Arial"/>
                <a:sym typeface="Arial"/>
              </a:rPr>
              <a:t>	</a:t>
            </a:r>
            <a:r>
              <a:rPr b="1" lang="en-US" sz="2300">
                <a:solidFill>
                  <a:schemeClr val="dk1"/>
                </a:solidFill>
                <a:latin typeface="Arial"/>
                <a:ea typeface="Arial"/>
                <a:cs typeface="Arial"/>
                <a:sym typeface="Arial"/>
              </a:rPr>
              <a:t>Measuring</a:t>
            </a:r>
            <a:r>
              <a:rPr lang="en-US" sz="2300">
                <a:solidFill>
                  <a:schemeClr val="dk1"/>
                </a:solidFill>
                <a:latin typeface="Arial"/>
                <a:ea typeface="Arial"/>
                <a:cs typeface="Arial"/>
                <a:sym typeface="Arial"/>
              </a:rPr>
              <a:t>,</a:t>
            </a:r>
            <a:endParaRPr/>
          </a:p>
          <a:p>
            <a:pPr indent="0" lvl="0" marL="0" marR="0" rtl="0" algn="l">
              <a:lnSpc>
                <a:spcPct val="120000"/>
              </a:lnSpc>
              <a:spcBef>
                <a:spcPts val="920"/>
              </a:spcBef>
              <a:spcAft>
                <a:spcPts val="0"/>
              </a:spcAft>
              <a:buClr>
                <a:schemeClr val="dk1"/>
              </a:buClr>
              <a:buSzPts val="1840"/>
              <a:buFont typeface="Comic Sans MS"/>
              <a:buNone/>
            </a:pPr>
            <a:r>
              <a:rPr lang="en-US" sz="2300">
                <a:solidFill>
                  <a:schemeClr val="dk1"/>
                </a:solidFill>
                <a:latin typeface="Arial"/>
                <a:ea typeface="Arial"/>
                <a:cs typeface="Arial"/>
                <a:sym typeface="Arial"/>
              </a:rPr>
              <a:t>		</a:t>
            </a:r>
            <a:r>
              <a:rPr b="1" lang="en-US" sz="2300">
                <a:solidFill>
                  <a:schemeClr val="dk1"/>
                </a:solidFill>
                <a:latin typeface="Arial"/>
                <a:ea typeface="Arial"/>
                <a:cs typeface="Arial"/>
                <a:sym typeface="Arial"/>
              </a:rPr>
              <a:t>Recording</a:t>
            </a:r>
            <a:r>
              <a:rPr lang="en-US" sz="2300">
                <a:solidFill>
                  <a:schemeClr val="dk1"/>
                </a:solidFill>
                <a:latin typeface="Arial"/>
                <a:ea typeface="Arial"/>
                <a:cs typeface="Arial"/>
                <a:sym typeface="Arial"/>
              </a:rPr>
              <a:t>, and</a:t>
            </a:r>
            <a:endParaRPr/>
          </a:p>
          <a:p>
            <a:pPr indent="0" lvl="0" marL="0" marR="0" rtl="0" algn="l">
              <a:lnSpc>
                <a:spcPct val="120000"/>
              </a:lnSpc>
              <a:spcBef>
                <a:spcPts val="920"/>
              </a:spcBef>
              <a:spcAft>
                <a:spcPts val="0"/>
              </a:spcAft>
              <a:buClr>
                <a:schemeClr val="dk1"/>
              </a:buClr>
              <a:buSzPts val="1840"/>
              <a:buFont typeface="Comic Sans MS"/>
              <a:buNone/>
            </a:pPr>
            <a:r>
              <a:rPr lang="en-US" sz="2300">
                <a:solidFill>
                  <a:schemeClr val="dk1"/>
                </a:solidFill>
                <a:latin typeface="Arial"/>
                <a:ea typeface="Arial"/>
                <a:cs typeface="Arial"/>
                <a:sym typeface="Arial"/>
              </a:rPr>
              <a:t>			 </a:t>
            </a:r>
            <a:r>
              <a:rPr b="1" lang="en-US" sz="2300">
                <a:solidFill>
                  <a:schemeClr val="dk1"/>
                </a:solidFill>
                <a:latin typeface="Arial"/>
                <a:ea typeface="Arial"/>
                <a:cs typeface="Arial"/>
                <a:sym typeface="Arial"/>
              </a:rPr>
              <a:t>Reporting product costs.</a:t>
            </a:r>
            <a:endParaRPr/>
          </a:p>
          <a:p>
            <a:pPr indent="-457200" lvl="1" marL="685800" marR="0" rtl="0" algn="l">
              <a:lnSpc>
                <a:spcPct val="120000"/>
              </a:lnSpc>
              <a:spcBef>
                <a:spcPts val="180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Accounts are fully integrated into the general ledger.</a:t>
            </a:r>
            <a:endParaRPr/>
          </a:p>
          <a:p>
            <a:pPr indent="-457200" lvl="1" marL="685800" marR="0" rtl="0" algn="l">
              <a:lnSpc>
                <a:spcPct val="120000"/>
              </a:lnSpc>
              <a:spcBef>
                <a:spcPts val="105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Perpetual inventory system provides immediate, up-to-date information on the cost of a product.</a:t>
            </a:r>
            <a:endParaRPr b="0" i="0" sz="2100" u="none" cap="none" strike="noStrike">
              <a:solidFill>
                <a:schemeClr val="dk1"/>
              </a:solidFill>
              <a:latin typeface="Arial"/>
              <a:ea typeface="Arial"/>
              <a:cs typeface="Arial"/>
              <a:sym typeface="Arial"/>
            </a:endParaRPr>
          </a:p>
          <a:p>
            <a:pPr indent="-457200" lvl="1" marL="685800" marR="0" rtl="0" algn="l">
              <a:lnSpc>
                <a:spcPct val="120000"/>
              </a:lnSpc>
              <a:spcBef>
                <a:spcPts val="105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Two basic types: (1) a </a:t>
            </a:r>
            <a:r>
              <a:rPr b="1" i="0" lang="en-US" sz="2100" u="none" cap="none" strike="noStrike">
                <a:solidFill>
                  <a:schemeClr val="dk1"/>
                </a:solidFill>
                <a:latin typeface="Arial"/>
                <a:ea typeface="Arial"/>
                <a:cs typeface="Arial"/>
                <a:sym typeface="Arial"/>
              </a:rPr>
              <a:t>process order cost system</a:t>
            </a:r>
            <a:r>
              <a:rPr b="0" i="0" lang="en-US" sz="2100" u="none" cap="none" strike="noStrike">
                <a:solidFill>
                  <a:schemeClr val="dk1"/>
                </a:solidFill>
                <a:latin typeface="Arial"/>
                <a:ea typeface="Arial"/>
                <a:cs typeface="Arial"/>
                <a:sym typeface="Arial"/>
              </a:rPr>
              <a:t> and (2) a </a:t>
            </a:r>
            <a:r>
              <a:rPr b="1" i="0" lang="en-US" sz="2100" u="none" cap="none" strike="noStrike">
                <a:solidFill>
                  <a:schemeClr val="dk1"/>
                </a:solidFill>
                <a:latin typeface="Arial"/>
                <a:ea typeface="Arial"/>
                <a:cs typeface="Arial"/>
                <a:sym typeface="Arial"/>
              </a:rPr>
              <a:t>job order cost system</a:t>
            </a:r>
            <a:r>
              <a:rPr b="0" i="0" lang="en-US" sz="2100" u="none" cap="none" strike="noStrike">
                <a:solidFill>
                  <a:schemeClr val="dk1"/>
                </a:solidFill>
                <a:latin typeface="Arial"/>
                <a:ea typeface="Arial"/>
                <a:cs typeface="Arial"/>
                <a:sym typeface="Arial"/>
              </a:rPr>
              <a:t>.</a:t>
            </a:r>
            <a:endParaRPr/>
          </a:p>
        </p:txBody>
      </p:sp>
      <p:sp>
        <p:nvSpPr>
          <p:cNvPr id="75" name="Google Shape;75;p2"/>
          <p:cNvSpPr/>
          <p:nvPr/>
        </p:nvSpPr>
        <p:spPr>
          <a:xfrm>
            <a:off x="2057400" y="16002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Arial"/>
              <a:ea typeface="Arial"/>
              <a:cs typeface="Arial"/>
              <a:sym typeface="Arial"/>
            </a:endParaRPr>
          </a:p>
        </p:txBody>
      </p:sp>
      <p:sp>
        <p:nvSpPr>
          <p:cNvPr id="76" name="Google Shape;76;p2"/>
          <p:cNvSpPr/>
          <p:nvPr/>
        </p:nvSpPr>
        <p:spPr>
          <a:xfrm>
            <a:off x="290286" y="389796"/>
            <a:ext cx="2249714" cy="697737"/>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77" name="Google Shape;77;p2"/>
          <p:cNvSpPr/>
          <p:nvPr/>
        </p:nvSpPr>
        <p:spPr>
          <a:xfrm>
            <a:off x="2540000" y="274320"/>
            <a:ext cx="6241143" cy="928688"/>
          </a:xfrm>
          <a:prstGeom prst="rect">
            <a:avLst/>
          </a:prstGeom>
          <a:solidFill>
            <a:srgbClr val="000099"/>
          </a:solidFill>
          <a:ln>
            <a:noFill/>
          </a:ln>
        </p:spPr>
        <p:txBody>
          <a:bodyPr anchorCtr="0" anchor="ctr" bIns="45700" lIns="91425" spcFirstLastPara="1" rIns="91425" wrap="square" tIns="0">
            <a:noAutofit/>
          </a:bodyPr>
          <a:lstStyle/>
          <a:p>
            <a:pPr indent="0" lvl="0" marL="117475" marR="0" rtl="0" algn="l">
              <a:spcBef>
                <a:spcPts val="0"/>
              </a:spcBef>
              <a:spcAft>
                <a:spcPts val="0"/>
              </a:spcAft>
              <a:buNone/>
            </a:pPr>
            <a:r>
              <a:rPr b="1" lang="en-US" sz="2400">
                <a:solidFill>
                  <a:schemeClr val="lt1"/>
                </a:solidFill>
                <a:latin typeface="Arial"/>
                <a:ea typeface="Arial"/>
                <a:cs typeface="Arial"/>
                <a:sym typeface="Arial"/>
              </a:rPr>
              <a:t>Describe cost systems and the flow of </a:t>
            </a:r>
            <a:endParaRPr/>
          </a:p>
          <a:p>
            <a:pPr indent="0" lvl="0" marL="117475" marR="0" rtl="0" algn="l">
              <a:spcBef>
                <a:spcPts val="0"/>
              </a:spcBef>
              <a:spcAft>
                <a:spcPts val="0"/>
              </a:spcAft>
              <a:buNone/>
            </a:pPr>
            <a:r>
              <a:rPr b="1" lang="en-US" sz="2400">
                <a:solidFill>
                  <a:schemeClr val="lt1"/>
                </a:solidFill>
                <a:latin typeface="Arial"/>
                <a:ea typeface="Arial"/>
                <a:cs typeface="Arial"/>
                <a:sym typeface="Arial"/>
              </a:rPr>
              <a:t>costs in a job order system.</a:t>
            </a:r>
            <a:endParaRPr/>
          </a:p>
        </p:txBody>
      </p:sp>
      <p:sp>
        <p:nvSpPr>
          <p:cNvPr id="78" name="Google Shape;78;p2"/>
          <p:cNvSpPr/>
          <p:nvPr/>
        </p:nvSpPr>
        <p:spPr>
          <a:xfrm>
            <a:off x="1872343" y="485775"/>
            <a:ext cx="522514" cy="514350"/>
          </a:xfrm>
          <a:prstGeom prst="ellipse">
            <a:avLst/>
          </a:prstGeom>
          <a:solidFill>
            <a:srgbClr val="FF0000"/>
          </a:solidFill>
          <a:ln>
            <a:noFill/>
          </a:ln>
        </p:spPr>
        <p:txBody>
          <a:bodyPr anchorCtr="0" anchor="ctr" bIns="43225" lIns="86475" spcFirstLastPara="1" rIns="86475" wrap="square" tIns="18275">
            <a:noAutofit/>
          </a:bodyPr>
          <a:lstStyle/>
          <a:p>
            <a:pPr indent="0" lvl="0" marL="0" marR="0" rtl="0" algn="ctr">
              <a:spcBef>
                <a:spcPts val="0"/>
              </a:spcBef>
              <a:spcAft>
                <a:spcPts val="0"/>
              </a:spcAft>
              <a:buNone/>
            </a:pPr>
            <a:r>
              <a:rPr b="1" lang="en-US" sz="2700">
                <a:solidFill>
                  <a:schemeClr val="lt1"/>
                </a:solidFill>
                <a:latin typeface="Arial"/>
                <a:ea typeface="Arial"/>
                <a:cs typeface="Arial"/>
                <a:sym typeface="Arial"/>
              </a:rPr>
              <a:t>1</a:t>
            </a:r>
            <a:endParaRPr/>
          </a:p>
        </p:txBody>
      </p:sp>
      <p:sp>
        <p:nvSpPr>
          <p:cNvPr id="79" name="Google Shape;79;p2"/>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3"/>
          <p:cNvSpPr/>
          <p:nvPr/>
        </p:nvSpPr>
        <p:spPr>
          <a:xfrm>
            <a:off x="609600" y="1371600"/>
            <a:ext cx="7848600" cy="3733800"/>
          </a:xfrm>
          <a:prstGeom prst="rect">
            <a:avLst/>
          </a:prstGeom>
          <a:noFill/>
          <a:ln>
            <a:noFill/>
          </a:ln>
        </p:spPr>
        <p:txBody>
          <a:bodyPr anchorCtr="0" anchor="t" bIns="45700" lIns="91425" spcFirstLastPara="1" rIns="91425" wrap="square" tIns="45700">
            <a:noAutofit/>
          </a:bodyPr>
          <a:lstStyle/>
          <a:p>
            <a:pPr indent="-457200" lvl="1" marL="685800" marR="0" rtl="0" algn="l">
              <a:lnSpc>
                <a:spcPct val="125000"/>
              </a:lnSpc>
              <a:spcBef>
                <a:spcPts val="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Used when a large volume of similar products are manufactured - (cereal, refining of petroleum, production of ice cream).</a:t>
            </a:r>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Costs are accumulated for a time period – (week or month).</a:t>
            </a:r>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Costs are assigned to departments or processes for a specified period of time.</a:t>
            </a:r>
            <a:endParaRPr/>
          </a:p>
        </p:txBody>
      </p:sp>
      <p:sp>
        <p:nvSpPr>
          <p:cNvPr id="85" name="Google Shape;85;p3"/>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Process Cost System</a:t>
            </a:r>
            <a:endParaRPr b="1" i="0" sz="3200">
              <a:solidFill>
                <a:srgbClr val="0000BF"/>
              </a:solidFill>
              <a:latin typeface="Arial"/>
              <a:ea typeface="Arial"/>
              <a:cs typeface="Arial"/>
              <a:sym typeface="Arial"/>
            </a:endParaRPr>
          </a:p>
        </p:txBody>
      </p:sp>
      <p:cxnSp>
        <p:nvCxnSpPr>
          <p:cNvPr id="86" name="Google Shape;86;p3"/>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87" name="Google Shape;87;p3"/>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4"/>
          <p:cNvSpPr/>
          <p:nvPr/>
        </p:nvSpPr>
        <p:spPr>
          <a:xfrm>
            <a:off x="381000" y="3881735"/>
            <a:ext cx="159530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Process cost system</a:t>
            </a:r>
            <a:endParaRPr sz="1200">
              <a:solidFill>
                <a:schemeClr val="dk1"/>
              </a:solidFill>
              <a:latin typeface="Arial"/>
              <a:ea typeface="Arial"/>
              <a:cs typeface="Arial"/>
              <a:sym typeface="Arial"/>
            </a:endParaRPr>
          </a:p>
        </p:txBody>
      </p:sp>
      <p:sp>
        <p:nvSpPr>
          <p:cNvPr id="93" name="Google Shape;93;p4"/>
          <p:cNvSpPr/>
          <p:nvPr/>
        </p:nvSpPr>
        <p:spPr>
          <a:xfrm>
            <a:off x="8077200" y="2133600"/>
            <a:ext cx="762000" cy="76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pic>
        <p:nvPicPr>
          <p:cNvPr id="94" name="Google Shape;94;p4"/>
          <p:cNvPicPr preferRelativeResize="0"/>
          <p:nvPr/>
        </p:nvPicPr>
        <p:blipFill rotWithShape="1">
          <a:blip r:embed="rId3">
            <a:alphaModFix/>
          </a:blip>
          <a:srcRect b="0" l="0" r="0" t="0"/>
          <a:stretch/>
        </p:blipFill>
        <p:spPr>
          <a:xfrm>
            <a:off x="381000" y="1595735"/>
            <a:ext cx="8534400" cy="2154238"/>
          </a:xfrm>
          <a:prstGeom prst="rect">
            <a:avLst/>
          </a:prstGeom>
          <a:noFill/>
          <a:ln>
            <a:noFill/>
          </a:ln>
        </p:spPr>
      </p:pic>
      <p:sp>
        <p:nvSpPr>
          <p:cNvPr id="95" name="Google Shape;95;p4"/>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Process Cost System</a:t>
            </a:r>
            <a:endParaRPr/>
          </a:p>
        </p:txBody>
      </p:sp>
      <p:cxnSp>
        <p:nvCxnSpPr>
          <p:cNvPr id="96" name="Google Shape;96;p4"/>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97" name="Google Shape;97;p4"/>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5"/>
          <p:cNvSpPr/>
          <p:nvPr/>
        </p:nvSpPr>
        <p:spPr>
          <a:xfrm>
            <a:off x="2057400" y="16002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Arial"/>
              <a:ea typeface="Arial"/>
              <a:cs typeface="Arial"/>
              <a:sym typeface="Arial"/>
            </a:endParaRPr>
          </a:p>
        </p:txBody>
      </p:sp>
      <p:sp>
        <p:nvSpPr>
          <p:cNvPr id="103" name="Google Shape;103;p5"/>
          <p:cNvSpPr/>
          <p:nvPr/>
        </p:nvSpPr>
        <p:spPr>
          <a:xfrm>
            <a:off x="609599" y="1371600"/>
            <a:ext cx="8105775" cy="3962400"/>
          </a:xfrm>
          <a:prstGeom prst="rect">
            <a:avLst/>
          </a:prstGeom>
          <a:noFill/>
          <a:ln>
            <a:noFill/>
          </a:ln>
        </p:spPr>
        <p:txBody>
          <a:bodyPr anchorCtr="0" anchor="t" bIns="45700" lIns="91425" spcFirstLastPara="1" rIns="91425" wrap="square" tIns="45700">
            <a:noAutofit/>
          </a:bodyPr>
          <a:lstStyle/>
          <a:p>
            <a:pPr indent="-457200" lvl="1" marL="685800" marR="0" rtl="0" algn="l">
              <a:lnSpc>
                <a:spcPct val="125000"/>
              </a:lnSpc>
              <a:spcBef>
                <a:spcPts val="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Costs are assigned to each job or batch.</a:t>
            </a:r>
            <a:endParaRPr/>
          </a:p>
          <a:p>
            <a:pPr indent="-457200" lvl="1" marL="685800" marR="0" rtl="0" algn="l">
              <a:lnSpc>
                <a:spcPct val="125000"/>
              </a:lnSpc>
              <a:spcBef>
                <a:spcPts val="120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Important feature</a:t>
            </a:r>
            <a:r>
              <a:rPr b="0" i="0" lang="en-US" sz="2200" u="none" cap="none" strike="noStrike">
                <a:solidFill>
                  <a:schemeClr val="dk1"/>
                </a:solidFill>
                <a:latin typeface="Arial"/>
                <a:ea typeface="Arial"/>
                <a:cs typeface="Arial"/>
                <a:sym typeface="Arial"/>
              </a:rPr>
              <a:t>:  Each job or batch has its own distinguishing characteristics. </a:t>
            </a:r>
            <a:endParaRPr/>
          </a:p>
          <a:p>
            <a:pPr indent="-457200" lvl="1" marL="685800" marR="0" rtl="0" algn="l">
              <a:lnSpc>
                <a:spcPct val="125000"/>
              </a:lnSpc>
              <a:spcBef>
                <a:spcPts val="120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Objective </a:t>
            </a:r>
            <a:r>
              <a:rPr b="0" i="0" lang="en-US" sz="2200" u="none" cap="none" strike="noStrike">
                <a:solidFill>
                  <a:schemeClr val="dk1"/>
                </a:solidFill>
                <a:latin typeface="Arial"/>
                <a:ea typeface="Arial"/>
                <a:cs typeface="Arial"/>
                <a:sym typeface="Arial"/>
              </a:rPr>
              <a:t>is to compute the </a:t>
            </a:r>
            <a:r>
              <a:rPr b="1" i="0" lang="en-US" sz="2200" u="none" cap="none" strike="noStrike">
                <a:solidFill>
                  <a:schemeClr val="dk1"/>
                </a:solidFill>
                <a:latin typeface="Arial"/>
                <a:ea typeface="Arial"/>
                <a:cs typeface="Arial"/>
                <a:sym typeface="Arial"/>
              </a:rPr>
              <a:t>cost per job</a:t>
            </a:r>
            <a:r>
              <a:rPr b="0" i="0" lang="en-US" sz="2200" u="none" cap="none" strike="noStrike">
                <a:solidFill>
                  <a:schemeClr val="dk1"/>
                </a:solidFill>
                <a:latin typeface="Arial"/>
                <a:ea typeface="Arial"/>
                <a:cs typeface="Arial"/>
                <a:sym typeface="Arial"/>
              </a:rPr>
              <a:t>.</a:t>
            </a:r>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Measures costs for each job completed – not for set time periods.</a:t>
            </a:r>
            <a:endParaRPr/>
          </a:p>
        </p:txBody>
      </p:sp>
      <p:sp>
        <p:nvSpPr>
          <p:cNvPr id="104" name="Google Shape;104;p5"/>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
        <p:nvSpPr>
          <p:cNvPr id="105" name="Google Shape;105;p5"/>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Job Order Cost System</a:t>
            </a:r>
            <a:endParaRPr/>
          </a:p>
        </p:txBody>
      </p:sp>
      <p:cxnSp>
        <p:nvCxnSpPr>
          <p:cNvPr id="106" name="Google Shape;106;p5"/>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6"/>
          <p:cNvSpPr/>
          <p:nvPr/>
        </p:nvSpPr>
        <p:spPr>
          <a:xfrm>
            <a:off x="2057400" y="16002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Arial"/>
              <a:ea typeface="Arial"/>
              <a:cs typeface="Arial"/>
              <a:sym typeface="Arial"/>
            </a:endParaRPr>
          </a:p>
        </p:txBody>
      </p:sp>
      <p:sp>
        <p:nvSpPr>
          <p:cNvPr id="112" name="Google Shape;112;p6"/>
          <p:cNvSpPr/>
          <p:nvPr/>
        </p:nvSpPr>
        <p:spPr>
          <a:xfrm>
            <a:off x="609599" y="1371600"/>
            <a:ext cx="8105775" cy="938719"/>
          </a:xfrm>
          <a:prstGeom prst="rect">
            <a:avLst/>
          </a:prstGeom>
          <a:noFill/>
          <a:ln>
            <a:noFill/>
          </a:ln>
        </p:spPr>
        <p:txBody>
          <a:bodyPr anchorCtr="0" anchor="t" bIns="45700" lIns="91425" spcFirstLastPara="1" rIns="91425" wrap="square" tIns="45700">
            <a:spAutoFit/>
          </a:bodyPr>
          <a:lstStyle/>
          <a:p>
            <a:pPr indent="0" lvl="1" marL="0" marR="0" rtl="0" algn="l">
              <a:lnSpc>
                <a:spcPct val="125000"/>
              </a:lnSpc>
              <a:spcBef>
                <a:spcPts val="0"/>
              </a:spcBef>
              <a:spcAft>
                <a:spcPts val="0"/>
              </a:spcAft>
              <a:buNone/>
            </a:pPr>
            <a:r>
              <a:rPr b="1" i="0" lang="en-US" sz="2200" u="none" cap="none" strike="noStrike">
                <a:solidFill>
                  <a:schemeClr val="dk1"/>
                </a:solidFill>
                <a:latin typeface="Arial"/>
                <a:ea typeface="Arial"/>
                <a:cs typeface="Arial"/>
                <a:sym typeface="Arial"/>
              </a:rPr>
              <a:t>Illustration 20-2 </a:t>
            </a:r>
            <a:r>
              <a:rPr b="0" i="0" lang="en-US" sz="2200" u="none" cap="none" strike="noStrike">
                <a:solidFill>
                  <a:schemeClr val="dk1"/>
                </a:solidFill>
                <a:latin typeface="Arial"/>
                <a:ea typeface="Arial"/>
                <a:cs typeface="Arial"/>
                <a:sym typeface="Arial"/>
              </a:rPr>
              <a:t>shows the recording of costs in a job order cost system for Disney as it produced two different films.</a:t>
            </a:r>
            <a:endParaRPr b="0" i="0" sz="2200" u="none" cap="none" strike="noStrike">
              <a:solidFill>
                <a:schemeClr val="dk1"/>
              </a:solidFill>
              <a:latin typeface="Arial"/>
              <a:ea typeface="Arial"/>
              <a:cs typeface="Arial"/>
              <a:sym typeface="Arial"/>
            </a:endParaRPr>
          </a:p>
        </p:txBody>
      </p:sp>
      <p:sp>
        <p:nvSpPr>
          <p:cNvPr id="113" name="Google Shape;113;p6"/>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
        <p:nvSpPr>
          <p:cNvPr id="114" name="Google Shape;114;p6"/>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Job Order Cost System</a:t>
            </a:r>
            <a:endParaRPr/>
          </a:p>
        </p:txBody>
      </p:sp>
      <p:cxnSp>
        <p:nvCxnSpPr>
          <p:cNvPr id="115" name="Google Shape;115;p6"/>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pic>
        <p:nvPicPr>
          <p:cNvPr id="116" name="Google Shape;116;p6"/>
          <p:cNvPicPr preferRelativeResize="0"/>
          <p:nvPr/>
        </p:nvPicPr>
        <p:blipFill rotWithShape="1">
          <a:blip r:embed="rId3">
            <a:alphaModFix/>
          </a:blip>
          <a:srcRect b="0" l="0" r="0" t="0"/>
          <a:stretch/>
        </p:blipFill>
        <p:spPr>
          <a:xfrm>
            <a:off x="457200" y="2438400"/>
            <a:ext cx="8181974" cy="3818708"/>
          </a:xfrm>
          <a:prstGeom prst="rect">
            <a:avLst/>
          </a:prstGeom>
          <a:noFill/>
          <a:ln>
            <a:noFill/>
          </a:ln>
        </p:spPr>
      </p:pic>
      <p:sp>
        <p:nvSpPr>
          <p:cNvPr id="117" name="Google Shape;117;p6"/>
          <p:cNvSpPr/>
          <p:nvPr/>
        </p:nvSpPr>
        <p:spPr>
          <a:xfrm>
            <a:off x="914400" y="6248400"/>
            <a:ext cx="320836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20-2</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Job order cost system for Disney</a:t>
            </a:r>
            <a:endParaRP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p:nvPr/>
        </p:nvSpPr>
        <p:spPr>
          <a:xfrm>
            <a:off x="4724400" y="533400"/>
            <a:ext cx="4114800" cy="576620"/>
          </a:xfrm>
          <a:prstGeom prst="rect">
            <a:avLst/>
          </a:prstGeom>
          <a:solidFill>
            <a:srgbClr val="BFBFBF"/>
          </a:solidFill>
          <a:ln>
            <a:noFill/>
          </a:ln>
        </p:spPr>
        <p:txBody>
          <a:bodyPr anchorCtr="0" anchor="ctr" bIns="45700" lIns="91425" spcFirstLastPara="1" rIns="91425" wrap="square" tIns="0">
            <a:noAutofit/>
          </a:bodyPr>
          <a:lstStyle/>
          <a:p>
            <a:pPr indent="0" lvl="0" marL="53975" marR="0" rtl="0" algn="l">
              <a:lnSpc>
                <a:spcPct val="100000"/>
              </a:lnSpc>
              <a:spcBef>
                <a:spcPts val="0"/>
              </a:spcBef>
              <a:spcAft>
                <a:spcPts val="0"/>
              </a:spcAft>
              <a:buClr>
                <a:schemeClr val="dk1"/>
              </a:buClr>
              <a:buSzPts val="2400"/>
              <a:buFont typeface="Times New Roman"/>
              <a:buNone/>
            </a:pPr>
            <a:r>
              <a:t/>
            </a:r>
            <a:endParaRPr b="1" i="0" sz="2400" u="none" cap="none" strike="noStrike">
              <a:solidFill>
                <a:schemeClr val="dk1"/>
              </a:solidFill>
              <a:latin typeface="Arial"/>
              <a:ea typeface="Arial"/>
              <a:cs typeface="Arial"/>
              <a:sym typeface="Arial"/>
            </a:endParaRPr>
          </a:p>
        </p:txBody>
      </p:sp>
      <p:sp>
        <p:nvSpPr>
          <p:cNvPr id="123" name="Google Shape;123;p7"/>
          <p:cNvSpPr/>
          <p:nvPr/>
        </p:nvSpPr>
        <p:spPr>
          <a:xfrm>
            <a:off x="381000" y="1363242"/>
            <a:ext cx="8305800" cy="4899803"/>
          </a:xfrm>
          <a:prstGeom prst="rect">
            <a:avLst/>
          </a:prstGeom>
          <a:noFill/>
          <a:ln>
            <a:noFill/>
          </a:ln>
        </p:spPr>
        <p:txBody>
          <a:bodyPr anchorCtr="0" anchor="t" bIns="91425" lIns="91425" spcFirstLastPara="1" rIns="91425" wrap="square" tIns="91425">
            <a:spAutoFit/>
          </a:bodyPr>
          <a:lstStyle/>
          <a:p>
            <a:pPr indent="0" lvl="0" marL="0" marR="0" rtl="0" algn="just">
              <a:lnSpc>
                <a:spcPct val="120000"/>
              </a:lnSpc>
              <a:spcBef>
                <a:spcPts val="0"/>
              </a:spcBef>
              <a:spcAft>
                <a:spcPts val="0"/>
              </a:spcAft>
              <a:buNone/>
            </a:pPr>
            <a:r>
              <a:rPr b="1" lang="en-US" sz="1900">
                <a:solidFill>
                  <a:schemeClr val="dk1"/>
                </a:solidFill>
                <a:latin typeface="Arial"/>
                <a:ea typeface="Arial"/>
                <a:cs typeface="Arial"/>
                <a:sym typeface="Arial"/>
              </a:rPr>
              <a:t>Jobs Won, Money Lost</a:t>
            </a:r>
            <a:endParaRPr/>
          </a:p>
          <a:p>
            <a:pPr indent="0" lvl="0" marL="0" marR="0" rtl="0" algn="just">
              <a:lnSpc>
                <a:spcPct val="120000"/>
              </a:lnSpc>
              <a:spcBef>
                <a:spcPts val="1200"/>
              </a:spcBef>
              <a:spcAft>
                <a:spcPts val="0"/>
              </a:spcAft>
              <a:buNone/>
            </a:pPr>
            <a:r>
              <a:rPr lang="en-US" sz="1900">
                <a:solidFill>
                  <a:schemeClr val="dk1"/>
                </a:solidFill>
                <a:latin typeface="Arial"/>
                <a:ea typeface="Arial"/>
                <a:cs typeface="Arial"/>
                <a:sym typeface="Arial"/>
              </a:rPr>
              <a:t>Many companies suffer from poor cost accounting. As result, they sometimes make products they should not be selling at all, or they buy product components that they could more profitably make themselves. Also, inaccurate cost data leads companies to misallocate capital and frustrates efforts by plant managers to improve efficiency. For example, consider the case of a diversified company in the business of rebuilding diesel locomotives. The managers thought they were making money, but a consulting firm found that the company had seriously underestimated costs. The company bailed out of the business and not a moment too soon. Says the consultant who advised the company, “The more contracts it won, the more money it lost.” Given that situation, a company cannot stay in business very long!</a:t>
            </a:r>
            <a:endParaRPr/>
          </a:p>
        </p:txBody>
      </p:sp>
      <p:sp>
        <p:nvSpPr>
          <p:cNvPr id="124" name="Google Shape;124;p7"/>
          <p:cNvSpPr/>
          <p:nvPr/>
        </p:nvSpPr>
        <p:spPr>
          <a:xfrm>
            <a:off x="365760" y="457200"/>
            <a:ext cx="4358640" cy="729020"/>
          </a:xfrm>
          <a:prstGeom prst="rect">
            <a:avLst/>
          </a:prstGeom>
          <a:solidFill>
            <a:srgbClr val="C00000"/>
          </a:solidFill>
          <a:ln>
            <a:noFill/>
          </a:ln>
        </p:spPr>
        <p:txBody>
          <a:bodyPr anchorCtr="0" anchor="ctr" bIns="45700" lIns="91425" spcFirstLastPara="1" rIns="91425" wrap="square" tIns="0">
            <a:noAutofit/>
          </a:bodyPr>
          <a:lstStyle/>
          <a:p>
            <a:pPr indent="0" lvl="0" marL="53975" marR="0" rtl="0" algn="l">
              <a:lnSpc>
                <a:spcPct val="100000"/>
              </a:lnSpc>
              <a:spcBef>
                <a:spcPts val="0"/>
              </a:spcBef>
              <a:spcAft>
                <a:spcPts val="0"/>
              </a:spcAft>
              <a:buClr>
                <a:schemeClr val="accent3"/>
              </a:buClr>
              <a:buSzPts val="3200"/>
              <a:buFont typeface="Arial"/>
              <a:buNone/>
            </a:pPr>
            <a:r>
              <a:rPr b="1" i="0" lang="en-US" sz="3200" u="none" cap="none" strike="noStrike">
                <a:solidFill>
                  <a:schemeClr val="accent3"/>
                </a:solidFill>
                <a:latin typeface="Arial"/>
                <a:ea typeface="Arial"/>
                <a:cs typeface="Arial"/>
                <a:sym typeface="Arial"/>
              </a:rPr>
              <a:t>Management Insight</a:t>
            </a:r>
            <a:endParaRPr/>
          </a:p>
        </p:txBody>
      </p:sp>
      <p:sp>
        <p:nvSpPr>
          <p:cNvPr id="125" name="Google Shape;125;p7"/>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p:nvPr/>
        </p:nvSpPr>
        <p:spPr>
          <a:xfrm>
            <a:off x="609600" y="1371600"/>
            <a:ext cx="7848600" cy="43434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chemeClr val="dk1"/>
              </a:buClr>
              <a:buSzPts val="2300"/>
              <a:buFont typeface="Comic Sans MS"/>
              <a:buNone/>
            </a:pPr>
            <a:r>
              <a:rPr lang="en-US" sz="2300">
                <a:solidFill>
                  <a:schemeClr val="dk1"/>
                </a:solidFill>
                <a:latin typeface="Arial"/>
                <a:ea typeface="Arial"/>
                <a:cs typeface="Arial"/>
                <a:sym typeface="Arial"/>
              </a:rPr>
              <a:t>The flow of costs parallels the physical flow of the materials as they are converted into finished goods</a:t>
            </a:r>
            <a:endParaRPr/>
          </a:p>
          <a:p>
            <a:pPr indent="-457200" lvl="1" marL="685800" marR="0" rtl="0" algn="l">
              <a:lnSpc>
                <a:spcPct val="125000"/>
              </a:lnSpc>
              <a:spcBef>
                <a:spcPts val="143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Manufacturing costs are assigned to the </a:t>
            </a:r>
            <a:r>
              <a:rPr b="1" i="0" lang="en-US" sz="2200" u="none" cap="none" strike="noStrike">
                <a:solidFill>
                  <a:schemeClr val="dk1"/>
                </a:solidFill>
                <a:latin typeface="Arial"/>
                <a:ea typeface="Arial"/>
                <a:cs typeface="Arial"/>
                <a:sym typeface="Arial"/>
              </a:rPr>
              <a:t>Work in Process (WIP) Inventory </a:t>
            </a:r>
            <a:r>
              <a:rPr b="0" i="0" lang="en-US" sz="2200" u="none" cap="none" strike="noStrike">
                <a:solidFill>
                  <a:schemeClr val="dk1"/>
                </a:solidFill>
                <a:latin typeface="Arial"/>
                <a:ea typeface="Arial"/>
                <a:cs typeface="Arial"/>
                <a:sym typeface="Arial"/>
              </a:rPr>
              <a:t>account.</a:t>
            </a:r>
            <a:endParaRPr b="0" i="0" sz="2200" u="none" cap="none" strike="noStrike">
              <a:solidFill>
                <a:schemeClr val="dk1"/>
              </a:solidFill>
              <a:latin typeface="Arial"/>
              <a:ea typeface="Arial"/>
              <a:cs typeface="Arial"/>
              <a:sym typeface="Arial"/>
            </a:endParaRPr>
          </a:p>
          <a:p>
            <a:pPr indent="-457200" lvl="1" marL="685800" marR="0" rtl="0" algn="l">
              <a:lnSpc>
                <a:spcPct val="125000"/>
              </a:lnSpc>
              <a:spcBef>
                <a:spcPts val="143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Cost of completed jobs is transferred to the </a:t>
            </a:r>
            <a:r>
              <a:rPr b="1" i="0" lang="en-US" sz="2200" u="none" cap="none" strike="noStrike">
                <a:solidFill>
                  <a:schemeClr val="dk1"/>
                </a:solidFill>
                <a:latin typeface="Arial"/>
                <a:ea typeface="Arial"/>
                <a:cs typeface="Arial"/>
                <a:sym typeface="Arial"/>
              </a:rPr>
              <a:t>Finished Goods Inventory </a:t>
            </a:r>
            <a:r>
              <a:rPr b="0" i="0" lang="en-US" sz="2200" u="none" cap="none" strike="noStrike">
                <a:solidFill>
                  <a:schemeClr val="dk1"/>
                </a:solidFill>
                <a:latin typeface="Arial"/>
                <a:ea typeface="Arial"/>
                <a:cs typeface="Arial"/>
                <a:sym typeface="Arial"/>
              </a:rPr>
              <a:t>account.</a:t>
            </a:r>
            <a:endParaRPr b="1" i="0" sz="2200" u="none" cap="none" strike="noStrike">
              <a:solidFill>
                <a:schemeClr val="dk1"/>
              </a:solidFill>
              <a:latin typeface="Arial"/>
              <a:ea typeface="Arial"/>
              <a:cs typeface="Arial"/>
              <a:sym typeface="Arial"/>
            </a:endParaRPr>
          </a:p>
          <a:p>
            <a:pPr indent="-457200" lvl="1" marL="685800" marR="0" rtl="0" algn="l">
              <a:lnSpc>
                <a:spcPct val="125000"/>
              </a:lnSpc>
              <a:spcBef>
                <a:spcPts val="143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When units are sold, the cost is transferred to the </a:t>
            </a:r>
            <a:r>
              <a:rPr b="1" i="0" lang="en-US" sz="2200" u="none" cap="none" strike="noStrike">
                <a:solidFill>
                  <a:schemeClr val="dk1"/>
                </a:solidFill>
                <a:latin typeface="Arial"/>
                <a:ea typeface="Arial"/>
                <a:cs typeface="Arial"/>
                <a:sym typeface="Arial"/>
              </a:rPr>
              <a:t>Cost of Goods Sold</a:t>
            </a:r>
            <a:r>
              <a:rPr b="0" i="0" lang="en-US" sz="2200" u="none" cap="none" strike="noStrike">
                <a:solidFill>
                  <a:schemeClr val="dk1"/>
                </a:solidFill>
                <a:latin typeface="Arial"/>
                <a:ea typeface="Arial"/>
                <a:cs typeface="Arial"/>
                <a:sym typeface="Arial"/>
              </a:rPr>
              <a:t> account.</a:t>
            </a:r>
            <a:endParaRPr b="0" i="0" sz="2200" u="none" cap="none" strike="noStrike">
              <a:solidFill>
                <a:schemeClr val="dk1"/>
              </a:solidFill>
              <a:latin typeface="Arial"/>
              <a:ea typeface="Arial"/>
              <a:cs typeface="Arial"/>
              <a:sym typeface="Arial"/>
            </a:endParaRPr>
          </a:p>
        </p:txBody>
      </p:sp>
      <p:sp>
        <p:nvSpPr>
          <p:cNvPr id="131" name="Google Shape;131;p8"/>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Job Order Cost Flow</a:t>
            </a:r>
            <a:endParaRPr/>
          </a:p>
        </p:txBody>
      </p:sp>
      <p:cxnSp>
        <p:nvCxnSpPr>
          <p:cNvPr id="132" name="Google Shape;132;p8"/>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133" name="Google Shape;133;p8"/>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9"/>
          <p:cNvPicPr preferRelativeResize="0"/>
          <p:nvPr/>
        </p:nvPicPr>
        <p:blipFill rotWithShape="1">
          <a:blip r:embed="rId3">
            <a:alphaModFix/>
          </a:blip>
          <a:srcRect b="0" l="0" r="0" t="0"/>
          <a:stretch/>
        </p:blipFill>
        <p:spPr>
          <a:xfrm>
            <a:off x="304800" y="1447800"/>
            <a:ext cx="8576535" cy="3238500"/>
          </a:xfrm>
          <a:prstGeom prst="rect">
            <a:avLst/>
          </a:prstGeom>
          <a:noFill/>
          <a:ln>
            <a:noFill/>
          </a:ln>
        </p:spPr>
      </p:pic>
      <p:sp>
        <p:nvSpPr>
          <p:cNvPr id="139" name="Google Shape;139;p9"/>
          <p:cNvSpPr/>
          <p:nvPr/>
        </p:nvSpPr>
        <p:spPr>
          <a:xfrm>
            <a:off x="457200" y="5072063"/>
            <a:ext cx="76200" cy="76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40" name="Google Shape;140;p9"/>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Job Order Cost Flow</a:t>
            </a:r>
            <a:endParaRPr/>
          </a:p>
        </p:txBody>
      </p:sp>
      <p:cxnSp>
        <p:nvCxnSpPr>
          <p:cNvPr id="141" name="Google Shape;141;p9"/>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142" name="Google Shape;142;p9"/>
          <p:cNvSpPr/>
          <p:nvPr/>
        </p:nvSpPr>
        <p:spPr>
          <a:xfrm>
            <a:off x="304800" y="4687669"/>
            <a:ext cx="17526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20-3</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b="1" lang="en-US" sz="1200">
                <a:solidFill>
                  <a:schemeClr val="dk1"/>
                </a:solidFill>
                <a:latin typeface="Arial"/>
                <a:ea typeface="Arial"/>
                <a:cs typeface="Arial"/>
                <a:sym typeface="Arial"/>
              </a:rPr>
              <a:t>Flow of costs in job order costing</a:t>
            </a:r>
            <a:endParaRPr b="1" sz="1200">
              <a:solidFill>
                <a:schemeClr val="dk1"/>
              </a:solidFill>
              <a:latin typeface="Arial"/>
              <a:ea typeface="Arial"/>
              <a:cs typeface="Arial"/>
              <a:sym typeface="Arial"/>
            </a:endParaRPr>
          </a:p>
        </p:txBody>
      </p:sp>
      <p:sp>
        <p:nvSpPr>
          <p:cNvPr id="143" name="Google Shape;143;p9"/>
          <p:cNvSpPr/>
          <p:nvPr/>
        </p:nvSpPr>
        <p:spPr>
          <a:xfrm>
            <a:off x="2295098" y="4773305"/>
            <a:ext cx="6420277" cy="861774"/>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chemeClr val="dk1"/>
              </a:buClr>
              <a:buSzPts val="2000"/>
              <a:buFont typeface="Comic Sans MS"/>
              <a:buNone/>
            </a:pPr>
            <a:r>
              <a:rPr lang="en-US" sz="2000">
                <a:solidFill>
                  <a:schemeClr val="dk1"/>
                </a:solidFill>
                <a:latin typeface="Arial"/>
                <a:ea typeface="Arial"/>
                <a:cs typeface="Arial"/>
                <a:sym typeface="Arial"/>
              </a:rPr>
              <a:t>Basic overview of the flow of costs in a manufacturing setting for production of a fire truck.</a:t>
            </a:r>
            <a:endParaRPr/>
          </a:p>
        </p:txBody>
      </p:sp>
      <p:sp>
        <p:nvSpPr>
          <p:cNvPr id="144" name="Google Shape;144;p9"/>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0"/>
          <p:cNvSpPr/>
          <p:nvPr/>
        </p:nvSpPr>
        <p:spPr>
          <a:xfrm>
            <a:off x="609600" y="1371600"/>
            <a:ext cx="4419600" cy="48895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rgbClr val="800000"/>
              </a:buClr>
              <a:buSzPts val="2080"/>
              <a:buFont typeface="Noto Sans Symbols"/>
              <a:buNone/>
            </a:pPr>
            <a:r>
              <a:rPr b="1" lang="en-US" sz="2600">
                <a:solidFill>
                  <a:schemeClr val="dk1"/>
                </a:solidFill>
                <a:latin typeface="Arial"/>
                <a:ea typeface="Arial"/>
                <a:cs typeface="Arial"/>
                <a:sym typeface="Arial"/>
              </a:rPr>
              <a:t>RAW MATERIAL COSTS</a:t>
            </a:r>
            <a:endParaRPr b="1" sz="2600">
              <a:solidFill>
                <a:schemeClr val="dk1"/>
              </a:solidFill>
              <a:latin typeface="Arial"/>
              <a:ea typeface="Arial"/>
              <a:cs typeface="Arial"/>
              <a:sym typeface="Arial"/>
            </a:endParaRPr>
          </a:p>
        </p:txBody>
      </p:sp>
      <p:sp>
        <p:nvSpPr>
          <p:cNvPr id="150" name="Google Shape;150;p10"/>
          <p:cNvSpPr/>
          <p:nvPr/>
        </p:nvSpPr>
        <p:spPr>
          <a:xfrm>
            <a:off x="609599" y="1997075"/>
            <a:ext cx="8105775" cy="2166683"/>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200">
                <a:solidFill>
                  <a:schemeClr val="dk1"/>
                </a:solidFill>
                <a:latin typeface="Arial"/>
                <a:ea typeface="Arial"/>
                <a:cs typeface="Arial"/>
                <a:sym typeface="Arial"/>
              </a:rPr>
              <a:t>Illustration:</a:t>
            </a:r>
            <a:r>
              <a:rPr lang="en-US" sz="2200">
                <a:solidFill>
                  <a:schemeClr val="dk1"/>
                </a:solidFill>
                <a:latin typeface="Arial"/>
                <a:ea typeface="Arial"/>
                <a:cs typeface="Arial"/>
                <a:sym typeface="Arial"/>
              </a:rPr>
              <a:t>  Wallace Company purchases 2,000 lithium batteries (Stock No. AA2746) at $5 per unit ($10,000) and 800 electronic modules (Stock No. AA2850) at $40 per unit ($32,000) for a total cost of $42,000 ($10,000 + $32,000). The entry to record this purchase on January 4 is:</a:t>
            </a:r>
            <a:endParaRPr/>
          </a:p>
        </p:txBody>
      </p:sp>
      <p:sp>
        <p:nvSpPr>
          <p:cNvPr id="151" name="Google Shape;151;p10"/>
          <p:cNvSpPr/>
          <p:nvPr/>
        </p:nvSpPr>
        <p:spPr>
          <a:xfrm>
            <a:off x="609600" y="4343400"/>
            <a:ext cx="7772400" cy="935192"/>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Jan. 4 	Raw Materials Inventory 	42,000</a:t>
            </a:r>
            <a:endParaRPr/>
          </a:p>
          <a:p>
            <a:pPr indent="0" lvl="0" marL="0" marR="0" rtl="0" algn="l">
              <a:lnSpc>
                <a:spcPct val="120000"/>
              </a:lnSpc>
              <a:spcBef>
                <a:spcPts val="440"/>
              </a:spcBef>
              <a:spcAft>
                <a:spcPts val="0"/>
              </a:spcAft>
              <a:buNone/>
            </a:pPr>
            <a:r>
              <a:rPr lang="en-US" sz="2200">
                <a:solidFill>
                  <a:schemeClr val="dk1"/>
                </a:solidFill>
                <a:latin typeface="Arial"/>
                <a:ea typeface="Arial"/>
                <a:cs typeface="Arial"/>
                <a:sym typeface="Arial"/>
              </a:rPr>
              <a:t>		Accounts Payable 		42,000</a:t>
            </a:r>
            <a:endParaRPr/>
          </a:p>
        </p:txBody>
      </p:sp>
      <p:sp>
        <p:nvSpPr>
          <p:cNvPr id="152" name="Google Shape;152;p10"/>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Accumulating Manufacturing Costs</a:t>
            </a:r>
            <a:endParaRPr/>
          </a:p>
        </p:txBody>
      </p:sp>
      <p:cxnSp>
        <p:nvCxnSpPr>
          <p:cNvPr id="153" name="Google Shape;153;p10"/>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154" name="Google Shape;154;p10"/>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animEffect filter="fade" transition="in">
                                      <p:cBhvr>
                                        <p:cTn dur="500"/>
                                        <p:tgtEl>
                                          <p:spTgt spid="1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animEffect filter="fade" transition="in">
                                      <p:cBhvr>
                                        <p:cTn dur="500"/>
                                        <p:tgtEl>
                                          <p:spTgt spid="151">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1"/>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160" name="Google Shape;160;p11"/>
          <p:cNvSpPr/>
          <p:nvPr/>
        </p:nvSpPr>
        <p:spPr>
          <a:xfrm>
            <a:off x="609600" y="1371600"/>
            <a:ext cx="4419600" cy="48895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rgbClr val="800000"/>
              </a:buClr>
              <a:buSzPts val="2080"/>
              <a:buFont typeface="Noto Sans Symbols"/>
              <a:buNone/>
            </a:pPr>
            <a:r>
              <a:rPr b="1" lang="en-US" sz="2600">
                <a:solidFill>
                  <a:schemeClr val="dk1"/>
                </a:solidFill>
                <a:latin typeface="Arial"/>
                <a:ea typeface="Arial"/>
                <a:cs typeface="Arial"/>
                <a:sym typeface="Arial"/>
              </a:rPr>
              <a:t>FACTORY LABOR COSTS</a:t>
            </a:r>
            <a:endParaRPr b="1" sz="2600">
              <a:solidFill>
                <a:schemeClr val="dk1"/>
              </a:solidFill>
              <a:latin typeface="Arial"/>
              <a:ea typeface="Arial"/>
              <a:cs typeface="Arial"/>
              <a:sym typeface="Arial"/>
            </a:endParaRPr>
          </a:p>
        </p:txBody>
      </p:sp>
      <p:sp>
        <p:nvSpPr>
          <p:cNvPr id="161" name="Google Shape;161;p11"/>
          <p:cNvSpPr/>
          <p:nvPr/>
        </p:nvSpPr>
        <p:spPr>
          <a:xfrm>
            <a:off x="609600" y="1981200"/>
            <a:ext cx="8153400" cy="2689198"/>
          </a:xfrm>
          <a:prstGeom prst="rect">
            <a:avLst/>
          </a:prstGeom>
          <a:noFill/>
          <a:ln>
            <a:noFill/>
          </a:ln>
        </p:spPr>
        <p:txBody>
          <a:bodyPr anchorCtr="0" anchor="t" bIns="45700" lIns="91425" spcFirstLastPara="1" rIns="91425" wrap="square" tIns="45700">
            <a:spAutoFit/>
          </a:bodyPr>
          <a:lstStyle/>
          <a:p>
            <a:pPr indent="-457200" lvl="0" marL="457200" marR="0" rtl="0" algn="l">
              <a:lnSpc>
                <a:spcPct val="125000"/>
              </a:lnSpc>
              <a:spcBef>
                <a:spcPts val="0"/>
              </a:spcBef>
              <a:spcAft>
                <a:spcPts val="0"/>
              </a:spcAft>
              <a:buClr>
                <a:schemeClr val="dk1"/>
              </a:buClr>
              <a:buSzPts val="2300"/>
              <a:buFont typeface="Comic Sans MS"/>
              <a:buNone/>
            </a:pPr>
            <a:r>
              <a:rPr b="1" lang="en-US" sz="2300">
                <a:solidFill>
                  <a:schemeClr val="dk1"/>
                </a:solidFill>
                <a:latin typeface="Arial"/>
                <a:ea typeface="Arial"/>
                <a:cs typeface="Arial"/>
                <a:sym typeface="Arial"/>
              </a:rPr>
              <a:t>Consists of three costs:</a:t>
            </a:r>
            <a:endParaRPr/>
          </a:p>
          <a:p>
            <a:pPr indent="-457200" lvl="1" marL="685800" marR="0" rtl="0" algn="l">
              <a:lnSpc>
                <a:spcPct val="125000"/>
              </a:lnSpc>
              <a:spcBef>
                <a:spcPts val="1200"/>
              </a:spcBef>
              <a:spcAft>
                <a:spcPts val="0"/>
              </a:spcAft>
              <a:buClr>
                <a:schemeClr val="dk1"/>
              </a:buClr>
              <a:buSzPts val="2200"/>
              <a:buFont typeface="Comic Sans MS"/>
              <a:buAutoNum type="arabicPeriod"/>
            </a:pPr>
            <a:r>
              <a:rPr b="0" i="0" lang="en-US" sz="2200" u="none" cap="none" strike="noStrike">
                <a:solidFill>
                  <a:schemeClr val="dk1"/>
                </a:solidFill>
                <a:latin typeface="Arial"/>
                <a:ea typeface="Arial"/>
                <a:cs typeface="Arial"/>
                <a:sym typeface="Arial"/>
              </a:rPr>
              <a:t>Gross earnings of factory workers, </a:t>
            </a:r>
            <a:endParaRPr/>
          </a:p>
          <a:p>
            <a:pPr indent="-457200" lvl="1" marL="685800" marR="0" rtl="0" algn="l">
              <a:lnSpc>
                <a:spcPct val="125000"/>
              </a:lnSpc>
              <a:spcBef>
                <a:spcPts val="1200"/>
              </a:spcBef>
              <a:spcAft>
                <a:spcPts val="0"/>
              </a:spcAft>
              <a:buClr>
                <a:schemeClr val="dk1"/>
              </a:buClr>
              <a:buSzPts val="2200"/>
              <a:buFont typeface="Comic Sans MS"/>
              <a:buAutoNum type="arabicPeriod"/>
            </a:pPr>
            <a:r>
              <a:rPr b="0" i="0" lang="en-US" sz="2200" u="none" cap="none" strike="noStrike">
                <a:solidFill>
                  <a:schemeClr val="dk1"/>
                </a:solidFill>
                <a:latin typeface="Arial"/>
                <a:ea typeface="Arial"/>
                <a:cs typeface="Arial"/>
                <a:sym typeface="Arial"/>
              </a:rPr>
              <a:t>Employer payroll taxes on these earnings, and </a:t>
            </a:r>
            <a:endParaRPr/>
          </a:p>
          <a:p>
            <a:pPr indent="-457200" lvl="1" marL="685800" marR="0" rtl="0" algn="l">
              <a:lnSpc>
                <a:spcPct val="125000"/>
              </a:lnSpc>
              <a:spcBef>
                <a:spcPts val="1200"/>
              </a:spcBef>
              <a:spcAft>
                <a:spcPts val="0"/>
              </a:spcAft>
              <a:buClr>
                <a:schemeClr val="dk1"/>
              </a:buClr>
              <a:buSzPts val="2200"/>
              <a:buFont typeface="Comic Sans MS"/>
              <a:buAutoNum type="arabicPeriod"/>
            </a:pPr>
            <a:r>
              <a:rPr b="0" i="0" lang="en-US" sz="2200" u="none" cap="none" strike="noStrike">
                <a:solidFill>
                  <a:schemeClr val="dk1"/>
                </a:solidFill>
                <a:latin typeface="Arial"/>
                <a:ea typeface="Arial"/>
                <a:cs typeface="Arial"/>
                <a:sym typeface="Arial"/>
              </a:rPr>
              <a:t>Fringe benefits (such as sick pay, pensions, and vacation pay) incurred by the employer. </a:t>
            </a:r>
            <a:endParaRPr/>
          </a:p>
        </p:txBody>
      </p:sp>
      <p:sp>
        <p:nvSpPr>
          <p:cNvPr id="162" name="Google Shape;162;p11"/>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Accumulating Manufacturing Costs</a:t>
            </a:r>
            <a:endParaRPr/>
          </a:p>
        </p:txBody>
      </p:sp>
      <p:cxnSp>
        <p:nvCxnSpPr>
          <p:cNvPr id="163" name="Google Shape;163;p11"/>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164" name="Google Shape;164;p11"/>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2"/>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170" name="Google Shape;170;p12"/>
          <p:cNvSpPr/>
          <p:nvPr/>
        </p:nvSpPr>
        <p:spPr>
          <a:xfrm>
            <a:off x="609600" y="1997075"/>
            <a:ext cx="8153400" cy="1785104"/>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200">
                <a:solidFill>
                  <a:schemeClr val="dk1"/>
                </a:solidFill>
                <a:latin typeface="Arial"/>
                <a:ea typeface="Arial"/>
                <a:cs typeface="Arial"/>
                <a:sym typeface="Arial"/>
              </a:rPr>
              <a:t>Illustration:  </a:t>
            </a:r>
            <a:r>
              <a:rPr lang="en-US" sz="2200">
                <a:solidFill>
                  <a:schemeClr val="dk1"/>
                </a:solidFill>
                <a:latin typeface="Arial"/>
                <a:ea typeface="Arial"/>
                <a:cs typeface="Arial"/>
                <a:sym typeface="Arial"/>
              </a:rPr>
              <a:t>Wallace incurs $32,000 of factory labor costs. Of that amount, $27,000 relates to wages payable and $5,000 relates to payroll taxes payable in February. The entry to record factory labor for the month is:</a:t>
            </a:r>
            <a:endParaRPr/>
          </a:p>
        </p:txBody>
      </p:sp>
      <p:sp>
        <p:nvSpPr>
          <p:cNvPr id="171" name="Google Shape;171;p12"/>
          <p:cNvSpPr/>
          <p:nvPr/>
        </p:nvSpPr>
        <p:spPr>
          <a:xfrm>
            <a:off x="609600" y="3886200"/>
            <a:ext cx="7772400" cy="144655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Jan. 31 	Factory Labor 	32,000</a:t>
            </a:r>
            <a:endParaRPr/>
          </a:p>
          <a:p>
            <a:pPr indent="0" lvl="0" marL="0" marR="0" rtl="0" algn="l">
              <a:lnSpc>
                <a:spcPct val="120000"/>
              </a:lnSpc>
              <a:spcBef>
                <a:spcPts val="440"/>
              </a:spcBef>
              <a:spcAft>
                <a:spcPts val="0"/>
              </a:spcAft>
              <a:buNone/>
            </a:pPr>
            <a:r>
              <a:rPr lang="en-US" sz="2200">
                <a:solidFill>
                  <a:schemeClr val="dk1"/>
                </a:solidFill>
                <a:latin typeface="Arial"/>
                <a:ea typeface="Arial"/>
                <a:cs typeface="Arial"/>
                <a:sym typeface="Arial"/>
              </a:rPr>
              <a:t>		Factory Wages Payable 		27,000</a:t>
            </a:r>
            <a:endParaRPr/>
          </a:p>
          <a:p>
            <a:pPr indent="0" lvl="0" marL="0" marR="0" rtl="0" algn="l">
              <a:lnSpc>
                <a:spcPct val="120000"/>
              </a:lnSpc>
              <a:spcBef>
                <a:spcPts val="440"/>
              </a:spcBef>
              <a:spcAft>
                <a:spcPts val="0"/>
              </a:spcAft>
              <a:buNone/>
            </a:pPr>
            <a:r>
              <a:rPr lang="en-US" sz="2200">
                <a:solidFill>
                  <a:schemeClr val="dk1"/>
                </a:solidFill>
                <a:latin typeface="Arial"/>
                <a:ea typeface="Arial"/>
                <a:cs typeface="Arial"/>
                <a:sym typeface="Arial"/>
              </a:rPr>
              <a:t>		Employer Payroll Taxes Payable 		5,000</a:t>
            </a:r>
            <a:endParaRPr/>
          </a:p>
        </p:txBody>
      </p:sp>
      <p:cxnSp>
        <p:nvCxnSpPr>
          <p:cNvPr id="172" name="Google Shape;172;p12"/>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173" name="Google Shape;173;p12"/>
          <p:cNvSpPr/>
          <p:nvPr/>
        </p:nvSpPr>
        <p:spPr>
          <a:xfrm>
            <a:off x="609600" y="1371600"/>
            <a:ext cx="4419600" cy="48895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rgbClr val="800000"/>
              </a:buClr>
              <a:buSzPts val="2080"/>
              <a:buFont typeface="Noto Sans Symbols"/>
              <a:buNone/>
            </a:pPr>
            <a:r>
              <a:rPr b="1" lang="en-US" sz="2600">
                <a:solidFill>
                  <a:schemeClr val="dk1"/>
                </a:solidFill>
                <a:latin typeface="Arial"/>
                <a:ea typeface="Arial"/>
                <a:cs typeface="Arial"/>
                <a:sym typeface="Arial"/>
              </a:rPr>
              <a:t>FACTORY LABOR COSTS</a:t>
            </a:r>
            <a:endParaRPr b="1" sz="2600">
              <a:solidFill>
                <a:schemeClr val="dk1"/>
              </a:solidFill>
              <a:latin typeface="Arial"/>
              <a:ea typeface="Arial"/>
              <a:cs typeface="Arial"/>
              <a:sym typeface="Arial"/>
            </a:endParaRPr>
          </a:p>
        </p:txBody>
      </p:sp>
      <p:sp>
        <p:nvSpPr>
          <p:cNvPr id="174" name="Google Shape;174;p12"/>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Accumulating Manufacturing Costs</a:t>
            </a:r>
            <a:endParaRPr/>
          </a:p>
        </p:txBody>
      </p:sp>
      <p:sp>
        <p:nvSpPr>
          <p:cNvPr id="175" name="Google Shape;175;p12"/>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animEffect filter="fade" transition="in">
                                      <p:cBhvr>
                                        <p:cTn dur="500"/>
                                        <p:tgtEl>
                                          <p:spTgt spid="1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animEffect filter="fade" transition="in">
                                      <p:cBhvr>
                                        <p:cTn dur="500"/>
                                        <p:tgtEl>
                                          <p:spTgt spid="1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animEffect filter="fade" transition="in">
                                      <p:cBhvr>
                                        <p:cTn dur="500"/>
                                        <p:tgtEl>
                                          <p:spTgt spid="17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3"/>
          <p:cNvSpPr/>
          <p:nvPr/>
        </p:nvSpPr>
        <p:spPr>
          <a:xfrm>
            <a:off x="609600" y="1981200"/>
            <a:ext cx="8001000" cy="4191000"/>
          </a:xfrm>
          <a:prstGeom prst="rect">
            <a:avLst/>
          </a:prstGeom>
          <a:noFill/>
          <a:ln>
            <a:noFill/>
          </a:ln>
        </p:spPr>
        <p:txBody>
          <a:bodyPr anchorCtr="0" anchor="t" bIns="45700" lIns="91425" spcFirstLastPara="1" rIns="91425" wrap="square" tIns="45700">
            <a:noAutofit/>
          </a:bodyPr>
          <a:lstStyle/>
          <a:p>
            <a:pPr indent="-457200" lvl="1" marL="685800" marR="0" rtl="0" algn="l">
              <a:lnSpc>
                <a:spcPct val="125000"/>
              </a:lnSpc>
              <a:spcBef>
                <a:spcPts val="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Many types of overhead costs</a:t>
            </a:r>
            <a:endParaRPr/>
          </a:p>
          <a:p>
            <a:pPr indent="-457200" lvl="2" marL="1257300" marR="0" rtl="0" algn="l">
              <a:lnSpc>
                <a:spcPct val="125000"/>
              </a:lnSpc>
              <a:spcBef>
                <a:spcPts val="1200"/>
              </a:spcBef>
              <a:spcAft>
                <a:spcPts val="0"/>
              </a:spcAft>
              <a:buClr>
                <a:srgbClr val="800000"/>
              </a:buClr>
              <a:buSzPts val="1680"/>
              <a:buFont typeface="Arial"/>
              <a:buChar char="►"/>
            </a:pPr>
            <a:r>
              <a:rPr b="0" i="0" lang="en-US" sz="2100" u="none" cap="none" strike="noStrike">
                <a:solidFill>
                  <a:schemeClr val="dk1"/>
                </a:solidFill>
                <a:latin typeface="Arial"/>
                <a:ea typeface="Arial"/>
                <a:cs typeface="Arial"/>
                <a:sym typeface="Arial"/>
              </a:rPr>
              <a:t>For example, property taxes, depreciation, insurance, and repairs related to the manufacturing process.</a:t>
            </a:r>
            <a:endParaRPr b="0" i="0" sz="2100" u="none" cap="none" strike="noStrike">
              <a:solidFill>
                <a:schemeClr val="dk1"/>
              </a:solidFill>
              <a:latin typeface="Arial"/>
              <a:ea typeface="Arial"/>
              <a:cs typeface="Arial"/>
              <a:sym typeface="Arial"/>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Costs unrelated to manufacturing process are expensed.</a:t>
            </a:r>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Costs related to manufacturing process are accumulated in </a:t>
            </a:r>
            <a:r>
              <a:rPr b="1" i="0" lang="en-US" sz="2200" u="none" cap="none" strike="noStrike">
                <a:solidFill>
                  <a:schemeClr val="dk1"/>
                </a:solidFill>
                <a:latin typeface="Arial"/>
                <a:ea typeface="Arial"/>
                <a:cs typeface="Arial"/>
                <a:sym typeface="Arial"/>
              </a:rPr>
              <a:t>Manufacturing Overhead</a:t>
            </a:r>
            <a:r>
              <a:rPr b="0" i="0" lang="en-US" sz="2200" u="none" cap="none" strike="noStrike">
                <a:solidFill>
                  <a:schemeClr val="dk1"/>
                </a:solidFill>
                <a:latin typeface="Arial"/>
                <a:ea typeface="Arial"/>
                <a:cs typeface="Arial"/>
                <a:sym typeface="Arial"/>
              </a:rPr>
              <a:t> account. </a:t>
            </a:r>
            <a:endParaRPr b="0" i="0" sz="2200" u="none" cap="none" strike="noStrike">
              <a:solidFill>
                <a:schemeClr val="dk1"/>
              </a:solidFill>
              <a:latin typeface="Arial"/>
              <a:ea typeface="Arial"/>
              <a:cs typeface="Arial"/>
              <a:sym typeface="Arial"/>
            </a:endParaRPr>
          </a:p>
          <a:p>
            <a:pPr indent="-457200" lvl="2" marL="1257300" marR="0" rtl="0" algn="l">
              <a:lnSpc>
                <a:spcPct val="125000"/>
              </a:lnSpc>
              <a:spcBef>
                <a:spcPts val="1200"/>
              </a:spcBef>
              <a:spcAft>
                <a:spcPts val="0"/>
              </a:spcAft>
              <a:buClr>
                <a:srgbClr val="800000"/>
              </a:buClr>
              <a:buSzPts val="1680"/>
              <a:buFont typeface="Arial"/>
              <a:buChar char="►"/>
            </a:pPr>
            <a:r>
              <a:rPr b="0" i="0" lang="en-US" sz="2100" u="none" cap="none" strike="noStrike">
                <a:solidFill>
                  <a:schemeClr val="dk1"/>
                </a:solidFill>
                <a:latin typeface="Arial"/>
                <a:ea typeface="Arial"/>
                <a:cs typeface="Arial"/>
                <a:sym typeface="Arial"/>
              </a:rPr>
              <a:t>Manufacturing overhead subsequently assigned to work in process.</a:t>
            </a:r>
            <a:endParaRPr/>
          </a:p>
        </p:txBody>
      </p:sp>
      <p:sp>
        <p:nvSpPr>
          <p:cNvPr id="181" name="Google Shape;181;p13"/>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182" name="Google Shape;182;p13"/>
          <p:cNvSpPr/>
          <p:nvPr/>
        </p:nvSpPr>
        <p:spPr>
          <a:xfrm>
            <a:off x="609600" y="1371600"/>
            <a:ext cx="7010400" cy="48895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rgbClr val="800000"/>
              </a:buClr>
              <a:buSzPts val="2080"/>
              <a:buFont typeface="Noto Sans Symbols"/>
              <a:buNone/>
            </a:pPr>
            <a:r>
              <a:rPr b="1" lang="en-US" sz="2600">
                <a:solidFill>
                  <a:schemeClr val="dk1"/>
                </a:solidFill>
                <a:latin typeface="Arial"/>
                <a:ea typeface="Arial"/>
                <a:cs typeface="Arial"/>
                <a:sym typeface="Arial"/>
              </a:rPr>
              <a:t>MANUFACTURING OVERHEAD COSTS</a:t>
            </a:r>
            <a:endParaRPr b="1" sz="2600">
              <a:solidFill>
                <a:schemeClr val="dk1"/>
              </a:solidFill>
              <a:latin typeface="Arial"/>
              <a:ea typeface="Arial"/>
              <a:cs typeface="Arial"/>
              <a:sym typeface="Arial"/>
            </a:endParaRPr>
          </a:p>
        </p:txBody>
      </p:sp>
      <p:cxnSp>
        <p:nvCxnSpPr>
          <p:cNvPr id="183" name="Google Shape;183;p13"/>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184" name="Google Shape;184;p13"/>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Accumulating Manufacturing Costs</a:t>
            </a:r>
            <a:endParaRPr/>
          </a:p>
        </p:txBody>
      </p:sp>
      <p:sp>
        <p:nvSpPr>
          <p:cNvPr id="185" name="Google Shape;185;p13"/>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4"/>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191" name="Google Shape;191;p14"/>
          <p:cNvSpPr/>
          <p:nvPr/>
        </p:nvSpPr>
        <p:spPr>
          <a:xfrm>
            <a:off x="609600" y="1981200"/>
            <a:ext cx="8153400" cy="897105"/>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200">
                <a:solidFill>
                  <a:schemeClr val="dk1"/>
                </a:solidFill>
                <a:latin typeface="Arial"/>
                <a:ea typeface="Arial"/>
                <a:cs typeface="Arial"/>
                <a:sym typeface="Arial"/>
              </a:rPr>
              <a:t>Illustration:  </a:t>
            </a:r>
            <a:r>
              <a:rPr lang="en-US" sz="2200">
                <a:solidFill>
                  <a:schemeClr val="dk1"/>
                </a:solidFill>
                <a:latin typeface="Arial"/>
                <a:ea typeface="Arial"/>
                <a:cs typeface="Arial"/>
                <a:sym typeface="Arial"/>
              </a:rPr>
              <a:t>Using assumed data, the summary entry for manufacturing overhead in Wallace Manufacturing Company is:</a:t>
            </a:r>
            <a:endParaRPr/>
          </a:p>
        </p:txBody>
      </p:sp>
      <p:sp>
        <p:nvSpPr>
          <p:cNvPr id="192" name="Google Shape;192;p14"/>
          <p:cNvSpPr/>
          <p:nvPr/>
        </p:nvSpPr>
        <p:spPr>
          <a:xfrm>
            <a:off x="609600" y="3062287"/>
            <a:ext cx="7772400" cy="2881313"/>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Jan. 31 	Manufacturing Overhead 	13,800</a:t>
            </a:r>
            <a:endParaRPr/>
          </a:p>
          <a:p>
            <a:pPr indent="0" lvl="0" marL="0" marR="0" rtl="0" algn="l">
              <a:lnSpc>
                <a:spcPct val="120000"/>
              </a:lnSpc>
              <a:spcBef>
                <a:spcPts val="630"/>
              </a:spcBef>
              <a:spcAft>
                <a:spcPts val="0"/>
              </a:spcAft>
              <a:buNone/>
            </a:pPr>
            <a:r>
              <a:rPr lang="en-US" sz="2100">
                <a:solidFill>
                  <a:schemeClr val="dk1"/>
                </a:solidFill>
                <a:latin typeface="Arial"/>
                <a:ea typeface="Arial"/>
                <a:cs typeface="Arial"/>
                <a:sym typeface="Arial"/>
              </a:rPr>
              <a:t>		Utilities Payable 		4,800</a:t>
            </a:r>
            <a:endParaRPr/>
          </a:p>
          <a:p>
            <a:pPr indent="0" lvl="0" marL="0" marR="0" rtl="0" algn="l">
              <a:lnSpc>
                <a:spcPct val="120000"/>
              </a:lnSpc>
              <a:spcBef>
                <a:spcPts val="630"/>
              </a:spcBef>
              <a:spcAft>
                <a:spcPts val="0"/>
              </a:spcAft>
              <a:buNone/>
            </a:pPr>
            <a:r>
              <a:rPr lang="en-US" sz="2100">
                <a:solidFill>
                  <a:schemeClr val="dk1"/>
                </a:solidFill>
                <a:latin typeface="Arial"/>
                <a:ea typeface="Arial"/>
                <a:cs typeface="Arial"/>
                <a:sym typeface="Arial"/>
              </a:rPr>
              <a:t>		Prepaid Insurance 		2,000</a:t>
            </a:r>
            <a:endParaRPr/>
          </a:p>
          <a:p>
            <a:pPr indent="0" lvl="0" marL="0" marR="0" rtl="0" algn="l">
              <a:lnSpc>
                <a:spcPct val="120000"/>
              </a:lnSpc>
              <a:spcBef>
                <a:spcPts val="630"/>
              </a:spcBef>
              <a:spcAft>
                <a:spcPts val="0"/>
              </a:spcAft>
              <a:buNone/>
            </a:pPr>
            <a:r>
              <a:rPr lang="en-US" sz="2100">
                <a:solidFill>
                  <a:schemeClr val="dk1"/>
                </a:solidFill>
                <a:latin typeface="Arial"/>
                <a:ea typeface="Arial"/>
                <a:cs typeface="Arial"/>
                <a:sym typeface="Arial"/>
              </a:rPr>
              <a:t>		Accounts Payable (for repairs) 		2,600</a:t>
            </a:r>
            <a:endParaRPr/>
          </a:p>
          <a:p>
            <a:pPr indent="0" lvl="0" marL="0" marR="0" rtl="0" algn="l">
              <a:lnSpc>
                <a:spcPct val="120000"/>
              </a:lnSpc>
              <a:spcBef>
                <a:spcPts val="630"/>
              </a:spcBef>
              <a:spcAft>
                <a:spcPts val="0"/>
              </a:spcAft>
              <a:buNone/>
            </a:pPr>
            <a:r>
              <a:rPr lang="en-US" sz="2100">
                <a:solidFill>
                  <a:schemeClr val="dk1"/>
                </a:solidFill>
                <a:latin typeface="Arial"/>
                <a:ea typeface="Arial"/>
                <a:cs typeface="Arial"/>
                <a:sym typeface="Arial"/>
              </a:rPr>
              <a:t>		Accumulated Depreciation 		3,000</a:t>
            </a:r>
            <a:endParaRPr/>
          </a:p>
          <a:p>
            <a:pPr indent="0" lvl="0" marL="0" marR="0" rtl="0" algn="l">
              <a:lnSpc>
                <a:spcPct val="120000"/>
              </a:lnSpc>
              <a:spcBef>
                <a:spcPts val="630"/>
              </a:spcBef>
              <a:spcAft>
                <a:spcPts val="0"/>
              </a:spcAft>
              <a:buNone/>
            </a:pPr>
            <a:r>
              <a:rPr lang="en-US" sz="2100">
                <a:solidFill>
                  <a:schemeClr val="dk1"/>
                </a:solidFill>
                <a:latin typeface="Arial"/>
                <a:ea typeface="Arial"/>
                <a:cs typeface="Arial"/>
                <a:sym typeface="Arial"/>
              </a:rPr>
              <a:t>		Property Taxes Payable 		1,400</a:t>
            </a:r>
            <a:endParaRPr/>
          </a:p>
        </p:txBody>
      </p:sp>
      <p:sp>
        <p:nvSpPr>
          <p:cNvPr id="193" name="Google Shape;193;p14"/>
          <p:cNvSpPr/>
          <p:nvPr/>
        </p:nvSpPr>
        <p:spPr>
          <a:xfrm>
            <a:off x="609600" y="1371600"/>
            <a:ext cx="7010400" cy="48895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rgbClr val="800000"/>
              </a:buClr>
              <a:buSzPts val="2080"/>
              <a:buFont typeface="Noto Sans Symbols"/>
              <a:buNone/>
            </a:pPr>
            <a:r>
              <a:rPr b="1" lang="en-US" sz="2600">
                <a:solidFill>
                  <a:schemeClr val="dk1"/>
                </a:solidFill>
                <a:latin typeface="Arial"/>
                <a:ea typeface="Arial"/>
                <a:cs typeface="Arial"/>
                <a:sym typeface="Arial"/>
              </a:rPr>
              <a:t>MANUFACTURING OVERHEAD COSTS</a:t>
            </a:r>
            <a:endParaRPr b="1" sz="2600">
              <a:solidFill>
                <a:schemeClr val="dk1"/>
              </a:solidFill>
              <a:latin typeface="Arial"/>
              <a:ea typeface="Arial"/>
              <a:cs typeface="Arial"/>
              <a:sym typeface="Arial"/>
            </a:endParaRPr>
          </a:p>
        </p:txBody>
      </p:sp>
      <p:cxnSp>
        <p:nvCxnSpPr>
          <p:cNvPr id="194" name="Google Shape;194;p14"/>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195" name="Google Shape;195;p14"/>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Accumulating Manufacturing Costs</a:t>
            </a:r>
            <a:endParaRPr/>
          </a:p>
        </p:txBody>
      </p:sp>
      <p:sp>
        <p:nvSpPr>
          <p:cNvPr id="196" name="Google Shape;196;p14"/>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5"/>
          <p:cNvSpPr/>
          <p:nvPr/>
        </p:nvSpPr>
        <p:spPr>
          <a:xfrm>
            <a:off x="609600" y="1524000"/>
            <a:ext cx="8153400" cy="86042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During the current month, KRT Company incurs the following manufacturing costs:</a:t>
            </a:r>
            <a:endParaRPr/>
          </a:p>
        </p:txBody>
      </p:sp>
      <p:sp>
        <p:nvSpPr>
          <p:cNvPr id="202" name="Google Shape;202;p15"/>
          <p:cNvSpPr/>
          <p:nvPr/>
        </p:nvSpPr>
        <p:spPr>
          <a:xfrm>
            <a:off x="609600" y="2460625"/>
            <a:ext cx="8229600" cy="3275512"/>
          </a:xfrm>
          <a:prstGeom prst="rect">
            <a:avLst/>
          </a:prstGeom>
          <a:noFill/>
          <a:ln>
            <a:noFill/>
          </a:ln>
        </p:spPr>
        <p:txBody>
          <a:bodyPr anchorCtr="0" anchor="t" bIns="45700" lIns="91425" spcFirstLastPara="1" rIns="91425" wrap="square" tIns="45700">
            <a:spAutoFit/>
          </a:bodyPr>
          <a:lstStyle/>
          <a:p>
            <a:pPr indent="-571500" lvl="0" marL="571500" marR="0" rtl="0" algn="l">
              <a:lnSpc>
                <a:spcPct val="115000"/>
              </a:lnSpc>
              <a:spcBef>
                <a:spcPts val="0"/>
              </a:spcBef>
              <a:spcAft>
                <a:spcPts val="0"/>
              </a:spcAft>
              <a:buNone/>
            </a:pPr>
            <a:r>
              <a:rPr lang="en-US" sz="2100">
                <a:solidFill>
                  <a:schemeClr val="dk1"/>
                </a:solidFill>
                <a:latin typeface="Arial"/>
                <a:ea typeface="Arial"/>
                <a:cs typeface="Arial"/>
                <a:sym typeface="Arial"/>
              </a:rPr>
              <a:t>(a) 	Raw material purchases of $4,200 on account.</a:t>
            </a:r>
            <a:endParaRPr/>
          </a:p>
          <a:p>
            <a:pPr indent="-571500" lvl="0" marL="571500" marR="0" rtl="0" algn="l">
              <a:lnSpc>
                <a:spcPct val="115000"/>
              </a:lnSpc>
              <a:spcBef>
                <a:spcPts val="1260"/>
              </a:spcBef>
              <a:spcAft>
                <a:spcPts val="0"/>
              </a:spcAft>
              <a:buClr>
                <a:schemeClr val="dk1"/>
              </a:buClr>
              <a:buSzPts val="2100"/>
              <a:buFont typeface="Arial"/>
              <a:buAutoNum type="alphaLcParenBoth" startAt="2"/>
            </a:pPr>
            <a:r>
              <a:rPr lang="en-US" sz="2100">
                <a:solidFill>
                  <a:schemeClr val="dk1"/>
                </a:solidFill>
                <a:latin typeface="Arial"/>
                <a:ea typeface="Arial"/>
                <a:cs typeface="Arial"/>
                <a:sym typeface="Arial"/>
              </a:rPr>
              <a:t>Factory labor of $18,000. Of that amount, $15,000 relates to wages payable and $3,000 relates to payroll taxes payable.</a:t>
            </a:r>
            <a:endParaRPr/>
          </a:p>
          <a:p>
            <a:pPr indent="-571500" lvl="0" marL="571500" marR="0" rtl="0" algn="l">
              <a:lnSpc>
                <a:spcPct val="115000"/>
              </a:lnSpc>
              <a:spcBef>
                <a:spcPts val="1260"/>
              </a:spcBef>
              <a:spcAft>
                <a:spcPts val="0"/>
              </a:spcAft>
              <a:buClr>
                <a:schemeClr val="dk1"/>
              </a:buClr>
              <a:buSzPts val="2100"/>
              <a:buFont typeface="Arial"/>
              <a:buAutoNum type="alphaLcParenBoth" startAt="2"/>
            </a:pPr>
            <a:r>
              <a:rPr lang="en-US" sz="2100">
                <a:solidFill>
                  <a:schemeClr val="dk1"/>
                </a:solidFill>
                <a:latin typeface="Arial"/>
                <a:ea typeface="Arial"/>
                <a:cs typeface="Arial"/>
                <a:sym typeface="Arial"/>
              </a:rPr>
              <a:t>Factory utilities of $2,200 are payable, prepaid factory insurance of $1,800 has expired, and depreciation on the factory building is $3,500.</a:t>
            </a:r>
            <a:endParaRPr/>
          </a:p>
          <a:p>
            <a:pPr indent="-571500" lvl="0" marL="571500" marR="0" rtl="0" algn="l">
              <a:lnSpc>
                <a:spcPct val="115000"/>
              </a:lnSpc>
              <a:spcBef>
                <a:spcPts val="1260"/>
              </a:spcBef>
              <a:spcAft>
                <a:spcPts val="0"/>
              </a:spcAft>
              <a:buNone/>
            </a:pPr>
            <a:r>
              <a:rPr lang="en-US" sz="2100">
                <a:solidFill>
                  <a:schemeClr val="dk1"/>
                </a:solidFill>
                <a:latin typeface="Arial"/>
                <a:ea typeface="Arial"/>
                <a:cs typeface="Arial"/>
                <a:sym typeface="Arial"/>
              </a:rPr>
              <a:t>Prepare journal entries for each type of manufacturing cost.</a:t>
            </a:r>
            <a:endParaRPr/>
          </a:p>
        </p:txBody>
      </p:sp>
      <p:sp>
        <p:nvSpPr>
          <p:cNvPr id="203" name="Google Shape;203;p15"/>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
        <p:nvSpPr>
          <p:cNvPr id="204" name="Google Shape;204;p15"/>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205" name="Google Shape;205;p15"/>
          <p:cNvSpPr txBox="1"/>
          <p:nvPr/>
        </p:nvSpPr>
        <p:spPr>
          <a:xfrm>
            <a:off x="3276600" y="283994"/>
            <a:ext cx="5486400" cy="919772"/>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2800">
                <a:solidFill>
                  <a:schemeClr val="lt1"/>
                </a:solidFill>
                <a:latin typeface="Arial"/>
                <a:ea typeface="Arial"/>
                <a:cs typeface="Arial"/>
                <a:sym typeface="Arial"/>
              </a:rPr>
              <a:t>Accumulating Manufacturing Costs</a:t>
            </a:r>
            <a:endParaRPr b="1" i="0" sz="2800">
              <a:solidFill>
                <a:schemeClr val="lt1"/>
              </a:solidFill>
              <a:latin typeface="Arial"/>
              <a:ea typeface="Arial"/>
              <a:cs typeface="Arial"/>
              <a:sym typeface="Arial"/>
            </a:endParaRPr>
          </a:p>
        </p:txBody>
      </p:sp>
      <p:sp>
        <p:nvSpPr>
          <p:cNvPr id="206" name="Google Shape;206;p15"/>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0" spcFirstLastPara="1" rIns="0" wrap="square" tIns="18275">
            <a:noAutofit/>
          </a:bodyPr>
          <a:lstStyle/>
          <a:p>
            <a:pPr indent="0" lvl="0" marL="0" marR="0" rtl="0" algn="ctr">
              <a:spcBef>
                <a:spcPts val="0"/>
              </a:spcBef>
              <a:spcAft>
                <a:spcPts val="0"/>
              </a:spcAft>
              <a:buNone/>
            </a:pPr>
            <a:r>
              <a:rPr b="1" lang="en-US" sz="4000">
                <a:solidFill>
                  <a:srgbClr val="FF0000"/>
                </a:solidFill>
                <a:latin typeface="Arial"/>
                <a:ea typeface="Arial"/>
                <a:cs typeface="Arial"/>
                <a:sym typeface="Arial"/>
              </a:rPr>
              <a:t>1</a:t>
            </a:r>
            <a:endParaRPr b="1" sz="4000">
              <a:solidFill>
                <a:srgbClr val="FF0000"/>
              </a:solidFill>
              <a:latin typeface="Arial"/>
              <a:ea typeface="Arial"/>
              <a:cs typeface="Arial"/>
              <a:sym typeface="Arial"/>
            </a:endParaRPr>
          </a:p>
        </p:txBody>
      </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6"/>
          <p:cNvSpPr/>
          <p:nvPr/>
        </p:nvSpPr>
        <p:spPr>
          <a:xfrm>
            <a:off x="609600" y="2155825"/>
            <a:ext cx="8229600" cy="460375"/>
          </a:xfrm>
          <a:prstGeom prst="rect">
            <a:avLst/>
          </a:prstGeom>
          <a:noFill/>
          <a:ln>
            <a:noFill/>
          </a:ln>
        </p:spPr>
        <p:txBody>
          <a:bodyPr anchorCtr="0" anchor="t" bIns="45700" lIns="91425" spcFirstLastPara="1" rIns="91425" wrap="square" tIns="45700">
            <a:spAutoFit/>
          </a:bodyPr>
          <a:lstStyle/>
          <a:p>
            <a:pPr indent="-571500" lvl="0" marL="571500" marR="0" rtl="0" algn="l">
              <a:lnSpc>
                <a:spcPct val="115000"/>
              </a:lnSpc>
              <a:spcBef>
                <a:spcPts val="0"/>
              </a:spcBef>
              <a:spcAft>
                <a:spcPts val="0"/>
              </a:spcAft>
              <a:buNone/>
            </a:pPr>
            <a:r>
              <a:rPr lang="en-US" sz="2100">
                <a:solidFill>
                  <a:schemeClr val="dk1"/>
                </a:solidFill>
                <a:latin typeface="Arial"/>
                <a:ea typeface="Arial"/>
                <a:cs typeface="Arial"/>
                <a:sym typeface="Arial"/>
              </a:rPr>
              <a:t>(a) 	Raw material purchases of $4,200 on account.</a:t>
            </a:r>
            <a:endParaRPr/>
          </a:p>
        </p:txBody>
      </p:sp>
      <p:sp>
        <p:nvSpPr>
          <p:cNvPr id="212" name="Google Shape;212;p16"/>
          <p:cNvSpPr/>
          <p:nvPr/>
        </p:nvSpPr>
        <p:spPr>
          <a:xfrm>
            <a:off x="1295400" y="2765425"/>
            <a:ext cx="7391400" cy="8461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100">
                <a:solidFill>
                  <a:schemeClr val="dk1"/>
                </a:solidFill>
                <a:latin typeface="Arial"/>
                <a:ea typeface="Arial"/>
                <a:cs typeface="Arial"/>
                <a:sym typeface="Arial"/>
              </a:rPr>
              <a:t>Raw Materials Inventory 	4,200</a:t>
            </a:r>
            <a:endParaRPr/>
          </a:p>
          <a:p>
            <a:pPr indent="0" lvl="0" marL="0" marR="0" rtl="0" algn="l">
              <a:spcBef>
                <a:spcPts val="735"/>
              </a:spcBef>
              <a:spcAft>
                <a:spcPts val="0"/>
              </a:spcAft>
              <a:buNone/>
            </a:pPr>
            <a:r>
              <a:rPr lang="en-US" sz="2100">
                <a:solidFill>
                  <a:schemeClr val="dk1"/>
                </a:solidFill>
                <a:latin typeface="Arial"/>
                <a:ea typeface="Arial"/>
                <a:cs typeface="Arial"/>
                <a:sym typeface="Arial"/>
              </a:rPr>
              <a:t>	Accounts Payable 		4,200</a:t>
            </a:r>
            <a:endParaRPr/>
          </a:p>
        </p:txBody>
      </p:sp>
      <p:sp>
        <p:nvSpPr>
          <p:cNvPr id="213" name="Google Shape;213;p16"/>
          <p:cNvSpPr/>
          <p:nvPr/>
        </p:nvSpPr>
        <p:spPr>
          <a:xfrm>
            <a:off x="609600" y="3832225"/>
            <a:ext cx="8229600" cy="835613"/>
          </a:xfrm>
          <a:prstGeom prst="rect">
            <a:avLst/>
          </a:prstGeom>
          <a:noFill/>
          <a:ln>
            <a:noFill/>
          </a:ln>
        </p:spPr>
        <p:txBody>
          <a:bodyPr anchorCtr="0" anchor="t" bIns="45700" lIns="91425" spcFirstLastPara="1" rIns="91425" wrap="square" tIns="45700">
            <a:spAutoFit/>
          </a:bodyPr>
          <a:lstStyle/>
          <a:p>
            <a:pPr indent="-571500" lvl="0" marL="571500" marR="0" rtl="0" algn="l">
              <a:lnSpc>
                <a:spcPct val="115000"/>
              </a:lnSpc>
              <a:spcBef>
                <a:spcPts val="0"/>
              </a:spcBef>
              <a:spcAft>
                <a:spcPts val="0"/>
              </a:spcAft>
              <a:buNone/>
            </a:pPr>
            <a:r>
              <a:rPr lang="en-US" sz="2100">
                <a:solidFill>
                  <a:schemeClr val="dk1"/>
                </a:solidFill>
                <a:latin typeface="Arial"/>
                <a:ea typeface="Arial"/>
                <a:cs typeface="Arial"/>
                <a:sym typeface="Arial"/>
              </a:rPr>
              <a:t>(b) 	Factory labor of $18,000. Of that amount, $15,000 relates to wages payable and $3,000 relates to payroll taxes payable.</a:t>
            </a:r>
            <a:endParaRPr/>
          </a:p>
        </p:txBody>
      </p:sp>
      <p:sp>
        <p:nvSpPr>
          <p:cNvPr id="214" name="Google Shape;214;p16"/>
          <p:cNvSpPr/>
          <p:nvPr/>
        </p:nvSpPr>
        <p:spPr>
          <a:xfrm>
            <a:off x="1371600" y="4800600"/>
            <a:ext cx="7543800" cy="13112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100">
                <a:solidFill>
                  <a:schemeClr val="dk1"/>
                </a:solidFill>
                <a:latin typeface="Arial"/>
                <a:ea typeface="Arial"/>
                <a:cs typeface="Arial"/>
                <a:sym typeface="Arial"/>
              </a:rPr>
              <a:t>Factory Labor 	18,000</a:t>
            </a:r>
            <a:endParaRPr/>
          </a:p>
          <a:p>
            <a:pPr indent="0" lvl="0" marL="0" marR="0" rtl="0" algn="l">
              <a:spcBef>
                <a:spcPts val="840"/>
              </a:spcBef>
              <a:spcAft>
                <a:spcPts val="0"/>
              </a:spcAft>
              <a:buNone/>
            </a:pPr>
            <a:r>
              <a:rPr lang="en-US" sz="2100">
                <a:solidFill>
                  <a:schemeClr val="dk1"/>
                </a:solidFill>
                <a:latin typeface="Arial"/>
                <a:ea typeface="Arial"/>
                <a:cs typeface="Arial"/>
                <a:sym typeface="Arial"/>
              </a:rPr>
              <a:t>	Factory Wages Payable 		15,000</a:t>
            </a:r>
            <a:endParaRPr/>
          </a:p>
          <a:p>
            <a:pPr indent="0" lvl="0" marL="0" marR="0" rtl="0" algn="l">
              <a:spcBef>
                <a:spcPts val="840"/>
              </a:spcBef>
              <a:spcAft>
                <a:spcPts val="0"/>
              </a:spcAft>
              <a:buNone/>
            </a:pPr>
            <a:r>
              <a:rPr lang="en-US" sz="2100">
                <a:solidFill>
                  <a:schemeClr val="dk1"/>
                </a:solidFill>
                <a:latin typeface="Arial"/>
                <a:ea typeface="Arial"/>
                <a:cs typeface="Arial"/>
                <a:sym typeface="Arial"/>
              </a:rPr>
              <a:t>	Employer Payroll Taxes Payable 		3,000</a:t>
            </a:r>
            <a:endParaRPr/>
          </a:p>
        </p:txBody>
      </p:sp>
      <p:sp>
        <p:nvSpPr>
          <p:cNvPr id="215" name="Google Shape;215;p16"/>
          <p:cNvSpPr/>
          <p:nvPr/>
        </p:nvSpPr>
        <p:spPr>
          <a:xfrm>
            <a:off x="609600" y="1524000"/>
            <a:ext cx="8153400" cy="47625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Prepare journal entries for each type of manufacturing cost.</a:t>
            </a:r>
            <a:endParaRPr/>
          </a:p>
        </p:txBody>
      </p:sp>
      <p:sp>
        <p:nvSpPr>
          <p:cNvPr id="216" name="Google Shape;216;p16"/>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
        <p:nvSpPr>
          <p:cNvPr id="217" name="Google Shape;217;p16"/>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218" name="Google Shape;218;p16"/>
          <p:cNvSpPr txBox="1"/>
          <p:nvPr/>
        </p:nvSpPr>
        <p:spPr>
          <a:xfrm>
            <a:off x="3276600" y="283994"/>
            <a:ext cx="5486400" cy="919772"/>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2800">
                <a:solidFill>
                  <a:schemeClr val="lt1"/>
                </a:solidFill>
                <a:latin typeface="Arial"/>
                <a:ea typeface="Arial"/>
                <a:cs typeface="Arial"/>
                <a:sym typeface="Arial"/>
              </a:rPr>
              <a:t>Accumulating Manufacturing Costs</a:t>
            </a:r>
            <a:endParaRPr b="1" i="0" sz="2800">
              <a:solidFill>
                <a:schemeClr val="lt1"/>
              </a:solidFill>
              <a:latin typeface="Arial"/>
              <a:ea typeface="Arial"/>
              <a:cs typeface="Arial"/>
              <a:sym typeface="Arial"/>
            </a:endParaRPr>
          </a:p>
        </p:txBody>
      </p:sp>
      <p:sp>
        <p:nvSpPr>
          <p:cNvPr id="219" name="Google Shape;219;p16"/>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0" spcFirstLastPara="1" rIns="0" wrap="square" tIns="18275">
            <a:noAutofit/>
          </a:bodyPr>
          <a:lstStyle/>
          <a:p>
            <a:pPr indent="0" lvl="0" marL="0" marR="0" rtl="0" algn="ctr">
              <a:spcBef>
                <a:spcPts val="0"/>
              </a:spcBef>
              <a:spcAft>
                <a:spcPts val="0"/>
              </a:spcAft>
              <a:buNone/>
            </a:pPr>
            <a:r>
              <a:rPr b="1" lang="en-US" sz="4000">
                <a:solidFill>
                  <a:srgbClr val="FF0000"/>
                </a:solidFill>
                <a:latin typeface="Arial"/>
                <a:ea typeface="Arial"/>
                <a:cs typeface="Arial"/>
                <a:sym typeface="Arial"/>
              </a:rPr>
              <a:t>1</a:t>
            </a:r>
            <a:endParaRPr b="1" sz="4000">
              <a:solidFill>
                <a:srgbClr val="FF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0" st="0"/>
                                            </p:txEl>
                                          </p:spTgt>
                                        </p:tgtEl>
                                        <p:attrNameLst>
                                          <p:attrName>style.visibility</p:attrName>
                                        </p:attrNameLst>
                                      </p:cBhvr>
                                      <p:to>
                                        <p:strVal val="visible"/>
                                      </p:to>
                                    </p:set>
                                    <p:animEffect filter="fade" transition="in">
                                      <p:cBhvr>
                                        <p:cTn dur="500"/>
                                        <p:tgtEl>
                                          <p:spTgt spid="2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1" st="1"/>
                                            </p:txEl>
                                          </p:spTgt>
                                        </p:tgtEl>
                                        <p:attrNameLst>
                                          <p:attrName>style.visibility</p:attrName>
                                        </p:attrNameLst>
                                      </p:cBhvr>
                                      <p:to>
                                        <p:strVal val="visible"/>
                                      </p:to>
                                    </p:set>
                                    <p:animEffect filter="fade" transition="in">
                                      <p:cBhvr>
                                        <p:cTn dur="500"/>
                                        <p:tgtEl>
                                          <p:spTgt spid="2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animEffect filter="fade" transition="in">
                                      <p:cBhvr>
                                        <p:cTn dur="500"/>
                                        <p:tgtEl>
                                          <p:spTgt spid="2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1" st="1"/>
                                            </p:txEl>
                                          </p:spTgt>
                                        </p:tgtEl>
                                        <p:attrNameLst>
                                          <p:attrName>style.visibility</p:attrName>
                                        </p:attrNameLst>
                                      </p:cBhvr>
                                      <p:to>
                                        <p:strVal val="visible"/>
                                      </p:to>
                                    </p:set>
                                    <p:animEffect filter="fade" transition="in">
                                      <p:cBhvr>
                                        <p:cTn dur="500"/>
                                        <p:tgtEl>
                                          <p:spTgt spid="2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2" st="2"/>
                                            </p:txEl>
                                          </p:spTgt>
                                        </p:tgtEl>
                                        <p:attrNameLst>
                                          <p:attrName>style.visibility</p:attrName>
                                        </p:attrNameLst>
                                      </p:cBhvr>
                                      <p:to>
                                        <p:strVal val="visible"/>
                                      </p:to>
                                    </p:set>
                                    <p:animEffect filter="fade" transition="in">
                                      <p:cBhvr>
                                        <p:cTn dur="500"/>
                                        <p:tgtEl>
                                          <p:spTgt spid="21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7"/>
          <p:cNvSpPr/>
          <p:nvPr/>
        </p:nvSpPr>
        <p:spPr>
          <a:xfrm>
            <a:off x="609600" y="2163763"/>
            <a:ext cx="8229600" cy="1196975"/>
          </a:xfrm>
          <a:prstGeom prst="rect">
            <a:avLst/>
          </a:prstGeom>
          <a:noFill/>
          <a:ln>
            <a:noFill/>
          </a:ln>
        </p:spPr>
        <p:txBody>
          <a:bodyPr anchorCtr="0" anchor="t" bIns="45700" lIns="91425" spcFirstLastPara="1" rIns="91425" wrap="square" tIns="45700">
            <a:spAutoFit/>
          </a:bodyPr>
          <a:lstStyle/>
          <a:p>
            <a:pPr indent="-571500" lvl="0" marL="571500" marR="0" rtl="0" algn="l">
              <a:lnSpc>
                <a:spcPct val="115000"/>
              </a:lnSpc>
              <a:spcBef>
                <a:spcPts val="0"/>
              </a:spcBef>
              <a:spcAft>
                <a:spcPts val="0"/>
              </a:spcAft>
              <a:buNone/>
            </a:pPr>
            <a:r>
              <a:rPr lang="en-US" sz="2100">
                <a:solidFill>
                  <a:schemeClr val="dk1"/>
                </a:solidFill>
                <a:latin typeface="Arial"/>
                <a:ea typeface="Arial"/>
                <a:cs typeface="Arial"/>
                <a:sym typeface="Arial"/>
              </a:rPr>
              <a:t>(c) 	Factory utilities of $2,200 are payable, prepaid factory insurance of $1,800 has expired, and depreciation on the factory building is $3,500.</a:t>
            </a:r>
            <a:endParaRPr/>
          </a:p>
        </p:txBody>
      </p:sp>
      <p:sp>
        <p:nvSpPr>
          <p:cNvPr id="225" name="Google Shape;225;p17"/>
          <p:cNvSpPr/>
          <p:nvPr/>
        </p:nvSpPr>
        <p:spPr>
          <a:xfrm>
            <a:off x="1295400" y="3554413"/>
            <a:ext cx="7391400" cy="18557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100">
                <a:solidFill>
                  <a:schemeClr val="dk1"/>
                </a:solidFill>
                <a:latin typeface="Arial"/>
                <a:ea typeface="Arial"/>
                <a:cs typeface="Arial"/>
                <a:sym typeface="Arial"/>
              </a:rPr>
              <a:t>Manufacturing Overhead 	7,500</a:t>
            </a:r>
            <a:endParaRPr/>
          </a:p>
          <a:p>
            <a:pPr indent="0" lvl="0" marL="0" marR="0" rtl="0" algn="l">
              <a:spcBef>
                <a:spcPts val="1050"/>
              </a:spcBef>
              <a:spcAft>
                <a:spcPts val="0"/>
              </a:spcAft>
              <a:buNone/>
            </a:pPr>
            <a:r>
              <a:rPr lang="en-US" sz="2100">
                <a:solidFill>
                  <a:schemeClr val="dk1"/>
                </a:solidFill>
                <a:latin typeface="Arial"/>
                <a:ea typeface="Arial"/>
                <a:cs typeface="Arial"/>
                <a:sym typeface="Arial"/>
              </a:rPr>
              <a:t>	Utilities Payable 		2,200</a:t>
            </a:r>
            <a:endParaRPr/>
          </a:p>
          <a:p>
            <a:pPr indent="0" lvl="0" marL="0" marR="0" rtl="0" algn="l">
              <a:spcBef>
                <a:spcPts val="1050"/>
              </a:spcBef>
              <a:spcAft>
                <a:spcPts val="0"/>
              </a:spcAft>
              <a:buNone/>
            </a:pPr>
            <a:r>
              <a:rPr lang="en-US" sz="2100">
                <a:solidFill>
                  <a:schemeClr val="dk1"/>
                </a:solidFill>
                <a:latin typeface="Arial"/>
                <a:ea typeface="Arial"/>
                <a:cs typeface="Arial"/>
                <a:sym typeface="Arial"/>
              </a:rPr>
              <a:t>	Prepaid Insurance 		1,800</a:t>
            </a:r>
            <a:endParaRPr/>
          </a:p>
          <a:p>
            <a:pPr indent="0" lvl="0" marL="0" marR="0" rtl="0" algn="l">
              <a:spcBef>
                <a:spcPts val="1050"/>
              </a:spcBef>
              <a:spcAft>
                <a:spcPts val="0"/>
              </a:spcAft>
              <a:buNone/>
            </a:pPr>
            <a:r>
              <a:rPr lang="en-US" sz="2100">
                <a:solidFill>
                  <a:schemeClr val="dk1"/>
                </a:solidFill>
                <a:latin typeface="Arial"/>
                <a:ea typeface="Arial"/>
                <a:cs typeface="Arial"/>
                <a:sym typeface="Arial"/>
              </a:rPr>
              <a:t>	Accumulated Depreciation 		3,500</a:t>
            </a:r>
            <a:endParaRPr/>
          </a:p>
        </p:txBody>
      </p:sp>
      <p:sp>
        <p:nvSpPr>
          <p:cNvPr id="226" name="Google Shape;226;p17"/>
          <p:cNvSpPr/>
          <p:nvPr/>
        </p:nvSpPr>
        <p:spPr>
          <a:xfrm>
            <a:off x="609600" y="1524000"/>
            <a:ext cx="8153400" cy="47625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Prepare journal entries for each type of manufacturing cost.</a:t>
            </a:r>
            <a:endParaRPr/>
          </a:p>
        </p:txBody>
      </p:sp>
      <p:sp>
        <p:nvSpPr>
          <p:cNvPr id="227" name="Google Shape;227;p17"/>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
        <p:nvSpPr>
          <p:cNvPr id="228" name="Google Shape;228;p17"/>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229" name="Google Shape;229;p17"/>
          <p:cNvSpPr txBox="1"/>
          <p:nvPr/>
        </p:nvSpPr>
        <p:spPr>
          <a:xfrm>
            <a:off x="3276600" y="283994"/>
            <a:ext cx="5486400" cy="919772"/>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2800">
                <a:solidFill>
                  <a:schemeClr val="lt1"/>
                </a:solidFill>
                <a:latin typeface="Arial"/>
                <a:ea typeface="Arial"/>
                <a:cs typeface="Arial"/>
                <a:sym typeface="Arial"/>
              </a:rPr>
              <a:t>Accumulating Manufacturing Costs</a:t>
            </a:r>
            <a:endParaRPr b="1" i="0" sz="2800">
              <a:solidFill>
                <a:schemeClr val="lt1"/>
              </a:solidFill>
              <a:latin typeface="Arial"/>
              <a:ea typeface="Arial"/>
              <a:cs typeface="Arial"/>
              <a:sym typeface="Arial"/>
            </a:endParaRPr>
          </a:p>
        </p:txBody>
      </p:sp>
      <p:sp>
        <p:nvSpPr>
          <p:cNvPr id="230" name="Google Shape;230;p17"/>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0" spcFirstLastPara="1" rIns="0" wrap="square" tIns="18275">
            <a:noAutofit/>
          </a:bodyPr>
          <a:lstStyle/>
          <a:p>
            <a:pPr indent="0" lvl="0" marL="0" marR="0" rtl="0" algn="ctr">
              <a:spcBef>
                <a:spcPts val="0"/>
              </a:spcBef>
              <a:spcAft>
                <a:spcPts val="0"/>
              </a:spcAft>
              <a:buNone/>
            </a:pPr>
            <a:r>
              <a:rPr b="1" lang="en-US" sz="4000">
                <a:solidFill>
                  <a:srgbClr val="FF0000"/>
                </a:solidFill>
                <a:latin typeface="Arial"/>
                <a:ea typeface="Arial"/>
                <a:cs typeface="Arial"/>
                <a:sym typeface="Arial"/>
              </a:rPr>
              <a:t>1</a:t>
            </a:r>
            <a:endParaRPr b="1" sz="4000">
              <a:solidFill>
                <a:srgbClr val="FF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0" st="0"/>
                                            </p:txEl>
                                          </p:spTgt>
                                        </p:tgtEl>
                                        <p:attrNameLst>
                                          <p:attrName>style.visibility</p:attrName>
                                        </p:attrNameLst>
                                      </p:cBhvr>
                                      <p:to>
                                        <p:strVal val="visible"/>
                                      </p:to>
                                    </p:set>
                                    <p:animEffect filter="fade" transition="in">
                                      <p:cBhvr>
                                        <p:cTn dur="500"/>
                                        <p:tgtEl>
                                          <p:spTgt spid="2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1" st="1"/>
                                            </p:txEl>
                                          </p:spTgt>
                                        </p:tgtEl>
                                        <p:attrNameLst>
                                          <p:attrName>style.visibility</p:attrName>
                                        </p:attrNameLst>
                                      </p:cBhvr>
                                      <p:to>
                                        <p:strVal val="visible"/>
                                      </p:to>
                                    </p:set>
                                    <p:animEffect filter="fade" transition="in">
                                      <p:cBhvr>
                                        <p:cTn dur="500"/>
                                        <p:tgtEl>
                                          <p:spTgt spid="2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2" st="2"/>
                                            </p:txEl>
                                          </p:spTgt>
                                        </p:tgtEl>
                                        <p:attrNameLst>
                                          <p:attrName>style.visibility</p:attrName>
                                        </p:attrNameLst>
                                      </p:cBhvr>
                                      <p:to>
                                        <p:strVal val="visible"/>
                                      </p:to>
                                    </p:set>
                                    <p:animEffect filter="fade" transition="in">
                                      <p:cBhvr>
                                        <p:cTn dur="500"/>
                                        <p:tgtEl>
                                          <p:spTgt spid="2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3" st="3"/>
                                            </p:txEl>
                                          </p:spTgt>
                                        </p:tgtEl>
                                        <p:attrNameLst>
                                          <p:attrName>style.visibility</p:attrName>
                                        </p:attrNameLst>
                                      </p:cBhvr>
                                      <p:to>
                                        <p:strVal val="visible"/>
                                      </p:to>
                                    </p:set>
                                    <p:animEffect filter="fade" transition="in">
                                      <p:cBhvr>
                                        <p:cTn dur="500"/>
                                        <p:tgtEl>
                                          <p:spTgt spid="22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8"/>
          <p:cNvSpPr/>
          <p:nvPr/>
        </p:nvSpPr>
        <p:spPr>
          <a:xfrm>
            <a:off x="609600" y="1524000"/>
            <a:ext cx="7848600" cy="3993401"/>
          </a:xfrm>
          <a:prstGeom prst="rect">
            <a:avLst/>
          </a:prstGeom>
          <a:noFill/>
          <a:ln>
            <a:noFill/>
          </a:ln>
        </p:spPr>
        <p:txBody>
          <a:bodyPr anchorCtr="0" anchor="t" bIns="45700" lIns="91425" spcFirstLastPara="1" rIns="91425" wrap="square" tIns="137150">
            <a:spAutoFit/>
          </a:bodyPr>
          <a:lstStyle/>
          <a:p>
            <a:pPr indent="0" lvl="0" marL="0" marR="0" rtl="0" algn="l">
              <a:lnSpc>
                <a:spcPct val="125000"/>
              </a:lnSpc>
              <a:spcBef>
                <a:spcPts val="0"/>
              </a:spcBef>
              <a:spcAft>
                <a:spcPts val="0"/>
              </a:spcAft>
              <a:buNone/>
            </a:pPr>
            <a:r>
              <a:rPr b="1" lang="en-US" sz="2300">
                <a:solidFill>
                  <a:schemeClr val="dk1"/>
                </a:solidFill>
                <a:latin typeface="Arial"/>
                <a:ea typeface="Arial"/>
                <a:cs typeface="Arial"/>
                <a:sym typeface="Arial"/>
              </a:rPr>
              <a:t>Assigning</a:t>
            </a:r>
            <a:r>
              <a:rPr lang="en-US" sz="2300">
                <a:solidFill>
                  <a:schemeClr val="dk1"/>
                </a:solidFill>
                <a:latin typeface="Arial"/>
                <a:ea typeface="Arial"/>
                <a:cs typeface="Arial"/>
                <a:sym typeface="Arial"/>
              </a:rPr>
              <a:t> manufacturing costs to </a:t>
            </a:r>
            <a:r>
              <a:rPr b="1" lang="en-US" sz="2300">
                <a:solidFill>
                  <a:schemeClr val="dk1"/>
                </a:solidFill>
                <a:latin typeface="Arial"/>
                <a:ea typeface="Arial"/>
                <a:cs typeface="Arial"/>
                <a:sym typeface="Arial"/>
              </a:rPr>
              <a:t>work in process </a:t>
            </a:r>
            <a:r>
              <a:rPr lang="en-US" sz="2300">
                <a:solidFill>
                  <a:schemeClr val="dk1"/>
                </a:solidFill>
                <a:latin typeface="Arial"/>
                <a:ea typeface="Arial"/>
                <a:cs typeface="Arial"/>
                <a:sym typeface="Arial"/>
              </a:rPr>
              <a:t>results in the following entries.</a:t>
            </a:r>
            <a:endParaRPr sz="2300">
              <a:solidFill>
                <a:schemeClr val="dk1"/>
              </a:solidFill>
              <a:latin typeface="Arial"/>
              <a:ea typeface="Arial"/>
              <a:cs typeface="Arial"/>
              <a:sym typeface="Arial"/>
            </a:endParaRPr>
          </a:p>
          <a:p>
            <a:pPr indent="-457200" lvl="0" marL="457200" marR="0" rtl="0" algn="l">
              <a:lnSpc>
                <a:spcPct val="125000"/>
              </a:lnSpc>
              <a:spcBef>
                <a:spcPts val="1200"/>
              </a:spcBef>
              <a:spcAft>
                <a:spcPts val="0"/>
              </a:spcAft>
              <a:buClr>
                <a:schemeClr val="dk1"/>
              </a:buClr>
              <a:buSzPts val="2300"/>
              <a:buFont typeface="Comic Sans MS"/>
              <a:buAutoNum type="arabicPeriod"/>
            </a:pPr>
            <a:r>
              <a:rPr b="1" lang="en-US" sz="2300">
                <a:solidFill>
                  <a:schemeClr val="dk1"/>
                </a:solidFill>
                <a:latin typeface="Arial"/>
                <a:ea typeface="Arial"/>
                <a:cs typeface="Arial"/>
                <a:sym typeface="Arial"/>
              </a:rPr>
              <a:t>Debits </a:t>
            </a:r>
            <a:r>
              <a:rPr lang="en-US" sz="2300">
                <a:solidFill>
                  <a:schemeClr val="dk1"/>
                </a:solidFill>
                <a:latin typeface="Arial"/>
                <a:ea typeface="Arial"/>
                <a:cs typeface="Arial"/>
                <a:sym typeface="Arial"/>
              </a:rPr>
              <a:t>made to Work in Process Inventory</a:t>
            </a:r>
            <a:endParaRPr/>
          </a:p>
          <a:p>
            <a:pPr indent="-457200" lvl="0" marL="457200" marR="0" rtl="0" algn="l">
              <a:lnSpc>
                <a:spcPct val="125000"/>
              </a:lnSpc>
              <a:spcBef>
                <a:spcPts val="1200"/>
              </a:spcBef>
              <a:spcAft>
                <a:spcPts val="0"/>
              </a:spcAft>
              <a:buClr>
                <a:schemeClr val="dk1"/>
              </a:buClr>
              <a:buSzPts val="2300"/>
              <a:buFont typeface="Comic Sans MS"/>
              <a:buAutoNum type="arabicPeriod"/>
            </a:pPr>
            <a:r>
              <a:rPr b="1" lang="en-US" sz="2300">
                <a:solidFill>
                  <a:schemeClr val="dk1"/>
                </a:solidFill>
                <a:latin typeface="Arial"/>
                <a:ea typeface="Arial"/>
                <a:cs typeface="Arial"/>
                <a:sym typeface="Arial"/>
              </a:rPr>
              <a:t>Credits </a:t>
            </a:r>
            <a:r>
              <a:rPr lang="en-US" sz="2300">
                <a:solidFill>
                  <a:schemeClr val="dk1"/>
                </a:solidFill>
                <a:latin typeface="Arial"/>
                <a:ea typeface="Arial"/>
                <a:cs typeface="Arial"/>
                <a:sym typeface="Arial"/>
              </a:rPr>
              <a:t>made to</a:t>
            </a:r>
            <a:endParaRPr/>
          </a:p>
          <a:p>
            <a:pPr indent="-463550" lvl="1" marL="1146175" marR="0" rtl="0" algn="l">
              <a:lnSpc>
                <a:spcPct val="125000"/>
              </a:lnSpc>
              <a:spcBef>
                <a:spcPts val="1200"/>
              </a:spcBef>
              <a:spcAft>
                <a:spcPts val="0"/>
              </a:spcAft>
              <a:buClr>
                <a:srgbClr val="730000"/>
              </a:buClr>
              <a:buSzPts val="1760"/>
              <a:buFont typeface="Arial"/>
              <a:buChar char="►"/>
            </a:pPr>
            <a:r>
              <a:rPr b="0" i="0" lang="en-US" sz="2200" u="none" cap="none" strike="noStrike">
                <a:solidFill>
                  <a:schemeClr val="dk1"/>
                </a:solidFill>
                <a:latin typeface="Arial"/>
                <a:ea typeface="Arial"/>
                <a:cs typeface="Arial"/>
                <a:sym typeface="Arial"/>
              </a:rPr>
              <a:t>Raw Materials Inventory</a:t>
            </a:r>
            <a:endParaRPr/>
          </a:p>
          <a:p>
            <a:pPr indent="-463550" lvl="1" marL="1146175" marR="0" rtl="0" algn="l">
              <a:lnSpc>
                <a:spcPct val="125000"/>
              </a:lnSpc>
              <a:spcBef>
                <a:spcPts val="1200"/>
              </a:spcBef>
              <a:spcAft>
                <a:spcPts val="0"/>
              </a:spcAft>
              <a:buClr>
                <a:srgbClr val="730000"/>
              </a:buClr>
              <a:buSzPts val="1760"/>
              <a:buFont typeface="Arial"/>
              <a:buChar char="►"/>
            </a:pPr>
            <a:r>
              <a:rPr b="0" i="0" lang="en-US" sz="2200" u="none" cap="none" strike="noStrike">
                <a:solidFill>
                  <a:schemeClr val="dk1"/>
                </a:solidFill>
                <a:latin typeface="Arial"/>
                <a:ea typeface="Arial"/>
                <a:cs typeface="Arial"/>
                <a:sym typeface="Arial"/>
              </a:rPr>
              <a:t>Factory Labor</a:t>
            </a:r>
            <a:endParaRPr/>
          </a:p>
          <a:p>
            <a:pPr indent="-463550" lvl="1" marL="1146175" marR="0" rtl="0" algn="l">
              <a:lnSpc>
                <a:spcPct val="125000"/>
              </a:lnSpc>
              <a:spcBef>
                <a:spcPts val="1200"/>
              </a:spcBef>
              <a:spcAft>
                <a:spcPts val="0"/>
              </a:spcAft>
              <a:buClr>
                <a:srgbClr val="730000"/>
              </a:buClr>
              <a:buSzPts val="1760"/>
              <a:buFont typeface="Arial"/>
              <a:buChar char="►"/>
            </a:pPr>
            <a:r>
              <a:rPr b="0" i="0" lang="en-US" sz="2200" u="none" cap="none" strike="noStrike">
                <a:solidFill>
                  <a:schemeClr val="dk1"/>
                </a:solidFill>
                <a:latin typeface="Arial"/>
                <a:ea typeface="Arial"/>
                <a:cs typeface="Arial"/>
                <a:sym typeface="Arial"/>
              </a:rPr>
              <a:t>Manufacturing Overhead</a:t>
            </a:r>
            <a:endParaRPr/>
          </a:p>
        </p:txBody>
      </p:sp>
      <p:sp>
        <p:nvSpPr>
          <p:cNvPr id="236" name="Google Shape;236;p18"/>
          <p:cNvSpPr/>
          <p:nvPr/>
        </p:nvSpPr>
        <p:spPr>
          <a:xfrm>
            <a:off x="290286" y="389796"/>
            <a:ext cx="2249714" cy="697737"/>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237" name="Google Shape;237;p18"/>
          <p:cNvSpPr/>
          <p:nvPr/>
        </p:nvSpPr>
        <p:spPr>
          <a:xfrm>
            <a:off x="2540000" y="274320"/>
            <a:ext cx="6241143" cy="928688"/>
          </a:xfrm>
          <a:prstGeom prst="rect">
            <a:avLst/>
          </a:prstGeom>
          <a:solidFill>
            <a:srgbClr val="000099"/>
          </a:solidFill>
          <a:ln>
            <a:noFill/>
          </a:ln>
        </p:spPr>
        <p:txBody>
          <a:bodyPr anchorCtr="0" anchor="ctr" bIns="45700" lIns="91425" spcFirstLastPara="1" rIns="91425" wrap="square" tIns="45700">
            <a:noAutofit/>
          </a:bodyPr>
          <a:lstStyle/>
          <a:p>
            <a:pPr indent="0" lvl="0" marL="53975" marR="0" rtl="0" algn="l">
              <a:spcBef>
                <a:spcPts val="0"/>
              </a:spcBef>
              <a:spcAft>
                <a:spcPts val="0"/>
              </a:spcAft>
              <a:buNone/>
            </a:pPr>
            <a:r>
              <a:rPr b="1" lang="en-US" sz="2500">
                <a:solidFill>
                  <a:schemeClr val="lt1"/>
                </a:solidFill>
                <a:latin typeface="Arial"/>
                <a:ea typeface="Arial"/>
                <a:cs typeface="Arial"/>
                <a:sym typeface="Arial"/>
              </a:rPr>
              <a:t>Use a job cost sheet to assign costs to work in process.</a:t>
            </a:r>
            <a:endParaRPr/>
          </a:p>
        </p:txBody>
      </p:sp>
      <p:sp>
        <p:nvSpPr>
          <p:cNvPr id="238" name="Google Shape;238;p18"/>
          <p:cNvSpPr/>
          <p:nvPr/>
        </p:nvSpPr>
        <p:spPr>
          <a:xfrm>
            <a:off x="1872343" y="485775"/>
            <a:ext cx="522514" cy="514350"/>
          </a:xfrm>
          <a:prstGeom prst="ellipse">
            <a:avLst/>
          </a:prstGeom>
          <a:solidFill>
            <a:srgbClr val="FF0000"/>
          </a:solidFill>
          <a:ln>
            <a:noFill/>
          </a:ln>
        </p:spPr>
        <p:txBody>
          <a:bodyPr anchorCtr="0" anchor="ctr" bIns="43225" lIns="86475" spcFirstLastPara="1" rIns="86475" wrap="square" tIns="18275">
            <a:noAutofit/>
          </a:bodyPr>
          <a:lstStyle/>
          <a:p>
            <a:pPr indent="0" lvl="0" marL="0" marR="0" rtl="0" algn="ctr">
              <a:spcBef>
                <a:spcPts val="0"/>
              </a:spcBef>
              <a:spcAft>
                <a:spcPts val="0"/>
              </a:spcAft>
              <a:buNone/>
            </a:pPr>
            <a:r>
              <a:rPr b="1" lang="en-US" sz="2700">
                <a:solidFill>
                  <a:schemeClr val="lt1"/>
                </a:solidFill>
                <a:latin typeface="Arial"/>
                <a:ea typeface="Arial"/>
                <a:cs typeface="Arial"/>
                <a:sym typeface="Arial"/>
              </a:rPr>
              <a:t>2</a:t>
            </a:r>
            <a:endParaRPr b="1" sz="2700">
              <a:solidFill>
                <a:schemeClr val="lt1"/>
              </a:solidFill>
              <a:latin typeface="Arial"/>
              <a:ea typeface="Arial"/>
              <a:cs typeface="Arial"/>
              <a:sym typeface="Arial"/>
            </a:endParaRPr>
          </a:p>
        </p:txBody>
      </p:sp>
      <p:sp>
        <p:nvSpPr>
          <p:cNvPr id="239" name="Google Shape;239;p18"/>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9"/>
          <p:cNvSpPr/>
          <p:nvPr/>
        </p:nvSpPr>
        <p:spPr>
          <a:xfrm>
            <a:off x="609600" y="1371600"/>
            <a:ext cx="7772400" cy="4419600"/>
          </a:xfrm>
          <a:prstGeom prst="rect">
            <a:avLst/>
          </a:prstGeom>
          <a:noFill/>
          <a:ln>
            <a:noFill/>
          </a:ln>
        </p:spPr>
        <p:txBody>
          <a:bodyPr anchorCtr="0" anchor="t" bIns="45700" lIns="91425" spcFirstLastPara="1" rIns="91425" wrap="square" tIns="137150">
            <a:noAutofit/>
          </a:bodyPr>
          <a:lstStyle/>
          <a:p>
            <a:pPr indent="-457200" lvl="1" marL="685800" marR="0" rtl="0" algn="l">
              <a:lnSpc>
                <a:spcPct val="120000"/>
              </a:lnSpc>
              <a:spcBef>
                <a:spcPts val="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Used to record costs chargeable to specific jobs.</a:t>
            </a:r>
            <a:endParaRPr/>
          </a:p>
          <a:p>
            <a:pPr indent="-457200" lvl="1" marL="685800" marR="0" rtl="0" algn="l">
              <a:lnSpc>
                <a:spcPct val="120000"/>
              </a:lnSpc>
              <a:spcBef>
                <a:spcPts val="126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Constitutes the subsidiary ledger for the work in process account.</a:t>
            </a:r>
            <a:endParaRPr/>
          </a:p>
          <a:p>
            <a:pPr indent="-457200" lvl="1" marL="685800" marR="0" rtl="0" algn="l">
              <a:lnSpc>
                <a:spcPct val="120000"/>
              </a:lnSpc>
              <a:spcBef>
                <a:spcPts val="126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Each entry to Work in Process Inventory</a:t>
            </a:r>
            <a:r>
              <a:rPr b="0" i="1" lang="en-US" sz="2100" u="none" cap="none" strike="noStrike">
                <a:solidFill>
                  <a:srgbClr val="A50021"/>
                </a:solidFill>
                <a:latin typeface="Arial"/>
                <a:ea typeface="Arial"/>
                <a:cs typeface="Arial"/>
                <a:sym typeface="Arial"/>
              </a:rPr>
              <a:t> </a:t>
            </a:r>
            <a:r>
              <a:rPr b="0" i="0" lang="en-US" sz="2100" u="none" cap="none" strike="noStrike">
                <a:solidFill>
                  <a:schemeClr val="dk1"/>
                </a:solidFill>
                <a:latin typeface="Arial"/>
                <a:ea typeface="Arial"/>
                <a:cs typeface="Arial"/>
                <a:sym typeface="Arial"/>
              </a:rPr>
              <a:t>must be accompanied by a corresponding posting to </a:t>
            </a:r>
            <a:endParaRPr b="0" i="0" sz="2100" u="none" cap="none" strike="noStrike">
              <a:solidFill>
                <a:schemeClr val="dk1"/>
              </a:solidFill>
              <a:latin typeface="Arial"/>
              <a:ea typeface="Arial"/>
              <a:cs typeface="Arial"/>
              <a:sym typeface="Arial"/>
            </a:endParaRPr>
          </a:p>
          <a:p>
            <a:pPr indent="0" lvl="1" marL="679450" marR="0" rtl="0" algn="l">
              <a:lnSpc>
                <a:spcPct val="120000"/>
              </a:lnSpc>
              <a:spcBef>
                <a:spcPts val="0"/>
              </a:spcBef>
              <a:spcAft>
                <a:spcPts val="0"/>
              </a:spcAft>
              <a:buNone/>
            </a:pPr>
            <a:r>
              <a:rPr b="0" i="0" lang="en-US" sz="2100" u="none" cap="none" strike="noStrike">
                <a:solidFill>
                  <a:schemeClr val="dk1"/>
                </a:solidFill>
                <a:latin typeface="Arial"/>
                <a:ea typeface="Arial"/>
                <a:cs typeface="Arial"/>
                <a:sym typeface="Arial"/>
              </a:rPr>
              <a:t>one or more job cost sheets.</a:t>
            </a:r>
            <a:endParaRPr/>
          </a:p>
        </p:txBody>
      </p:sp>
      <p:sp>
        <p:nvSpPr>
          <p:cNvPr id="245" name="Google Shape;245;p19"/>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cxnSp>
        <p:nvCxnSpPr>
          <p:cNvPr id="246" name="Google Shape;246;p19"/>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247" name="Google Shape;247;p19"/>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chemeClr val="dk1"/>
                </a:solidFill>
                <a:latin typeface="Arial"/>
                <a:ea typeface="Arial"/>
                <a:cs typeface="Arial"/>
                <a:sym typeface="Arial"/>
              </a:rPr>
              <a:t>Job Cost Sheet</a:t>
            </a:r>
            <a:endParaRPr b="1" i="0" sz="3200">
              <a:solidFill>
                <a:schemeClr val="dk1"/>
              </a:solidFill>
              <a:latin typeface="Arial"/>
              <a:ea typeface="Arial"/>
              <a:cs typeface="Arial"/>
              <a:sym typeface="Arial"/>
            </a:endParaRP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0"/>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253" name="Google Shape;253;p20"/>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pic>
        <p:nvPicPr>
          <p:cNvPr id="254" name="Google Shape;254;p20"/>
          <p:cNvPicPr preferRelativeResize="0"/>
          <p:nvPr/>
        </p:nvPicPr>
        <p:blipFill rotWithShape="1">
          <a:blip r:embed="rId3">
            <a:alphaModFix/>
          </a:blip>
          <a:srcRect b="0" l="0" r="0" t="0"/>
          <a:stretch/>
        </p:blipFill>
        <p:spPr>
          <a:xfrm>
            <a:off x="203013" y="381000"/>
            <a:ext cx="8751056" cy="5715000"/>
          </a:xfrm>
          <a:prstGeom prst="rect">
            <a:avLst/>
          </a:prstGeom>
          <a:noFill/>
          <a:ln>
            <a:noFill/>
          </a:ln>
        </p:spPr>
      </p:pic>
      <p:sp>
        <p:nvSpPr>
          <p:cNvPr id="255" name="Google Shape;255;p20"/>
          <p:cNvSpPr/>
          <p:nvPr/>
        </p:nvSpPr>
        <p:spPr>
          <a:xfrm>
            <a:off x="609600" y="5827679"/>
            <a:ext cx="1600200"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20-4</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Job cost sheet</a:t>
            </a:r>
            <a:endParaRP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1"/>
          <p:cNvSpPr/>
          <p:nvPr/>
        </p:nvSpPr>
        <p:spPr>
          <a:xfrm>
            <a:off x="609600" y="1371600"/>
            <a:ext cx="8077200" cy="4151136"/>
          </a:xfrm>
          <a:prstGeom prst="rect">
            <a:avLst/>
          </a:prstGeom>
          <a:noFill/>
          <a:ln>
            <a:noFill/>
          </a:ln>
        </p:spPr>
        <p:txBody>
          <a:bodyPr anchorCtr="0" anchor="t" bIns="45700" lIns="91425" spcFirstLastPara="1" rIns="91425" wrap="square" tIns="45700">
            <a:spAutoFit/>
          </a:bodyPr>
          <a:lstStyle/>
          <a:p>
            <a:pPr indent="-457200" lvl="1" marL="685800" marR="0" rtl="0" algn="l">
              <a:lnSpc>
                <a:spcPct val="125000"/>
              </a:lnSpc>
              <a:spcBef>
                <a:spcPts val="0"/>
              </a:spcBef>
              <a:spcAft>
                <a:spcPts val="0"/>
              </a:spcAft>
              <a:buClr>
                <a:srgbClr val="800000"/>
              </a:buClr>
              <a:buSzPts val="1840"/>
              <a:buFont typeface="Noto Sans Symbols"/>
              <a:buChar char="◆"/>
            </a:pPr>
            <a:r>
              <a:rPr b="0" i="0" lang="en-US" sz="2300" u="none" cap="none" strike="noStrike">
                <a:solidFill>
                  <a:schemeClr val="dk1"/>
                </a:solidFill>
                <a:latin typeface="Arial"/>
                <a:ea typeface="Arial"/>
                <a:cs typeface="Arial"/>
                <a:sym typeface="Arial"/>
              </a:rPr>
              <a:t>Assigned to a job when materials are issued in response to requests.</a:t>
            </a:r>
            <a:endParaRPr b="0" i="0" sz="2300" u="none" cap="none" strike="noStrike">
              <a:solidFill>
                <a:schemeClr val="dk1"/>
              </a:solidFill>
              <a:latin typeface="Arial"/>
              <a:ea typeface="Arial"/>
              <a:cs typeface="Arial"/>
              <a:sym typeface="Arial"/>
            </a:endParaRPr>
          </a:p>
          <a:p>
            <a:pPr indent="-457200" lvl="1" marL="685800" marR="0" rtl="0" algn="l">
              <a:lnSpc>
                <a:spcPct val="125000"/>
              </a:lnSpc>
              <a:spcBef>
                <a:spcPts val="1200"/>
              </a:spcBef>
              <a:spcAft>
                <a:spcPts val="0"/>
              </a:spcAft>
              <a:buClr>
                <a:srgbClr val="800000"/>
              </a:buClr>
              <a:buSzPts val="1840"/>
              <a:buFont typeface="Noto Sans Symbols"/>
              <a:buChar char="◆"/>
            </a:pPr>
            <a:r>
              <a:rPr b="1" i="0" lang="en-US" sz="2300" u="none" cap="none" strike="noStrike">
                <a:solidFill>
                  <a:srgbClr val="0000BF"/>
                </a:solidFill>
                <a:latin typeface="Arial"/>
                <a:ea typeface="Arial"/>
                <a:cs typeface="Arial"/>
                <a:sym typeface="Arial"/>
              </a:rPr>
              <a:t>Materials requisition slip</a:t>
            </a:r>
            <a:endParaRPr/>
          </a:p>
          <a:p>
            <a:pPr indent="-457199" lvl="2" marL="1257300" marR="0" rtl="0" algn="l">
              <a:lnSpc>
                <a:spcPct val="125000"/>
              </a:lnSpc>
              <a:spcBef>
                <a:spcPts val="1200"/>
              </a:spcBef>
              <a:spcAft>
                <a:spcPts val="0"/>
              </a:spcAft>
              <a:buClr>
                <a:srgbClr val="800000"/>
              </a:buClr>
              <a:buSzPts val="1760"/>
              <a:buFont typeface="Arial"/>
              <a:buChar char="►"/>
            </a:pPr>
            <a:r>
              <a:rPr b="0" i="0" lang="en-US" sz="2200" u="none" cap="none" strike="noStrike">
                <a:solidFill>
                  <a:schemeClr val="dk1"/>
                </a:solidFill>
                <a:latin typeface="Arial"/>
                <a:ea typeface="Arial"/>
                <a:cs typeface="Arial"/>
                <a:sym typeface="Arial"/>
              </a:rPr>
              <a:t>Written authorization for issuing raw materials.</a:t>
            </a:r>
            <a:endParaRPr/>
          </a:p>
          <a:p>
            <a:pPr indent="-457199" lvl="2" marL="1257300" marR="0" rtl="0" algn="l">
              <a:lnSpc>
                <a:spcPct val="125000"/>
              </a:lnSpc>
              <a:spcBef>
                <a:spcPts val="1200"/>
              </a:spcBef>
              <a:spcAft>
                <a:spcPts val="0"/>
              </a:spcAft>
              <a:buClr>
                <a:srgbClr val="800000"/>
              </a:buClr>
              <a:buSzPts val="1760"/>
              <a:buFont typeface="Arial"/>
              <a:buChar char="►"/>
            </a:pPr>
            <a:r>
              <a:rPr b="0" i="0" lang="en-US" sz="2200" u="none" cap="none" strike="noStrike">
                <a:solidFill>
                  <a:schemeClr val="dk1"/>
                </a:solidFill>
                <a:latin typeface="Arial"/>
                <a:ea typeface="Arial"/>
                <a:cs typeface="Arial"/>
                <a:sym typeface="Arial"/>
              </a:rPr>
              <a:t>May be directly issued to use on a job - </a:t>
            </a:r>
            <a:r>
              <a:rPr b="1" i="0" lang="en-US" sz="2200" u="none" cap="none" strike="noStrike">
                <a:solidFill>
                  <a:schemeClr val="dk1"/>
                </a:solidFill>
                <a:latin typeface="Arial"/>
                <a:ea typeface="Arial"/>
                <a:cs typeface="Arial"/>
                <a:sym typeface="Arial"/>
              </a:rPr>
              <a:t>direct materials </a:t>
            </a:r>
            <a:r>
              <a:rPr b="0" i="0" lang="en-US" sz="2200" u="none" cap="none" strike="noStrike">
                <a:solidFill>
                  <a:schemeClr val="dk1"/>
                </a:solidFill>
                <a:latin typeface="Arial"/>
                <a:ea typeface="Arial"/>
                <a:cs typeface="Arial"/>
                <a:sym typeface="Arial"/>
              </a:rPr>
              <a:t>(charged to Work in Process Inventory).</a:t>
            </a:r>
            <a:endParaRPr b="0" i="0" sz="2200" u="none" cap="none" strike="noStrike">
              <a:solidFill>
                <a:schemeClr val="dk1"/>
              </a:solidFill>
              <a:latin typeface="Arial"/>
              <a:ea typeface="Arial"/>
              <a:cs typeface="Arial"/>
              <a:sym typeface="Arial"/>
            </a:endParaRPr>
          </a:p>
          <a:p>
            <a:pPr indent="-457199" lvl="2" marL="1257300" marR="0" rtl="0" algn="l">
              <a:lnSpc>
                <a:spcPct val="125000"/>
              </a:lnSpc>
              <a:spcBef>
                <a:spcPts val="1200"/>
              </a:spcBef>
              <a:spcAft>
                <a:spcPts val="0"/>
              </a:spcAft>
              <a:buClr>
                <a:srgbClr val="800000"/>
              </a:buClr>
              <a:buSzPts val="1760"/>
              <a:buFont typeface="Arial"/>
              <a:buChar char="►"/>
            </a:pPr>
            <a:r>
              <a:rPr b="0" i="0" lang="en-US" sz="2200" u="none" cap="none" strike="noStrike">
                <a:solidFill>
                  <a:schemeClr val="dk1"/>
                </a:solidFill>
                <a:latin typeface="Arial"/>
                <a:ea typeface="Arial"/>
                <a:cs typeface="Arial"/>
                <a:sym typeface="Arial"/>
              </a:rPr>
              <a:t>May be considered indirect materials – charged to </a:t>
            </a:r>
            <a:r>
              <a:rPr b="1" i="0" lang="en-US" sz="2200" u="none" cap="none" strike="noStrike">
                <a:solidFill>
                  <a:schemeClr val="dk1"/>
                </a:solidFill>
                <a:latin typeface="Arial"/>
                <a:ea typeface="Arial"/>
                <a:cs typeface="Arial"/>
                <a:sym typeface="Arial"/>
              </a:rPr>
              <a:t>Manufacturing Overhead</a:t>
            </a:r>
            <a:r>
              <a:rPr b="0" i="0" lang="en-US" sz="2200" u="none" cap="none" strike="noStrike">
                <a:solidFill>
                  <a:schemeClr val="dk1"/>
                </a:solidFill>
                <a:latin typeface="Arial"/>
                <a:ea typeface="Arial"/>
                <a:cs typeface="Arial"/>
                <a:sym typeface="Arial"/>
              </a:rPr>
              <a:t>.</a:t>
            </a:r>
            <a:endParaRPr/>
          </a:p>
        </p:txBody>
      </p:sp>
      <p:sp>
        <p:nvSpPr>
          <p:cNvPr id="261" name="Google Shape;261;p21"/>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cxnSp>
        <p:nvCxnSpPr>
          <p:cNvPr id="262" name="Google Shape;262;p21"/>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263" name="Google Shape;263;p21"/>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Raw Material Costs</a:t>
            </a:r>
            <a:endParaRPr/>
          </a:p>
        </p:txBody>
      </p:sp>
      <p:sp>
        <p:nvSpPr>
          <p:cNvPr id="264" name="Google Shape;264;p21"/>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22"/>
          <p:cNvPicPr preferRelativeResize="0"/>
          <p:nvPr/>
        </p:nvPicPr>
        <p:blipFill rotWithShape="1">
          <a:blip r:embed="rId3">
            <a:alphaModFix/>
          </a:blip>
          <a:srcRect b="0" l="0" r="0" t="0"/>
          <a:stretch/>
        </p:blipFill>
        <p:spPr>
          <a:xfrm>
            <a:off x="203014" y="381000"/>
            <a:ext cx="8751055" cy="5794896"/>
          </a:xfrm>
          <a:prstGeom prst="rect">
            <a:avLst/>
          </a:prstGeom>
          <a:noFill/>
          <a:ln>
            <a:noFill/>
          </a:ln>
        </p:spPr>
      </p:pic>
      <p:sp>
        <p:nvSpPr>
          <p:cNvPr id="270" name="Google Shape;270;p22"/>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271" name="Google Shape;271;p22"/>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
        <p:nvSpPr>
          <p:cNvPr id="272" name="Google Shape;272;p22"/>
          <p:cNvSpPr/>
          <p:nvPr/>
        </p:nvSpPr>
        <p:spPr>
          <a:xfrm>
            <a:off x="609600" y="5908344"/>
            <a:ext cx="1981200"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20-5</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Materials requisition slip</a:t>
            </a:r>
            <a:endParaRPr sz="1200">
              <a:solidFill>
                <a:schemeClr val="dk1"/>
              </a:solidFill>
              <a:latin typeface="Arial"/>
              <a:ea typeface="Arial"/>
              <a:cs typeface="Arial"/>
              <a:sym typeface="Arial"/>
            </a:endParaRP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3"/>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278" name="Google Shape;278;p23"/>
          <p:cNvSpPr/>
          <p:nvPr/>
        </p:nvSpPr>
        <p:spPr>
          <a:xfrm>
            <a:off x="609600" y="1371600"/>
            <a:ext cx="8153400" cy="860557"/>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100">
                <a:solidFill>
                  <a:schemeClr val="dk1"/>
                </a:solidFill>
                <a:latin typeface="Arial"/>
                <a:ea typeface="Arial"/>
                <a:cs typeface="Arial"/>
                <a:sym typeface="Arial"/>
              </a:rPr>
              <a:t>Illustration:</a:t>
            </a:r>
            <a:r>
              <a:rPr lang="en-US" sz="2100">
                <a:solidFill>
                  <a:schemeClr val="dk1"/>
                </a:solidFill>
                <a:latin typeface="Arial"/>
                <a:ea typeface="Arial"/>
                <a:cs typeface="Arial"/>
                <a:sym typeface="Arial"/>
              </a:rPr>
              <a:t>  Wallace uses $24,000 of direct materials and $6,000 of indirect materials in January, the entry is:</a:t>
            </a:r>
            <a:endParaRPr/>
          </a:p>
        </p:txBody>
      </p:sp>
      <p:sp>
        <p:nvSpPr>
          <p:cNvPr id="279" name="Google Shape;279;p23"/>
          <p:cNvSpPr/>
          <p:nvPr/>
        </p:nvSpPr>
        <p:spPr>
          <a:xfrm>
            <a:off x="609600" y="2403475"/>
            <a:ext cx="7772400" cy="140652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Jan. 31 	Work in Process Inventory 	24,000</a:t>
            </a:r>
            <a:endParaRPr/>
          </a:p>
          <a:p>
            <a:pPr indent="0" lvl="0" marL="0" marR="0" rtl="0" algn="l">
              <a:lnSpc>
                <a:spcPct val="120000"/>
              </a:lnSpc>
              <a:spcBef>
                <a:spcPts val="525"/>
              </a:spcBef>
              <a:spcAft>
                <a:spcPts val="0"/>
              </a:spcAft>
              <a:buNone/>
            </a:pPr>
            <a:r>
              <a:rPr lang="en-US" sz="2100">
                <a:solidFill>
                  <a:schemeClr val="dk1"/>
                </a:solidFill>
                <a:latin typeface="Arial"/>
                <a:ea typeface="Arial"/>
                <a:cs typeface="Arial"/>
                <a:sym typeface="Arial"/>
              </a:rPr>
              <a:t>	Manufacturing Overhead 	6,000</a:t>
            </a:r>
            <a:endParaRPr/>
          </a:p>
          <a:p>
            <a:pPr indent="0" lvl="0" marL="0" marR="0" rtl="0" algn="l">
              <a:lnSpc>
                <a:spcPct val="120000"/>
              </a:lnSpc>
              <a:spcBef>
                <a:spcPts val="525"/>
              </a:spcBef>
              <a:spcAft>
                <a:spcPts val="0"/>
              </a:spcAft>
              <a:buNone/>
            </a:pPr>
            <a:r>
              <a:rPr lang="en-US" sz="2100">
                <a:solidFill>
                  <a:schemeClr val="dk1"/>
                </a:solidFill>
                <a:latin typeface="Arial"/>
                <a:ea typeface="Arial"/>
                <a:cs typeface="Arial"/>
                <a:sym typeface="Arial"/>
              </a:rPr>
              <a:t>		Raw Materials Inventory 		30,000</a:t>
            </a:r>
            <a:endParaRPr/>
          </a:p>
        </p:txBody>
      </p:sp>
      <p:cxnSp>
        <p:nvCxnSpPr>
          <p:cNvPr id="280" name="Google Shape;280;p23"/>
          <p:cNvCxnSpPr/>
          <p:nvPr/>
        </p:nvCxnSpPr>
        <p:spPr>
          <a:xfrm>
            <a:off x="685800" y="4114800"/>
            <a:ext cx="7772400" cy="0"/>
          </a:xfrm>
          <a:prstGeom prst="straightConnector1">
            <a:avLst/>
          </a:prstGeom>
          <a:noFill/>
          <a:ln cap="sq" cmpd="sng" w="28575">
            <a:solidFill>
              <a:schemeClr val="dk1"/>
            </a:solidFill>
            <a:prstDash val="solid"/>
            <a:round/>
            <a:headEnd len="sm" w="sm" type="none"/>
            <a:tailEnd len="sm" w="sm" type="none"/>
          </a:ln>
        </p:spPr>
      </p:cxnSp>
      <p:cxnSp>
        <p:nvCxnSpPr>
          <p:cNvPr id="281" name="Google Shape;281;p23"/>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282" name="Google Shape;282;p23"/>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Raw Material Costs</a:t>
            </a:r>
            <a:endParaRPr/>
          </a:p>
        </p:txBody>
      </p:sp>
      <p:pic>
        <p:nvPicPr>
          <p:cNvPr id="283" name="Google Shape;283;p23"/>
          <p:cNvPicPr preferRelativeResize="0"/>
          <p:nvPr/>
        </p:nvPicPr>
        <p:blipFill rotWithShape="1">
          <a:blip r:embed="rId3">
            <a:alphaModFix/>
          </a:blip>
          <a:srcRect b="0" l="0" r="0" t="0"/>
          <a:stretch/>
        </p:blipFill>
        <p:spPr>
          <a:xfrm>
            <a:off x="1009087" y="4419600"/>
            <a:ext cx="7068114" cy="1992313"/>
          </a:xfrm>
          <a:prstGeom prst="rect">
            <a:avLst/>
          </a:prstGeom>
          <a:noFill/>
          <a:ln cap="flat" cmpd="sng" w="19050">
            <a:solidFill>
              <a:schemeClr val="dk1"/>
            </a:solidFill>
            <a:prstDash val="solid"/>
            <a:miter lim="800000"/>
            <a:headEnd len="sm" w="sm" type="none"/>
            <a:tailEnd len="sm" w="sm" type="none"/>
          </a:ln>
        </p:spPr>
      </p:pic>
      <p:sp>
        <p:nvSpPr>
          <p:cNvPr id="284" name="Google Shape;284;p23"/>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0" st="0"/>
                                            </p:txEl>
                                          </p:spTgt>
                                        </p:tgtEl>
                                        <p:attrNameLst>
                                          <p:attrName>style.visibility</p:attrName>
                                        </p:attrNameLst>
                                      </p:cBhvr>
                                      <p:to>
                                        <p:strVal val="visible"/>
                                      </p:to>
                                    </p:set>
                                    <p:animEffect filter="fade" transition="in">
                                      <p:cBhvr>
                                        <p:cTn dur="500"/>
                                        <p:tgtEl>
                                          <p:spTgt spid="2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1" st="1"/>
                                            </p:txEl>
                                          </p:spTgt>
                                        </p:tgtEl>
                                        <p:attrNameLst>
                                          <p:attrName>style.visibility</p:attrName>
                                        </p:attrNameLst>
                                      </p:cBhvr>
                                      <p:to>
                                        <p:strVal val="visible"/>
                                      </p:to>
                                    </p:set>
                                    <p:animEffect filter="fade" transition="in">
                                      <p:cBhvr>
                                        <p:cTn dur="500"/>
                                        <p:tgtEl>
                                          <p:spTgt spid="2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2" st="2"/>
                                            </p:txEl>
                                          </p:spTgt>
                                        </p:tgtEl>
                                        <p:attrNameLst>
                                          <p:attrName>style.visibility</p:attrName>
                                        </p:attrNameLst>
                                      </p:cBhvr>
                                      <p:to>
                                        <p:strVal val="visible"/>
                                      </p:to>
                                    </p:set>
                                    <p:animEffect filter="fade" transition="in">
                                      <p:cBhvr>
                                        <p:cTn dur="500"/>
                                        <p:tgtEl>
                                          <p:spTgt spid="279">
                                            <p:txEl>
                                              <p:pRg end="2" st="2"/>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4"/>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290" name="Google Shape;290;p24"/>
          <p:cNvSpPr txBox="1"/>
          <p:nvPr/>
        </p:nvSpPr>
        <p:spPr>
          <a:xfrm>
            <a:off x="381000" y="2286000"/>
            <a:ext cx="2057400" cy="3208571"/>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lang="en-US" sz="1800">
                <a:solidFill>
                  <a:schemeClr val="dk1"/>
                </a:solidFill>
                <a:latin typeface="Arial"/>
                <a:ea typeface="Arial"/>
                <a:cs typeface="Arial"/>
                <a:sym typeface="Arial"/>
              </a:rPr>
              <a:t>The sum of the direct materials columns of the job cost sheets should equal the direct materials debited to Work in Process Inventory account.</a:t>
            </a:r>
            <a:endParaRPr sz="1800">
              <a:solidFill>
                <a:schemeClr val="dk1"/>
              </a:solidFill>
              <a:latin typeface="Arial"/>
              <a:ea typeface="Arial"/>
              <a:cs typeface="Arial"/>
              <a:sym typeface="Arial"/>
            </a:endParaRPr>
          </a:p>
        </p:txBody>
      </p:sp>
      <p:sp>
        <p:nvSpPr>
          <p:cNvPr id="291" name="Google Shape;291;p24"/>
          <p:cNvSpPr/>
          <p:nvPr/>
        </p:nvSpPr>
        <p:spPr>
          <a:xfrm>
            <a:off x="7342188" y="1295400"/>
            <a:ext cx="1311275" cy="2746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15-6</a:t>
            </a:r>
            <a:endParaRPr/>
          </a:p>
        </p:txBody>
      </p:sp>
      <p:cxnSp>
        <p:nvCxnSpPr>
          <p:cNvPr id="292" name="Google Shape;292;p24"/>
          <p:cNvCxnSpPr/>
          <p:nvPr/>
        </p:nvCxnSpPr>
        <p:spPr>
          <a:xfrm>
            <a:off x="533400" y="1981200"/>
            <a:ext cx="8181975" cy="0"/>
          </a:xfrm>
          <a:prstGeom prst="straightConnector1">
            <a:avLst/>
          </a:prstGeom>
          <a:noFill/>
          <a:ln cap="sq" cmpd="sng" w="57150">
            <a:solidFill>
              <a:schemeClr val="dk1"/>
            </a:solidFill>
            <a:prstDash val="solid"/>
            <a:round/>
            <a:headEnd len="sm" w="sm" type="none"/>
            <a:tailEnd len="sm" w="sm" type="none"/>
          </a:ln>
        </p:spPr>
      </p:cxnSp>
      <p:sp>
        <p:nvSpPr>
          <p:cNvPr id="293" name="Google Shape;293;p24"/>
          <p:cNvSpPr txBox="1"/>
          <p:nvPr/>
        </p:nvSpPr>
        <p:spPr>
          <a:xfrm>
            <a:off x="381000" y="381000"/>
            <a:ext cx="20574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Raw Material Costs</a:t>
            </a:r>
            <a:endParaRPr/>
          </a:p>
        </p:txBody>
      </p:sp>
      <p:pic>
        <p:nvPicPr>
          <p:cNvPr id="294" name="Google Shape;294;p24"/>
          <p:cNvPicPr preferRelativeResize="0"/>
          <p:nvPr/>
        </p:nvPicPr>
        <p:blipFill rotWithShape="1">
          <a:blip r:embed="rId3">
            <a:alphaModFix/>
          </a:blip>
          <a:srcRect b="0" l="0" r="0" t="0"/>
          <a:stretch/>
        </p:blipFill>
        <p:spPr>
          <a:xfrm>
            <a:off x="2388976" y="457200"/>
            <a:ext cx="6586535" cy="5791200"/>
          </a:xfrm>
          <a:prstGeom prst="rect">
            <a:avLst/>
          </a:prstGeom>
          <a:noFill/>
          <a:ln>
            <a:noFill/>
          </a:ln>
        </p:spPr>
      </p:pic>
      <p:sp>
        <p:nvSpPr>
          <p:cNvPr id="295" name="Google Shape;295;p24"/>
          <p:cNvSpPr/>
          <p:nvPr/>
        </p:nvSpPr>
        <p:spPr>
          <a:xfrm>
            <a:off x="381000" y="5602069"/>
            <a:ext cx="1888556"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20-6</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Job cost sheets–posting of direct materials</a:t>
            </a:r>
            <a:endParaRPr/>
          </a:p>
        </p:txBody>
      </p:sp>
      <p:sp>
        <p:nvSpPr>
          <p:cNvPr id="296" name="Google Shape;296;p24"/>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5"/>
          <p:cNvSpPr/>
          <p:nvPr/>
        </p:nvSpPr>
        <p:spPr>
          <a:xfrm>
            <a:off x="304800" y="1299419"/>
            <a:ext cx="4191000" cy="5189113"/>
          </a:xfrm>
          <a:prstGeom prst="rect">
            <a:avLst/>
          </a:prstGeom>
          <a:noFill/>
          <a:ln>
            <a:noFill/>
          </a:ln>
        </p:spPr>
        <p:txBody>
          <a:bodyPr anchorCtr="0" anchor="t" bIns="91425" lIns="91425" spcFirstLastPara="1" rIns="91425" wrap="square" tIns="91425">
            <a:spAutoFit/>
          </a:bodyPr>
          <a:lstStyle/>
          <a:p>
            <a:pPr indent="0" lvl="0" marL="0" marR="0" rtl="0" algn="just">
              <a:lnSpc>
                <a:spcPct val="110000"/>
              </a:lnSpc>
              <a:spcBef>
                <a:spcPts val="0"/>
              </a:spcBef>
              <a:spcAft>
                <a:spcPts val="0"/>
              </a:spcAft>
              <a:buNone/>
            </a:pPr>
            <a:r>
              <a:rPr b="1" lang="en-US" sz="1600">
                <a:solidFill>
                  <a:schemeClr val="dk1"/>
                </a:solidFill>
                <a:latin typeface="Arial"/>
                <a:ea typeface="Arial"/>
                <a:cs typeface="Arial"/>
                <a:sym typeface="Arial"/>
              </a:rPr>
              <a:t>The Cost of an iPhone? Just Tear One Apart</a:t>
            </a:r>
            <a:endParaRPr/>
          </a:p>
          <a:p>
            <a:pPr indent="0" lvl="0" marL="0" marR="0" rtl="0" algn="just">
              <a:lnSpc>
                <a:spcPct val="110000"/>
              </a:lnSpc>
              <a:spcBef>
                <a:spcPts val="1200"/>
              </a:spcBef>
              <a:spcAft>
                <a:spcPts val="0"/>
              </a:spcAft>
              <a:buNone/>
            </a:pPr>
            <a:r>
              <a:rPr lang="en-US" sz="1600">
                <a:solidFill>
                  <a:schemeClr val="dk1"/>
                </a:solidFill>
                <a:latin typeface="Arial"/>
                <a:ea typeface="Arial"/>
                <a:cs typeface="Arial"/>
                <a:sym typeface="Arial"/>
              </a:rPr>
              <a:t>Many All companies need to know what it costs to make their own products—but a lot of companies would also like to know the cost of their competitors’ products as well. That’s where </a:t>
            </a:r>
            <a:r>
              <a:rPr b="1" lang="en-US" sz="1600">
                <a:solidFill>
                  <a:srgbClr val="AD0000"/>
                </a:solidFill>
                <a:latin typeface="Arial"/>
                <a:ea typeface="Arial"/>
                <a:cs typeface="Arial"/>
                <a:sym typeface="Arial"/>
              </a:rPr>
              <a:t>iSuppli</a:t>
            </a:r>
            <a:r>
              <a:rPr lang="en-US" sz="1600">
                <a:solidFill>
                  <a:schemeClr val="dk1"/>
                </a:solidFill>
                <a:latin typeface="Arial"/>
                <a:ea typeface="Arial"/>
                <a:cs typeface="Arial"/>
                <a:sym typeface="Arial"/>
              </a:rPr>
              <a:t> steps in. For a price, iSuppli will tear apart sophisticated electronic devices to tell you what it would cost to replicate. In the case of smartphones, which often have more than 1,000 tiny components, that is no small feat. As shown in the chart to the right, the components of a recent iPhone model cost about $170. Assembly adds only about another $6.50. However, the difference between what you pay (about double the total component cost) and the “cost” is not</a:t>
            </a:r>
            <a:endParaRPr/>
          </a:p>
        </p:txBody>
      </p:sp>
      <p:sp>
        <p:nvSpPr>
          <p:cNvPr id="302" name="Google Shape;302;p25"/>
          <p:cNvSpPr/>
          <p:nvPr/>
        </p:nvSpPr>
        <p:spPr>
          <a:xfrm>
            <a:off x="365760" y="461219"/>
            <a:ext cx="4358640" cy="729020"/>
          </a:xfrm>
          <a:prstGeom prst="rect">
            <a:avLst/>
          </a:prstGeom>
          <a:solidFill>
            <a:srgbClr val="C00000"/>
          </a:solidFill>
          <a:ln>
            <a:noFill/>
          </a:ln>
        </p:spPr>
        <p:txBody>
          <a:bodyPr anchorCtr="0" anchor="ctr" bIns="45700" lIns="91425" spcFirstLastPara="1" rIns="91425" wrap="square" tIns="0">
            <a:noAutofit/>
          </a:bodyPr>
          <a:lstStyle/>
          <a:p>
            <a:pPr indent="0" lvl="0" marL="53975" marR="0" rtl="0" algn="l">
              <a:lnSpc>
                <a:spcPct val="100000"/>
              </a:lnSpc>
              <a:spcBef>
                <a:spcPts val="0"/>
              </a:spcBef>
              <a:spcAft>
                <a:spcPts val="0"/>
              </a:spcAft>
              <a:buClr>
                <a:schemeClr val="accent3"/>
              </a:buClr>
              <a:buSzPts val="3200"/>
              <a:buFont typeface="Arial"/>
              <a:buNone/>
            </a:pPr>
            <a:r>
              <a:rPr b="1" i="0" lang="en-US" sz="3200" u="none" cap="none" strike="noStrike">
                <a:solidFill>
                  <a:schemeClr val="accent3"/>
                </a:solidFill>
                <a:latin typeface="Arial"/>
                <a:ea typeface="Arial"/>
                <a:cs typeface="Arial"/>
                <a:sym typeface="Arial"/>
              </a:rPr>
              <a:t>Management Insight</a:t>
            </a:r>
            <a:endParaRPr/>
          </a:p>
        </p:txBody>
      </p:sp>
      <p:sp>
        <p:nvSpPr>
          <p:cNvPr id="303" name="Google Shape;303;p25"/>
          <p:cNvSpPr/>
          <p:nvPr/>
        </p:nvSpPr>
        <p:spPr>
          <a:xfrm>
            <a:off x="4724400" y="537419"/>
            <a:ext cx="4114800" cy="576620"/>
          </a:xfrm>
          <a:prstGeom prst="rect">
            <a:avLst/>
          </a:prstGeom>
          <a:solidFill>
            <a:srgbClr val="BFBFBF"/>
          </a:solidFill>
          <a:ln>
            <a:noFill/>
          </a:ln>
        </p:spPr>
        <p:txBody>
          <a:bodyPr anchorCtr="0" anchor="ctr" bIns="45700" lIns="91425" spcFirstLastPara="1" rIns="91425" wrap="square" tIns="0">
            <a:noAutofit/>
          </a:bodyPr>
          <a:lstStyle/>
          <a:p>
            <a:pPr indent="0" lvl="0" marL="53975"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iSuppli</a:t>
            </a:r>
            <a:endParaRPr/>
          </a:p>
        </p:txBody>
      </p:sp>
      <p:sp>
        <p:nvSpPr>
          <p:cNvPr id="304" name="Google Shape;304;p25"/>
          <p:cNvSpPr/>
          <p:nvPr/>
        </p:nvSpPr>
        <p:spPr>
          <a:xfrm>
            <a:off x="4724400" y="1307777"/>
            <a:ext cx="4191000" cy="5155257"/>
          </a:xfrm>
          <a:prstGeom prst="rect">
            <a:avLst/>
          </a:prstGeom>
          <a:noFill/>
          <a:ln>
            <a:noFill/>
          </a:ln>
        </p:spPr>
        <p:txBody>
          <a:bodyPr anchorCtr="0" anchor="t" bIns="91425" lIns="91425" spcFirstLastPara="1" rIns="91425" wrap="square" tIns="91425">
            <a:spAutoFit/>
          </a:bodyPr>
          <a:lstStyle/>
          <a:p>
            <a:pPr indent="0" lvl="0" marL="0" marR="0" rtl="0" algn="just">
              <a:lnSpc>
                <a:spcPct val="110000"/>
              </a:lnSpc>
              <a:spcBef>
                <a:spcPts val="0"/>
              </a:spcBef>
              <a:spcAft>
                <a:spcPts val="0"/>
              </a:spcAft>
              <a:buNone/>
            </a:pPr>
            <a:r>
              <a:rPr lang="en-US" sz="1600">
                <a:solidFill>
                  <a:schemeClr val="dk1"/>
                </a:solidFill>
                <a:latin typeface="Arial"/>
                <a:ea typeface="Arial"/>
                <a:cs typeface="Arial"/>
                <a:sym typeface="Arial"/>
              </a:rPr>
              <a:t>all profit. You also have to consider the additional nonproduction costs of research, design, marketing, patent fees, and selling costs.</a:t>
            </a:r>
            <a:endParaRPr/>
          </a:p>
          <a:p>
            <a:pPr indent="0" lvl="0" marL="0" marR="0" rtl="0" algn="just">
              <a:lnSpc>
                <a:spcPct val="110000"/>
              </a:lnSpc>
              <a:spcBef>
                <a:spcPts val="1200"/>
              </a:spcBef>
              <a:spcAft>
                <a:spcPts val="0"/>
              </a:spcAft>
              <a:buNone/>
            </a:pPr>
            <a:r>
              <a:t/>
            </a:r>
            <a:endParaRPr sz="1600">
              <a:solidFill>
                <a:schemeClr val="dk1"/>
              </a:solidFill>
              <a:latin typeface="Arial"/>
              <a:ea typeface="Arial"/>
              <a:cs typeface="Arial"/>
              <a:sym typeface="Arial"/>
            </a:endParaRPr>
          </a:p>
          <a:p>
            <a:pPr indent="0" lvl="0" marL="0" marR="0" rtl="0" algn="just">
              <a:lnSpc>
                <a:spcPct val="110000"/>
              </a:lnSpc>
              <a:spcBef>
                <a:spcPts val="1200"/>
              </a:spcBef>
              <a:spcAft>
                <a:spcPts val="0"/>
              </a:spcAft>
              <a:buNone/>
            </a:pPr>
            <a:r>
              <a:t/>
            </a:r>
            <a:endParaRPr sz="1600">
              <a:solidFill>
                <a:schemeClr val="dk1"/>
              </a:solidFill>
              <a:latin typeface="Arial"/>
              <a:ea typeface="Arial"/>
              <a:cs typeface="Arial"/>
              <a:sym typeface="Arial"/>
            </a:endParaRPr>
          </a:p>
          <a:p>
            <a:pPr indent="0" lvl="0" marL="0" marR="0" rtl="0" algn="just">
              <a:lnSpc>
                <a:spcPct val="110000"/>
              </a:lnSpc>
              <a:spcBef>
                <a:spcPts val="1200"/>
              </a:spcBef>
              <a:spcAft>
                <a:spcPts val="0"/>
              </a:spcAft>
              <a:buNone/>
            </a:pPr>
            <a:r>
              <a:t/>
            </a:r>
            <a:endParaRPr sz="1600">
              <a:solidFill>
                <a:schemeClr val="dk1"/>
              </a:solidFill>
              <a:latin typeface="Arial"/>
              <a:ea typeface="Arial"/>
              <a:cs typeface="Arial"/>
              <a:sym typeface="Arial"/>
            </a:endParaRPr>
          </a:p>
          <a:p>
            <a:pPr indent="0" lvl="0" marL="0" marR="0" rtl="0" algn="just">
              <a:lnSpc>
                <a:spcPct val="110000"/>
              </a:lnSpc>
              <a:spcBef>
                <a:spcPts val="1200"/>
              </a:spcBef>
              <a:spcAft>
                <a:spcPts val="0"/>
              </a:spcAft>
              <a:buNone/>
            </a:pPr>
            <a:r>
              <a:t/>
            </a:r>
            <a:endParaRPr sz="1600">
              <a:solidFill>
                <a:schemeClr val="dk1"/>
              </a:solidFill>
              <a:latin typeface="Arial"/>
              <a:ea typeface="Arial"/>
              <a:cs typeface="Arial"/>
              <a:sym typeface="Arial"/>
            </a:endParaRPr>
          </a:p>
          <a:p>
            <a:pPr indent="0" lvl="0" marL="0" marR="0" rtl="0" algn="just">
              <a:lnSpc>
                <a:spcPct val="110000"/>
              </a:lnSpc>
              <a:spcBef>
                <a:spcPts val="1200"/>
              </a:spcBef>
              <a:spcAft>
                <a:spcPts val="0"/>
              </a:spcAft>
              <a:buNone/>
            </a:pPr>
            <a:r>
              <a:t/>
            </a:r>
            <a:endParaRPr sz="1600">
              <a:solidFill>
                <a:schemeClr val="dk1"/>
              </a:solidFill>
              <a:latin typeface="Arial"/>
              <a:ea typeface="Arial"/>
              <a:cs typeface="Arial"/>
              <a:sym typeface="Arial"/>
            </a:endParaRPr>
          </a:p>
          <a:p>
            <a:pPr indent="0" lvl="0" marL="0" marR="0" rtl="0" algn="just">
              <a:lnSpc>
                <a:spcPct val="110000"/>
              </a:lnSpc>
              <a:spcBef>
                <a:spcPts val="1200"/>
              </a:spcBef>
              <a:spcAft>
                <a:spcPts val="0"/>
              </a:spcAft>
              <a:buNone/>
            </a:pPr>
            <a:r>
              <a:t/>
            </a:r>
            <a:endParaRPr sz="1600">
              <a:solidFill>
                <a:schemeClr val="dk1"/>
              </a:solidFill>
              <a:latin typeface="Arial"/>
              <a:ea typeface="Arial"/>
              <a:cs typeface="Arial"/>
              <a:sym typeface="Arial"/>
            </a:endParaRPr>
          </a:p>
          <a:p>
            <a:pPr indent="0" lvl="0" marL="0" marR="0" rtl="0" algn="l">
              <a:lnSpc>
                <a:spcPct val="110000"/>
              </a:lnSpc>
              <a:spcBef>
                <a:spcPts val="0"/>
              </a:spcBef>
              <a:spcAft>
                <a:spcPts val="0"/>
              </a:spcAft>
              <a:buNone/>
            </a:pPr>
            <a:r>
              <a:t/>
            </a:r>
            <a:endParaRPr i="1" sz="1400">
              <a:solidFill>
                <a:schemeClr val="dk1"/>
              </a:solidFill>
              <a:latin typeface="Arial"/>
              <a:ea typeface="Arial"/>
              <a:cs typeface="Arial"/>
              <a:sym typeface="Arial"/>
            </a:endParaRPr>
          </a:p>
          <a:p>
            <a:pPr indent="0" lvl="0" marL="0" marR="0" rtl="0" algn="l">
              <a:lnSpc>
                <a:spcPct val="110000"/>
              </a:lnSpc>
              <a:spcBef>
                <a:spcPts val="0"/>
              </a:spcBef>
              <a:spcAft>
                <a:spcPts val="0"/>
              </a:spcAft>
              <a:buNone/>
            </a:pPr>
            <a:r>
              <a:t/>
            </a:r>
            <a:endParaRPr i="1" sz="1400">
              <a:solidFill>
                <a:schemeClr val="dk1"/>
              </a:solidFill>
              <a:latin typeface="Arial"/>
              <a:ea typeface="Arial"/>
              <a:cs typeface="Arial"/>
              <a:sym typeface="Arial"/>
            </a:endParaRPr>
          </a:p>
          <a:p>
            <a:pPr indent="0" lvl="0" marL="0" marR="0" rtl="0" algn="l">
              <a:lnSpc>
                <a:spcPct val="110000"/>
              </a:lnSpc>
              <a:spcBef>
                <a:spcPts val="1200"/>
              </a:spcBef>
              <a:spcAft>
                <a:spcPts val="0"/>
              </a:spcAft>
              <a:buNone/>
            </a:pPr>
            <a:r>
              <a:rPr i="1" lang="en-US" sz="1400">
                <a:solidFill>
                  <a:schemeClr val="dk1"/>
                </a:solidFill>
                <a:latin typeface="Arial"/>
                <a:ea typeface="Arial"/>
                <a:cs typeface="Arial"/>
                <a:sym typeface="Arial"/>
              </a:rPr>
              <a:t>Source: </a:t>
            </a:r>
            <a:r>
              <a:rPr lang="en-US" sz="1400">
                <a:solidFill>
                  <a:schemeClr val="dk1"/>
                </a:solidFill>
                <a:latin typeface="Arial"/>
                <a:ea typeface="Arial"/>
                <a:cs typeface="Arial"/>
                <a:sym typeface="Arial"/>
              </a:rPr>
              <a:t>“The Business of Dissecting Electronics: The Lowdown on Teardowns,” The Economist.com (January 21, 2010).</a:t>
            </a:r>
            <a:endParaRPr/>
          </a:p>
        </p:txBody>
      </p:sp>
      <p:sp>
        <p:nvSpPr>
          <p:cNvPr id="305" name="Google Shape;305;p25"/>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pic>
        <p:nvPicPr>
          <p:cNvPr id="306" name="Google Shape;306;p25"/>
          <p:cNvPicPr preferRelativeResize="0"/>
          <p:nvPr/>
        </p:nvPicPr>
        <p:blipFill rotWithShape="1">
          <a:blip r:embed="rId3">
            <a:alphaModFix/>
          </a:blip>
          <a:srcRect b="0" l="0" r="0" t="0"/>
          <a:stretch/>
        </p:blipFill>
        <p:spPr>
          <a:xfrm>
            <a:off x="4904096" y="2614000"/>
            <a:ext cx="3935104" cy="2831456"/>
          </a:xfrm>
          <a:prstGeom prst="rect">
            <a:avLst/>
          </a:prstGeom>
          <a:noFill/>
          <a:ln>
            <a:noFill/>
          </a:ln>
        </p:spPr>
      </p:pic>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6"/>
          <p:cNvSpPr/>
          <p:nvPr/>
        </p:nvSpPr>
        <p:spPr>
          <a:xfrm>
            <a:off x="609600" y="1371600"/>
            <a:ext cx="8229600" cy="4191000"/>
          </a:xfrm>
          <a:prstGeom prst="rect">
            <a:avLst/>
          </a:prstGeom>
          <a:noFill/>
          <a:ln>
            <a:noFill/>
          </a:ln>
        </p:spPr>
        <p:txBody>
          <a:bodyPr anchorCtr="0" anchor="t" bIns="45700" lIns="91425" spcFirstLastPara="1" rIns="91425" wrap="square" tIns="45700">
            <a:noAutofit/>
          </a:bodyPr>
          <a:lstStyle/>
          <a:p>
            <a:pPr indent="-457200" lvl="1" marL="685800" marR="0" rtl="0" algn="l">
              <a:lnSpc>
                <a:spcPct val="110000"/>
              </a:lnSpc>
              <a:spcBef>
                <a:spcPts val="0"/>
              </a:spcBef>
              <a:spcAft>
                <a:spcPts val="0"/>
              </a:spcAft>
              <a:buClr>
                <a:srgbClr val="800000"/>
              </a:buClr>
              <a:buSzPts val="1840"/>
              <a:buFont typeface="Noto Sans Symbols"/>
              <a:buChar char="◆"/>
            </a:pPr>
            <a:r>
              <a:rPr b="0" i="0" lang="en-US" sz="2300" u="none" cap="none" strike="noStrike">
                <a:solidFill>
                  <a:schemeClr val="dk1"/>
                </a:solidFill>
                <a:latin typeface="Arial"/>
                <a:ea typeface="Arial"/>
                <a:cs typeface="Arial"/>
                <a:sym typeface="Arial"/>
              </a:rPr>
              <a:t>Assigned to jobs on the basis of time tickets.</a:t>
            </a:r>
            <a:endParaRPr b="0" i="0" sz="2300" u="none" cap="none" strike="noStrike">
              <a:solidFill>
                <a:schemeClr val="dk1"/>
              </a:solidFill>
              <a:latin typeface="Arial"/>
              <a:ea typeface="Arial"/>
              <a:cs typeface="Arial"/>
              <a:sym typeface="Arial"/>
            </a:endParaRPr>
          </a:p>
          <a:p>
            <a:pPr indent="-457200" lvl="1" marL="685800" marR="0" rtl="0" algn="l">
              <a:lnSpc>
                <a:spcPct val="110000"/>
              </a:lnSpc>
              <a:spcBef>
                <a:spcPts val="1380"/>
              </a:spcBef>
              <a:spcAft>
                <a:spcPts val="0"/>
              </a:spcAft>
              <a:buClr>
                <a:srgbClr val="800000"/>
              </a:buClr>
              <a:buSzPts val="1840"/>
              <a:buFont typeface="Noto Sans Symbols"/>
              <a:buChar char="◆"/>
            </a:pPr>
            <a:r>
              <a:rPr b="0" i="0" lang="en-US" sz="2300" u="none" cap="none" strike="noStrike">
                <a:solidFill>
                  <a:schemeClr val="dk1"/>
                </a:solidFill>
                <a:latin typeface="Arial"/>
                <a:ea typeface="Arial"/>
                <a:cs typeface="Arial"/>
                <a:sym typeface="Arial"/>
              </a:rPr>
              <a:t>Time tickets are prepared when the work is performed.</a:t>
            </a:r>
            <a:endParaRPr b="0" i="0" sz="2300" u="none" cap="none" strike="noStrike">
              <a:solidFill>
                <a:schemeClr val="dk1"/>
              </a:solidFill>
              <a:latin typeface="Arial"/>
              <a:ea typeface="Arial"/>
              <a:cs typeface="Arial"/>
              <a:sym typeface="Arial"/>
            </a:endParaRPr>
          </a:p>
          <a:p>
            <a:pPr indent="-457200" lvl="1" marL="685800" marR="0" rtl="0" algn="l">
              <a:lnSpc>
                <a:spcPct val="110000"/>
              </a:lnSpc>
              <a:spcBef>
                <a:spcPts val="1380"/>
              </a:spcBef>
              <a:spcAft>
                <a:spcPts val="0"/>
              </a:spcAft>
              <a:buClr>
                <a:srgbClr val="800000"/>
              </a:buClr>
              <a:buSzPts val="1840"/>
              <a:buFont typeface="Noto Sans Symbols"/>
              <a:buChar char="◆"/>
            </a:pPr>
            <a:r>
              <a:rPr b="0" i="0" lang="en-US" sz="2300" u="none" cap="none" strike="noStrike">
                <a:solidFill>
                  <a:schemeClr val="dk1"/>
                </a:solidFill>
                <a:latin typeface="Arial"/>
                <a:ea typeface="Arial"/>
                <a:cs typeface="Arial"/>
                <a:sym typeface="Arial"/>
              </a:rPr>
              <a:t>Time tickets indicate:</a:t>
            </a:r>
            <a:endParaRPr b="0" i="0" sz="2300" u="none" cap="none" strike="noStrike">
              <a:solidFill>
                <a:schemeClr val="dk1"/>
              </a:solidFill>
              <a:latin typeface="Arial"/>
              <a:ea typeface="Arial"/>
              <a:cs typeface="Arial"/>
              <a:sym typeface="Arial"/>
            </a:endParaRPr>
          </a:p>
          <a:p>
            <a:pPr indent="-463550" lvl="2" marL="1377950" marR="0" rtl="0" algn="l">
              <a:lnSpc>
                <a:spcPct val="110000"/>
              </a:lnSpc>
              <a:spcBef>
                <a:spcPts val="1320"/>
              </a:spcBef>
              <a:spcAft>
                <a:spcPts val="0"/>
              </a:spcAft>
              <a:buClr>
                <a:srgbClr val="800000"/>
              </a:buClr>
              <a:buSzPts val="1760"/>
              <a:buFont typeface="Arial"/>
              <a:buChar char="►"/>
            </a:pPr>
            <a:r>
              <a:rPr b="0" i="0" lang="en-US" sz="2200" u="none" cap="none" strike="noStrike">
                <a:solidFill>
                  <a:schemeClr val="dk1"/>
                </a:solidFill>
                <a:latin typeface="Arial"/>
                <a:ea typeface="Arial"/>
                <a:cs typeface="Arial"/>
                <a:sym typeface="Arial"/>
              </a:rPr>
              <a:t>Employee</a:t>
            </a:r>
            <a:endParaRPr/>
          </a:p>
          <a:p>
            <a:pPr indent="-463550" lvl="2" marL="1377950" marR="0" rtl="0" algn="l">
              <a:lnSpc>
                <a:spcPct val="110000"/>
              </a:lnSpc>
              <a:spcBef>
                <a:spcPts val="1320"/>
              </a:spcBef>
              <a:spcAft>
                <a:spcPts val="0"/>
              </a:spcAft>
              <a:buClr>
                <a:srgbClr val="800000"/>
              </a:buClr>
              <a:buSzPts val="1760"/>
              <a:buFont typeface="Arial"/>
              <a:buChar char="►"/>
            </a:pPr>
            <a:r>
              <a:rPr b="0" i="0" lang="en-US" sz="2200" u="none" cap="none" strike="noStrike">
                <a:solidFill>
                  <a:schemeClr val="dk1"/>
                </a:solidFill>
                <a:latin typeface="Arial"/>
                <a:ea typeface="Arial"/>
                <a:cs typeface="Arial"/>
                <a:sym typeface="Arial"/>
              </a:rPr>
              <a:t>Hours worked</a:t>
            </a:r>
            <a:endParaRPr/>
          </a:p>
          <a:p>
            <a:pPr indent="-463550" lvl="2" marL="1377950" marR="0" rtl="0" algn="l">
              <a:lnSpc>
                <a:spcPct val="110000"/>
              </a:lnSpc>
              <a:spcBef>
                <a:spcPts val="1320"/>
              </a:spcBef>
              <a:spcAft>
                <a:spcPts val="0"/>
              </a:spcAft>
              <a:buClr>
                <a:srgbClr val="800000"/>
              </a:buClr>
              <a:buSzPts val="1760"/>
              <a:buFont typeface="Arial"/>
              <a:buChar char="►"/>
            </a:pPr>
            <a:r>
              <a:rPr b="0" i="0" lang="en-US" sz="2200" u="none" cap="none" strike="noStrike">
                <a:solidFill>
                  <a:schemeClr val="dk1"/>
                </a:solidFill>
                <a:latin typeface="Arial"/>
                <a:ea typeface="Arial"/>
                <a:cs typeface="Arial"/>
                <a:sym typeface="Arial"/>
              </a:rPr>
              <a:t>Account and job charged</a:t>
            </a:r>
            <a:endParaRPr/>
          </a:p>
          <a:p>
            <a:pPr indent="-463550" lvl="2" marL="1377950" marR="0" rtl="0" algn="l">
              <a:lnSpc>
                <a:spcPct val="110000"/>
              </a:lnSpc>
              <a:spcBef>
                <a:spcPts val="1320"/>
              </a:spcBef>
              <a:spcAft>
                <a:spcPts val="0"/>
              </a:spcAft>
              <a:buClr>
                <a:srgbClr val="800000"/>
              </a:buClr>
              <a:buSzPts val="1760"/>
              <a:buFont typeface="Arial"/>
              <a:buChar char="►"/>
            </a:pPr>
            <a:r>
              <a:rPr b="0" i="0" lang="en-US" sz="2200" u="none" cap="none" strike="noStrike">
                <a:solidFill>
                  <a:schemeClr val="dk1"/>
                </a:solidFill>
                <a:latin typeface="Arial"/>
                <a:ea typeface="Arial"/>
                <a:cs typeface="Arial"/>
                <a:sym typeface="Arial"/>
              </a:rPr>
              <a:t>Total labor cost</a:t>
            </a:r>
            <a:endParaRPr/>
          </a:p>
        </p:txBody>
      </p:sp>
      <p:cxnSp>
        <p:nvCxnSpPr>
          <p:cNvPr id="312" name="Google Shape;312;p26"/>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313" name="Google Shape;313;p26"/>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Factory Labor Costs</a:t>
            </a:r>
            <a:endParaRPr/>
          </a:p>
        </p:txBody>
      </p:sp>
      <p:sp>
        <p:nvSpPr>
          <p:cNvPr id="314" name="Google Shape;314;p26"/>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cxnSp>
        <p:nvCxnSpPr>
          <p:cNvPr id="319" name="Google Shape;319;p27"/>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320" name="Google Shape;320;p27"/>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Factory Labor Costs</a:t>
            </a:r>
            <a:endParaRPr/>
          </a:p>
        </p:txBody>
      </p:sp>
      <p:pic>
        <p:nvPicPr>
          <p:cNvPr id="321" name="Google Shape;321;p27"/>
          <p:cNvPicPr preferRelativeResize="0"/>
          <p:nvPr/>
        </p:nvPicPr>
        <p:blipFill rotWithShape="1">
          <a:blip r:embed="rId3">
            <a:alphaModFix/>
          </a:blip>
          <a:srcRect b="0" l="0" r="0" t="0"/>
          <a:stretch/>
        </p:blipFill>
        <p:spPr>
          <a:xfrm>
            <a:off x="203014" y="1295400"/>
            <a:ext cx="8751055" cy="4810904"/>
          </a:xfrm>
          <a:prstGeom prst="rect">
            <a:avLst/>
          </a:prstGeom>
          <a:solidFill>
            <a:schemeClr val="lt1"/>
          </a:solidFill>
          <a:ln>
            <a:noFill/>
          </a:ln>
        </p:spPr>
      </p:pic>
      <p:sp>
        <p:nvSpPr>
          <p:cNvPr id="322" name="Google Shape;322;p27"/>
          <p:cNvSpPr/>
          <p:nvPr/>
        </p:nvSpPr>
        <p:spPr>
          <a:xfrm>
            <a:off x="609600" y="5828800"/>
            <a:ext cx="1322798"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20-7</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Time ticket</a:t>
            </a:r>
            <a:endParaRPr sz="1200">
              <a:solidFill>
                <a:schemeClr val="dk1"/>
              </a:solidFill>
              <a:latin typeface="Arial"/>
              <a:ea typeface="Arial"/>
              <a:cs typeface="Arial"/>
              <a:sym typeface="Arial"/>
            </a:endParaRPr>
          </a:p>
        </p:txBody>
      </p:sp>
      <p:sp>
        <p:nvSpPr>
          <p:cNvPr id="323" name="Google Shape;323;p27"/>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8"/>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329" name="Google Shape;329;p28"/>
          <p:cNvSpPr/>
          <p:nvPr/>
        </p:nvSpPr>
        <p:spPr>
          <a:xfrm>
            <a:off x="609600" y="1371600"/>
            <a:ext cx="8153400" cy="208627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200">
                <a:solidFill>
                  <a:schemeClr val="dk1"/>
                </a:solidFill>
                <a:latin typeface="Arial"/>
                <a:ea typeface="Arial"/>
                <a:cs typeface="Arial"/>
                <a:sym typeface="Arial"/>
              </a:rPr>
              <a:t>Illustration:</a:t>
            </a:r>
            <a:r>
              <a:rPr lang="en-US" sz="2200">
                <a:solidFill>
                  <a:schemeClr val="dk1"/>
                </a:solidFill>
                <a:latin typeface="Arial"/>
                <a:ea typeface="Arial"/>
                <a:cs typeface="Arial"/>
                <a:sym typeface="Arial"/>
              </a:rPr>
              <a:t>  The time tickets are later sent to the payroll department, which applies the employee’s hourly wage rate and computes the total labor cost. If the $32,000 total factory labor cost consists of $28,000 of direct labor and $4,000 of indirect labor, the entry is:</a:t>
            </a:r>
            <a:endParaRPr/>
          </a:p>
        </p:txBody>
      </p:sp>
      <p:sp>
        <p:nvSpPr>
          <p:cNvPr id="330" name="Google Shape;330;p28"/>
          <p:cNvSpPr/>
          <p:nvPr/>
        </p:nvSpPr>
        <p:spPr>
          <a:xfrm>
            <a:off x="609600" y="3657600"/>
            <a:ext cx="7772400" cy="1409168"/>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Jan. 31 	Work in Process Inventory 	28,000</a:t>
            </a:r>
            <a:endParaRPr/>
          </a:p>
          <a:p>
            <a:pPr indent="0" lvl="0" marL="0" marR="0" rtl="0" algn="l">
              <a:lnSpc>
                <a:spcPct val="120000"/>
              </a:lnSpc>
              <a:spcBef>
                <a:spcPts val="440"/>
              </a:spcBef>
              <a:spcAft>
                <a:spcPts val="0"/>
              </a:spcAft>
              <a:buNone/>
            </a:pPr>
            <a:r>
              <a:rPr lang="en-US" sz="2200">
                <a:solidFill>
                  <a:schemeClr val="dk1"/>
                </a:solidFill>
                <a:latin typeface="Arial"/>
                <a:ea typeface="Arial"/>
                <a:cs typeface="Arial"/>
                <a:sym typeface="Arial"/>
              </a:rPr>
              <a:t>	Manufacturing Overhead 	4,000</a:t>
            </a:r>
            <a:endParaRPr/>
          </a:p>
          <a:p>
            <a:pPr indent="0" lvl="0" marL="0" marR="0" rtl="0" algn="l">
              <a:lnSpc>
                <a:spcPct val="120000"/>
              </a:lnSpc>
              <a:spcBef>
                <a:spcPts val="440"/>
              </a:spcBef>
              <a:spcAft>
                <a:spcPts val="0"/>
              </a:spcAft>
              <a:buNone/>
            </a:pPr>
            <a:r>
              <a:rPr lang="en-US" sz="2200">
                <a:solidFill>
                  <a:schemeClr val="dk1"/>
                </a:solidFill>
                <a:latin typeface="Arial"/>
                <a:ea typeface="Arial"/>
                <a:cs typeface="Arial"/>
                <a:sym typeface="Arial"/>
              </a:rPr>
              <a:t>		Factory Labor 		32,000</a:t>
            </a:r>
            <a:endParaRPr/>
          </a:p>
        </p:txBody>
      </p:sp>
      <p:cxnSp>
        <p:nvCxnSpPr>
          <p:cNvPr id="331" name="Google Shape;331;p28"/>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332" name="Google Shape;332;p28"/>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Factory Labor Costs</a:t>
            </a:r>
            <a:endParaRPr/>
          </a:p>
        </p:txBody>
      </p:sp>
      <p:sp>
        <p:nvSpPr>
          <p:cNvPr id="333" name="Google Shape;333;p28"/>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0" st="0"/>
                                            </p:txEl>
                                          </p:spTgt>
                                        </p:tgtEl>
                                        <p:attrNameLst>
                                          <p:attrName>style.visibility</p:attrName>
                                        </p:attrNameLst>
                                      </p:cBhvr>
                                      <p:to>
                                        <p:strVal val="visible"/>
                                      </p:to>
                                    </p:set>
                                    <p:animEffect filter="fade" transition="in">
                                      <p:cBhvr>
                                        <p:cTn dur="500"/>
                                        <p:tgtEl>
                                          <p:spTgt spid="3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1" st="1"/>
                                            </p:txEl>
                                          </p:spTgt>
                                        </p:tgtEl>
                                        <p:attrNameLst>
                                          <p:attrName>style.visibility</p:attrName>
                                        </p:attrNameLst>
                                      </p:cBhvr>
                                      <p:to>
                                        <p:strVal val="visible"/>
                                      </p:to>
                                    </p:set>
                                    <p:animEffect filter="fade" transition="in">
                                      <p:cBhvr>
                                        <p:cTn dur="500"/>
                                        <p:tgtEl>
                                          <p:spTgt spid="3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2" st="2"/>
                                            </p:txEl>
                                          </p:spTgt>
                                        </p:tgtEl>
                                        <p:attrNameLst>
                                          <p:attrName>style.visibility</p:attrName>
                                        </p:attrNameLst>
                                      </p:cBhvr>
                                      <p:to>
                                        <p:strVal val="visible"/>
                                      </p:to>
                                    </p:set>
                                    <p:animEffect filter="fade" transition="in">
                                      <p:cBhvr>
                                        <p:cTn dur="500"/>
                                        <p:tgtEl>
                                          <p:spTgt spid="330">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9"/>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339" name="Google Shape;339;p29"/>
          <p:cNvSpPr/>
          <p:nvPr/>
        </p:nvSpPr>
        <p:spPr>
          <a:xfrm>
            <a:off x="609600" y="1371600"/>
            <a:ext cx="7772400" cy="13716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Jan. 31 	Work in Process Inventory 	28,000</a:t>
            </a:r>
            <a:endParaRPr/>
          </a:p>
          <a:p>
            <a:pPr indent="0" lvl="0" marL="0" marR="0" rtl="0" algn="l">
              <a:lnSpc>
                <a:spcPct val="120000"/>
              </a:lnSpc>
              <a:spcBef>
                <a:spcPts val="420"/>
              </a:spcBef>
              <a:spcAft>
                <a:spcPts val="0"/>
              </a:spcAft>
              <a:buNone/>
            </a:pPr>
            <a:r>
              <a:rPr lang="en-US" sz="2100">
                <a:solidFill>
                  <a:schemeClr val="dk1"/>
                </a:solidFill>
                <a:latin typeface="Arial"/>
                <a:ea typeface="Arial"/>
                <a:cs typeface="Arial"/>
                <a:sym typeface="Arial"/>
              </a:rPr>
              <a:t>	Manufacturing Overhead 	4,000</a:t>
            </a:r>
            <a:endParaRPr/>
          </a:p>
          <a:p>
            <a:pPr indent="0" lvl="0" marL="0" marR="0" rtl="0" algn="l">
              <a:lnSpc>
                <a:spcPct val="120000"/>
              </a:lnSpc>
              <a:spcBef>
                <a:spcPts val="420"/>
              </a:spcBef>
              <a:spcAft>
                <a:spcPts val="0"/>
              </a:spcAft>
              <a:buNone/>
            </a:pPr>
            <a:r>
              <a:rPr lang="en-US" sz="2100">
                <a:solidFill>
                  <a:schemeClr val="dk1"/>
                </a:solidFill>
                <a:latin typeface="Arial"/>
                <a:ea typeface="Arial"/>
                <a:cs typeface="Arial"/>
                <a:sym typeface="Arial"/>
              </a:rPr>
              <a:t>		Factory Labor 		32,000</a:t>
            </a:r>
            <a:endParaRPr/>
          </a:p>
        </p:txBody>
      </p:sp>
      <p:cxnSp>
        <p:nvCxnSpPr>
          <p:cNvPr id="340" name="Google Shape;340;p29"/>
          <p:cNvCxnSpPr/>
          <p:nvPr/>
        </p:nvCxnSpPr>
        <p:spPr>
          <a:xfrm>
            <a:off x="685800" y="3048000"/>
            <a:ext cx="7772400" cy="0"/>
          </a:xfrm>
          <a:prstGeom prst="straightConnector1">
            <a:avLst/>
          </a:prstGeom>
          <a:noFill/>
          <a:ln cap="sq" cmpd="sng" w="28575">
            <a:solidFill>
              <a:schemeClr val="dk1"/>
            </a:solidFill>
            <a:prstDash val="solid"/>
            <a:round/>
            <a:headEnd len="sm" w="sm" type="none"/>
            <a:tailEnd len="sm" w="sm" type="none"/>
          </a:ln>
        </p:spPr>
      </p:cxnSp>
      <p:cxnSp>
        <p:nvCxnSpPr>
          <p:cNvPr id="341" name="Google Shape;341;p29"/>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342" name="Google Shape;342;p29"/>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Factory Labor Costs</a:t>
            </a:r>
            <a:endParaRPr/>
          </a:p>
        </p:txBody>
      </p:sp>
      <p:pic>
        <p:nvPicPr>
          <p:cNvPr id="343" name="Google Shape;343;p29"/>
          <p:cNvPicPr preferRelativeResize="0"/>
          <p:nvPr/>
        </p:nvPicPr>
        <p:blipFill rotWithShape="1">
          <a:blip r:embed="rId3">
            <a:alphaModFix/>
          </a:blip>
          <a:srcRect b="0" l="0" r="0" t="0"/>
          <a:stretch/>
        </p:blipFill>
        <p:spPr>
          <a:xfrm>
            <a:off x="733425" y="3352800"/>
            <a:ext cx="7572375" cy="2806271"/>
          </a:xfrm>
          <a:prstGeom prst="rect">
            <a:avLst/>
          </a:prstGeom>
          <a:noFill/>
          <a:ln cap="flat" cmpd="sng" w="19050">
            <a:solidFill>
              <a:schemeClr val="dk1"/>
            </a:solidFill>
            <a:prstDash val="solid"/>
            <a:miter lim="800000"/>
            <a:headEnd len="sm" w="sm" type="none"/>
            <a:tailEnd len="sm" w="sm" type="none"/>
          </a:ln>
        </p:spPr>
      </p:pic>
      <p:sp>
        <p:nvSpPr>
          <p:cNvPr id="344" name="Google Shape;344;p29"/>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0"/>
          <p:cNvSpPr txBox="1"/>
          <p:nvPr/>
        </p:nvSpPr>
        <p:spPr>
          <a:xfrm>
            <a:off x="381000" y="381000"/>
            <a:ext cx="1828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Factory Labor Costs</a:t>
            </a:r>
            <a:endParaRPr/>
          </a:p>
        </p:txBody>
      </p:sp>
      <p:sp>
        <p:nvSpPr>
          <p:cNvPr id="350" name="Google Shape;350;p30"/>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351" name="Google Shape;351;p30"/>
          <p:cNvSpPr txBox="1"/>
          <p:nvPr/>
        </p:nvSpPr>
        <p:spPr>
          <a:xfrm>
            <a:off x="455252" y="2159413"/>
            <a:ext cx="1754548" cy="3003323"/>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lang="en-US" sz="1700">
                <a:solidFill>
                  <a:schemeClr val="dk1"/>
                </a:solidFill>
                <a:latin typeface="Arial"/>
                <a:ea typeface="Arial"/>
                <a:cs typeface="Arial"/>
                <a:sym typeface="Arial"/>
              </a:rPr>
              <a:t>The sum of the direct labor columns of the job cost sheets should equal the direct labor debited to Work in Process Inventory.</a:t>
            </a:r>
            <a:endParaRPr/>
          </a:p>
        </p:txBody>
      </p:sp>
      <p:cxnSp>
        <p:nvCxnSpPr>
          <p:cNvPr id="352" name="Google Shape;352;p30"/>
          <p:cNvCxnSpPr/>
          <p:nvPr/>
        </p:nvCxnSpPr>
        <p:spPr>
          <a:xfrm>
            <a:off x="533400" y="1981200"/>
            <a:ext cx="8181975" cy="0"/>
          </a:xfrm>
          <a:prstGeom prst="straightConnector1">
            <a:avLst/>
          </a:prstGeom>
          <a:noFill/>
          <a:ln cap="sq" cmpd="sng" w="57150">
            <a:solidFill>
              <a:schemeClr val="dk1"/>
            </a:solidFill>
            <a:prstDash val="solid"/>
            <a:round/>
            <a:headEnd len="sm" w="sm" type="none"/>
            <a:tailEnd len="sm" w="sm" type="none"/>
          </a:ln>
        </p:spPr>
      </p:cxnSp>
      <p:pic>
        <p:nvPicPr>
          <p:cNvPr id="353" name="Google Shape;353;p30"/>
          <p:cNvPicPr preferRelativeResize="0"/>
          <p:nvPr/>
        </p:nvPicPr>
        <p:blipFill rotWithShape="1">
          <a:blip r:embed="rId3">
            <a:alphaModFix/>
          </a:blip>
          <a:srcRect b="0" l="0" r="0" t="0"/>
          <a:stretch/>
        </p:blipFill>
        <p:spPr>
          <a:xfrm>
            <a:off x="2168683" y="457200"/>
            <a:ext cx="6822917" cy="5867400"/>
          </a:xfrm>
          <a:prstGeom prst="rect">
            <a:avLst/>
          </a:prstGeom>
          <a:noFill/>
          <a:ln>
            <a:noFill/>
          </a:ln>
        </p:spPr>
      </p:pic>
      <p:sp>
        <p:nvSpPr>
          <p:cNvPr id="354" name="Google Shape;354;p30"/>
          <p:cNvSpPr/>
          <p:nvPr/>
        </p:nvSpPr>
        <p:spPr>
          <a:xfrm>
            <a:off x="685801" y="5562600"/>
            <a:ext cx="1447799"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20-8</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Job cost sheets–direct labor</a:t>
            </a:r>
            <a:endParaRPr/>
          </a:p>
        </p:txBody>
      </p:sp>
      <p:sp>
        <p:nvSpPr>
          <p:cNvPr id="355" name="Google Shape;355;p30"/>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1"/>
          <p:cNvSpPr/>
          <p:nvPr/>
        </p:nvSpPr>
        <p:spPr>
          <a:xfrm>
            <a:off x="609600" y="1393867"/>
            <a:ext cx="8153400" cy="322703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Danielle Company is working on two job orders. The job cost sheets show the following:</a:t>
            </a:r>
            <a:endParaRPr/>
          </a:p>
          <a:p>
            <a:pPr indent="0" lvl="0" marL="0" marR="0" rtl="0" algn="l">
              <a:lnSpc>
                <a:spcPct val="120000"/>
              </a:lnSpc>
              <a:spcBef>
                <a:spcPts val="1260"/>
              </a:spcBef>
              <a:spcAft>
                <a:spcPts val="0"/>
              </a:spcAft>
              <a:buNone/>
            </a:pPr>
            <a:r>
              <a:rPr lang="en-US" sz="2100">
                <a:solidFill>
                  <a:schemeClr val="dk1"/>
                </a:solidFill>
                <a:latin typeface="Arial"/>
                <a:ea typeface="Arial"/>
                <a:cs typeface="Arial"/>
                <a:sym typeface="Arial"/>
              </a:rPr>
              <a:t>Direct materials—Job 120 $6,000; Job 121 $3,600</a:t>
            </a:r>
            <a:endParaRPr/>
          </a:p>
          <a:p>
            <a:pPr indent="0" lvl="0" marL="0" marR="0" rtl="0" algn="l">
              <a:lnSpc>
                <a:spcPct val="125000"/>
              </a:lnSpc>
              <a:spcBef>
                <a:spcPts val="0"/>
              </a:spcBef>
              <a:spcAft>
                <a:spcPts val="0"/>
              </a:spcAft>
              <a:buNone/>
            </a:pPr>
            <a:r>
              <a:rPr lang="en-US" sz="2100">
                <a:solidFill>
                  <a:schemeClr val="dk1"/>
                </a:solidFill>
                <a:latin typeface="Arial"/>
                <a:ea typeface="Arial"/>
                <a:cs typeface="Arial"/>
                <a:sym typeface="Arial"/>
              </a:rPr>
              <a:t>Direct labor—Job 120 $4,000; Job 121 $2,000</a:t>
            </a:r>
            <a:endParaRPr/>
          </a:p>
          <a:p>
            <a:pPr indent="0" lvl="0" marL="0" marR="0" rtl="0" algn="l">
              <a:lnSpc>
                <a:spcPct val="125000"/>
              </a:lnSpc>
              <a:spcBef>
                <a:spcPts val="0"/>
              </a:spcBef>
              <a:spcAft>
                <a:spcPts val="0"/>
              </a:spcAft>
              <a:buNone/>
            </a:pPr>
            <a:r>
              <a:rPr lang="en-US" sz="2100">
                <a:solidFill>
                  <a:schemeClr val="dk1"/>
                </a:solidFill>
                <a:latin typeface="Arial"/>
                <a:ea typeface="Arial"/>
                <a:cs typeface="Arial"/>
                <a:sym typeface="Arial"/>
              </a:rPr>
              <a:t>Manufacturing overhead—Job 120 $5,000; Job 121 $2,500</a:t>
            </a:r>
            <a:endParaRPr/>
          </a:p>
          <a:p>
            <a:pPr indent="0" lvl="0" marL="0" marR="0" rtl="0" algn="l">
              <a:lnSpc>
                <a:spcPct val="120000"/>
              </a:lnSpc>
              <a:spcBef>
                <a:spcPts val="1260"/>
              </a:spcBef>
              <a:spcAft>
                <a:spcPts val="0"/>
              </a:spcAft>
              <a:buNone/>
            </a:pPr>
            <a:r>
              <a:rPr lang="en-US" sz="2100">
                <a:solidFill>
                  <a:schemeClr val="dk1"/>
                </a:solidFill>
                <a:latin typeface="Arial"/>
                <a:ea typeface="Arial"/>
                <a:cs typeface="Arial"/>
                <a:sym typeface="Arial"/>
              </a:rPr>
              <a:t>Prepare the three summary entries to record the assignment of costs to Work in Process from the data on the job cost sheets.</a:t>
            </a:r>
            <a:endParaRPr sz="2100">
              <a:solidFill>
                <a:schemeClr val="dk1"/>
              </a:solidFill>
              <a:latin typeface="Arial"/>
              <a:ea typeface="Arial"/>
              <a:cs typeface="Arial"/>
              <a:sym typeface="Arial"/>
            </a:endParaRPr>
          </a:p>
        </p:txBody>
      </p:sp>
      <p:sp>
        <p:nvSpPr>
          <p:cNvPr id="361" name="Google Shape;361;p31"/>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
        <p:nvSpPr>
          <p:cNvPr id="362" name="Google Shape;362;p31"/>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363" name="Google Shape;363;p31"/>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3200">
                <a:solidFill>
                  <a:schemeClr val="lt1"/>
                </a:solidFill>
                <a:latin typeface="Arial"/>
                <a:ea typeface="Arial"/>
                <a:cs typeface="Arial"/>
                <a:sym typeface="Arial"/>
              </a:rPr>
              <a:t>Work in Process</a:t>
            </a:r>
            <a:endParaRPr b="1" i="0" sz="3200">
              <a:solidFill>
                <a:schemeClr val="lt1"/>
              </a:solidFill>
              <a:latin typeface="Arial"/>
              <a:ea typeface="Arial"/>
              <a:cs typeface="Arial"/>
              <a:sym typeface="Arial"/>
            </a:endParaRPr>
          </a:p>
        </p:txBody>
      </p:sp>
      <p:sp>
        <p:nvSpPr>
          <p:cNvPr id="364" name="Google Shape;364;p31"/>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0" spcFirstLastPara="1" rIns="0" wrap="square" tIns="18275">
            <a:noAutofit/>
          </a:bodyPr>
          <a:lstStyle/>
          <a:p>
            <a:pPr indent="0" lvl="0" marL="0" marR="0" rtl="0" algn="ctr">
              <a:spcBef>
                <a:spcPts val="0"/>
              </a:spcBef>
              <a:spcAft>
                <a:spcPts val="0"/>
              </a:spcAft>
              <a:buNone/>
            </a:pPr>
            <a:r>
              <a:rPr b="1" lang="en-US" sz="4000">
                <a:solidFill>
                  <a:srgbClr val="FF0000"/>
                </a:solidFill>
                <a:latin typeface="Arial"/>
                <a:ea typeface="Arial"/>
                <a:cs typeface="Arial"/>
                <a:sym typeface="Arial"/>
              </a:rPr>
              <a:t>2</a:t>
            </a:r>
            <a:endParaRPr/>
          </a:p>
        </p:txBody>
      </p:sp>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2"/>
          <p:cNvSpPr/>
          <p:nvPr/>
        </p:nvSpPr>
        <p:spPr>
          <a:xfrm>
            <a:off x="609600" y="1406827"/>
            <a:ext cx="8153400" cy="331013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Danielle Company is working on two job orders. The job cost sheets show the following:</a:t>
            </a:r>
            <a:endParaRPr/>
          </a:p>
          <a:p>
            <a:pPr indent="0" lvl="0" marL="0" marR="0" rtl="0" algn="l">
              <a:lnSpc>
                <a:spcPct val="120000"/>
              </a:lnSpc>
              <a:spcBef>
                <a:spcPts val="1440"/>
              </a:spcBef>
              <a:spcAft>
                <a:spcPts val="0"/>
              </a:spcAft>
              <a:buNone/>
            </a:pPr>
            <a:r>
              <a:rPr b="1" lang="en-US" sz="2400">
                <a:solidFill>
                  <a:schemeClr val="dk1"/>
                </a:solidFill>
                <a:latin typeface="Arial"/>
                <a:ea typeface="Arial"/>
                <a:cs typeface="Arial"/>
                <a:sym typeface="Arial"/>
              </a:rPr>
              <a:t>Direct materials—Job 120 $6,000; Job 121 $3,600</a:t>
            </a:r>
            <a:endParaRPr/>
          </a:p>
          <a:p>
            <a:pPr indent="0" lvl="0" marL="0" marR="0" rtl="0" algn="l">
              <a:lnSpc>
                <a:spcPct val="125000"/>
              </a:lnSpc>
              <a:spcBef>
                <a:spcPts val="0"/>
              </a:spcBef>
              <a:spcAft>
                <a:spcPts val="0"/>
              </a:spcAft>
              <a:buNone/>
            </a:pPr>
            <a:r>
              <a:rPr lang="en-US" sz="2100">
                <a:solidFill>
                  <a:schemeClr val="dk1"/>
                </a:solidFill>
                <a:latin typeface="Arial"/>
                <a:ea typeface="Arial"/>
                <a:cs typeface="Arial"/>
                <a:sym typeface="Arial"/>
              </a:rPr>
              <a:t>Direct labor—Job 120 $4,000; Job 121 $2,000</a:t>
            </a:r>
            <a:endParaRPr/>
          </a:p>
          <a:p>
            <a:pPr indent="0" lvl="0" marL="0" marR="0" rtl="0" algn="l">
              <a:lnSpc>
                <a:spcPct val="125000"/>
              </a:lnSpc>
              <a:spcBef>
                <a:spcPts val="0"/>
              </a:spcBef>
              <a:spcAft>
                <a:spcPts val="0"/>
              </a:spcAft>
              <a:buNone/>
            </a:pPr>
            <a:r>
              <a:rPr lang="en-US" sz="2100">
                <a:solidFill>
                  <a:schemeClr val="dk1"/>
                </a:solidFill>
                <a:latin typeface="Arial"/>
                <a:ea typeface="Arial"/>
                <a:cs typeface="Arial"/>
                <a:sym typeface="Arial"/>
              </a:rPr>
              <a:t>Manufacturing overhead—Job 120 $5,000; Job 121 $2,500</a:t>
            </a:r>
            <a:endParaRPr/>
          </a:p>
          <a:p>
            <a:pPr indent="0" lvl="0" marL="0" marR="0" rtl="0" algn="l">
              <a:lnSpc>
                <a:spcPct val="120000"/>
              </a:lnSpc>
              <a:spcBef>
                <a:spcPts val="1260"/>
              </a:spcBef>
              <a:spcAft>
                <a:spcPts val="0"/>
              </a:spcAft>
              <a:buNone/>
            </a:pPr>
            <a:r>
              <a:rPr lang="en-US" sz="2100">
                <a:solidFill>
                  <a:schemeClr val="dk1"/>
                </a:solidFill>
                <a:latin typeface="Arial"/>
                <a:ea typeface="Arial"/>
                <a:cs typeface="Arial"/>
                <a:sym typeface="Arial"/>
              </a:rPr>
              <a:t>Prepare the three summary entries to record the assignment of costs to Work in Process from the data on the job cost sheets.</a:t>
            </a:r>
            <a:endParaRPr sz="2100">
              <a:solidFill>
                <a:schemeClr val="dk1"/>
              </a:solidFill>
              <a:latin typeface="Arial"/>
              <a:ea typeface="Arial"/>
              <a:cs typeface="Arial"/>
              <a:sym typeface="Arial"/>
            </a:endParaRPr>
          </a:p>
        </p:txBody>
      </p:sp>
      <p:sp>
        <p:nvSpPr>
          <p:cNvPr id="370" name="Google Shape;370;p32"/>
          <p:cNvSpPr/>
          <p:nvPr/>
        </p:nvSpPr>
        <p:spPr>
          <a:xfrm>
            <a:off x="609600" y="4893864"/>
            <a:ext cx="7772400" cy="973536"/>
          </a:xfrm>
          <a:prstGeom prst="rect">
            <a:avLst/>
          </a:prstGeom>
          <a:noFill/>
          <a:ln>
            <a:noFill/>
          </a:ln>
        </p:spPr>
        <p:txBody>
          <a:bodyPr anchorCtr="0" anchor="t" bIns="45700" lIns="91425" spcFirstLastPara="1" rIns="91425" wrap="square" tIns="45700">
            <a:spAutoFit/>
          </a:bodyPr>
          <a:lstStyle/>
          <a:p>
            <a:pPr indent="-450850" lvl="0" marL="914400" marR="0" rtl="0" algn="l">
              <a:lnSpc>
                <a:spcPct val="120000"/>
              </a:lnSpc>
              <a:spcBef>
                <a:spcPts val="0"/>
              </a:spcBef>
              <a:spcAft>
                <a:spcPts val="0"/>
              </a:spcAft>
              <a:buNone/>
            </a:pPr>
            <a:r>
              <a:rPr b="1" lang="en-US" sz="2300">
                <a:solidFill>
                  <a:schemeClr val="dk1"/>
                </a:solidFill>
                <a:latin typeface="Arial"/>
                <a:ea typeface="Arial"/>
                <a:cs typeface="Arial"/>
                <a:sym typeface="Arial"/>
              </a:rPr>
              <a:t>Work in Process Inventory 	9,600</a:t>
            </a:r>
            <a:endParaRPr/>
          </a:p>
          <a:p>
            <a:pPr indent="-450850" lvl="0" marL="914400" marR="0" rtl="0" algn="l">
              <a:lnSpc>
                <a:spcPct val="120000"/>
              </a:lnSpc>
              <a:spcBef>
                <a:spcPts val="460"/>
              </a:spcBef>
              <a:spcAft>
                <a:spcPts val="0"/>
              </a:spcAft>
              <a:buNone/>
            </a:pPr>
            <a:r>
              <a:rPr b="1" lang="en-US" sz="2300">
                <a:solidFill>
                  <a:schemeClr val="dk1"/>
                </a:solidFill>
                <a:latin typeface="Arial"/>
                <a:ea typeface="Arial"/>
                <a:cs typeface="Arial"/>
                <a:sym typeface="Arial"/>
              </a:rPr>
              <a:t>	Raw Materials Inventory		9,600</a:t>
            </a:r>
            <a:endParaRPr/>
          </a:p>
        </p:txBody>
      </p:sp>
      <p:sp>
        <p:nvSpPr>
          <p:cNvPr id="371" name="Google Shape;371;p32"/>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
        <p:nvSpPr>
          <p:cNvPr id="372" name="Google Shape;372;p32"/>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373" name="Google Shape;373;p32"/>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3200">
                <a:solidFill>
                  <a:schemeClr val="lt1"/>
                </a:solidFill>
                <a:latin typeface="Arial"/>
                <a:ea typeface="Arial"/>
                <a:cs typeface="Arial"/>
                <a:sym typeface="Arial"/>
              </a:rPr>
              <a:t>Work in Process</a:t>
            </a:r>
            <a:endParaRPr b="1" i="0" sz="3200">
              <a:solidFill>
                <a:schemeClr val="lt1"/>
              </a:solidFill>
              <a:latin typeface="Arial"/>
              <a:ea typeface="Arial"/>
              <a:cs typeface="Arial"/>
              <a:sym typeface="Arial"/>
            </a:endParaRPr>
          </a:p>
        </p:txBody>
      </p:sp>
      <p:sp>
        <p:nvSpPr>
          <p:cNvPr id="374" name="Google Shape;374;p32"/>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0" spcFirstLastPara="1" rIns="0" wrap="square" tIns="18275">
            <a:noAutofit/>
          </a:bodyPr>
          <a:lstStyle/>
          <a:p>
            <a:pPr indent="0" lvl="0" marL="0" marR="0" rtl="0" algn="ctr">
              <a:spcBef>
                <a:spcPts val="0"/>
              </a:spcBef>
              <a:spcAft>
                <a:spcPts val="0"/>
              </a:spcAft>
              <a:buNone/>
            </a:pPr>
            <a:r>
              <a:rPr b="1" lang="en-US" sz="4000">
                <a:solidFill>
                  <a:srgbClr val="FF0000"/>
                </a:solidFill>
                <a:latin typeface="Arial"/>
                <a:ea typeface="Arial"/>
                <a:cs typeface="Arial"/>
                <a:sym typeface="Arial"/>
              </a:rPr>
              <a:t>2</a:t>
            </a:r>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xEl>
                                              <p:pRg end="0" st="0"/>
                                            </p:txEl>
                                          </p:spTgt>
                                        </p:tgtEl>
                                        <p:attrNameLst>
                                          <p:attrName>style.visibility</p:attrName>
                                        </p:attrNameLst>
                                      </p:cBhvr>
                                      <p:to>
                                        <p:strVal val="visible"/>
                                      </p:to>
                                    </p:set>
                                    <p:animEffect filter="fade" transition="in">
                                      <p:cBhvr>
                                        <p:cTn dur="500"/>
                                        <p:tgtEl>
                                          <p:spTgt spid="3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xEl>
                                              <p:pRg end="1" st="1"/>
                                            </p:txEl>
                                          </p:spTgt>
                                        </p:tgtEl>
                                        <p:attrNameLst>
                                          <p:attrName>style.visibility</p:attrName>
                                        </p:attrNameLst>
                                      </p:cBhvr>
                                      <p:to>
                                        <p:strVal val="visible"/>
                                      </p:to>
                                    </p:set>
                                    <p:animEffect filter="fade" transition="in">
                                      <p:cBhvr>
                                        <p:cTn dur="500"/>
                                        <p:tgtEl>
                                          <p:spTgt spid="370">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3"/>
          <p:cNvSpPr/>
          <p:nvPr/>
        </p:nvSpPr>
        <p:spPr>
          <a:xfrm>
            <a:off x="609600" y="1406827"/>
            <a:ext cx="8153400" cy="33678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Danielle Company is working on two job orders. The job cost sheets show the following:</a:t>
            </a:r>
            <a:endParaRPr/>
          </a:p>
          <a:p>
            <a:pPr indent="0" lvl="0" marL="0" marR="0" rtl="0" algn="l">
              <a:lnSpc>
                <a:spcPct val="120000"/>
              </a:lnSpc>
              <a:spcBef>
                <a:spcPts val="1260"/>
              </a:spcBef>
              <a:spcAft>
                <a:spcPts val="0"/>
              </a:spcAft>
              <a:buNone/>
            </a:pPr>
            <a:r>
              <a:rPr lang="en-US" sz="2100">
                <a:solidFill>
                  <a:schemeClr val="dk1"/>
                </a:solidFill>
                <a:latin typeface="Arial"/>
                <a:ea typeface="Arial"/>
                <a:cs typeface="Arial"/>
                <a:sym typeface="Arial"/>
              </a:rPr>
              <a:t>Direct materials—Job 120 $6,000; Job 121 $3,600</a:t>
            </a:r>
            <a:endParaRPr/>
          </a:p>
          <a:p>
            <a:pPr indent="0" lvl="0" marL="0" marR="0" rtl="0" algn="l">
              <a:lnSpc>
                <a:spcPct val="125000"/>
              </a:lnSpc>
              <a:spcBef>
                <a:spcPts val="0"/>
              </a:spcBef>
              <a:spcAft>
                <a:spcPts val="0"/>
              </a:spcAft>
              <a:buNone/>
            </a:pPr>
            <a:r>
              <a:rPr b="1" lang="en-US" sz="2400">
                <a:solidFill>
                  <a:schemeClr val="dk1"/>
                </a:solidFill>
                <a:latin typeface="Arial"/>
                <a:ea typeface="Arial"/>
                <a:cs typeface="Arial"/>
                <a:sym typeface="Arial"/>
              </a:rPr>
              <a:t>Direct labor—Job 120 $4,000; Job 121 $2,000</a:t>
            </a:r>
            <a:endParaRPr/>
          </a:p>
          <a:p>
            <a:pPr indent="0" lvl="0" marL="0" marR="0" rtl="0" algn="l">
              <a:lnSpc>
                <a:spcPct val="125000"/>
              </a:lnSpc>
              <a:spcBef>
                <a:spcPts val="0"/>
              </a:spcBef>
              <a:spcAft>
                <a:spcPts val="0"/>
              </a:spcAft>
              <a:buNone/>
            </a:pPr>
            <a:r>
              <a:rPr lang="en-US" sz="2100">
                <a:solidFill>
                  <a:schemeClr val="dk1"/>
                </a:solidFill>
                <a:latin typeface="Arial"/>
                <a:ea typeface="Arial"/>
                <a:cs typeface="Arial"/>
                <a:sym typeface="Arial"/>
              </a:rPr>
              <a:t>Manufacturing overhead—Job 120 $5,000; Job 121 $2,500</a:t>
            </a:r>
            <a:endParaRPr/>
          </a:p>
          <a:p>
            <a:pPr indent="0" lvl="0" marL="0" marR="0" rtl="0" algn="l">
              <a:lnSpc>
                <a:spcPct val="120000"/>
              </a:lnSpc>
              <a:spcBef>
                <a:spcPts val="1260"/>
              </a:spcBef>
              <a:spcAft>
                <a:spcPts val="0"/>
              </a:spcAft>
              <a:buNone/>
            </a:pPr>
            <a:r>
              <a:rPr lang="en-US" sz="2100">
                <a:solidFill>
                  <a:schemeClr val="dk1"/>
                </a:solidFill>
                <a:latin typeface="Arial"/>
                <a:ea typeface="Arial"/>
                <a:cs typeface="Arial"/>
                <a:sym typeface="Arial"/>
              </a:rPr>
              <a:t>Prepare the three summary entries to record the assignment of costs to Work in Process from the data on the job cost sheets.</a:t>
            </a:r>
            <a:endParaRPr sz="2100">
              <a:solidFill>
                <a:schemeClr val="dk1"/>
              </a:solidFill>
              <a:latin typeface="Arial"/>
              <a:ea typeface="Arial"/>
              <a:cs typeface="Arial"/>
              <a:sym typeface="Arial"/>
            </a:endParaRPr>
          </a:p>
        </p:txBody>
      </p:sp>
      <p:sp>
        <p:nvSpPr>
          <p:cNvPr id="380" name="Google Shape;380;p33"/>
          <p:cNvSpPr/>
          <p:nvPr/>
        </p:nvSpPr>
        <p:spPr>
          <a:xfrm>
            <a:off x="609600" y="4893864"/>
            <a:ext cx="7772400" cy="973536"/>
          </a:xfrm>
          <a:prstGeom prst="rect">
            <a:avLst/>
          </a:prstGeom>
          <a:noFill/>
          <a:ln>
            <a:noFill/>
          </a:ln>
        </p:spPr>
        <p:txBody>
          <a:bodyPr anchorCtr="0" anchor="t" bIns="45700" lIns="91425" spcFirstLastPara="1" rIns="91425" wrap="square" tIns="45700">
            <a:spAutoFit/>
          </a:bodyPr>
          <a:lstStyle/>
          <a:p>
            <a:pPr indent="-450850" lvl="0" marL="914400" marR="0" rtl="0" algn="l">
              <a:lnSpc>
                <a:spcPct val="120000"/>
              </a:lnSpc>
              <a:spcBef>
                <a:spcPts val="0"/>
              </a:spcBef>
              <a:spcAft>
                <a:spcPts val="0"/>
              </a:spcAft>
              <a:buNone/>
            </a:pPr>
            <a:r>
              <a:rPr b="1" lang="en-US" sz="2300">
                <a:solidFill>
                  <a:schemeClr val="dk1"/>
                </a:solidFill>
                <a:latin typeface="Arial"/>
                <a:ea typeface="Arial"/>
                <a:cs typeface="Arial"/>
                <a:sym typeface="Arial"/>
              </a:rPr>
              <a:t>Work in Process Inventory 	6,000</a:t>
            </a:r>
            <a:endParaRPr/>
          </a:p>
          <a:p>
            <a:pPr indent="-450850" lvl="0" marL="914400" marR="0" rtl="0" algn="l">
              <a:lnSpc>
                <a:spcPct val="120000"/>
              </a:lnSpc>
              <a:spcBef>
                <a:spcPts val="460"/>
              </a:spcBef>
              <a:spcAft>
                <a:spcPts val="0"/>
              </a:spcAft>
              <a:buNone/>
            </a:pPr>
            <a:r>
              <a:rPr b="1" lang="en-US" sz="2300">
                <a:solidFill>
                  <a:schemeClr val="dk1"/>
                </a:solidFill>
                <a:latin typeface="Arial"/>
                <a:ea typeface="Arial"/>
                <a:cs typeface="Arial"/>
                <a:sym typeface="Arial"/>
              </a:rPr>
              <a:t>	Factory Labor		6,000</a:t>
            </a:r>
            <a:endParaRPr/>
          </a:p>
        </p:txBody>
      </p:sp>
      <p:sp>
        <p:nvSpPr>
          <p:cNvPr id="381" name="Google Shape;381;p33"/>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
        <p:nvSpPr>
          <p:cNvPr id="382" name="Google Shape;382;p33"/>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383" name="Google Shape;383;p33"/>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3200">
                <a:solidFill>
                  <a:schemeClr val="lt1"/>
                </a:solidFill>
                <a:latin typeface="Arial"/>
                <a:ea typeface="Arial"/>
                <a:cs typeface="Arial"/>
                <a:sym typeface="Arial"/>
              </a:rPr>
              <a:t>Work in Process</a:t>
            </a:r>
            <a:endParaRPr b="1" i="0" sz="3200">
              <a:solidFill>
                <a:schemeClr val="lt1"/>
              </a:solidFill>
              <a:latin typeface="Arial"/>
              <a:ea typeface="Arial"/>
              <a:cs typeface="Arial"/>
              <a:sym typeface="Arial"/>
            </a:endParaRPr>
          </a:p>
        </p:txBody>
      </p:sp>
      <p:sp>
        <p:nvSpPr>
          <p:cNvPr id="384" name="Google Shape;384;p33"/>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0" spcFirstLastPara="1" rIns="0" wrap="square" tIns="18275">
            <a:noAutofit/>
          </a:bodyPr>
          <a:lstStyle/>
          <a:p>
            <a:pPr indent="0" lvl="0" marL="0" marR="0" rtl="0" algn="ctr">
              <a:spcBef>
                <a:spcPts val="0"/>
              </a:spcBef>
              <a:spcAft>
                <a:spcPts val="0"/>
              </a:spcAft>
              <a:buNone/>
            </a:pPr>
            <a:r>
              <a:rPr b="1" lang="en-US" sz="4000">
                <a:solidFill>
                  <a:srgbClr val="FF0000"/>
                </a:solidFill>
                <a:latin typeface="Arial"/>
                <a:ea typeface="Arial"/>
                <a:cs typeface="Arial"/>
                <a:sym typeface="Arial"/>
              </a:rPr>
              <a:t>2</a:t>
            </a:r>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xEl>
                                              <p:pRg end="0" st="0"/>
                                            </p:txEl>
                                          </p:spTgt>
                                        </p:tgtEl>
                                        <p:attrNameLst>
                                          <p:attrName>style.visibility</p:attrName>
                                        </p:attrNameLst>
                                      </p:cBhvr>
                                      <p:to>
                                        <p:strVal val="visible"/>
                                      </p:to>
                                    </p:set>
                                    <p:animEffect filter="fade" transition="in">
                                      <p:cBhvr>
                                        <p:cTn dur="500"/>
                                        <p:tgtEl>
                                          <p:spTgt spid="3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xEl>
                                              <p:pRg end="1" st="1"/>
                                            </p:txEl>
                                          </p:spTgt>
                                        </p:tgtEl>
                                        <p:attrNameLst>
                                          <p:attrName>style.visibility</p:attrName>
                                        </p:attrNameLst>
                                      </p:cBhvr>
                                      <p:to>
                                        <p:strVal val="visible"/>
                                      </p:to>
                                    </p:set>
                                    <p:animEffect filter="fade" transition="in">
                                      <p:cBhvr>
                                        <p:cTn dur="500"/>
                                        <p:tgtEl>
                                          <p:spTgt spid="380">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4"/>
          <p:cNvSpPr/>
          <p:nvPr/>
        </p:nvSpPr>
        <p:spPr>
          <a:xfrm>
            <a:off x="609600" y="1406827"/>
            <a:ext cx="8153400" cy="3265509"/>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Danielle Company is working on two job orders. The job cost sheets show the following:</a:t>
            </a:r>
            <a:endParaRPr/>
          </a:p>
          <a:p>
            <a:pPr indent="0" lvl="0" marL="0" marR="0" rtl="0" algn="l">
              <a:lnSpc>
                <a:spcPct val="120000"/>
              </a:lnSpc>
              <a:spcBef>
                <a:spcPts val="1260"/>
              </a:spcBef>
              <a:spcAft>
                <a:spcPts val="0"/>
              </a:spcAft>
              <a:buNone/>
            </a:pPr>
            <a:r>
              <a:rPr lang="en-US" sz="2100">
                <a:solidFill>
                  <a:schemeClr val="dk1"/>
                </a:solidFill>
                <a:latin typeface="Arial"/>
                <a:ea typeface="Arial"/>
                <a:cs typeface="Arial"/>
                <a:sym typeface="Arial"/>
              </a:rPr>
              <a:t>Direct materials—Job 120 $6,000; Job 121 $3,600</a:t>
            </a:r>
            <a:endParaRPr/>
          </a:p>
          <a:p>
            <a:pPr indent="0" lvl="0" marL="0" marR="0" rtl="0" algn="l">
              <a:lnSpc>
                <a:spcPct val="125000"/>
              </a:lnSpc>
              <a:spcBef>
                <a:spcPts val="0"/>
              </a:spcBef>
              <a:spcAft>
                <a:spcPts val="0"/>
              </a:spcAft>
              <a:buNone/>
            </a:pPr>
            <a:r>
              <a:rPr lang="en-US" sz="2100">
                <a:solidFill>
                  <a:schemeClr val="dk1"/>
                </a:solidFill>
                <a:latin typeface="Arial"/>
                <a:ea typeface="Arial"/>
                <a:cs typeface="Arial"/>
                <a:sym typeface="Arial"/>
              </a:rPr>
              <a:t>Direct labor—Job 120 $4,000; Job 121 $2,000</a:t>
            </a:r>
            <a:endParaRPr/>
          </a:p>
          <a:p>
            <a:pPr indent="0" lvl="0" marL="0" marR="0" rtl="0" algn="l">
              <a:lnSpc>
                <a:spcPct val="125000"/>
              </a:lnSpc>
              <a:spcBef>
                <a:spcPts val="0"/>
              </a:spcBef>
              <a:spcAft>
                <a:spcPts val="0"/>
              </a:spcAft>
              <a:buNone/>
            </a:pPr>
            <a:r>
              <a:rPr b="1" lang="en-US" sz="2300">
                <a:solidFill>
                  <a:schemeClr val="dk1"/>
                </a:solidFill>
                <a:latin typeface="Arial"/>
                <a:ea typeface="Arial"/>
                <a:cs typeface="Arial"/>
                <a:sym typeface="Arial"/>
              </a:rPr>
              <a:t>Manufacturing overhead—Job 120 $5,000; Job 121 $2,500</a:t>
            </a:r>
            <a:endParaRPr/>
          </a:p>
          <a:p>
            <a:pPr indent="0" lvl="0" marL="0" marR="0" rtl="0" algn="l">
              <a:lnSpc>
                <a:spcPct val="120000"/>
              </a:lnSpc>
              <a:spcBef>
                <a:spcPts val="1260"/>
              </a:spcBef>
              <a:spcAft>
                <a:spcPts val="0"/>
              </a:spcAft>
              <a:buNone/>
            </a:pPr>
            <a:r>
              <a:rPr lang="en-US" sz="2100">
                <a:solidFill>
                  <a:schemeClr val="dk1"/>
                </a:solidFill>
                <a:latin typeface="Arial"/>
                <a:ea typeface="Arial"/>
                <a:cs typeface="Arial"/>
                <a:sym typeface="Arial"/>
              </a:rPr>
              <a:t>Prepare the three summary entries to record the assignment of costs to Work in Process from the data on the job cost sheets.</a:t>
            </a:r>
            <a:endParaRPr sz="2100">
              <a:solidFill>
                <a:schemeClr val="dk1"/>
              </a:solidFill>
              <a:latin typeface="Arial"/>
              <a:ea typeface="Arial"/>
              <a:cs typeface="Arial"/>
              <a:sym typeface="Arial"/>
            </a:endParaRPr>
          </a:p>
        </p:txBody>
      </p:sp>
      <p:sp>
        <p:nvSpPr>
          <p:cNvPr id="390" name="Google Shape;390;p34"/>
          <p:cNvSpPr/>
          <p:nvPr/>
        </p:nvSpPr>
        <p:spPr>
          <a:xfrm>
            <a:off x="609600" y="4893864"/>
            <a:ext cx="7772400" cy="973536"/>
          </a:xfrm>
          <a:prstGeom prst="rect">
            <a:avLst/>
          </a:prstGeom>
          <a:noFill/>
          <a:ln>
            <a:noFill/>
          </a:ln>
        </p:spPr>
        <p:txBody>
          <a:bodyPr anchorCtr="0" anchor="t" bIns="45700" lIns="91425" spcFirstLastPara="1" rIns="91425" wrap="square" tIns="45700">
            <a:spAutoFit/>
          </a:bodyPr>
          <a:lstStyle/>
          <a:p>
            <a:pPr indent="-450850" lvl="0" marL="914400" marR="0" rtl="0" algn="l">
              <a:lnSpc>
                <a:spcPct val="120000"/>
              </a:lnSpc>
              <a:spcBef>
                <a:spcPts val="0"/>
              </a:spcBef>
              <a:spcAft>
                <a:spcPts val="0"/>
              </a:spcAft>
              <a:buNone/>
            </a:pPr>
            <a:r>
              <a:rPr b="1" lang="en-US" sz="2300">
                <a:solidFill>
                  <a:schemeClr val="dk1"/>
                </a:solidFill>
                <a:latin typeface="Arial"/>
                <a:ea typeface="Arial"/>
                <a:cs typeface="Arial"/>
                <a:sym typeface="Arial"/>
              </a:rPr>
              <a:t>Work in Process Inventory 	7,500</a:t>
            </a:r>
            <a:endParaRPr/>
          </a:p>
          <a:p>
            <a:pPr indent="-450850" lvl="0" marL="914400" marR="0" rtl="0" algn="l">
              <a:lnSpc>
                <a:spcPct val="120000"/>
              </a:lnSpc>
              <a:spcBef>
                <a:spcPts val="460"/>
              </a:spcBef>
              <a:spcAft>
                <a:spcPts val="0"/>
              </a:spcAft>
              <a:buNone/>
            </a:pPr>
            <a:r>
              <a:rPr b="1" lang="en-US" sz="2300">
                <a:solidFill>
                  <a:schemeClr val="dk1"/>
                </a:solidFill>
                <a:latin typeface="Arial"/>
                <a:ea typeface="Arial"/>
                <a:cs typeface="Arial"/>
                <a:sym typeface="Arial"/>
              </a:rPr>
              <a:t>	Manufacturing Overhead		7,500</a:t>
            </a:r>
            <a:endParaRPr/>
          </a:p>
        </p:txBody>
      </p:sp>
      <p:sp>
        <p:nvSpPr>
          <p:cNvPr id="391" name="Google Shape;391;p34"/>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
        <p:nvSpPr>
          <p:cNvPr id="392" name="Google Shape;392;p34"/>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393" name="Google Shape;393;p34"/>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3200">
                <a:solidFill>
                  <a:schemeClr val="lt1"/>
                </a:solidFill>
                <a:latin typeface="Arial"/>
                <a:ea typeface="Arial"/>
                <a:cs typeface="Arial"/>
                <a:sym typeface="Arial"/>
              </a:rPr>
              <a:t>Work in Process</a:t>
            </a:r>
            <a:endParaRPr b="1" i="0" sz="3200">
              <a:solidFill>
                <a:schemeClr val="lt1"/>
              </a:solidFill>
              <a:latin typeface="Arial"/>
              <a:ea typeface="Arial"/>
              <a:cs typeface="Arial"/>
              <a:sym typeface="Arial"/>
            </a:endParaRPr>
          </a:p>
        </p:txBody>
      </p:sp>
      <p:sp>
        <p:nvSpPr>
          <p:cNvPr id="394" name="Google Shape;394;p34"/>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0" spcFirstLastPara="1" rIns="0" wrap="square" tIns="18275">
            <a:noAutofit/>
          </a:bodyPr>
          <a:lstStyle/>
          <a:p>
            <a:pPr indent="0" lvl="0" marL="0" marR="0" rtl="0" algn="ctr">
              <a:spcBef>
                <a:spcPts val="0"/>
              </a:spcBef>
              <a:spcAft>
                <a:spcPts val="0"/>
              </a:spcAft>
              <a:buNone/>
            </a:pPr>
            <a:r>
              <a:rPr b="1" lang="en-US" sz="4000">
                <a:solidFill>
                  <a:srgbClr val="FF0000"/>
                </a:solidFill>
                <a:latin typeface="Arial"/>
                <a:ea typeface="Arial"/>
                <a:cs typeface="Arial"/>
                <a:sym typeface="Arial"/>
              </a:rPr>
              <a:t>2</a:t>
            </a:r>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xEl>
                                              <p:pRg end="0" st="0"/>
                                            </p:txEl>
                                          </p:spTgt>
                                        </p:tgtEl>
                                        <p:attrNameLst>
                                          <p:attrName>style.visibility</p:attrName>
                                        </p:attrNameLst>
                                      </p:cBhvr>
                                      <p:to>
                                        <p:strVal val="visible"/>
                                      </p:to>
                                    </p:set>
                                    <p:animEffect filter="fade" transition="in">
                                      <p:cBhvr>
                                        <p:cTn dur="500"/>
                                        <p:tgtEl>
                                          <p:spTgt spid="3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xEl>
                                              <p:pRg end="1" st="1"/>
                                            </p:txEl>
                                          </p:spTgt>
                                        </p:tgtEl>
                                        <p:attrNameLst>
                                          <p:attrName>style.visibility</p:attrName>
                                        </p:attrNameLst>
                                      </p:cBhvr>
                                      <p:to>
                                        <p:strVal val="visible"/>
                                      </p:to>
                                    </p:set>
                                    <p:animEffect filter="fade" transition="in">
                                      <p:cBhvr>
                                        <p:cTn dur="500"/>
                                        <p:tgtEl>
                                          <p:spTgt spid="390">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5"/>
          <p:cNvSpPr/>
          <p:nvPr/>
        </p:nvSpPr>
        <p:spPr>
          <a:xfrm>
            <a:off x="609600" y="2133600"/>
            <a:ext cx="8001000" cy="2971800"/>
          </a:xfrm>
          <a:prstGeom prst="rect">
            <a:avLst/>
          </a:prstGeom>
          <a:noFill/>
          <a:ln>
            <a:noFill/>
          </a:ln>
        </p:spPr>
        <p:txBody>
          <a:bodyPr anchorCtr="0" anchor="t" bIns="45700" lIns="91425" spcFirstLastPara="1" rIns="91425" wrap="square" tIns="45700">
            <a:noAutofit/>
          </a:bodyPr>
          <a:lstStyle/>
          <a:p>
            <a:pPr indent="-457200" lvl="1" marL="685800" marR="0" rtl="0" algn="l">
              <a:lnSpc>
                <a:spcPct val="120000"/>
              </a:lnSpc>
              <a:spcBef>
                <a:spcPts val="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Relates to production operations as a whole.</a:t>
            </a:r>
            <a:endParaRPr/>
          </a:p>
          <a:p>
            <a:pPr indent="-457200" lvl="1" marL="685800" marR="0" rtl="0" algn="l">
              <a:lnSpc>
                <a:spcPct val="120000"/>
              </a:lnSpc>
              <a:spcBef>
                <a:spcPts val="154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Cannot be assigned to specific jobs based on actual costs incurred.</a:t>
            </a:r>
            <a:endParaRPr/>
          </a:p>
          <a:p>
            <a:pPr indent="-457200" lvl="1" marL="685800" marR="0" rtl="0" algn="l">
              <a:lnSpc>
                <a:spcPct val="120000"/>
              </a:lnSpc>
              <a:spcBef>
                <a:spcPts val="154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Companies assign to work in process and to specific jobs on an estimated basis through the use of a …</a:t>
            </a:r>
            <a:endParaRPr/>
          </a:p>
        </p:txBody>
      </p:sp>
      <p:sp>
        <p:nvSpPr>
          <p:cNvPr id="400" name="Google Shape;400;p35"/>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401" name="Google Shape;401;p35"/>
          <p:cNvSpPr/>
          <p:nvPr/>
        </p:nvSpPr>
        <p:spPr>
          <a:xfrm>
            <a:off x="609600" y="1524000"/>
            <a:ext cx="75438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Manufacturing Overhead Costs</a:t>
            </a:r>
            <a:endParaRPr/>
          </a:p>
        </p:txBody>
      </p:sp>
      <p:sp>
        <p:nvSpPr>
          <p:cNvPr id="402" name="Google Shape;402;p35"/>
          <p:cNvSpPr/>
          <p:nvPr/>
        </p:nvSpPr>
        <p:spPr>
          <a:xfrm>
            <a:off x="1873250" y="4891088"/>
            <a:ext cx="5289550" cy="5191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000099"/>
                </a:solidFill>
                <a:latin typeface="Arial"/>
                <a:ea typeface="Arial"/>
                <a:cs typeface="Arial"/>
                <a:sym typeface="Arial"/>
              </a:rPr>
              <a:t>Predetermined Overhead Rate</a:t>
            </a:r>
            <a:endParaRPr/>
          </a:p>
        </p:txBody>
      </p:sp>
      <p:sp>
        <p:nvSpPr>
          <p:cNvPr id="403" name="Google Shape;403;p35"/>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
        <p:nvSpPr>
          <p:cNvPr id="404" name="Google Shape;404;p35"/>
          <p:cNvSpPr/>
          <p:nvPr/>
        </p:nvSpPr>
        <p:spPr>
          <a:xfrm>
            <a:off x="290286" y="389796"/>
            <a:ext cx="2249714" cy="697737"/>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405" name="Google Shape;405;p35"/>
          <p:cNvSpPr/>
          <p:nvPr/>
        </p:nvSpPr>
        <p:spPr>
          <a:xfrm>
            <a:off x="2540000" y="274320"/>
            <a:ext cx="6241143" cy="928688"/>
          </a:xfrm>
          <a:prstGeom prst="rect">
            <a:avLst/>
          </a:prstGeom>
          <a:solidFill>
            <a:srgbClr val="000099"/>
          </a:solidFill>
          <a:ln>
            <a:noFill/>
          </a:ln>
        </p:spPr>
        <p:txBody>
          <a:bodyPr anchorCtr="0" anchor="ctr" bIns="45700" lIns="91425" spcFirstLastPara="1" rIns="91425" wrap="square" tIns="18275">
            <a:noAutofit/>
          </a:bodyPr>
          <a:lstStyle/>
          <a:p>
            <a:pPr indent="0" lvl="0" marL="117475" marR="0" rtl="0" algn="l">
              <a:spcBef>
                <a:spcPts val="0"/>
              </a:spcBef>
              <a:spcAft>
                <a:spcPts val="0"/>
              </a:spcAft>
              <a:buNone/>
            </a:pPr>
            <a:r>
              <a:rPr b="1" lang="en-US" sz="2400">
                <a:solidFill>
                  <a:schemeClr val="lt1"/>
                </a:solidFill>
                <a:latin typeface="Arial"/>
                <a:ea typeface="Arial"/>
                <a:cs typeface="Arial"/>
                <a:sym typeface="Arial"/>
              </a:rPr>
              <a:t>Demonstrate how to determine and use the predetermined overhead rate.</a:t>
            </a:r>
            <a:endParaRPr/>
          </a:p>
        </p:txBody>
      </p:sp>
      <p:sp>
        <p:nvSpPr>
          <p:cNvPr id="406" name="Google Shape;406;p35"/>
          <p:cNvSpPr/>
          <p:nvPr/>
        </p:nvSpPr>
        <p:spPr>
          <a:xfrm>
            <a:off x="1872343" y="485775"/>
            <a:ext cx="522514" cy="514350"/>
          </a:xfrm>
          <a:prstGeom prst="ellipse">
            <a:avLst/>
          </a:prstGeom>
          <a:solidFill>
            <a:srgbClr val="FF0000"/>
          </a:solidFill>
          <a:ln>
            <a:noFill/>
          </a:ln>
        </p:spPr>
        <p:txBody>
          <a:bodyPr anchorCtr="0" anchor="ctr" bIns="43225" lIns="86475" spcFirstLastPara="1" rIns="86475" wrap="square" tIns="18275">
            <a:noAutofit/>
          </a:bodyPr>
          <a:lstStyle/>
          <a:p>
            <a:pPr indent="0" lvl="0" marL="0" marR="0" rtl="0" algn="ctr">
              <a:spcBef>
                <a:spcPts val="0"/>
              </a:spcBef>
              <a:spcAft>
                <a:spcPts val="0"/>
              </a:spcAft>
              <a:buNone/>
            </a:pPr>
            <a:r>
              <a:rPr b="1" lang="en-US" sz="2700">
                <a:solidFill>
                  <a:schemeClr val="lt1"/>
                </a:solidFill>
                <a:latin typeface="Arial"/>
                <a:ea typeface="Arial"/>
                <a:cs typeface="Arial"/>
                <a:sym typeface="Arial"/>
              </a:rPr>
              <a:t>3</a:t>
            </a:r>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6"/>
          <p:cNvSpPr/>
          <p:nvPr/>
        </p:nvSpPr>
        <p:spPr>
          <a:xfrm>
            <a:off x="609600" y="1371600"/>
            <a:ext cx="7848600" cy="4191000"/>
          </a:xfrm>
          <a:prstGeom prst="rect">
            <a:avLst/>
          </a:prstGeom>
          <a:noFill/>
          <a:ln>
            <a:noFill/>
          </a:ln>
        </p:spPr>
        <p:txBody>
          <a:bodyPr anchorCtr="0" anchor="t" bIns="45700" lIns="91425" spcFirstLastPara="1" rIns="91425" wrap="square" tIns="45700">
            <a:noAutofit/>
          </a:bodyPr>
          <a:lstStyle/>
          <a:p>
            <a:pPr indent="-457200" lvl="1" marL="685800" marR="0" rtl="0" algn="l">
              <a:lnSpc>
                <a:spcPct val="125000"/>
              </a:lnSpc>
              <a:spcBef>
                <a:spcPts val="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Based on the relationship between estimated annual overhead costs and expected annual operating activity.</a:t>
            </a:r>
            <a:endParaRPr b="0" i="0" sz="2200" u="none" cap="none" strike="noStrike">
              <a:solidFill>
                <a:schemeClr val="dk1"/>
              </a:solidFill>
              <a:latin typeface="Arial"/>
              <a:ea typeface="Arial"/>
              <a:cs typeface="Arial"/>
              <a:sym typeface="Arial"/>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Expressed in terms of an </a:t>
            </a:r>
            <a:r>
              <a:rPr b="1" i="0" lang="en-US" sz="2200" u="none" cap="none" strike="noStrike">
                <a:solidFill>
                  <a:schemeClr val="dk1"/>
                </a:solidFill>
                <a:latin typeface="Arial"/>
                <a:ea typeface="Arial"/>
                <a:cs typeface="Arial"/>
                <a:sym typeface="Arial"/>
              </a:rPr>
              <a:t>activity base </a:t>
            </a:r>
            <a:r>
              <a:rPr b="0" i="0" lang="en-US" sz="2200" u="none" cap="none" strike="noStrike">
                <a:solidFill>
                  <a:schemeClr val="dk1"/>
                </a:solidFill>
                <a:latin typeface="Arial"/>
                <a:ea typeface="Arial"/>
                <a:cs typeface="Arial"/>
                <a:sym typeface="Arial"/>
              </a:rPr>
              <a:t>such as:</a:t>
            </a:r>
            <a:endParaRPr b="0" i="0" sz="2200" u="none" cap="none" strike="noStrike">
              <a:solidFill>
                <a:schemeClr val="dk1"/>
              </a:solidFill>
              <a:latin typeface="Arial"/>
              <a:ea typeface="Arial"/>
              <a:cs typeface="Arial"/>
              <a:sym typeface="Arial"/>
            </a:endParaRPr>
          </a:p>
          <a:p>
            <a:pPr indent="-463550" lvl="2" marL="1377950" marR="0" rtl="0" algn="l">
              <a:lnSpc>
                <a:spcPct val="125000"/>
              </a:lnSpc>
              <a:spcBef>
                <a:spcPts val="1200"/>
              </a:spcBef>
              <a:spcAft>
                <a:spcPts val="0"/>
              </a:spcAft>
              <a:buClr>
                <a:srgbClr val="800000"/>
              </a:buClr>
              <a:buSzPts val="1680"/>
              <a:buFont typeface="Arial"/>
              <a:buChar char="►"/>
            </a:pPr>
            <a:r>
              <a:rPr b="0" i="0" lang="en-US" sz="2100" u="none" cap="none" strike="noStrike">
                <a:solidFill>
                  <a:schemeClr val="dk1"/>
                </a:solidFill>
                <a:latin typeface="Arial"/>
                <a:ea typeface="Arial"/>
                <a:cs typeface="Arial"/>
                <a:sym typeface="Arial"/>
              </a:rPr>
              <a:t>Direct labor costs</a:t>
            </a:r>
            <a:endParaRPr/>
          </a:p>
          <a:p>
            <a:pPr indent="-463550" lvl="2" marL="1377950" marR="0" rtl="0" algn="l">
              <a:lnSpc>
                <a:spcPct val="125000"/>
              </a:lnSpc>
              <a:spcBef>
                <a:spcPts val="1200"/>
              </a:spcBef>
              <a:spcAft>
                <a:spcPts val="0"/>
              </a:spcAft>
              <a:buClr>
                <a:srgbClr val="800000"/>
              </a:buClr>
              <a:buSzPts val="1680"/>
              <a:buFont typeface="Arial"/>
              <a:buChar char="►"/>
            </a:pPr>
            <a:r>
              <a:rPr b="0" i="0" lang="en-US" sz="2100" u="none" cap="none" strike="noStrike">
                <a:solidFill>
                  <a:schemeClr val="dk1"/>
                </a:solidFill>
                <a:latin typeface="Arial"/>
                <a:ea typeface="Arial"/>
                <a:cs typeface="Arial"/>
                <a:sym typeface="Arial"/>
              </a:rPr>
              <a:t>Direct labor hours</a:t>
            </a:r>
            <a:endParaRPr/>
          </a:p>
          <a:p>
            <a:pPr indent="-463550" lvl="2" marL="1377950" marR="0" rtl="0" algn="l">
              <a:lnSpc>
                <a:spcPct val="125000"/>
              </a:lnSpc>
              <a:spcBef>
                <a:spcPts val="1200"/>
              </a:spcBef>
              <a:spcAft>
                <a:spcPts val="0"/>
              </a:spcAft>
              <a:buClr>
                <a:srgbClr val="800000"/>
              </a:buClr>
              <a:buSzPts val="1680"/>
              <a:buFont typeface="Arial"/>
              <a:buChar char="►"/>
            </a:pPr>
            <a:r>
              <a:rPr b="0" i="0" lang="en-US" sz="2100" u="none" cap="none" strike="noStrike">
                <a:solidFill>
                  <a:schemeClr val="dk1"/>
                </a:solidFill>
                <a:latin typeface="Arial"/>
                <a:ea typeface="Arial"/>
                <a:cs typeface="Arial"/>
                <a:sym typeface="Arial"/>
              </a:rPr>
              <a:t>Machine hours</a:t>
            </a:r>
            <a:endParaRPr/>
          </a:p>
          <a:p>
            <a:pPr indent="-463550" lvl="2" marL="1377950" marR="0" rtl="0" algn="l">
              <a:lnSpc>
                <a:spcPct val="125000"/>
              </a:lnSpc>
              <a:spcBef>
                <a:spcPts val="1200"/>
              </a:spcBef>
              <a:spcAft>
                <a:spcPts val="0"/>
              </a:spcAft>
              <a:buClr>
                <a:srgbClr val="800000"/>
              </a:buClr>
              <a:buSzPts val="1680"/>
              <a:buFont typeface="Arial"/>
              <a:buChar char="►"/>
            </a:pPr>
            <a:r>
              <a:rPr b="0" i="0" lang="en-US" sz="2100" u="none" cap="none" strike="noStrike">
                <a:solidFill>
                  <a:schemeClr val="dk1"/>
                </a:solidFill>
                <a:latin typeface="Arial"/>
                <a:ea typeface="Arial"/>
                <a:cs typeface="Arial"/>
                <a:sym typeface="Arial"/>
              </a:rPr>
              <a:t>Any other measure that will provide an equitable basis for applying overhead costs to jobs.</a:t>
            </a:r>
            <a:endParaRPr b="0" i="0" sz="2100" u="none" cap="none" strike="noStrike">
              <a:solidFill>
                <a:schemeClr val="dk1"/>
              </a:solidFill>
              <a:latin typeface="Arial"/>
              <a:ea typeface="Arial"/>
              <a:cs typeface="Arial"/>
              <a:sym typeface="Arial"/>
            </a:endParaRPr>
          </a:p>
        </p:txBody>
      </p:sp>
      <p:sp>
        <p:nvSpPr>
          <p:cNvPr id="412" name="Google Shape;412;p36"/>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cxnSp>
        <p:nvCxnSpPr>
          <p:cNvPr id="413" name="Google Shape;413;p36"/>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414" name="Google Shape;414;p36"/>
          <p:cNvSpPr txBox="1"/>
          <p:nvPr/>
        </p:nvSpPr>
        <p:spPr>
          <a:xfrm>
            <a:off x="609600" y="381000"/>
            <a:ext cx="7848600" cy="560388"/>
          </a:xfrm>
          <a:prstGeom prst="rect">
            <a:avLst/>
          </a:prstGeom>
          <a:solidFill>
            <a:schemeClr val="lt1"/>
          </a:solid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chemeClr val="dk1"/>
                </a:solidFill>
                <a:latin typeface="Arial"/>
                <a:ea typeface="Arial"/>
                <a:cs typeface="Arial"/>
                <a:sym typeface="Arial"/>
              </a:rPr>
              <a:t>Predetermined Overhead Rate</a:t>
            </a:r>
            <a:endParaRPr b="1" i="0" sz="3200">
              <a:solidFill>
                <a:schemeClr val="dk1"/>
              </a:solidFill>
              <a:latin typeface="Arial"/>
              <a:ea typeface="Arial"/>
              <a:cs typeface="Arial"/>
              <a:sym typeface="Arial"/>
            </a:endParaRPr>
          </a:p>
        </p:txBody>
      </p:sp>
      <p:sp>
        <p:nvSpPr>
          <p:cNvPr id="415" name="Google Shape;415;p36"/>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7"/>
          <p:cNvSpPr/>
          <p:nvPr/>
        </p:nvSpPr>
        <p:spPr>
          <a:xfrm>
            <a:off x="609600" y="1371600"/>
            <a:ext cx="7696200" cy="3048000"/>
          </a:xfrm>
          <a:prstGeom prst="rect">
            <a:avLst/>
          </a:prstGeom>
          <a:noFill/>
          <a:ln>
            <a:noFill/>
          </a:ln>
        </p:spPr>
        <p:txBody>
          <a:bodyPr anchorCtr="0" anchor="t" bIns="45700" lIns="91425" spcFirstLastPara="1" rIns="91425" wrap="square" tIns="45700">
            <a:noAutofit/>
          </a:bodyPr>
          <a:lstStyle/>
          <a:p>
            <a:pPr indent="-457200" lvl="1" marL="685800" marR="0" rtl="0" algn="l">
              <a:lnSpc>
                <a:spcPct val="125000"/>
              </a:lnSpc>
              <a:spcBef>
                <a:spcPts val="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Established at the beginning of the year.</a:t>
            </a:r>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Small companies often use a single, company-wide predetermined rate.</a:t>
            </a:r>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Large companies often use a different rate for each department and each department may have a different activity base.</a:t>
            </a:r>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Formula for computing the predetermined rate overhead rate is:</a:t>
            </a:r>
            <a:endParaRPr b="0" i="0" sz="2200" u="none" cap="none" strike="noStrike">
              <a:solidFill>
                <a:schemeClr val="dk1"/>
              </a:solidFill>
              <a:latin typeface="Arial"/>
              <a:ea typeface="Arial"/>
              <a:cs typeface="Arial"/>
              <a:sym typeface="Arial"/>
            </a:endParaRPr>
          </a:p>
        </p:txBody>
      </p:sp>
      <p:pic>
        <p:nvPicPr>
          <p:cNvPr id="421" name="Google Shape;421;p37"/>
          <p:cNvPicPr preferRelativeResize="0"/>
          <p:nvPr/>
        </p:nvPicPr>
        <p:blipFill rotWithShape="1">
          <a:blip r:embed="rId3">
            <a:alphaModFix/>
          </a:blip>
          <a:srcRect b="0" l="0" r="0" t="0"/>
          <a:stretch/>
        </p:blipFill>
        <p:spPr>
          <a:xfrm>
            <a:off x="304800" y="5418138"/>
            <a:ext cx="8534400" cy="677862"/>
          </a:xfrm>
          <a:prstGeom prst="rect">
            <a:avLst/>
          </a:prstGeom>
          <a:noFill/>
          <a:ln cap="sq" cmpd="sng" w="19050">
            <a:solidFill>
              <a:schemeClr val="dk1"/>
            </a:solidFill>
            <a:prstDash val="solid"/>
            <a:miter lim="800000"/>
            <a:headEnd len="sm" w="sm" type="none"/>
            <a:tailEnd len="sm" w="sm" type="none"/>
          </a:ln>
        </p:spPr>
      </p:pic>
      <p:cxnSp>
        <p:nvCxnSpPr>
          <p:cNvPr id="422" name="Google Shape;422;p37"/>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423" name="Google Shape;423;p37"/>
          <p:cNvSpPr txBox="1"/>
          <p:nvPr/>
        </p:nvSpPr>
        <p:spPr>
          <a:xfrm>
            <a:off x="609600" y="381000"/>
            <a:ext cx="7848600" cy="560388"/>
          </a:xfrm>
          <a:prstGeom prst="rect">
            <a:avLst/>
          </a:prstGeom>
          <a:solidFill>
            <a:schemeClr val="lt1"/>
          </a:solid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chemeClr val="dk1"/>
                </a:solidFill>
                <a:latin typeface="Arial"/>
                <a:ea typeface="Arial"/>
                <a:cs typeface="Arial"/>
                <a:sym typeface="Arial"/>
              </a:rPr>
              <a:t>Predetermined Overhead Rate</a:t>
            </a:r>
            <a:endParaRPr b="1" i="0" sz="3200">
              <a:solidFill>
                <a:schemeClr val="dk1"/>
              </a:solidFill>
              <a:latin typeface="Arial"/>
              <a:ea typeface="Arial"/>
              <a:cs typeface="Arial"/>
              <a:sym typeface="Arial"/>
            </a:endParaRPr>
          </a:p>
        </p:txBody>
      </p:sp>
      <p:sp>
        <p:nvSpPr>
          <p:cNvPr id="424" name="Google Shape;424;p37"/>
          <p:cNvSpPr/>
          <p:nvPr/>
        </p:nvSpPr>
        <p:spPr>
          <a:xfrm>
            <a:off x="7391400" y="5057001"/>
            <a:ext cx="1524000" cy="27699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Arial"/>
                <a:ea typeface="Arial"/>
                <a:cs typeface="Arial"/>
                <a:sym typeface="Arial"/>
              </a:rPr>
              <a:t>Illustration 20-9</a:t>
            </a:r>
            <a:endParaRPr b="1" sz="1200">
              <a:solidFill>
                <a:schemeClr val="dk1"/>
              </a:solidFill>
              <a:latin typeface="Arial"/>
              <a:ea typeface="Arial"/>
              <a:cs typeface="Arial"/>
              <a:sym typeface="Arial"/>
            </a:endParaRPr>
          </a:p>
        </p:txBody>
      </p:sp>
      <p:sp>
        <p:nvSpPr>
          <p:cNvPr id="425" name="Google Shape;425;p37"/>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8"/>
          <p:cNvSpPr/>
          <p:nvPr/>
        </p:nvSpPr>
        <p:spPr>
          <a:xfrm>
            <a:off x="609600" y="1371600"/>
            <a:ext cx="8077200" cy="13716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chemeClr val="dk1"/>
              </a:buClr>
              <a:buSzPts val="1760"/>
              <a:buFont typeface="Comic Sans MS"/>
              <a:buNone/>
            </a:pPr>
            <a:r>
              <a:rPr b="1" lang="en-US" sz="2200">
                <a:solidFill>
                  <a:schemeClr val="dk1"/>
                </a:solidFill>
                <a:latin typeface="Arial"/>
                <a:ea typeface="Arial"/>
                <a:cs typeface="Arial"/>
                <a:sym typeface="Arial"/>
              </a:rPr>
              <a:t>Manufacturing overhead costs are assigned to Work in Process</a:t>
            </a:r>
            <a:r>
              <a:rPr lang="en-US" sz="2200">
                <a:solidFill>
                  <a:schemeClr val="dk1"/>
                </a:solidFill>
                <a:latin typeface="Arial"/>
                <a:ea typeface="Arial"/>
                <a:cs typeface="Arial"/>
                <a:sym typeface="Arial"/>
              </a:rPr>
              <a:t> during the period to get timely information about the cost of a completed job.</a:t>
            </a:r>
            <a:endParaRPr/>
          </a:p>
        </p:txBody>
      </p:sp>
      <p:sp>
        <p:nvSpPr>
          <p:cNvPr id="431" name="Google Shape;431;p38"/>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cxnSp>
        <p:nvCxnSpPr>
          <p:cNvPr id="432" name="Google Shape;432;p38"/>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433" name="Google Shape;433;p38"/>
          <p:cNvSpPr txBox="1"/>
          <p:nvPr/>
        </p:nvSpPr>
        <p:spPr>
          <a:xfrm>
            <a:off x="609600" y="381000"/>
            <a:ext cx="7848600" cy="560388"/>
          </a:xfrm>
          <a:prstGeom prst="rect">
            <a:avLst/>
          </a:prstGeom>
          <a:solidFill>
            <a:schemeClr val="lt1"/>
          </a:solid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chemeClr val="dk1"/>
                </a:solidFill>
                <a:latin typeface="Arial"/>
                <a:ea typeface="Arial"/>
                <a:cs typeface="Arial"/>
                <a:sym typeface="Arial"/>
              </a:rPr>
              <a:t>Predetermined Overhead Rate</a:t>
            </a:r>
            <a:endParaRPr b="1" i="0" sz="3200">
              <a:solidFill>
                <a:schemeClr val="dk1"/>
              </a:solidFill>
              <a:latin typeface="Arial"/>
              <a:ea typeface="Arial"/>
              <a:cs typeface="Arial"/>
              <a:sym typeface="Arial"/>
            </a:endParaRPr>
          </a:p>
        </p:txBody>
      </p:sp>
      <p:pic>
        <p:nvPicPr>
          <p:cNvPr id="434" name="Google Shape;434;p38"/>
          <p:cNvPicPr preferRelativeResize="0"/>
          <p:nvPr/>
        </p:nvPicPr>
        <p:blipFill rotWithShape="1">
          <a:blip r:embed="rId3">
            <a:alphaModFix/>
          </a:blip>
          <a:srcRect b="0" l="0" r="0" t="0"/>
          <a:stretch/>
        </p:blipFill>
        <p:spPr>
          <a:xfrm>
            <a:off x="533400" y="2895600"/>
            <a:ext cx="8181975" cy="2935725"/>
          </a:xfrm>
          <a:prstGeom prst="rect">
            <a:avLst/>
          </a:prstGeom>
          <a:noFill/>
          <a:ln>
            <a:noFill/>
          </a:ln>
        </p:spPr>
      </p:pic>
      <p:sp>
        <p:nvSpPr>
          <p:cNvPr id="435" name="Google Shape;435;p38"/>
          <p:cNvSpPr/>
          <p:nvPr/>
        </p:nvSpPr>
        <p:spPr>
          <a:xfrm>
            <a:off x="685800" y="5486400"/>
            <a:ext cx="1600200"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20-10</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Using predetermined overhead rates</a:t>
            </a:r>
            <a:endParaRPr sz="1200">
              <a:solidFill>
                <a:schemeClr val="dk1"/>
              </a:solidFill>
              <a:latin typeface="Arial"/>
              <a:ea typeface="Arial"/>
              <a:cs typeface="Arial"/>
              <a:sym typeface="Arial"/>
            </a:endParaRPr>
          </a:p>
        </p:txBody>
      </p:sp>
      <p:sp>
        <p:nvSpPr>
          <p:cNvPr id="436" name="Google Shape;436;p38"/>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9"/>
          <p:cNvSpPr/>
          <p:nvPr/>
        </p:nvSpPr>
        <p:spPr>
          <a:xfrm>
            <a:off x="2819400" y="4687872"/>
            <a:ext cx="5715000" cy="1255728"/>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This means that for every dollar of direct labor, Wallace will assign  _________  of manufacturing overhead to a job.</a:t>
            </a:r>
            <a:endParaRPr/>
          </a:p>
        </p:txBody>
      </p:sp>
      <p:sp>
        <p:nvSpPr>
          <p:cNvPr id="442" name="Google Shape;442;p39"/>
          <p:cNvSpPr/>
          <p:nvPr/>
        </p:nvSpPr>
        <p:spPr>
          <a:xfrm>
            <a:off x="609600" y="1371600"/>
            <a:ext cx="8153400" cy="162877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100">
                <a:solidFill>
                  <a:schemeClr val="dk1"/>
                </a:solidFill>
                <a:latin typeface="Arial"/>
                <a:ea typeface="Arial"/>
                <a:cs typeface="Arial"/>
                <a:sym typeface="Arial"/>
              </a:rPr>
              <a:t>Illustration:</a:t>
            </a:r>
            <a:r>
              <a:rPr lang="en-US" sz="2100">
                <a:solidFill>
                  <a:schemeClr val="dk1"/>
                </a:solidFill>
                <a:latin typeface="Arial"/>
                <a:ea typeface="Arial"/>
                <a:cs typeface="Arial"/>
                <a:sym typeface="Arial"/>
              </a:rPr>
              <a:t>  Wallace Company uses direct labor cost as the activity base. Assuming that the company expects annual overhead costs to be $280,000 and direct labor costs for the year to be $350,000, </a:t>
            </a:r>
            <a:r>
              <a:rPr b="1" lang="en-US" sz="2100">
                <a:solidFill>
                  <a:schemeClr val="dk1"/>
                </a:solidFill>
                <a:latin typeface="Arial"/>
                <a:ea typeface="Arial"/>
                <a:cs typeface="Arial"/>
                <a:sym typeface="Arial"/>
              </a:rPr>
              <a:t>compute the overhead rate</a:t>
            </a:r>
            <a:r>
              <a:rPr lang="en-US" sz="2100">
                <a:solidFill>
                  <a:schemeClr val="dk1"/>
                </a:solidFill>
                <a:latin typeface="Arial"/>
                <a:ea typeface="Arial"/>
                <a:cs typeface="Arial"/>
                <a:sym typeface="Arial"/>
              </a:rPr>
              <a:t>.</a:t>
            </a:r>
            <a:endParaRPr/>
          </a:p>
        </p:txBody>
      </p:sp>
      <p:sp>
        <p:nvSpPr>
          <p:cNvPr id="443" name="Google Shape;443;p39"/>
          <p:cNvSpPr/>
          <p:nvPr/>
        </p:nvSpPr>
        <p:spPr>
          <a:xfrm>
            <a:off x="5181600" y="5049822"/>
            <a:ext cx="1535373" cy="476250"/>
          </a:xfrm>
          <a:prstGeom prst="rect">
            <a:avLst/>
          </a:prstGeom>
          <a:noFill/>
          <a:ln>
            <a:noFill/>
          </a:ln>
        </p:spPr>
        <p:txBody>
          <a:bodyPr anchorCtr="0" anchor="t" bIns="45700" lIns="91425" spcFirstLastPara="1" rIns="91425" wrap="square" tIns="45700">
            <a:spAutoFit/>
          </a:bodyPr>
          <a:lstStyle/>
          <a:p>
            <a:pPr indent="0" lvl="0" marL="0" marR="0" rtl="0" algn="ctr">
              <a:lnSpc>
                <a:spcPct val="120000"/>
              </a:lnSpc>
              <a:spcBef>
                <a:spcPts val="0"/>
              </a:spcBef>
              <a:spcAft>
                <a:spcPts val="0"/>
              </a:spcAft>
              <a:buNone/>
            </a:pPr>
            <a:r>
              <a:rPr b="1" lang="en-US" sz="2100">
                <a:solidFill>
                  <a:srgbClr val="800000"/>
                </a:solidFill>
                <a:latin typeface="Arial"/>
                <a:ea typeface="Arial"/>
                <a:cs typeface="Arial"/>
                <a:sym typeface="Arial"/>
              </a:rPr>
              <a:t>80 cents   </a:t>
            </a:r>
            <a:endParaRPr b="1" sz="2100">
              <a:solidFill>
                <a:srgbClr val="800000"/>
              </a:solidFill>
              <a:latin typeface="Arial"/>
              <a:ea typeface="Arial"/>
              <a:cs typeface="Arial"/>
              <a:sym typeface="Arial"/>
            </a:endParaRPr>
          </a:p>
        </p:txBody>
      </p:sp>
      <p:cxnSp>
        <p:nvCxnSpPr>
          <p:cNvPr id="444" name="Google Shape;444;p39"/>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445" name="Google Shape;445;p39"/>
          <p:cNvSpPr txBox="1"/>
          <p:nvPr/>
        </p:nvSpPr>
        <p:spPr>
          <a:xfrm>
            <a:off x="609600" y="381000"/>
            <a:ext cx="7848600" cy="560388"/>
          </a:xfrm>
          <a:prstGeom prst="rect">
            <a:avLst/>
          </a:prstGeom>
          <a:solidFill>
            <a:schemeClr val="lt1"/>
          </a:solid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chemeClr val="dk1"/>
                </a:solidFill>
                <a:latin typeface="Arial"/>
                <a:ea typeface="Arial"/>
                <a:cs typeface="Arial"/>
                <a:sym typeface="Arial"/>
              </a:rPr>
              <a:t>Predetermined Overhead Rate</a:t>
            </a:r>
            <a:endParaRPr b="1" i="0" sz="3200">
              <a:solidFill>
                <a:schemeClr val="dk1"/>
              </a:solidFill>
              <a:latin typeface="Arial"/>
              <a:ea typeface="Arial"/>
              <a:cs typeface="Arial"/>
              <a:sym typeface="Arial"/>
            </a:endParaRPr>
          </a:p>
        </p:txBody>
      </p:sp>
      <p:pic>
        <p:nvPicPr>
          <p:cNvPr id="446" name="Google Shape;446;p39"/>
          <p:cNvPicPr preferRelativeResize="0"/>
          <p:nvPr/>
        </p:nvPicPr>
        <p:blipFill rotWithShape="1">
          <a:blip r:embed="rId3">
            <a:alphaModFix/>
          </a:blip>
          <a:srcRect b="0" l="0" r="0" t="0"/>
          <a:stretch/>
        </p:blipFill>
        <p:spPr>
          <a:xfrm>
            <a:off x="228600" y="3240483"/>
            <a:ext cx="8686800" cy="1255317"/>
          </a:xfrm>
          <a:prstGeom prst="rect">
            <a:avLst/>
          </a:prstGeom>
          <a:noFill/>
          <a:ln>
            <a:noFill/>
          </a:ln>
        </p:spPr>
      </p:pic>
      <p:sp>
        <p:nvSpPr>
          <p:cNvPr id="447" name="Google Shape;447;p39"/>
          <p:cNvSpPr/>
          <p:nvPr/>
        </p:nvSpPr>
        <p:spPr>
          <a:xfrm>
            <a:off x="609600" y="4078683"/>
            <a:ext cx="2057400" cy="3048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8" name="Google Shape;448;p39"/>
          <p:cNvSpPr/>
          <p:nvPr/>
        </p:nvSpPr>
        <p:spPr>
          <a:xfrm>
            <a:off x="3733800" y="4078683"/>
            <a:ext cx="2057400" cy="3048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9" name="Google Shape;449;p39"/>
          <p:cNvSpPr/>
          <p:nvPr/>
        </p:nvSpPr>
        <p:spPr>
          <a:xfrm>
            <a:off x="6629400" y="4078683"/>
            <a:ext cx="2057400" cy="3048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50" name="Google Shape;450;p39"/>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
        <p:nvSpPr>
          <p:cNvPr id="451" name="Google Shape;451;p39"/>
          <p:cNvSpPr/>
          <p:nvPr/>
        </p:nvSpPr>
        <p:spPr>
          <a:xfrm>
            <a:off x="228600" y="4544704"/>
            <a:ext cx="2133600"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20-11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Calculation of predetermined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overhead rate</a:t>
            </a:r>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47"/>
                                        </p:tgtEl>
                                      </p:cBhvr>
                                    </p:animEffect>
                                    <p:set>
                                      <p:cBhvr>
                                        <p:cTn dur="1" fill="hold">
                                          <p:stCondLst>
                                            <p:cond delay="500"/>
                                          </p:stCondLst>
                                        </p:cTn>
                                        <p:tgtEl>
                                          <p:spTgt spid="4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48"/>
                                        </p:tgtEl>
                                      </p:cBhvr>
                                    </p:animEffect>
                                    <p:set>
                                      <p:cBhvr>
                                        <p:cTn dur="1" fill="hold">
                                          <p:stCondLst>
                                            <p:cond delay="500"/>
                                          </p:stCondLst>
                                        </p:cTn>
                                        <p:tgtEl>
                                          <p:spTgt spid="44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49"/>
                                        </p:tgtEl>
                                      </p:cBhvr>
                                    </p:animEffect>
                                    <p:set>
                                      <p:cBhvr>
                                        <p:cTn dur="1" fill="hold">
                                          <p:stCondLst>
                                            <p:cond delay="500"/>
                                          </p:stCondLst>
                                        </p:cTn>
                                        <p:tgtEl>
                                          <p:spTgt spid="4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500"/>
                                        <p:tgtEl>
                                          <p:spTgt spid="4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0"/>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
        <p:nvSpPr>
          <p:cNvPr id="457" name="Google Shape;457;p40"/>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458" name="Google Shape;458;p40"/>
          <p:cNvSpPr/>
          <p:nvPr/>
        </p:nvSpPr>
        <p:spPr>
          <a:xfrm>
            <a:off x="609600" y="1371600"/>
            <a:ext cx="8153400" cy="12446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100">
                <a:solidFill>
                  <a:schemeClr val="dk1"/>
                </a:solidFill>
                <a:latin typeface="Arial"/>
                <a:ea typeface="Arial"/>
                <a:cs typeface="Arial"/>
                <a:sym typeface="Arial"/>
              </a:rPr>
              <a:t>Illustration:</a:t>
            </a:r>
            <a:r>
              <a:rPr lang="en-US" sz="2100">
                <a:solidFill>
                  <a:schemeClr val="dk1"/>
                </a:solidFill>
                <a:latin typeface="Arial"/>
                <a:ea typeface="Arial"/>
                <a:cs typeface="Arial"/>
                <a:sym typeface="Arial"/>
              </a:rPr>
              <a:t>  Wallace applies manufacturing overhead to work in process when it assigns direct labor costs. Calculate the amount of applied overhead assuming direct labor costs were $28,000.</a:t>
            </a:r>
            <a:endParaRPr/>
          </a:p>
        </p:txBody>
      </p:sp>
      <p:sp>
        <p:nvSpPr>
          <p:cNvPr id="459" name="Google Shape;459;p40"/>
          <p:cNvSpPr txBox="1"/>
          <p:nvPr/>
        </p:nvSpPr>
        <p:spPr>
          <a:xfrm>
            <a:off x="1905000" y="2819400"/>
            <a:ext cx="51054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$28,000  x  80%  =  $22,400</a:t>
            </a:r>
            <a:endParaRPr/>
          </a:p>
        </p:txBody>
      </p:sp>
      <p:sp>
        <p:nvSpPr>
          <p:cNvPr id="460" name="Google Shape;460;p40"/>
          <p:cNvSpPr/>
          <p:nvPr/>
        </p:nvSpPr>
        <p:spPr>
          <a:xfrm>
            <a:off x="609600" y="3505200"/>
            <a:ext cx="7924800" cy="444481"/>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The following entry records this application.</a:t>
            </a:r>
            <a:endParaRPr/>
          </a:p>
        </p:txBody>
      </p:sp>
      <p:sp>
        <p:nvSpPr>
          <p:cNvPr id="461" name="Google Shape;461;p40"/>
          <p:cNvSpPr/>
          <p:nvPr/>
        </p:nvSpPr>
        <p:spPr>
          <a:xfrm>
            <a:off x="609600" y="4124325"/>
            <a:ext cx="7772400" cy="92392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Jan. 31 	Work in Process Inventory 	22,400</a:t>
            </a:r>
            <a:endParaRPr/>
          </a:p>
          <a:p>
            <a:pPr indent="0" lvl="0" marL="0" marR="0" rtl="0" algn="l">
              <a:lnSpc>
                <a:spcPct val="120000"/>
              </a:lnSpc>
              <a:spcBef>
                <a:spcPts val="420"/>
              </a:spcBef>
              <a:spcAft>
                <a:spcPts val="0"/>
              </a:spcAft>
              <a:buNone/>
            </a:pPr>
            <a:r>
              <a:rPr lang="en-US" sz="2100">
                <a:solidFill>
                  <a:schemeClr val="dk1"/>
                </a:solidFill>
                <a:latin typeface="Arial"/>
                <a:ea typeface="Arial"/>
                <a:cs typeface="Arial"/>
                <a:sym typeface="Arial"/>
              </a:rPr>
              <a:t>		Manufacturing Overhead 		22,400</a:t>
            </a:r>
            <a:endParaRPr/>
          </a:p>
        </p:txBody>
      </p:sp>
      <p:cxnSp>
        <p:nvCxnSpPr>
          <p:cNvPr id="462" name="Google Shape;462;p40"/>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463" name="Google Shape;463;p40"/>
          <p:cNvSpPr txBox="1"/>
          <p:nvPr/>
        </p:nvSpPr>
        <p:spPr>
          <a:xfrm>
            <a:off x="609600" y="381000"/>
            <a:ext cx="7848600" cy="560388"/>
          </a:xfrm>
          <a:prstGeom prst="rect">
            <a:avLst/>
          </a:prstGeom>
          <a:solidFill>
            <a:schemeClr val="lt1"/>
          </a:solid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chemeClr val="dk1"/>
                </a:solidFill>
                <a:latin typeface="Arial"/>
                <a:ea typeface="Arial"/>
                <a:cs typeface="Arial"/>
                <a:sym typeface="Arial"/>
              </a:rPr>
              <a:t>Predetermined Overhead Rate</a:t>
            </a:r>
            <a:endParaRPr b="1" i="0" sz="3200">
              <a:solidFill>
                <a:schemeClr val="dk1"/>
              </a:solidFill>
              <a:latin typeface="Arial"/>
              <a:ea typeface="Arial"/>
              <a:cs typeface="Arial"/>
              <a:sym typeface="Arial"/>
            </a:endParaRPr>
          </a:p>
        </p:txBody>
      </p:sp>
      <p:pic>
        <p:nvPicPr>
          <p:cNvPr id="464" name="Google Shape;464;p40"/>
          <p:cNvPicPr preferRelativeResize="0"/>
          <p:nvPr/>
        </p:nvPicPr>
        <p:blipFill rotWithShape="1">
          <a:blip r:embed="rId3">
            <a:alphaModFix/>
          </a:blip>
          <a:srcRect b="0" l="0" r="0" t="0"/>
          <a:stretch/>
        </p:blipFill>
        <p:spPr>
          <a:xfrm>
            <a:off x="800100" y="5334000"/>
            <a:ext cx="7353300" cy="1201707"/>
          </a:xfrm>
          <a:prstGeom prst="rect">
            <a:avLst/>
          </a:prstGeom>
          <a:noFill/>
          <a:ln cap="flat" cmpd="sng" w="19050">
            <a:solidFill>
              <a:schemeClr val="dk1"/>
            </a:solidFill>
            <a:prstDash val="solid"/>
            <a:miter lim="800000"/>
            <a:headEnd len="sm" w="sm" type="none"/>
            <a:tailEnd len="sm" w="sm" type="none"/>
          </a:ln>
        </p:spPr>
      </p:pic>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500"/>
                                        <p:tgtEl>
                                          <p:spTgt spid="4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0" st="0"/>
                                            </p:txEl>
                                          </p:spTgt>
                                        </p:tgtEl>
                                        <p:attrNameLst>
                                          <p:attrName>style.visibility</p:attrName>
                                        </p:attrNameLst>
                                      </p:cBhvr>
                                      <p:to>
                                        <p:strVal val="visible"/>
                                      </p:to>
                                    </p:set>
                                    <p:animEffect filter="fade" transition="in">
                                      <p:cBhvr>
                                        <p:cTn dur="500"/>
                                        <p:tgtEl>
                                          <p:spTgt spid="4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 st="1"/>
                                            </p:txEl>
                                          </p:spTgt>
                                        </p:tgtEl>
                                        <p:attrNameLst>
                                          <p:attrName>style.visibility</p:attrName>
                                        </p:attrNameLst>
                                      </p:cBhvr>
                                      <p:to>
                                        <p:strVal val="visible"/>
                                      </p:to>
                                    </p:set>
                                    <p:animEffect filter="fade" transition="in">
                                      <p:cBhvr>
                                        <p:cTn dur="500"/>
                                        <p:tgtEl>
                                          <p:spTgt spid="461">
                                            <p:txEl>
                                              <p:pRg end="1" st="1"/>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500"/>
                                        <p:tgtEl>
                                          <p:spTgt spid="4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pic>
        <p:nvPicPr>
          <p:cNvPr id="469" name="Google Shape;469;p41"/>
          <p:cNvPicPr preferRelativeResize="0"/>
          <p:nvPr/>
        </p:nvPicPr>
        <p:blipFill rotWithShape="1">
          <a:blip r:embed="rId3">
            <a:alphaModFix/>
          </a:blip>
          <a:srcRect b="0" l="0" r="0" t="0"/>
          <a:stretch/>
        </p:blipFill>
        <p:spPr>
          <a:xfrm>
            <a:off x="2883431" y="1295400"/>
            <a:ext cx="6031969" cy="5360253"/>
          </a:xfrm>
          <a:prstGeom prst="rect">
            <a:avLst/>
          </a:prstGeom>
          <a:noFill/>
          <a:ln>
            <a:noFill/>
          </a:ln>
        </p:spPr>
      </p:pic>
      <p:sp>
        <p:nvSpPr>
          <p:cNvPr id="470" name="Google Shape;470;p41"/>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471" name="Google Shape;471;p41"/>
          <p:cNvSpPr txBox="1"/>
          <p:nvPr/>
        </p:nvSpPr>
        <p:spPr>
          <a:xfrm>
            <a:off x="304800" y="1344613"/>
            <a:ext cx="2438400" cy="3816429"/>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2000">
                <a:solidFill>
                  <a:schemeClr val="dk1"/>
                </a:solidFill>
                <a:latin typeface="Arial"/>
                <a:ea typeface="Arial"/>
                <a:cs typeface="Arial"/>
                <a:sym typeface="Arial"/>
              </a:rPr>
              <a:t>The sum of the </a:t>
            </a:r>
            <a:r>
              <a:rPr b="1" lang="en-US" sz="2000">
                <a:solidFill>
                  <a:schemeClr val="dk1"/>
                </a:solidFill>
                <a:latin typeface="Arial"/>
                <a:ea typeface="Arial"/>
                <a:cs typeface="Arial"/>
                <a:sym typeface="Arial"/>
              </a:rPr>
              <a:t>manufacturing overhead </a:t>
            </a:r>
            <a:r>
              <a:rPr lang="en-US" sz="2000">
                <a:solidFill>
                  <a:schemeClr val="dk1"/>
                </a:solidFill>
                <a:latin typeface="Arial"/>
                <a:ea typeface="Arial"/>
                <a:cs typeface="Arial"/>
                <a:sym typeface="Arial"/>
              </a:rPr>
              <a:t>columns of the job cost sheets should equal the manufacturing overhead debited  (i.e., applied) to Work in Process Inventory.</a:t>
            </a:r>
            <a:endParaRPr/>
          </a:p>
        </p:txBody>
      </p:sp>
      <p:cxnSp>
        <p:nvCxnSpPr>
          <p:cNvPr id="472" name="Google Shape;472;p41"/>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473" name="Google Shape;473;p41"/>
          <p:cNvSpPr txBox="1"/>
          <p:nvPr/>
        </p:nvSpPr>
        <p:spPr>
          <a:xfrm>
            <a:off x="609600" y="381000"/>
            <a:ext cx="7848600" cy="560388"/>
          </a:xfrm>
          <a:prstGeom prst="rect">
            <a:avLst/>
          </a:prstGeom>
          <a:solidFill>
            <a:schemeClr val="lt1"/>
          </a:solid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chemeClr val="dk1"/>
                </a:solidFill>
                <a:latin typeface="Arial"/>
                <a:ea typeface="Arial"/>
                <a:cs typeface="Arial"/>
                <a:sym typeface="Arial"/>
              </a:rPr>
              <a:t>Predetermined Overhead Rate</a:t>
            </a:r>
            <a:endParaRPr b="1" i="0" sz="3200">
              <a:solidFill>
                <a:schemeClr val="dk1"/>
              </a:solidFill>
              <a:latin typeface="Arial"/>
              <a:ea typeface="Arial"/>
              <a:cs typeface="Arial"/>
              <a:sym typeface="Arial"/>
            </a:endParaRPr>
          </a:p>
        </p:txBody>
      </p:sp>
      <p:sp>
        <p:nvSpPr>
          <p:cNvPr id="474" name="Google Shape;474;p41"/>
          <p:cNvSpPr/>
          <p:nvPr/>
        </p:nvSpPr>
        <p:spPr>
          <a:xfrm>
            <a:off x="1143000" y="5646003"/>
            <a:ext cx="1459968" cy="83099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20-12</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Job cost sheets–manufacturing</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overhead applied</a:t>
            </a:r>
            <a:endParaRPr/>
          </a:p>
        </p:txBody>
      </p:sp>
    </p:spTree>
  </p:cSld>
  <p:clrMapOvr>
    <a:masterClrMapping/>
  </p:clrMapOvr>
  <p:transition>
    <p:wipe dir="r"/>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2"/>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480" name="Google Shape;480;p42"/>
          <p:cNvSpPr txBox="1"/>
          <p:nvPr/>
        </p:nvSpPr>
        <p:spPr>
          <a:xfrm>
            <a:off x="609600" y="1371600"/>
            <a:ext cx="7848600" cy="1900520"/>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300">
                <a:solidFill>
                  <a:schemeClr val="dk1"/>
                </a:solidFill>
                <a:latin typeface="Arial"/>
                <a:ea typeface="Arial"/>
                <a:cs typeface="Arial"/>
                <a:sym typeface="Arial"/>
              </a:rPr>
              <a:t>At the End of Each Month:</a:t>
            </a:r>
            <a:endParaRPr/>
          </a:p>
          <a:p>
            <a:pPr indent="0" lvl="0" marL="0" marR="0" rtl="0" algn="l">
              <a:lnSpc>
                <a:spcPct val="125000"/>
              </a:lnSpc>
              <a:spcBef>
                <a:spcPts val="1200"/>
              </a:spcBef>
              <a:spcAft>
                <a:spcPts val="0"/>
              </a:spcAft>
              <a:buNone/>
            </a:pPr>
            <a:r>
              <a:rPr lang="en-US" sz="2100">
                <a:solidFill>
                  <a:schemeClr val="dk1"/>
                </a:solidFill>
                <a:latin typeface="Arial"/>
                <a:ea typeface="Arial"/>
                <a:cs typeface="Arial"/>
                <a:sym typeface="Arial"/>
              </a:rPr>
              <a:t>The </a:t>
            </a:r>
            <a:r>
              <a:rPr b="1" lang="en-US" sz="2100">
                <a:solidFill>
                  <a:schemeClr val="dk1"/>
                </a:solidFill>
                <a:latin typeface="Arial"/>
                <a:ea typeface="Arial"/>
                <a:cs typeface="Arial"/>
                <a:sym typeface="Arial"/>
              </a:rPr>
              <a:t>balance in the Work in Process Inventory should equal </a:t>
            </a:r>
            <a:r>
              <a:rPr lang="en-US" sz="2100">
                <a:solidFill>
                  <a:schemeClr val="dk1"/>
                </a:solidFill>
                <a:latin typeface="Arial"/>
                <a:ea typeface="Arial"/>
                <a:cs typeface="Arial"/>
                <a:sym typeface="Arial"/>
              </a:rPr>
              <a:t>the sum of the costs shown on the job cost sheets of unfinished jobs.</a:t>
            </a:r>
            <a:endParaRPr/>
          </a:p>
        </p:txBody>
      </p:sp>
      <p:cxnSp>
        <p:nvCxnSpPr>
          <p:cNvPr id="481" name="Google Shape;481;p42"/>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482" name="Google Shape;482;p42"/>
          <p:cNvSpPr txBox="1"/>
          <p:nvPr/>
        </p:nvSpPr>
        <p:spPr>
          <a:xfrm>
            <a:off x="609600" y="381000"/>
            <a:ext cx="7848600" cy="560388"/>
          </a:xfrm>
          <a:prstGeom prst="rect">
            <a:avLst/>
          </a:prstGeom>
          <a:solidFill>
            <a:schemeClr val="lt1"/>
          </a:solid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chemeClr val="dk1"/>
                </a:solidFill>
                <a:latin typeface="Arial"/>
                <a:ea typeface="Arial"/>
                <a:cs typeface="Arial"/>
                <a:sym typeface="Arial"/>
              </a:rPr>
              <a:t>Predetermined Overhead Rate</a:t>
            </a:r>
            <a:endParaRPr b="1" i="0" sz="3200">
              <a:solidFill>
                <a:schemeClr val="dk1"/>
              </a:solidFill>
              <a:latin typeface="Arial"/>
              <a:ea typeface="Arial"/>
              <a:cs typeface="Arial"/>
              <a:sym typeface="Arial"/>
            </a:endParaRPr>
          </a:p>
        </p:txBody>
      </p:sp>
      <p:pic>
        <p:nvPicPr>
          <p:cNvPr id="483" name="Google Shape;483;p42"/>
          <p:cNvPicPr preferRelativeResize="0"/>
          <p:nvPr/>
        </p:nvPicPr>
        <p:blipFill rotWithShape="1">
          <a:blip r:embed="rId3">
            <a:alphaModFix/>
          </a:blip>
          <a:srcRect b="0" l="0" r="0" t="0"/>
          <a:stretch/>
        </p:blipFill>
        <p:spPr>
          <a:xfrm>
            <a:off x="533400" y="3487066"/>
            <a:ext cx="8181975" cy="1694534"/>
          </a:xfrm>
          <a:prstGeom prst="rect">
            <a:avLst/>
          </a:prstGeom>
          <a:noFill/>
          <a:ln cap="sq" cmpd="sng" w="19050">
            <a:solidFill>
              <a:schemeClr val="dk1"/>
            </a:solidFill>
            <a:prstDash val="solid"/>
            <a:miter lim="800000"/>
            <a:headEnd len="sm" w="sm" type="none"/>
            <a:tailEnd len="sm" w="sm" type="none"/>
          </a:ln>
        </p:spPr>
      </p:pic>
      <p:sp>
        <p:nvSpPr>
          <p:cNvPr id="484" name="Google Shape;484;p42"/>
          <p:cNvSpPr/>
          <p:nvPr/>
        </p:nvSpPr>
        <p:spPr>
          <a:xfrm>
            <a:off x="457200" y="5257800"/>
            <a:ext cx="2057400"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20-13</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Proof of job cost sheets to</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work in process inventory</a:t>
            </a:r>
            <a:endParaRPr/>
          </a:p>
        </p:txBody>
      </p:sp>
      <p:sp>
        <p:nvSpPr>
          <p:cNvPr id="485" name="Google Shape;485;p42"/>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3"/>
          <p:cNvSpPr/>
          <p:nvPr/>
        </p:nvSpPr>
        <p:spPr>
          <a:xfrm>
            <a:off x="609600" y="1371600"/>
            <a:ext cx="8153400" cy="3139321"/>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Stanley Company produces specialized safety devices. For the year, manufacturing overhead costs are expected to be $160,000. Expected machine usage is 40,000 hours. The company assigns overhead based on machine hours. Job No. 302 used 2,000 machine hours. </a:t>
            </a:r>
            <a:r>
              <a:rPr b="1" lang="en-US" sz="2200">
                <a:solidFill>
                  <a:schemeClr val="dk1"/>
                </a:solidFill>
                <a:latin typeface="Arial"/>
                <a:ea typeface="Arial"/>
                <a:cs typeface="Arial"/>
                <a:sym typeface="Arial"/>
              </a:rPr>
              <a:t>Compute the predetermined overhead rate.</a:t>
            </a:r>
            <a:endParaRPr b="1" sz="2200">
              <a:solidFill>
                <a:srgbClr val="730000"/>
              </a:solidFill>
              <a:latin typeface="Arial"/>
              <a:ea typeface="Arial"/>
              <a:cs typeface="Arial"/>
              <a:sym typeface="Arial"/>
            </a:endParaRPr>
          </a:p>
          <a:p>
            <a:pPr indent="0" lvl="0" marL="0" marR="0" rtl="0" algn="l">
              <a:lnSpc>
                <a:spcPct val="120000"/>
              </a:lnSpc>
              <a:spcBef>
                <a:spcPts val="1320"/>
              </a:spcBef>
              <a:spcAft>
                <a:spcPts val="0"/>
              </a:spcAft>
              <a:buNone/>
            </a:pPr>
            <a:r>
              <a:rPr b="1" lang="en-US" sz="2200">
                <a:solidFill>
                  <a:srgbClr val="FF0000"/>
                </a:solidFill>
                <a:latin typeface="Arial"/>
                <a:ea typeface="Arial"/>
                <a:cs typeface="Arial"/>
                <a:sym typeface="Arial"/>
              </a:rPr>
              <a:t>Solution</a:t>
            </a:r>
            <a:endParaRPr b="1" sz="2200">
              <a:solidFill>
                <a:srgbClr val="FF0000"/>
              </a:solidFill>
              <a:latin typeface="Arial"/>
              <a:ea typeface="Arial"/>
              <a:cs typeface="Arial"/>
              <a:sym typeface="Arial"/>
            </a:endParaRPr>
          </a:p>
        </p:txBody>
      </p:sp>
      <p:sp>
        <p:nvSpPr>
          <p:cNvPr id="491" name="Google Shape;491;p43"/>
          <p:cNvSpPr/>
          <p:nvPr/>
        </p:nvSpPr>
        <p:spPr>
          <a:xfrm>
            <a:off x="609600" y="4576971"/>
            <a:ext cx="8077200" cy="494751"/>
          </a:xfrm>
          <a:prstGeom prst="rect">
            <a:avLst/>
          </a:prstGeom>
          <a:noFill/>
          <a:ln>
            <a:noFill/>
          </a:ln>
        </p:spPr>
        <p:txBody>
          <a:bodyPr anchorCtr="0" anchor="t" bIns="45700" lIns="91425" spcFirstLastPara="1" rIns="91425" wrap="square" tIns="45700">
            <a:spAutoFit/>
          </a:bodyPr>
          <a:lstStyle/>
          <a:p>
            <a:pPr indent="0" lvl="0" marL="0" marR="0" rtl="0" algn="ctr">
              <a:lnSpc>
                <a:spcPct val="120000"/>
              </a:lnSpc>
              <a:spcBef>
                <a:spcPts val="0"/>
              </a:spcBef>
              <a:spcAft>
                <a:spcPts val="0"/>
              </a:spcAft>
              <a:buNone/>
            </a:pPr>
            <a:r>
              <a:rPr b="1" lang="en-US" sz="2400">
                <a:solidFill>
                  <a:schemeClr val="dk1"/>
                </a:solidFill>
                <a:latin typeface="Arial"/>
                <a:ea typeface="Arial"/>
                <a:cs typeface="Arial"/>
                <a:sym typeface="Arial"/>
              </a:rPr>
              <a:t>$160,000 ÷ 40,000 hours = $4.00 per machine hour</a:t>
            </a:r>
            <a:endParaRPr b="1" sz="2400">
              <a:solidFill>
                <a:schemeClr val="dk1"/>
              </a:solidFill>
              <a:latin typeface="Arial"/>
              <a:ea typeface="Arial"/>
              <a:cs typeface="Arial"/>
              <a:sym typeface="Arial"/>
            </a:endParaRPr>
          </a:p>
        </p:txBody>
      </p:sp>
      <p:sp>
        <p:nvSpPr>
          <p:cNvPr id="492" name="Google Shape;492;p43"/>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
        <p:nvSpPr>
          <p:cNvPr id="493" name="Google Shape;493;p43"/>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494" name="Google Shape;494;p43"/>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53975" marR="0" rtl="0" algn="l">
              <a:spcBef>
                <a:spcPts val="0"/>
              </a:spcBef>
              <a:spcAft>
                <a:spcPts val="0"/>
              </a:spcAft>
              <a:buNone/>
            </a:pPr>
            <a:r>
              <a:rPr b="1" lang="en-US" sz="2800">
                <a:solidFill>
                  <a:schemeClr val="lt1"/>
                </a:solidFill>
                <a:latin typeface="Arial"/>
                <a:ea typeface="Arial"/>
                <a:cs typeface="Arial"/>
                <a:sym typeface="Arial"/>
              </a:rPr>
              <a:t>Predetermined Overhead Rate</a:t>
            </a:r>
            <a:endParaRPr b="1" i="0" sz="2800">
              <a:solidFill>
                <a:schemeClr val="lt1"/>
              </a:solidFill>
              <a:latin typeface="Arial"/>
              <a:ea typeface="Arial"/>
              <a:cs typeface="Arial"/>
              <a:sym typeface="Arial"/>
            </a:endParaRPr>
          </a:p>
        </p:txBody>
      </p:sp>
      <p:sp>
        <p:nvSpPr>
          <p:cNvPr id="495" name="Google Shape;495;p43"/>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0" spcFirstLastPara="1" rIns="0" wrap="square" tIns="18275">
            <a:noAutofit/>
          </a:bodyPr>
          <a:lstStyle/>
          <a:p>
            <a:pPr indent="0" lvl="0" marL="0" marR="0" rtl="0" algn="ctr">
              <a:spcBef>
                <a:spcPts val="0"/>
              </a:spcBef>
              <a:spcAft>
                <a:spcPts val="0"/>
              </a:spcAft>
              <a:buNone/>
            </a:pPr>
            <a:r>
              <a:rPr b="1" lang="en-US" sz="4000">
                <a:solidFill>
                  <a:srgbClr val="FF0000"/>
                </a:solidFill>
                <a:latin typeface="Arial"/>
                <a:ea typeface="Arial"/>
                <a:cs typeface="Arial"/>
                <a:sym typeface="Arial"/>
              </a:rPr>
              <a:t>3</a:t>
            </a:r>
            <a:endParaRPr b="1" sz="4000">
              <a:solidFill>
                <a:srgbClr val="FF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
                                            <p:txEl>
                                              <p:pRg end="0" st="0"/>
                                            </p:txEl>
                                          </p:spTgt>
                                        </p:tgtEl>
                                        <p:attrNameLst>
                                          <p:attrName>style.visibility</p:attrName>
                                        </p:attrNameLst>
                                      </p:cBhvr>
                                      <p:to>
                                        <p:strVal val="visible"/>
                                      </p:to>
                                    </p:set>
                                    <p:animEffect filter="fade" transition="in">
                                      <p:cBhvr>
                                        <p:cTn dur="500"/>
                                        <p:tgtEl>
                                          <p:spTgt spid="49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4"/>
          <p:cNvSpPr/>
          <p:nvPr/>
        </p:nvSpPr>
        <p:spPr>
          <a:xfrm>
            <a:off x="609600" y="1371600"/>
            <a:ext cx="8153400" cy="3139321"/>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Stanley Company produces specialized safety devices. For the year, manufacturing overhead costs are expected to be $160,000. Expected machine usage is 40,000 hours. The company assigns overhead based on machine hours. Job No. 302 used 2,000 machine hours. </a:t>
            </a:r>
            <a:r>
              <a:rPr b="1" lang="en-US" sz="2200">
                <a:solidFill>
                  <a:schemeClr val="dk1"/>
                </a:solidFill>
                <a:latin typeface="Arial"/>
                <a:ea typeface="Arial"/>
                <a:cs typeface="Arial"/>
                <a:sym typeface="Arial"/>
              </a:rPr>
              <a:t>Determine the amount of overhead to allocate to Job No. 302.</a:t>
            </a:r>
            <a:endParaRPr/>
          </a:p>
          <a:p>
            <a:pPr indent="0" lvl="0" marL="0" marR="0" rtl="0" algn="l">
              <a:lnSpc>
                <a:spcPct val="120000"/>
              </a:lnSpc>
              <a:spcBef>
                <a:spcPts val="1320"/>
              </a:spcBef>
              <a:spcAft>
                <a:spcPts val="0"/>
              </a:spcAft>
              <a:buNone/>
            </a:pPr>
            <a:r>
              <a:rPr b="1" lang="en-US" sz="2200">
                <a:solidFill>
                  <a:srgbClr val="FF0000"/>
                </a:solidFill>
                <a:latin typeface="Arial"/>
                <a:ea typeface="Arial"/>
                <a:cs typeface="Arial"/>
                <a:sym typeface="Arial"/>
              </a:rPr>
              <a:t>Solution</a:t>
            </a:r>
            <a:endParaRPr b="1" sz="2200">
              <a:solidFill>
                <a:srgbClr val="FF0000"/>
              </a:solidFill>
              <a:latin typeface="Arial"/>
              <a:ea typeface="Arial"/>
              <a:cs typeface="Arial"/>
              <a:sym typeface="Arial"/>
            </a:endParaRPr>
          </a:p>
        </p:txBody>
      </p:sp>
      <p:sp>
        <p:nvSpPr>
          <p:cNvPr id="501" name="Google Shape;501;p44"/>
          <p:cNvSpPr/>
          <p:nvPr/>
        </p:nvSpPr>
        <p:spPr>
          <a:xfrm>
            <a:off x="609600" y="4542979"/>
            <a:ext cx="8077200" cy="494751"/>
          </a:xfrm>
          <a:prstGeom prst="rect">
            <a:avLst/>
          </a:prstGeom>
          <a:noFill/>
          <a:ln>
            <a:noFill/>
          </a:ln>
        </p:spPr>
        <p:txBody>
          <a:bodyPr anchorCtr="0" anchor="t" bIns="45700" lIns="91425" spcFirstLastPara="1" rIns="91425" wrap="square" tIns="45700">
            <a:spAutoFit/>
          </a:bodyPr>
          <a:lstStyle/>
          <a:p>
            <a:pPr indent="0" lvl="0" marL="0" marR="0" rtl="0" algn="ctr">
              <a:lnSpc>
                <a:spcPct val="120000"/>
              </a:lnSpc>
              <a:spcBef>
                <a:spcPts val="0"/>
              </a:spcBef>
              <a:spcAft>
                <a:spcPts val="0"/>
              </a:spcAft>
              <a:buNone/>
            </a:pPr>
            <a:r>
              <a:rPr b="1" lang="en-US" sz="2400">
                <a:solidFill>
                  <a:schemeClr val="dk1"/>
                </a:solidFill>
                <a:latin typeface="Arial"/>
                <a:ea typeface="Arial"/>
                <a:cs typeface="Arial"/>
                <a:sym typeface="Arial"/>
              </a:rPr>
              <a:t>2,000 hours x $4.00 = $8,000</a:t>
            </a:r>
            <a:endParaRPr/>
          </a:p>
        </p:txBody>
      </p:sp>
      <p:sp>
        <p:nvSpPr>
          <p:cNvPr id="502" name="Google Shape;502;p44"/>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
        <p:nvSpPr>
          <p:cNvPr id="503" name="Google Shape;503;p44"/>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504" name="Google Shape;504;p44"/>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53975" marR="0" rtl="0" algn="l">
              <a:spcBef>
                <a:spcPts val="0"/>
              </a:spcBef>
              <a:spcAft>
                <a:spcPts val="0"/>
              </a:spcAft>
              <a:buNone/>
            </a:pPr>
            <a:r>
              <a:rPr b="1" lang="en-US" sz="2800">
                <a:solidFill>
                  <a:schemeClr val="lt1"/>
                </a:solidFill>
                <a:latin typeface="Arial"/>
                <a:ea typeface="Arial"/>
                <a:cs typeface="Arial"/>
                <a:sym typeface="Arial"/>
              </a:rPr>
              <a:t>Predetermined Overhead Rate</a:t>
            </a:r>
            <a:endParaRPr b="1" i="0" sz="2800">
              <a:solidFill>
                <a:schemeClr val="lt1"/>
              </a:solidFill>
              <a:latin typeface="Arial"/>
              <a:ea typeface="Arial"/>
              <a:cs typeface="Arial"/>
              <a:sym typeface="Arial"/>
            </a:endParaRPr>
          </a:p>
        </p:txBody>
      </p:sp>
      <p:sp>
        <p:nvSpPr>
          <p:cNvPr id="505" name="Google Shape;505;p44"/>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0" spcFirstLastPara="1" rIns="0" wrap="square" tIns="18275">
            <a:noAutofit/>
          </a:bodyPr>
          <a:lstStyle/>
          <a:p>
            <a:pPr indent="0" lvl="0" marL="0" marR="0" rtl="0" algn="ctr">
              <a:spcBef>
                <a:spcPts val="0"/>
              </a:spcBef>
              <a:spcAft>
                <a:spcPts val="0"/>
              </a:spcAft>
              <a:buNone/>
            </a:pPr>
            <a:r>
              <a:rPr b="1" lang="en-US" sz="4000">
                <a:solidFill>
                  <a:srgbClr val="FF0000"/>
                </a:solidFill>
                <a:latin typeface="Arial"/>
                <a:ea typeface="Arial"/>
                <a:cs typeface="Arial"/>
                <a:sym typeface="Arial"/>
              </a:rPr>
              <a:t>3</a:t>
            </a:r>
            <a:endParaRPr b="1" sz="4000">
              <a:solidFill>
                <a:srgbClr val="FF0000"/>
              </a:solidFill>
              <a:latin typeface="Arial"/>
              <a:ea typeface="Arial"/>
              <a:cs typeface="Arial"/>
              <a:sym typeface="Arial"/>
            </a:endParaRPr>
          </a:p>
        </p:txBody>
      </p:sp>
    </p:spTree>
  </p:cSld>
  <p:clrMapOvr>
    <a:masterClrMapping/>
  </p:clrMapOvr>
  <p:transition>
    <p:wipe dir="r"/>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5"/>
          <p:cNvSpPr/>
          <p:nvPr/>
        </p:nvSpPr>
        <p:spPr>
          <a:xfrm>
            <a:off x="609600" y="4562475"/>
            <a:ext cx="7772400" cy="1052596"/>
          </a:xfrm>
          <a:prstGeom prst="rect">
            <a:avLst/>
          </a:prstGeom>
          <a:noFill/>
          <a:ln>
            <a:noFill/>
          </a:ln>
        </p:spPr>
        <p:txBody>
          <a:bodyPr anchorCtr="0" anchor="t" bIns="45700" lIns="91425" spcFirstLastPara="1" rIns="91425" wrap="square" tIns="45700">
            <a:spAutoFit/>
          </a:bodyPr>
          <a:lstStyle/>
          <a:p>
            <a:pPr indent="-450850" lvl="0" marL="914400" marR="0" rtl="0" algn="l">
              <a:lnSpc>
                <a:spcPct val="120000"/>
              </a:lnSpc>
              <a:spcBef>
                <a:spcPts val="0"/>
              </a:spcBef>
              <a:spcAft>
                <a:spcPts val="0"/>
              </a:spcAft>
              <a:buNone/>
            </a:pPr>
            <a:r>
              <a:rPr b="1" lang="en-US" sz="2400">
                <a:solidFill>
                  <a:schemeClr val="dk1"/>
                </a:solidFill>
                <a:latin typeface="Arial"/>
                <a:ea typeface="Arial"/>
                <a:cs typeface="Arial"/>
                <a:sym typeface="Arial"/>
              </a:rPr>
              <a:t>Work in Process Inventory 	8,000</a:t>
            </a:r>
            <a:endParaRPr b="1" sz="2400">
              <a:solidFill>
                <a:schemeClr val="dk1"/>
              </a:solidFill>
              <a:latin typeface="Arial"/>
              <a:ea typeface="Arial"/>
              <a:cs typeface="Arial"/>
              <a:sym typeface="Arial"/>
            </a:endParaRPr>
          </a:p>
          <a:p>
            <a:pPr indent="-450850" lvl="0" marL="914400" marR="0" rtl="0" algn="l">
              <a:lnSpc>
                <a:spcPct val="120000"/>
              </a:lnSpc>
              <a:spcBef>
                <a:spcPts val="480"/>
              </a:spcBef>
              <a:spcAft>
                <a:spcPts val="0"/>
              </a:spcAft>
              <a:buNone/>
            </a:pPr>
            <a:r>
              <a:rPr b="1" lang="en-US" sz="2400">
                <a:solidFill>
                  <a:schemeClr val="dk1"/>
                </a:solidFill>
                <a:latin typeface="Arial"/>
                <a:ea typeface="Arial"/>
                <a:cs typeface="Arial"/>
                <a:sym typeface="Arial"/>
              </a:rPr>
              <a:t>	Manufacturing Overhead 		8,000</a:t>
            </a:r>
            <a:endParaRPr b="1" sz="2400">
              <a:solidFill>
                <a:schemeClr val="dk1"/>
              </a:solidFill>
              <a:latin typeface="Arial"/>
              <a:ea typeface="Arial"/>
              <a:cs typeface="Arial"/>
              <a:sym typeface="Arial"/>
            </a:endParaRPr>
          </a:p>
        </p:txBody>
      </p:sp>
      <p:sp>
        <p:nvSpPr>
          <p:cNvPr id="511" name="Google Shape;511;p45"/>
          <p:cNvSpPr/>
          <p:nvPr/>
        </p:nvSpPr>
        <p:spPr>
          <a:xfrm>
            <a:off x="609600" y="1371600"/>
            <a:ext cx="8153400" cy="3139321"/>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Stanley Company produces specialized safety devices. For the year, manufacturing overhead costs are expected to be $160,000. Expected machine usage is 40,000 hours. The company assigns overhead based on machine hours. Job No. 302 used 2,000 machine hours. </a:t>
            </a:r>
            <a:r>
              <a:rPr b="1" lang="en-US" sz="2200">
                <a:solidFill>
                  <a:schemeClr val="dk1"/>
                </a:solidFill>
                <a:latin typeface="Arial"/>
                <a:ea typeface="Arial"/>
                <a:cs typeface="Arial"/>
                <a:sym typeface="Arial"/>
              </a:rPr>
              <a:t>Prepare the entry to assign overhead to Job No. 302 on March 31.</a:t>
            </a:r>
            <a:endParaRPr/>
          </a:p>
          <a:p>
            <a:pPr indent="0" lvl="0" marL="0" marR="0" rtl="0" algn="l">
              <a:lnSpc>
                <a:spcPct val="120000"/>
              </a:lnSpc>
              <a:spcBef>
                <a:spcPts val="1320"/>
              </a:spcBef>
              <a:spcAft>
                <a:spcPts val="0"/>
              </a:spcAft>
              <a:buNone/>
            </a:pPr>
            <a:r>
              <a:rPr b="1" lang="en-US" sz="2200">
                <a:solidFill>
                  <a:srgbClr val="FF0000"/>
                </a:solidFill>
                <a:latin typeface="Arial"/>
                <a:ea typeface="Arial"/>
                <a:cs typeface="Arial"/>
                <a:sym typeface="Arial"/>
              </a:rPr>
              <a:t>Solution</a:t>
            </a:r>
            <a:endParaRPr b="1" sz="2200">
              <a:solidFill>
                <a:srgbClr val="FF0000"/>
              </a:solidFill>
              <a:latin typeface="Arial"/>
              <a:ea typeface="Arial"/>
              <a:cs typeface="Arial"/>
              <a:sym typeface="Arial"/>
            </a:endParaRPr>
          </a:p>
        </p:txBody>
      </p:sp>
      <p:sp>
        <p:nvSpPr>
          <p:cNvPr id="512" name="Google Shape;512;p45"/>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
        <p:nvSpPr>
          <p:cNvPr id="513" name="Google Shape;513;p45"/>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514" name="Google Shape;514;p45"/>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53975" marR="0" rtl="0" algn="l">
              <a:spcBef>
                <a:spcPts val="0"/>
              </a:spcBef>
              <a:spcAft>
                <a:spcPts val="0"/>
              </a:spcAft>
              <a:buNone/>
            </a:pPr>
            <a:r>
              <a:rPr b="1" lang="en-US" sz="2800">
                <a:solidFill>
                  <a:schemeClr val="lt1"/>
                </a:solidFill>
                <a:latin typeface="Arial"/>
                <a:ea typeface="Arial"/>
                <a:cs typeface="Arial"/>
                <a:sym typeface="Arial"/>
              </a:rPr>
              <a:t>Predetermined Overhead Rate</a:t>
            </a:r>
            <a:endParaRPr b="1" i="0" sz="2800">
              <a:solidFill>
                <a:schemeClr val="lt1"/>
              </a:solidFill>
              <a:latin typeface="Arial"/>
              <a:ea typeface="Arial"/>
              <a:cs typeface="Arial"/>
              <a:sym typeface="Arial"/>
            </a:endParaRPr>
          </a:p>
        </p:txBody>
      </p:sp>
      <p:sp>
        <p:nvSpPr>
          <p:cNvPr id="515" name="Google Shape;515;p45"/>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0" spcFirstLastPara="1" rIns="0" wrap="square" tIns="18275">
            <a:noAutofit/>
          </a:bodyPr>
          <a:lstStyle/>
          <a:p>
            <a:pPr indent="0" lvl="0" marL="0" marR="0" rtl="0" algn="ctr">
              <a:spcBef>
                <a:spcPts val="0"/>
              </a:spcBef>
              <a:spcAft>
                <a:spcPts val="0"/>
              </a:spcAft>
              <a:buNone/>
            </a:pPr>
            <a:r>
              <a:rPr b="1" lang="en-US" sz="4000">
                <a:solidFill>
                  <a:srgbClr val="FF0000"/>
                </a:solidFill>
                <a:latin typeface="Arial"/>
                <a:ea typeface="Arial"/>
                <a:cs typeface="Arial"/>
                <a:sym typeface="Arial"/>
              </a:rPr>
              <a:t>3</a:t>
            </a:r>
            <a:endParaRPr b="1" sz="4000">
              <a:solidFill>
                <a:srgbClr val="FF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0" st="0"/>
                                            </p:txEl>
                                          </p:spTgt>
                                        </p:tgtEl>
                                        <p:attrNameLst>
                                          <p:attrName>style.visibility</p:attrName>
                                        </p:attrNameLst>
                                      </p:cBhvr>
                                      <p:to>
                                        <p:strVal val="visible"/>
                                      </p:to>
                                    </p:set>
                                    <p:animEffect filter="fade" transition="in">
                                      <p:cBhvr>
                                        <p:cTn dur="500"/>
                                        <p:tgtEl>
                                          <p:spTgt spid="5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1" st="1"/>
                                            </p:txEl>
                                          </p:spTgt>
                                        </p:tgtEl>
                                        <p:attrNameLst>
                                          <p:attrName>style.visibility</p:attrName>
                                        </p:attrNameLst>
                                      </p:cBhvr>
                                      <p:to>
                                        <p:strVal val="visible"/>
                                      </p:to>
                                    </p:set>
                                    <p:animEffect filter="fade" transition="in">
                                      <p:cBhvr>
                                        <p:cTn dur="500"/>
                                        <p:tgtEl>
                                          <p:spTgt spid="510">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46"/>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521" name="Google Shape;521;p46"/>
          <p:cNvSpPr/>
          <p:nvPr/>
        </p:nvSpPr>
        <p:spPr>
          <a:xfrm>
            <a:off x="304800" y="2087562"/>
            <a:ext cx="2090057" cy="3785652"/>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When a job is completed, Wallace Company summarizes the costs and completes the lower portion of the applicable job cost sheet.</a:t>
            </a:r>
            <a:endParaRPr sz="2000">
              <a:solidFill>
                <a:schemeClr val="dk1"/>
              </a:solidFill>
              <a:latin typeface="Arial"/>
              <a:ea typeface="Arial"/>
              <a:cs typeface="Arial"/>
              <a:sym typeface="Arial"/>
            </a:endParaRPr>
          </a:p>
        </p:txBody>
      </p:sp>
      <p:sp>
        <p:nvSpPr>
          <p:cNvPr id="522" name="Google Shape;522;p46"/>
          <p:cNvSpPr/>
          <p:nvPr/>
        </p:nvSpPr>
        <p:spPr>
          <a:xfrm>
            <a:off x="304800" y="1425575"/>
            <a:ext cx="8229600" cy="519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00BF"/>
                </a:solidFill>
                <a:latin typeface="Arial"/>
                <a:ea typeface="Arial"/>
                <a:cs typeface="Arial"/>
                <a:sym typeface="Arial"/>
              </a:rPr>
              <a:t>Assigning Costs to Finished Goods</a:t>
            </a:r>
            <a:endParaRPr/>
          </a:p>
        </p:txBody>
      </p:sp>
      <p:sp>
        <p:nvSpPr>
          <p:cNvPr id="523" name="Google Shape;523;p46"/>
          <p:cNvSpPr/>
          <p:nvPr/>
        </p:nvSpPr>
        <p:spPr>
          <a:xfrm>
            <a:off x="290286" y="389796"/>
            <a:ext cx="2249714" cy="697737"/>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524" name="Google Shape;524;p46"/>
          <p:cNvSpPr/>
          <p:nvPr/>
        </p:nvSpPr>
        <p:spPr>
          <a:xfrm>
            <a:off x="2540000" y="274320"/>
            <a:ext cx="6241143" cy="928688"/>
          </a:xfrm>
          <a:prstGeom prst="rect">
            <a:avLst/>
          </a:prstGeom>
          <a:solidFill>
            <a:srgbClr val="000099"/>
          </a:solidFill>
          <a:ln>
            <a:noFill/>
          </a:ln>
        </p:spPr>
        <p:txBody>
          <a:bodyPr anchorCtr="0" anchor="ctr" bIns="45700" lIns="91425" spcFirstLastPara="1" rIns="91425" wrap="square" tIns="18275">
            <a:noAutofit/>
          </a:bodyPr>
          <a:lstStyle/>
          <a:p>
            <a:pPr indent="0" lvl="0" marL="117475" marR="0" rtl="0" algn="l">
              <a:spcBef>
                <a:spcPts val="0"/>
              </a:spcBef>
              <a:spcAft>
                <a:spcPts val="0"/>
              </a:spcAft>
              <a:buNone/>
            </a:pPr>
            <a:r>
              <a:rPr b="1" lang="en-US" sz="2200">
                <a:solidFill>
                  <a:schemeClr val="lt1"/>
                </a:solidFill>
                <a:latin typeface="Arial"/>
                <a:ea typeface="Arial"/>
                <a:cs typeface="Arial"/>
                <a:sym typeface="Arial"/>
              </a:rPr>
              <a:t>Prepare entries for manufacturing and service jobs completed and sold.</a:t>
            </a:r>
            <a:endParaRPr/>
          </a:p>
        </p:txBody>
      </p:sp>
      <p:sp>
        <p:nvSpPr>
          <p:cNvPr id="525" name="Google Shape;525;p46"/>
          <p:cNvSpPr/>
          <p:nvPr/>
        </p:nvSpPr>
        <p:spPr>
          <a:xfrm>
            <a:off x="1872343" y="485775"/>
            <a:ext cx="522514" cy="514350"/>
          </a:xfrm>
          <a:prstGeom prst="ellipse">
            <a:avLst/>
          </a:prstGeom>
          <a:solidFill>
            <a:srgbClr val="FF0000"/>
          </a:solidFill>
          <a:ln>
            <a:noFill/>
          </a:ln>
        </p:spPr>
        <p:txBody>
          <a:bodyPr anchorCtr="0" anchor="ctr" bIns="43225" lIns="86475" spcFirstLastPara="1" rIns="86475" wrap="square" tIns="18275">
            <a:noAutofit/>
          </a:bodyPr>
          <a:lstStyle/>
          <a:p>
            <a:pPr indent="0" lvl="0" marL="0" marR="0" rtl="0" algn="ctr">
              <a:spcBef>
                <a:spcPts val="0"/>
              </a:spcBef>
              <a:spcAft>
                <a:spcPts val="0"/>
              </a:spcAft>
              <a:buNone/>
            </a:pPr>
            <a:r>
              <a:rPr b="1" lang="en-US" sz="2700">
                <a:solidFill>
                  <a:schemeClr val="lt1"/>
                </a:solidFill>
                <a:latin typeface="Arial"/>
                <a:ea typeface="Arial"/>
                <a:cs typeface="Arial"/>
                <a:sym typeface="Arial"/>
              </a:rPr>
              <a:t>4</a:t>
            </a:r>
            <a:endParaRPr/>
          </a:p>
        </p:txBody>
      </p:sp>
      <p:sp>
        <p:nvSpPr>
          <p:cNvPr id="526" name="Google Shape;526;p46"/>
          <p:cNvSpPr/>
          <p:nvPr/>
        </p:nvSpPr>
        <p:spPr>
          <a:xfrm>
            <a:off x="1066800" y="5943600"/>
            <a:ext cx="1415143"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20-14</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Completed job cost sheet</a:t>
            </a:r>
            <a:endParaRPr/>
          </a:p>
        </p:txBody>
      </p:sp>
      <p:pic>
        <p:nvPicPr>
          <p:cNvPr id="527" name="Google Shape;527;p46"/>
          <p:cNvPicPr preferRelativeResize="0"/>
          <p:nvPr/>
        </p:nvPicPr>
        <p:blipFill rotWithShape="1">
          <a:blip r:embed="rId3">
            <a:alphaModFix/>
          </a:blip>
          <a:srcRect b="0" l="0" r="0" t="0"/>
          <a:stretch/>
        </p:blipFill>
        <p:spPr>
          <a:xfrm>
            <a:off x="2562367" y="2162792"/>
            <a:ext cx="6353033" cy="4466608"/>
          </a:xfrm>
          <a:prstGeom prst="rect">
            <a:avLst/>
          </a:prstGeom>
          <a:noFill/>
          <a:ln cap="flat" cmpd="sng" w="38100">
            <a:solidFill>
              <a:srgbClr val="A5A5A5"/>
            </a:solidFill>
            <a:prstDash val="solid"/>
            <a:miter lim="800000"/>
            <a:headEnd len="sm" w="sm" type="none"/>
            <a:tailEnd len="sm" w="sm" type="none"/>
          </a:ln>
        </p:spPr>
      </p:pic>
    </p:spTree>
  </p:cSld>
  <p:clrMapOvr>
    <a:masterClrMapping/>
  </p:clrMapOvr>
  <p:transition>
    <p:wipe dir="r"/>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47"/>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533" name="Google Shape;533;p47"/>
          <p:cNvSpPr/>
          <p:nvPr/>
        </p:nvSpPr>
        <p:spPr>
          <a:xfrm>
            <a:off x="609600" y="1371600"/>
            <a:ext cx="7848600" cy="938719"/>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200">
                <a:solidFill>
                  <a:schemeClr val="dk1"/>
                </a:solidFill>
                <a:latin typeface="Arial"/>
                <a:ea typeface="Arial"/>
                <a:cs typeface="Arial"/>
                <a:sym typeface="Arial"/>
              </a:rPr>
              <a:t>Illustration:  </a:t>
            </a:r>
            <a:r>
              <a:rPr lang="en-US" sz="2200">
                <a:solidFill>
                  <a:schemeClr val="dk1"/>
                </a:solidFill>
                <a:latin typeface="Arial"/>
                <a:ea typeface="Arial"/>
                <a:cs typeface="Arial"/>
                <a:sym typeface="Arial"/>
              </a:rPr>
              <a:t>When a job is completed, Wallace makes an entry to transfer its total cost to finished goods inventory.</a:t>
            </a:r>
            <a:endParaRPr/>
          </a:p>
        </p:txBody>
      </p:sp>
      <p:sp>
        <p:nvSpPr>
          <p:cNvPr id="534" name="Google Shape;534;p47"/>
          <p:cNvSpPr/>
          <p:nvPr/>
        </p:nvSpPr>
        <p:spPr>
          <a:xfrm>
            <a:off x="609600" y="2438400"/>
            <a:ext cx="7772400" cy="935192"/>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Jan. 31 	Finished Goods Inventory 	39,000</a:t>
            </a:r>
            <a:endParaRPr/>
          </a:p>
          <a:p>
            <a:pPr indent="0" lvl="0" marL="0" marR="0" rtl="0" algn="l">
              <a:lnSpc>
                <a:spcPct val="120000"/>
              </a:lnSpc>
              <a:spcBef>
                <a:spcPts val="440"/>
              </a:spcBef>
              <a:spcAft>
                <a:spcPts val="0"/>
              </a:spcAft>
              <a:buNone/>
            </a:pPr>
            <a:r>
              <a:rPr lang="en-US" sz="2200">
                <a:solidFill>
                  <a:schemeClr val="dk1"/>
                </a:solidFill>
                <a:latin typeface="Arial"/>
                <a:ea typeface="Arial"/>
                <a:cs typeface="Arial"/>
                <a:sym typeface="Arial"/>
              </a:rPr>
              <a:t>		Work in Process Inventory 		39,000</a:t>
            </a:r>
            <a:endParaRPr/>
          </a:p>
        </p:txBody>
      </p:sp>
      <p:cxnSp>
        <p:nvCxnSpPr>
          <p:cNvPr id="535" name="Google Shape;535;p47"/>
          <p:cNvCxnSpPr/>
          <p:nvPr/>
        </p:nvCxnSpPr>
        <p:spPr>
          <a:xfrm>
            <a:off x="685800" y="3708440"/>
            <a:ext cx="7772400" cy="0"/>
          </a:xfrm>
          <a:prstGeom prst="straightConnector1">
            <a:avLst/>
          </a:prstGeom>
          <a:noFill/>
          <a:ln cap="sq" cmpd="sng" w="28575">
            <a:solidFill>
              <a:schemeClr val="dk1"/>
            </a:solidFill>
            <a:prstDash val="solid"/>
            <a:round/>
            <a:headEnd len="sm" w="sm" type="none"/>
            <a:tailEnd len="sm" w="sm" type="none"/>
          </a:ln>
        </p:spPr>
      </p:cxnSp>
      <p:pic>
        <p:nvPicPr>
          <p:cNvPr id="536" name="Google Shape;536;p47"/>
          <p:cNvPicPr preferRelativeResize="0"/>
          <p:nvPr/>
        </p:nvPicPr>
        <p:blipFill rotWithShape="1">
          <a:blip r:embed="rId3">
            <a:alphaModFix/>
          </a:blip>
          <a:srcRect b="0" l="0" r="0" t="0"/>
          <a:stretch/>
        </p:blipFill>
        <p:spPr>
          <a:xfrm>
            <a:off x="290287" y="4125953"/>
            <a:ext cx="8472714" cy="1436647"/>
          </a:xfrm>
          <a:prstGeom prst="rect">
            <a:avLst/>
          </a:prstGeom>
          <a:noFill/>
          <a:ln cap="flat" cmpd="sng" w="19050">
            <a:solidFill>
              <a:schemeClr val="dk1"/>
            </a:solidFill>
            <a:prstDash val="solid"/>
            <a:miter lim="800000"/>
            <a:headEnd len="sm" w="sm" type="none"/>
            <a:tailEnd len="sm" w="sm" type="none"/>
          </a:ln>
        </p:spPr>
      </p:pic>
      <p:cxnSp>
        <p:nvCxnSpPr>
          <p:cNvPr id="537" name="Google Shape;537;p47"/>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538" name="Google Shape;538;p47"/>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Assigning Costs to Finished Goods</a:t>
            </a:r>
            <a:endParaRPr/>
          </a:p>
        </p:txBody>
      </p:sp>
      <p:sp>
        <p:nvSpPr>
          <p:cNvPr id="539" name="Google Shape;539;p47"/>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0" st="0"/>
                                            </p:txEl>
                                          </p:spTgt>
                                        </p:tgtEl>
                                        <p:attrNameLst>
                                          <p:attrName>style.visibility</p:attrName>
                                        </p:attrNameLst>
                                      </p:cBhvr>
                                      <p:to>
                                        <p:strVal val="visible"/>
                                      </p:to>
                                    </p:set>
                                    <p:animEffect filter="fade" transition="in">
                                      <p:cBhvr>
                                        <p:cTn dur="500"/>
                                        <p:tgtEl>
                                          <p:spTgt spid="5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1" st="1"/>
                                            </p:txEl>
                                          </p:spTgt>
                                        </p:tgtEl>
                                        <p:attrNameLst>
                                          <p:attrName>style.visibility</p:attrName>
                                        </p:attrNameLst>
                                      </p:cBhvr>
                                      <p:to>
                                        <p:strVal val="visible"/>
                                      </p:to>
                                    </p:set>
                                    <p:animEffect filter="fade" transition="in">
                                      <p:cBhvr>
                                        <p:cTn dur="500"/>
                                        <p:tgtEl>
                                          <p:spTgt spid="534">
                                            <p:txEl>
                                              <p:pRg end="1" st="1"/>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500"/>
                                        <p:tgtEl>
                                          <p:spTgt spid="5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48"/>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545" name="Google Shape;545;p48"/>
          <p:cNvSpPr/>
          <p:nvPr/>
        </p:nvSpPr>
        <p:spPr>
          <a:xfrm>
            <a:off x="609600" y="1371600"/>
            <a:ext cx="8153400" cy="1361911"/>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200">
                <a:solidFill>
                  <a:schemeClr val="dk1"/>
                </a:solidFill>
                <a:latin typeface="Arial"/>
                <a:ea typeface="Arial"/>
                <a:cs typeface="Arial"/>
                <a:sym typeface="Arial"/>
              </a:rPr>
              <a:t>Illustration: </a:t>
            </a:r>
            <a:r>
              <a:rPr lang="en-US" sz="2200">
                <a:solidFill>
                  <a:schemeClr val="dk1"/>
                </a:solidFill>
                <a:latin typeface="Arial"/>
                <a:ea typeface="Arial"/>
                <a:cs typeface="Arial"/>
                <a:sym typeface="Arial"/>
              </a:rPr>
              <a:t>On January 31 Wallace Manufacturing sells on account Job 101. The job cost $39,000, and it sold for $50,000. Entries to record the sale and recognize cost of goods sold are:</a:t>
            </a:r>
            <a:endParaRPr sz="2200">
              <a:solidFill>
                <a:schemeClr val="dk1"/>
              </a:solidFill>
              <a:latin typeface="Arial"/>
              <a:ea typeface="Arial"/>
              <a:cs typeface="Arial"/>
              <a:sym typeface="Arial"/>
            </a:endParaRPr>
          </a:p>
        </p:txBody>
      </p:sp>
      <p:sp>
        <p:nvSpPr>
          <p:cNvPr id="546" name="Google Shape;546;p48"/>
          <p:cNvSpPr/>
          <p:nvPr/>
        </p:nvSpPr>
        <p:spPr>
          <a:xfrm>
            <a:off x="609600" y="2895600"/>
            <a:ext cx="7772400" cy="1883144"/>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Jan. 31 	Accounts Receivable 	50,000</a:t>
            </a:r>
            <a:endParaRPr/>
          </a:p>
          <a:p>
            <a:pPr indent="0" lvl="0" marL="0" marR="0" rtl="0" algn="l">
              <a:lnSpc>
                <a:spcPct val="120000"/>
              </a:lnSpc>
              <a:spcBef>
                <a:spcPts val="440"/>
              </a:spcBef>
              <a:spcAft>
                <a:spcPts val="0"/>
              </a:spcAft>
              <a:buNone/>
            </a:pPr>
            <a:r>
              <a:rPr lang="en-US" sz="2200">
                <a:solidFill>
                  <a:schemeClr val="dk1"/>
                </a:solidFill>
                <a:latin typeface="Arial"/>
                <a:ea typeface="Arial"/>
                <a:cs typeface="Arial"/>
                <a:sym typeface="Arial"/>
              </a:rPr>
              <a:t>		Sales revenue		50,000</a:t>
            </a:r>
            <a:endParaRPr/>
          </a:p>
          <a:p>
            <a:pPr indent="0" lvl="0" marL="0" marR="0" rtl="0" algn="l">
              <a:lnSpc>
                <a:spcPct val="120000"/>
              </a:lnSpc>
              <a:spcBef>
                <a:spcPts val="440"/>
              </a:spcBef>
              <a:spcAft>
                <a:spcPts val="0"/>
              </a:spcAft>
              <a:buNone/>
            </a:pPr>
            <a:r>
              <a:rPr lang="en-US" sz="2200">
                <a:solidFill>
                  <a:schemeClr val="dk1"/>
                </a:solidFill>
                <a:latin typeface="Arial"/>
                <a:ea typeface="Arial"/>
                <a:cs typeface="Arial"/>
                <a:sym typeface="Arial"/>
              </a:rPr>
              <a:t>	Cost of Goods Sold 	39,000</a:t>
            </a:r>
            <a:endParaRPr/>
          </a:p>
          <a:p>
            <a:pPr indent="0" lvl="0" marL="0" marR="0" rtl="0" algn="l">
              <a:lnSpc>
                <a:spcPct val="120000"/>
              </a:lnSpc>
              <a:spcBef>
                <a:spcPts val="440"/>
              </a:spcBef>
              <a:spcAft>
                <a:spcPts val="0"/>
              </a:spcAft>
              <a:buNone/>
            </a:pPr>
            <a:r>
              <a:rPr lang="en-US" sz="2200">
                <a:solidFill>
                  <a:schemeClr val="dk1"/>
                </a:solidFill>
                <a:latin typeface="Arial"/>
                <a:ea typeface="Arial"/>
                <a:cs typeface="Arial"/>
                <a:sym typeface="Arial"/>
              </a:rPr>
              <a:t>		Finished Goods Inventory 		39,000</a:t>
            </a:r>
            <a:endParaRPr/>
          </a:p>
        </p:txBody>
      </p:sp>
      <p:cxnSp>
        <p:nvCxnSpPr>
          <p:cNvPr id="547" name="Google Shape;547;p48"/>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548" name="Google Shape;548;p48"/>
          <p:cNvSpPr txBox="1"/>
          <p:nvPr/>
        </p:nvSpPr>
        <p:spPr>
          <a:xfrm>
            <a:off x="609599" y="381000"/>
            <a:ext cx="8105775"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Assigning Costs to Cost of Goods Sold</a:t>
            </a:r>
            <a:endParaRPr b="1" i="0" sz="3200">
              <a:solidFill>
                <a:srgbClr val="0000BF"/>
              </a:solidFill>
              <a:latin typeface="Arial"/>
              <a:ea typeface="Arial"/>
              <a:cs typeface="Arial"/>
              <a:sym typeface="Arial"/>
            </a:endParaRPr>
          </a:p>
        </p:txBody>
      </p:sp>
      <p:pic>
        <p:nvPicPr>
          <p:cNvPr id="549" name="Google Shape;549;p48"/>
          <p:cNvPicPr preferRelativeResize="0"/>
          <p:nvPr/>
        </p:nvPicPr>
        <p:blipFill rotWithShape="1">
          <a:blip r:embed="rId3">
            <a:alphaModFix/>
          </a:blip>
          <a:srcRect b="0" l="0" r="0" t="0"/>
          <a:stretch/>
        </p:blipFill>
        <p:spPr>
          <a:xfrm>
            <a:off x="533400" y="5334000"/>
            <a:ext cx="8229600" cy="900570"/>
          </a:xfrm>
          <a:prstGeom prst="rect">
            <a:avLst/>
          </a:prstGeom>
          <a:noFill/>
          <a:ln cap="flat" cmpd="sng" w="19050">
            <a:solidFill>
              <a:schemeClr val="dk1"/>
            </a:solidFill>
            <a:prstDash val="solid"/>
            <a:miter lim="800000"/>
            <a:headEnd len="sm" w="sm" type="none"/>
            <a:tailEnd len="sm" w="sm" type="none"/>
          </a:ln>
        </p:spPr>
      </p:pic>
      <p:cxnSp>
        <p:nvCxnSpPr>
          <p:cNvPr id="550" name="Google Shape;550;p48"/>
          <p:cNvCxnSpPr/>
          <p:nvPr/>
        </p:nvCxnSpPr>
        <p:spPr>
          <a:xfrm>
            <a:off x="685800" y="5029200"/>
            <a:ext cx="7772400" cy="0"/>
          </a:xfrm>
          <a:prstGeom prst="straightConnector1">
            <a:avLst/>
          </a:prstGeom>
          <a:noFill/>
          <a:ln cap="sq" cmpd="sng" w="28575">
            <a:solidFill>
              <a:schemeClr val="dk1"/>
            </a:solidFill>
            <a:prstDash val="solid"/>
            <a:round/>
            <a:headEnd len="sm" w="sm" type="none"/>
            <a:tailEnd len="sm" w="sm" type="none"/>
          </a:ln>
        </p:spPr>
      </p:cxnSp>
      <p:sp>
        <p:nvSpPr>
          <p:cNvPr id="551" name="Google Shape;551;p48"/>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6">
                                            <p:txEl>
                                              <p:pRg end="0" st="0"/>
                                            </p:txEl>
                                          </p:spTgt>
                                        </p:tgtEl>
                                        <p:attrNameLst>
                                          <p:attrName>style.visibility</p:attrName>
                                        </p:attrNameLst>
                                      </p:cBhvr>
                                      <p:to>
                                        <p:strVal val="visible"/>
                                      </p:to>
                                    </p:set>
                                    <p:animEffect filter="fade" transition="in">
                                      <p:cBhvr>
                                        <p:cTn dur="500"/>
                                        <p:tgtEl>
                                          <p:spTgt spid="5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6">
                                            <p:txEl>
                                              <p:pRg end="1" st="1"/>
                                            </p:txEl>
                                          </p:spTgt>
                                        </p:tgtEl>
                                        <p:attrNameLst>
                                          <p:attrName>style.visibility</p:attrName>
                                        </p:attrNameLst>
                                      </p:cBhvr>
                                      <p:to>
                                        <p:strVal val="visible"/>
                                      </p:to>
                                    </p:set>
                                    <p:animEffect filter="fade" transition="in">
                                      <p:cBhvr>
                                        <p:cTn dur="500"/>
                                        <p:tgtEl>
                                          <p:spTgt spid="5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6">
                                            <p:txEl>
                                              <p:pRg end="2" st="2"/>
                                            </p:txEl>
                                          </p:spTgt>
                                        </p:tgtEl>
                                        <p:attrNameLst>
                                          <p:attrName>style.visibility</p:attrName>
                                        </p:attrNameLst>
                                      </p:cBhvr>
                                      <p:to>
                                        <p:strVal val="visible"/>
                                      </p:to>
                                    </p:set>
                                    <p:animEffect filter="fade" transition="in">
                                      <p:cBhvr>
                                        <p:cTn dur="500"/>
                                        <p:tgtEl>
                                          <p:spTgt spid="5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6">
                                            <p:txEl>
                                              <p:pRg end="3" st="3"/>
                                            </p:txEl>
                                          </p:spTgt>
                                        </p:tgtEl>
                                        <p:attrNameLst>
                                          <p:attrName>style.visibility</p:attrName>
                                        </p:attrNameLst>
                                      </p:cBhvr>
                                      <p:to>
                                        <p:strVal val="visible"/>
                                      </p:to>
                                    </p:set>
                                    <p:animEffect filter="fade" transition="in">
                                      <p:cBhvr>
                                        <p:cTn dur="500"/>
                                        <p:tgtEl>
                                          <p:spTgt spid="546">
                                            <p:txEl>
                                              <p:pRg end="3" st="3"/>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500"/>
                                        <p:tgtEl>
                                          <p:spTgt spid="5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9"/>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pic>
        <p:nvPicPr>
          <p:cNvPr id="557" name="Google Shape;557;p49"/>
          <p:cNvPicPr preferRelativeResize="0"/>
          <p:nvPr/>
        </p:nvPicPr>
        <p:blipFill rotWithShape="1">
          <a:blip r:embed="rId3">
            <a:alphaModFix/>
          </a:blip>
          <a:srcRect b="0" l="0" r="0" t="0"/>
          <a:stretch/>
        </p:blipFill>
        <p:spPr>
          <a:xfrm>
            <a:off x="504826" y="1371600"/>
            <a:ext cx="8181974" cy="4991269"/>
          </a:xfrm>
          <a:prstGeom prst="rect">
            <a:avLst/>
          </a:prstGeom>
          <a:noFill/>
          <a:ln>
            <a:noFill/>
          </a:ln>
        </p:spPr>
      </p:pic>
      <p:cxnSp>
        <p:nvCxnSpPr>
          <p:cNvPr id="558" name="Google Shape;558;p49"/>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559" name="Google Shape;559;p49"/>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Summary of Job Order Cost Flows</a:t>
            </a:r>
            <a:endParaRPr b="1" i="0" sz="3200">
              <a:solidFill>
                <a:srgbClr val="0000BF"/>
              </a:solidFill>
              <a:latin typeface="Arial"/>
              <a:ea typeface="Arial"/>
              <a:cs typeface="Arial"/>
              <a:sym typeface="Arial"/>
            </a:endParaRPr>
          </a:p>
        </p:txBody>
      </p:sp>
      <p:sp>
        <p:nvSpPr>
          <p:cNvPr id="560" name="Google Shape;560;p49"/>
          <p:cNvSpPr/>
          <p:nvPr/>
        </p:nvSpPr>
        <p:spPr>
          <a:xfrm>
            <a:off x="3352800" y="5638800"/>
            <a:ext cx="1676400"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20-15</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Flow of costs in a job order cost system</a:t>
            </a:r>
            <a:endParaRPr/>
          </a:p>
        </p:txBody>
      </p:sp>
      <p:sp>
        <p:nvSpPr>
          <p:cNvPr id="561" name="Google Shape;561;p49"/>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pic>
        <p:nvPicPr>
          <p:cNvPr id="566" name="Google Shape;566;p50"/>
          <p:cNvPicPr preferRelativeResize="0"/>
          <p:nvPr/>
        </p:nvPicPr>
        <p:blipFill rotWithShape="1">
          <a:blip r:embed="rId3">
            <a:alphaModFix/>
          </a:blip>
          <a:srcRect b="0" l="0" r="0" t="0"/>
          <a:stretch/>
        </p:blipFill>
        <p:spPr>
          <a:xfrm>
            <a:off x="381000" y="1371600"/>
            <a:ext cx="8443913" cy="3892550"/>
          </a:xfrm>
          <a:prstGeom prst="rect">
            <a:avLst/>
          </a:prstGeom>
          <a:noFill/>
          <a:ln>
            <a:noFill/>
          </a:ln>
        </p:spPr>
      </p:pic>
      <p:sp>
        <p:nvSpPr>
          <p:cNvPr id="567" name="Google Shape;567;p50"/>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cxnSp>
        <p:nvCxnSpPr>
          <p:cNvPr id="568" name="Google Shape;568;p50"/>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569" name="Google Shape;569;p50"/>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Summary of Job Order Cost Flows</a:t>
            </a:r>
            <a:endParaRPr b="1" i="0" sz="3200">
              <a:solidFill>
                <a:srgbClr val="0000BF"/>
              </a:solidFill>
              <a:latin typeface="Arial"/>
              <a:ea typeface="Arial"/>
              <a:cs typeface="Arial"/>
              <a:sym typeface="Arial"/>
            </a:endParaRPr>
          </a:p>
        </p:txBody>
      </p:sp>
      <p:sp>
        <p:nvSpPr>
          <p:cNvPr id="570" name="Google Shape;570;p50"/>
          <p:cNvSpPr/>
          <p:nvPr/>
        </p:nvSpPr>
        <p:spPr>
          <a:xfrm>
            <a:off x="7010400" y="1487269"/>
            <a:ext cx="1814513"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20-16</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Flow of documents in a job order cost system</a:t>
            </a:r>
            <a:endParaRPr/>
          </a:p>
        </p:txBody>
      </p:sp>
      <p:sp>
        <p:nvSpPr>
          <p:cNvPr id="571" name="Google Shape;571;p50"/>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51"/>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577" name="Google Shape;577;p51"/>
          <p:cNvSpPr/>
          <p:nvPr/>
        </p:nvSpPr>
        <p:spPr>
          <a:xfrm>
            <a:off x="533400" y="1371600"/>
            <a:ext cx="8153400" cy="4872038"/>
          </a:xfrm>
          <a:prstGeom prst="rect">
            <a:avLst/>
          </a:prstGeom>
          <a:solidFill>
            <a:schemeClr val="lt1"/>
          </a:solidFill>
          <a:ln>
            <a:noFill/>
          </a:ln>
        </p:spPr>
        <p:txBody>
          <a:bodyPr anchorCtr="0" anchor="t" bIns="46025" lIns="182550" spcFirstLastPara="1" rIns="182550" wrap="square" tIns="46025">
            <a:noAutofit/>
          </a:bodyPr>
          <a:lstStyle/>
          <a:p>
            <a:pPr indent="0" lvl="0" marL="0" marR="0" rtl="0" algn="l">
              <a:lnSpc>
                <a:spcPct val="125000"/>
              </a:lnSpc>
              <a:spcBef>
                <a:spcPts val="0"/>
              </a:spcBef>
              <a:spcAft>
                <a:spcPts val="0"/>
              </a:spcAft>
              <a:buClr>
                <a:schemeClr val="accent2"/>
              </a:buClr>
              <a:buSzPts val="1650"/>
              <a:buFont typeface="Noto Sans Symbols"/>
              <a:buNone/>
            </a:pPr>
            <a:r>
              <a:rPr lang="en-US" sz="2200">
                <a:solidFill>
                  <a:schemeClr val="lt2"/>
                </a:solidFill>
                <a:latin typeface="Arial"/>
                <a:ea typeface="Arial"/>
                <a:cs typeface="Arial"/>
                <a:sym typeface="Arial"/>
              </a:rPr>
              <a:t>While service companies do not have inventory, the techniques of job order costing are still quite useful in many service-industry environments.  </a:t>
            </a:r>
            <a:endParaRPr sz="2200">
              <a:solidFill>
                <a:schemeClr val="lt2"/>
              </a:solidFill>
              <a:latin typeface="Arial"/>
              <a:ea typeface="Arial"/>
              <a:cs typeface="Arial"/>
              <a:sym typeface="Arial"/>
            </a:endParaRPr>
          </a:p>
          <a:p>
            <a:pPr indent="0" lvl="0" marL="0" marR="0" rtl="0" algn="l">
              <a:lnSpc>
                <a:spcPct val="125000"/>
              </a:lnSpc>
              <a:spcBef>
                <a:spcPts val="1200"/>
              </a:spcBef>
              <a:spcAft>
                <a:spcPts val="0"/>
              </a:spcAft>
              <a:buClr>
                <a:schemeClr val="accent2"/>
              </a:buClr>
              <a:buSzPts val="1650"/>
              <a:buFont typeface="Noto Sans Symbols"/>
              <a:buNone/>
            </a:pPr>
            <a:r>
              <a:rPr lang="en-US" sz="2200">
                <a:solidFill>
                  <a:schemeClr val="lt2"/>
                </a:solidFill>
                <a:latin typeface="Arial"/>
                <a:ea typeface="Arial"/>
                <a:cs typeface="Arial"/>
                <a:sym typeface="Arial"/>
              </a:rPr>
              <a:t>Consider, for example, the </a:t>
            </a:r>
            <a:r>
              <a:rPr b="1" lang="en-US" sz="2200">
                <a:solidFill>
                  <a:srgbClr val="AD0000"/>
                </a:solidFill>
                <a:latin typeface="Arial"/>
                <a:ea typeface="Arial"/>
                <a:cs typeface="Arial"/>
                <a:sym typeface="Arial"/>
              </a:rPr>
              <a:t>Mayo Clinic</a:t>
            </a:r>
            <a:r>
              <a:rPr lang="en-US" sz="2200">
                <a:solidFill>
                  <a:srgbClr val="AD0000"/>
                </a:solidFill>
                <a:latin typeface="Arial"/>
                <a:ea typeface="Arial"/>
                <a:cs typeface="Arial"/>
                <a:sym typeface="Arial"/>
              </a:rPr>
              <a:t> </a:t>
            </a:r>
            <a:r>
              <a:rPr lang="en-US" sz="2200">
                <a:solidFill>
                  <a:schemeClr val="lt2"/>
                </a:solidFill>
                <a:latin typeface="Arial"/>
                <a:ea typeface="Arial"/>
                <a:cs typeface="Arial"/>
                <a:sym typeface="Arial"/>
              </a:rPr>
              <a:t>(health care), </a:t>
            </a:r>
            <a:r>
              <a:rPr b="1" lang="en-US" sz="2200">
                <a:solidFill>
                  <a:srgbClr val="AD0000"/>
                </a:solidFill>
                <a:latin typeface="Arial"/>
                <a:ea typeface="Arial"/>
                <a:cs typeface="Arial"/>
                <a:sym typeface="Arial"/>
              </a:rPr>
              <a:t>PricewaterhouseCoopers</a:t>
            </a:r>
            <a:r>
              <a:rPr lang="en-US" sz="2200">
                <a:solidFill>
                  <a:schemeClr val="lt2"/>
                </a:solidFill>
                <a:latin typeface="Arial"/>
                <a:ea typeface="Arial"/>
                <a:cs typeface="Arial"/>
                <a:sym typeface="Arial"/>
              </a:rPr>
              <a:t> (accounting), and </a:t>
            </a:r>
            <a:r>
              <a:rPr b="1" lang="en-US" sz="2200">
                <a:solidFill>
                  <a:srgbClr val="AD0000"/>
                </a:solidFill>
                <a:latin typeface="Arial"/>
                <a:ea typeface="Arial"/>
                <a:cs typeface="Arial"/>
                <a:sym typeface="Arial"/>
              </a:rPr>
              <a:t>Goldman Sachs</a:t>
            </a:r>
            <a:r>
              <a:rPr lang="en-US" sz="2200">
                <a:solidFill>
                  <a:schemeClr val="lt2"/>
                </a:solidFill>
                <a:latin typeface="Arial"/>
                <a:ea typeface="Arial"/>
                <a:cs typeface="Arial"/>
                <a:sym typeface="Arial"/>
              </a:rPr>
              <a:t> (investment banking).</a:t>
            </a:r>
            <a:endParaRPr/>
          </a:p>
          <a:p>
            <a:pPr indent="0" lvl="0" marL="0" marR="0" rtl="0" algn="l">
              <a:lnSpc>
                <a:spcPct val="125000"/>
              </a:lnSpc>
              <a:spcBef>
                <a:spcPts val="1200"/>
              </a:spcBef>
              <a:spcAft>
                <a:spcPts val="0"/>
              </a:spcAft>
              <a:buClr>
                <a:schemeClr val="accent2"/>
              </a:buClr>
              <a:buSzPts val="1650"/>
              <a:buFont typeface="Noto Sans Symbols"/>
              <a:buNone/>
            </a:pPr>
            <a:r>
              <a:rPr lang="en-US" sz="2200">
                <a:solidFill>
                  <a:schemeClr val="lt2"/>
                </a:solidFill>
                <a:latin typeface="Arial"/>
                <a:ea typeface="Arial"/>
                <a:cs typeface="Arial"/>
                <a:sym typeface="Arial"/>
              </a:rPr>
              <a:t>These companies need to keep </a:t>
            </a:r>
            <a:r>
              <a:rPr b="1" lang="en-US" sz="2200">
                <a:solidFill>
                  <a:schemeClr val="lt2"/>
                </a:solidFill>
                <a:latin typeface="Arial"/>
                <a:ea typeface="Arial"/>
                <a:cs typeface="Arial"/>
                <a:sym typeface="Arial"/>
              </a:rPr>
              <a:t>track of the cost of jobs performed for specific customers</a:t>
            </a:r>
            <a:r>
              <a:rPr lang="en-US" sz="2200">
                <a:solidFill>
                  <a:schemeClr val="lt2"/>
                </a:solidFill>
                <a:latin typeface="Arial"/>
                <a:ea typeface="Arial"/>
                <a:cs typeface="Arial"/>
                <a:sym typeface="Arial"/>
              </a:rPr>
              <a:t> to evaluate the profitability of medical treatments, audits, or investment banking engagements.</a:t>
            </a:r>
            <a:endParaRPr sz="2200">
              <a:solidFill>
                <a:schemeClr val="lt2"/>
              </a:solidFill>
              <a:latin typeface="Arial"/>
              <a:ea typeface="Arial"/>
              <a:cs typeface="Arial"/>
              <a:sym typeface="Arial"/>
            </a:endParaRPr>
          </a:p>
        </p:txBody>
      </p:sp>
      <p:cxnSp>
        <p:nvCxnSpPr>
          <p:cNvPr id="578" name="Google Shape;578;p51"/>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579" name="Google Shape;579;p51"/>
          <p:cNvSpPr txBox="1"/>
          <p:nvPr/>
        </p:nvSpPr>
        <p:spPr>
          <a:xfrm>
            <a:off x="533400" y="3810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Job Order Costing for Service Companies</a:t>
            </a:r>
            <a:endParaRPr/>
          </a:p>
        </p:txBody>
      </p:sp>
      <p:sp>
        <p:nvSpPr>
          <p:cNvPr id="580" name="Google Shape;580;p51"/>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52"/>
          <p:cNvSpPr/>
          <p:nvPr/>
        </p:nvSpPr>
        <p:spPr>
          <a:xfrm>
            <a:off x="381000" y="1210842"/>
            <a:ext cx="8458200" cy="5416868"/>
          </a:xfrm>
          <a:prstGeom prst="rect">
            <a:avLst/>
          </a:prstGeom>
          <a:noFill/>
          <a:ln>
            <a:noFill/>
          </a:ln>
        </p:spPr>
        <p:txBody>
          <a:bodyPr anchorCtr="0" anchor="t" bIns="91425" lIns="91425" spcFirstLastPara="1" rIns="91425" wrap="square" tIns="91425">
            <a:spAutoFit/>
          </a:bodyPr>
          <a:lstStyle/>
          <a:p>
            <a:pPr indent="0" lvl="0" marL="0" marR="0" rtl="0" algn="just">
              <a:spcBef>
                <a:spcPts val="0"/>
              </a:spcBef>
              <a:spcAft>
                <a:spcPts val="0"/>
              </a:spcAft>
              <a:buNone/>
            </a:pPr>
            <a:r>
              <a:rPr b="1" lang="en-US" sz="1800">
                <a:solidFill>
                  <a:schemeClr val="dk1"/>
                </a:solidFill>
                <a:latin typeface="Arial"/>
                <a:ea typeface="Arial"/>
                <a:cs typeface="Arial"/>
                <a:sym typeface="Arial"/>
              </a:rPr>
              <a:t>Sales Are Nice, but Service Revenue Pays the Bills</a:t>
            </a:r>
            <a:endParaRPr/>
          </a:p>
          <a:p>
            <a:pPr indent="0" lvl="0" marL="0" marR="0" rtl="0" algn="just">
              <a:spcBef>
                <a:spcPts val="1200"/>
              </a:spcBef>
              <a:spcAft>
                <a:spcPts val="0"/>
              </a:spcAft>
              <a:buNone/>
            </a:pPr>
            <a:r>
              <a:rPr lang="en-US" sz="1800">
                <a:solidFill>
                  <a:schemeClr val="dk1"/>
                </a:solidFill>
                <a:latin typeface="Arial"/>
                <a:ea typeface="Arial"/>
                <a:cs typeface="Arial"/>
                <a:sym typeface="Arial"/>
              </a:rPr>
              <a:t>Jet engines are one of the many products made by the industrial operations division of </a:t>
            </a:r>
            <a:r>
              <a:rPr b="1" lang="en-US" sz="1800">
                <a:solidFill>
                  <a:srgbClr val="AD0000"/>
                </a:solidFill>
                <a:latin typeface="Arial"/>
                <a:ea typeface="Arial"/>
                <a:cs typeface="Arial"/>
                <a:sym typeface="Arial"/>
              </a:rPr>
              <a:t>General Electric (GE)</a:t>
            </a:r>
            <a:r>
              <a:rPr lang="en-US" sz="1800">
                <a:solidFill>
                  <a:schemeClr val="dk1"/>
                </a:solidFill>
                <a:latin typeface="Arial"/>
                <a:ea typeface="Arial"/>
                <a:cs typeface="Arial"/>
                <a:sym typeface="Arial"/>
              </a:rPr>
              <a:t>. At prices as high as $30 million per engine, you can bet that GE does its best to keep track of costs. It might surprise you that GE doesn’t make much profit on the sale of each engine. So why does it bother making them? For the service revenue. During one recent year, about 75% of the division’s revenues came from servicing its own products. One estimate is that the $13 billion in aircraft engines sold during a recent three-year period will generate about $90 billion in service revenue over the 30-year life of the engines. Because of the high product costs, both the engines themselves and the subsequent service are most likely accounted for using job order costing. Accurate service cost records are important because GE needs to generate high profit margins on its service jobs to make up for the low margins on the original sale. It also needs good cost records for its service jobs in order to control its costs. Otherwise, a competitor, such as </a:t>
            </a:r>
            <a:r>
              <a:rPr b="1" lang="en-US" sz="1800">
                <a:solidFill>
                  <a:srgbClr val="AD0000"/>
                </a:solidFill>
                <a:latin typeface="Arial"/>
                <a:ea typeface="Arial"/>
                <a:cs typeface="Arial"/>
                <a:sym typeface="Arial"/>
              </a:rPr>
              <a:t>Pratt and Whitney</a:t>
            </a:r>
            <a:r>
              <a:rPr lang="en-US" sz="1800">
                <a:solidFill>
                  <a:schemeClr val="dk1"/>
                </a:solidFill>
                <a:latin typeface="Arial"/>
                <a:ea typeface="Arial"/>
                <a:cs typeface="Arial"/>
                <a:sym typeface="Arial"/>
              </a:rPr>
              <a:t>, might submit lower bids for service contracts and take lucrative service jobs away from GE. </a:t>
            </a:r>
            <a:endParaRPr/>
          </a:p>
          <a:p>
            <a:pPr indent="0" lvl="0" marL="0" marR="0" rtl="0" algn="just">
              <a:spcBef>
                <a:spcPts val="600"/>
              </a:spcBef>
              <a:spcAft>
                <a:spcPts val="0"/>
              </a:spcAft>
              <a:buNone/>
            </a:pPr>
            <a:r>
              <a:rPr lang="en-US" sz="1600">
                <a:solidFill>
                  <a:schemeClr val="dk1"/>
                </a:solidFill>
                <a:latin typeface="Arial"/>
                <a:ea typeface="Arial"/>
                <a:cs typeface="Arial"/>
                <a:sym typeface="Arial"/>
              </a:rPr>
              <a:t>Source: Paul Glader, “GE’s Focus on Services Faces Test,” Wall Street Journal Online (March 3, 2009).</a:t>
            </a:r>
            <a:endParaRPr/>
          </a:p>
        </p:txBody>
      </p:sp>
      <p:sp>
        <p:nvSpPr>
          <p:cNvPr id="586" name="Google Shape;586;p52"/>
          <p:cNvSpPr/>
          <p:nvPr/>
        </p:nvSpPr>
        <p:spPr>
          <a:xfrm>
            <a:off x="365760" y="304800"/>
            <a:ext cx="5273040" cy="729020"/>
          </a:xfrm>
          <a:prstGeom prst="rect">
            <a:avLst/>
          </a:prstGeom>
          <a:solidFill>
            <a:srgbClr val="00B0F0"/>
          </a:solidFill>
          <a:ln>
            <a:noFill/>
          </a:ln>
        </p:spPr>
        <p:txBody>
          <a:bodyPr anchorCtr="0" anchor="ctr" bIns="45700" lIns="91425" spcFirstLastPara="1" rIns="91425" wrap="square" tIns="0">
            <a:noAutofit/>
          </a:bodyPr>
          <a:lstStyle/>
          <a:p>
            <a:pPr indent="0" lvl="0" marL="53975" marR="0" rtl="0" algn="l">
              <a:lnSpc>
                <a:spcPct val="100000"/>
              </a:lnSpc>
              <a:spcBef>
                <a:spcPts val="0"/>
              </a:spcBef>
              <a:spcAft>
                <a:spcPts val="0"/>
              </a:spcAft>
              <a:buClr>
                <a:schemeClr val="accent3"/>
              </a:buClr>
              <a:buSzPts val="3200"/>
              <a:buFont typeface="Arial"/>
              <a:buNone/>
            </a:pPr>
            <a:r>
              <a:rPr b="1" i="0" lang="en-US" sz="3200" u="none" cap="none" strike="noStrike">
                <a:solidFill>
                  <a:schemeClr val="accent3"/>
                </a:solidFill>
                <a:latin typeface="Arial"/>
                <a:ea typeface="Arial"/>
                <a:cs typeface="Arial"/>
                <a:sym typeface="Arial"/>
              </a:rPr>
              <a:t>Service Company Insight</a:t>
            </a:r>
            <a:endParaRPr/>
          </a:p>
        </p:txBody>
      </p:sp>
      <p:sp>
        <p:nvSpPr>
          <p:cNvPr id="587" name="Google Shape;587;p52"/>
          <p:cNvSpPr/>
          <p:nvPr/>
        </p:nvSpPr>
        <p:spPr>
          <a:xfrm>
            <a:off x="5638800" y="381000"/>
            <a:ext cx="3200400" cy="576620"/>
          </a:xfrm>
          <a:prstGeom prst="rect">
            <a:avLst/>
          </a:prstGeom>
          <a:solidFill>
            <a:srgbClr val="BFBFBF"/>
          </a:solidFill>
          <a:ln>
            <a:noFill/>
          </a:ln>
        </p:spPr>
        <p:txBody>
          <a:bodyPr anchorCtr="0" anchor="ctr" bIns="45700" lIns="91425" spcFirstLastPara="1" rIns="91425" wrap="square" tIns="0">
            <a:noAutofit/>
          </a:bodyPr>
          <a:lstStyle/>
          <a:p>
            <a:pPr indent="0" lvl="0" marL="53975"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General Electric</a:t>
            </a:r>
            <a:endParaRPr/>
          </a:p>
        </p:txBody>
      </p:sp>
      <p:sp>
        <p:nvSpPr>
          <p:cNvPr id="588" name="Google Shape;588;p52"/>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3"/>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594" name="Google Shape;594;p53"/>
          <p:cNvSpPr/>
          <p:nvPr/>
        </p:nvSpPr>
        <p:spPr>
          <a:xfrm>
            <a:off x="609600" y="1371600"/>
            <a:ext cx="7848600" cy="2958502"/>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800">
                <a:solidFill>
                  <a:srgbClr val="0000BF"/>
                </a:solidFill>
                <a:latin typeface="Arial"/>
                <a:ea typeface="Arial"/>
                <a:cs typeface="Arial"/>
                <a:sym typeface="Arial"/>
              </a:rPr>
              <a:t>Advantages</a:t>
            </a:r>
            <a:endParaRPr/>
          </a:p>
          <a:p>
            <a:pPr indent="-457200" lvl="1" marL="685800" marR="0" rtl="0" algn="l">
              <a:lnSpc>
                <a:spcPct val="125000"/>
              </a:lnSpc>
              <a:spcBef>
                <a:spcPts val="120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More precise in assignment of costs to projects than process costing.</a:t>
            </a:r>
            <a:endParaRPr/>
          </a:p>
          <a:p>
            <a:pPr indent="-457200" lvl="1" marL="685800" marR="0" rtl="0" algn="l">
              <a:lnSpc>
                <a:spcPct val="125000"/>
              </a:lnSpc>
              <a:spcBef>
                <a:spcPts val="120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Provides more useful information for determining the profitability of particular projects and for estimating costs when preparing bids on future jobs.</a:t>
            </a:r>
            <a:endParaRPr/>
          </a:p>
        </p:txBody>
      </p:sp>
      <p:sp>
        <p:nvSpPr>
          <p:cNvPr id="595" name="Google Shape;595;p53"/>
          <p:cNvSpPr/>
          <p:nvPr/>
        </p:nvSpPr>
        <p:spPr>
          <a:xfrm>
            <a:off x="609600" y="4495800"/>
            <a:ext cx="8153400" cy="1181100"/>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800">
                <a:solidFill>
                  <a:srgbClr val="0000BF"/>
                </a:solidFill>
                <a:latin typeface="Arial"/>
                <a:ea typeface="Arial"/>
                <a:cs typeface="Arial"/>
                <a:sym typeface="Arial"/>
              </a:rPr>
              <a:t>Disadvantage</a:t>
            </a:r>
            <a:endParaRPr/>
          </a:p>
          <a:p>
            <a:pPr indent="-457200" lvl="1" marL="685800" marR="0" rtl="0" algn="l">
              <a:lnSpc>
                <a:spcPct val="125000"/>
              </a:lnSpc>
              <a:spcBef>
                <a:spcPts val="120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Requires a significant amount of data entry.</a:t>
            </a:r>
            <a:endParaRPr/>
          </a:p>
        </p:txBody>
      </p:sp>
      <p:cxnSp>
        <p:nvCxnSpPr>
          <p:cNvPr id="596" name="Google Shape;596;p53"/>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597" name="Google Shape;597;p53"/>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Job Order Costing</a:t>
            </a:r>
            <a:endParaRPr b="1" i="0" sz="3200">
              <a:solidFill>
                <a:srgbClr val="0000BF"/>
              </a:solidFill>
              <a:latin typeface="Arial"/>
              <a:ea typeface="Arial"/>
              <a:cs typeface="Arial"/>
              <a:sym typeface="Arial"/>
            </a:endParaRPr>
          </a:p>
        </p:txBody>
      </p:sp>
      <p:sp>
        <p:nvSpPr>
          <p:cNvPr id="598" name="Google Shape;598;p53"/>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54"/>
          <p:cNvSpPr/>
          <p:nvPr/>
        </p:nvSpPr>
        <p:spPr>
          <a:xfrm>
            <a:off x="533400" y="1295400"/>
            <a:ext cx="8382000" cy="169862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During the current month, Onyx Corporation completed Job 109 and Job 112. Job 109 cost $19,000 and Job 112 costs $27,000. Job 112 was sold on account for $42,000. Journalize the entries for the completion of the two jobs and the sale of Job 112.</a:t>
            </a:r>
            <a:endParaRPr/>
          </a:p>
        </p:txBody>
      </p:sp>
      <p:sp>
        <p:nvSpPr>
          <p:cNvPr id="604" name="Google Shape;604;p54"/>
          <p:cNvSpPr/>
          <p:nvPr/>
        </p:nvSpPr>
        <p:spPr>
          <a:xfrm>
            <a:off x="914400" y="3209925"/>
            <a:ext cx="7391400" cy="2805704"/>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2200">
                <a:solidFill>
                  <a:schemeClr val="dk1"/>
                </a:solidFill>
                <a:latin typeface="Arial"/>
                <a:ea typeface="Arial"/>
                <a:cs typeface="Arial"/>
                <a:sym typeface="Arial"/>
              </a:rPr>
              <a:t>Finished Goods Inventory 	46,000</a:t>
            </a:r>
            <a:endParaRPr/>
          </a:p>
          <a:p>
            <a:pPr indent="0" lvl="0" marL="0" marR="0" rtl="0" algn="l">
              <a:lnSpc>
                <a:spcPct val="110000"/>
              </a:lnSpc>
              <a:spcBef>
                <a:spcPts val="440"/>
              </a:spcBef>
              <a:spcAft>
                <a:spcPts val="0"/>
              </a:spcAft>
              <a:buNone/>
            </a:pPr>
            <a:r>
              <a:rPr lang="en-US" sz="2200">
                <a:solidFill>
                  <a:schemeClr val="dk1"/>
                </a:solidFill>
                <a:latin typeface="Arial"/>
                <a:ea typeface="Arial"/>
                <a:cs typeface="Arial"/>
                <a:sym typeface="Arial"/>
              </a:rPr>
              <a:t>	Work in Process Inventory 		46,000</a:t>
            </a:r>
            <a:endParaRPr/>
          </a:p>
          <a:p>
            <a:pPr indent="0" lvl="0" marL="0" marR="0" rtl="0" algn="l">
              <a:lnSpc>
                <a:spcPct val="110000"/>
              </a:lnSpc>
              <a:spcBef>
                <a:spcPts val="990"/>
              </a:spcBef>
              <a:spcAft>
                <a:spcPts val="0"/>
              </a:spcAft>
              <a:buNone/>
            </a:pPr>
            <a:r>
              <a:rPr lang="en-US" sz="2200">
                <a:solidFill>
                  <a:schemeClr val="dk1"/>
                </a:solidFill>
                <a:latin typeface="Arial"/>
                <a:ea typeface="Arial"/>
                <a:cs typeface="Arial"/>
                <a:sym typeface="Arial"/>
              </a:rPr>
              <a:t>Accounts Receivable 	42,000</a:t>
            </a:r>
            <a:endParaRPr/>
          </a:p>
          <a:p>
            <a:pPr indent="0" lvl="0" marL="0" marR="0" rtl="0" algn="l">
              <a:lnSpc>
                <a:spcPct val="110000"/>
              </a:lnSpc>
              <a:spcBef>
                <a:spcPts val="440"/>
              </a:spcBef>
              <a:spcAft>
                <a:spcPts val="0"/>
              </a:spcAft>
              <a:buNone/>
            </a:pPr>
            <a:r>
              <a:rPr lang="en-US" sz="2200">
                <a:solidFill>
                  <a:schemeClr val="dk1"/>
                </a:solidFill>
                <a:latin typeface="Arial"/>
                <a:ea typeface="Arial"/>
                <a:cs typeface="Arial"/>
                <a:sym typeface="Arial"/>
              </a:rPr>
              <a:t>	Sales Revenue		42,000</a:t>
            </a:r>
            <a:endParaRPr/>
          </a:p>
          <a:p>
            <a:pPr indent="0" lvl="0" marL="0" marR="0" rtl="0" algn="l">
              <a:lnSpc>
                <a:spcPct val="110000"/>
              </a:lnSpc>
              <a:spcBef>
                <a:spcPts val="990"/>
              </a:spcBef>
              <a:spcAft>
                <a:spcPts val="0"/>
              </a:spcAft>
              <a:buNone/>
            </a:pPr>
            <a:r>
              <a:rPr lang="en-US" sz="2200">
                <a:solidFill>
                  <a:schemeClr val="dk1"/>
                </a:solidFill>
                <a:latin typeface="Arial"/>
                <a:ea typeface="Arial"/>
                <a:cs typeface="Arial"/>
                <a:sym typeface="Arial"/>
              </a:rPr>
              <a:t>Cost of Goods Sold 	27,000</a:t>
            </a:r>
            <a:endParaRPr/>
          </a:p>
          <a:p>
            <a:pPr indent="0" lvl="0" marL="0" marR="0" rtl="0" algn="l">
              <a:lnSpc>
                <a:spcPct val="110000"/>
              </a:lnSpc>
              <a:spcBef>
                <a:spcPts val="440"/>
              </a:spcBef>
              <a:spcAft>
                <a:spcPts val="0"/>
              </a:spcAft>
              <a:buNone/>
            </a:pPr>
            <a:r>
              <a:rPr lang="en-US" sz="2200">
                <a:solidFill>
                  <a:schemeClr val="dk1"/>
                </a:solidFill>
                <a:latin typeface="Arial"/>
                <a:ea typeface="Arial"/>
                <a:cs typeface="Arial"/>
                <a:sym typeface="Arial"/>
              </a:rPr>
              <a:t>	Finished Goods Inventory 		27,000</a:t>
            </a:r>
            <a:endParaRPr/>
          </a:p>
        </p:txBody>
      </p:sp>
      <p:sp>
        <p:nvSpPr>
          <p:cNvPr id="605" name="Google Shape;605;p54"/>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
        <p:nvSpPr>
          <p:cNvPr id="606" name="Google Shape;606;p54"/>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607" name="Google Shape;607;p54"/>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53975" marR="0" rtl="0" algn="l">
              <a:spcBef>
                <a:spcPts val="0"/>
              </a:spcBef>
              <a:spcAft>
                <a:spcPts val="0"/>
              </a:spcAft>
              <a:buNone/>
            </a:pPr>
            <a:r>
              <a:rPr b="1" lang="en-US" sz="2800">
                <a:solidFill>
                  <a:schemeClr val="lt1"/>
                </a:solidFill>
                <a:latin typeface="Arial"/>
                <a:ea typeface="Arial"/>
                <a:cs typeface="Arial"/>
                <a:sym typeface="Arial"/>
              </a:rPr>
              <a:t>Completion and Sale of Jobs</a:t>
            </a:r>
            <a:endParaRPr b="1" i="0" sz="2800">
              <a:solidFill>
                <a:schemeClr val="lt1"/>
              </a:solidFill>
              <a:latin typeface="Arial"/>
              <a:ea typeface="Arial"/>
              <a:cs typeface="Arial"/>
              <a:sym typeface="Arial"/>
            </a:endParaRPr>
          </a:p>
        </p:txBody>
      </p:sp>
      <p:sp>
        <p:nvSpPr>
          <p:cNvPr id="608" name="Google Shape;608;p54"/>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0" spcFirstLastPara="1" rIns="0" wrap="square" tIns="18275">
            <a:noAutofit/>
          </a:bodyPr>
          <a:lstStyle/>
          <a:p>
            <a:pPr indent="0" lvl="0" marL="0" marR="0" rtl="0" algn="ctr">
              <a:spcBef>
                <a:spcPts val="0"/>
              </a:spcBef>
              <a:spcAft>
                <a:spcPts val="0"/>
              </a:spcAft>
              <a:buNone/>
            </a:pPr>
            <a:r>
              <a:rPr b="1" lang="en-US" sz="4000">
                <a:solidFill>
                  <a:srgbClr val="FF0000"/>
                </a:solidFill>
                <a:latin typeface="Arial"/>
                <a:ea typeface="Arial"/>
                <a:cs typeface="Arial"/>
                <a:sym typeface="Arial"/>
              </a:rPr>
              <a:t>4</a:t>
            </a:r>
            <a:endParaRPr b="1" sz="4000">
              <a:solidFill>
                <a:srgbClr val="FF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xEl>
                                              <p:pRg end="0" st="0"/>
                                            </p:txEl>
                                          </p:spTgt>
                                        </p:tgtEl>
                                        <p:attrNameLst>
                                          <p:attrName>style.visibility</p:attrName>
                                        </p:attrNameLst>
                                      </p:cBhvr>
                                      <p:to>
                                        <p:strVal val="visible"/>
                                      </p:to>
                                    </p:set>
                                    <p:animEffect filter="fade" transition="in">
                                      <p:cBhvr>
                                        <p:cTn dur="500"/>
                                        <p:tgtEl>
                                          <p:spTgt spid="6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xEl>
                                              <p:pRg end="1" st="1"/>
                                            </p:txEl>
                                          </p:spTgt>
                                        </p:tgtEl>
                                        <p:attrNameLst>
                                          <p:attrName>style.visibility</p:attrName>
                                        </p:attrNameLst>
                                      </p:cBhvr>
                                      <p:to>
                                        <p:strVal val="visible"/>
                                      </p:to>
                                    </p:set>
                                    <p:animEffect filter="fade" transition="in">
                                      <p:cBhvr>
                                        <p:cTn dur="500"/>
                                        <p:tgtEl>
                                          <p:spTgt spid="6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xEl>
                                              <p:pRg end="2" st="2"/>
                                            </p:txEl>
                                          </p:spTgt>
                                        </p:tgtEl>
                                        <p:attrNameLst>
                                          <p:attrName>style.visibility</p:attrName>
                                        </p:attrNameLst>
                                      </p:cBhvr>
                                      <p:to>
                                        <p:strVal val="visible"/>
                                      </p:to>
                                    </p:set>
                                    <p:animEffect filter="fade" transition="in">
                                      <p:cBhvr>
                                        <p:cTn dur="500"/>
                                        <p:tgtEl>
                                          <p:spTgt spid="6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xEl>
                                              <p:pRg end="3" st="3"/>
                                            </p:txEl>
                                          </p:spTgt>
                                        </p:tgtEl>
                                        <p:attrNameLst>
                                          <p:attrName>style.visibility</p:attrName>
                                        </p:attrNameLst>
                                      </p:cBhvr>
                                      <p:to>
                                        <p:strVal val="visible"/>
                                      </p:to>
                                    </p:set>
                                    <p:animEffect filter="fade" transition="in">
                                      <p:cBhvr>
                                        <p:cTn dur="500"/>
                                        <p:tgtEl>
                                          <p:spTgt spid="6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xEl>
                                              <p:pRg end="4" st="4"/>
                                            </p:txEl>
                                          </p:spTgt>
                                        </p:tgtEl>
                                        <p:attrNameLst>
                                          <p:attrName>style.visibility</p:attrName>
                                        </p:attrNameLst>
                                      </p:cBhvr>
                                      <p:to>
                                        <p:strVal val="visible"/>
                                      </p:to>
                                    </p:set>
                                    <p:animEffect filter="fade" transition="in">
                                      <p:cBhvr>
                                        <p:cTn dur="500"/>
                                        <p:tgtEl>
                                          <p:spTgt spid="60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xEl>
                                              <p:pRg end="5" st="5"/>
                                            </p:txEl>
                                          </p:spTgt>
                                        </p:tgtEl>
                                        <p:attrNameLst>
                                          <p:attrName>style.visibility</p:attrName>
                                        </p:attrNameLst>
                                      </p:cBhvr>
                                      <p:to>
                                        <p:strVal val="visible"/>
                                      </p:to>
                                    </p:set>
                                    <p:animEffect filter="fade" transition="in">
                                      <p:cBhvr>
                                        <p:cTn dur="500"/>
                                        <p:tgtEl>
                                          <p:spTgt spid="60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pic>
        <p:nvPicPr>
          <p:cNvPr id="613" name="Google Shape;613;p55"/>
          <p:cNvPicPr preferRelativeResize="0"/>
          <p:nvPr/>
        </p:nvPicPr>
        <p:blipFill rotWithShape="1">
          <a:blip r:embed="rId3">
            <a:alphaModFix/>
          </a:blip>
          <a:srcRect b="0" l="0" r="0" t="0"/>
          <a:stretch/>
        </p:blipFill>
        <p:spPr>
          <a:xfrm>
            <a:off x="1752601" y="1447800"/>
            <a:ext cx="7010400" cy="3349263"/>
          </a:xfrm>
          <a:prstGeom prst="rect">
            <a:avLst/>
          </a:prstGeom>
          <a:noFill/>
          <a:ln cap="flat" cmpd="sng" w="9525">
            <a:solidFill>
              <a:schemeClr val="dk1"/>
            </a:solidFill>
            <a:prstDash val="solid"/>
            <a:miter lim="800000"/>
            <a:headEnd len="sm" w="sm" type="none"/>
            <a:tailEnd len="sm" w="sm" type="none"/>
          </a:ln>
        </p:spPr>
      </p:pic>
      <p:sp>
        <p:nvSpPr>
          <p:cNvPr id="614" name="Google Shape;614;p55"/>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615" name="Google Shape;615;p55"/>
          <p:cNvSpPr/>
          <p:nvPr/>
        </p:nvSpPr>
        <p:spPr>
          <a:xfrm>
            <a:off x="914400" y="4876800"/>
            <a:ext cx="7924800" cy="1752600"/>
          </a:xfrm>
          <a:prstGeom prst="rect">
            <a:avLst/>
          </a:prstGeom>
          <a:noFill/>
          <a:ln>
            <a:noFill/>
          </a:ln>
        </p:spPr>
        <p:txBody>
          <a:bodyPr anchorCtr="0" anchor="t" bIns="45700" lIns="91425" spcFirstLastPara="1" rIns="91425" wrap="square" tIns="137150">
            <a:noAutofit/>
          </a:bodyPr>
          <a:lstStyle/>
          <a:p>
            <a:pPr indent="-457200" lvl="0" marL="457200" marR="0" rtl="0" algn="l">
              <a:lnSpc>
                <a:spcPct val="110000"/>
              </a:lnSpc>
              <a:spcBef>
                <a:spcPts val="0"/>
              </a:spcBef>
              <a:spcAft>
                <a:spcPts val="0"/>
              </a:spcAft>
              <a:buClr>
                <a:srgbClr val="800000"/>
              </a:buClr>
              <a:buSzPts val="1520"/>
              <a:buFont typeface="Noto Sans Symbols"/>
              <a:buChar char="◆"/>
            </a:pPr>
            <a:r>
              <a:rPr lang="en-US" sz="1900">
                <a:solidFill>
                  <a:schemeClr val="dk1"/>
                </a:solidFill>
                <a:latin typeface="Arial"/>
                <a:ea typeface="Arial"/>
                <a:cs typeface="Arial"/>
                <a:sym typeface="Arial"/>
              </a:rPr>
              <a:t>Shows manufacturing overhead </a:t>
            </a:r>
            <a:r>
              <a:rPr b="1" i="1" lang="en-US" sz="1900">
                <a:solidFill>
                  <a:schemeClr val="dk1"/>
                </a:solidFill>
                <a:latin typeface="Arial"/>
                <a:ea typeface="Arial"/>
                <a:cs typeface="Arial"/>
                <a:sym typeface="Arial"/>
              </a:rPr>
              <a:t>applied</a:t>
            </a:r>
            <a:r>
              <a:rPr b="1" lang="en-US" sz="1900">
                <a:solidFill>
                  <a:schemeClr val="dk1"/>
                </a:solidFill>
                <a:latin typeface="Arial"/>
                <a:ea typeface="Arial"/>
                <a:cs typeface="Arial"/>
                <a:sym typeface="Arial"/>
              </a:rPr>
              <a:t> </a:t>
            </a:r>
            <a:r>
              <a:rPr lang="en-US" sz="1900">
                <a:solidFill>
                  <a:schemeClr val="dk1"/>
                </a:solidFill>
                <a:latin typeface="Arial"/>
                <a:ea typeface="Arial"/>
                <a:cs typeface="Arial"/>
                <a:sym typeface="Arial"/>
              </a:rPr>
              <a:t>rather than actual overhead costs.</a:t>
            </a:r>
            <a:endParaRPr/>
          </a:p>
          <a:p>
            <a:pPr indent="-457200" lvl="0" marL="457200" marR="0" rtl="0" algn="l">
              <a:lnSpc>
                <a:spcPct val="110000"/>
              </a:lnSpc>
              <a:spcBef>
                <a:spcPts val="760"/>
              </a:spcBef>
              <a:spcAft>
                <a:spcPts val="0"/>
              </a:spcAft>
              <a:buClr>
                <a:srgbClr val="800000"/>
              </a:buClr>
              <a:buSzPts val="1520"/>
              <a:buFont typeface="Noto Sans Symbols"/>
              <a:buChar char="◆"/>
            </a:pPr>
            <a:r>
              <a:rPr lang="en-US" sz="1900">
                <a:solidFill>
                  <a:schemeClr val="dk1"/>
                </a:solidFill>
                <a:latin typeface="Arial"/>
                <a:ea typeface="Arial"/>
                <a:cs typeface="Arial"/>
                <a:sym typeface="Arial"/>
              </a:rPr>
              <a:t>Applied overhead is added to direct materials and direct labor to determine total manufacturing costs</a:t>
            </a:r>
            <a:endParaRPr/>
          </a:p>
        </p:txBody>
      </p:sp>
      <p:sp>
        <p:nvSpPr>
          <p:cNvPr id="616" name="Google Shape;616;p55"/>
          <p:cNvSpPr/>
          <p:nvPr/>
        </p:nvSpPr>
        <p:spPr>
          <a:xfrm>
            <a:off x="290286" y="389796"/>
            <a:ext cx="2249714" cy="697737"/>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617" name="Google Shape;617;p55"/>
          <p:cNvSpPr/>
          <p:nvPr/>
        </p:nvSpPr>
        <p:spPr>
          <a:xfrm>
            <a:off x="2540000" y="274320"/>
            <a:ext cx="6241143" cy="928688"/>
          </a:xfrm>
          <a:prstGeom prst="rect">
            <a:avLst/>
          </a:prstGeom>
          <a:solidFill>
            <a:srgbClr val="000099"/>
          </a:solidFill>
          <a:ln>
            <a:noFill/>
          </a:ln>
        </p:spPr>
        <p:txBody>
          <a:bodyPr anchorCtr="0" anchor="ctr" bIns="45700" lIns="91425" spcFirstLastPara="1" rIns="91425" wrap="square" tIns="18275">
            <a:noAutofit/>
          </a:bodyPr>
          <a:lstStyle/>
          <a:p>
            <a:pPr indent="0" lvl="0" marL="60325" marR="0" rtl="0" algn="l">
              <a:spcBef>
                <a:spcPts val="0"/>
              </a:spcBef>
              <a:spcAft>
                <a:spcPts val="0"/>
              </a:spcAft>
              <a:buNone/>
            </a:pPr>
            <a:r>
              <a:rPr b="1" lang="en-US" sz="2200">
                <a:solidFill>
                  <a:schemeClr val="lt1"/>
                </a:solidFill>
                <a:latin typeface="Arial"/>
                <a:ea typeface="Arial"/>
                <a:cs typeface="Arial"/>
                <a:sym typeface="Arial"/>
              </a:rPr>
              <a:t>Distinguish between under- and overapplied manufacturing overhead.</a:t>
            </a:r>
            <a:endParaRPr/>
          </a:p>
        </p:txBody>
      </p:sp>
      <p:sp>
        <p:nvSpPr>
          <p:cNvPr id="618" name="Google Shape;618;p55"/>
          <p:cNvSpPr/>
          <p:nvPr/>
        </p:nvSpPr>
        <p:spPr>
          <a:xfrm>
            <a:off x="1872343" y="485775"/>
            <a:ext cx="522514" cy="514350"/>
          </a:xfrm>
          <a:prstGeom prst="ellipse">
            <a:avLst/>
          </a:prstGeom>
          <a:solidFill>
            <a:srgbClr val="FF0000"/>
          </a:solidFill>
          <a:ln>
            <a:noFill/>
          </a:ln>
        </p:spPr>
        <p:txBody>
          <a:bodyPr anchorCtr="0" anchor="ctr" bIns="43225" lIns="86475" spcFirstLastPara="1" rIns="86475" wrap="square" tIns="18275">
            <a:noAutofit/>
          </a:bodyPr>
          <a:lstStyle/>
          <a:p>
            <a:pPr indent="0" lvl="0" marL="0" marR="0" rtl="0" algn="ctr">
              <a:spcBef>
                <a:spcPts val="0"/>
              </a:spcBef>
              <a:spcAft>
                <a:spcPts val="0"/>
              </a:spcAft>
              <a:buNone/>
            </a:pPr>
            <a:r>
              <a:rPr b="1" lang="en-US" sz="2700">
                <a:solidFill>
                  <a:schemeClr val="lt1"/>
                </a:solidFill>
                <a:latin typeface="Arial"/>
                <a:ea typeface="Arial"/>
                <a:cs typeface="Arial"/>
                <a:sym typeface="Arial"/>
              </a:rPr>
              <a:t>5</a:t>
            </a:r>
            <a:endParaRPr/>
          </a:p>
        </p:txBody>
      </p:sp>
      <p:sp>
        <p:nvSpPr>
          <p:cNvPr id="619" name="Google Shape;619;p55"/>
          <p:cNvSpPr/>
          <p:nvPr/>
        </p:nvSpPr>
        <p:spPr>
          <a:xfrm>
            <a:off x="228599" y="1447800"/>
            <a:ext cx="1524001" cy="83099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20-17</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Cost of goods manufactured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schedule</a:t>
            </a:r>
            <a:endParaRPr/>
          </a:p>
        </p:txBody>
      </p:sp>
      <p:sp>
        <p:nvSpPr>
          <p:cNvPr id="620" name="Google Shape;620;p55"/>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56"/>
          <p:cNvSpPr/>
          <p:nvPr/>
        </p:nvSpPr>
        <p:spPr>
          <a:xfrm>
            <a:off x="609600" y="1371600"/>
            <a:ext cx="4648200" cy="457200"/>
          </a:xfrm>
          <a:prstGeom prst="rect">
            <a:avLst/>
          </a:prstGeom>
          <a:noFill/>
          <a:ln>
            <a:noFill/>
          </a:ln>
        </p:spPr>
        <p:txBody>
          <a:bodyPr anchorCtr="0" anchor="t" bIns="45700" lIns="91425" spcFirstLastPara="1" rIns="91425" wrap="square" tIns="45700">
            <a:noAutofit/>
          </a:bodyPr>
          <a:lstStyle/>
          <a:p>
            <a:pPr indent="-346075" lvl="0" marL="346075" marR="0" rtl="0" algn="l">
              <a:spcBef>
                <a:spcPts val="0"/>
              </a:spcBef>
              <a:spcAft>
                <a:spcPts val="0"/>
              </a:spcAft>
              <a:buClr>
                <a:schemeClr val="dk1"/>
              </a:buClr>
              <a:buSzPts val="2400"/>
              <a:buFont typeface="Comic Sans MS"/>
              <a:buNone/>
            </a:pPr>
            <a:r>
              <a:rPr lang="en-US" sz="2400">
                <a:solidFill>
                  <a:schemeClr val="dk1"/>
                </a:solidFill>
                <a:latin typeface="Arial"/>
                <a:ea typeface="Arial"/>
                <a:cs typeface="Arial"/>
                <a:sym typeface="Arial"/>
              </a:rPr>
              <a:t>Partial Income Statement</a:t>
            </a:r>
            <a:endParaRPr/>
          </a:p>
        </p:txBody>
      </p:sp>
      <p:cxnSp>
        <p:nvCxnSpPr>
          <p:cNvPr id="626" name="Google Shape;626;p56"/>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627" name="Google Shape;627;p56"/>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Cost of Goods Manufactured</a:t>
            </a:r>
            <a:endParaRPr b="1" i="0" sz="3200">
              <a:solidFill>
                <a:srgbClr val="0000BF"/>
              </a:solidFill>
              <a:latin typeface="Arial"/>
              <a:ea typeface="Arial"/>
              <a:cs typeface="Arial"/>
              <a:sym typeface="Arial"/>
            </a:endParaRPr>
          </a:p>
        </p:txBody>
      </p:sp>
      <p:sp>
        <p:nvSpPr>
          <p:cNvPr id="628" name="Google Shape;628;p56"/>
          <p:cNvSpPr/>
          <p:nvPr/>
        </p:nvSpPr>
        <p:spPr>
          <a:xfrm>
            <a:off x="6781800" y="1704201"/>
            <a:ext cx="1981200" cy="27699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Arial"/>
                <a:ea typeface="Arial"/>
                <a:cs typeface="Arial"/>
                <a:sym typeface="Arial"/>
              </a:rPr>
              <a:t>Illustration 20-18</a:t>
            </a:r>
            <a:endParaRPr b="1" sz="1200">
              <a:solidFill>
                <a:schemeClr val="dk1"/>
              </a:solidFill>
              <a:latin typeface="Arial"/>
              <a:ea typeface="Arial"/>
              <a:cs typeface="Arial"/>
              <a:sym typeface="Arial"/>
            </a:endParaRPr>
          </a:p>
        </p:txBody>
      </p:sp>
      <p:sp>
        <p:nvSpPr>
          <p:cNvPr id="629" name="Google Shape;629;p56"/>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pic>
        <p:nvPicPr>
          <p:cNvPr id="630" name="Google Shape;630;p56"/>
          <p:cNvPicPr preferRelativeResize="0"/>
          <p:nvPr/>
        </p:nvPicPr>
        <p:blipFill rotWithShape="1">
          <a:blip r:embed="rId3">
            <a:alphaModFix/>
          </a:blip>
          <a:srcRect b="0" l="0" r="0" t="0"/>
          <a:stretch/>
        </p:blipFill>
        <p:spPr>
          <a:xfrm>
            <a:off x="457199" y="2043752"/>
            <a:ext cx="8258175" cy="3425112"/>
          </a:xfrm>
          <a:prstGeom prst="rect">
            <a:avLst/>
          </a:prstGeom>
          <a:noFill/>
          <a:ln cap="flat" cmpd="sng" w="9525">
            <a:solidFill>
              <a:schemeClr val="dk1"/>
            </a:solidFill>
            <a:prstDash val="solid"/>
            <a:miter lim="800000"/>
            <a:headEnd len="sm" w="sm" type="none"/>
            <a:tailEnd len="sm" w="sm" type="none"/>
          </a:ln>
        </p:spPr>
      </p:pic>
    </p:spTree>
  </p:cSld>
  <p:clrMapOvr>
    <a:masterClrMapping/>
  </p:clrMapOvr>
  <p:transition>
    <p:wipe dir="r"/>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57"/>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636" name="Google Shape;636;p57"/>
          <p:cNvSpPr/>
          <p:nvPr/>
        </p:nvSpPr>
        <p:spPr>
          <a:xfrm>
            <a:off x="609600" y="1371600"/>
            <a:ext cx="7620000" cy="1981200"/>
          </a:xfrm>
          <a:prstGeom prst="rect">
            <a:avLst/>
          </a:prstGeom>
          <a:noFill/>
          <a:ln>
            <a:noFill/>
          </a:ln>
        </p:spPr>
        <p:txBody>
          <a:bodyPr anchorCtr="0" anchor="t" bIns="45700" lIns="91425" spcFirstLastPara="1" rIns="91425" wrap="square" tIns="45700">
            <a:noAutofit/>
          </a:bodyPr>
          <a:lstStyle/>
          <a:p>
            <a:pPr indent="-457200" lvl="1" marL="685800" marR="0" rtl="0" algn="l">
              <a:lnSpc>
                <a:spcPct val="120000"/>
              </a:lnSpc>
              <a:spcBef>
                <a:spcPts val="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A </a:t>
            </a:r>
            <a:r>
              <a:rPr b="1" i="0" lang="en-US" sz="2200" u="none" cap="none" strike="noStrike">
                <a:solidFill>
                  <a:schemeClr val="dk1"/>
                </a:solidFill>
                <a:latin typeface="Arial"/>
                <a:ea typeface="Arial"/>
                <a:cs typeface="Arial"/>
                <a:sym typeface="Arial"/>
              </a:rPr>
              <a:t>debit balance</a:t>
            </a:r>
            <a:r>
              <a:rPr b="0" i="0" lang="en-US" sz="2200" u="none" cap="none" strike="noStrike">
                <a:solidFill>
                  <a:schemeClr val="dk1"/>
                </a:solidFill>
                <a:latin typeface="Arial"/>
                <a:ea typeface="Arial"/>
                <a:cs typeface="Arial"/>
                <a:sym typeface="Arial"/>
              </a:rPr>
              <a:t> in manufacturing overhead means that overhead is </a:t>
            </a:r>
            <a:r>
              <a:rPr b="1" i="0" lang="en-US" sz="2200" u="none" cap="none" strike="noStrike">
                <a:solidFill>
                  <a:schemeClr val="dk1"/>
                </a:solidFill>
                <a:latin typeface="Arial"/>
                <a:ea typeface="Arial"/>
                <a:cs typeface="Arial"/>
                <a:sym typeface="Arial"/>
              </a:rPr>
              <a:t>underapplied</a:t>
            </a:r>
            <a:r>
              <a:rPr b="0" i="0" lang="en-US" sz="2200" u="none" cap="none" strike="noStrike">
                <a:solidFill>
                  <a:schemeClr val="dk1"/>
                </a:solidFill>
                <a:latin typeface="Arial"/>
                <a:ea typeface="Arial"/>
                <a:cs typeface="Arial"/>
                <a:sym typeface="Arial"/>
              </a:rPr>
              <a:t>.</a:t>
            </a:r>
            <a:endParaRPr/>
          </a:p>
          <a:p>
            <a:pPr indent="-457200" lvl="1" marL="685800" marR="0" rtl="0" algn="l">
              <a:lnSpc>
                <a:spcPct val="120000"/>
              </a:lnSpc>
              <a:spcBef>
                <a:spcPts val="88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A </a:t>
            </a:r>
            <a:r>
              <a:rPr b="1" i="0" lang="en-US" sz="2200" u="none" cap="none" strike="noStrike">
                <a:solidFill>
                  <a:schemeClr val="dk1"/>
                </a:solidFill>
                <a:latin typeface="Arial"/>
                <a:ea typeface="Arial"/>
                <a:cs typeface="Arial"/>
                <a:sym typeface="Arial"/>
              </a:rPr>
              <a:t>credit balance</a:t>
            </a:r>
            <a:r>
              <a:rPr b="0" i="0" lang="en-US" sz="2200" u="none" cap="none" strike="noStrike">
                <a:solidFill>
                  <a:schemeClr val="dk1"/>
                </a:solidFill>
                <a:latin typeface="Arial"/>
                <a:ea typeface="Arial"/>
                <a:cs typeface="Arial"/>
                <a:sym typeface="Arial"/>
              </a:rPr>
              <a:t> in manufacturing overhead means that overhead is </a:t>
            </a:r>
            <a:r>
              <a:rPr b="1" i="0" lang="en-US" sz="2200" u="none" cap="none" strike="noStrike">
                <a:solidFill>
                  <a:schemeClr val="dk1"/>
                </a:solidFill>
                <a:latin typeface="Arial"/>
                <a:ea typeface="Arial"/>
                <a:cs typeface="Arial"/>
                <a:sym typeface="Arial"/>
              </a:rPr>
              <a:t>overapplied</a:t>
            </a:r>
            <a:r>
              <a:rPr b="0" i="0" lang="en-US" sz="2200" u="none" cap="none" strike="noStrike">
                <a:solidFill>
                  <a:schemeClr val="dk1"/>
                </a:solidFill>
                <a:latin typeface="Arial"/>
                <a:ea typeface="Arial"/>
                <a:cs typeface="Arial"/>
                <a:sym typeface="Arial"/>
              </a:rPr>
              <a:t>.</a:t>
            </a:r>
            <a:endParaRPr b="1" i="0" sz="2200" u="none" cap="none" strike="noStrike">
              <a:solidFill>
                <a:schemeClr val="dk1"/>
              </a:solidFill>
              <a:latin typeface="Arial"/>
              <a:ea typeface="Arial"/>
              <a:cs typeface="Arial"/>
              <a:sym typeface="Arial"/>
            </a:endParaRPr>
          </a:p>
        </p:txBody>
      </p:sp>
      <p:pic>
        <p:nvPicPr>
          <p:cNvPr id="637" name="Google Shape;637;p57"/>
          <p:cNvPicPr preferRelativeResize="0"/>
          <p:nvPr/>
        </p:nvPicPr>
        <p:blipFill rotWithShape="1">
          <a:blip r:embed="rId3">
            <a:alphaModFix/>
          </a:blip>
          <a:srcRect b="0" l="0" r="0" t="0"/>
          <a:stretch/>
        </p:blipFill>
        <p:spPr>
          <a:xfrm>
            <a:off x="1093227" y="3810000"/>
            <a:ext cx="6831573" cy="1935163"/>
          </a:xfrm>
          <a:prstGeom prst="rect">
            <a:avLst/>
          </a:prstGeom>
          <a:noFill/>
          <a:ln>
            <a:noFill/>
          </a:ln>
        </p:spPr>
      </p:pic>
      <p:cxnSp>
        <p:nvCxnSpPr>
          <p:cNvPr id="638" name="Google Shape;638;p57"/>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639" name="Google Shape;639;p57"/>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Under- or Overapplied Overhead</a:t>
            </a:r>
            <a:endParaRPr/>
          </a:p>
        </p:txBody>
      </p:sp>
      <p:sp>
        <p:nvSpPr>
          <p:cNvPr id="640" name="Google Shape;640;p57"/>
          <p:cNvSpPr/>
          <p:nvPr/>
        </p:nvSpPr>
        <p:spPr>
          <a:xfrm>
            <a:off x="6597537" y="3200400"/>
            <a:ext cx="178446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20-19</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Under- and overapplied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overhead</a:t>
            </a:r>
            <a:endParaRPr/>
          </a:p>
        </p:txBody>
      </p:sp>
      <p:sp>
        <p:nvSpPr>
          <p:cNvPr id="641" name="Google Shape;641;p57"/>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58"/>
          <p:cNvSpPr txBox="1"/>
          <p:nvPr/>
        </p:nvSpPr>
        <p:spPr>
          <a:xfrm>
            <a:off x="5478463" y="6243638"/>
            <a:ext cx="1841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1" sz="1600">
              <a:solidFill>
                <a:schemeClr val="lt2"/>
              </a:solidFill>
              <a:latin typeface="Arial"/>
              <a:ea typeface="Arial"/>
              <a:cs typeface="Arial"/>
              <a:sym typeface="Arial"/>
            </a:endParaRPr>
          </a:p>
        </p:txBody>
      </p:sp>
      <p:sp>
        <p:nvSpPr>
          <p:cNvPr id="647" name="Google Shape;647;p58"/>
          <p:cNvSpPr/>
          <p:nvPr/>
        </p:nvSpPr>
        <p:spPr>
          <a:xfrm>
            <a:off x="609600" y="1371600"/>
            <a:ext cx="7696200" cy="24384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800000"/>
              </a:buClr>
              <a:buSzPts val="1840"/>
              <a:buFont typeface="Noto Sans Symbols"/>
              <a:buNone/>
            </a:pPr>
            <a:r>
              <a:rPr lang="en-US" sz="2300">
                <a:solidFill>
                  <a:schemeClr val="dk1"/>
                </a:solidFill>
                <a:latin typeface="Arial"/>
                <a:ea typeface="Arial"/>
                <a:cs typeface="Arial"/>
                <a:sym typeface="Arial"/>
              </a:rPr>
              <a:t>Any </a:t>
            </a:r>
            <a:r>
              <a:rPr b="1" lang="en-US" sz="2300">
                <a:solidFill>
                  <a:schemeClr val="dk1"/>
                </a:solidFill>
                <a:latin typeface="Arial"/>
                <a:ea typeface="Arial"/>
                <a:cs typeface="Arial"/>
                <a:sym typeface="Arial"/>
              </a:rPr>
              <a:t>YEAR-END BALANCE</a:t>
            </a:r>
            <a:r>
              <a:rPr lang="en-US" sz="2300">
                <a:solidFill>
                  <a:schemeClr val="dk1"/>
                </a:solidFill>
                <a:latin typeface="Arial"/>
                <a:ea typeface="Arial"/>
                <a:cs typeface="Arial"/>
                <a:sym typeface="Arial"/>
              </a:rPr>
              <a:t> in manufacturing overhead is eliminated by adjusting cost of goods sold.</a:t>
            </a:r>
            <a:endParaRPr/>
          </a:p>
          <a:p>
            <a:pPr indent="-457200" lvl="1" marL="685800" marR="0" rtl="0" algn="l">
              <a:lnSpc>
                <a:spcPct val="125000"/>
              </a:lnSpc>
              <a:spcBef>
                <a:spcPts val="1200"/>
              </a:spcBef>
              <a:spcAft>
                <a:spcPts val="0"/>
              </a:spcAft>
              <a:buClr>
                <a:srgbClr val="800000"/>
              </a:buClr>
              <a:buSzPts val="1760"/>
              <a:buFont typeface="Noto Sans Symbols"/>
              <a:buChar char="◆"/>
            </a:pPr>
            <a:r>
              <a:rPr b="1" i="0" lang="en-US" sz="2200" u="none" cap="none" strike="noStrike">
                <a:solidFill>
                  <a:srgbClr val="000099"/>
                </a:solidFill>
                <a:latin typeface="Arial"/>
                <a:ea typeface="Arial"/>
                <a:cs typeface="Arial"/>
                <a:sym typeface="Arial"/>
              </a:rPr>
              <a:t>Underapplied overhead </a:t>
            </a:r>
            <a:r>
              <a:rPr b="0" i="0" lang="en-US" sz="2200" u="none" cap="none" strike="noStrike">
                <a:solidFill>
                  <a:schemeClr val="dk1"/>
                </a:solidFill>
                <a:latin typeface="Arial"/>
                <a:ea typeface="Arial"/>
                <a:cs typeface="Arial"/>
                <a:sym typeface="Arial"/>
              </a:rPr>
              <a:t>is </a:t>
            </a:r>
            <a:r>
              <a:rPr b="1" i="0" lang="en-US" sz="2200" u="none" cap="none" strike="noStrike">
                <a:solidFill>
                  <a:schemeClr val="dk1"/>
                </a:solidFill>
                <a:latin typeface="Arial"/>
                <a:ea typeface="Arial"/>
                <a:cs typeface="Arial"/>
                <a:sym typeface="Arial"/>
              </a:rPr>
              <a:t>debited</a:t>
            </a:r>
            <a:r>
              <a:rPr b="0" i="0" lang="en-US" sz="2200" u="none" cap="none" strike="noStrike">
                <a:solidFill>
                  <a:schemeClr val="dk1"/>
                </a:solidFill>
                <a:latin typeface="Arial"/>
                <a:ea typeface="Arial"/>
                <a:cs typeface="Arial"/>
                <a:sym typeface="Arial"/>
              </a:rPr>
              <a:t> to COGS</a:t>
            </a:r>
            <a:endParaRPr/>
          </a:p>
          <a:p>
            <a:pPr indent="-457200" lvl="1" marL="685800" marR="0" rtl="0" algn="l">
              <a:lnSpc>
                <a:spcPct val="125000"/>
              </a:lnSpc>
              <a:spcBef>
                <a:spcPts val="1200"/>
              </a:spcBef>
              <a:spcAft>
                <a:spcPts val="0"/>
              </a:spcAft>
              <a:buClr>
                <a:srgbClr val="800000"/>
              </a:buClr>
              <a:buSzPts val="1760"/>
              <a:buFont typeface="Noto Sans Symbols"/>
              <a:buChar char="◆"/>
            </a:pPr>
            <a:r>
              <a:rPr b="1" i="0" lang="en-US" sz="2200" u="none" cap="none" strike="noStrike">
                <a:solidFill>
                  <a:srgbClr val="000099"/>
                </a:solidFill>
                <a:latin typeface="Arial"/>
                <a:ea typeface="Arial"/>
                <a:cs typeface="Arial"/>
                <a:sym typeface="Arial"/>
              </a:rPr>
              <a:t>Overapplied overhead </a:t>
            </a:r>
            <a:r>
              <a:rPr b="0" i="0" lang="en-US" sz="2200" u="none" cap="none" strike="noStrike">
                <a:solidFill>
                  <a:schemeClr val="dk1"/>
                </a:solidFill>
                <a:latin typeface="Arial"/>
                <a:ea typeface="Arial"/>
                <a:cs typeface="Arial"/>
                <a:sym typeface="Arial"/>
              </a:rPr>
              <a:t>is </a:t>
            </a:r>
            <a:r>
              <a:rPr b="1" i="0" lang="en-US" sz="2200" u="none" cap="none" strike="noStrike">
                <a:solidFill>
                  <a:schemeClr val="dk1"/>
                </a:solidFill>
                <a:latin typeface="Arial"/>
                <a:ea typeface="Arial"/>
                <a:cs typeface="Arial"/>
                <a:sym typeface="Arial"/>
              </a:rPr>
              <a:t>credited</a:t>
            </a:r>
            <a:r>
              <a:rPr b="0" i="0" lang="en-US" sz="2200" u="none" cap="none" strike="noStrike">
                <a:solidFill>
                  <a:schemeClr val="dk1"/>
                </a:solidFill>
                <a:latin typeface="Arial"/>
                <a:ea typeface="Arial"/>
                <a:cs typeface="Arial"/>
                <a:sym typeface="Arial"/>
              </a:rPr>
              <a:t> to COGS	</a:t>
            </a:r>
            <a:endParaRPr/>
          </a:p>
        </p:txBody>
      </p:sp>
      <p:cxnSp>
        <p:nvCxnSpPr>
          <p:cNvPr id="648" name="Google Shape;648;p58"/>
          <p:cNvCxnSpPr/>
          <p:nvPr/>
        </p:nvCxnSpPr>
        <p:spPr>
          <a:xfrm>
            <a:off x="533400" y="1066800"/>
            <a:ext cx="8181975" cy="0"/>
          </a:xfrm>
          <a:prstGeom prst="straightConnector1">
            <a:avLst/>
          </a:prstGeom>
          <a:noFill/>
          <a:ln cap="sq" cmpd="sng" w="57150">
            <a:solidFill>
              <a:schemeClr val="dk1"/>
            </a:solidFill>
            <a:prstDash val="solid"/>
            <a:round/>
            <a:headEnd len="sm" w="sm" type="none"/>
            <a:tailEnd len="sm" w="sm" type="none"/>
          </a:ln>
        </p:spPr>
      </p:cxnSp>
      <p:sp>
        <p:nvSpPr>
          <p:cNvPr id="649" name="Google Shape;649;p58"/>
          <p:cNvSpPr txBox="1"/>
          <p:nvPr/>
        </p:nvSpPr>
        <p:spPr>
          <a:xfrm>
            <a:off x="609600" y="381000"/>
            <a:ext cx="78486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i="0" lang="en-US" sz="3200">
                <a:solidFill>
                  <a:srgbClr val="0000BF"/>
                </a:solidFill>
                <a:latin typeface="Arial"/>
                <a:ea typeface="Arial"/>
                <a:cs typeface="Arial"/>
                <a:sym typeface="Arial"/>
              </a:rPr>
              <a:t>Under- or Overapplied Overhead</a:t>
            </a:r>
            <a:endParaRPr/>
          </a:p>
        </p:txBody>
      </p:sp>
      <p:sp>
        <p:nvSpPr>
          <p:cNvPr id="650" name="Google Shape;650;p58"/>
          <p:cNvSpPr/>
          <p:nvPr/>
        </p:nvSpPr>
        <p:spPr>
          <a:xfrm>
            <a:off x="609600" y="3810000"/>
            <a:ext cx="8153400" cy="1304203"/>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100">
                <a:solidFill>
                  <a:schemeClr val="dk1"/>
                </a:solidFill>
                <a:latin typeface="Arial"/>
                <a:ea typeface="Arial"/>
                <a:cs typeface="Arial"/>
                <a:sym typeface="Arial"/>
              </a:rPr>
              <a:t>Illustration:  </a:t>
            </a:r>
            <a:r>
              <a:rPr lang="en-US" sz="2100">
                <a:solidFill>
                  <a:schemeClr val="dk1"/>
                </a:solidFill>
                <a:latin typeface="Arial"/>
                <a:ea typeface="Arial"/>
                <a:cs typeface="Arial"/>
                <a:sym typeface="Arial"/>
              </a:rPr>
              <a:t>Wallace has a $2,500 credit balance in Manufacturing Overhead at December 31. The adjusting entry for the over-applied overhead is:</a:t>
            </a:r>
            <a:endParaRPr/>
          </a:p>
        </p:txBody>
      </p:sp>
      <p:sp>
        <p:nvSpPr>
          <p:cNvPr id="651" name="Google Shape;651;p58"/>
          <p:cNvSpPr/>
          <p:nvPr/>
        </p:nvSpPr>
        <p:spPr>
          <a:xfrm>
            <a:off x="609600" y="5257800"/>
            <a:ext cx="7772400" cy="92392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Dec. 31 	Manufacturing Overhead 	2,500</a:t>
            </a:r>
            <a:endParaRPr/>
          </a:p>
          <a:p>
            <a:pPr indent="0" lvl="0" marL="0" marR="0" rtl="0" algn="l">
              <a:lnSpc>
                <a:spcPct val="120000"/>
              </a:lnSpc>
              <a:spcBef>
                <a:spcPts val="420"/>
              </a:spcBef>
              <a:spcAft>
                <a:spcPts val="0"/>
              </a:spcAft>
              <a:buNone/>
            </a:pPr>
            <a:r>
              <a:rPr lang="en-US" sz="2100">
                <a:solidFill>
                  <a:schemeClr val="dk1"/>
                </a:solidFill>
                <a:latin typeface="Arial"/>
                <a:ea typeface="Arial"/>
                <a:cs typeface="Arial"/>
                <a:sym typeface="Arial"/>
              </a:rPr>
              <a:t>		Cost of Good Sold 		2,500</a:t>
            </a:r>
            <a:endParaRPr/>
          </a:p>
        </p:txBody>
      </p:sp>
      <p:sp>
        <p:nvSpPr>
          <p:cNvPr id="652" name="Google Shape;652;p58"/>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0" st="0"/>
                                            </p:txEl>
                                          </p:spTgt>
                                        </p:tgtEl>
                                        <p:attrNameLst>
                                          <p:attrName>style.visibility</p:attrName>
                                        </p:attrNameLst>
                                      </p:cBhvr>
                                      <p:to>
                                        <p:strVal val="visible"/>
                                      </p:to>
                                    </p:set>
                                    <p:animEffect filter="fade" transition="in">
                                      <p:cBhvr>
                                        <p:cTn dur="500"/>
                                        <p:tgtEl>
                                          <p:spTgt spid="6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1" st="1"/>
                                            </p:txEl>
                                          </p:spTgt>
                                        </p:tgtEl>
                                        <p:attrNameLst>
                                          <p:attrName>style.visibility</p:attrName>
                                        </p:attrNameLst>
                                      </p:cBhvr>
                                      <p:to>
                                        <p:strVal val="visible"/>
                                      </p:to>
                                    </p:set>
                                    <p:animEffect filter="fade" transition="in">
                                      <p:cBhvr>
                                        <p:cTn dur="500"/>
                                        <p:tgtEl>
                                          <p:spTgt spid="651">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59"/>
          <p:cNvSpPr/>
          <p:nvPr/>
        </p:nvSpPr>
        <p:spPr>
          <a:xfrm>
            <a:off x="533400" y="1354137"/>
            <a:ext cx="8153400" cy="2880340"/>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lang="en-US" sz="2100">
                <a:solidFill>
                  <a:schemeClr val="dk1"/>
                </a:solidFill>
                <a:latin typeface="Arial"/>
                <a:ea typeface="Arial"/>
                <a:cs typeface="Arial"/>
                <a:sym typeface="Arial"/>
              </a:rPr>
              <a:t>For Karr Company, the predetermined overhead rate is 140% of direct labor cost. During the month, Karr incurred $90,000 of factory labor costs, of which $80,000 is direct labor and $10,000 is indirect labor. Actual overhead incurred was $119,000.  Compute the amount of manufacturing overhead applied during the month. Determine the amount of under- or overapplied manufacturing overhead.</a:t>
            </a:r>
            <a:endParaRPr/>
          </a:p>
        </p:txBody>
      </p:sp>
      <p:sp>
        <p:nvSpPr>
          <p:cNvPr id="658" name="Google Shape;658;p59"/>
          <p:cNvSpPr/>
          <p:nvPr/>
        </p:nvSpPr>
        <p:spPr>
          <a:xfrm>
            <a:off x="533400" y="4325937"/>
            <a:ext cx="3505200" cy="1693863"/>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2100">
                <a:solidFill>
                  <a:schemeClr val="dk1"/>
                </a:solidFill>
                <a:latin typeface="Arial"/>
                <a:ea typeface="Arial"/>
                <a:cs typeface="Arial"/>
                <a:sym typeface="Arial"/>
              </a:rPr>
              <a:t>Manufacturing overhead applied</a:t>
            </a:r>
            <a:endParaRPr/>
          </a:p>
          <a:p>
            <a:pPr indent="0" lvl="0" marL="0" marR="0" rtl="0" algn="l">
              <a:lnSpc>
                <a:spcPct val="110000"/>
              </a:lnSpc>
              <a:spcBef>
                <a:spcPts val="1260"/>
              </a:spcBef>
              <a:spcAft>
                <a:spcPts val="0"/>
              </a:spcAft>
              <a:buNone/>
            </a:pPr>
            <a:r>
              <a:rPr lang="en-US" sz="2100">
                <a:solidFill>
                  <a:schemeClr val="dk1"/>
                </a:solidFill>
                <a:latin typeface="Arial"/>
                <a:ea typeface="Arial"/>
                <a:cs typeface="Arial"/>
                <a:sym typeface="Arial"/>
              </a:rPr>
              <a:t>Underapplied manufacturing overhead</a:t>
            </a:r>
            <a:endParaRPr/>
          </a:p>
        </p:txBody>
      </p:sp>
      <p:sp>
        <p:nvSpPr>
          <p:cNvPr id="659" name="Google Shape;659;p59"/>
          <p:cNvSpPr/>
          <p:nvPr/>
        </p:nvSpPr>
        <p:spPr>
          <a:xfrm>
            <a:off x="4191000" y="4491037"/>
            <a:ext cx="3962400" cy="420243"/>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2100">
                <a:solidFill>
                  <a:schemeClr val="dk1"/>
                </a:solidFill>
                <a:latin typeface="Arial"/>
                <a:ea typeface="Arial"/>
                <a:cs typeface="Arial"/>
                <a:sym typeface="Arial"/>
              </a:rPr>
              <a:t>(140% x $80,000) = </a:t>
            </a:r>
            <a:r>
              <a:rPr b="1" lang="en-US" sz="2100">
                <a:solidFill>
                  <a:schemeClr val="dk1"/>
                </a:solidFill>
                <a:latin typeface="Arial"/>
                <a:ea typeface="Arial"/>
                <a:cs typeface="Arial"/>
                <a:sym typeface="Arial"/>
              </a:rPr>
              <a:t>$112,000</a:t>
            </a:r>
            <a:endParaRPr/>
          </a:p>
        </p:txBody>
      </p:sp>
      <p:sp>
        <p:nvSpPr>
          <p:cNvPr id="660" name="Google Shape;660;p59"/>
          <p:cNvSpPr/>
          <p:nvPr/>
        </p:nvSpPr>
        <p:spPr>
          <a:xfrm>
            <a:off x="4191000" y="5405437"/>
            <a:ext cx="4495800" cy="420243"/>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2100">
                <a:solidFill>
                  <a:schemeClr val="dk1"/>
                </a:solidFill>
                <a:latin typeface="Arial"/>
                <a:ea typeface="Arial"/>
                <a:cs typeface="Arial"/>
                <a:sym typeface="Arial"/>
              </a:rPr>
              <a:t>($119,000 - $112,000) = </a:t>
            </a:r>
            <a:r>
              <a:rPr b="1" lang="en-US" sz="2100">
                <a:solidFill>
                  <a:schemeClr val="dk1"/>
                </a:solidFill>
                <a:latin typeface="Arial"/>
                <a:ea typeface="Arial"/>
                <a:cs typeface="Arial"/>
                <a:sym typeface="Arial"/>
              </a:rPr>
              <a:t>$7,000</a:t>
            </a:r>
            <a:endParaRPr/>
          </a:p>
        </p:txBody>
      </p:sp>
      <p:sp>
        <p:nvSpPr>
          <p:cNvPr id="661" name="Google Shape;661;p59"/>
          <p:cNvSpPr/>
          <p:nvPr/>
        </p:nvSpPr>
        <p:spPr>
          <a:xfrm>
            <a:off x="3733800" y="4402137"/>
            <a:ext cx="228600" cy="685800"/>
          </a:xfrm>
          <a:prstGeom prst="rightBrace">
            <a:avLst>
              <a:gd fmla="val 25000" name="adj1"/>
              <a:gd fmla="val 50000" name="adj2"/>
            </a:avLst>
          </a:prstGeom>
          <a:noFill/>
          <a:ln cap="sq" cmpd="sng" w="2857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662" name="Google Shape;662;p59"/>
          <p:cNvSpPr/>
          <p:nvPr/>
        </p:nvSpPr>
        <p:spPr>
          <a:xfrm>
            <a:off x="3733800" y="5316537"/>
            <a:ext cx="228600" cy="685800"/>
          </a:xfrm>
          <a:prstGeom prst="rightBrace">
            <a:avLst>
              <a:gd fmla="val 25000" name="adj1"/>
              <a:gd fmla="val 50000" name="adj2"/>
            </a:avLst>
          </a:prstGeom>
          <a:noFill/>
          <a:ln cap="sq" cmpd="sng" w="2857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663" name="Google Shape;663;p59"/>
          <p:cNvSpPr txBox="1"/>
          <p:nvPr/>
        </p:nvSpPr>
        <p:spPr>
          <a:xfrm>
            <a:off x="8077200" y="6400800"/>
            <a:ext cx="9144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
        <p:nvSpPr>
          <p:cNvPr id="664" name="Google Shape;664;p59"/>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665" name="Google Shape;665;p59"/>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53975" marR="0" rtl="0" algn="l">
              <a:spcBef>
                <a:spcPts val="0"/>
              </a:spcBef>
              <a:spcAft>
                <a:spcPts val="0"/>
              </a:spcAft>
              <a:buNone/>
            </a:pPr>
            <a:r>
              <a:rPr b="1" lang="en-US" sz="2600">
                <a:solidFill>
                  <a:schemeClr val="lt1"/>
                </a:solidFill>
                <a:latin typeface="Arial"/>
                <a:ea typeface="Arial"/>
                <a:cs typeface="Arial"/>
                <a:sym typeface="Arial"/>
              </a:rPr>
              <a:t>Applied Manufacturing Overhead</a:t>
            </a:r>
            <a:endParaRPr b="1" i="0" sz="2600">
              <a:solidFill>
                <a:schemeClr val="lt1"/>
              </a:solidFill>
              <a:latin typeface="Arial"/>
              <a:ea typeface="Arial"/>
              <a:cs typeface="Arial"/>
              <a:sym typeface="Arial"/>
            </a:endParaRPr>
          </a:p>
        </p:txBody>
      </p:sp>
      <p:sp>
        <p:nvSpPr>
          <p:cNvPr id="666" name="Google Shape;666;p59"/>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0" spcFirstLastPara="1" rIns="0" wrap="square" tIns="18275">
            <a:noAutofit/>
          </a:bodyPr>
          <a:lstStyle/>
          <a:p>
            <a:pPr indent="0" lvl="0" marL="0" marR="0" rtl="0" algn="ctr">
              <a:spcBef>
                <a:spcPts val="0"/>
              </a:spcBef>
              <a:spcAft>
                <a:spcPts val="0"/>
              </a:spcAft>
              <a:buNone/>
            </a:pPr>
            <a:r>
              <a:rPr b="1" lang="en-US" sz="4000">
                <a:solidFill>
                  <a:srgbClr val="FF0000"/>
                </a:solidFill>
                <a:latin typeface="Arial"/>
                <a:ea typeface="Arial"/>
                <a:cs typeface="Arial"/>
                <a:sym typeface="Arial"/>
              </a:rPr>
              <a:t>5</a:t>
            </a:r>
            <a:endParaRPr b="1" sz="4000">
              <a:solidFill>
                <a:srgbClr val="FF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500"/>
                                        <p:tgtEl>
                                          <p:spTgt spid="6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500"/>
                                        <p:tgtEl>
                                          <p:spTgt spid="6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60"/>
          <p:cNvSpPr/>
          <p:nvPr/>
        </p:nvSpPr>
        <p:spPr>
          <a:xfrm>
            <a:off x="601640" y="1371600"/>
            <a:ext cx="7924800" cy="4060825"/>
          </a:xfrm>
          <a:prstGeom prst="rect">
            <a:avLst/>
          </a:prstGeom>
          <a:noFill/>
          <a:ln>
            <a:noFill/>
          </a:ln>
        </p:spPr>
        <p:txBody>
          <a:bodyPr anchorCtr="0" anchor="t" bIns="46025" lIns="92075" spcFirstLastPara="1" rIns="92075" wrap="square" tIns="46025">
            <a:spAutoFit/>
          </a:bodyPr>
          <a:lstStyle/>
          <a:p>
            <a:pPr indent="0" lvl="0" marL="0" marR="0" rtl="0" algn="just">
              <a:lnSpc>
                <a:spcPct val="130000"/>
              </a:lnSpc>
              <a:spcBef>
                <a:spcPts val="0"/>
              </a:spcBef>
              <a:spcAft>
                <a:spcPts val="0"/>
              </a:spcAft>
              <a:buNone/>
            </a:pPr>
            <a:r>
              <a:rPr b="0" lang="en-US" sz="2000">
                <a:solidFill>
                  <a:schemeClr val="dk1"/>
                </a:solidFill>
                <a:latin typeface="Arial"/>
                <a:ea typeface="Arial"/>
                <a:cs typeface="Arial"/>
                <a:sym typeface="Arial"/>
              </a:rPr>
              <a:t>“Copyright © 2015 John Wiley &amp; Sons, Inc. All rights reserved. Reproduction or translation of this work beyond that permitted in Section 117 of the 1976 United States Copyright Act without the express written permission of the copyright owner is unlawful. Request for further information should be addressed to the Permissions Department, John Wiley &amp; Sons, Inc. The purchaser may make back-up copies for his/her own use only and not for distribution or resale. The Publisher assumes no responsibility for errors, omissions, or damages, caused by the use of these programs or from the use of the information contained herein.”</a:t>
            </a:r>
            <a:endParaRPr/>
          </a:p>
        </p:txBody>
      </p:sp>
      <p:cxnSp>
        <p:nvCxnSpPr>
          <p:cNvPr id="672" name="Google Shape;672;p60"/>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673" name="Google Shape;673;p60"/>
          <p:cNvSpPr/>
          <p:nvPr/>
        </p:nvSpPr>
        <p:spPr>
          <a:xfrm>
            <a:off x="533400" y="304800"/>
            <a:ext cx="7620000" cy="560388"/>
          </a:xfrm>
          <a:prstGeom prst="rect">
            <a:avLst/>
          </a:prstGeom>
          <a:noFill/>
          <a:ln>
            <a:noFill/>
          </a:ln>
        </p:spPr>
        <p:txBody>
          <a:bodyPr anchorCtr="0" anchor="ctr"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Copyright</a:t>
            </a:r>
            <a:endParaRPr b="1" sz="3200">
              <a:solidFill>
                <a:srgbClr val="0000BF"/>
              </a:solidFill>
              <a:latin typeface="Arial"/>
              <a:ea typeface="Arial"/>
              <a:cs typeface="Arial"/>
              <a:sym typeface="Arial"/>
            </a:endParaRPr>
          </a:p>
        </p:txBody>
      </p:sp>
    </p:spTree>
  </p:cSld>
  <p:clrMapOvr>
    <a:masterClrMapping/>
  </p:clrMapOvr>
  <p:transition>
    <p:wipe dir="r"/>
  </p:transition>
</p:sld>
</file>

<file path=ppt/theme/theme1.xml><?xml version="1.0" encoding="utf-8"?>
<a:theme xmlns:a="http://schemas.openxmlformats.org/drawingml/2006/main" xmlns:r="http://schemas.openxmlformats.org/officeDocument/2006/relationships" name="movnglnc">
  <a:themeElements>
    <a:clrScheme name="">
      <a:dk1>
        <a:srgbClr val="000000"/>
      </a:dk1>
      <a:lt1>
        <a:srgbClr val="FFFFFF"/>
      </a:lt1>
      <a:dk2>
        <a:srgbClr val="0000FF"/>
      </a:dk2>
      <a:lt2>
        <a:srgbClr val="000000"/>
      </a:lt2>
      <a:accent1>
        <a:srgbClr val="00FFFF"/>
      </a:accent1>
      <a:accent2>
        <a:srgbClr val="FF0000"/>
      </a:accent2>
      <a:accent3>
        <a:srgbClr val="FFFFFF"/>
      </a:accent3>
      <a:accent4>
        <a:srgbClr val="000000"/>
      </a:accent4>
      <a:accent5>
        <a:srgbClr val="AAFFFF"/>
      </a:accent5>
      <a:accent6>
        <a:srgbClr val="E70000"/>
      </a:accent6>
      <a:hlink>
        <a:srgbClr val="000099"/>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1997-03-28T18:03:02Z</dcterms:created>
  <dc:creator>Coby Harmon UCSB</dc:creator>
</cp:coreProperties>
</file>