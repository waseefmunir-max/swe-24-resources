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ms-excel" Extension="xls"/>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oleObject" PartName="/ppt/embeddings/oleObject13.bin"/>
  <Override ContentType="application/vnd.openxmlformats-officedocument.oleObject" PartName="/ppt/embeddings/oleObject9.bin"/>
  <Override ContentType="application/vnd.openxmlformats-officedocument.oleObject" PartName="/ppt/embeddings/oleObject6.bin"/>
  <Override ContentType="application/vnd.openxmlformats-officedocument.oleObject" PartName="/ppt/embeddings/oleObject15.bin"/>
  <Override ContentType="application/vnd.openxmlformats-officedocument.oleObject" PartName="/ppt/embeddings/oleObject4.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officedocument.oleObject" PartName="/ppt/embeddings/oleObject14.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0.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excel" PartName="/ppt/embeddings/Microsoft_Excel_Sheet2.xls"/>
  <Override ContentType="application/vnd.ms-excel" PartName="/ppt/embeddings/Microsoft_Excel_Sheet1.xls"/>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6858000" cx="9144000"/>
  <p:notesSz cx="7004050" cy="9290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925">
          <p15:clr>
            <a:srgbClr val="A4A3A4"/>
          </p15:clr>
        </p15:guide>
        <p15:guide id="2" pos="2206">
          <p15:clr>
            <a:srgbClr val="A4A3A4"/>
          </p15:clr>
        </p15:guide>
      </p15:notesGuideLst>
    </p:ext>
    <p:ext uri="GoogleSlidesCustomDataVersion2">
      <go:slidesCustomData xmlns:go="http://customooxmlschemas.google.com/" r:id="rId55" roundtripDataSignature="AMtx7mifHLY+Prll7heM1TXvyMkzK9Q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5" orient="horz"/>
        <p:guide pos="2206"/>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3.png"/><Relationship Id="rId3" Type="http://schemas.openxmlformats.org/officeDocument/2006/relationships/image" Target="../media/image1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jpg"/><Relationship Id="rId2" Type="http://schemas.openxmlformats.org/officeDocument/2006/relationships/image" Target="../media/image17.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9.jpg"/><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lvl1pPr indent="-228600" lvl="0" marL="4572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2pPr>
            <a:lvl3pPr indent="-228600" lvl="2" marL="13716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3pPr>
            <a:lvl4pPr indent="-228600" lvl="3" marL="18288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4pPr>
            <a:lvl5pPr indent="-228600" lvl="4" marL="22860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p:nvPr>
            <p:ph idx="2" type="sldImg"/>
          </p:nvPr>
        </p:nvSpPr>
        <p:spPr>
          <a:xfrm>
            <a:off x="1190625" y="704850"/>
            <a:ext cx="4624388" cy="34686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4:notes"/>
          <p:cNvSpPr txBox="1"/>
          <p:nvPr>
            <p:ph idx="1" type="body"/>
          </p:nvPr>
        </p:nvSpPr>
        <p:spPr>
          <a:xfrm>
            <a:off x="389114" y="4413020"/>
            <a:ext cx="6303645" cy="4179379"/>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6: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1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1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0: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2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1: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2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2: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2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3: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2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4: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2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2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2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7: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2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2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3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3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3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3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3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3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8: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3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9: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40: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p4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4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2: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3: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4: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4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4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6: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4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7: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6" name="Google Shape;606;p4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8: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51"/>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 name="Google Shape;12;p51"/>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3" name="Shape 13"/>
        <p:cNvGrpSpPr/>
        <p:nvPr/>
      </p:nvGrpSpPr>
      <p:grpSpPr>
        <a:xfrm>
          <a:off x="0" y="0"/>
          <a:ext cx="0" cy="0"/>
          <a:chOff x="0" y="0"/>
          <a:chExt cx="0" cy="0"/>
        </a:xfrm>
      </p:grpSpPr>
      <p:sp>
        <p:nvSpPr>
          <p:cNvPr id="14" name="Google Shape;14;p52"/>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15" name="Shape 15"/>
        <p:cNvGrpSpPr/>
        <p:nvPr/>
      </p:nvGrpSpPr>
      <p:grpSpPr>
        <a:xfrm>
          <a:off x="0" y="0"/>
          <a:ext cx="0" cy="0"/>
          <a:chOff x="0" y="0"/>
          <a:chExt cx="0" cy="0"/>
        </a:xfrm>
      </p:grpSpPr>
      <p:sp>
        <p:nvSpPr>
          <p:cNvPr id="16" name="Google Shape;16;p53"/>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54"/>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57"/>
          <p:cNvSpPr txBox="1"/>
          <p:nvPr>
            <p:ph type="ctrTitle"/>
          </p:nvPr>
        </p:nvSpPr>
        <p:spPr>
          <a:xfrm>
            <a:off x="685800" y="2130425"/>
            <a:ext cx="7772400" cy="1470025"/>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57"/>
          <p:cNvSpPr txBox="1"/>
          <p:nvPr>
            <p:ph idx="1" type="subTitle"/>
          </p:nvPr>
        </p:nvSpPr>
        <p:spPr>
          <a:xfrm>
            <a:off x="1371600" y="3886200"/>
            <a:ext cx="6400800" cy="1752600"/>
          </a:xfrm>
          <a:prstGeom prst="rect">
            <a:avLst/>
          </a:prstGeom>
          <a:noFill/>
          <a:ln>
            <a:noFill/>
          </a:ln>
        </p:spPr>
        <p:txBody>
          <a:bodyPr anchorCtr="0" anchor="t" bIns="46025" lIns="182550" spcFirstLastPara="1" rIns="182550" wrap="square" tIns="46025">
            <a:noAutofit/>
          </a:bodyPr>
          <a:lstStyle>
            <a:lvl1pPr lvl="0" algn="ctr">
              <a:spcBef>
                <a:spcPts val="560"/>
              </a:spcBef>
              <a:spcAft>
                <a:spcPts val="0"/>
              </a:spcAft>
              <a:buSzPts val="2100"/>
              <a:buNone/>
              <a:defRPr/>
            </a:lvl1pPr>
            <a:lvl2pPr lvl="1" algn="ctr">
              <a:spcBef>
                <a:spcPts val="480"/>
              </a:spcBef>
              <a:spcAft>
                <a:spcPts val="0"/>
              </a:spcAft>
              <a:buSzPts val="1800"/>
              <a:buNone/>
              <a:defRPr/>
            </a:lvl2pPr>
            <a:lvl3pPr lvl="2" algn="ctr">
              <a:spcBef>
                <a:spcPts val="400"/>
              </a:spcBef>
              <a:spcAft>
                <a:spcPts val="0"/>
              </a:spcAft>
              <a:buSzPts val="1500"/>
              <a:buNone/>
              <a:defRPr/>
            </a:lvl3pPr>
            <a:lvl4pPr lvl="3" algn="ctr">
              <a:spcBef>
                <a:spcPts val="400"/>
              </a:spcBef>
              <a:spcAft>
                <a:spcPts val="0"/>
              </a:spcAft>
              <a:buSzPts val="1500"/>
              <a:buNone/>
              <a:defRPr/>
            </a:lvl4pPr>
            <a:lvl5pPr lvl="4" algn="ctr">
              <a:spcBef>
                <a:spcPts val="400"/>
              </a:spcBef>
              <a:spcAft>
                <a:spcPts val="0"/>
              </a:spcAft>
              <a:buSzPts val="1500"/>
              <a:buNone/>
              <a:defRPr/>
            </a:lvl5pPr>
            <a:lvl6pPr lvl="5" algn="ctr">
              <a:spcBef>
                <a:spcPts val="400"/>
              </a:spcBef>
              <a:spcAft>
                <a:spcPts val="0"/>
              </a:spcAft>
              <a:buSzPts val="1500"/>
              <a:buNone/>
              <a:defRPr/>
            </a:lvl6pPr>
            <a:lvl7pPr lvl="6" algn="ctr">
              <a:spcBef>
                <a:spcPts val="400"/>
              </a:spcBef>
              <a:spcAft>
                <a:spcPts val="0"/>
              </a:spcAft>
              <a:buSzPts val="1500"/>
              <a:buNone/>
              <a:defRPr/>
            </a:lvl7pPr>
            <a:lvl8pPr lvl="7" algn="ctr">
              <a:spcBef>
                <a:spcPts val="400"/>
              </a:spcBef>
              <a:spcAft>
                <a:spcPts val="0"/>
              </a:spcAft>
              <a:buSzPts val="1500"/>
              <a:buNone/>
              <a:defRPr/>
            </a:lvl8pPr>
            <a:lvl9pPr lvl="8" algn="ctr">
              <a:spcBef>
                <a:spcPts val="400"/>
              </a:spcBef>
              <a:spcAft>
                <a:spcPts val="0"/>
              </a:spcAft>
              <a:buSzPts val="1500"/>
              <a:buNone/>
              <a:defRPr/>
            </a:lvl9pPr>
          </a:lstStyle>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58"/>
          <p:cNvSpPr txBox="1"/>
          <p:nvPr>
            <p:ph type="title"/>
          </p:nvPr>
        </p:nvSpPr>
        <p:spPr>
          <a:xfrm>
            <a:off x="722313" y="4406900"/>
            <a:ext cx="7772400" cy="1362075"/>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t" bIns="46025" lIns="92075" spcFirstLastPara="1" rIns="92075" wrap="square" tIns="4602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58"/>
          <p:cNvSpPr txBox="1"/>
          <p:nvPr>
            <p:ph idx="1" type="body"/>
          </p:nvPr>
        </p:nvSpPr>
        <p:spPr>
          <a:xfrm>
            <a:off x="722313" y="2906713"/>
            <a:ext cx="7772400" cy="1500187"/>
          </a:xfrm>
          <a:prstGeom prst="rect">
            <a:avLst/>
          </a:prstGeom>
          <a:noFill/>
          <a:ln>
            <a:noFill/>
          </a:ln>
        </p:spPr>
        <p:txBody>
          <a:bodyPr anchorCtr="0" anchor="b" bIns="46025" lIns="182550" spcFirstLastPara="1" rIns="182550" wrap="square" tIns="46025">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350"/>
              <a:buNone/>
              <a:defRPr sz="1800"/>
            </a:lvl2pPr>
            <a:lvl3pPr indent="-228600" lvl="2" marL="1371600" algn="l">
              <a:spcBef>
                <a:spcPts val="320"/>
              </a:spcBef>
              <a:spcAft>
                <a:spcPts val="0"/>
              </a:spcAft>
              <a:buSzPts val="1200"/>
              <a:buNone/>
              <a:defRPr sz="1600"/>
            </a:lvl3pPr>
            <a:lvl4pPr indent="-228600" lvl="3" marL="1828800" algn="l">
              <a:spcBef>
                <a:spcPts val="280"/>
              </a:spcBef>
              <a:spcAft>
                <a:spcPts val="0"/>
              </a:spcAft>
              <a:buSzPts val="1050"/>
              <a:buNone/>
              <a:defRPr sz="1400"/>
            </a:lvl4pPr>
            <a:lvl5pPr indent="-228600" lvl="4" marL="2286000" algn="l">
              <a:spcBef>
                <a:spcPts val="280"/>
              </a:spcBef>
              <a:spcAft>
                <a:spcPts val="0"/>
              </a:spcAft>
              <a:buSzPts val="1050"/>
              <a:buNone/>
              <a:defRPr sz="1400"/>
            </a:lvl5pPr>
            <a:lvl6pPr indent="-228600" lvl="5" marL="2743200" algn="l">
              <a:spcBef>
                <a:spcPts val="280"/>
              </a:spcBef>
              <a:spcAft>
                <a:spcPts val="0"/>
              </a:spcAft>
              <a:buSzPts val="1050"/>
              <a:buNone/>
              <a:defRPr sz="1400"/>
            </a:lvl6pPr>
            <a:lvl7pPr indent="-228600" lvl="6" marL="3200400" algn="l">
              <a:spcBef>
                <a:spcPts val="280"/>
              </a:spcBef>
              <a:spcAft>
                <a:spcPts val="0"/>
              </a:spcAft>
              <a:buSzPts val="1050"/>
              <a:buNone/>
              <a:defRPr sz="1400"/>
            </a:lvl7pPr>
            <a:lvl8pPr indent="-228600" lvl="7" marL="3657600" algn="l">
              <a:spcBef>
                <a:spcPts val="280"/>
              </a:spcBef>
              <a:spcAft>
                <a:spcPts val="0"/>
              </a:spcAft>
              <a:buSzPts val="1050"/>
              <a:buNone/>
              <a:defRPr sz="1400"/>
            </a:lvl8pPr>
            <a:lvl9pPr indent="-228600" lvl="8" marL="4114800" algn="l">
              <a:spcBef>
                <a:spcPts val="280"/>
              </a:spcBef>
              <a:spcAft>
                <a:spcPts val="0"/>
              </a:spcAft>
              <a:buSzPts val="1050"/>
              <a:buNone/>
              <a:defRPr sz="1400"/>
            </a:lvl9pPr>
          </a:lstStyle>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9"/>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59"/>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
        <p:nvSpPr>
          <p:cNvPr id="28" name="Google Shape;28;p59"/>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 name="Shape 29"/>
        <p:cNvGrpSpPr/>
        <p:nvPr/>
      </p:nvGrpSpPr>
      <p:grpSpPr>
        <a:xfrm>
          <a:off x="0" y="0"/>
          <a:ext cx="0" cy="0"/>
          <a:chOff x="0" y="0"/>
          <a:chExt cx="0" cy="0"/>
        </a:xfrm>
      </p:grpSpPr>
      <p:sp>
        <p:nvSpPr>
          <p:cNvPr id="30" name="Google Shape;30;p60"/>
          <p:cNvSpPr txBox="1"/>
          <p:nvPr>
            <p:ph type="title"/>
          </p:nvPr>
        </p:nvSpPr>
        <p:spPr>
          <a:xfrm>
            <a:off x="457200" y="274638"/>
            <a:ext cx="8229600" cy="114300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60"/>
          <p:cNvSpPr txBox="1"/>
          <p:nvPr>
            <p:ph idx="1" type="body"/>
          </p:nvPr>
        </p:nvSpPr>
        <p:spPr>
          <a:xfrm>
            <a:off x="457200" y="1535113"/>
            <a:ext cx="4040188"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2" name="Google Shape;32;p60"/>
          <p:cNvSpPr txBox="1"/>
          <p:nvPr>
            <p:ph idx="2" type="body"/>
          </p:nvPr>
        </p:nvSpPr>
        <p:spPr>
          <a:xfrm>
            <a:off x="457200" y="2174875"/>
            <a:ext cx="4040188"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
        <p:nvSpPr>
          <p:cNvPr id="33" name="Google Shape;33;p60"/>
          <p:cNvSpPr txBox="1"/>
          <p:nvPr>
            <p:ph idx="3" type="body"/>
          </p:nvPr>
        </p:nvSpPr>
        <p:spPr>
          <a:xfrm>
            <a:off x="4645025" y="1535113"/>
            <a:ext cx="4041775"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4" name="Google Shape;34;p60"/>
          <p:cNvSpPr txBox="1"/>
          <p:nvPr>
            <p:ph idx="4" type="body"/>
          </p:nvPr>
        </p:nvSpPr>
        <p:spPr>
          <a:xfrm>
            <a:off x="4645025" y="2174875"/>
            <a:ext cx="4041775"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 name="Shape 35"/>
        <p:cNvGrpSpPr/>
        <p:nvPr/>
      </p:nvGrpSpPr>
      <p:grpSpPr>
        <a:xfrm>
          <a:off x="0" y="0"/>
          <a:ext cx="0" cy="0"/>
          <a:chOff x="0" y="0"/>
          <a:chExt cx="0" cy="0"/>
        </a:xfrm>
      </p:grpSpPr>
      <p:sp>
        <p:nvSpPr>
          <p:cNvPr id="36" name="Google Shape;36;p61"/>
          <p:cNvSpPr txBox="1"/>
          <p:nvPr>
            <p:ph type="title"/>
          </p:nvPr>
        </p:nvSpPr>
        <p:spPr>
          <a:xfrm>
            <a:off x="457200" y="273050"/>
            <a:ext cx="3008313" cy="116205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1"/>
          <p:cNvSpPr txBox="1"/>
          <p:nvPr>
            <p:ph idx="1" type="body"/>
          </p:nvPr>
        </p:nvSpPr>
        <p:spPr>
          <a:xfrm>
            <a:off x="3575050" y="273050"/>
            <a:ext cx="5111750" cy="5853113"/>
          </a:xfrm>
          <a:prstGeom prst="rect">
            <a:avLst/>
          </a:prstGeom>
          <a:noFill/>
          <a:ln>
            <a:noFill/>
          </a:ln>
        </p:spPr>
        <p:txBody>
          <a:bodyPr anchorCtr="0" anchor="t" bIns="46025" lIns="182550" spcFirstLastPara="1" rIns="182550" wrap="square" tIns="46025">
            <a:noAutofit/>
          </a:bodyPr>
          <a:lstStyle>
            <a:lvl1pPr indent="-381000" lvl="0" marL="457200" algn="l">
              <a:spcBef>
                <a:spcPts val="640"/>
              </a:spcBef>
              <a:spcAft>
                <a:spcPts val="0"/>
              </a:spcAft>
              <a:buSzPts val="2400"/>
              <a:buChar char="●"/>
              <a:defRPr sz="3200"/>
            </a:lvl1pPr>
            <a:lvl2pPr indent="-361950" lvl="1" marL="914400" algn="l">
              <a:spcBef>
                <a:spcPts val="560"/>
              </a:spcBef>
              <a:spcAft>
                <a:spcPts val="0"/>
              </a:spcAft>
              <a:buSzPts val="2100"/>
              <a:buChar char="●"/>
              <a:defRPr sz="2800"/>
            </a:lvl2pPr>
            <a:lvl3pPr indent="-342900" lvl="2" marL="1371600" algn="l">
              <a:spcBef>
                <a:spcPts val="480"/>
              </a:spcBef>
              <a:spcAft>
                <a:spcPts val="0"/>
              </a:spcAft>
              <a:buSzPts val="1800"/>
              <a:buChar char="●"/>
              <a:defRPr sz="2400"/>
            </a:lvl3pPr>
            <a:lvl4pPr indent="-323850" lvl="3" marL="1828800" algn="l">
              <a:spcBef>
                <a:spcPts val="400"/>
              </a:spcBef>
              <a:spcAft>
                <a:spcPts val="0"/>
              </a:spcAft>
              <a:buSzPts val="1500"/>
              <a:buChar char="●"/>
              <a:defRPr sz="2000"/>
            </a:lvl4pPr>
            <a:lvl5pPr indent="-323850" lvl="4" marL="2286000" algn="l">
              <a:spcBef>
                <a:spcPts val="400"/>
              </a:spcBef>
              <a:spcAft>
                <a:spcPts val="0"/>
              </a:spcAft>
              <a:buSzPts val="1500"/>
              <a:buChar char="●"/>
              <a:defRPr sz="2000"/>
            </a:lvl5pPr>
            <a:lvl6pPr indent="-323850" lvl="5" marL="2743200" algn="l">
              <a:spcBef>
                <a:spcPts val="400"/>
              </a:spcBef>
              <a:spcAft>
                <a:spcPts val="0"/>
              </a:spcAft>
              <a:buSzPts val="1500"/>
              <a:buChar char="●"/>
              <a:defRPr sz="2000"/>
            </a:lvl6pPr>
            <a:lvl7pPr indent="-323850" lvl="6" marL="3200400" algn="l">
              <a:spcBef>
                <a:spcPts val="400"/>
              </a:spcBef>
              <a:spcAft>
                <a:spcPts val="0"/>
              </a:spcAft>
              <a:buSzPts val="1500"/>
              <a:buChar char="●"/>
              <a:defRPr sz="2000"/>
            </a:lvl7pPr>
            <a:lvl8pPr indent="-323850" lvl="7" marL="3657600" algn="l">
              <a:spcBef>
                <a:spcPts val="400"/>
              </a:spcBef>
              <a:spcAft>
                <a:spcPts val="0"/>
              </a:spcAft>
              <a:buSzPts val="1500"/>
              <a:buChar char="●"/>
              <a:defRPr sz="2000"/>
            </a:lvl8pPr>
            <a:lvl9pPr indent="-323850" lvl="8" marL="4114800" algn="l">
              <a:spcBef>
                <a:spcPts val="400"/>
              </a:spcBef>
              <a:spcAft>
                <a:spcPts val="0"/>
              </a:spcAft>
              <a:buSzPts val="1500"/>
              <a:buChar char="●"/>
              <a:defRPr sz="2000"/>
            </a:lvl9pPr>
          </a:lstStyle>
          <a:p/>
        </p:txBody>
      </p:sp>
      <p:sp>
        <p:nvSpPr>
          <p:cNvPr id="38" name="Google Shape;38;p61"/>
          <p:cNvSpPr txBox="1"/>
          <p:nvPr>
            <p:ph idx="2" type="body"/>
          </p:nvPr>
        </p:nvSpPr>
        <p:spPr>
          <a:xfrm>
            <a:off x="457200" y="1435100"/>
            <a:ext cx="3008313" cy="4691063"/>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62"/>
          <p:cNvSpPr txBox="1"/>
          <p:nvPr>
            <p:ph type="title"/>
          </p:nvPr>
        </p:nvSpPr>
        <p:spPr>
          <a:xfrm>
            <a:off x="1792288" y="4800600"/>
            <a:ext cx="5486400" cy="566738"/>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62"/>
          <p:cNvSpPr/>
          <p:nvPr>
            <p:ph idx="2" type="pic"/>
          </p:nvPr>
        </p:nvSpPr>
        <p:spPr>
          <a:xfrm>
            <a:off x="1792288" y="612775"/>
            <a:ext cx="5486400" cy="4114800"/>
          </a:xfrm>
          <a:prstGeom prst="rect">
            <a:avLst/>
          </a:prstGeom>
          <a:noFill/>
          <a:ln>
            <a:noFill/>
          </a:ln>
        </p:spPr>
      </p:sp>
      <p:sp>
        <p:nvSpPr>
          <p:cNvPr id="42" name="Google Shape;42;p62"/>
          <p:cNvSpPr txBox="1"/>
          <p:nvPr>
            <p:ph idx="1" type="body"/>
          </p:nvPr>
        </p:nvSpPr>
        <p:spPr>
          <a:xfrm>
            <a:off x="1792288" y="5367338"/>
            <a:ext cx="5486400" cy="804862"/>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3" name="Shape 43"/>
        <p:cNvGrpSpPr/>
        <p:nvPr/>
      </p:nvGrpSpPr>
      <p:grpSpPr>
        <a:xfrm>
          <a:off x="0" y="0"/>
          <a:ext cx="0" cy="0"/>
          <a:chOff x="0" y="0"/>
          <a:chExt cx="0" cy="0"/>
        </a:xfrm>
      </p:grpSpPr>
      <p:sp>
        <p:nvSpPr>
          <p:cNvPr id="44" name="Google Shape;44;p63"/>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63"/>
          <p:cNvSpPr txBox="1"/>
          <p:nvPr>
            <p:ph idx="1" type="body"/>
          </p:nvPr>
        </p:nvSpPr>
        <p:spPr>
          <a:xfrm rot="5400000">
            <a:off x="2171700" y="-647700"/>
            <a:ext cx="4800600" cy="83820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6" name="Shape 46"/>
        <p:cNvGrpSpPr/>
        <p:nvPr/>
      </p:nvGrpSpPr>
      <p:grpSpPr>
        <a:xfrm>
          <a:off x="0" y="0"/>
          <a:ext cx="0" cy="0"/>
          <a:chOff x="0" y="0"/>
          <a:chExt cx="0" cy="0"/>
        </a:xfrm>
      </p:grpSpPr>
      <p:sp>
        <p:nvSpPr>
          <p:cNvPr id="47" name="Google Shape;47;p64"/>
          <p:cNvSpPr txBox="1"/>
          <p:nvPr>
            <p:ph type="title"/>
          </p:nvPr>
        </p:nvSpPr>
        <p:spPr>
          <a:xfrm rot="5400000">
            <a:off x="4920457" y="2101057"/>
            <a:ext cx="5589587" cy="209550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64"/>
          <p:cNvSpPr txBox="1"/>
          <p:nvPr>
            <p:ph idx="1" type="body"/>
          </p:nvPr>
        </p:nvSpPr>
        <p:spPr>
          <a:xfrm rot="5400000">
            <a:off x="653256" y="81756"/>
            <a:ext cx="5589587" cy="61341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56"/>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56"/>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9"/>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9pPr>
          </a:lstStyle>
          <a:p/>
        </p:txBody>
      </p:sp>
      <p:sp>
        <p:nvSpPr>
          <p:cNvPr id="7" name="Google Shape;7;p49"/>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61950" lvl="0" marL="457200" marR="0" rtl="0" algn="l">
              <a:spcBef>
                <a:spcPts val="560"/>
              </a:spcBef>
              <a:spcAft>
                <a:spcPts val="0"/>
              </a:spcAft>
              <a:buClr>
                <a:schemeClr val="accent2"/>
              </a:buClr>
              <a:buSzPts val="2100"/>
              <a:buFont typeface="Noto Sans Symbols"/>
              <a:buChar char="●"/>
              <a:defRPr b="1" i="0" sz="2800" u="none" cap="none" strike="noStrike">
                <a:solidFill>
                  <a:schemeClr val="lt2"/>
                </a:solidFill>
                <a:latin typeface="Arial"/>
                <a:ea typeface="Arial"/>
                <a:cs typeface="Arial"/>
                <a:sym typeface="Arial"/>
              </a:defRPr>
            </a:lvl1pPr>
            <a:lvl2pPr indent="-342900" lvl="1" marL="914400" marR="0" rtl="0" algn="l">
              <a:spcBef>
                <a:spcPts val="480"/>
              </a:spcBef>
              <a:spcAft>
                <a:spcPts val="0"/>
              </a:spcAft>
              <a:buClr>
                <a:schemeClr val="accent2"/>
              </a:buClr>
              <a:buSzPts val="1800"/>
              <a:buFont typeface="Noto Sans Symbols"/>
              <a:buChar char="●"/>
              <a:defRPr b="1" i="0" sz="2400" u="none" cap="none" strike="noStrike">
                <a:solidFill>
                  <a:schemeClr val="lt2"/>
                </a:solidFill>
                <a:latin typeface="Arial"/>
                <a:ea typeface="Arial"/>
                <a:cs typeface="Arial"/>
                <a:sym typeface="Arial"/>
              </a:defRPr>
            </a:lvl2pPr>
            <a:lvl3pPr indent="-323850" lvl="2" marL="1371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3pPr>
            <a:lvl4pPr indent="-323850" lvl="3" marL="1828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4pPr>
            <a:lvl5pPr indent="-323850" lvl="4" marL="22860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5pPr>
            <a:lvl6pPr indent="-323850" lvl="5" marL="27432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6pPr>
            <a:lvl7pPr indent="-323850" lvl="6" marL="32004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7pPr>
            <a:lvl8pPr indent="-323850" lvl="7" marL="3657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8pPr>
            <a:lvl9pPr indent="-323850" lvl="8" marL="4114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9pPr>
          </a:lstStyle>
          <a:p/>
        </p:txBody>
      </p:sp>
      <p:sp>
        <p:nvSpPr>
          <p:cNvPr id="8" name="Google Shape;8;p49"/>
          <p:cNvSpPr txBox="1"/>
          <p:nvPr/>
        </p:nvSpPr>
        <p:spPr>
          <a:xfrm>
            <a:off x="76200" y="6400800"/>
            <a:ext cx="6858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wipe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55"/>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9pPr>
          </a:lstStyle>
          <a:p/>
        </p:txBody>
      </p:sp>
      <p:sp>
        <p:nvSpPr>
          <p:cNvPr id="51" name="Google Shape;51;p55"/>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61950" lvl="0" marL="457200" marR="0" rtl="0" algn="l">
              <a:spcBef>
                <a:spcPts val="560"/>
              </a:spcBef>
              <a:spcAft>
                <a:spcPts val="0"/>
              </a:spcAft>
              <a:buClr>
                <a:schemeClr val="accent2"/>
              </a:buClr>
              <a:buSzPts val="2100"/>
              <a:buFont typeface="Noto Sans Symbols"/>
              <a:buChar char="●"/>
              <a:defRPr b="1" i="0" sz="2800" u="none" cap="none" strike="noStrike">
                <a:solidFill>
                  <a:schemeClr val="lt2"/>
                </a:solidFill>
                <a:latin typeface="Arial"/>
                <a:ea typeface="Arial"/>
                <a:cs typeface="Arial"/>
                <a:sym typeface="Arial"/>
              </a:defRPr>
            </a:lvl1pPr>
            <a:lvl2pPr indent="-342900" lvl="1" marL="914400" marR="0" rtl="0" algn="l">
              <a:spcBef>
                <a:spcPts val="480"/>
              </a:spcBef>
              <a:spcAft>
                <a:spcPts val="0"/>
              </a:spcAft>
              <a:buClr>
                <a:schemeClr val="accent2"/>
              </a:buClr>
              <a:buSzPts val="1800"/>
              <a:buFont typeface="Noto Sans Symbols"/>
              <a:buChar char="●"/>
              <a:defRPr b="1" i="0" sz="2400" u="none" cap="none" strike="noStrike">
                <a:solidFill>
                  <a:schemeClr val="lt2"/>
                </a:solidFill>
                <a:latin typeface="Arial"/>
                <a:ea typeface="Arial"/>
                <a:cs typeface="Arial"/>
                <a:sym typeface="Arial"/>
              </a:defRPr>
            </a:lvl2pPr>
            <a:lvl3pPr indent="-323850" lvl="2" marL="1371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3pPr>
            <a:lvl4pPr indent="-323850" lvl="3" marL="1828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4pPr>
            <a:lvl5pPr indent="-323850" lvl="4" marL="22860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5pPr>
            <a:lvl6pPr indent="-323850" lvl="5" marL="27432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6pPr>
            <a:lvl7pPr indent="-323850" lvl="6" marL="32004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7pPr>
            <a:lvl8pPr indent="-323850" lvl="7" marL="3657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8pPr>
            <a:lvl9pPr indent="-323850" lvl="8" marL="4114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9pPr>
          </a:lstStyle>
          <a:p/>
        </p:txBody>
      </p:sp>
      <p:sp>
        <p:nvSpPr>
          <p:cNvPr id="52" name="Google Shape;52;p55"/>
          <p:cNvSpPr txBox="1"/>
          <p:nvPr/>
        </p:nvSpPr>
        <p:spPr>
          <a:xfrm>
            <a:off x="76200" y="6400800"/>
            <a:ext cx="6858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u="none">
                <a:solidFill>
                  <a:schemeClr val="dk1"/>
                </a:solidFill>
                <a:latin typeface="Arial"/>
                <a:ea typeface="Arial"/>
                <a:cs typeface="Arial"/>
                <a:sym typeface="Arial"/>
              </a:rPr>
              <a:t>2-</a:t>
            </a:r>
            <a:fld id="{00000000-1234-1234-1234-123412341234}" type="slidenum">
              <a:rPr b="1" lang="en-US" sz="1200" u="none">
                <a:solidFill>
                  <a:schemeClr val="dk1"/>
                </a:solidFill>
                <a:latin typeface="Arial"/>
                <a:ea typeface="Arial"/>
                <a:cs typeface="Arial"/>
                <a:sym typeface="Arial"/>
              </a:rPr>
              <a:t>‹#›</a:t>
            </a:fld>
            <a:endParaRPr b="1" sz="12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Lst>
  <p:transition>
    <p:wipe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vmlDrawing" Target="../drawings/vmlDrawing4.vml"/><Relationship Id="rId4" Type="http://schemas.openxmlformats.org/officeDocument/2006/relationships/oleObject" Target="../embeddings/oleObject4.bin"/><Relationship Id="rId9" Type="http://schemas.openxmlformats.org/officeDocument/2006/relationships/image" Target="../media/image2.png"/><Relationship Id="rId5" Type="http://schemas.openxmlformats.org/officeDocument/2006/relationships/oleObject" Target="../embeddings/oleObject4.bin"/><Relationship Id="rId6" Type="http://schemas.openxmlformats.org/officeDocument/2006/relationships/image" Target="../media/image7.png"/><Relationship Id="rId7" Type="http://schemas.openxmlformats.org/officeDocument/2006/relationships/oleObject" Target="../embeddings/oleObject5.bin"/><Relationship Id="rId8"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1" Type="http://schemas.openxmlformats.org/officeDocument/2006/relationships/oleObject" Target="../embeddings/oleObject8.bin"/><Relationship Id="rId10" Type="http://schemas.openxmlformats.org/officeDocument/2006/relationships/oleObject" Target="../embeddings/oleObject8.bin"/><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vmlDrawing" Target="../drawings/vmlDrawing5.vml"/><Relationship Id="rId4" Type="http://schemas.openxmlformats.org/officeDocument/2006/relationships/oleObject" Target="../embeddings/oleObject6.bin"/><Relationship Id="rId9" Type="http://schemas.openxmlformats.org/officeDocument/2006/relationships/image" Target="../media/image13.png"/><Relationship Id="rId5" Type="http://schemas.openxmlformats.org/officeDocument/2006/relationships/oleObject" Target="../embeddings/oleObject6.bin"/><Relationship Id="rId6" Type="http://schemas.openxmlformats.org/officeDocument/2006/relationships/image" Target="../media/image6.png"/><Relationship Id="rId7" Type="http://schemas.openxmlformats.org/officeDocument/2006/relationships/oleObject" Target="../embeddings/oleObject7.bin"/><Relationship Id="rId8"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10"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vmlDrawing" Target="../drawings/vmlDrawing6.vml"/><Relationship Id="rId4" Type="http://schemas.openxmlformats.org/officeDocument/2006/relationships/oleObject" Target="../embeddings/oleObject9.bin"/><Relationship Id="rId9" Type="http://schemas.openxmlformats.org/officeDocument/2006/relationships/oleObject" Target="../embeddings/oleObject10.bin"/><Relationship Id="rId5" Type="http://schemas.openxmlformats.org/officeDocument/2006/relationships/oleObject" Target="../embeddings/oleObject9.bin"/><Relationship Id="rId6" Type="http://schemas.openxmlformats.org/officeDocument/2006/relationships/image" Target="../media/image3.png"/><Relationship Id="rId7" Type="http://schemas.openxmlformats.org/officeDocument/2006/relationships/image" Target="../media/image18.jpg"/><Relationship Id="rId8"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11" Type="http://schemas.openxmlformats.org/officeDocument/2006/relationships/oleObject" Target="../embeddings/oleObject13.bin"/><Relationship Id="rId10" Type="http://schemas.openxmlformats.org/officeDocument/2006/relationships/image" Target="../media/image18.jpg"/><Relationship Id="rId13" Type="http://schemas.openxmlformats.org/officeDocument/2006/relationships/image" Target="../media/image16.png"/><Relationship Id="rId12" Type="http://schemas.openxmlformats.org/officeDocument/2006/relationships/oleObject" Target="../embeddings/oleObject13.bin"/><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vmlDrawing" Target="../drawings/vmlDrawing7.vml"/><Relationship Id="rId4" Type="http://schemas.openxmlformats.org/officeDocument/2006/relationships/oleObject" Target="../embeddings/oleObject11.bin"/><Relationship Id="rId9" Type="http://schemas.openxmlformats.org/officeDocument/2006/relationships/image" Target="../media/image3.png"/><Relationship Id="rId15" Type="http://schemas.openxmlformats.org/officeDocument/2006/relationships/oleObject" Target="../embeddings/oleObject14.bin"/><Relationship Id="rId14" Type="http://schemas.openxmlformats.org/officeDocument/2006/relationships/oleObject" Target="../embeddings/oleObject14.bin"/><Relationship Id="rId17" Type="http://schemas.openxmlformats.org/officeDocument/2006/relationships/oleObject" Target="../embeddings/oleObject15.bin"/><Relationship Id="rId16" Type="http://schemas.openxmlformats.org/officeDocument/2006/relationships/image" Target="../media/image15.png"/><Relationship Id="rId5" Type="http://schemas.openxmlformats.org/officeDocument/2006/relationships/oleObject" Target="../embeddings/oleObject11.bin"/><Relationship Id="rId19" Type="http://schemas.openxmlformats.org/officeDocument/2006/relationships/image" Target="../media/image11.png"/><Relationship Id="rId6" Type="http://schemas.openxmlformats.org/officeDocument/2006/relationships/image" Target="../media/image7.png"/><Relationship Id="rId18" Type="http://schemas.openxmlformats.org/officeDocument/2006/relationships/oleObject" Target="../embeddings/oleObject15.bin"/><Relationship Id="rId7" Type="http://schemas.openxmlformats.org/officeDocument/2006/relationships/oleObject" Target="../embeddings/oleObject12.bin"/><Relationship Id="rId8"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32.png"/><Relationship Id="rId7"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vmlDrawing" Target="../drawings/vmlDrawing8.vml"/><Relationship Id="rId4" Type="http://schemas.openxmlformats.org/officeDocument/2006/relationships/oleObject" Target="../embeddings/Microsoft_Excel_Sheet1.xls"/><Relationship Id="rId5" Type="http://schemas.openxmlformats.org/officeDocument/2006/relationships/oleObject" Target="../embeddings/Microsoft_Excel_Sheet1.xls"/><Relationship Id="rId6"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vmlDrawing" Target="../drawings/vmlDrawing9.vml"/><Relationship Id="rId4" Type="http://schemas.openxmlformats.org/officeDocument/2006/relationships/oleObject" Target="../embeddings/Microsoft_Excel_Sheet2.xls"/><Relationship Id="rId5" Type="http://schemas.openxmlformats.org/officeDocument/2006/relationships/oleObject" Target="../embeddings/Microsoft_Excel_Sheet2.xls"/><Relationship Id="rId6"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0.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39.png"/><Relationship Id="rId6" Type="http://schemas.openxmlformats.org/officeDocument/2006/relationships/image" Target="../media/image23.png"/><Relationship Id="rId7"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32.png"/><Relationship Id="rId7" Type="http://schemas.openxmlformats.org/officeDocument/2006/relationships/image" Target="../media/image5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32.png"/><Relationship Id="rId7" Type="http://schemas.openxmlformats.org/officeDocument/2006/relationships/image" Target="../media/image61.png"/><Relationship Id="rId8"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p:nvPr/>
        </p:nvSpPr>
        <p:spPr>
          <a:xfrm>
            <a:off x="0" y="228600"/>
            <a:ext cx="9144000" cy="1752600"/>
          </a:xfrm>
          <a:prstGeom prst="rect">
            <a:avLst/>
          </a:prstGeom>
          <a:solidFill>
            <a:srgbClr val="C5C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1" name="Google Shape;61;p1"/>
          <p:cNvSpPr/>
          <p:nvPr/>
        </p:nvSpPr>
        <p:spPr>
          <a:xfrm>
            <a:off x="0" y="685800"/>
            <a:ext cx="2514600" cy="914400"/>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2" name="Google Shape;62;p1"/>
          <p:cNvSpPr txBox="1"/>
          <p:nvPr/>
        </p:nvSpPr>
        <p:spPr>
          <a:xfrm>
            <a:off x="2514600" y="533400"/>
            <a:ext cx="5943600" cy="1200329"/>
          </a:xfrm>
          <a:prstGeom prst="rect">
            <a:avLst/>
          </a:pr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58738" marR="0" rtl="0" algn="l">
              <a:spcBef>
                <a:spcPts val="0"/>
              </a:spcBef>
              <a:spcAft>
                <a:spcPts val="0"/>
              </a:spcAft>
              <a:buClr>
                <a:schemeClr val="accent2"/>
              </a:buClr>
              <a:buSzPts val="3800"/>
              <a:buFont typeface="Noto Sans Symbols"/>
              <a:buNone/>
            </a:pPr>
            <a:r>
              <a:rPr b="1" lang="en-US" sz="3800" u="none">
                <a:solidFill>
                  <a:srgbClr val="CC0000"/>
                </a:solidFill>
                <a:latin typeface="Arial"/>
                <a:ea typeface="Arial"/>
                <a:cs typeface="Arial"/>
                <a:sym typeface="Arial"/>
              </a:rPr>
              <a:t>The Recording Process</a:t>
            </a:r>
            <a:endParaRPr b="1" sz="3800" u="none">
              <a:solidFill>
                <a:srgbClr val="CC0000"/>
              </a:solidFill>
              <a:latin typeface="Arial"/>
              <a:ea typeface="Arial"/>
              <a:cs typeface="Arial"/>
              <a:sym typeface="Arial"/>
            </a:endParaRPr>
          </a:p>
        </p:txBody>
      </p:sp>
      <p:sp>
        <p:nvSpPr>
          <p:cNvPr id="63" name="Google Shape;63;p1"/>
          <p:cNvSpPr/>
          <p:nvPr/>
        </p:nvSpPr>
        <p:spPr>
          <a:xfrm>
            <a:off x="762000" y="381000"/>
            <a:ext cx="1447800" cy="1447800"/>
          </a:xfrm>
          <a:prstGeom prst="ellipse">
            <a:avLst/>
          </a:prstGeom>
          <a:solidFill>
            <a:srgbClr val="0027A4"/>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lang="en-US" sz="10000">
                <a:solidFill>
                  <a:schemeClr val="lt1"/>
                </a:solidFill>
                <a:latin typeface="Arial"/>
                <a:ea typeface="Arial"/>
                <a:cs typeface="Arial"/>
                <a:sym typeface="Arial"/>
              </a:rPr>
              <a:t>2</a:t>
            </a:r>
            <a:endParaRPr sz="10000">
              <a:solidFill>
                <a:schemeClr val="lt1"/>
              </a:solidFill>
              <a:latin typeface="Arial"/>
              <a:ea typeface="Arial"/>
              <a:cs typeface="Arial"/>
              <a:sym typeface="Arial"/>
            </a:endParaRPr>
          </a:p>
        </p:txBody>
      </p:sp>
      <p:sp>
        <p:nvSpPr>
          <p:cNvPr id="64" name="Google Shape;64;p1"/>
          <p:cNvSpPr/>
          <p:nvPr/>
        </p:nvSpPr>
        <p:spPr>
          <a:xfrm>
            <a:off x="0" y="3773424"/>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5" name="Google Shape;65;p1"/>
          <p:cNvSpPr/>
          <p:nvPr/>
        </p:nvSpPr>
        <p:spPr>
          <a:xfrm>
            <a:off x="0" y="2846832"/>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6" name="Google Shape;66;p1"/>
          <p:cNvSpPr/>
          <p:nvPr/>
        </p:nvSpPr>
        <p:spPr>
          <a:xfrm>
            <a:off x="457200" y="2133600"/>
            <a:ext cx="44196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Learning Objectives</a:t>
            </a:r>
            <a:endParaRPr/>
          </a:p>
        </p:txBody>
      </p:sp>
      <p:sp>
        <p:nvSpPr>
          <p:cNvPr id="67" name="Google Shape;67;p1"/>
          <p:cNvSpPr/>
          <p:nvPr/>
        </p:nvSpPr>
        <p:spPr>
          <a:xfrm>
            <a:off x="1447800" y="2782824"/>
            <a:ext cx="7696200" cy="850392"/>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Describe how accounts, debits, and credits are used to record business transactions.</a:t>
            </a:r>
            <a:endParaRPr/>
          </a:p>
        </p:txBody>
      </p:sp>
      <p:sp>
        <p:nvSpPr>
          <p:cNvPr id="68" name="Google Shape;68;p1"/>
          <p:cNvSpPr/>
          <p:nvPr/>
        </p:nvSpPr>
        <p:spPr>
          <a:xfrm>
            <a:off x="1447800" y="3773424"/>
            <a:ext cx="7696200" cy="722376"/>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Indicate how a journal is used in the recording process.</a:t>
            </a:r>
            <a:endParaRPr/>
          </a:p>
        </p:txBody>
      </p:sp>
      <p:sp>
        <p:nvSpPr>
          <p:cNvPr id="69" name="Google Shape;69;p1"/>
          <p:cNvSpPr/>
          <p:nvPr/>
        </p:nvSpPr>
        <p:spPr>
          <a:xfrm>
            <a:off x="0" y="4675632"/>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70" name="Google Shape;70;p1"/>
          <p:cNvSpPr/>
          <p:nvPr/>
        </p:nvSpPr>
        <p:spPr>
          <a:xfrm>
            <a:off x="1447800" y="4611624"/>
            <a:ext cx="7696200" cy="850392"/>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Explain how a ledger and posting help in the recording process.</a:t>
            </a:r>
            <a:endParaRPr/>
          </a:p>
        </p:txBody>
      </p:sp>
      <p:sp>
        <p:nvSpPr>
          <p:cNvPr id="71" name="Google Shape;71;p1"/>
          <p:cNvSpPr/>
          <p:nvPr/>
        </p:nvSpPr>
        <p:spPr>
          <a:xfrm>
            <a:off x="685800" y="4760976"/>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3</a:t>
            </a:r>
            <a:endParaRPr/>
          </a:p>
        </p:txBody>
      </p:sp>
      <p:sp>
        <p:nvSpPr>
          <p:cNvPr id="72" name="Google Shape;72;p1"/>
          <p:cNvSpPr/>
          <p:nvPr/>
        </p:nvSpPr>
        <p:spPr>
          <a:xfrm>
            <a:off x="1447800" y="5602224"/>
            <a:ext cx="7696200" cy="722376"/>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Prepare a trial balance.</a:t>
            </a:r>
            <a:endParaRPr/>
          </a:p>
        </p:txBody>
      </p:sp>
      <p:sp>
        <p:nvSpPr>
          <p:cNvPr id="73" name="Google Shape;73;p1"/>
          <p:cNvSpPr/>
          <p:nvPr/>
        </p:nvSpPr>
        <p:spPr>
          <a:xfrm>
            <a:off x="685800" y="3870960"/>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2</a:t>
            </a:r>
            <a:endParaRPr/>
          </a:p>
        </p:txBody>
      </p:sp>
      <p:sp>
        <p:nvSpPr>
          <p:cNvPr id="74" name="Google Shape;74;p1"/>
          <p:cNvSpPr/>
          <p:nvPr/>
        </p:nvSpPr>
        <p:spPr>
          <a:xfrm>
            <a:off x="685800" y="2932176"/>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1</a:t>
            </a:r>
            <a:endParaRPr b="1" sz="2500">
              <a:solidFill>
                <a:schemeClr val="lt1"/>
              </a:solidFill>
              <a:latin typeface="Arial"/>
              <a:ea typeface="Arial"/>
              <a:cs typeface="Arial"/>
              <a:sym typeface="Arial"/>
            </a:endParaRPr>
          </a:p>
        </p:txBody>
      </p:sp>
      <p:sp>
        <p:nvSpPr>
          <p:cNvPr id="75" name="Google Shape;75;p1"/>
          <p:cNvSpPr/>
          <p:nvPr/>
        </p:nvSpPr>
        <p:spPr>
          <a:xfrm>
            <a:off x="0" y="5602224"/>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76" name="Google Shape;76;p1"/>
          <p:cNvSpPr/>
          <p:nvPr/>
        </p:nvSpPr>
        <p:spPr>
          <a:xfrm>
            <a:off x="685800" y="5699760"/>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4</a:t>
            </a:r>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graphicFrame>
        <p:nvGraphicFramePr>
          <p:cNvPr id="81" name="Google Shape;81;p2"/>
          <p:cNvGraphicFramePr/>
          <p:nvPr/>
        </p:nvGraphicFramePr>
        <p:xfrm>
          <a:off x="4114800" y="3486150"/>
          <a:ext cx="4800600" cy="3600450"/>
        </p:xfrm>
        <a:graphic>
          <a:graphicData uri="http://schemas.openxmlformats.org/presentationml/2006/ole">
            <mc:AlternateContent>
              <mc:Choice Requires="v">
                <p:oleObj r:id="rId4" imgH="3600450" imgW="4800600" progId="PowerPoint.Slide.8" spid="_x0000_s1">
                  <p:embed/>
                </p:oleObj>
              </mc:Choice>
              <mc:Fallback>
                <p:oleObj r:id="rId5" imgH="3600450" imgW="4800600" progId="PowerPoint.Slide.8">
                  <p:embed/>
                  <p:pic>
                    <p:nvPicPr>
                      <p:cNvPr id="81" name="Google Shape;81;p2"/>
                      <p:cNvPicPr preferRelativeResize="0"/>
                      <p:nvPr/>
                    </p:nvPicPr>
                    <p:blipFill rotWithShape="1">
                      <a:blip r:embed="rId6">
                        <a:alphaModFix/>
                      </a:blip>
                      <a:srcRect b="0" l="0" r="0" t="0"/>
                      <a:stretch/>
                    </p:blipFill>
                    <p:spPr>
                      <a:xfrm>
                        <a:off x="4114800" y="3486150"/>
                        <a:ext cx="4800600" cy="3600450"/>
                      </a:xfrm>
                      <a:prstGeom prst="rect">
                        <a:avLst/>
                      </a:prstGeom>
                      <a:noFill/>
                      <a:ln>
                        <a:noFill/>
                      </a:ln>
                    </p:spPr>
                  </p:pic>
                </p:oleObj>
              </mc:Fallback>
            </mc:AlternateContent>
          </a:graphicData>
        </a:graphic>
      </p:graphicFrame>
      <p:sp>
        <p:nvSpPr>
          <p:cNvPr id="82" name="Google Shape;82;p2"/>
          <p:cNvSpPr txBox="1"/>
          <p:nvPr/>
        </p:nvSpPr>
        <p:spPr>
          <a:xfrm>
            <a:off x="3276600" y="1546225"/>
            <a:ext cx="5410200" cy="2039020"/>
          </a:xfrm>
          <a:prstGeom prst="rect">
            <a:avLst/>
          </a:prstGeom>
          <a:solidFill>
            <a:schemeClr val="lt1"/>
          </a:solidFill>
          <a:ln>
            <a:noFill/>
          </a:ln>
        </p:spPr>
        <p:txBody>
          <a:bodyPr anchorCtr="0" anchor="t" bIns="45700" lIns="91425" spcFirstLastPara="1" rIns="91425" wrap="square" tIns="45700">
            <a:spAutoFit/>
          </a:bodyPr>
          <a:lstStyle/>
          <a:p>
            <a:pPr indent="-449263" lvl="0" marL="571500" marR="0" rtl="0" algn="l">
              <a:lnSpc>
                <a:spcPct val="95000"/>
              </a:lnSpc>
              <a:spcBef>
                <a:spcPts val="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Record of increases and decreases in a specific asset, liability, owners’ equity, revenue, or expense item.</a:t>
            </a:r>
            <a:endParaRPr/>
          </a:p>
          <a:p>
            <a:pPr indent="-449263" lvl="0" marL="571500" marR="0" rtl="0" algn="l">
              <a:lnSpc>
                <a:spcPct val="95000"/>
              </a:lnSpc>
              <a:spcBef>
                <a:spcPts val="110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Debit = “Left”</a:t>
            </a:r>
            <a:endParaRPr/>
          </a:p>
          <a:p>
            <a:pPr indent="-449263" lvl="0" marL="571500" marR="0" rtl="0" algn="l">
              <a:lnSpc>
                <a:spcPct val="95000"/>
              </a:lnSpc>
              <a:spcBef>
                <a:spcPts val="110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Credit = “Right”</a:t>
            </a:r>
            <a:endParaRPr/>
          </a:p>
        </p:txBody>
      </p:sp>
      <p:sp>
        <p:nvSpPr>
          <p:cNvPr id="83" name="Google Shape;83;p2"/>
          <p:cNvSpPr txBox="1"/>
          <p:nvPr/>
        </p:nvSpPr>
        <p:spPr>
          <a:xfrm>
            <a:off x="457200" y="1371600"/>
            <a:ext cx="1828800" cy="1384995"/>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3200">
                <a:solidFill>
                  <a:srgbClr val="0000BF"/>
                </a:solidFill>
                <a:latin typeface="Arial"/>
                <a:ea typeface="Arial"/>
                <a:cs typeface="Arial"/>
                <a:sym typeface="Arial"/>
              </a:rPr>
              <a:t>The</a:t>
            </a:r>
            <a:endParaRPr/>
          </a:p>
          <a:p>
            <a:pPr indent="0" lvl="0" marL="0" marR="0" rtl="0" algn="ctr">
              <a:spcBef>
                <a:spcPts val="0"/>
              </a:spcBef>
              <a:spcAft>
                <a:spcPts val="0"/>
              </a:spcAft>
              <a:buNone/>
            </a:pPr>
            <a:r>
              <a:rPr b="1" lang="en-US" sz="3200">
                <a:solidFill>
                  <a:srgbClr val="0000BF"/>
                </a:solidFill>
                <a:latin typeface="Arial"/>
                <a:ea typeface="Arial"/>
                <a:cs typeface="Arial"/>
                <a:sym typeface="Arial"/>
              </a:rPr>
              <a:t>Account</a:t>
            </a:r>
            <a:endParaRPr/>
          </a:p>
        </p:txBody>
      </p:sp>
      <p:sp>
        <p:nvSpPr>
          <p:cNvPr id="84" name="Google Shape;84;p2"/>
          <p:cNvSpPr/>
          <p:nvPr/>
        </p:nvSpPr>
        <p:spPr>
          <a:xfrm>
            <a:off x="2362200" y="1862138"/>
            <a:ext cx="762000" cy="228600"/>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990033"/>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85" name="Google Shape;85;p2"/>
          <p:cNvSpPr txBox="1"/>
          <p:nvPr/>
        </p:nvSpPr>
        <p:spPr>
          <a:xfrm>
            <a:off x="533400" y="3867150"/>
            <a:ext cx="2743200" cy="1225550"/>
          </a:xfrm>
          <a:prstGeom prst="rect">
            <a:avLst/>
          </a:prstGeom>
          <a:solidFill>
            <a:srgbClr val="F7F48B"/>
          </a:solidFill>
          <a:ln cap="sq" cmpd="sng" w="28575">
            <a:solidFill>
              <a:schemeClr val="dk1"/>
            </a:solidFill>
            <a:prstDash val="solid"/>
            <a:miter lim="800000"/>
            <a:headEnd len="sm" w="sm" type="none"/>
            <a:tailEnd len="sm" w="sm" type="none"/>
          </a:ln>
        </p:spPr>
        <p:txBody>
          <a:bodyPr anchorCtr="0" anchor="ctr" bIns="45700" lIns="91425" spcFirstLastPara="1" rIns="91425" wrap="square" tIns="9125">
            <a:noAutofit/>
          </a:bodyPr>
          <a:lstStyle/>
          <a:p>
            <a:pPr indent="0" lvl="0" marL="0" marR="0" rtl="0" algn="ctr">
              <a:spcBef>
                <a:spcPts val="0"/>
              </a:spcBef>
              <a:spcAft>
                <a:spcPts val="0"/>
              </a:spcAft>
              <a:buNone/>
            </a:pPr>
            <a:r>
              <a:rPr b="1" lang="en-US" sz="2300">
                <a:solidFill>
                  <a:schemeClr val="dk1"/>
                </a:solidFill>
                <a:latin typeface="Arial"/>
                <a:ea typeface="Arial"/>
                <a:cs typeface="Arial"/>
                <a:sym typeface="Arial"/>
              </a:rPr>
              <a:t>An account can be illustrated in a   T-account form.</a:t>
            </a:r>
            <a:endParaRPr/>
          </a:p>
        </p:txBody>
      </p:sp>
      <p:sp>
        <p:nvSpPr>
          <p:cNvPr id="86" name="Google Shape;86;p2"/>
          <p:cNvSpPr/>
          <p:nvPr/>
        </p:nvSpPr>
        <p:spPr>
          <a:xfrm>
            <a:off x="3657600" y="4324350"/>
            <a:ext cx="762000" cy="228600"/>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990033"/>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87" name="Google Shape;87;p2"/>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88" name="Google Shape;88;p2"/>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100">
                <a:solidFill>
                  <a:schemeClr val="lt1"/>
                </a:solidFill>
                <a:latin typeface="Arial"/>
                <a:ea typeface="Arial"/>
                <a:cs typeface="Arial"/>
                <a:sym typeface="Arial"/>
              </a:rPr>
              <a:t>Describe how accounts, debits, and credits are used to record business transactions.</a:t>
            </a:r>
            <a:endParaRPr/>
          </a:p>
        </p:txBody>
      </p:sp>
      <p:sp>
        <p:nvSpPr>
          <p:cNvPr id="89" name="Google Shape;89;p2"/>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1</a:t>
            </a:r>
            <a:endParaRPr/>
          </a:p>
        </p:txBody>
      </p:sp>
      <p:sp>
        <p:nvSpPr>
          <p:cNvPr id="90" name="Google Shape;90;p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533400" y="1905000"/>
            <a:ext cx="7696200" cy="3158557"/>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400">
                <a:solidFill>
                  <a:srgbClr val="0000BF"/>
                </a:solidFill>
                <a:latin typeface="Arial"/>
                <a:ea typeface="Arial"/>
                <a:cs typeface="Arial"/>
                <a:sym typeface="Arial"/>
              </a:rPr>
              <a:t>Double-entry system</a:t>
            </a:r>
            <a:endParaRPr/>
          </a:p>
          <a:p>
            <a:pPr indent="-457199" lvl="1" marL="690563" marR="0" rtl="0" algn="l">
              <a:lnSpc>
                <a:spcPct val="125000"/>
              </a:lnSpc>
              <a:spcBef>
                <a:spcPts val="11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Each transaction must affect two or more accounts to keep the basic accounting equation in balance.</a:t>
            </a:r>
            <a:endParaRPr/>
          </a:p>
          <a:p>
            <a:pPr indent="-457199" lvl="1" marL="690563" marR="0" rtl="0" algn="l">
              <a:lnSpc>
                <a:spcPct val="125000"/>
              </a:lnSpc>
              <a:spcBef>
                <a:spcPts val="11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Recording done by debiting at least one account and crediting at least one other account.</a:t>
            </a:r>
            <a:endParaRPr b="0" i="0" sz="2200" u="none" cap="none" strike="noStrike">
              <a:solidFill>
                <a:schemeClr val="dk1"/>
              </a:solidFill>
              <a:latin typeface="Arial"/>
              <a:ea typeface="Arial"/>
              <a:cs typeface="Arial"/>
              <a:sym typeface="Arial"/>
            </a:endParaRPr>
          </a:p>
          <a:p>
            <a:pPr indent="-457199" lvl="1" marL="690563" marR="0" rtl="0" algn="l">
              <a:lnSpc>
                <a:spcPct val="125000"/>
              </a:lnSpc>
              <a:spcBef>
                <a:spcPts val="11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DEBITS must equal CREDITS</a:t>
            </a:r>
            <a:r>
              <a:rPr b="0" i="0" lang="en-US" sz="2200" u="none" cap="none" strike="noStrike">
                <a:solidFill>
                  <a:schemeClr val="dk1"/>
                </a:solidFill>
                <a:latin typeface="Arial"/>
                <a:ea typeface="Arial"/>
                <a:cs typeface="Arial"/>
                <a:sym typeface="Arial"/>
              </a:rPr>
              <a:t>.</a:t>
            </a:r>
            <a:endParaRPr/>
          </a:p>
        </p:txBody>
      </p:sp>
      <p:sp>
        <p:nvSpPr>
          <p:cNvPr id="96" name="Google Shape;96;p3"/>
          <p:cNvSpPr/>
          <p:nvPr/>
        </p:nvSpPr>
        <p:spPr>
          <a:xfrm>
            <a:off x="533400" y="1295400"/>
            <a:ext cx="80010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chemeClr val="dk1"/>
                </a:solidFill>
                <a:latin typeface="Arial"/>
                <a:ea typeface="Arial"/>
                <a:cs typeface="Arial"/>
                <a:sym typeface="Arial"/>
              </a:rPr>
              <a:t>DEBIT AND CREDIT PROCEDURES</a:t>
            </a:r>
            <a:endParaRPr b="1" sz="2700">
              <a:solidFill>
                <a:schemeClr val="dk1"/>
              </a:solidFill>
              <a:latin typeface="Arial"/>
              <a:ea typeface="Arial"/>
              <a:cs typeface="Arial"/>
              <a:sym typeface="Arial"/>
            </a:endParaRPr>
          </a:p>
        </p:txBody>
      </p:sp>
      <p:sp>
        <p:nvSpPr>
          <p:cNvPr id="97" name="Google Shape;97;p3"/>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The Account</a:t>
            </a:r>
            <a:endParaRPr/>
          </a:p>
        </p:txBody>
      </p:sp>
      <p:cxnSp>
        <p:nvCxnSpPr>
          <p:cNvPr id="98" name="Google Shape;98;p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9" name="Google Shape;99;p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aphicFrame>
        <p:nvGraphicFramePr>
          <p:cNvPr id="104" name="Google Shape;104;p4"/>
          <p:cNvGraphicFramePr/>
          <p:nvPr/>
        </p:nvGraphicFramePr>
        <p:xfrm>
          <a:off x="1905000" y="2038350"/>
          <a:ext cx="5334000" cy="4000500"/>
        </p:xfrm>
        <a:graphic>
          <a:graphicData uri="http://schemas.openxmlformats.org/presentationml/2006/ole">
            <mc:AlternateContent>
              <mc:Choice Requires="v">
                <p:oleObj r:id="rId4" imgH="4000500" imgW="5334000" progId="PowerPoint.Slide.8" spid="_x0000_s1">
                  <p:embed/>
                </p:oleObj>
              </mc:Choice>
              <mc:Fallback>
                <p:oleObj r:id="rId5" imgH="4000500" imgW="5334000" progId="PowerPoint.Slide.8">
                  <p:embed/>
                  <p:pic>
                    <p:nvPicPr>
                      <p:cNvPr id="104" name="Google Shape;104;p4"/>
                      <p:cNvPicPr preferRelativeResize="0"/>
                      <p:nvPr/>
                    </p:nvPicPr>
                    <p:blipFill rotWithShape="1">
                      <a:blip r:embed="rId6">
                        <a:alphaModFix/>
                      </a:blip>
                      <a:srcRect b="0" l="0" r="0" t="0"/>
                      <a:stretch/>
                    </p:blipFill>
                    <p:spPr>
                      <a:xfrm>
                        <a:off x="1905000" y="2038350"/>
                        <a:ext cx="5334000" cy="4000500"/>
                      </a:xfrm>
                      <a:prstGeom prst="rect">
                        <a:avLst/>
                      </a:prstGeom>
                      <a:noFill/>
                      <a:ln>
                        <a:noFill/>
                      </a:ln>
                    </p:spPr>
                  </p:pic>
                </p:oleObj>
              </mc:Fallback>
            </mc:AlternateContent>
          </a:graphicData>
        </a:graphic>
      </p:graphicFrame>
      <p:sp>
        <p:nvSpPr>
          <p:cNvPr id="105" name="Google Shape;105;p4"/>
          <p:cNvSpPr txBox="1"/>
          <p:nvPr/>
        </p:nvSpPr>
        <p:spPr>
          <a:xfrm>
            <a:off x="2819400" y="3429000"/>
            <a:ext cx="1295400" cy="396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dk1"/>
                </a:solidFill>
                <a:latin typeface="Arial"/>
                <a:ea typeface="Arial"/>
                <a:cs typeface="Arial"/>
                <a:sym typeface="Arial"/>
              </a:rPr>
              <a:t>$10,000</a:t>
            </a:r>
            <a:endParaRPr/>
          </a:p>
        </p:txBody>
      </p:sp>
      <p:sp>
        <p:nvSpPr>
          <p:cNvPr id="106" name="Google Shape;106;p4"/>
          <p:cNvSpPr txBox="1"/>
          <p:nvPr/>
        </p:nvSpPr>
        <p:spPr>
          <a:xfrm>
            <a:off x="6781800" y="3429000"/>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Transaction #2</a:t>
            </a:r>
            <a:endParaRPr/>
          </a:p>
        </p:txBody>
      </p:sp>
      <p:sp>
        <p:nvSpPr>
          <p:cNvPr id="107" name="Google Shape;107;p4"/>
          <p:cNvSpPr txBox="1"/>
          <p:nvPr/>
        </p:nvSpPr>
        <p:spPr>
          <a:xfrm>
            <a:off x="4953000" y="3429000"/>
            <a:ext cx="1066800" cy="396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dk1"/>
                </a:solidFill>
                <a:latin typeface="Arial"/>
                <a:ea typeface="Arial"/>
                <a:cs typeface="Arial"/>
                <a:sym typeface="Arial"/>
              </a:rPr>
              <a:t>$3,000</a:t>
            </a:r>
            <a:endParaRPr/>
          </a:p>
        </p:txBody>
      </p:sp>
      <p:sp>
        <p:nvSpPr>
          <p:cNvPr id="108" name="Google Shape;108;p4"/>
          <p:cNvSpPr txBox="1"/>
          <p:nvPr/>
        </p:nvSpPr>
        <p:spPr>
          <a:xfrm>
            <a:off x="3048000" y="3870325"/>
            <a:ext cx="1066800" cy="396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dk1"/>
                </a:solidFill>
                <a:latin typeface="Arial"/>
                <a:ea typeface="Arial"/>
                <a:cs typeface="Arial"/>
                <a:sym typeface="Arial"/>
              </a:rPr>
              <a:t>8,000</a:t>
            </a:r>
            <a:endParaRPr/>
          </a:p>
        </p:txBody>
      </p:sp>
      <p:sp>
        <p:nvSpPr>
          <p:cNvPr id="109" name="Google Shape;109;p4"/>
          <p:cNvSpPr txBox="1"/>
          <p:nvPr/>
        </p:nvSpPr>
        <p:spPr>
          <a:xfrm>
            <a:off x="381000" y="4800600"/>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Balance</a:t>
            </a:r>
            <a:endParaRPr/>
          </a:p>
        </p:txBody>
      </p:sp>
      <p:sp>
        <p:nvSpPr>
          <p:cNvPr id="110" name="Google Shape;110;p4"/>
          <p:cNvSpPr txBox="1"/>
          <p:nvPr/>
        </p:nvSpPr>
        <p:spPr>
          <a:xfrm>
            <a:off x="381000" y="3429000"/>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Transaction #1</a:t>
            </a:r>
            <a:endParaRPr/>
          </a:p>
        </p:txBody>
      </p:sp>
      <p:sp>
        <p:nvSpPr>
          <p:cNvPr id="111" name="Google Shape;111;p4"/>
          <p:cNvSpPr txBox="1"/>
          <p:nvPr/>
        </p:nvSpPr>
        <p:spPr>
          <a:xfrm>
            <a:off x="381000" y="3870325"/>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Transaction #3</a:t>
            </a:r>
            <a:endParaRPr/>
          </a:p>
        </p:txBody>
      </p:sp>
      <p:sp>
        <p:nvSpPr>
          <p:cNvPr id="112" name="Google Shape;112;p4"/>
          <p:cNvSpPr txBox="1"/>
          <p:nvPr/>
        </p:nvSpPr>
        <p:spPr>
          <a:xfrm>
            <a:off x="533400" y="1295400"/>
            <a:ext cx="7772400" cy="906463"/>
          </a:xfrm>
          <a:prstGeom prst="rect">
            <a:avLst/>
          </a:prstGeom>
          <a:solidFill>
            <a:schemeClr val="lt1"/>
          </a:solidFill>
          <a:ln>
            <a:noFill/>
          </a:ln>
        </p:spPr>
        <p:txBody>
          <a:bodyPr anchorCtr="0" anchor="t" bIns="45700" lIns="91425" spcFirstLastPara="1" rIns="91425" wrap="square" tIns="45700">
            <a:spAutoFit/>
          </a:bodyPr>
          <a:lstStyle/>
          <a:p>
            <a:pPr indent="11113" lvl="0" marL="1588" marR="0" rtl="0" algn="l">
              <a:lnSpc>
                <a:spcPct val="115000"/>
              </a:lnSpc>
              <a:spcBef>
                <a:spcPts val="0"/>
              </a:spcBef>
              <a:spcAft>
                <a:spcPts val="0"/>
              </a:spcAft>
              <a:buNone/>
            </a:pPr>
            <a:r>
              <a:rPr b="1" lang="en-US" sz="2300">
                <a:solidFill>
                  <a:schemeClr val="dk1"/>
                </a:solidFill>
                <a:latin typeface="Arial"/>
                <a:ea typeface="Arial"/>
                <a:cs typeface="Arial"/>
                <a:sym typeface="Arial"/>
              </a:rPr>
              <a:t>If the sum of Debit entries are </a:t>
            </a:r>
            <a:r>
              <a:rPr b="1" lang="en-US" sz="2300">
                <a:solidFill>
                  <a:srgbClr val="990000"/>
                </a:solidFill>
                <a:latin typeface="Arial"/>
                <a:ea typeface="Arial"/>
                <a:cs typeface="Arial"/>
                <a:sym typeface="Arial"/>
              </a:rPr>
              <a:t>greater than</a:t>
            </a:r>
            <a:r>
              <a:rPr b="1" lang="en-US" sz="2300">
                <a:solidFill>
                  <a:schemeClr val="dk1"/>
                </a:solidFill>
                <a:latin typeface="Arial"/>
                <a:ea typeface="Arial"/>
                <a:cs typeface="Arial"/>
                <a:sym typeface="Arial"/>
              </a:rPr>
              <a:t> the sum of Credit entries, the account will have a debit balance.</a:t>
            </a:r>
            <a:endParaRPr/>
          </a:p>
        </p:txBody>
      </p:sp>
      <p:sp>
        <p:nvSpPr>
          <p:cNvPr id="113" name="Google Shape;113;p4"/>
          <p:cNvSpPr txBox="1"/>
          <p:nvPr/>
        </p:nvSpPr>
        <p:spPr>
          <a:xfrm>
            <a:off x="2715768" y="4800600"/>
            <a:ext cx="1792224" cy="400110"/>
          </a:xfrm>
          <a:prstGeom prst="rect">
            <a:avLst/>
          </a:prstGeom>
          <a:solidFill>
            <a:srgbClr val="F7F48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990000"/>
                </a:solidFill>
                <a:latin typeface="Arial"/>
                <a:ea typeface="Arial"/>
                <a:cs typeface="Arial"/>
                <a:sym typeface="Arial"/>
              </a:rPr>
              <a:t>	$15,000</a:t>
            </a:r>
            <a:endParaRPr/>
          </a:p>
        </p:txBody>
      </p:sp>
      <p:sp>
        <p:nvSpPr>
          <p:cNvPr id="114" name="Google Shape;114;p4"/>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 and Credits</a:t>
            </a:r>
            <a:endParaRPr b="1" sz="3200">
              <a:solidFill>
                <a:srgbClr val="0000BF"/>
              </a:solidFill>
              <a:latin typeface="Arial"/>
              <a:ea typeface="Arial"/>
              <a:cs typeface="Arial"/>
              <a:sym typeface="Arial"/>
            </a:endParaRPr>
          </a:p>
        </p:txBody>
      </p:sp>
      <p:cxnSp>
        <p:nvCxnSpPr>
          <p:cNvPr id="115" name="Google Shape;115;p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16" name="Google Shape;116;p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graphicFrame>
        <p:nvGraphicFramePr>
          <p:cNvPr id="121" name="Google Shape;121;p5"/>
          <p:cNvGraphicFramePr/>
          <p:nvPr/>
        </p:nvGraphicFramePr>
        <p:xfrm>
          <a:off x="1905000" y="2038350"/>
          <a:ext cx="5334000" cy="4000500"/>
        </p:xfrm>
        <a:graphic>
          <a:graphicData uri="http://schemas.openxmlformats.org/presentationml/2006/ole">
            <mc:AlternateContent>
              <mc:Choice Requires="v">
                <p:oleObj r:id="rId4" imgH="4000500" imgW="5334000" progId="PowerPoint.Slide.8" spid="_x0000_s1">
                  <p:embed/>
                </p:oleObj>
              </mc:Choice>
              <mc:Fallback>
                <p:oleObj r:id="rId5" imgH="4000500" imgW="5334000" progId="PowerPoint.Slide.8">
                  <p:embed/>
                  <p:pic>
                    <p:nvPicPr>
                      <p:cNvPr id="121" name="Google Shape;121;p5"/>
                      <p:cNvPicPr preferRelativeResize="0"/>
                      <p:nvPr/>
                    </p:nvPicPr>
                    <p:blipFill rotWithShape="1">
                      <a:blip r:embed="rId6">
                        <a:alphaModFix/>
                      </a:blip>
                      <a:srcRect b="0" l="0" r="0" t="0"/>
                      <a:stretch/>
                    </p:blipFill>
                    <p:spPr>
                      <a:xfrm>
                        <a:off x="1905000" y="2038350"/>
                        <a:ext cx="5334000" cy="4000500"/>
                      </a:xfrm>
                      <a:prstGeom prst="rect">
                        <a:avLst/>
                      </a:prstGeom>
                      <a:noFill/>
                      <a:ln>
                        <a:noFill/>
                      </a:ln>
                    </p:spPr>
                  </p:pic>
                </p:oleObj>
              </mc:Fallback>
            </mc:AlternateContent>
          </a:graphicData>
        </a:graphic>
      </p:graphicFrame>
      <p:sp>
        <p:nvSpPr>
          <p:cNvPr id="122" name="Google Shape;122;p5"/>
          <p:cNvSpPr txBox="1"/>
          <p:nvPr/>
        </p:nvSpPr>
        <p:spPr>
          <a:xfrm>
            <a:off x="533400" y="1295400"/>
            <a:ext cx="7772400" cy="906463"/>
          </a:xfrm>
          <a:prstGeom prst="rect">
            <a:avLst/>
          </a:prstGeom>
          <a:solidFill>
            <a:schemeClr val="lt1"/>
          </a:solidFill>
          <a:ln>
            <a:noFill/>
          </a:ln>
        </p:spPr>
        <p:txBody>
          <a:bodyPr anchorCtr="0" anchor="t" bIns="45700" lIns="91425" spcFirstLastPara="1" rIns="91425" wrap="square" tIns="45700">
            <a:spAutoFit/>
          </a:bodyPr>
          <a:lstStyle/>
          <a:p>
            <a:pPr indent="11113" lvl="0" marL="1588" marR="0" rtl="0" algn="l">
              <a:lnSpc>
                <a:spcPct val="115000"/>
              </a:lnSpc>
              <a:spcBef>
                <a:spcPts val="0"/>
              </a:spcBef>
              <a:spcAft>
                <a:spcPts val="0"/>
              </a:spcAft>
              <a:buNone/>
            </a:pPr>
            <a:r>
              <a:rPr b="1" lang="en-US" sz="2300">
                <a:solidFill>
                  <a:schemeClr val="dk1"/>
                </a:solidFill>
                <a:latin typeface="Arial"/>
                <a:ea typeface="Arial"/>
                <a:cs typeface="Arial"/>
                <a:sym typeface="Arial"/>
              </a:rPr>
              <a:t>If the sum of Credit entries are </a:t>
            </a:r>
            <a:r>
              <a:rPr b="1" lang="en-US" sz="2300">
                <a:solidFill>
                  <a:srgbClr val="800000"/>
                </a:solidFill>
                <a:latin typeface="Arial"/>
                <a:ea typeface="Arial"/>
                <a:cs typeface="Arial"/>
                <a:sym typeface="Arial"/>
              </a:rPr>
              <a:t>greater than</a:t>
            </a:r>
            <a:r>
              <a:rPr b="1" lang="en-US" sz="2300">
                <a:solidFill>
                  <a:schemeClr val="dk1"/>
                </a:solidFill>
                <a:latin typeface="Arial"/>
                <a:ea typeface="Arial"/>
                <a:cs typeface="Arial"/>
                <a:sym typeface="Arial"/>
              </a:rPr>
              <a:t> the sum of Debit entries, the account will have a credit balance.</a:t>
            </a:r>
            <a:endParaRPr/>
          </a:p>
        </p:txBody>
      </p:sp>
      <p:sp>
        <p:nvSpPr>
          <p:cNvPr id="123" name="Google Shape;123;p5"/>
          <p:cNvSpPr txBox="1"/>
          <p:nvPr/>
        </p:nvSpPr>
        <p:spPr>
          <a:xfrm>
            <a:off x="2819400" y="3429000"/>
            <a:ext cx="1295400" cy="396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dk1"/>
                </a:solidFill>
                <a:latin typeface="Arial"/>
                <a:ea typeface="Arial"/>
                <a:cs typeface="Arial"/>
                <a:sym typeface="Arial"/>
              </a:rPr>
              <a:t>$10,000</a:t>
            </a:r>
            <a:endParaRPr/>
          </a:p>
        </p:txBody>
      </p:sp>
      <p:sp>
        <p:nvSpPr>
          <p:cNvPr id="124" name="Google Shape;124;p5"/>
          <p:cNvSpPr txBox="1"/>
          <p:nvPr/>
        </p:nvSpPr>
        <p:spPr>
          <a:xfrm>
            <a:off x="6781800" y="3429000"/>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Transaction #2</a:t>
            </a:r>
            <a:endParaRPr/>
          </a:p>
        </p:txBody>
      </p:sp>
      <p:sp>
        <p:nvSpPr>
          <p:cNvPr id="125" name="Google Shape;125;p5"/>
          <p:cNvSpPr txBox="1"/>
          <p:nvPr/>
        </p:nvSpPr>
        <p:spPr>
          <a:xfrm>
            <a:off x="4953000" y="3429000"/>
            <a:ext cx="1066800" cy="396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dk1"/>
                </a:solidFill>
                <a:latin typeface="Arial"/>
                <a:ea typeface="Arial"/>
                <a:cs typeface="Arial"/>
                <a:sym typeface="Arial"/>
              </a:rPr>
              <a:t>$3,000</a:t>
            </a:r>
            <a:endParaRPr/>
          </a:p>
        </p:txBody>
      </p:sp>
      <p:sp>
        <p:nvSpPr>
          <p:cNvPr id="126" name="Google Shape;126;p5"/>
          <p:cNvSpPr txBox="1"/>
          <p:nvPr/>
        </p:nvSpPr>
        <p:spPr>
          <a:xfrm>
            <a:off x="4953000" y="3870325"/>
            <a:ext cx="1066800" cy="396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dk1"/>
                </a:solidFill>
                <a:latin typeface="Arial"/>
                <a:ea typeface="Arial"/>
                <a:cs typeface="Arial"/>
                <a:sym typeface="Arial"/>
              </a:rPr>
              <a:t>8,000</a:t>
            </a:r>
            <a:endParaRPr/>
          </a:p>
        </p:txBody>
      </p:sp>
      <p:sp>
        <p:nvSpPr>
          <p:cNvPr id="127" name="Google Shape;127;p5"/>
          <p:cNvSpPr txBox="1"/>
          <p:nvPr/>
        </p:nvSpPr>
        <p:spPr>
          <a:xfrm>
            <a:off x="6781800" y="3870325"/>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Transaction #3</a:t>
            </a:r>
            <a:endParaRPr/>
          </a:p>
        </p:txBody>
      </p:sp>
      <p:sp>
        <p:nvSpPr>
          <p:cNvPr id="128" name="Google Shape;128;p5"/>
          <p:cNvSpPr txBox="1"/>
          <p:nvPr/>
        </p:nvSpPr>
        <p:spPr>
          <a:xfrm>
            <a:off x="381000" y="4800600"/>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Balance</a:t>
            </a:r>
            <a:endParaRPr/>
          </a:p>
        </p:txBody>
      </p:sp>
      <p:sp>
        <p:nvSpPr>
          <p:cNvPr id="129" name="Google Shape;129;p5"/>
          <p:cNvSpPr txBox="1"/>
          <p:nvPr/>
        </p:nvSpPr>
        <p:spPr>
          <a:xfrm>
            <a:off x="381000" y="3429000"/>
            <a:ext cx="2209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Transaction #1</a:t>
            </a:r>
            <a:endParaRPr/>
          </a:p>
        </p:txBody>
      </p:sp>
      <p:sp>
        <p:nvSpPr>
          <p:cNvPr id="130" name="Google Shape;130;p5"/>
          <p:cNvSpPr txBox="1"/>
          <p:nvPr/>
        </p:nvSpPr>
        <p:spPr>
          <a:xfrm>
            <a:off x="4544568" y="4800600"/>
            <a:ext cx="1828800" cy="400110"/>
          </a:xfrm>
          <a:prstGeom prst="rect">
            <a:avLst/>
          </a:prstGeom>
          <a:solidFill>
            <a:srgbClr val="F7F48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990000"/>
                </a:solidFill>
                <a:latin typeface="Arial"/>
                <a:ea typeface="Arial"/>
                <a:cs typeface="Arial"/>
                <a:sym typeface="Arial"/>
              </a:rPr>
              <a:t>	$1,000</a:t>
            </a:r>
            <a:endParaRPr b="1" sz="2000">
              <a:solidFill>
                <a:srgbClr val="990000"/>
              </a:solidFill>
              <a:latin typeface="Arial"/>
              <a:ea typeface="Arial"/>
              <a:cs typeface="Arial"/>
              <a:sym typeface="Arial"/>
            </a:endParaRPr>
          </a:p>
        </p:txBody>
      </p:sp>
      <p:sp>
        <p:nvSpPr>
          <p:cNvPr id="131" name="Google Shape;131;p5"/>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 and Credits</a:t>
            </a:r>
            <a:endParaRPr b="1" sz="3200">
              <a:solidFill>
                <a:srgbClr val="0000BF"/>
              </a:solidFill>
              <a:latin typeface="Arial"/>
              <a:ea typeface="Arial"/>
              <a:cs typeface="Arial"/>
              <a:sym typeface="Arial"/>
            </a:endParaRPr>
          </a:p>
        </p:txBody>
      </p:sp>
      <p:cxnSp>
        <p:nvCxnSpPr>
          <p:cNvPr id="132" name="Google Shape;132;p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33" name="Google Shape;133;p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nvSpPr>
        <p:spPr>
          <a:xfrm>
            <a:off x="3886200" y="1371600"/>
            <a:ext cx="4572000" cy="27178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Clr>
                <a:srgbClr val="800000"/>
              </a:buClr>
              <a:buSzPts val="1680"/>
              <a:buFont typeface="Noto Sans Symbols"/>
              <a:buChar char="◆"/>
            </a:pPr>
            <a:r>
              <a:rPr b="1" lang="en-US" sz="2100">
                <a:solidFill>
                  <a:schemeClr val="dk1"/>
                </a:solidFill>
                <a:latin typeface="Arial"/>
                <a:ea typeface="Arial"/>
                <a:cs typeface="Arial"/>
                <a:sym typeface="Arial"/>
              </a:rPr>
              <a:t>Assets</a:t>
            </a:r>
            <a:r>
              <a:rPr lang="en-US" sz="2100">
                <a:solidFill>
                  <a:schemeClr val="dk1"/>
                </a:solidFill>
                <a:latin typeface="Arial"/>
                <a:ea typeface="Arial"/>
                <a:cs typeface="Arial"/>
                <a:sym typeface="Arial"/>
              </a:rPr>
              <a:t> - Debits should exceed credits.</a:t>
            </a:r>
            <a:endParaRPr/>
          </a:p>
          <a:p>
            <a:pPr indent="-457200" lvl="0" marL="457200" marR="0" rtl="0" algn="l">
              <a:lnSpc>
                <a:spcPct val="120000"/>
              </a:lnSpc>
              <a:spcBef>
                <a:spcPts val="1050"/>
              </a:spcBef>
              <a:spcAft>
                <a:spcPts val="0"/>
              </a:spcAft>
              <a:buClr>
                <a:srgbClr val="800000"/>
              </a:buClr>
              <a:buSzPts val="1680"/>
              <a:buFont typeface="Noto Sans Symbols"/>
              <a:buChar char="◆"/>
            </a:pPr>
            <a:r>
              <a:rPr b="1" lang="en-US" sz="2100">
                <a:solidFill>
                  <a:schemeClr val="dk1"/>
                </a:solidFill>
                <a:latin typeface="Arial"/>
                <a:ea typeface="Arial"/>
                <a:cs typeface="Arial"/>
                <a:sym typeface="Arial"/>
              </a:rPr>
              <a:t>Liabilities</a:t>
            </a:r>
            <a:r>
              <a:rPr lang="en-US" sz="2100">
                <a:solidFill>
                  <a:schemeClr val="dk1"/>
                </a:solidFill>
                <a:latin typeface="Arial"/>
                <a:ea typeface="Arial"/>
                <a:cs typeface="Arial"/>
                <a:sym typeface="Arial"/>
              </a:rPr>
              <a:t> – Credits should exceed debits. </a:t>
            </a:r>
            <a:endParaRPr/>
          </a:p>
          <a:p>
            <a:pPr indent="-457200" lvl="0" marL="457200" marR="0" rtl="0" algn="l">
              <a:lnSpc>
                <a:spcPct val="120000"/>
              </a:lnSpc>
              <a:spcBef>
                <a:spcPts val="1050"/>
              </a:spcBef>
              <a:spcAft>
                <a:spcPts val="0"/>
              </a:spcAft>
              <a:buClr>
                <a:srgbClr val="800000"/>
              </a:buClr>
              <a:buSzPts val="1680"/>
              <a:buFont typeface="Noto Sans Symbols"/>
              <a:buChar char="◆"/>
            </a:pPr>
            <a:r>
              <a:rPr b="1" lang="en-US" sz="2100">
                <a:solidFill>
                  <a:schemeClr val="dk1"/>
                </a:solidFill>
                <a:latin typeface="Arial"/>
                <a:ea typeface="Arial"/>
                <a:cs typeface="Arial"/>
                <a:sym typeface="Arial"/>
              </a:rPr>
              <a:t>Normal balance</a:t>
            </a:r>
            <a:r>
              <a:rPr lang="en-US" sz="2100">
                <a:solidFill>
                  <a:schemeClr val="dk1"/>
                </a:solidFill>
                <a:latin typeface="Arial"/>
                <a:ea typeface="Arial"/>
                <a:cs typeface="Arial"/>
                <a:sym typeface="Arial"/>
              </a:rPr>
              <a:t> is on the increase side.</a:t>
            </a:r>
            <a:endParaRPr/>
          </a:p>
        </p:txBody>
      </p:sp>
      <p:graphicFrame>
        <p:nvGraphicFramePr>
          <p:cNvPr id="139" name="Google Shape;139;p6"/>
          <p:cNvGraphicFramePr/>
          <p:nvPr/>
        </p:nvGraphicFramePr>
        <p:xfrm>
          <a:off x="762000" y="1447800"/>
          <a:ext cx="2743200" cy="2057400"/>
        </p:xfrm>
        <a:graphic>
          <a:graphicData uri="http://schemas.openxmlformats.org/presentationml/2006/ole">
            <mc:AlternateContent>
              <mc:Choice Requires="v">
                <p:oleObj r:id="rId4" imgH="2057400" imgW="2743200" progId="PowerPoint.Slide.8" spid="_x0000_s1">
                  <p:embed/>
                </p:oleObj>
              </mc:Choice>
              <mc:Fallback>
                <p:oleObj r:id="rId5" imgH="2057400" imgW="2743200" progId="PowerPoint.Slide.8">
                  <p:embed/>
                  <p:pic>
                    <p:nvPicPr>
                      <p:cNvPr id="139" name="Google Shape;139;p6"/>
                      <p:cNvPicPr preferRelativeResize="0"/>
                      <p:nvPr/>
                    </p:nvPicPr>
                    <p:blipFill rotWithShape="1">
                      <a:blip r:embed="rId6">
                        <a:alphaModFix/>
                      </a:blip>
                      <a:srcRect b="0" l="0" r="0" t="0"/>
                      <a:stretch/>
                    </p:blipFill>
                    <p:spPr>
                      <a:xfrm>
                        <a:off x="762000" y="1447800"/>
                        <a:ext cx="2743200" cy="2057400"/>
                      </a:xfrm>
                      <a:prstGeom prst="rect">
                        <a:avLst/>
                      </a:prstGeom>
                      <a:noFill/>
                      <a:ln cap="sq" cmpd="sng" w="28575">
                        <a:solidFill>
                          <a:schemeClr val="dk1"/>
                        </a:solidFill>
                        <a:prstDash val="solid"/>
                        <a:miter lim="800000"/>
                        <a:headEnd len="sm" w="sm" type="none"/>
                        <a:tailEnd len="sm" w="sm" type="none"/>
                      </a:ln>
                    </p:spPr>
                  </p:pic>
                </p:oleObj>
              </mc:Fallback>
            </mc:AlternateContent>
          </a:graphicData>
        </a:graphic>
      </p:graphicFrame>
      <p:graphicFrame>
        <p:nvGraphicFramePr>
          <p:cNvPr id="140" name="Google Shape;140;p6"/>
          <p:cNvGraphicFramePr/>
          <p:nvPr/>
        </p:nvGraphicFramePr>
        <p:xfrm>
          <a:off x="762000" y="3886200"/>
          <a:ext cx="2743200" cy="2057400"/>
        </p:xfrm>
        <a:graphic>
          <a:graphicData uri="http://schemas.openxmlformats.org/presentationml/2006/ole">
            <mc:AlternateContent>
              <mc:Choice Requires="v">
                <p:oleObj r:id="rId7" imgH="2057400" imgW="2743200" progId="PowerPoint.Slide.8" spid="_x0000_s2">
                  <p:embed/>
                </p:oleObj>
              </mc:Choice>
              <mc:Fallback>
                <p:oleObj r:id="rId8" imgH="2057400" imgW="2743200" progId="PowerPoint.Slide.8">
                  <p:embed/>
                  <p:pic>
                    <p:nvPicPr>
                      <p:cNvPr id="140" name="Google Shape;140;p6"/>
                      <p:cNvPicPr preferRelativeResize="0"/>
                      <p:nvPr/>
                    </p:nvPicPr>
                    <p:blipFill rotWithShape="1">
                      <a:blip r:embed="rId9">
                        <a:alphaModFix/>
                      </a:blip>
                      <a:srcRect b="0" l="0" r="0" t="0"/>
                      <a:stretch/>
                    </p:blipFill>
                    <p:spPr>
                      <a:xfrm>
                        <a:off x="762000" y="3886200"/>
                        <a:ext cx="2743200" cy="2057400"/>
                      </a:xfrm>
                      <a:prstGeom prst="rect">
                        <a:avLst/>
                      </a:prstGeom>
                      <a:noFill/>
                      <a:ln cap="sq" cmpd="sng" w="28575">
                        <a:solidFill>
                          <a:schemeClr val="lt2"/>
                        </a:solidFill>
                        <a:prstDash val="solid"/>
                        <a:miter lim="800000"/>
                        <a:headEnd len="sm" w="sm" type="none"/>
                        <a:tailEnd len="sm" w="sm" type="none"/>
                      </a:ln>
                    </p:spPr>
                  </p:pic>
                </p:oleObj>
              </mc:Fallback>
            </mc:AlternateContent>
          </a:graphicData>
        </a:graphic>
      </p:graphicFrame>
      <p:sp>
        <p:nvSpPr>
          <p:cNvPr id="141" name="Google Shape;141;p6"/>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 and Credits</a:t>
            </a:r>
            <a:endParaRPr/>
          </a:p>
        </p:txBody>
      </p:sp>
      <p:cxnSp>
        <p:nvCxnSpPr>
          <p:cNvPr id="142" name="Google Shape;142;p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43" name="Google Shape;143;p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nvSpPr>
        <p:spPr>
          <a:xfrm>
            <a:off x="3886200" y="1371600"/>
            <a:ext cx="5029200" cy="2192338"/>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Clr>
                <a:srgbClr val="800000"/>
              </a:buClr>
              <a:buSzPts val="1680"/>
              <a:buFont typeface="Noto Sans Symbols"/>
              <a:buChar char="◆"/>
            </a:pPr>
            <a:r>
              <a:rPr b="1" lang="en-US" sz="2100">
                <a:solidFill>
                  <a:schemeClr val="dk1"/>
                </a:solidFill>
                <a:latin typeface="Arial"/>
                <a:ea typeface="Arial"/>
                <a:cs typeface="Arial"/>
                <a:sym typeface="Arial"/>
              </a:rPr>
              <a:t>Owner’s investments</a:t>
            </a:r>
            <a:r>
              <a:rPr lang="en-US" sz="2100">
                <a:solidFill>
                  <a:srgbClr val="000000"/>
                </a:solidFill>
                <a:latin typeface="Arial"/>
                <a:ea typeface="Arial"/>
                <a:cs typeface="Arial"/>
                <a:sym typeface="Arial"/>
              </a:rPr>
              <a:t> and </a:t>
            </a:r>
            <a:r>
              <a:rPr b="1" lang="en-US" sz="2100">
                <a:solidFill>
                  <a:schemeClr val="dk1"/>
                </a:solidFill>
                <a:latin typeface="Arial"/>
                <a:ea typeface="Arial"/>
                <a:cs typeface="Arial"/>
                <a:sym typeface="Arial"/>
              </a:rPr>
              <a:t>revenues</a:t>
            </a:r>
            <a:r>
              <a:rPr lang="en-US" sz="2100">
                <a:solidFill>
                  <a:srgbClr val="000000"/>
                </a:solidFill>
                <a:latin typeface="Arial"/>
                <a:ea typeface="Arial"/>
                <a:cs typeface="Arial"/>
                <a:sym typeface="Arial"/>
              </a:rPr>
              <a:t> increase owner’s equity (credit). </a:t>
            </a:r>
            <a:endParaRPr/>
          </a:p>
          <a:p>
            <a:pPr indent="-457200" lvl="0" marL="457200" marR="0" rtl="0" algn="l">
              <a:lnSpc>
                <a:spcPct val="120000"/>
              </a:lnSpc>
              <a:spcBef>
                <a:spcPts val="1050"/>
              </a:spcBef>
              <a:spcAft>
                <a:spcPts val="0"/>
              </a:spcAft>
              <a:buClr>
                <a:srgbClr val="800000"/>
              </a:buClr>
              <a:buSzPts val="1680"/>
              <a:buFont typeface="Noto Sans Symbols"/>
              <a:buChar char="◆"/>
            </a:pPr>
            <a:r>
              <a:rPr b="1" lang="en-US" sz="2100">
                <a:solidFill>
                  <a:schemeClr val="dk1"/>
                </a:solidFill>
                <a:latin typeface="Arial"/>
                <a:ea typeface="Arial"/>
                <a:cs typeface="Arial"/>
                <a:sym typeface="Arial"/>
              </a:rPr>
              <a:t>Owner’s drawings</a:t>
            </a:r>
            <a:r>
              <a:rPr lang="en-US" sz="2100">
                <a:solidFill>
                  <a:srgbClr val="000000"/>
                </a:solidFill>
                <a:latin typeface="Arial"/>
                <a:ea typeface="Arial"/>
                <a:cs typeface="Arial"/>
                <a:sym typeface="Arial"/>
              </a:rPr>
              <a:t> and </a:t>
            </a:r>
            <a:r>
              <a:rPr b="1" lang="en-US" sz="2100">
                <a:solidFill>
                  <a:schemeClr val="dk1"/>
                </a:solidFill>
                <a:latin typeface="Arial"/>
                <a:ea typeface="Arial"/>
                <a:cs typeface="Arial"/>
                <a:sym typeface="Arial"/>
              </a:rPr>
              <a:t>expenses</a:t>
            </a:r>
            <a:r>
              <a:rPr lang="en-US" sz="2100">
                <a:solidFill>
                  <a:srgbClr val="000000"/>
                </a:solidFill>
                <a:latin typeface="Arial"/>
                <a:ea typeface="Arial"/>
                <a:cs typeface="Arial"/>
                <a:sym typeface="Arial"/>
              </a:rPr>
              <a:t> decrease owner’s equity (debit).</a:t>
            </a:r>
            <a:endParaRPr/>
          </a:p>
        </p:txBody>
      </p:sp>
      <p:graphicFrame>
        <p:nvGraphicFramePr>
          <p:cNvPr id="149" name="Google Shape;149;p7"/>
          <p:cNvGraphicFramePr/>
          <p:nvPr/>
        </p:nvGraphicFramePr>
        <p:xfrm>
          <a:off x="228600" y="4114800"/>
          <a:ext cx="2743200" cy="2057400"/>
        </p:xfrm>
        <a:graphic>
          <a:graphicData uri="http://schemas.openxmlformats.org/presentationml/2006/ole">
            <mc:AlternateContent>
              <mc:Choice Requires="v">
                <p:oleObj r:id="rId4" imgH="2057400" imgW="2743200" progId="PowerPoint.Slide.8" spid="_x0000_s1">
                  <p:embed/>
                </p:oleObj>
              </mc:Choice>
              <mc:Fallback>
                <p:oleObj r:id="rId5" imgH="2057400" imgW="2743200" progId="PowerPoint.Slide.8">
                  <p:embed/>
                  <p:pic>
                    <p:nvPicPr>
                      <p:cNvPr id="149" name="Google Shape;149;p7"/>
                      <p:cNvPicPr preferRelativeResize="0"/>
                      <p:nvPr/>
                    </p:nvPicPr>
                    <p:blipFill rotWithShape="1">
                      <a:blip r:embed="rId6">
                        <a:alphaModFix/>
                      </a:blip>
                      <a:srcRect b="0" l="0" r="0" t="0"/>
                      <a:stretch/>
                    </p:blipFill>
                    <p:spPr>
                      <a:xfrm>
                        <a:off x="228600" y="4114800"/>
                        <a:ext cx="2743200" cy="2057400"/>
                      </a:xfrm>
                      <a:prstGeom prst="rect">
                        <a:avLst/>
                      </a:prstGeom>
                      <a:noFill/>
                      <a:ln cap="sq" cmpd="sng" w="28575">
                        <a:solidFill>
                          <a:schemeClr val="lt2"/>
                        </a:solidFill>
                        <a:prstDash val="solid"/>
                        <a:miter lim="800000"/>
                        <a:headEnd len="sm" w="sm" type="none"/>
                        <a:tailEnd len="sm" w="sm" type="none"/>
                      </a:ln>
                    </p:spPr>
                  </p:pic>
                </p:oleObj>
              </mc:Fallback>
            </mc:AlternateContent>
          </a:graphicData>
        </a:graphic>
      </p:graphicFrame>
      <p:graphicFrame>
        <p:nvGraphicFramePr>
          <p:cNvPr id="150" name="Google Shape;150;p7"/>
          <p:cNvGraphicFramePr/>
          <p:nvPr/>
        </p:nvGraphicFramePr>
        <p:xfrm>
          <a:off x="3276600" y="4114800"/>
          <a:ext cx="2743200" cy="2057400"/>
        </p:xfrm>
        <a:graphic>
          <a:graphicData uri="http://schemas.openxmlformats.org/presentationml/2006/ole">
            <mc:AlternateContent>
              <mc:Choice Requires="v">
                <p:oleObj r:id="rId7" imgH="2057400" imgW="2743200" progId="PowerPoint.Slide.8" spid="_x0000_s2">
                  <p:embed/>
                </p:oleObj>
              </mc:Choice>
              <mc:Fallback>
                <p:oleObj r:id="rId8" imgH="2057400" imgW="2743200" progId="PowerPoint.Slide.8">
                  <p:embed/>
                  <p:pic>
                    <p:nvPicPr>
                      <p:cNvPr id="150" name="Google Shape;150;p7"/>
                      <p:cNvPicPr preferRelativeResize="0"/>
                      <p:nvPr/>
                    </p:nvPicPr>
                    <p:blipFill rotWithShape="1">
                      <a:blip r:embed="rId9">
                        <a:alphaModFix/>
                      </a:blip>
                      <a:srcRect b="0" l="0" r="0" t="0"/>
                      <a:stretch/>
                    </p:blipFill>
                    <p:spPr>
                      <a:xfrm>
                        <a:off x="3276600" y="4114800"/>
                        <a:ext cx="2743200" cy="2057400"/>
                      </a:xfrm>
                      <a:prstGeom prst="rect">
                        <a:avLst/>
                      </a:prstGeom>
                      <a:noFill/>
                      <a:ln cap="sq" cmpd="sng" w="28575">
                        <a:solidFill>
                          <a:schemeClr val="dk1"/>
                        </a:solidFill>
                        <a:prstDash val="solid"/>
                        <a:miter lim="800000"/>
                        <a:headEnd len="sm" w="sm" type="none"/>
                        <a:tailEnd len="sm" w="sm" type="none"/>
                      </a:ln>
                    </p:spPr>
                  </p:pic>
                </p:oleObj>
              </mc:Fallback>
            </mc:AlternateContent>
          </a:graphicData>
        </a:graphic>
      </p:graphicFrame>
      <p:graphicFrame>
        <p:nvGraphicFramePr>
          <p:cNvPr id="151" name="Google Shape;151;p7"/>
          <p:cNvGraphicFramePr/>
          <p:nvPr/>
        </p:nvGraphicFramePr>
        <p:xfrm>
          <a:off x="762000" y="1447800"/>
          <a:ext cx="2743200" cy="2057400"/>
        </p:xfrm>
        <a:graphic>
          <a:graphicData uri="http://schemas.openxmlformats.org/presentationml/2006/ole">
            <mc:AlternateContent>
              <mc:Choice Requires="v">
                <p:oleObj r:id="rId10" imgH="2057400" imgW="2743200" progId="PowerPoint.Slide.8" spid="_x0000_s3">
                  <p:embed/>
                </p:oleObj>
              </mc:Choice>
              <mc:Fallback>
                <p:oleObj r:id="rId11" imgH="2057400" imgW="2743200" progId="PowerPoint.Slide.8">
                  <p:embed/>
                  <p:pic>
                    <p:nvPicPr>
                      <p:cNvPr id="151" name="Google Shape;151;p7"/>
                      <p:cNvPicPr preferRelativeResize="0"/>
                      <p:nvPr/>
                    </p:nvPicPr>
                    <p:blipFill rotWithShape="1">
                      <a:blip r:embed="rId12">
                        <a:alphaModFix/>
                      </a:blip>
                      <a:srcRect b="0" l="0" r="0" t="0"/>
                      <a:stretch/>
                    </p:blipFill>
                    <p:spPr>
                      <a:xfrm>
                        <a:off x="762000" y="1447800"/>
                        <a:ext cx="2743200" cy="2057400"/>
                      </a:xfrm>
                      <a:prstGeom prst="rect">
                        <a:avLst/>
                      </a:prstGeom>
                      <a:noFill/>
                      <a:ln cap="sq" cmpd="sng" w="28575">
                        <a:solidFill>
                          <a:schemeClr val="lt2"/>
                        </a:solidFill>
                        <a:prstDash val="solid"/>
                        <a:miter lim="800000"/>
                        <a:headEnd len="sm" w="sm" type="none"/>
                        <a:tailEnd len="sm" w="sm" type="none"/>
                      </a:ln>
                    </p:spPr>
                  </p:pic>
                </p:oleObj>
              </mc:Fallback>
            </mc:AlternateContent>
          </a:graphicData>
        </a:graphic>
      </p:graphicFrame>
      <p:sp>
        <p:nvSpPr>
          <p:cNvPr id="152" name="Google Shape;152;p7"/>
          <p:cNvSpPr/>
          <p:nvPr/>
        </p:nvSpPr>
        <p:spPr>
          <a:xfrm rot="-5400000">
            <a:off x="2933700" y="952500"/>
            <a:ext cx="381000" cy="5791200"/>
          </a:xfrm>
          <a:prstGeom prst="rightBrace">
            <a:avLst>
              <a:gd fmla="val 190000" name="adj1"/>
              <a:gd fmla="val 32116" name="adj2"/>
            </a:avLst>
          </a:prstGeom>
          <a:noFill/>
          <a:ln cap="sq" cmpd="sng" w="3810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53" name="Google Shape;153;p7"/>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 and Credits</a:t>
            </a:r>
            <a:endParaRPr/>
          </a:p>
        </p:txBody>
      </p:sp>
      <p:cxnSp>
        <p:nvCxnSpPr>
          <p:cNvPr id="154" name="Google Shape;154;p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55" name="Google Shape;155;p7"/>
          <p:cNvSpPr/>
          <p:nvPr/>
        </p:nvSpPr>
        <p:spPr>
          <a:xfrm>
            <a:off x="6378575" y="4267200"/>
            <a:ext cx="2384425" cy="1692771"/>
          </a:xfrm>
          <a:prstGeom prst="rect">
            <a:avLst/>
          </a:prstGeom>
          <a:solidFill>
            <a:schemeClr val="lt1"/>
          </a:solidFill>
          <a:ln cap="flat" cmpd="sng" w="28575">
            <a:solidFill>
              <a:schemeClr val="dk1"/>
            </a:solidFill>
            <a:prstDash val="solid"/>
            <a:round/>
            <a:headEnd len="sm" w="sm" type="none"/>
            <a:tailEnd len="sm" w="sm" type="none"/>
          </a:ln>
        </p:spPr>
        <p:txBody>
          <a:bodyPr anchorCtr="0" anchor="t" bIns="91425" lIns="137150" spcFirstLastPara="1" rIns="137150" wrap="square" tIns="91425">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Helpful Hint </a:t>
            </a:r>
            <a:r>
              <a:rPr lang="en-US" sz="1400">
                <a:solidFill>
                  <a:schemeClr val="dk1"/>
                </a:solidFill>
                <a:latin typeface="Arial"/>
                <a:ea typeface="Arial"/>
                <a:cs typeface="Arial"/>
                <a:sym typeface="Arial"/>
              </a:rPr>
              <a:t>Because</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revenues increase owner’s</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equity, a revenue account</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has the same debit/credit</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rules as the Owner’s</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Capital account. Expenses</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have the opposite effect.</a:t>
            </a:r>
            <a:endParaRPr/>
          </a:p>
        </p:txBody>
      </p:sp>
      <p:sp>
        <p:nvSpPr>
          <p:cNvPr id="156" name="Google Shape;156;p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graphicFrame>
        <p:nvGraphicFramePr>
          <p:cNvPr descr="Recycled paper" id="161" name="Google Shape;161;p8"/>
          <p:cNvGraphicFramePr/>
          <p:nvPr/>
        </p:nvGraphicFramePr>
        <p:xfrm>
          <a:off x="762000" y="3886200"/>
          <a:ext cx="2743200" cy="2057400"/>
        </p:xfrm>
        <a:graphic>
          <a:graphicData uri="http://schemas.openxmlformats.org/presentationml/2006/ole">
            <mc:AlternateContent>
              <mc:Choice Requires="v">
                <p:oleObj r:id="rId4" imgH="2057400" imgW="2743200" progId="PowerPoint.Slide.8" spid="_x0000_s1">
                  <p:embed/>
                </p:oleObj>
              </mc:Choice>
              <mc:Fallback>
                <p:oleObj r:id="rId5" imgH="2057400" imgW="2743200" progId="PowerPoint.Slide.8">
                  <p:embed/>
                  <p:pic>
                    <p:nvPicPr>
                      <p:cNvPr id="161" name="Google Shape;161;p8"/>
                      <p:cNvPicPr preferRelativeResize="0"/>
                      <p:nvPr/>
                    </p:nvPicPr>
                    <p:blipFill rotWithShape="1">
                      <a:blip r:embed="rId6">
                        <a:alphaModFix/>
                      </a:blip>
                      <a:srcRect b="0" l="0" r="0" t="0"/>
                      <a:stretch/>
                    </p:blipFill>
                    <p:spPr>
                      <a:xfrm>
                        <a:off x="762000" y="3886200"/>
                        <a:ext cx="2743200" cy="2057400"/>
                      </a:xfrm>
                      <a:prstGeom prst="rect">
                        <a:avLst/>
                      </a:prstGeom>
                      <a:blipFill rotWithShape="1">
                        <a:blip r:embed="rId7">
                          <a:alphaModFix/>
                        </a:blip>
                        <a:tile algn="tl" flip="none" tx="0" sx="100000" ty="0" sy="100000"/>
                      </a:blipFill>
                      <a:ln cap="sq" cmpd="sng" w="28575">
                        <a:solidFill>
                          <a:schemeClr val="dk1"/>
                        </a:solidFill>
                        <a:prstDash val="solid"/>
                        <a:miter lim="800000"/>
                        <a:headEnd len="sm" w="sm" type="none"/>
                        <a:tailEnd len="sm" w="sm" type="none"/>
                      </a:ln>
                    </p:spPr>
                  </p:pic>
                </p:oleObj>
              </mc:Fallback>
            </mc:AlternateContent>
          </a:graphicData>
        </a:graphic>
      </p:graphicFrame>
      <p:graphicFrame>
        <p:nvGraphicFramePr>
          <p:cNvPr id="162" name="Google Shape;162;p8"/>
          <p:cNvGraphicFramePr/>
          <p:nvPr/>
        </p:nvGraphicFramePr>
        <p:xfrm>
          <a:off x="762000" y="1447800"/>
          <a:ext cx="2743200" cy="2057400"/>
        </p:xfrm>
        <a:graphic>
          <a:graphicData uri="http://schemas.openxmlformats.org/presentationml/2006/ole">
            <mc:AlternateContent>
              <mc:Choice Requires="v">
                <p:oleObj r:id="rId8" imgH="2057400" imgW="2743200" progId="PowerPoint.Slide.8" spid="_x0000_s2">
                  <p:embed/>
                </p:oleObj>
              </mc:Choice>
              <mc:Fallback>
                <p:oleObj r:id="rId9" imgH="2057400" imgW="2743200" progId="PowerPoint.Slide.8">
                  <p:embed/>
                  <p:pic>
                    <p:nvPicPr>
                      <p:cNvPr id="162" name="Google Shape;162;p8"/>
                      <p:cNvPicPr preferRelativeResize="0"/>
                      <p:nvPr/>
                    </p:nvPicPr>
                    <p:blipFill rotWithShape="1">
                      <a:blip r:embed="rId10">
                        <a:alphaModFix/>
                      </a:blip>
                      <a:srcRect b="0" l="0" r="0" t="0"/>
                      <a:stretch/>
                    </p:blipFill>
                    <p:spPr>
                      <a:xfrm>
                        <a:off x="762000" y="1447800"/>
                        <a:ext cx="2743200" cy="2057400"/>
                      </a:xfrm>
                      <a:prstGeom prst="rect">
                        <a:avLst/>
                      </a:prstGeom>
                      <a:noFill/>
                      <a:ln cap="sq" cmpd="sng" w="28575">
                        <a:solidFill>
                          <a:schemeClr val="lt2"/>
                        </a:solidFill>
                        <a:prstDash val="solid"/>
                        <a:miter lim="800000"/>
                        <a:headEnd len="sm" w="sm" type="none"/>
                        <a:tailEnd len="sm" w="sm" type="none"/>
                      </a:ln>
                    </p:spPr>
                  </p:pic>
                </p:oleObj>
              </mc:Fallback>
            </mc:AlternateContent>
          </a:graphicData>
        </a:graphic>
      </p:graphicFrame>
      <p:sp>
        <p:nvSpPr>
          <p:cNvPr id="163" name="Google Shape;163;p8"/>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 and Credits</a:t>
            </a:r>
            <a:endParaRPr/>
          </a:p>
        </p:txBody>
      </p:sp>
      <p:cxnSp>
        <p:nvCxnSpPr>
          <p:cNvPr id="164" name="Google Shape;164;p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65" name="Google Shape;165;p8"/>
          <p:cNvSpPr txBox="1"/>
          <p:nvPr/>
        </p:nvSpPr>
        <p:spPr>
          <a:xfrm>
            <a:off x="3886200" y="1371600"/>
            <a:ext cx="4800600" cy="35179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Clr>
                <a:srgbClr val="800000"/>
              </a:buClr>
              <a:buSzPts val="1680"/>
              <a:buFont typeface="Noto Sans Symbols"/>
              <a:buChar char="◆"/>
            </a:pPr>
            <a:r>
              <a:rPr lang="en-US" sz="2100">
                <a:solidFill>
                  <a:srgbClr val="000000"/>
                </a:solidFill>
                <a:latin typeface="Arial"/>
                <a:ea typeface="Arial"/>
                <a:cs typeface="Arial"/>
                <a:sym typeface="Arial"/>
              </a:rPr>
              <a:t>The purpose of earning </a:t>
            </a:r>
            <a:r>
              <a:rPr b="1" lang="en-US" sz="2100">
                <a:solidFill>
                  <a:schemeClr val="dk1"/>
                </a:solidFill>
                <a:latin typeface="Arial"/>
                <a:ea typeface="Arial"/>
                <a:cs typeface="Arial"/>
                <a:sym typeface="Arial"/>
              </a:rPr>
              <a:t>revenues</a:t>
            </a:r>
            <a:r>
              <a:rPr lang="en-US" sz="2100">
                <a:solidFill>
                  <a:srgbClr val="000000"/>
                </a:solidFill>
                <a:latin typeface="Arial"/>
                <a:ea typeface="Arial"/>
                <a:cs typeface="Arial"/>
                <a:sym typeface="Arial"/>
              </a:rPr>
              <a:t> is to benefit the owner(s).</a:t>
            </a:r>
            <a:endParaRPr/>
          </a:p>
          <a:p>
            <a:pPr indent="-457200" lvl="0" marL="457200" marR="0" rtl="0" algn="l">
              <a:lnSpc>
                <a:spcPct val="120000"/>
              </a:lnSpc>
              <a:spcBef>
                <a:spcPts val="1050"/>
              </a:spcBef>
              <a:spcAft>
                <a:spcPts val="0"/>
              </a:spcAft>
              <a:buClr>
                <a:srgbClr val="800000"/>
              </a:buClr>
              <a:buSzPts val="1680"/>
              <a:buFont typeface="Noto Sans Symbols"/>
              <a:buChar char="◆"/>
            </a:pPr>
            <a:r>
              <a:rPr lang="en-US" sz="2100">
                <a:solidFill>
                  <a:srgbClr val="000000"/>
                </a:solidFill>
                <a:latin typeface="Arial"/>
                <a:ea typeface="Arial"/>
                <a:cs typeface="Arial"/>
                <a:sym typeface="Arial"/>
              </a:rPr>
              <a:t>The effect of debits and credits on revenue accounts is the </a:t>
            </a:r>
            <a:r>
              <a:rPr b="1" lang="en-US" sz="2100">
                <a:solidFill>
                  <a:schemeClr val="dk1"/>
                </a:solidFill>
                <a:latin typeface="Arial"/>
                <a:ea typeface="Arial"/>
                <a:cs typeface="Arial"/>
                <a:sym typeface="Arial"/>
              </a:rPr>
              <a:t>same as</a:t>
            </a:r>
            <a:r>
              <a:rPr lang="en-US" sz="2100">
                <a:solidFill>
                  <a:srgbClr val="000000"/>
                </a:solidFill>
                <a:latin typeface="Arial"/>
                <a:ea typeface="Arial"/>
                <a:cs typeface="Arial"/>
                <a:sym typeface="Arial"/>
              </a:rPr>
              <a:t> their effect on Owner’s Capital.</a:t>
            </a:r>
            <a:endParaRPr/>
          </a:p>
          <a:p>
            <a:pPr indent="-457200" lvl="0" marL="457200" marR="0" rtl="0" algn="l">
              <a:lnSpc>
                <a:spcPct val="120000"/>
              </a:lnSpc>
              <a:spcBef>
                <a:spcPts val="1050"/>
              </a:spcBef>
              <a:spcAft>
                <a:spcPts val="0"/>
              </a:spcAft>
              <a:buClr>
                <a:srgbClr val="800000"/>
              </a:buClr>
              <a:buSzPts val="1680"/>
              <a:buFont typeface="Noto Sans Symbols"/>
              <a:buChar char="◆"/>
            </a:pPr>
            <a:r>
              <a:rPr b="1" lang="en-US" sz="2100">
                <a:solidFill>
                  <a:schemeClr val="dk1"/>
                </a:solidFill>
                <a:latin typeface="Arial"/>
                <a:ea typeface="Arial"/>
                <a:cs typeface="Arial"/>
                <a:sym typeface="Arial"/>
              </a:rPr>
              <a:t>Expenses</a:t>
            </a:r>
            <a:r>
              <a:rPr lang="en-US" sz="2100">
                <a:solidFill>
                  <a:srgbClr val="000000"/>
                </a:solidFill>
                <a:latin typeface="Arial"/>
                <a:ea typeface="Arial"/>
                <a:cs typeface="Arial"/>
                <a:sym typeface="Arial"/>
              </a:rPr>
              <a:t> have the opposite effect: expenses decrease owner’s equity.</a:t>
            </a:r>
            <a:endParaRPr/>
          </a:p>
        </p:txBody>
      </p:sp>
      <p:sp>
        <p:nvSpPr>
          <p:cNvPr id="166" name="Google Shape;166;p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aphicFrame>
        <p:nvGraphicFramePr>
          <p:cNvPr id="171" name="Google Shape;171;p9"/>
          <p:cNvGraphicFramePr/>
          <p:nvPr/>
        </p:nvGraphicFramePr>
        <p:xfrm>
          <a:off x="457200" y="2362200"/>
          <a:ext cx="2743200" cy="2057400"/>
        </p:xfrm>
        <a:graphic>
          <a:graphicData uri="http://schemas.openxmlformats.org/presentationml/2006/ole">
            <mc:AlternateContent>
              <mc:Choice Requires="v">
                <p:oleObj r:id="rId4" imgH="2057400" imgW="2743200" progId="PowerPoint.Slide.8" spid="_x0000_s1">
                  <p:embed/>
                </p:oleObj>
              </mc:Choice>
              <mc:Fallback>
                <p:oleObj r:id="rId5" imgH="2057400" imgW="2743200" progId="PowerPoint.Slide.8">
                  <p:embed/>
                  <p:pic>
                    <p:nvPicPr>
                      <p:cNvPr id="171" name="Google Shape;171;p9"/>
                      <p:cNvPicPr preferRelativeResize="0"/>
                      <p:nvPr/>
                    </p:nvPicPr>
                    <p:blipFill rotWithShape="1">
                      <a:blip r:embed="rId6">
                        <a:alphaModFix/>
                      </a:blip>
                      <a:srcRect b="0" l="0" r="0" t="0"/>
                      <a:stretch/>
                    </p:blipFill>
                    <p:spPr>
                      <a:xfrm>
                        <a:off x="457200" y="2362200"/>
                        <a:ext cx="2743200" cy="2057400"/>
                      </a:xfrm>
                      <a:prstGeom prst="rect">
                        <a:avLst/>
                      </a:prstGeom>
                      <a:noFill/>
                      <a:ln cap="sq" cmpd="sng" w="28575">
                        <a:solidFill>
                          <a:schemeClr val="dk1"/>
                        </a:solidFill>
                        <a:prstDash val="solid"/>
                        <a:miter lim="800000"/>
                        <a:headEnd len="sm" w="sm" type="none"/>
                        <a:tailEnd len="sm" w="sm" type="none"/>
                      </a:ln>
                    </p:spPr>
                  </p:pic>
                </p:oleObj>
              </mc:Fallback>
            </mc:AlternateContent>
          </a:graphicData>
        </a:graphic>
      </p:graphicFrame>
      <p:graphicFrame>
        <p:nvGraphicFramePr>
          <p:cNvPr descr="Recycled paper" id="172" name="Google Shape;172;p9"/>
          <p:cNvGraphicFramePr/>
          <p:nvPr/>
        </p:nvGraphicFramePr>
        <p:xfrm>
          <a:off x="1143000" y="4191000"/>
          <a:ext cx="2743200" cy="2057400"/>
        </p:xfrm>
        <a:graphic>
          <a:graphicData uri="http://schemas.openxmlformats.org/presentationml/2006/ole">
            <mc:AlternateContent>
              <mc:Choice Requires="v">
                <p:oleObj r:id="rId7" imgH="2057400" imgW="2743200" progId="PowerPoint.Slide.8" spid="_x0000_s2">
                  <p:embed/>
                </p:oleObj>
              </mc:Choice>
              <mc:Fallback>
                <p:oleObj r:id="rId8" imgH="2057400" imgW="2743200" progId="PowerPoint.Slide.8">
                  <p:embed/>
                  <p:pic>
                    <p:nvPicPr>
                      <p:cNvPr id="172" name="Google Shape;172;p9"/>
                      <p:cNvPicPr preferRelativeResize="0"/>
                      <p:nvPr/>
                    </p:nvPicPr>
                    <p:blipFill rotWithShape="1">
                      <a:blip r:embed="rId9">
                        <a:alphaModFix/>
                      </a:blip>
                      <a:srcRect b="0" l="0" r="0" t="0"/>
                      <a:stretch/>
                    </p:blipFill>
                    <p:spPr>
                      <a:xfrm>
                        <a:off x="1143000" y="4191000"/>
                        <a:ext cx="2743200" cy="2057400"/>
                      </a:xfrm>
                      <a:prstGeom prst="rect">
                        <a:avLst/>
                      </a:prstGeom>
                      <a:blipFill rotWithShape="1">
                        <a:blip r:embed="rId10">
                          <a:alphaModFix/>
                        </a:blip>
                        <a:tile algn="tl" flip="none" tx="0" sx="100000" ty="0" sy="100000"/>
                      </a:blipFill>
                      <a:ln cap="sq" cmpd="sng" w="28575">
                        <a:solidFill>
                          <a:schemeClr val="dk1"/>
                        </a:solidFill>
                        <a:prstDash val="solid"/>
                        <a:miter lim="800000"/>
                        <a:headEnd len="sm" w="sm" type="none"/>
                        <a:tailEnd len="sm" w="sm" type="none"/>
                      </a:ln>
                    </p:spPr>
                  </p:pic>
                </p:oleObj>
              </mc:Fallback>
            </mc:AlternateContent>
          </a:graphicData>
        </a:graphic>
      </p:graphicFrame>
      <p:sp>
        <p:nvSpPr>
          <p:cNvPr id="173" name="Google Shape;173;p9"/>
          <p:cNvSpPr txBox="1"/>
          <p:nvPr/>
        </p:nvSpPr>
        <p:spPr>
          <a:xfrm>
            <a:off x="4038600" y="1100138"/>
            <a:ext cx="1600200" cy="1109662"/>
          </a:xfrm>
          <a:prstGeom prst="rect">
            <a:avLst/>
          </a:prstGeom>
          <a:solidFill>
            <a:srgbClr val="F8EB8E"/>
          </a:solidFill>
          <a:ln cap="sq" cmpd="sng" w="12700">
            <a:solidFill>
              <a:schemeClr val="lt2"/>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Normal Balance </a:t>
            </a:r>
            <a:r>
              <a:rPr b="1" lang="en-US" sz="2200">
                <a:solidFill>
                  <a:srgbClr val="800000"/>
                </a:solidFill>
                <a:latin typeface="Arial"/>
                <a:ea typeface="Arial"/>
                <a:cs typeface="Arial"/>
                <a:sym typeface="Arial"/>
              </a:rPr>
              <a:t>Credit</a:t>
            </a:r>
            <a:endParaRPr/>
          </a:p>
        </p:txBody>
      </p:sp>
      <p:sp>
        <p:nvSpPr>
          <p:cNvPr id="174" name="Google Shape;174;p9"/>
          <p:cNvSpPr txBox="1"/>
          <p:nvPr/>
        </p:nvSpPr>
        <p:spPr>
          <a:xfrm>
            <a:off x="1066800" y="1066800"/>
            <a:ext cx="1600200" cy="1109663"/>
          </a:xfrm>
          <a:prstGeom prst="rect">
            <a:avLst/>
          </a:prstGeom>
          <a:solidFill>
            <a:srgbClr val="F8EB8E"/>
          </a:solidFill>
          <a:ln cap="sq" cmpd="sng" w="12700">
            <a:solidFill>
              <a:schemeClr val="lt2"/>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Normal Balance </a:t>
            </a:r>
            <a:r>
              <a:rPr b="1" lang="en-US" sz="2200">
                <a:solidFill>
                  <a:srgbClr val="800000"/>
                </a:solidFill>
                <a:latin typeface="Arial"/>
                <a:ea typeface="Arial"/>
                <a:cs typeface="Arial"/>
                <a:sym typeface="Arial"/>
              </a:rPr>
              <a:t>Debit</a:t>
            </a:r>
            <a:endParaRPr/>
          </a:p>
        </p:txBody>
      </p:sp>
      <p:sp>
        <p:nvSpPr>
          <p:cNvPr id="175" name="Google Shape;175;p9"/>
          <p:cNvSpPr/>
          <p:nvPr/>
        </p:nvSpPr>
        <p:spPr>
          <a:xfrm>
            <a:off x="1806575" y="2751138"/>
            <a:ext cx="1588" cy="1189037"/>
          </a:xfrm>
          <a:custGeom>
            <a:rect b="b" l="l" r="r" t="t"/>
            <a:pathLst>
              <a:path extrusionOk="0" h="749" w="1">
                <a:moveTo>
                  <a:pt x="0" y="0"/>
                </a:moveTo>
                <a:lnTo>
                  <a:pt x="0" y="749"/>
                </a:lnTo>
              </a:path>
            </a:pathLst>
          </a:custGeom>
          <a:noFill/>
          <a:ln cap="sq"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76" name="Google Shape;176;p9"/>
          <p:cNvSpPr/>
          <p:nvPr/>
        </p:nvSpPr>
        <p:spPr>
          <a:xfrm>
            <a:off x="2487613" y="4575175"/>
            <a:ext cx="1587" cy="1181100"/>
          </a:xfrm>
          <a:custGeom>
            <a:rect b="b" l="l" r="r" t="t"/>
            <a:pathLst>
              <a:path extrusionOk="0" h="744" w="1">
                <a:moveTo>
                  <a:pt x="0" y="0"/>
                </a:moveTo>
                <a:lnTo>
                  <a:pt x="0" y="744"/>
                </a:lnTo>
              </a:path>
            </a:pathLst>
          </a:custGeom>
          <a:noFill/>
          <a:ln cap="sq"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77" name="Google Shape;177;p9"/>
          <p:cNvSpPr/>
          <p:nvPr/>
        </p:nvSpPr>
        <p:spPr>
          <a:xfrm>
            <a:off x="5913438" y="2911475"/>
            <a:ext cx="1587" cy="1173163"/>
          </a:xfrm>
          <a:custGeom>
            <a:rect b="b" l="l" r="r" t="t"/>
            <a:pathLst>
              <a:path extrusionOk="0" h="739" w="1">
                <a:moveTo>
                  <a:pt x="0" y="0"/>
                </a:moveTo>
                <a:lnTo>
                  <a:pt x="0" y="739"/>
                </a:lnTo>
              </a:path>
            </a:pathLst>
          </a:custGeom>
          <a:noFill/>
          <a:ln cap="sq"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78" name="Google Shape;178;p9"/>
          <p:cNvSpPr/>
          <p:nvPr/>
        </p:nvSpPr>
        <p:spPr>
          <a:xfrm>
            <a:off x="7289800" y="1076325"/>
            <a:ext cx="1588" cy="1174750"/>
          </a:xfrm>
          <a:custGeom>
            <a:rect b="b" l="l" r="r" t="t"/>
            <a:pathLst>
              <a:path extrusionOk="0" h="740" w="1">
                <a:moveTo>
                  <a:pt x="0" y="0"/>
                </a:moveTo>
                <a:lnTo>
                  <a:pt x="0" y="740"/>
                </a:lnTo>
              </a:path>
            </a:pathLst>
          </a:custGeom>
          <a:noFill/>
          <a:ln cap="sq"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79" name="Google Shape;179;p9"/>
          <p:cNvSpPr/>
          <p:nvPr/>
        </p:nvSpPr>
        <p:spPr>
          <a:xfrm>
            <a:off x="7289800" y="4657725"/>
            <a:ext cx="1588" cy="1179513"/>
          </a:xfrm>
          <a:custGeom>
            <a:rect b="b" l="l" r="r" t="t"/>
            <a:pathLst>
              <a:path extrusionOk="0" h="743" w="1">
                <a:moveTo>
                  <a:pt x="0" y="0"/>
                </a:moveTo>
                <a:lnTo>
                  <a:pt x="0" y="743"/>
                </a:lnTo>
              </a:path>
            </a:pathLst>
          </a:custGeom>
          <a:noFill/>
          <a:ln cap="sq"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80" name="Google Shape;180;p9"/>
          <p:cNvSpPr/>
          <p:nvPr/>
        </p:nvSpPr>
        <p:spPr>
          <a:xfrm>
            <a:off x="533400" y="152400"/>
            <a:ext cx="50292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Debits/Credits Rules</a:t>
            </a:r>
            <a:endParaRPr/>
          </a:p>
        </p:txBody>
      </p:sp>
      <p:cxnSp>
        <p:nvCxnSpPr>
          <p:cNvPr id="181" name="Google Shape;181;p9"/>
          <p:cNvCxnSpPr/>
          <p:nvPr/>
        </p:nvCxnSpPr>
        <p:spPr>
          <a:xfrm>
            <a:off x="304800" y="838200"/>
            <a:ext cx="8534400" cy="0"/>
          </a:xfrm>
          <a:prstGeom prst="straightConnector1">
            <a:avLst/>
          </a:prstGeom>
          <a:noFill/>
          <a:ln cap="sq" cmpd="sng" w="57150">
            <a:solidFill>
              <a:schemeClr val="dk1"/>
            </a:solidFill>
            <a:prstDash val="solid"/>
            <a:round/>
            <a:headEnd len="sm" w="sm" type="none"/>
            <a:tailEnd len="sm" w="sm" type="none"/>
          </a:ln>
        </p:spPr>
      </p:cxnSp>
      <p:graphicFrame>
        <p:nvGraphicFramePr>
          <p:cNvPr id="182" name="Google Shape;182;p9"/>
          <p:cNvGraphicFramePr/>
          <p:nvPr/>
        </p:nvGraphicFramePr>
        <p:xfrm>
          <a:off x="5943600" y="685800"/>
          <a:ext cx="2743200" cy="2057400"/>
        </p:xfrm>
        <a:graphic>
          <a:graphicData uri="http://schemas.openxmlformats.org/presentationml/2006/ole">
            <mc:AlternateContent>
              <mc:Choice Requires="v">
                <p:oleObj r:id="rId11" imgH="2057400" imgW="2743200" progId="PowerPoint.Slide.8" spid="_x0000_s3">
                  <p:embed/>
                </p:oleObj>
              </mc:Choice>
              <mc:Fallback>
                <p:oleObj r:id="rId12" imgH="2057400" imgW="2743200" progId="PowerPoint.Slide.8">
                  <p:embed/>
                  <p:pic>
                    <p:nvPicPr>
                      <p:cNvPr id="182" name="Google Shape;182;p9"/>
                      <p:cNvPicPr preferRelativeResize="0"/>
                      <p:nvPr/>
                    </p:nvPicPr>
                    <p:blipFill rotWithShape="1">
                      <a:blip r:embed="rId13">
                        <a:alphaModFix/>
                      </a:blip>
                      <a:srcRect b="0" l="0" r="0" t="0"/>
                      <a:stretch/>
                    </p:blipFill>
                    <p:spPr>
                      <a:xfrm>
                        <a:off x="5943600" y="685800"/>
                        <a:ext cx="2743200" cy="2057400"/>
                      </a:xfrm>
                      <a:prstGeom prst="rect">
                        <a:avLst/>
                      </a:prstGeom>
                      <a:noFill/>
                      <a:ln cap="sq" cmpd="sng" w="28575">
                        <a:solidFill>
                          <a:schemeClr val="lt2"/>
                        </a:solidFill>
                        <a:prstDash val="solid"/>
                        <a:miter lim="800000"/>
                        <a:headEnd len="sm" w="sm" type="none"/>
                        <a:tailEnd len="sm" w="sm" type="none"/>
                      </a:ln>
                    </p:spPr>
                  </p:pic>
                </p:oleObj>
              </mc:Fallback>
            </mc:AlternateContent>
          </a:graphicData>
        </a:graphic>
      </p:graphicFrame>
      <p:graphicFrame>
        <p:nvGraphicFramePr>
          <p:cNvPr id="183" name="Google Shape;183;p9"/>
          <p:cNvGraphicFramePr/>
          <p:nvPr/>
        </p:nvGraphicFramePr>
        <p:xfrm>
          <a:off x="4572000" y="2514600"/>
          <a:ext cx="2743200" cy="2057400"/>
        </p:xfrm>
        <a:graphic>
          <a:graphicData uri="http://schemas.openxmlformats.org/presentationml/2006/ole">
            <mc:AlternateContent>
              <mc:Choice Requires="v">
                <p:oleObj r:id="rId14" imgH="2057400" imgW="2743200" progId="PowerPoint.Slide.8" spid="_x0000_s4">
                  <p:embed/>
                </p:oleObj>
              </mc:Choice>
              <mc:Fallback>
                <p:oleObj r:id="rId15" imgH="2057400" imgW="2743200" progId="PowerPoint.Slide.8">
                  <p:embed/>
                  <p:pic>
                    <p:nvPicPr>
                      <p:cNvPr id="183" name="Google Shape;183;p9"/>
                      <p:cNvPicPr preferRelativeResize="0"/>
                      <p:nvPr/>
                    </p:nvPicPr>
                    <p:blipFill rotWithShape="1">
                      <a:blip r:embed="rId16">
                        <a:alphaModFix/>
                      </a:blip>
                      <a:srcRect b="0" l="0" r="0" t="0"/>
                      <a:stretch/>
                    </p:blipFill>
                    <p:spPr>
                      <a:xfrm>
                        <a:off x="4572000" y="2514600"/>
                        <a:ext cx="2743200" cy="2057400"/>
                      </a:xfrm>
                      <a:prstGeom prst="rect">
                        <a:avLst/>
                      </a:prstGeom>
                      <a:noFill/>
                      <a:ln cap="sq" cmpd="sng" w="28575">
                        <a:solidFill>
                          <a:schemeClr val="lt2"/>
                        </a:solidFill>
                        <a:prstDash val="solid"/>
                        <a:miter lim="800000"/>
                        <a:headEnd len="sm" w="sm" type="none"/>
                        <a:tailEnd len="sm" w="sm" type="none"/>
                      </a:ln>
                    </p:spPr>
                  </p:pic>
                </p:oleObj>
              </mc:Fallback>
            </mc:AlternateContent>
          </a:graphicData>
        </a:graphic>
      </p:graphicFrame>
      <p:graphicFrame>
        <p:nvGraphicFramePr>
          <p:cNvPr id="184" name="Google Shape;184;p9"/>
          <p:cNvGraphicFramePr/>
          <p:nvPr/>
        </p:nvGraphicFramePr>
        <p:xfrm>
          <a:off x="5943600" y="4267200"/>
          <a:ext cx="2743200" cy="2057400"/>
        </p:xfrm>
        <a:graphic>
          <a:graphicData uri="http://schemas.openxmlformats.org/presentationml/2006/ole">
            <mc:AlternateContent>
              <mc:Choice Requires="v">
                <p:oleObj r:id="rId17" imgH="2057400" imgW="2743200" progId="PowerPoint.Slide.8" spid="_x0000_s5">
                  <p:embed/>
                </p:oleObj>
              </mc:Choice>
              <mc:Fallback>
                <p:oleObj r:id="rId18" imgH="2057400" imgW="2743200" progId="PowerPoint.Slide.8">
                  <p:embed/>
                  <p:pic>
                    <p:nvPicPr>
                      <p:cNvPr id="184" name="Google Shape;184;p9"/>
                      <p:cNvPicPr preferRelativeResize="0"/>
                      <p:nvPr/>
                    </p:nvPicPr>
                    <p:blipFill rotWithShape="1">
                      <a:blip r:embed="rId19">
                        <a:alphaModFix/>
                      </a:blip>
                      <a:srcRect b="0" l="0" r="0" t="0"/>
                      <a:stretch/>
                    </p:blipFill>
                    <p:spPr>
                      <a:xfrm>
                        <a:off x="5943600" y="4267200"/>
                        <a:ext cx="2743200" cy="2057400"/>
                      </a:xfrm>
                      <a:prstGeom prst="rect">
                        <a:avLst/>
                      </a:prstGeom>
                      <a:noFill/>
                      <a:ln cap="sq" cmpd="sng" w="28575">
                        <a:solidFill>
                          <a:schemeClr val="lt2"/>
                        </a:solidFill>
                        <a:prstDash val="solid"/>
                        <a:miter lim="800000"/>
                        <a:headEnd len="sm" w="sm" type="none"/>
                        <a:tailEnd len="sm" w="sm" type="none"/>
                      </a:ln>
                    </p:spPr>
                  </p:pic>
                </p:oleObj>
              </mc:Fallback>
            </mc:AlternateContent>
          </a:graphicData>
        </a:graphic>
      </p:graphicFrame>
      <p:sp>
        <p:nvSpPr>
          <p:cNvPr id="185" name="Google Shape;185;p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p:nvPr/>
        </p:nvSpPr>
        <p:spPr>
          <a:xfrm rot="-5400000">
            <a:off x="1666875" y="2976563"/>
            <a:ext cx="771525" cy="600075"/>
          </a:xfrm>
          <a:prstGeom prst="rightArrow">
            <a:avLst>
              <a:gd fmla="val 50000" name="adj1"/>
              <a:gd fmla="val 64304" name="adj2"/>
            </a:avLst>
          </a:prstGeom>
          <a:solidFill>
            <a:srgbClr val="000099"/>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txBox="1"/>
          <p:nvPr/>
        </p:nvSpPr>
        <p:spPr>
          <a:xfrm>
            <a:off x="1902619" y="3083761"/>
            <a:ext cx="300038" cy="57858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dk1"/>
              </a:solidFill>
              <a:latin typeface="Arial"/>
              <a:ea typeface="Arial"/>
              <a:cs typeface="Arial"/>
              <a:sym typeface="Arial"/>
            </a:endParaRPr>
          </a:p>
        </p:txBody>
      </p:sp>
      <p:sp>
        <p:nvSpPr>
          <p:cNvPr id="192" name="Google Shape;192;p10"/>
          <p:cNvSpPr/>
          <p:nvPr/>
        </p:nvSpPr>
        <p:spPr>
          <a:xfrm rot="-5400000">
            <a:off x="7740650" y="2984500"/>
            <a:ext cx="771525" cy="600075"/>
          </a:xfrm>
          <a:prstGeom prst="rightArrow">
            <a:avLst>
              <a:gd fmla="val 50000" name="adj1"/>
              <a:gd fmla="val 64304" name="adj2"/>
            </a:avLst>
          </a:prstGeom>
          <a:solidFill>
            <a:srgbClr val="000099"/>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txBox="1"/>
          <p:nvPr/>
        </p:nvSpPr>
        <p:spPr>
          <a:xfrm>
            <a:off x="7976394" y="3091711"/>
            <a:ext cx="300038" cy="57858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94" name="Google Shape;194;p10"/>
          <p:cNvSpPr/>
          <p:nvPr/>
        </p:nvSpPr>
        <p:spPr>
          <a:xfrm>
            <a:off x="1177925" y="1358900"/>
            <a:ext cx="8042400" cy="4590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t/>
            </a:r>
            <a:endParaRPr/>
          </a:p>
        </p:txBody>
      </p:sp>
      <p:sp>
        <p:nvSpPr>
          <p:cNvPr id="195" name="Google Shape;195;p10"/>
          <p:cNvSpPr/>
          <p:nvPr/>
        </p:nvSpPr>
        <p:spPr>
          <a:xfrm>
            <a:off x="2620963" y="1984375"/>
            <a:ext cx="441325" cy="4591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rgbClr val="800000"/>
                </a:solidFill>
                <a:latin typeface="Arial"/>
                <a:ea typeface="Arial"/>
                <a:cs typeface="Arial"/>
                <a:sym typeface="Arial"/>
              </a:rPr>
              <a:t>=</a:t>
            </a:r>
            <a:endParaRPr/>
          </a:p>
        </p:txBody>
      </p:sp>
      <p:sp>
        <p:nvSpPr>
          <p:cNvPr id="196" name="Google Shape;196;p10"/>
          <p:cNvSpPr/>
          <p:nvPr/>
        </p:nvSpPr>
        <p:spPr>
          <a:xfrm>
            <a:off x="4283075" y="1970088"/>
            <a:ext cx="441325" cy="4591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rgbClr val="800000"/>
                </a:solidFill>
                <a:latin typeface="Arial"/>
                <a:ea typeface="Arial"/>
                <a:cs typeface="Arial"/>
                <a:sym typeface="Arial"/>
              </a:rPr>
              <a:t>+</a:t>
            </a:r>
            <a:endParaRPr/>
          </a:p>
        </p:txBody>
      </p:sp>
      <p:sp>
        <p:nvSpPr>
          <p:cNvPr id="197" name="Google Shape;197;p10"/>
          <p:cNvSpPr/>
          <p:nvPr/>
        </p:nvSpPr>
        <p:spPr>
          <a:xfrm>
            <a:off x="7227888" y="1968500"/>
            <a:ext cx="392112" cy="4591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rgbClr val="800000"/>
                </a:solidFill>
                <a:latin typeface="Arial"/>
                <a:ea typeface="Arial"/>
                <a:cs typeface="Arial"/>
                <a:sym typeface="Arial"/>
              </a:rPr>
              <a:t>-</a:t>
            </a:r>
            <a:endParaRPr/>
          </a:p>
        </p:txBody>
      </p:sp>
      <p:sp>
        <p:nvSpPr>
          <p:cNvPr id="198" name="Google Shape;198;p10"/>
          <p:cNvSpPr txBox="1"/>
          <p:nvPr/>
        </p:nvSpPr>
        <p:spPr>
          <a:xfrm>
            <a:off x="1371600" y="1981200"/>
            <a:ext cx="13716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Asset</a:t>
            </a:r>
            <a:endParaRPr/>
          </a:p>
        </p:txBody>
      </p:sp>
      <p:sp>
        <p:nvSpPr>
          <p:cNvPr id="199" name="Google Shape;199;p10"/>
          <p:cNvSpPr txBox="1"/>
          <p:nvPr/>
        </p:nvSpPr>
        <p:spPr>
          <a:xfrm>
            <a:off x="2971800" y="1981200"/>
            <a:ext cx="13716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Liability</a:t>
            </a:r>
            <a:endParaRPr/>
          </a:p>
        </p:txBody>
      </p:sp>
      <p:sp>
        <p:nvSpPr>
          <p:cNvPr id="200" name="Google Shape;200;p10"/>
          <p:cNvSpPr txBox="1"/>
          <p:nvPr/>
        </p:nvSpPr>
        <p:spPr>
          <a:xfrm>
            <a:off x="4495800" y="1981200"/>
            <a:ext cx="13716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Equity</a:t>
            </a:r>
            <a:endParaRPr/>
          </a:p>
        </p:txBody>
      </p:sp>
      <p:sp>
        <p:nvSpPr>
          <p:cNvPr id="201" name="Google Shape;201;p10"/>
          <p:cNvSpPr txBox="1"/>
          <p:nvPr/>
        </p:nvSpPr>
        <p:spPr>
          <a:xfrm>
            <a:off x="5943600" y="1981200"/>
            <a:ext cx="13716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Revenue</a:t>
            </a:r>
            <a:endParaRPr/>
          </a:p>
        </p:txBody>
      </p:sp>
      <p:sp>
        <p:nvSpPr>
          <p:cNvPr id="202" name="Google Shape;202;p10"/>
          <p:cNvSpPr txBox="1"/>
          <p:nvPr/>
        </p:nvSpPr>
        <p:spPr>
          <a:xfrm>
            <a:off x="7391400" y="1981200"/>
            <a:ext cx="1371600" cy="42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Expense</a:t>
            </a:r>
            <a:endParaRPr/>
          </a:p>
        </p:txBody>
      </p:sp>
      <p:sp>
        <p:nvSpPr>
          <p:cNvPr id="203" name="Google Shape;203;p10"/>
          <p:cNvSpPr txBox="1"/>
          <p:nvPr/>
        </p:nvSpPr>
        <p:spPr>
          <a:xfrm>
            <a:off x="152400" y="3043238"/>
            <a:ext cx="1371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Debit</a:t>
            </a:r>
            <a:endParaRPr/>
          </a:p>
        </p:txBody>
      </p:sp>
      <p:sp>
        <p:nvSpPr>
          <p:cNvPr id="204" name="Google Shape;204;p10"/>
          <p:cNvSpPr txBox="1"/>
          <p:nvPr/>
        </p:nvSpPr>
        <p:spPr>
          <a:xfrm>
            <a:off x="152400" y="4586288"/>
            <a:ext cx="1371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Credit</a:t>
            </a:r>
            <a:endParaRPr/>
          </a:p>
        </p:txBody>
      </p:sp>
      <p:cxnSp>
        <p:nvCxnSpPr>
          <p:cNvPr id="205" name="Google Shape;205;p10"/>
          <p:cNvCxnSpPr/>
          <p:nvPr/>
        </p:nvCxnSpPr>
        <p:spPr>
          <a:xfrm>
            <a:off x="1447800" y="2438400"/>
            <a:ext cx="1143000" cy="0"/>
          </a:xfrm>
          <a:prstGeom prst="straightConnector1">
            <a:avLst/>
          </a:prstGeom>
          <a:noFill/>
          <a:ln cap="flat" cmpd="sng" w="38100">
            <a:solidFill>
              <a:schemeClr val="dk1"/>
            </a:solidFill>
            <a:prstDash val="solid"/>
            <a:round/>
            <a:headEnd len="med" w="med" type="none"/>
            <a:tailEnd len="med" w="med" type="none"/>
          </a:ln>
        </p:spPr>
      </p:cxnSp>
      <p:cxnSp>
        <p:nvCxnSpPr>
          <p:cNvPr id="206" name="Google Shape;206;p10"/>
          <p:cNvCxnSpPr/>
          <p:nvPr/>
        </p:nvCxnSpPr>
        <p:spPr>
          <a:xfrm>
            <a:off x="3048000" y="2438400"/>
            <a:ext cx="1219200" cy="0"/>
          </a:xfrm>
          <a:prstGeom prst="straightConnector1">
            <a:avLst/>
          </a:prstGeom>
          <a:noFill/>
          <a:ln cap="flat" cmpd="sng" w="38100">
            <a:solidFill>
              <a:schemeClr val="dk1"/>
            </a:solidFill>
            <a:prstDash val="solid"/>
            <a:round/>
            <a:headEnd len="med" w="med" type="none"/>
            <a:tailEnd len="med" w="med" type="none"/>
          </a:ln>
        </p:spPr>
      </p:cxnSp>
      <p:cxnSp>
        <p:nvCxnSpPr>
          <p:cNvPr id="207" name="Google Shape;207;p10"/>
          <p:cNvCxnSpPr/>
          <p:nvPr/>
        </p:nvCxnSpPr>
        <p:spPr>
          <a:xfrm>
            <a:off x="4572000" y="2438400"/>
            <a:ext cx="1143000" cy="0"/>
          </a:xfrm>
          <a:prstGeom prst="straightConnector1">
            <a:avLst/>
          </a:prstGeom>
          <a:noFill/>
          <a:ln cap="flat" cmpd="sng" w="38100">
            <a:solidFill>
              <a:schemeClr val="dk1"/>
            </a:solidFill>
            <a:prstDash val="solid"/>
            <a:round/>
            <a:headEnd len="med" w="med" type="none"/>
            <a:tailEnd len="med" w="med" type="none"/>
          </a:ln>
        </p:spPr>
      </p:cxnSp>
      <p:cxnSp>
        <p:nvCxnSpPr>
          <p:cNvPr id="208" name="Google Shape;208;p10"/>
          <p:cNvCxnSpPr/>
          <p:nvPr/>
        </p:nvCxnSpPr>
        <p:spPr>
          <a:xfrm>
            <a:off x="6019800" y="2438400"/>
            <a:ext cx="1219200" cy="0"/>
          </a:xfrm>
          <a:prstGeom prst="straightConnector1">
            <a:avLst/>
          </a:prstGeom>
          <a:noFill/>
          <a:ln cap="flat" cmpd="sng" w="38100">
            <a:solidFill>
              <a:schemeClr val="dk1"/>
            </a:solidFill>
            <a:prstDash val="solid"/>
            <a:round/>
            <a:headEnd len="med" w="med" type="none"/>
            <a:tailEnd len="med" w="med" type="none"/>
          </a:ln>
        </p:spPr>
      </p:cxnSp>
      <p:cxnSp>
        <p:nvCxnSpPr>
          <p:cNvPr id="209" name="Google Shape;209;p10"/>
          <p:cNvCxnSpPr/>
          <p:nvPr/>
        </p:nvCxnSpPr>
        <p:spPr>
          <a:xfrm>
            <a:off x="7467600" y="2438400"/>
            <a:ext cx="1143000" cy="0"/>
          </a:xfrm>
          <a:prstGeom prst="straightConnector1">
            <a:avLst/>
          </a:prstGeom>
          <a:noFill/>
          <a:ln cap="flat" cmpd="sng" w="38100">
            <a:solidFill>
              <a:schemeClr val="dk1"/>
            </a:solidFill>
            <a:prstDash val="solid"/>
            <a:round/>
            <a:headEnd len="med" w="med" type="none"/>
            <a:tailEnd len="med" w="med" type="none"/>
          </a:ln>
        </p:spPr>
      </p:cxnSp>
      <p:pic>
        <p:nvPicPr>
          <p:cNvPr id="210" name="Google Shape;210;p10"/>
          <p:cNvPicPr preferRelativeResize="0"/>
          <p:nvPr/>
        </p:nvPicPr>
        <p:blipFill rotWithShape="1">
          <a:blip r:embed="rId3">
            <a:alphaModFix/>
          </a:blip>
          <a:srcRect b="0" l="0" r="0" t="0"/>
          <a:stretch/>
        </p:blipFill>
        <p:spPr>
          <a:xfrm>
            <a:off x="3276600" y="2865438"/>
            <a:ext cx="3810000" cy="868362"/>
          </a:xfrm>
          <a:prstGeom prst="rect">
            <a:avLst/>
          </a:prstGeom>
          <a:noFill/>
          <a:ln>
            <a:noFill/>
          </a:ln>
        </p:spPr>
      </p:pic>
      <p:pic>
        <p:nvPicPr>
          <p:cNvPr id="211" name="Google Shape;211;p10"/>
          <p:cNvPicPr preferRelativeResize="0"/>
          <p:nvPr/>
        </p:nvPicPr>
        <p:blipFill rotWithShape="1">
          <a:blip r:embed="rId4">
            <a:alphaModFix/>
          </a:blip>
          <a:srcRect b="0" l="0" r="0" t="0"/>
          <a:stretch/>
        </p:blipFill>
        <p:spPr>
          <a:xfrm>
            <a:off x="1752600" y="4419600"/>
            <a:ext cx="6781800" cy="936625"/>
          </a:xfrm>
          <a:prstGeom prst="rect">
            <a:avLst/>
          </a:prstGeom>
          <a:noFill/>
          <a:ln>
            <a:noFill/>
          </a:ln>
        </p:spPr>
      </p:pic>
      <p:sp>
        <p:nvSpPr>
          <p:cNvPr id="212" name="Google Shape;212;p10"/>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Debits/Credits Rules</a:t>
            </a:r>
            <a:endParaRPr/>
          </a:p>
        </p:txBody>
      </p:sp>
      <p:cxnSp>
        <p:nvCxnSpPr>
          <p:cNvPr id="213" name="Google Shape;213;p1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14" name="Google Shape;214;p1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p:nvPr/>
        </p:nvSpPr>
        <p:spPr>
          <a:xfrm>
            <a:off x="474663" y="1905000"/>
            <a:ext cx="8001000" cy="32766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5000"/>
              </a:lnSpc>
              <a:spcBef>
                <a:spcPts val="0"/>
              </a:spcBef>
              <a:spcAft>
                <a:spcPts val="0"/>
              </a:spcAft>
              <a:buClr>
                <a:schemeClr val="dk1"/>
              </a:buClr>
              <a:buSzPts val="2300"/>
              <a:buFont typeface="Noto Sans Symbols"/>
              <a:buNone/>
            </a:pPr>
            <a:r>
              <a:rPr lang="en-US" sz="2300">
                <a:solidFill>
                  <a:schemeClr val="dk1"/>
                </a:solidFill>
                <a:latin typeface="Arial"/>
                <a:ea typeface="Arial"/>
                <a:cs typeface="Arial"/>
                <a:sym typeface="Arial"/>
              </a:rPr>
              <a:t>Debits:</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increase both assets and liabilities.</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decrease both assets and liabilities.</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increase assets and decrease liabilities.</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decrease assets and increase liabilities.</a:t>
            </a:r>
            <a:endParaRPr/>
          </a:p>
        </p:txBody>
      </p:sp>
      <p:sp>
        <p:nvSpPr>
          <p:cNvPr id="220" name="Google Shape;220;p11"/>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Debits/Credits Rules</a:t>
            </a:r>
            <a:endParaRPr/>
          </a:p>
        </p:txBody>
      </p:sp>
      <p:cxnSp>
        <p:nvCxnSpPr>
          <p:cNvPr id="221" name="Google Shape;221;p1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22" name="Google Shape;222;p11"/>
          <p:cNvSpPr/>
          <p:nvPr/>
        </p:nvSpPr>
        <p:spPr>
          <a:xfrm>
            <a:off x="533400" y="1295400"/>
            <a:ext cx="5334000" cy="554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223" name="Google Shape;223;p1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
        <p:nvSpPr>
          <p:cNvPr id="224" name="Google Shape;224;p11"/>
          <p:cNvSpPr/>
          <p:nvPr/>
        </p:nvSpPr>
        <p:spPr>
          <a:xfrm>
            <a:off x="152400" y="37338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8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p:nvPr/>
        </p:nvSpPr>
        <p:spPr>
          <a:xfrm>
            <a:off x="474663" y="1905000"/>
            <a:ext cx="8001000" cy="32766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5000"/>
              </a:lnSpc>
              <a:spcBef>
                <a:spcPts val="0"/>
              </a:spcBef>
              <a:spcAft>
                <a:spcPts val="0"/>
              </a:spcAft>
              <a:buClr>
                <a:schemeClr val="dk1"/>
              </a:buClr>
              <a:buSzPts val="2300"/>
              <a:buFont typeface="Noto Sans Symbols"/>
              <a:buNone/>
            </a:pPr>
            <a:r>
              <a:rPr lang="en-US" sz="2300">
                <a:solidFill>
                  <a:schemeClr val="dk1"/>
                </a:solidFill>
                <a:latin typeface="Arial"/>
                <a:ea typeface="Arial"/>
                <a:cs typeface="Arial"/>
                <a:sym typeface="Arial"/>
              </a:rPr>
              <a:t>Accounts that normally have debit balances are:</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assets, expenses, and revenues.</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assets, expenses, and equity.</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assets, liabilities, and owner’s drawing.</a:t>
            </a:r>
            <a:endParaRPr/>
          </a:p>
          <a:p>
            <a:pPr indent="-455613" lvl="1" marL="685800" marR="0" rtl="0" algn="l">
              <a:lnSpc>
                <a:spcPct val="125000"/>
              </a:lnSpc>
              <a:spcBef>
                <a:spcPts val="120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assets, owner’s drawing, and expenses.</a:t>
            </a:r>
            <a:endParaRPr/>
          </a:p>
        </p:txBody>
      </p:sp>
      <p:sp>
        <p:nvSpPr>
          <p:cNvPr id="230" name="Google Shape;230;p12"/>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Debits/Credits Rules</a:t>
            </a:r>
            <a:endParaRPr/>
          </a:p>
        </p:txBody>
      </p:sp>
      <p:cxnSp>
        <p:nvCxnSpPr>
          <p:cNvPr id="231" name="Google Shape;231;p1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32" name="Google Shape;232;p12"/>
          <p:cNvSpPr/>
          <p:nvPr/>
        </p:nvSpPr>
        <p:spPr>
          <a:xfrm>
            <a:off x="533400" y="1295400"/>
            <a:ext cx="5334000" cy="554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233" name="Google Shape;233;p1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
        <p:nvSpPr>
          <p:cNvPr id="234" name="Google Shape;234;p12"/>
          <p:cNvSpPr/>
          <p:nvPr/>
        </p:nvSpPr>
        <p:spPr>
          <a:xfrm>
            <a:off x="152400" y="4306824"/>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8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3"/>
          <p:cNvSpPr txBox="1"/>
          <p:nvPr/>
        </p:nvSpPr>
        <p:spPr>
          <a:xfrm>
            <a:off x="7391400" y="2287588"/>
            <a:ext cx="1524000" cy="2746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2-11</a:t>
            </a:r>
            <a:endParaRPr/>
          </a:p>
        </p:txBody>
      </p:sp>
      <p:sp>
        <p:nvSpPr>
          <p:cNvPr id="240" name="Google Shape;240;p13"/>
          <p:cNvSpPr txBox="1"/>
          <p:nvPr/>
        </p:nvSpPr>
        <p:spPr>
          <a:xfrm>
            <a:off x="1676400" y="2666999"/>
            <a:ext cx="24384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Assets  =  Liabilities +</a:t>
            </a:r>
            <a:endParaRPr b="1" sz="1600">
              <a:solidFill>
                <a:schemeClr val="dk1"/>
              </a:solidFill>
              <a:latin typeface="Arial"/>
              <a:ea typeface="Arial"/>
              <a:cs typeface="Arial"/>
              <a:sym typeface="Arial"/>
            </a:endParaRPr>
          </a:p>
        </p:txBody>
      </p:sp>
      <p:sp>
        <p:nvSpPr>
          <p:cNvPr id="241" name="Google Shape;241;p13"/>
          <p:cNvSpPr txBox="1"/>
          <p:nvPr/>
        </p:nvSpPr>
        <p:spPr>
          <a:xfrm>
            <a:off x="309562" y="2543175"/>
            <a:ext cx="1214438"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800000"/>
                </a:solidFill>
                <a:latin typeface="Arial"/>
                <a:ea typeface="Arial"/>
                <a:cs typeface="Arial"/>
                <a:sym typeface="Arial"/>
              </a:rPr>
              <a:t>Basic Equation</a:t>
            </a:r>
            <a:endParaRPr/>
          </a:p>
        </p:txBody>
      </p:sp>
      <p:sp>
        <p:nvSpPr>
          <p:cNvPr id="242" name="Google Shape;242;p13"/>
          <p:cNvSpPr txBox="1"/>
          <p:nvPr/>
        </p:nvSpPr>
        <p:spPr>
          <a:xfrm>
            <a:off x="304800" y="3218688"/>
            <a:ext cx="1295400" cy="11310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800000"/>
                </a:solidFill>
                <a:latin typeface="Arial"/>
                <a:ea typeface="Arial"/>
                <a:cs typeface="Arial"/>
                <a:sym typeface="Arial"/>
              </a:rPr>
              <a:t>Expanded  Equation</a:t>
            </a:r>
            <a:endParaRPr/>
          </a:p>
          <a:p>
            <a:pPr indent="0" lvl="0" marL="0" marR="0" rtl="0" algn="l">
              <a:spcBef>
                <a:spcPts val="750"/>
              </a:spcBef>
              <a:spcAft>
                <a:spcPts val="0"/>
              </a:spcAft>
              <a:buNone/>
            </a:pPr>
            <a:r>
              <a:rPr b="1" lang="en-US" sz="1500">
                <a:solidFill>
                  <a:srgbClr val="800000"/>
                </a:solidFill>
                <a:latin typeface="Arial"/>
                <a:ea typeface="Arial"/>
                <a:cs typeface="Arial"/>
                <a:sym typeface="Arial"/>
              </a:rPr>
              <a:t>Debit/Credit Effects</a:t>
            </a:r>
            <a:endParaRPr b="1" sz="1500">
              <a:solidFill>
                <a:srgbClr val="800000"/>
              </a:solidFill>
              <a:latin typeface="Arial"/>
              <a:ea typeface="Arial"/>
              <a:cs typeface="Arial"/>
              <a:sym typeface="Arial"/>
            </a:endParaRPr>
          </a:p>
        </p:txBody>
      </p:sp>
      <p:sp>
        <p:nvSpPr>
          <p:cNvPr id="243" name="Google Shape;243;p13"/>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Summary of Debit/Credit Rules</a:t>
            </a:r>
            <a:endParaRPr/>
          </a:p>
        </p:txBody>
      </p:sp>
      <p:cxnSp>
        <p:nvCxnSpPr>
          <p:cNvPr id="244" name="Google Shape;244;p1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45" name="Google Shape;245;p13"/>
          <p:cNvSpPr/>
          <p:nvPr/>
        </p:nvSpPr>
        <p:spPr>
          <a:xfrm>
            <a:off x="533400" y="1295400"/>
            <a:ext cx="8229600" cy="898525"/>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800000"/>
              </a:buClr>
              <a:buSzPts val="1840"/>
              <a:buFont typeface="Noto Sans Symbols"/>
              <a:buNone/>
            </a:pPr>
            <a:r>
              <a:rPr lang="en-US" sz="2300">
                <a:solidFill>
                  <a:srgbClr val="000000"/>
                </a:solidFill>
                <a:latin typeface="Arial"/>
                <a:ea typeface="Arial"/>
                <a:cs typeface="Arial"/>
                <a:sym typeface="Arial"/>
              </a:rPr>
              <a:t>Relationship among the assets, liabilities and owner’s equity of a business:  </a:t>
            </a:r>
            <a:endParaRPr/>
          </a:p>
        </p:txBody>
      </p:sp>
      <p:sp>
        <p:nvSpPr>
          <p:cNvPr id="246" name="Google Shape;246;p13"/>
          <p:cNvSpPr/>
          <p:nvPr/>
        </p:nvSpPr>
        <p:spPr>
          <a:xfrm>
            <a:off x="533400" y="4876800"/>
            <a:ext cx="7924800" cy="87100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800000"/>
              </a:buClr>
              <a:buSzPts val="1760"/>
              <a:buFont typeface="Noto Sans Symbols"/>
              <a:buNone/>
            </a:pPr>
            <a:r>
              <a:rPr lang="en-US" sz="2200">
                <a:solidFill>
                  <a:schemeClr val="dk1"/>
                </a:solidFill>
                <a:latin typeface="Arial"/>
                <a:ea typeface="Arial"/>
                <a:cs typeface="Arial"/>
                <a:sym typeface="Arial"/>
              </a:rPr>
              <a:t>The equation must be in balance after every transaction.  Total </a:t>
            </a:r>
            <a:r>
              <a:rPr b="1" lang="en-US" sz="2200">
                <a:solidFill>
                  <a:schemeClr val="dk1"/>
                </a:solidFill>
                <a:latin typeface="Arial"/>
                <a:ea typeface="Arial"/>
                <a:cs typeface="Arial"/>
                <a:sym typeface="Arial"/>
              </a:rPr>
              <a:t>Debits</a:t>
            </a:r>
            <a:r>
              <a:rPr lang="en-US" sz="2200">
                <a:solidFill>
                  <a:schemeClr val="dk1"/>
                </a:solidFill>
                <a:latin typeface="Arial"/>
                <a:ea typeface="Arial"/>
                <a:cs typeface="Arial"/>
                <a:sym typeface="Arial"/>
              </a:rPr>
              <a:t> must equal total </a:t>
            </a:r>
            <a:r>
              <a:rPr b="1" lang="en-US" sz="2200">
                <a:solidFill>
                  <a:schemeClr val="dk1"/>
                </a:solidFill>
                <a:latin typeface="Arial"/>
                <a:ea typeface="Arial"/>
                <a:cs typeface="Arial"/>
                <a:sym typeface="Arial"/>
              </a:rPr>
              <a:t>Credits</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p:txBody>
      </p:sp>
      <p:pic>
        <p:nvPicPr>
          <p:cNvPr id="247" name="Google Shape;247;p13"/>
          <p:cNvPicPr preferRelativeResize="0"/>
          <p:nvPr/>
        </p:nvPicPr>
        <p:blipFill rotWithShape="1">
          <a:blip r:embed="rId3">
            <a:alphaModFix/>
          </a:blip>
          <a:srcRect b="0" l="0" r="0" t="0"/>
          <a:stretch/>
        </p:blipFill>
        <p:spPr>
          <a:xfrm>
            <a:off x="1630363" y="3230563"/>
            <a:ext cx="7132637" cy="1189037"/>
          </a:xfrm>
          <a:prstGeom prst="rect">
            <a:avLst/>
          </a:prstGeom>
          <a:noFill/>
          <a:ln>
            <a:noFill/>
          </a:ln>
        </p:spPr>
      </p:pic>
      <p:sp>
        <p:nvSpPr>
          <p:cNvPr id="248" name="Google Shape;248;p13"/>
          <p:cNvSpPr txBox="1"/>
          <p:nvPr/>
        </p:nvSpPr>
        <p:spPr>
          <a:xfrm>
            <a:off x="5334000" y="2667000"/>
            <a:ext cx="198120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Equity</a:t>
            </a:r>
            <a:endParaRPr/>
          </a:p>
        </p:txBody>
      </p:sp>
      <p:sp>
        <p:nvSpPr>
          <p:cNvPr id="249" name="Google Shape;249;p13"/>
          <p:cNvSpPr/>
          <p:nvPr/>
        </p:nvSpPr>
        <p:spPr>
          <a:xfrm rot="5400000">
            <a:off x="6210300" y="800100"/>
            <a:ext cx="304800" cy="4648200"/>
          </a:xfrm>
          <a:prstGeom prst="leftBrace">
            <a:avLst>
              <a:gd fmla="val 127083" name="adj1"/>
              <a:gd fmla="val 50000" name="adj2"/>
            </a:avLst>
          </a:prstGeom>
          <a:noFill/>
          <a:ln cap="sq" cmpd="sng" w="2857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250" name="Google Shape;250;p1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cxnSp>
        <p:nvCxnSpPr>
          <p:cNvPr id="255" name="Google Shape;255;p14"/>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256" name="Google Shape;256;p14"/>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257" name="Google Shape;257;p14"/>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258" name="Google Shape;258;p14"/>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259" name="Google Shape;259;p14"/>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260" name="Google Shape;260;p14"/>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ctr">
              <a:spcBef>
                <a:spcPts val="0"/>
              </a:spcBef>
              <a:spcAft>
                <a:spcPts val="0"/>
              </a:spcAft>
              <a:buNone/>
            </a:pPr>
            <a:r>
              <a:rPr b="1" lang="en-US" sz="3600">
                <a:solidFill>
                  <a:srgbClr val="FF9900"/>
                </a:solidFill>
                <a:latin typeface="Arial"/>
                <a:ea typeface="Arial"/>
                <a:cs typeface="Arial"/>
                <a:sym typeface="Arial"/>
              </a:rPr>
              <a:t>1</a:t>
            </a:r>
            <a:endParaRPr/>
          </a:p>
        </p:txBody>
      </p:sp>
      <p:sp>
        <p:nvSpPr>
          <p:cNvPr id="261" name="Google Shape;261;p14"/>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Normal Account Balances</a:t>
            </a:r>
            <a:endParaRPr b="1" sz="2800">
              <a:solidFill>
                <a:schemeClr val="lt1"/>
              </a:solidFill>
              <a:latin typeface="Arial"/>
              <a:ea typeface="Arial"/>
              <a:cs typeface="Arial"/>
              <a:sym typeface="Arial"/>
            </a:endParaRPr>
          </a:p>
        </p:txBody>
      </p:sp>
      <p:sp>
        <p:nvSpPr>
          <p:cNvPr id="262" name="Google Shape;262;p14"/>
          <p:cNvSpPr/>
          <p:nvPr/>
        </p:nvSpPr>
        <p:spPr>
          <a:xfrm>
            <a:off x="685800" y="1404938"/>
            <a:ext cx="8058150" cy="27860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2000">
                <a:solidFill>
                  <a:schemeClr val="dk1"/>
                </a:solidFill>
                <a:latin typeface="Arial"/>
                <a:ea typeface="Arial"/>
                <a:cs typeface="Arial"/>
                <a:sym typeface="Arial"/>
              </a:rPr>
              <a:t>Kate Browne has just rented space in a shopping mall. In this space, she will open a hair salon to be called “Hair It Is.” A friend has advised Kate to set up a double-entry set of accounting records in which to record all of her business transactions. Identify the balance sheet accounts that Kate will likely need to record the transactions needed to open her business. Indicate whether the normal balance of each account is a debit or a credit.</a:t>
            </a:r>
            <a:endParaRPr/>
          </a:p>
        </p:txBody>
      </p:sp>
      <p:sp>
        <p:nvSpPr>
          <p:cNvPr id="263" name="Google Shape;263;p14"/>
          <p:cNvSpPr/>
          <p:nvPr/>
        </p:nvSpPr>
        <p:spPr>
          <a:xfrm>
            <a:off x="381000" y="4419600"/>
            <a:ext cx="28194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Assets</a:t>
            </a:r>
            <a:endParaRPr/>
          </a:p>
        </p:txBody>
      </p:sp>
      <p:sp>
        <p:nvSpPr>
          <p:cNvPr id="264" name="Google Shape;264;p14"/>
          <p:cNvSpPr/>
          <p:nvPr/>
        </p:nvSpPr>
        <p:spPr>
          <a:xfrm>
            <a:off x="381000" y="4953000"/>
            <a:ext cx="2819400" cy="137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900">
                <a:solidFill>
                  <a:schemeClr val="dk1"/>
                </a:solidFill>
                <a:latin typeface="Arial"/>
                <a:ea typeface="Arial"/>
                <a:cs typeface="Arial"/>
                <a:sym typeface="Arial"/>
              </a:rPr>
              <a:t>Cash (debit)</a:t>
            </a:r>
            <a:endParaRPr/>
          </a:p>
          <a:p>
            <a:pPr indent="0" lvl="0" marL="0" marR="0" rtl="0" algn="ctr">
              <a:spcBef>
                <a:spcPts val="760"/>
              </a:spcBef>
              <a:spcAft>
                <a:spcPts val="0"/>
              </a:spcAft>
              <a:buNone/>
            </a:pPr>
            <a:r>
              <a:rPr lang="en-US" sz="1900">
                <a:solidFill>
                  <a:schemeClr val="dk1"/>
                </a:solidFill>
                <a:latin typeface="Arial"/>
                <a:ea typeface="Arial"/>
                <a:cs typeface="Arial"/>
                <a:sym typeface="Arial"/>
              </a:rPr>
              <a:t>Supplies (debit)</a:t>
            </a:r>
            <a:endParaRPr/>
          </a:p>
          <a:p>
            <a:pPr indent="0" lvl="0" marL="0" marR="0" rtl="0" algn="ctr">
              <a:spcBef>
                <a:spcPts val="760"/>
              </a:spcBef>
              <a:spcAft>
                <a:spcPts val="0"/>
              </a:spcAft>
              <a:buNone/>
            </a:pPr>
            <a:r>
              <a:rPr lang="en-US" sz="1900">
                <a:solidFill>
                  <a:schemeClr val="dk1"/>
                </a:solidFill>
                <a:latin typeface="Arial"/>
                <a:ea typeface="Arial"/>
                <a:cs typeface="Arial"/>
                <a:sym typeface="Arial"/>
              </a:rPr>
              <a:t>Equipment (debit)</a:t>
            </a:r>
            <a:endParaRPr/>
          </a:p>
          <a:p>
            <a:pPr indent="0" lvl="0" marL="0" marR="0" rtl="0" algn="ctr">
              <a:spcBef>
                <a:spcPts val="760"/>
              </a:spcBef>
              <a:spcAft>
                <a:spcPts val="0"/>
              </a:spcAft>
              <a:buNone/>
            </a:pPr>
            <a:r>
              <a:t/>
            </a:r>
            <a:endParaRPr sz="1900">
              <a:solidFill>
                <a:schemeClr val="dk1"/>
              </a:solidFill>
              <a:latin typeface="Arial"/>
              <a:ea typeface="Arial"/>
              <a:cs typeface="Arial"/>
              <a:sym typeface="Arial"/>
            </a:endParaRPr>
          </a:p>
        </p:txBody>
      </p:sp>
      <p:sp>
        <p:nvSpPr>
          <p:cNvPr id="265" name="Google Shape;265;p14"/>
          <p:cNvSpPr/>
          <p:nvPr/>
        </p:nvSpPr>
        <p:spPr>
          <a:xfrm>
            <a:off x="3200400" y="4419600"/>
            <a:ext cx="28194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Liabilities</a:t>
            </a:r>
            <a:endParaRPr/>
          </a:p>
        </p:txBody>
      </p:sp>
      <p:sp>
        <p:nvSpPr>
          <p:cNvPr id="266" name="Google Shape;266;p14"/>
          <p:cNvSpPr/>
          <p:nvPr/>
        </p:nvSpPr>
        <p:spPr>
          <a:xfrm>
            <a:off x="3200400" y="4953000"/>
            <a:ext cx="2819400" cy="137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900">
                <a:solidFill>
                  <a:schemeClr val="dk1"/>
                </a:solidFill>
                <a:latin typeface="Arial"/>
                <a:ea typeface="Arial"/>
                <a:cs typeface="Arial"/>
                <a:sym typeface="Arial"/>
              </a:rPr>
              <a:t>Notes payable (credit)</a:t>
            </a:r>
            <a:endParaRPr/>
          </a:p>
          <a:p>
            <a:pPr indent="0" lvl="0" marL="0" marR="0" rtl="0" algn="ctr">
              <a:spcBef>
                <a:spcPts val="950"/>
              </a:spcBef>
              <a:spcAft>
                <a:spcPts val="0"/>
              </a:spcAft>
              <a:buNone/>
            </a:pPr>
            <a:r>
              <a:rPr lang="en-US" sz="1900">
                <a:solidFill>
                  <a:schemeClr val="dk1"/>
                </a:solidFill>
                <a:latin typeface="Arial"/>
                <a:ea typeface="Arial"/>
                <a:cs typeface="Arial"/>
                <a:sym typeface="Arial"/>
              </a:rPr>
              <a:t>Accounts payable (credit)</a:t>
            </a:r>
            <a:endParaRPr/>
          </a:p>
        </p:txBody>
      </p:sp>
      <p:sp>
        <p:nvSpPr>
          <p:cNvPr id="267" name="Google Shape;267;p14"/>
          <p:cNvSpPr/>
          <p:nvPr/>
        </p:nvSpPr>
        <p:spPr>
          <a:xfrm>
            <a:off x="6019800" y="4419600"/>
            <a:ext cx="28194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Equity</a:t>
            </a:r>
            <a:endParaRPr/>
          </a:p>
        </p:txBody>
      </p:sp>
      <p:sp>
        <p:nvSpPr>
          <p:cNvPr id="268" name="Google Shape;268;p14"/>
          <p:cNvSpPr/>
          <p:nvPr/>
        </p:nvSpPr>
        <p:spPr>
          <a:xfrm>
            <a:off x="6019800" y="4953000"/>
            <a:ext cx="2819400" cy="137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900">
                <a:solidFill>
                  <a:schemeClr val="dk1"/>
                </a:solidFill>
                <a:latin typeface="Arial"/>
                <a:ea typeface="Arial"/>
                <a:cs typeface="Arial"/>
                <a:sym typeface="Arial"/>
              </a:rPr>
              <a:t>Owner’s Capital (credit)</a:t>
            </a:r>
            <a:endParaRPr/>
          </a:p>
          <a:p>
            <a:pPr indent="0" lvl="0" marL="0" marR="0" rtl="0" algn="ctr">
              <a:spcBef>
                <a:spcPts val="760"/>
              </a:spcBef>
              <a:spcAft>
                <a:spcPts val="0"/>
              </a:spcAft>
              <a:buNone/>
            </a:pPr>
            <a:r>
              <a:t/>
            </a:r>
            <a:endParaRPr sz="1900">
              <a:solidFill>
                <a:schemeClr val="dk1"/>
              </a:solidFill>
              <a:latin typeface="Arial"/>
              <a:ea typeface="Arial"/>
              <a:cs typeface="Arial"/>
              <a:sym typeface="Arial"/>
            </a:endParaRPr>
          </a:p>
        </p:txBody>
      </p:sp>
      <p:cxnSp>
        <p:nvCxnSpPr>
          <p:cNvPr id="269" name="Google Shape;269;p14"/>
          <p:cNvCxnSpPr/>
          <p:nvPr/>
        </p:nvCxnSpPr>
        <p:spPr>
          <a:xfrm>
            <a:off x="3276600" y="4800600"/>
            <a:ext cx="2667000" cy="0"/>
          </a:xfrm>
          <a:prstGeom prst="straightConnector1">
            <a:avLst/>
          </a:prstGeom>
          <a:noFill/>
          <a:ln cap="sq" cmpd="sng" w="19050">
            <a:solidFill>
              <a:schemeClr val="dk1"/>
            </a:solidFill>
            <a:prstDash val="solid"/>
            <a:round/>
            <a:headEnd len="sm" w="sm" type="none"/>
            <a:tailEnd len="sm" w="sm" type="none"/>
          </a:ln>
        </p:spPr>
      </p:cxnSp>
      <p:cxnSp>
        <p:nvCxnSpPr>
          <p:cNvPr id="270" name="Google Shape;270;p14"/>
          <p:cNvCxnSpPr/>
          <p:nvPr/>
        </p:nvCxnSpPr>
        <p:spPr>
          <a:xfrm>
            <a:off x="6096000" y="4800600"/>
            <a:ext cx="2667000" cy="0"/>
          </a:xfrm>
          <a:prstGeom prst="straightConnector1">
            <a:avLst/>
          </a:prstGeom>
          <a:noFill/>
          <a:ln cap="sq" cmpd="sng" w="19050">
            <a:solidFill>
              <a:schemeClr val="dk1"/>
            </a:solidFill>
            <a:prstDash val="solid"/>
            <a:round/>
            <a:headEnd len="sm" w="sm" type="none"/>
            <a:tailEnd len="sm" w="sm" type="none"/>
          </a:ln>
        </p:spPr>
      </p:cxnSp>
      <p:cxnSp>
        <p:nvCxnSpPr>
          <p:cNvPr id="271" name="Google Shape;271;p14"/>
          <p:cNvCxnSpPr/>
          <p:nvPr/>
        </p:nvCxnSpPr>
        <p:spPr>
          <a:xfrm>
            <a:off x="457200" y="4800600"/>
            <a:ext cx="2667000" cy="0"/>
          </a:xfrm>
          <a:prstGeom prst="straightConnector1">
            <a:avLst/>
          </a:prstGeom>
          <a:noFill/>
          <a:ln cap="sq" cmpd="sng" w="19050">
            <a:solidFill>
              <a:schemeClr val="dk1"/>
            </a:solidFill>
            <a:prstDash val="solid"/>
            <a:round/>
            <a:headEnd len="sm" w="sm" type="none"/>
            <a:tailEnd len="sm" w="sm" type="none"/>
          </a:ln>
        </p:spPr>
      </p:cxnSp>
      <p:pic>
        <p:nvPicPr>
          <p:cNvPr id="272" name="Google Shape;272;p14"/>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273" name="Google Shape;273;p14"/>
          <p:cNvSpPr txBox="1"/>
          <p:nvPr/>
        </p:nvSpPr>
        <p:spPr>
          <a:xfrm>
            <a:off x="1524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274" name="Google Shape;274;p1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500"/>
                                        <p:tgtEl>
                                          <p:spTgt spid="2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Effect filter="fade" transition="in">
                                      <p:cBhvr>
                                        <p:cTn dur="500"/>
                                        <p:tgtEl>
                                          <p:spTgt spid="2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Effect filter="fade" transition="in">
                                      <p:cBhvr>
                                        <p:cTn dur="500"/>
                                        <p:tgtEl>
                                          <p:spTgt spid="2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Effect filter="fade" transition="in">
                                      <p:cBhvr>
                                        <p:cTn dur="500"/>
                                        <p:tgtEl>
                                          <p:spTgt spid="2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500"/>
                                        <p:tgtEl>
                                          <p:spTgt spid="2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Effect filter="fade" transition="in">
                                      <p:cBhvr>
                                        <p:cTn dur="500"/>
                                        <p:tgtEl>
                                          <p:spTgt spid="2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animEffect filter="fade" transition="in">
                                      <p:cBhvr>
                                        <p:cTn dur="500"/>
                                        <p:tgtEl>
                                          <p:spTgt spid="2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animEffect filter="fade" transition="in">
                                      <p:cBhvr>
                                        <p:cTn dur="500"/>
                                        <p:tgtEl>
                                          <p:spTgt spid="26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15"/>
          <p:cNvPicPr preferRelativeResize="0"/>
          <p:nvPr/>
        </p:nvPicPr>
        <p:blipFill rotWithShape="1">
          <a:blip r:embed="rId3">
            <a:alphaModFix/>
          </a:blip>
          <a:srcRect b="0" l="0" r="0" t="0"/>
          <a:stretch/>
        </p:blipFill>
        <p:spPr>
          <a:xfrm>
            <a:off x="533400" y="2471738"/>
            <a:ext cx="8001000" cy="2687637"/>
          </a:xfrm>
          <a:prstGeom prst="rect">
            <a:avLst/>
          </a:prstGeom>
          <a:noFill/>
          <a:ln>
            <a:noFill/>
          </a:ln>
        </p:spPr>
      </p:pic>
      <p:sp>
        <p:nvSpPr>
          <p:cNvPr id="280" name="Google Shape;280;p15"/>
          <p:cNvSpPr txBox="1"/>
          <p:nvPr/>
        </p:nvSpPr>
        <p:spPr>
          <a:xfrm>
            <a:off x="685800" y="5353050"/>
            <a:ext cx="8001000" cy="90486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200">
                <a:solidFill>
                  <a:schemeClr val="dk1"/>
                </a:solidFill>
                <a:latin typeface="Arial"/>
                <a:ea typeface="Arial"/>
                <a:cs typeface="Arial"/>
                <a:sym typeface="Arial"/>
              </a:rPr>
              <a:t>Business documents</a:t>
            </a:r>
            <a:r>
              <a:rPr lang="en-US" sz="2200">
                <a:solidFill>
                  <a:schemeClr val="dk1"/>
                </a:solidFill>
                <a:latin typeface="Arial"/>
                <a:ea typeface="Arial"/>
                <a:cs typeface="Arial"/>
                <a:sym typeface="Arial"/>
              </a:rPr>
              <a:t>, such as a sales slip, a check, or a bill, provide evidence of the transaction.</a:t>
            </a:r>
            <a:endParaRPr/>
          </a:p>
        </p:txBody>
      </p:sp>
      <p:sp>
        <p:nvSpPr>
          <p:cNvPr id="281" name="Google Shape;281;p15"/>
          <p:cNvSpPr txBox="1"/>
          <p:nvPr/>
        </p:nvSpPr>
        <p:spPr>
          <a:xfrm>
            <a:off x="609600" y="4794250"/>
            <a:ext cx="2133600" cy="274638"/>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Analyze each transaction</a:t>
            </a:r>
            <a:endParaRPr/>
          </a:p>
        </p:txBody>
      </p:sp>
      <p:sp>
        <p:nvSpPr>
          <p:cNvPr id="282" name="Google Shape;282;p15"/>
          <p:cNvSpPr txBox="1"/>
          <p:nvPr/>
        </p:nvSpPr>
        <p:spPr>
          <a:xfrm>
            <a:off x="3124200" y="4794250"/>
            <a:ext cx="2438400" cy="274638"/>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Enter transaction in a journal</a:t>
            </a:r>
            <a:endParaRPr/>
          </a:p>
        </p:txBody>
      </p:sp>
      <p:sp>
        <p:nvSpPr>
          <p:cNvPr id="283" name="Google Shape;283;p15"/>
          <p:cNvSpPr txBox="1"/>
          <p:nvPr/>
        </p:nvSpPr>
        <p:spPr>
          <a:xfrm>
            <a:off x="5867400" y="4759325"/>
            <a:ext cx="2438400" cy="422275"/>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US" sz="1200">
                <a:solidFill>
                  <a:schemeClr val="dk1"/>
                </a:solidFill>
                <a:latin typeface="Arial"/>
                <a:ea typeface="Arial"/>
                <a:cs typeface="Arial"/>
                <a:sym typeface="Arial"/>
              </a:rPr>
              <a:t>Transfer journal information to ledger accounts</a:t>
            </a:r>
            <a:endParaRPr/>
          </a:p>
        </p:txBody>
      </p:sp>
      <p:sp>
        <p:nvSpPr>
          <p:cNvPr id="284" name="Google Shape;284;p15"/>
          <p:cNvSpPr/>
          <p:nvPr/>
        </p:nvSpPr>
        <p:spPr>
          <a:xfrm>
            <a:off x="533400" y="15240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Steps in the Recording Process</a:t>
            </a:r>
            <a:endParaRPr/>
          </a:p>
        </p:txBody>
      </p:sp>
      <p:cxnSp>
        <p:nvCxnSpPr>
          <p:cNvPr id="285" name="Google Shape;285;p15"/>
          <p:cNvCxnSpPr/>
          <p:nvPr/>
        </p:nvCxnSpPr>
        <p:spPr>
          <a:xfrm>
            <a:off x="304800" y="2209800"/>
            <a:ext cx="8534400" cy="0"/>
          </a:xfrm>
          <a:prstGeom prst="straightConnector1">
            <a:avLst/>
          </a:prstGeom>
          <a:noFill/>
          <a:ln cap="sq" cmpd="sng" w="57150">
            <a:solidFill>
              <a:schemeClr val="dk1"/>
            </a:solidFill>
            <a:prstDash val="solid"/>
            <a:round/>
            <a:headEnd len="sm" w="sm" type="none"/>
            <a:tailEnd len="sm" w="sm" type="none"/>
          </a:ln>
        </p:spPr>
      </p:cxnSp>
      <p:sp>
        <p:nvSpPr>
          <p:cNvPr id="286" name="Google Shape;286;p15"/>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287" name="Google Shape;287;p15"/>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100">
                <a:solidFill>
                  <a:schemeClr val="lt1"/>
                </a:solidFill>
                <a:latin typeface="Arial"/>
                <a:ea typeface="Arial"/>
                <a:cs typeface="Arial"/>
                <a:sym typeface="Arial"/>
              </a:rPr>
              <a:t>Indicate how a journal is used in the </a:t>
            </a:r>
            <a:endParaRPr/>
          </a:p>
          <a:p>
            <a:pPr indent="0" lvl="0" marL="117475" marR="0" rtl="0" algn="l">
              <a:spcBef>
                <a:spcPts val="0"/>
              </a:spcBef>
              <a:spcAft>
                <a:spcPts val="0"/>
              </a:spcAft>
              <a:buNone/>
            </a:pPr>
            <a:r>
              <a:rPr b="1" lang="en-US" sz="2100">
                <a:solidFill>
                  <a:schemeClr val="lt1"/>
                </a:solidFill>
                <a:latin typeface="Arial"/>
                <a:ea typeface="Arial"/>
                <a:cs typeface="Arial"/>
                <a:sym typeface="Arial"/>
              </a:rPr>
              <a:t>recording process.</a:t>
            </a:r>
            <a:endParaRPr/>
          </a:p>
        </p:txBody>
      </p:sp>
      <p:sp>
        <p:nvSpPr>
          <p:cNvPr id="288" name="Google Shape;288;p15"/>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2</a:t>
            </a:r>
            <a:endParaRPr b="1" sz="2400">
              <a:solidFill>
                <a:schemeClr val="lt1"/>
              </a:solidFill>
              <a:latin typeface="Arial"/>
              <a:ea typeface="Arial"/>
              <a:cs typeface="Arial"/>
              <a:sym typeface="Arial"/>
            </a:endParaRPr>
          </a:p>
        </p:txBody>
      </p:sp>
      <p:sp>
        <p:nvSpPr>
          <p:cNvPr id="289" name="Google Shape;289;p15"/>
          <p:cNvSpPr txBox="1"/>
          <p:nvPr/>
        </p:nvSpPr>
        <p:spPr>
          <a:xfrm>
            <a:off x="7086600" y="2057400"/>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2-12</a:t>
            </a:r>
            <a:endParaRPr/>
          </a:p>
        </p:txBody>
      </p:sp>
      <p:sp>
        <p:nvSpPr>
          <p:cNvPr id="290" name="Google Shape;290;p1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7"/>
          <p:cNvSpPr txBox="1"/>
          <p:nvPr/>
        </p:nvSpPr>
        <p:spPr>
          <a:xfrm>
            <a:off x="533400" y="1295400"/>
            <a:ext cx="82296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0000BF"/>
                </a:solidFill>
                <a:latin typeface="Arial"/>
                <a:ea typeface="Arial"/>
                <a:cs typeface="Arial"/>
                <a:sym typeface="Arial"/>
              </a:rPr>
              <a:t>JOURNALIZING</a:t>
            </a:r>
            <a:r>
              <a:rPr lang="en-US" sz="2400">
                <a:solidFill>
                  <a:srgbClr val="0000BF"/>
                </a:solidFill>
                <a:latin typeface="Arial"/>
                <a:ea typeface="Arial"/>
                <a:cs typeface="Arial"/>
                <a:sym typeface="Arial"/>
              </a:rPr>
              <a:t> </a:t>
            </a:r>
            <a:r>
              <a:rPr lang="en-US" sz="2200">
                <a:solidFill>
                  <a:srgbClr val="000000"/>
                </a:solidFill>
                <a:latin typeface="Arial"/>
                <a:ea typeface="Arial"/>
                <a:cs typeface="Arial"/>
                <a:sym typeface="Arial"/>
              </a:rPr>
              <a:t>- Entering transaction data in the journal.</a:t>
            </a:r>
            <a:endParaRPr/>
          </a:p>
        </p:txBody>
      </p:sp>
      <p:sp>
        <p:nvSpPr>
          <p:cNvPr id="296" name="Google Shape;296;p17"/>
          <p:cNvSpPr txBox="1"/>
          <p:nvPr/>
        </p:nvSpPr>
        <p:spPr>
          <a:xfrm>
            <a:off x="533400" y="1905000"/>
            <a:ext cx="8229600" cy="11588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1" lang="en-US" sz="2100">
                <a:solidFill>
                  <a:schemeClr val="dk1"/>
                </a:solidFill>
                <a:latin typeface="Arial"/>
                <a:ea typeface="Arial"/>
                <a:cs typeface="Arial"/>
                <a:sym typeface="Arial"/>
              </a:rPr>
              <a:t>Illustration:</a:t>
            </a:r>
            <a:r>
              <a:rPr lang="en-US" sz="2100">
                <a:solidFill>
                  <a:schemeClr val="dk1"/>
                </a:solidFill>
                <a:latin typeface="Arial"/>
                <a:ea typeface="Arial"/>
                <a:cs typeface="Arial"/>
                <a:sym typeface="Arial"/>
              </a:rPr>
              <a:t>  On September 1, Ray Neal invested $15,000 cash in the business, and Softbyte purchased computer equipment for $7,000 cash.</a:t>
            </a:r>
            <a:endParaRPr sz="2100">
              <a:solidFill>
                <a:schemeClr val="dk1"/>
              </a:solidFill>
              <a:latin typeface="Arial"/>
              <a:ea typeface="Arial"/>
              <a:cs typeface="Arial"/>
              <a:sym typeface="Arial"/>
            </a:endParaRPr>
          </a:p>
        </p:txBody>
      </p:sp>
      <p:graphicFrame>
        <p:nvGraphicFramePr>
          <p:cNvPr id="297" name="Google Shape;297;p17"/>
          <p:cNvGraphicFramePr/>
          <p:nvPr/>
        </p:nvGraphicFramePr>
        <p:xfrm>
          <a:off x="609600" y="3286125"/>
          <a:ext cx="7962900" cy="2971800"/>
        </p:xfrm>
        <a:graphic>
          <a:graphicData uri="http://schemas.openxmlformats.org/presentationml/2006/ole">
            <mc:AlternateContent>
              <mc:Choice Requires="v">
                <p:oleObj r:id="rId4" imgH="2971800" imgW="7962900" progId="Excel.Sheet.8" spid="_x0000_s1">
                  <p:embed/>
                </p:oleObj>
              </mc:Choice>
              <mc:Fallback>
                <p:oleObj r:id="rId5" imgH="2971800" imgW="7962900" progId="Excel.Sheet.8">
                  <p:embed/>
                  <p:pic>
                    <p:nvPicPr>
                      <p:cNvPr id="297" name="Google Shape;297;p17"/>
                      <p:cNvPicPr preferRelativeResize="0"/>
                      <p:nvPr/>
                    </p:nvPicPr>
                    <p:blipFill rotWithShape="1">
                      <a:blip r:embed="rId6">
                        <a:alphaModFix/>
                      </a:blip>
                      <a:srcRect b="0" l="0" r="0" t="0"/>
                      <a:stretch/>
                    </p:blipFill>
                    <p:spPr>
                      <a:xfrm>
                        <a:off x="609600" y="3286125"/>
                        <a:ext cx="7962900" cy="2971800"/>
                      </a:xfrm>
                      <a:prstGeom prst="rect">
                        <a:avLst/>
                      </a:prstGeom>
                      <a:solidFill>
                        <a:srgbClr val="F8EB8E"/>
                      </a:solidFill>
                      <a:ln>
                        <a:noFill/>
                      </a:ln>
                    </p:spPr>
                  </p:pic>
                </p:oleObj>
              </mc:Fallback>
            </mc:AlternateContent>
          </a:graphicData>
        </a:graphic>
      </p:graphicFrame>
      <p:sp>
        <p:nvSpPr>
          <p:cNvPr id="298" name="Google Shape;298;p17"/>
          <p:cNvSpPr txBox="1"/>
          <p:nvPr/>
        </p:nvSpPr>
        <p:spPr>
          <a:xfrm>
            <a:off x="1752600" y="4357688"/>
            <a:ext cx="25146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Cash</a:t>
            </a:r>
            <a:endParaRPr/>
          </a:p>
        </p:txBody>
      </p:sp>
      <p:sp>
        <p:nvSpPr>
          <p:cNvPr id="299" name="Google Shape;299;p17"/>
          <p:cNvSpPr txBox="1"/>
          <p:nvPr/>
        </p:nvSpPr>
        <p:spPr>
          <a:xfrm>
            <a:off x="1752600" y="4738688"/>
            <a:ext cx="2514600" cy="366712"/>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1800" u="none" cap="none" strike="noStrike">
                <a:solidFill>
                  <a:schemeClr val="dk1"/>
                </a:solidFill>
                <a:latin typeface="Arial"/>
                <a:ea typeface="Arial"/>
                <a:cs typeface="Arial"/>
                <a:sym typeface="Arial"/>
              </a:rPr>
              <a:t>Owner’s Capital</a:t>
            </a:r>
            <a:endParaRPr/>
          </a:p>
        </p:txBody>
      </p:sp>
      <p:sp>
        <p:nvSpPr>
          <p:cNvPr id="300" name="Google Shape;300;p17"/>
          <p:cNvSpPr txBox="1"/>
          <p:nvPr/>
        </p:nvSpPr>
        <p:spPr>
          <a:xfrm>
            <a:off x="609600" y="4343400"/>
            <a:ext cx="990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Sept. 1</a:t>
            </a:r>
            <a:endParaRPr/>
          </a:p>
        </p:txBody>
      </p:sp>
      <p:sp>
        <p:nvSpPr>
          <p:cNvPr id="301" name="Google Shape;301;p17"/>
          <p:cNvSpPr txBox="1"/>
          <p:nvPr/>
        </p:nvSpPr>
        <p:spPr>
          <a:xfrm>
            <a:off x="5943600" y="4357688"/>
            <a:ext cx="1219200"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15,000</a:t>
            </a:r>
            <a:endParaRPr/>
          </a:p>
        </p:txBody>
      </p:sp>
      <p:sp>
        <p:nvSpPr>
          <p:cNvPr id="302" name="Google Shape;302;p17"/>
          <p:cNvSpPr txBox="1"/>
          <p:nvPr/>
        </p:nvSpPr>
        <p:spPr>
          <a:xfrm>
            <a:off x="7239000" y="4738688"/>
            <a:ext cx="1219200"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15,000</a:t>
            </a:r>
            <a:endParaRPr/>
          </a:p>
        </p:txBody>
      </p:sp>
      <p:sp>
        <p:nvSpPr>
          <p:cNvPr id="303" name="Google Shape;303;p17"/>
          <p:cNvSpPr txBox="1"/>
          <p:nvPr/>
        </p:nvSpPr>
        <p:spPr>
          <a:xfrm>
            <a:off x="2819400" y="3379113"/>
            <a:ext cx="3581400" cy="430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lt1"/>
                </a:solidFill>
                <a:latin typeface="Arial"/>
                <a:ea typeface="Arial"/>
                <a:cs typeface="Arial"/>
                <a:sym typeface="Arial"/>
              </a:rPr>
              <a:t>GENERAL JOURNAL</a:t>
            </a:r>
            <a:endParaRPr b="1" sz="2200">
              <a:solidFill>
                <a:schemeClr val="lt1"/>
              </a:solidFill>
              <a:latin typeface="Arial"/>
              <a:ea typeface="Arial"/>
              <a:cs typeface="Arial"/>
              <a:sym typeface="Arial"/>
            </a:endParaRPr>
          </a:p>
        </p:txBody>
      </p:sp>
      <p:sp>
        <p:nvSpPr>
          <p:cNvPr id="304" name="Google Shape;304;p17"/>
          <p:cNvSpPr txBox="1"/>
          <p:nvPr/>
        </p:nvSpPr>
        <p:spPr>
          <a:xfrm>
            <a:off x="1752600" y="5486400"/>
            <a:ext cx="2514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Equipment</a:t>
            </a:r>
            <a:endParaRPr/>
          </a:p>
        </p:txBody>
      </p:sp>
      <p:sp>
        <p:nvSpPr>
          <p:cNvPr id="305" name="Google Shape;305;p17"/>
          <p:cNvSpPr txBox="1"/>
          <p:nvPr/>
        </p:nvSpPr>
        <p:spPr>
          <a:xfrm>
            <a:off x="1752600" y="5867400"/>
            <a:ext cx="2514600" cy="366713"/>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1800" u="none" cap="none" strike="noStrike">
                <a:solidFill>
                  <a:schemeClr val="dk1"/>
                </a:solidFill>
                <a:latin typeface="Arial"/>
                <a:ea typeface="Arial"/>
                <a:cs typeface="Arial"/>
                <a:sym typeface="Arial"/>
              </a:rPr>
              <a:t>Cash</a:t>
            </a:r>
            <a:endParaRPr/>
          </a:p>
        </p:txBody>
      </p:sp>
      <p:sp>
        <p:nvSpPr>
          <p:cNvPr id="306" name="Google Shape;306;p17"/>
          <p:cNvSpPr txBox="1"/>
          <p:nvPr/>
        </p:nvSpPr>
        <p:spPr>
          <a:xfrm>
            <a:off x="5943600" y="5500688"/>
            <a:ext cx="1219200"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7,000</a:t>
            </a:r>
            <a:endParaRPr/>
          </a:p>
        </p:txBody>
      </p:sp>
      <p:sp>
        <p:nvSpPr>
          <p:cNvPr id="307" name="Google Shape;307;p17"/>
          <p:cNvSpPr txBox="1"/>
          <p:nvPr/>
        </p:nvSpPr>
        <p:spPr>
          <a:xfrm>
            <a:off x="7239000" y="5881688"/>
            <a:ext cx="1219200"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7,000</a:t>
            </a:r>
            <a:endParaRPr/>
          </a:p>
        </p:txBody>
      </p:sp>
      <p:sp>
        <p:nvSpPr>
          <p:cNvPr id="308" name="Google Shape;308;p17"/>
          <p:cNvSpPr/>
          <p:nvPr/>
        </p:nvSpPr>
        <p:spPr>
          <a:xfrm>
            <a:off x="7162800" y="2971800"/>
            <a:ext cx="15240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2-13</a:t>
            </a:r>
            <a:endParaRPr/>
          </a:p>
        </p:txBody>
      </p:sp>
      <p:sp>
        <p:nvSpPr>
          <p:cNvPr id="309" name="Google Shape;309;p17"/>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Steps in the Recording Process</a:t>
            </a:r>
            <a:endParaRPr/>
          </a:p>
        </p:txBody>
      </p:sp>
      <p:cxnSp>
        <p:nvCxnSpPr>
          <p:cNvPr id="310" name="Google Shape;310;p1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11" name="Google Shape;311;p1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6"/>
          <p:cNvSpPr txBox="1"/>
          <p:nvPr/>
        </p:nvSpPr>
        <p:spPr>
          <a:xfrm>
            <a:off x="533400" y="1905000"/>
            <a:ext cx="8153400" cy="3881832"/>
          </a:xfrm>
          <a:prstGeom prst="rect">
            <a:avLst/>
          </a:prstGeom>
          <a:noFill/>
          <a:ln>
            <a:noFill/>
          </a:ln>
        </p:spPr>
        <p:txBody>
          <a:bodyPr anchorCtr="0" anchor="t" bIns="45700" lIns="91425" spcFirstLastPara="1" rIns="91425" wrap="square" tIns="45700">
            <a:spAutoFit/>
          </a:bodyPr>
          <a:lstStyle/>
          <a:p>
            <a:pPr indent="-457200" lvl="0" marL="693738" marR="0" rtl="0" algn="l">
              <a:lnSpc>
                <a:spcPct val="125000"/>
              </a:lnSpc>
              <a:spcBef>
                <a:spcPts val="0"/>
              </a:spcBef>
              <a:spcAft>
                <a:spcPts val="0"/>
              </a:spcAft>
              <a:buClr>
                <a:srgbClr val="800000"/>
              </a:buClr>
              <a:buSzPts val="1840"/>
              <a:buFont typeface="Noto Sans Symbols"/>
              <a:buChar char="◆"/>
            </a:pPr>
            <a:r>
              <a:rPr lang="en-US" sz="2300">
                <a:solidFill>
                  <a:schemeClr val="dk1"/>
                </a:solidFill>
                <a:latin typeface="Arial"/>
                <a:ea typeface="Arial"/>
                <a:cs typeface="Arial"/>
                <a:sym typeface="Arial"/>
              </a:rPr>
              <a:t>Book of original entry.</a:t>
            </a:r>
            <a:endParaRPr/>
          </a:p>
          <a:p>
            <a:pPr indent="-457200" lvl="0" marL="693738" marR="0" rtl="0" algn="l">
              <a:lnSpc>
                <a:spcPct val="125000"/>
              </a:lnSpc>
              <a:spcBef>
                <a:spcPts val="1200"/>
              </a:spcBef>
              <a:spcAft>
                <a:spcPts val="0"/>
              </a:spcAft>
              <a:buClr>
                <a:srgbClr val="800000"/>
              </a:buClr>
              <a:buSzPts val="1840"/>
              <a:buFont typeface="Noto Sans Symbols"/>
              <a:buChar char="◆"/>
            </a:pPr>
            <a:r>
              <a:rPr lang="en-US" sz="2300">
                <a:solidFill>
                  <a:schemeClr val="dk1"/>
                </a:solidFill>
                <a:latin typeface="Arial"/>
                <a:ea typeface="Arial"/>
                <a:cs typeface="Arial"/>
                <a:sym typeface="Arial"/>
              </a:rPr>
              <a:t>Transactions recorded in chronological order.</a:t>
            </a:r>
            <a:endParaRPr/>
          </a:p>
          <a:p>
            <a:pPr indent="-457200" lvl="0" marL="693738" marR="0" rtl="0" algn="l">
              <a:lnSpc>
                <a:spcPct val="125000"/>
              </a:lnSpc>
              <a:spcBef>
                <a:spcPts val="1200"/>
              </a:spcBef>
              <a:spcAft>
                <a:spcPts val="0"/>
              </a:spcAft>
              <a:buClr>
                <a:srgbClr val="800000"/>
              </a:buClr>
              <a:buSzPts val="1840"/>
              <a:buFont typeface="Noto Sans Symbols"/>
              <a:buChar char="◆"/>
            </a:pPr>
            <a:r>
              <a:rPr lang="en-US" sz="2300">
                <a:solidFill>
                  <a:schemeClr val="dk1"/>
                </a:solidFill>
                <a:latin typeface="Arial"/>
                <a:ea typeface="Arial"/>
                <a:cs typeface="Arial"/>
                <a:sym typeface="Arial"/>
              </a:rPr>
              <a:t>Contributions to the recording process:</a:t>
            </a:r>
            <a:endParaRPr/>
          </a:p>
          <a:p>
            <a:pPr indent="-457200" lvl="1" marL="1371600" marR="0" rtl="0" algn="l">
              <a:lnSpc>
                <a:spcPct val="125000"/>
              </a:lnSpc>
              <a:spcBef>
                <a:spcPts val="12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Discloses the </a:t>
            </a:r>
            <a:r>
              <a:rPr b="1" i="0" lang="en-US" sz="2200" u="none" cap="none" strike="noStrike">
                <a:solidFill>
                  <a:schemeClr val="dk1"/>
                </a:solidFill>
                <a:latin typeface="Arial"/>
                <a:ea typeface="Arial"/>
                <a:cs typeface="Arial"/>
                <a:sym typeface="Arial"/>
              </a:rPr>
              <a:t>complete effects of a transaction</a:t>
            </a:r>
            <a:r>
              <a:rPr b="0" i="0" lang="en-US" sz="2200" u="none" cap="none" strike="noStrike">
                <a:solidFill>
                  <a:schemeClr val="dk1"/>
                </a:solidFill>
                <a:latin typeface="Arial"/>
                <a:ea typeface="Arial"/>
                <a:cs typeface="Arial"/>
                <a:sym typeface="Arial"/>
              </a:rPr>
              <a:t>.</a:t>
            </a:r>
            <a:endParaRPr/>
          </a:p>
          <a:p>
            <a:pPr indent="-457200" lvl="1" marL="1371600" marR="0" rtl="0" algn="l">
              <a:lnSpc>
                <a:spcPct val="125000"/>
              </a:lnSpc>
              <a:spcBef>
                <a:spcPts val="12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Provides a </a:t>
            </a:r>
            <a:r>
              <a:rPr b="1" i="0" lang="en-US" sz="2200" u="none" cap="none" strike="noStrike">
                <a:solidFill>
                  <a:schemeClr val="dk1"/>
                </a:solidFill>
                <a:latin typeface="Arial"/>
                <a:ea typeface="Arial"/>
                <a:cs typeface="Arial"/>
                <a:sym typeface="Arial"/>
              </a:rPr>
              <a:t>chronological record</a:t>
            </a:r>
            <a:r>
              <a:rPr b="0" i="0" lang="en-US" sz="2200" u="none" cap="none" strike="noStrike">
                <a:solidFill>
                  <a:schemeClr val="dk1"/>
                </a:solidFill>
                <a:latin typeface="Arial"/>
                <a:ea typeface="Arial"/>
                <a:cs typeface="Arial"/>
                <a:sym typeface="Arial"/>
              </a:rPr>
              <a:t> of transactions.</a:t>
            </a:r>
            <a:endParaRPr/>
          </a:p>
          <a:p>
            <a:pPr indent="-457200" lvl="1" marL="1371600" marR="0" rtl="0" algn="l">
              <a:lnSpc>
                <a:spcPct val="125000"/>
              </a:lnSpc>
              <a:spcBef>
                <a:spcPts val="12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Helps to</a:t>
            </a:r>
            <a:r>
              <a:rPr b="1" i="0" lang="en-US" sz="2200" u="none" cap="none" strike="noStrike">
                <a:solidFill>
                  <a:schemeClr val="dk1"/>
                </a:solidFill>
                <a:latin typeface="Arial"/>
                <a:ea typeface="Arial"/>
                <a:cs typeface="Arial"/>
                <a:sym typeface="Arial"/>
              </a:rPr>
              <a:t> prevent or locate errors</a:t>
            </a:r>
            <a:r>
              <a:rPr b="0" i="0" lang="en-US" sz="2200" u="none" cap="none" strike="noStrike">
                <a:solidFill>
                  <a:schemeClr val="dk1"/>
                </a:solidFill>
                <a:latin typeface="Arial"/>
                <a:ea typeface="Arial"/>
                <a:cs typeface="Arial"/>
                <a:sym typeface="Arial"/>
              </a:rPr>
              <a:t> because the debit and credit amounts can be easily compared.</a:t>
            </a:r>
            <a:endParaRPr/>
          </a:p>
        </p:txBody>
      </p:sp>
      <p:sp>
        <p:nvSpPr>
          <p:cNvPr id="317" name="Google Shape;317;p16"/>
          <p:cNvSpPr/>
          <p:nvPr/>
        </p:nvSpPr>
        <p:spPr>
          <a:xfrm>
            <a:off x="533400" y="1295400"/>
            <a:ext cx="80010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The Journal</a:t>
            </a:r>
            <a:endParaRPr/>
          </a:p>
        </p:txBody>
      </p:sp>
      <p:sp>
        <p:nvSpPr>
          <p:cNvPr id="318" name="Google Shape;318;p16"/>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Steps in the Recording Process</a:t>
            </a:r>
            <a:endParaRPr/>
          </a:p>
        </p:txBody>
      </p:sp>
      <p:cxnSp>
        <p:nvCxnSpPr>
          <p:cNvPr id="319" name="Google Shape;319;p1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20" name="Google Shape;320;p1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graphicFrame>
        <p:nvGraphicFramePr>
          <p:cNvPr id="325" name="Google Shape;325;p18"/>
          <p:cNvGraphicFramePr/>
          <p:nvPr/>
        </p:nvGraphicFramePr>
        <p:xfrm>
          <a:off x="609600" y="3286125"/>
          <a:ext cx="7962900" cy="2590800"/>
        </p:xfrm>
        <a:graphic>
          <a:graphicData uri="http://schemas.openxmlformats.org/presentationml/2006/ole">
            <mc:AlternateContent>
              <mc:Choice Requires="v">
                <p:oleObj r:id="rId4" imgH="2590800" imgW="7962900" progId="Excel.Sheet.8" spid="_x0000_s1">
                  <p:embed/>
                </p:oleObj>
              </mc:Choice>
              <mc:Fallback>
                <p:oleObj r:id="rId5" imgH="2590800" imgW="7962900" progId="Excel.Sheet.8">
                  <p:embed/>
                  <p:pic>
                    <p:nvPicPr>
                      <p:cNvPr id="325" name="Google Shape;325;p18"/>
                      <p:cNvPicPr preferRelativeResize="0"/>
                      <p:nvPr/>
                    </p:nvPicPr>
                    <p:blipFill rotWithShape="1">
                      <a:blip r:embed="rId6">
                        <a:alphaModFix/>
                      </a:blip>
                      <a:srcRect b="0" l="0" r="0" t="0"/>
                      <a:stretch/>
                    </p:blipFill>
                    <p:spPr>
                      <a:xfrm>
                        <a:off x="609600" y="3286125"/>
                        <a:ext cx="7962900" cy="2590800"/>
                      </a:xfrm>
                      <a:prstGeom prst="rect">
                        <a:avLst/>
                      </a:prstGeom>
                      <a:solidFill>
                        <a:srgbClr val="F8EB8E"/>
                      </a:solidFill>
                      <a:ln>
                        <a:noFill/>
                      </a:ln>
                    </p:spPr>
                  </p:pic>
                </p:oleObj>
              </mc:Fallback>
            </mc:AlternateContent>
          </a:graphicData>
        </a:graphic>
      </p:graphicFrame>
      <p:sp>
        <p:nvSpPr>
          <p:cNvPr id="326" name="Google Shape;326;p18"/>
          <p:cNvSpPr txBox="1"/>
          <p:nvPr/>
        </p:nvSpPr>
        <p:spPr>
          <a:xfrm>
            <a:off x="533400" y="1295400"/>
            <a:ext cx="82296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0000BF"/>
                </a:solidFill>
                <a:latin typeface="Arial"/>
                <a:ea typeface="Arial"/>
                <a:cs typeface="Arial"/>
                <a:sym typeface="Arial"/>
              </a:rPr>
              <a:t>SIMPLE AND COMPOUND ENTRIES</a:t>
            </a:r>
            <a:endParaRPr b="1" sz="2700">
              <a:solidFill>
                <a:srgbClr val="0000BF"/>
              </a:solidFill>
              <a:latin typeface="Arial"/>
              <a:ea typeface="Arial"/>
              <a:cs typeface="Arial"/>
              <a:sym typeface="Arial"/>
            </a:endParaRPr>
          </a:p>
        </p:txBody>
      </p:sp>
      <p:sp>
        <p:nvSpPr>
          <p:cNvPr id="327" name="Google Shape;327;p18"/>
          <p:cNvSpPr txBox="1"/>
          <p:nvPr/>
        </p:nvSpPr>
        <p:spPr>
          <a:xfrm>
            <a:off x="533400" y="1905000"/>
            <a:ext cx="8229600" cy="114935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1" lang="en-US" sz="2100">
                <a:solidFill>
                  <a:schemeClr val="dk1"/>
                </a:solidFill>
                <a:latin typeface="Arial"/>
                <a:ea typeface="Arial"/>
                <a:cs typeface="Arial"/>
                <a:sym typeface="Arial"/>
              </a:rPr>
              <a:t>Illustration:</a:t>
            </a:r>
            <a:r>
              <a:rPr lang="en-US" sz="2100">
                <a:solidFill>
                  <a:schemeClr val="dk1"/>
                </a:solidFill>
                <a:latin typeface="Arial"/>
                <a:ea typeface="Arial"/>
                <a:cs typeface="Arial"/>
                <a:sym typeface="Arial"/>
              </a:rPr>
              <a:t>  On July 1, Butler Company purchases a delivery truck costing $14,000.  It pays $8,000 cash now and agrees to pay the remaining $6,000 on account.</a:t>
            </a:r>
            <a:endParaRPr/>
          </a:p>
        </p:txBody>
      </p:sp>
      <p:sp>
        <p:nvSpPr>
          <p:cNvPr id="328" name="Google Shape;328;p18"/>
          <p:cNvSpPr txBox="1"/>
          <p:nvPr/>
        </p:nvSpPr>
        <p:spPr>
          <a:xfrm>
            <a:off x="1752600" y="4357688"/>
            <a:ext cx="25146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Equipment</a:t>
            </a:r>
            <a:endParaRPr/>
          </a:p>
        </p:txBody>
      </p:sp>
      <p:sp>
        <p:nvSpPr>
          <p:cNvPr id="329" name="Google Shape;329;p18"/>
          <p:cNvSpPr txBox="1"/>
          <p:nvPr/>
        </p:nvSpPr>
        <p:spPr>
          <a:xfrm>
            <a:off x="1752600" y="4738688"/>
            <a:ext cx="2514600" cy="366712"/>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1800" u="none" cap="none" strike="noStrike">
                <a:solidFill>
                  <a:schemeClr val="dk1"/>
                </a:solidFill>
                <a:latin typeface="Arial"/>
                <a:ea typeface="Arial"/>
                <a:cs typeface="Arial"/>
                <a:sym typeface="Arial"/>
              </a:rPr>
              <a:t>Cash</a:t>
            </a:r>
            <a:endParaRPr/>
          </a:p>
        </p:txBody>
      </p:sp>
      <p:sp>
        <p:nvSpPr>
          <p:cNvPr id="330" name="Google Shape;330;p18"/>
          <p:cNvSpPr txBox="1"/>
          <p:nvPr/>
        </p:nvSpPr>
        <p:spPr>
          <a:xfrm>
            <a:off x="685800" y="4343400"/>
            <a:ext cx="990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July 1</a:t>
            </a:r>
            <a:endParaRPr/>
          </a:p>
        </p:txBody>
      </p:sp>
      <p:sp>
        <p:nvSpPr>
          <p:cNvPr id="331" name="Google Shape;331;p18"/>
          <p:cNvSpPr txBox="1"/>
          <p:nvPr/>
        </p:nvSpPr>
        <p:spPr>
          <a:xfrm>
            <a:off x="5943600" y="4357688"/>
            <a:ext cx="1219200"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14,000</a:t>
            </a:r>
            <a:endParaRPr/>
          </a:p>
        </p:txBody>
      </p:sp>
      <p:sp>
        <p:nvSpPr>
          <p:cNvPr id="332" name="Google Shape;332;p18"/>
          <p:cNvSpPr txBox="1"/>
          <p:nvPr/>
        </p:nvSpPr>
        <p:spPr>
          <a:xfrm>
            <a:off x="7239000" y="4738688"/>
            <a:ext cx="1219200"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8,000</a:t>
            </a:r>
            <a:endParaRPr/>
          </a:p>
        </p:txBody>
      </p:sp>
      <p:sp>
        <p:nvSpPr>
          <p:cNvPr id="333" name="Google Shape;333;p18"/>
          <p:cNvSpPr txBox="1"/>
          <p:nvPr/>
        </p:nvSpPr>
        <p:spPr>
          <a:xfrm>
            <a:off x="7239000" y="5105400"/>
            <a:ext cx="1219200" cy="3667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6,000</a:t>
            </a:r>
            <a:endParaRPr/>
          </a:p>
        </p:txBody>
      </p:sp>
      <p:sp>
        <p:nvSpPr>
          <p:cNvPr id="334" name="Google Shape;334;p18"/>
          <p:cNvSpPr txBox="1"/>
          <p:nvPr/>
        </p:nvSpPr>
        <p:spPr>
          <a:xfrm>
            <a:off x="1752600" y="5119688"/>
            <a:ext cx="2514600" cy="366712"/>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1800" u="none" cap="none" strike="noStrike">
                <a:solidFill>
                  <a:schemeClr val="dk1"/>
                </a:solidFill>
                <a:latin typeface="Arial"/>
                <a:ea typeface="Arial"/>
                <a:cs typeface="Arial"/>
                <a:sym typeface="Arial"/>
              </a:rPr>
              <a:t>Accounts payable</a:t>
            </a:r>
            <a:endParaRPr/>
          </a:p>
        </p:txBody>
      </p:sp>
      <p:sp>
        <p:nvSpPr>
          <p:cNvPr id="335" name="Google Shape;335;p18"/>
          <p:cNvSpPr/>
          <p:nvPr/>
        </p:nvSpPr>
        <p:spPr>
          <a:xfrm>
            <a:off x="6705600" y="2788920"/>
            <a:ext cx="1981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2-14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Compound journal entry</a:t>
            </a:r>
            <a:endParaRPr sz="1200">
              <a:solidFill>
                <a:schemeClr val="dk1"/>
              </a:solidFill>
              <a:latin typeface="Arial"/>
              <a:ea typeface="Arial"/>
              <a:cs typeface="Arial"/>
              <a:sym typeface="Arial"/>
            </a:endParaRPr>
          </a:p>
        </p:txBody>
      </p:sp>
      <p:sp>
        <p:nvSpPr>
          <p:cNvPr id="336" name="Google Shape;336;p18"/>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Steps in the Recording Process</a:t>
            </a:r>
            <a:endParaRPr/>
          </a:p>
        </p:txBody>
      </p:sp>
      <p:cxnSp>
        <p:nvCxnSpPr>
          <p:cNvPr id="337" name="Google Shape;337;p1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38" name="Google Shape;338;p18"/>
          <p:cNvSpPr txBox="1"/>
          <p:nvPr/>
        </p:nvSpPr>
        <p:spPr>
          <a:xfrm>
            <a:off x="2819400" y="3379113"/>
            <a:ext cx="3581400" cy="430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lt1"/>
                </a:solidFill>
                <a:latin typeface="Arial"/>
                <a:ea typeface="Arial"/>
                <a:cs typeface="Arial"/>
                <a:sym typeface="Arial"/>
              </a:rPr>
              <a:t>GENERAL JOURNAL</a:t>
            </a:r>
            <a:endParaRPr b="1" sz="2200">
              <a:solidFill>
                <a:schemeClr val="lt1"/>
              </a:solidFill>
              <a:latin typeface="Arial"/>
              <a:ea typeface="Arial"/>
              <a:cs typeface="Arial"/>
              <a:sym typeface="Arial"/>
            </a:endParaRPr>
          </a:p>
        </p:txBody>
      </p:sp>
      <p:sp>
        <p:nvSpPr>
          <p:cNvPr id="339" name="Google Shape;339;p1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19"/>
          <p:cNvPicPr preferRelativeResize="0"/>
          <p:nvPr/>
        </p:nvPicPr>
        <p:blipFill rotWithShape="1">
          <a:blip r:embed="rId3">
            <a:alphaModFix/>
          </a:blip>
          <a:srcRect b="0" l="0" r="0" t="0"/>
          <a:stretch/>
        </p:blipFill>
        <p:spPr>
          <a:xfrm>
            <a:off x="228600" y="737307"/>
            <a:ext cx="8686800" cy="4749093"/>
          </a:xfrm>
          <a:prstGeom prst="rect">
            <a:avLst/>
          </a:prstGeom>
          <a:noFill/>
          <a:ln>
            <a:noFill/>
          </a:ln>
        </p:spPr>
      </p:pic>
      <p:sp>
        <p:nvSpPr>
          <p:cNvPr id="345" name="Google Shape;345;p1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20"/>
          <p:cNvPicPr preferRelativeResize="0"/>
          <p:nvPr/>
        </p:nvPicPr>
        <p:blipFill rotWithShape="1">
          <a:blip r:embed="rId3">
            <a:alphaModFix/>
          </a:blip>
          <a:srcRect b="0" l="0" r="0" t="0"/>
          <a:stretch/>
        </p:blipFill>
        <p:spPr>
          <a:xfrm>
            <a:off x="290286" y="357188"/>
            <a:ext cx="8636000" cy="823465"/>
          </a:xfrm>
          <a:prstGeom prst="rect">
            <a:avLst/>
          </a:prstGeom>
          <a:noFill/>
          <a:ln>
            <a:noFill/>
          </a:ln>
        </p:spPr>
      </p:pic>
      <p:pic>
        <p:nvPicPr>
          <p:cNvPr id="351" name="Google Shape;351;p20"/>
          <p:cNvPicPr preferRelativeResize="0"/>
          <p:nvPr/>
        </p:nvPicPr>
        <p:blipFill rotWithShape="1">
          <a:blip r:embed="rId4">
            <a:alphaModFix/>
          </a:blip>
          <a:srcRect b="0" l="0" r="0" t="0"/>
          <a:stretch/>
        </p:blipFill>
        <p:spPr>
          <a:xfrm rot="10800000">
            <a:off x="457200" y="501930"/>
            <a:ext cx="1600200" cy="564870"/>
          </a:xfrm>
          <a:prstGeom prst="rect">
            <a:avLst/>
          </a:prstGeom>
          <a:noFill/>
          <a:ln>
            <a:noFill/>
          </a:ln>
        </p:spPr>
      </p:pic>
      <p:sp>
        <p:nvSpPr>
          <p:cNvPr id="352" name="Google Shape;352;p20"/>
          <p:cNvSpPr txBox="1"/>
          <p:nvPr/>
        </p:nvSpPr>
        <p:spPr>
          <a:xfrm>
            <a:off x="1524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353" name="Google Shape;353;p20"/>
          <p:cNvSpPr/>
          <p:nvPr/>
        </p:nvSpPr>
        <p:spPr>
          <a:xfrm>
            <a:off x="628649" y="1371600"/>
            <a:ext cx="8058151" cy="447500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2200">
                <a:solidFill>
                  <a:schemeClr val="dk1"/>
                </a:solidFill>
                <a:latin typeface="Arial"/>
                <a:ea typeface="Arial"/>
                <a:cs typeface="Arial"/>
                <a:sym typeface="Arial"/>
              </a:rPr>
              <a:t>Kate Browne engaged in the following activities in establishing her salon, Hair It Is:</a:t>
            </a:r>
            <a:endParaRPr/>
          </a:p>
          <a:p>
            <a:pPr indent="-457200" lvl="0" marL="457200" marR="0" rtl="0" algn="l">
              <a:lnSpc>
                <a:spcPct val="125000"/>
              </a:lnSpc>
              <a:spcBef>
                <a:spcPts val="1200"/>
              </a:spcBef>
              <a:spcAft>
                <a:spcPts val="0"/>
              </a:spcAft>
              <a:buClr>
                <a:schemeClr val="dk1"/>
              </a:buClr>
              <a:buSzPts val="2200"/>
              <a:buFont typeface="Comic Sans MS"/>
              <a:buAutoNum type="arabicPeriod"/>
            </a:pPr>
            <a:r>
              <a:rPr lang="en-US" sz="2200">
                <a:solidFill>
                  <a:schemeClr val="dk1"/>
                </a:solidFill>
                <a:latin typeface="Arial"/>
                <a:ea typeface="Arial"/>
                <a:cs typeface="Arial"/>
                <a:sym typeface="Arial"/>
              </a:rPr>
              <a:t>Opened a bank account in the name of Hair It Is and deposited $20,000 of her own money in this account as her initial investment.</a:t>
            </a:r>
            <a:endParaRPr/>
          </a:p>
          <a:p>
            <a:pPr indent="-457200" lvl="0" marL="457200" marR="0" rtl="0" algn="l">
              <a:lnSpc>
                <a:spcPct val="125000"/>
              </a:lnSpc>
              <a:spcBef>
                <a:spcPts val="1200"/>
              </a:spcBef>
              <a:spcAft>
                <a:spcPts val="0"/>
              </a:spcAft>
              <a:buClr>
                <a:schemeClr val="dk1"/>
              </a:buClr>
              <a:buSzPts val="2200"/>
              <a:buFont typeface="Comic Sans MS"/>
              <a:buAutoNum type="arabicPeriod"/>
            </a:pPr>
            <a:r>
              <a:rPr lang="en-US" sz="2200">
                <a:solidFill>
                  <a:schemeClr val="dk1"/>
                </a:solidFill>
                <a:latin typeface="Arial"/>
                <a:ea typeface="Arial"/>
                <a:cs typeface="Arial"/>
                <a:sym typeface="Arial"/>
              </a:rPr>
              <a:t>Purchased equipment on account (to be paid in 30 days) for a total cost of $4,800.</a:t>
            </a:r>
            <a:endParaRPr/>
          </a:p>
          <a:p>
            <a:pPr indent="-457200" lvl="0" marL="457200" marR="0" rtl="0" algn="l">
              <a:lnSpc>
                <a:spcPct val="125000"/>
              </a:lnSpc>
              <a:spcBef>
                <a:spcPts val="1200"/>
              </a:spcBef>
              <a:spcAft>
                <a:spcPts val="0"/>
              </a:spcAft>
              <a:buClr>
                <a:schemeClr val="dk1"/>
              </a:buClr>
              <a:buSzPts val="2200"/>
              <a:buFont typeface="Comic Sans MS"/>
              <a:buAutoNum type="arabicPeriod"/>
            </a:pPr>
            <a:r>
              <a:rPr lang="en-US" sz="2200">
                <a:solidFill>
                  <a:schemeClr val="dk1"/>
                </a:solidFill>
                <a:latin typeface="Arial"/>
                <a:ea typeface="Arial"/>
                <a:cs typeface="Arial"/>
                <a:sym typeface="Arial"/>
              </a:rPr>
              <a:t>Interviewed three persons for the position of hair stylist.</a:t>
            </a:r>
            <a:endParaRPr/>
          </a:p>
          <a:p>
            <a:pPr indent="0" lvl="0" marL="0" marR="0" rtl="0" algn="l">
              <a:lnSpc>
                <a:spcPct val="125000"/>
              </a:lnSpc>
              <a:spcBef>
                <a:spcPts val="1200"/>
              </a:spcBef>
              <a:spcAft>
                <a:spcPts val="0"/>
              </a:spcAft>
              <a:buNone/>
            </a:pPr>
            <a:r>
              <a:rPr b="1" lang="en-US" sz="2200">
                <a:solidFill>
                  <a:schemeClr val="dk1"/>
                </a:solidFill>
                <a:latin typeface="Arial"/>
                <a:ea typeface="Arial"/>
                <a:cs typeface="Arial"/>
                <a:sym typeface="Arial"/>
              </a:rPr>
              <a:t>Prepare the entries to record the transactions.</a:t>
            </a:r>
            <a:endParaRPr b="1" sz="2200">
              <a:solidFill>
                <a:schemeClr val="dk1"/>
              </a:solidFill>
              <a:latin typeface="Arial"/>
              <a:ea typeface="Arial"/>
              <a:cs typeface="Arial"/>
              <a:sym typeface="Arial"/>
            </a:endParaRPr>
          </a:p>
        </p:txBody>
      </p:sp>
      <p:pic>
        <p:nvPicPr>
          <p:cNvPr id="354" name="Google Shape;354;p20"/>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355" name="Google Shape;355;p20"/>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356" name="Google Shape;356;p20"/>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ctr">
              <a:spcBef>
                <a:spcPts val="0"/>
              </a:spcBef>
              <a:spcAft>
                <a:spcPts val="0"/>
              </a:spcAft>
              <a:buNone/>
            </a:pPr>
            <a:r>
              <a:rPr b="1" lang="en-US" sz="3600">
                <a:solidFill>
                  <a:srgbClr val="FF9900"/>
                </a:solidFill>
                <a:latin typeface="Arial"/>
                <a:ea typeface="Arial"/>
                <a:cs typeface="Arial"/>
                <a:sym typeface="Arial"/>
              </a:rPr>
              <a:t>2</a:t>
            </a:r>
            <a:endParaRPr/>
          </a:p>
        </p:txBody>
      </p:sp>
      <p:sp>
        <p:nvSpPr>
          <p:cNvPr id="357" name="Google Shape;357;p20"/>
          <p:cNvSpPr txBox="1"/>
          <p:nvPr/>
        </p:nvSpPr>
        <p:spPr>
          <a:xfrm>
            <a:off x="3338286" y="508909"/>
            <a:ext cx="5515429" cy="518226"/>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Recording Business Activities</a:t>
            </a:r>
            <a:endParaRPr b="1" sz="2800">
              <a:solidFill>
                <a:schemeClr val="lt1"/>
              </a:solidFill>
              <a:latin typeface="Arial"/>
              <a:ea typeface="Arial"/>
              <a:cs typeface="Arial"/>
              <a:sym typeface="Arial"/>
            </a:endParaRPr>
          </a:p>
        </p:txBody>
      </p:sp>
      <p:sp>
        <p:nvSpPr>
          <p:cNvPr id="358" name="Google Shape;358;p2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21"/>
          <p:cNvPicPr preferRelativeResize="0"/>
          <p:nvPr/>
        </p:nvPicPr>
        <p:blipFill rotWithShape="1">
          <a:blip r:embed="rId3">
            <a:alphaModFix/>
          </a:blip>
          <a:srcRect b="0" l="0" r="0" t="0"/>
          <a:stretch/>
        </p:blipFill>
        <p:spPr>
          <a:xfrm>
            <a:off x="290286" y="357188"/>
            <a:ext cx="8636000" cy="823465"/>
          </a:xfrm>
          <a:prstGeom prst="rect">
            <a:avLst/>
          </a:prstGeom>
          <a:noFill/>
          <a:ln>
            <a:noFill/>
          </a:ln>
        </p:spPr>
      </p:pic>
      <p:pic>
        <p:nvPicPr>
          <p:cNvPr id="364" name="Google Shape;364;p21"/>
          <p:cNvPicPr preferRelativeResize="0"/>
          <p:nvPr/>
        </p:nvPicPr>
        <p:blipFill rotWithShape="1">
          <a:blip r:embed="rId4">
            <a:alphaModFix/>
          </a:blip>
          <a:srcRect b="0" l="0" r="0" t="0"/>
          <a:stretch/>
        </p:blipFill>
        <p:spPr>
          <a:xfrm rot="10800000">
            <a:off x="457200" y="501930"/>
            <a:ext cx="1600200" cy="564870"/>
          </a:xfrm>
          <a:prstGeom prst="rect">
            <a:avLst/>
          </a:prstGeom>
          <a:noFill/>
          <a:ln>
            <a:noFill/>
          </a:ln>
        </p:spPr>
      </p:pic>
      <p:sp>
        <p:nvSpPr>
          <p:cNvPr id="365" name="Google Shape;365;p21"/>
          <p:cNvSpPr txBox="1"/>
          <p:nvPr/>
        </p:nvSpPr>
        <p:spPr>
          <a:xfrm>
            <a:off x="1524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pic>
        <p:nvPicPr>
          <p:cNvPr id="366" name="Google Shape;366;p21"/>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367" name="Google Shape;367;p21"/>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368" name="Google Shape;368;p21"/>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ctr">
              <a:spcBef>
                <a:spcPts val="0"/>
              </a:spcBef>
              <a:spcAft>
                <a:spcPts val="0"/>
              </a:spcAft>
              <a:buNone/>
            </a:pPr>
            <a:r>
              <a:rPr b="1" lang="en-US" sz="3600">
                <a:solidFill>
                  <a:srgbClr val="FF9900"/>
                </a:solidFill>
                <a:latin typeface="Arial"/>
                <a:ea typeface="Arial"/>
                <a:cs typeface="Arial"/>
                <a:sym typeface="Arial"/>
              </a:rPr>
              <a:t>2</a:t>
            </a:r>
            <a:endParaRPr/>
          </a:p>
        </p:txBody>
      </p:sp>
      <p:sp>
        <p:nvSpPr>
          <p:cNvPr id="369" name="Google Shape;369;p21"/>
          <p:cNvSpPr txBox="1"/>
          <p:nvPr/>
        </p:nvSpPr>
        <p:spPr>
          <a:xfrm>
            <a:off x="3338286" y="508909"/>
            <a:ext cx="5515429" cy="518226"/>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Recording Business Activities</a:t>
            </a:r>
            <a:endParaRPr b="1" sz="2800">
              <a:solidFill>
                <a:schemeClr val="lt1"/>
              </a:solidFill>
              <a:latin typeface="Arial"/>
              <a:ea typeface="Arial"/>
              <a:cs typeface="Arial"/>
              <a:sym typeface="Arial"/>
            </a:endParaRPr>
          </a:p>
        </p:txBody>
      </p:sp>
      <p:sp>
        <p:nvSpPr>
          <p:cNvPr id="370" name="Google Shape;370;p21"/>
          <p:cNvSpPr/>
          <p:nvPr/>
        </p:nvSpPr>
        <p:spPr>
          <a:xfrm>
            <a:off x="628649" y="1371600"/>
            <a:ext cx="8058151" cy="44396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Prepare the entries to record the transactions.</a:t>
            </a:r>
            <a:endParaRPr b="1" sz="2200">
              <a:solidFill>
                <a:schemeClr val="dk1"/>
              </a:solidFill>
              <a:latin typeface="Arial"/>
              <a:ea typeface="Arial"/>
              <a:cs typeface="Arial"/>
              <a:sym typeface="Arial"/>
            </a:endParaRPr>
          </a:p>
          <a:p>
            <a:pPr indent="-457200" lvl="0" marL="457200" marR="0" rtl="0" algn="l">
              <a:lnSpc>
                <a:spcPct val="125000"/>
              </a:lnSpc>
              <a:spcBef>
                <a:spcPts val="1200"/>
              </a:spcBef>
              <a:spcAft>
                <a:spcPts val="0"/>
              </a:spcAft>
              <a:buClr>
                <a:schemeClr val="dk1"/>
              </a:buClr>
              <a:buSzPts val="2200"/>
              <a:buFont typeface="Comic Sans MS"/>
              <a:buAutoNum type="arabicPeriod"/>
            </a:pPr>
            <a:r>
              <a:rPr lang="en-US" sz="2200">
                <a:solidFill>
                  <a:schemeClr val="dk1"/>
                </a:solidFill>
                <a:latin typeface="Arial"/>
                <a:ea typeface="Arial"/>
                <a:cs typeface="Arial"/>
                <a:sym typeface="Arial"/>
              </a:rPr>
              <a:t>Opened a bank account and deposited $20,000.</a:t>
            </a:r>
            <a:endParaRPr/>
          </a:p>
          <a:p>
            <a:pPr indent="-317500" lvl="0" marL="457200" marR="0" rtl="0" algn="l">
              <a:lnSpc>
                <a:spcPct val="125000"/>
              </a:lnSpc>
              <a:spcBef>
                <a:spcPts val="1200"/>
              </a:spcBef>
              <a:spcAft>
                <a:spcPts val="0"/>
              </a:spcAft>
              <a:buClr>
                <a:schemeClr val="dk1"/>
              </a:buClr>
              <a:buSzPts val="2200"/>
              <a:buFont typeface="Comic Sans MS"/>
              <a:buNone/>
            </a:pPr>
            <a:r>
              <a:t/>
            </a:r>
            <a:endParaRPr sz="2200">
              <a:solidFill>
                <a:schemeClr val="dk1"/>
              </a:solidFill>
              <a:latin typeface="Arial"/>
              <a:ea typeface="Arial"/>
              <a:cs typeface="Arial"/>
              <a:sym typeface="Arial"/>
            </a:endParaRPr>
          </a:p>
          <a:p>
            <a:pPr indent="-457200" lvl="0" marL="457200" marR="0" rtl="0" algn="l">
              <a:lnSpc>
                <a:spcPct val="125000"/>
              </a:lnSpc>
              <a:spcBef>
                <a:spcPts val="3600"/>
              </a:spcBef>
              <a:spcAft>
                <a:spcPts val="0"/>
              </a:spcAft>
              <a:buClr>
                <a:schemeClr val="dk1"/>
              </a:buClr>
              <a:buSzPts val="2200"/>
              <a:buFont typeface="Comic Sans MS"/>
              <a:buAutoNum type="arabicPeriod"/>
            </a:pPr>
            <a:r>
              <a:rPr lang="en-US" sz="2200">
                <a:solidFill>
                  <a:schemeClr val="dk1"/>
                </a:solidFill>
                <a:latin typeface="Arial"/>
                <a:ea typeface="Arial"/>
                <a:cs typeface="Arial"/>
                <a:sym typeface="Arial"/>
              </a:rPr>
              <a:t>Purchased equipment on account (to be paid in 30 days) for a total cost of $4,800.</a:t>
            </a:r>
            <a:endParaRPr/>
          </a:p>
          <a:p>
            <a:pPr indent="-317500" lvl="0" marL="457200" marR="0" rtl="0" algn="l">
              <a:lnSpc>
                <a:spcPct val="125000"/>
              </a:lnSpc>
              <a:spcBef>
                <a:spcPts val="1200"/>
              </a:spcBef>
              <a:spcAft>
                <a:spcPts val="0"/>
              </a:spcAft>
              <a:buClr>
                <a:schemeClr val="dk1"/>
              </a:buClr>
              <a:buSzPts val="2200"/>
              <a:buFont typeface="Comic Sans MS"/>
              <a:buNone/>
            </a:pPr>
            <a:r>
              <a:t/>
            </a:r>
            <a:endParaRPr sz="2200">
              <a:solidFill>
                <a:schemeClr val="dk1"/>
              </a:solidFill>
              <a:latin typeface="Arial"/>
              <a:ea typeface="Arial"/>
              <a:cs typeface="Arial"/>
              <a:sym typeface="Arial"/>
            </a:endParaRPr>
          </a:p>
          <a:p>
            <a:pPr indent="-457200" lvl="0" marL="457200" marR="0" rtl="0" algn="l">
              <a:lnSpc>
                <a:spcPct val="125000"/>
              </a:lnSpc>
              <a:spcBef>
                <a:spcPts val="3600"/>
              </a:spcBef>
              <a:spcAft>
                <a:spcPts val="0"/>
              </a:spcAft>
              <a:buClr>
                <a:schemeClr val="dk1"/>
              </a:buClr>
              <a:buSzPts val="2200"/>
              <a:buFont typeface="Comic Sans MS"/>
              <a:buAutoNum type="arabicPeriod"/>
            </a:pPr>
            <a:r>
              <a:rPr lang="en-US" sz="2200">
                <a:solidFill>
                  <a:schemeClr val="dk1"/>
                </a:solidFill>
                <a:latin typeface="Arial"/>
                <a:ea typeface="Arial"/>
                <a:cs typeface="Arial"/>
                <a:sym typeface="Arial"/>
              </a:rPr>
              <a:t>Interviewed three persons for the position of hair stylist.</a:t>
            </a:r>
            <a:endParaRPr/>
          </a:p>
        </p:txBody>
      </p:sp>
      <p:sp>
        <p:nvSpPr>
          <p:cNvPr id="371" name="Google Shape;371;p21"/>
          <p:cNvSpPr/>
          <p:nvPr/>
        </p:nvSpPr>
        <p:spPr>
          <a:xfrm>
            <a:off x="1524000" y="2438400"/>
            <a:ext cx="6324600" cy="830997"/>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lang="en-US" sz="2100">
                <a:solidFill>
                  <a:schemeClr val="dk1"/>
                </a:solidFill>
                <a:latin typeface="Arial"/>
                <a:ea typeface="Arial"/>
                <a:cs typeface="Arial"/>
                <a:sym typeface="Arial"/>
              </a:rPr>
              <a:t>Cash 	20,000</a:t>
            </a:r>
            <a:endParaRPr sz="2100">
              <a:solidFill>
                <a:schemeClr val="dk1"/>
              </a:solidFill>
              <a:latin typeface="Arial"/>
              <a:ea typeface="Arial"/>
              <a:cs typeface="Arial"/>
              <a:sym typeface="Arial"/>
            </a:endParaRPr>
          </a:p>
          <a:p>
            <a:pPr indent="-457200" lvl="0" marL="457200" marR="0" rtl="0" algn="l">
              <a:lnSpc>
                <a:spcPct val="120000"/>
              </a:lnSpc>
              <a:spcBef>
                <a:spcPts val="0"/>
              </a:spcBef>
              <a:spcAft>
                <a:spcPts val="0"/>
              </a:spcAft>
              <a:buNone/>
            </a:pPr>
            <a:r>
              <a:rPr lang="en-US" sz="2100">
                <a:solidFill>
                  <a:schemeClr val="dk1"/>
                </a:solidFill>
                <a:latin typeface="Arial"/>
                <a:ea typeface="Arial"/>
                <a:cs typeface="Arial"/>
                <a:sym typeface="Arial"/>
              </a:rPr>
              <a:t>	Owner’s Capital 		20,000</a:t>
            </a:r>
            <a:endParaRPr sz="2100">
              <a:solidFill>
                <a:schemeClr val="dk1"/>
              </a:solidFill>
              <a:latin typeface="Arial"/>
              <a:ea typeface="Arial"/>
              <a:cs typeface="Arial"/>
              <a:sym typeface="Arial"/>
            </a:endParaRPr>
          </a:p>
        </p:txBody>
      </p:sp>
      <p:sp>
        <p:nvSpPr>
          <p:cNvPr id="372" name="Google Shape;372;p21"/>
          <p:cNvSpPr/>
          <p:nvPr/>
        </p:nvSpPr>
        <p:spPr>
          <a:xfrm>
            <a:off x="1524000" y="4343400"/>
            <a:ext cx="6324600" cy="830997"/>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lang="en-US" sz="2100">
                <a:solidFill>
                  <a:schemeClr val="dk1"/>
                </a:solidFill>
                <a:latin typeface="Arial"/>
                <a:ea typeface="Arial"/>
                <a:cs typeface="Arial"/>
                <a:sym typeface="Arial"/>
              </a:rPr>
              <a:t>Equipment 	4,800</a:t>
            </a:r>
            <a:endParaRPr sz="2100">
              <a:solidFill>
                <a:schemeClr val="dk1"/>
              </a:solidFill>
              <a:latin typeface="Arial"/>
              <a:ea typeface="Arial"/>
              <a:cs typeface="Arial"/>
              <a:sym typeface="Arial"/>
            </a:endParaRPr>
          </a:p>
          <a:p>
            <a:pPr indent="-457200" lvl="0" marL="457200" marR="0" rtl="0" algn="l">
              <a:lnSpc>
                <a:spcPct val="120000"/>
              </a:lnSpc>
              <a:spcBef>
                <a:spcPts val="0"/>
              </a:spcBef>
              <a:spcAft>
                <a:spcPts val="0"/>
              </a:spcAft>
              <a:buNone/>
            </a:pPr>
            <a:r>
              <a:rPr lang="en-US" sz="2100">
                <a:solidFill>
                  <a:schemeClr val="dk1"/>
                </a:solidFill>
                <a:latin typeface="Arial"/>
                <a:ea typeface="Arial"/>
                <a:cs typeface="Arial"/>
                <a:sym typeface="Arial"/>
              </a:rPr>
              <a:t>	Accounts Payable 		4,800</a:t>
            </a:r>
            <a:endParaRPr sz="2100">
              <a:solidFill>
                <a:schemeClr val="dk1"/>
              </a:solidFill>
              <a:latin typeface="Arial"/>
              <a:ea typeface="Arial"/>
              <a:cs typeface="Arial"/>
              <a:sym typeface="Arial"/>
            </a:endParaRPr>
          </a:p>
        </p:txBody>
      </p:sp>
      <p:sp>
        <p:nvSpPr>
          <p:cNvPr id="373" name="Google Shape;373;p21"/>
          <p:cNvSpPr/>
          <p:nvPr/>
        </p:nvSpPr>
        <p:spPr>
          <a:xfrm>
            <a:off x="1524000" y="5791200"/>
            <a:ext cx="1378857" cy="461665"/>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lang="en-US" sz="2100">
                <a:solidFill>
                  <a:schemeClr val="dk1"/>
                </a:solidFill>
                <a:latin typeface="Arial"/>
                <a:ea typeface="Arial"/>
                <a:cs typeface="Arial"/>
                <a:sym typeface="Arial"/>
              </a:rPr>
              <a:t>No entry</a:t>
            </a:r>
            <a:endParaRPr sz="2100">
              <a:solidFill>
                <a:schemeClr val="dk1"/>
              </a:solidFill>
              <a:latin typeface="Arial"/>
              <a:ea typeface="Arial"/>
              <a:cs typeface="Arial"/>
              <a:sym typeface="Arial"/>
            </a:endParaRPr>
          </a:p>
        </p:txBody>
      </p:sp>
      <p:sp>
        <p:nvSpPr>
          <p:cNvPr id="374" name="Google Shape;374;p2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Effect filter="fade" transition="in">
                                      <p:cBhvr>
                                        <p:cTn dur="500"/>
                                        <p:tgtEl>
                                          <p:spTgt spid="3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1" st="1"/>
                                            </p:txEl>
                                          </p:spTgt>
                                        </p:tgtEl>
                                        <p:attrNameLst>
                                          <p:attrName>style.visibility</p:attrName>
                                        </p:attrNameLst>
                                      </p:cBhvr>
                                      <p:to>
                                        <p:strVal val="visible"/>
                                      </p:to>
                                    </p:set>
                                    <p:animEffect filter="fade" transition="in">
                                      <p:cBhvr>
                                        <p:cTn dur="500"/>
                                        <p:tgtEl>
                                          <p:spTgt spid="3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0" st="0"/>
                                            </p:txEl>
                                          </p:spTgt>
                                        </p:tgtEl>
                                        <p:attrNameLst>
                                          <p:attrName>style.visibility</p:attrName>
                                        </p:attrNameLst>
                                      </p:cBhvr>
                                      <p:to>
                                        <p:strVal val="visible"/>
                                      </p:to>
                                    </p:set>
                                    <p:animEffect filter="fade" transition="in">
                                      <p:cBhvr>
                                        <p:cTn dur="500"/>
                                        <p:tgtEl>
                                          <p:spTgt spid="3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1" st="1"/>
                                            </p:txEl>
                                          </p:spTgt>
                                        </p:tgtEl>
                                        <p:attrNameLst>
                                          <p:attrName>style.visibility</p:attrName>
                                        </p:attrNameLst>
                                      </p:cBhvr>
                                      <p:to>
                                        <p:strVal val="visible"/>
                                      </p:to>
                                    </p:set>
                                    <p:animEffect filter="fade" transition="in">
                                      <p:cBhvr>
                                        <p:cTn dur="500"/>
                                        <p:tgtEl>
                                          <p:spTgt spid="3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2"/>
          <p:cNvSpPr txBox="1"/>
          <p:nvPr/>
        </p:nvSpPr>
        <p:spPr>
          <a:xfrm>
            <a:off x="762000" y="2059987"/>
            <a:ext cx="8001000" cy="83561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15000"/>
              </a:lnSpc>
              <a:spcBef>
                <a:spcPts val="0"/>
              </a:spcBef>
              <a:spcAft>
                <a:spcPts val="0"/>
              </a:spcAft>
              <a:buClr>
                <a:srgbClr val="800000"/>
              </a:buClr>
              <a:buSzPts val="1680"/>
              <a:buFont typeface="Noto Sans Symbols"/>
              <a:buChar char="◆"/>
            </a:pPr>
            <a:r>
              <a:rPr b="1" lang="en-US" sz="2100">
                <a:solidFill>
                  <a:schemeClr val="hlink"/>
                </a:solidFill>
                <a:latin typeface="Arial"/>
                <a:ea typeface="Arial"/>
                <a:cs typeface="Arial"/>
                <a:sym typeface="Arial"/>
              </a:rPr>
              <a:t>General Ledger</a:t>
            </a:r>
            <a:r>
              <a:rPr lang="en-US" sz="2100">
                <a:solidFill>
                  <a:schemeClr val="dk1"/>
                </a:solidFill>
                <a:latin typeface="Arial"/>
                <a:ea typeface="Arial"/>
                <a:cs typeface="Arial"/>
                <a:sym typeface="Arial"/>
              </a:rPr>
              <a:t> contains all the asset, liability, and owner’s equity accounts.</a:t>
            </a:r>
            <a:endParaRPr sz="2100">
              <a:solidFill>
                <a:schemeClr val="dk1"/>
              </a:solidFill>
              <a:latin typeface="Arial"/>
              <a:ea typeface="Arial"/>
              <a:cs typeface="Arial"/>
              <a:sym typeface="Arial"/>
            </a:endParaRPr>
          </a:p>
        </p:txBody>
      </p:sp>
      <p:sp>
        <p:nvSpPr>
          <p:cNvPr id="380" name="Google Shape;380;p22"/>
          <p:cNvSpPr/>
          <p:nvPr/>
        </p:nvSpPr>
        <p:spPr>
          <a:xfrm>
            <a:off x="7086600" y="2878137"/>
            <a:ext cx="15240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2-15</a:t>
            </a:r>
            <a:endParaRPr/>
          </a:p>
        </p:txBody>
      </p:sp>
      <p:sp>
        <p:nvSpPr>
          <p:cNvPr id="381" name="Google Shape;381;p22"/>
          <p:cNvSpPr/>
          <p:nvPr/>
        </p:nvSpPr>
        <p:spPr>
          <a:xfrm>
            <a:off x="533400" y="1423399"/>
            <a:ext cx="80010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The Ledger</a:t>
            </a:r>
            <a:endParaRPr/>
          </a:p>
        </p:txBody>
      </p:sp>
      <p:pic>
        <p:nvPicPr>
          <p:cNvPr id="382" name="Google Shape;382;p22"/>
          <p:cNvPicPr preferRelativeResize="0"/>
          <p:nvPr/>
        </p:nvPicPr>
        <p:blipFill rotWithShape="1">
          <a:blip r:embed="rId3">
            <a:alphaModFix/>
          </a:blip>
          <a:srcRect b="0" l="0" r="0" t="0"/>
          <a:stretch/>
        </p:blipFill>
        <p:spPr>
          <a:xfrm>
            <a:off x="611188" y="3182937"/>
            <a:ext cx="7999412" cy="2836863"/>
          </a:xfrm>
          <a:prstGeom prst="rect">
            <a:avLst/>
          </a:prstGeom>
          <a:noFill/>
          <a:ln>
            <a:noFill/>
          </a:ln>
        </p:spPr>
      </p:pic>
      <p:sp>
        <p:nvSpPr>
          <p:cNvPr id="383" name="Google Shape;383;p22"/>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384" name="Google Shape;384;p22"/>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100">
                <a:solidFill>
                  <a:schemeClr val="lt1"/>
                </a:solidFill>
                <a:latin typeface="Arial"/>
                <a:ea typeface="Arial"/>
                <a:cs typeface="Arial"/>
                <a:sym typeface="Arial"/>
              </a:rPr>
              <a:t>Explain how a ledger and posting help in the recording process.</a:t>
            </a:r>
            <a:endParaRPr b="1" sz="2100">
              <a:solidFill>
                <a:schemeClr val="lt1"/>
              </a:solidFill>
              <a:latin typeface="Arial"/>
              <a:ea typeface="Arial"/>
              <a:cs typeface="Arial"/>
              <a:sym typeface="Arial"/>
            </a:endParaRPr>
          </a:p>
        </p:txBody>
      </p:sp>
      <p:sp>
        <p:nvSpPr>
          <p:cNvPr id="385" name="Google Shape;385;p22"/>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3</a:t>
            </a:r>
            <a:endParaRPr b="1" sz="2400">
              <a:solidFill>
                <a:schemeClr val="lt1"/>
              </a:solidFill>
              <a:latin typeface="Arial"/>
              <a:ea typeface="Arial"/>
              <a:cs typeface="Arial"/>
              <a:sym typeface="Arial"/>
            </a:endParaRPr>
          </a:p>
        </p:txBody>
      </p:sp>
      <p:sp>
        <p:nvSpPr>
          <p:cNvPr id="386" name="Google Shape;386;p2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3"/>
          <p:cNvSpPr/>
          <p:nvPr/>
        </p:nvSpPr>
        <p:spPr>
          <a:xfrm>
            <a:off x="4267200" y="3886200"/>
            <a:ext cx="12954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omic Sans MS"/>
              <a:ea typeface="Comic Sans MS"/>
              <a:cs typeface="Comic Sans MS"/>
              <a:sym typeface="Comic Sans MS"/>
            </a:endParaRPr>
          </a:p>
        </p:txBody>
      </p:sp>
      <p:pic>
        <p:nvPicPr>
          <p:cNvPr id="392" name="Google Shape;392;p23"/>
          <p:cNvPicPr preferRelativeResize="0"/>
          <p:nvPr/>
        </p:nvPicPr>
        <p:blipFill rotWithShape="1">
          <a:blip r:embed="rId3">
            <a:alphaModFix/>
          </a:blip>
          <a:srcRect b="0" l="0" r="0" t="0"/>
          <a:stretch/>
        </p:blipFill>
        <p:spPr>
          <a:xfrm>
            <a:off x="355499" y="609600"/>
            <a:ext cx="8453540" cy="4624110"/>
          </a:xfrm>
          <a:prstGeom prst="rect">
            <a:avLst/>
          </a:prstGeom>
          <a:noFill/>
          <a:ln>
            <a:noFill/>
          </a:ln>
        </p:spPr>
      </p:pic>
      <p:sp>
        <p:nvSpPr>
          <p:cNvPr id="393" name="Google Shape;393;p2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4"/>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The Ledger</a:t>
            </a:r>
            <a:endParaRPr b="1" sz="3200">
              <a:solidFill>
                <a:srgbClr val="0000BF"/>
              </a:solidFill>
              <a:latin typeface="Arial"/>
              <a:ea typeface="Arial"/>
              <a:cs typeface="Arial"/>
              <a:sym typeface="Arial"/>
            </a:endParaRPr>
          </a:p>
        </p:txBody>
      </p:sp>
      <p:cxnSp>
        <p:nvCxnSpPr>
          <p:cNvPr id="399" name="Google Shape;399;p2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00" name="Google Shape;400;p24"/>
          <p:cNvSpPr txBox="1"/>
          <p:nvPr/>
        </p:nvSpPr>
        <p:spPr>
          <a:xfrm>
            <a:off x="533400" y="1295400"/>
            <a:ext cx="82296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0000BF"/>
                </a:solidFill>
                <a:latin typeface="Arial"/>
                <a:ea typeface="Arial"/>
                <a:cs typeface="Arial"/>
                <a:sym typeface="Arial"/>
              </a:rPr>
              <a:t>STANDARD FORM OF ACCOUNT</a:t>
            </a:r>
            <a:endParaRPr b="1" sz="2700">
              <a:solidFill>
                <a:srgbClr val="0000BF"/>
              </a:solidFill>
              <a:latin typeface="Arial"/>
              <a:ea typeface="Arial"/>
              <a:cs typeface="Arial"/>
              <a:sym typeface="Arial"/>
            </a:endParaRPr>
          </a:p>
        </p:txBody>
      </p:sp>
      <p:pic>
        <p:nvPicPr>
          <p:cNvPr id="401" name="Google Shape;401;p24"/>
          <p:cNvPicPr preferRelativeResize="0"/>
          <p:nvPr/>
        </p:nvPicPr>
        <p:blipFill rotWithShape="1">
          <a:blip r:embed="rId3">
            <a:alphaModFix/>
          </a:blip>
          <a:srcRect b="0" l="0" r="0" t="0"/>
          <a:stretch/>
        </p:blipFill>
        <p:spPr>
          <a:xfrm>
            <a:off x="381001" y="2103437"/>
            <a:ext cx="8401050" cy="2908321"/>
          </a:xfrm>
          <a:prstGeom prst="rect">
            <a:avLst/>
          </a:prstGeom>
          <a:noFill/>
          <a:ln cap="sq" cmpd="sng" w="19050">
            <a:solidFill>
              <a:schemeClr val="dk1"/>
            </a:solidFill>
            <a:prstDash val="solid"/>
            <a:miter lim="800000"/>
            <a:headEnd len="sm" w="sm" type="none"/>
            <a:tailEnd len="sm" w="sm" type="none"/>
          </a:ln>
        </p:spPr>
      </p:pic>
      <p:sp>
        <p:nvSpPr>
          <p:cNvPr id="402" name="Google Shape;402;p24"/>
          <p:cNvSpPr/>
          <p:nvPr/>
        </p:nvSpPr>
        <p:spPr>
          <a:xfrm>
            <a:off x="7239000" y="1411069"/>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2-16</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Three-column form of account</a:t>
            </a:r>
            <a:endParaRPr/>
          </a:p>
        </p:txBody>
      </p:sp>
      <p:sp>
        <p:nvSpPr>
          <p:cNvPr id="403" name="Google Shape;403;p2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5"/>
          <p:cNvSpPr txBox="1"/>
          <p:nvPr/>
        </p:nvSpPr>
        <p:spPr>
          <a:xfrm>
            <a:off x="304800" y="1295400"/>
            <a:ext cx="1905000" cy="21421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700">
                <a:solidFill>
                  <a:srgbClr val="0000BF"/>
                </a:solidFill>
                <a:latin typeface="Arial"/>
                <a:ea typeface="Arial"/>
                <a:cs typeface="Arial"/>
                <a:sym typeface="Arial"/>
              </a:rPr>
              <a:t>POSTING</a:t>
            </a:r>
            <a:r>
              <a:rPr b="1" lang="en-US" sz="2100">
                <a:solidFill>
                  <a:srgbClr val="800000"/>
                </a:solidFill>
                <a:latin typeface="Arial"/>
                <a:ea typeface="Arial"/>
                <a:cs typeface="Arial"/>
                <a:sym typeface="Arial"/>
              </a:rPr>
              <a:t> </a:t>
            </a:r>
            <a:r>
              <a:rPr lang="en-US" sz="2100">
                <a:solidFill>
                  <a:schemeClr val="dk1"/>
                </a:solidFill>
                <a:latin typeface="Arial"/>
                <a:ea typeface="Arial"/>
                <a:cs typeface="Arial"/>
                <a:sym typeface="Arial"/>
              </a:rPr>
              <a:t>Transferring journal entries to the ledger accounts. </a:t>
            </a:r>
            <a:endParaRPr/>
          </a:p>
        </p:txBody>
      </p:sp>
      <p:sp>
        <p:nvSpPr>
          <p:cNvPr id="409" name="Google Shape;409;p25"/>
          <p:cNvSpPr/>
          <p:nvPr/>
        </p:nvSpPr>
        <p:spPr>
          <a:xfrm>
            <a:off x="914400" y="5562600"/>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2-17</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Posting a journal entry</a:t>
            </a:r>
            <a:endParaRPr sz="1200">
              <a:solidFill>
                <a:schemeClr val="dk1"/>
              </a:solidFill>
              <a:latin typeface="Arial"/>
              <a:ea typeface="Arial"/>
              <a:cs typeface="Arial"/>
              <a:sym typeface="Arial"/>
            </a:endParaRPr>
          </a:p>
        </p:txBody>
      </p:sp>
      <p:sp>
        <p:nvSpPr>
          <p:cNvPr id="410" name="Google Shape;410;p25"/>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Ledger</a:t>
            </a:r>
            <a:endParaRPr b="1" sz="3200">
              <a:solidFill>
                <a:srgbClr val="0000BF"/>
              </a:solidFill>
              <a:latin typeface="Arial"/>
              <a:ea typeface="Arial"/>
              <a:cs typeface="Arial"/>
              <a:sym typeface="Arial"/>
            </a:endParaRPr>
          </a:p>
        </p:txBody>
      </p:sp>
      <p:cxnSp>
        <p:nvCxnSpPr>
          <p:cNvPr id="411" name="Google Shape;411;p2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412" name="Google Shape;412;p25"/>
          <p:cNvPicPr preferRelativeResize="0"/>
          <p:nvPr/>
        </p:nvPicPr>
        <p:blipFill rotWithShape="1">
          <a:blip r:embed="rId3">
            <a:alphaModFix/>
          </a:blip>
          <a:srcRect b="0" l="0" r="0" t="0"/>
          <a:stretch/>
        </p:blipFill>
        <p:spPr>
          <a:xfrm>
            <a:off x="2307708" y="580025"/>
            <a:ext cx="6760092" cy="5744575"/>
          </a:xfrm>
          <a:prstGeom prst="rect">
            <a:avLst/>
          </a:prstGeom>
          <a:noFill/>
          <a:ln>
            <a:noFill/>
          </a:ln>
        </p:spPr>
      </p:pic>
      <p:sp>
        <p:nvSpPr>
          <p:cNvPr id="413" name="Google Shape;413;p2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6"/>
          <p:cNvSpPr/>
          <p:nvPr/>
        </p:nvSpPr>
        <p:spPr>
          <a:xfrm>
            <a:off x="474663" y="1981200"/>
            <a:ext cx="8001000" cy="32766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0000"/>
              </a:lnSpc>
              <a:spcBef>
                <a:spcPts val="0"/>
              </a:spcBef>
              <a:spcAft>
                <a:spcPts val="0"/>
              </a:spcAft>
              <a:buClr>
                <a:schemeClr val="dk1"/>
              </a:buClr>
              <a:buSzPts val="2300"/>
              <a:buFont typeface="Noto Sans Symbols"/>
              <a:buNone/>
            </a:pPr>
            <a:r>
              <a:rPr lang="en-US" sz="2300">
                <a:solidFill>
                  <a:schemeClr val="dk1"/>
                </a:solidFill>
                <a:latin typeface="Arial"/>
                <a:ea typeface="Arial"/>
                <a:cs typeface="Arial"/>
                <a:sym typeface="Arial"/>
              </a:rPr>
              <a:t>Posting:</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normally occurs before journalizing.</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transfers ledger transaction data to the journal.</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is an optional step in the recording process.</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transfers journal entries to ledger accounts.</a:t>
            </a:r>
            <a:endParaRPr/>
          </a:p>
        </p:txBody>
      </p:sp>
      <p:sp>
        <p:nvSpPr>
          <p:cNvPr id="419" name="Google Shape;419;p26"/>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Posting</a:t>
            </a:r>
            <a:endParaRPr/>
          </a:p>
        </p:txBody>
      </p:sp>
      <p:cxnSp>
        <p:nvCxnSpPr>
          <p:cNvPr id="420" name="Google Shape;420;p2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21" name="Google Shape;421;p26"/>
          <p:cNvSpPr/>
          <p:nvPr/>
        </p:nvSpPr>
        <p:spPr>
          <a:xfrm>
            <a:off x="533400" y="1295400"/>
            <a:ext cx="5334000" cy="554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422" name="Google Shape;422;p2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
        <p:nvSpPr>
          <p:cNvPr id="423" name="Google Shape;423;p26"/>
          <p:cNvSpPr/>
          <p:nvPr/>
        </p:nvSpPr>
        <p:spPr>
          <a:xfrm>
            <a:off x="152400" y="438912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8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27"/>
          <p:cNvPicPr preferRelativeResize="0"/>
          <p:nvPr/>
        </p:nvPicPr>
        <p:blipFill rotWithShape="1">
          <a:blip r:embed="rId3">
            <a:alphaModFix/>
          </a:blip>
          <a:srcRect b="0" l="0" r="0" t="0"/>
          <a:stretch/>
        </p:blipFill>
        <p:spPr>
          <a:xfrm>
            <a:off x="652016" y="1219200"/>
            <a:ext cx="7806184" cy="5105400"/>
          </a:xfrm>
          <a:prstGeom prst="rect">
            <a:avLst/>
          </a:prstGeom>
          <a:noFill/>
          <a:ln cap="sq" cmpd="sng" w="19050">
            <a:solidFill>
              <a:schemeClr val="dk1"/>
            </a:solidFill>
            <a:prstDash val="solid"/>
            <a:miter lim="800000"/>
            <a:headEnd len="sm" w="sm" type="none"/>
            <a:tailEnd len="sm" w="sm" type="none"/>
          </a:ln>
        </p:spPr>
      </p:pic>
      <p:sp>
        <p:nvSpPr>
          <p:cNvPr id="429" name="Google Shape;429;p27"/>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Chart of Accounts</a:t>
            </a:r>
            <a:endParaRPr/>
          </a:p>
        </p:txBody>
      </p:sp>
      <p:cxnSp>
        <p:nvCxnSpPr>
          <p:cNvPr id="430" name="Google Shape;430;p2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31" name="Google Shape;431;p27"/>
          <p:cNvSpPr/>
          <p:nvPr/>
        </p:nvSpPr>
        <p:spPr>
          <a:xfrm>
            <a:off x="7162800" y="838200"/>
            <a:ext cx="13716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2-18</a:t>
            </a:r>
            <a:endParaRPr/>
          </a:p>
        </p:txBody>
      </p:sp>
      <p:sp>
        <p:nvSpPr>
          <p:cNvPr id="432" name="Google Shape;432;p2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8"/>
          <p:cNvSpPr/>
          <p:nvPr/>
        </p:nvSpPr>
        <p:spPr>
          <a:xfrm>
            <a:off x="228600" y="1279525"/>
            <a:ext cx="2590800" cy="4407360"/>
          </a:xfrm>
          <a:prstGeom prst="rect">
            <a:avLst/>
          </a:prstGeom>
          <a:noFill/>
          <a:ln>
            <a:noFill/>
          </a:ln>
        </p:spPr>
        <p:txBody>
          <a:bodyPr anchorCtr="0" anchor="t" bIns="45700" lIns="91425" spcFirstLastPara="1" rIns="91425" wrap="square" tIns="45700">
            <a:spAutoFit/>
          </a:bodyPr>
          <a:lstStyle/>
          <a:p>
            <a:pPr indent="-344488" lvl="0" marL="344488" marR="0" rtl="0" algn="l">
              <a:lnSpc>
                <a:spcPct val="110000"/>
              </a:lnSpc>
              <a:spcBef>
                <a:spcPts val="0"/>
              </a:spcBef>
              <a:spcAft>
                <a:spcPts val="0"/>
              </a:spcAft>
              <a:buNone/>
            </a:pPr>
            <a:r>
              <a:rPr b="1" lang="en-US" sz="2000">
                <a:solidFill>
                  <a:schemeClr val="dk1"/>
                </a:solidFill>
                <a:latin typeface="Arial"/>
                <a:ea typeface="Arial"/>
                <a:cs typeface="Arial"/>
                <a:sym typeface="Arial"/>
              </a:rPr>
              <a:t>Follow these steps:</a:t>
            </a:r>
            <a:endParaRPr/>
          </a:p>
          <a:p>
            <a:pPr indent="-344488" lvl="0" marL="344488" marR="0" rtl="0" algn="l">
              <a:lnSpc>
                <a:spcPct val="110000"/>
              </a:lnSpc>
              <a:spcBef>
                <a:spcPts val="950"/>
              </a:spcBef>
              <a:spcAft>
                <a:spcPts val="0"/>
              </a:spcAft>
              <a:buNone/>
            </a:pPr>
            <a:r>
              <a:rPr lang="en-US" sz="1900">
                <a:solidFill>
                  <a:schemeClr val="dk1"/>
                </a:solidFill>
                <a:latin typeface="Arial"/>
                <a:ea typeface="Arial"/>
                <a:cs typeface="Arial"/>
                <a:sym typeface="Arial"/>
              </a:rPr>
              <a:t>1. 	Determine what type of account is involved.</a:t>
            </a:r>
            <a:endParaRPr/>
          </a:p>
          <a:p>
            <a:pPr indent="-344488" lvl="0" marL="344488" marR="0" rtl="0" algn="l">
              <a:lnSpc>
                <a:spcPct val="110000"/>
              </a:lnSpc>
              <a:spcBef>
                <a:spcPts val="950"/>
              </a:spcBef>
              <a:spcAft>
                <a:spcPts val="0"/>
              </a:spcAft>
              <a:buNone/>
            </a:pPr>
            <a:r>
              <a:rPr lang="en-US" sz="1900">
                <a:solidFill>
                  <a:schemeClr val="dk1"/>
                </a:solidFill>
                <a:latin typeface="Arial"/>
                <a:ea typeface="Arial"/>
                <a:cs typeface="Arial"/>
                <a:sym typeface="Arial"/>
              </a:rPr>
              <a:t>2. 	Determine what items increased or decreased and by how much.</a:t>
            </a:r>
            <a:endParaRPr/>
          </a:p>
          <a:p>
            <a:pPr indent="-344488" lvl="0" marL="344488" marR="0" rtl="0" algn="l">
              <a:lnSpc>
                <a:spcPct val="110000"/>
              </a:lnSpc>
              <a:spcBef>
                <a:spcPts val="950"/>
              </a:spcBef>
              <a:spcAft>
                <a:spcPts val="0"/>
              </a:spcAft>
              <a:buNone/>
            </a:pPr>
            <a:r>
              <a:rPr lang="en-US" sz="1900">
                <a:solidFill>
                  <a:schemeClr val="dk1"/>
                </a:solidFill>
                <a:latin typeface="Arial"/>
                <a:ea typeface="Arial"/>
                <a:cs typeface="Arial"/>
                <a:sym typeface="Arial"/>
              </a:rPr>
              <a:t>3. 	Translate the increases and decreases into debits and credits.</a:t>
            </a:r>
            <a:endParaRPr/>
          </a:p>
        </p:txBody>
      </p:sp>
      <p:sp>
        <p:nvSpPr>
          <p:cNvPr id="438" name="Google Shape;438;p28"/>
          <p:cNvSpPr/>
          <p:nvPr/>
        </p:nvSpPr>
        <p:spPr>
          <a:xfrm>
            <a:off x="1447800" y="6019800"/>
            <a:ext cx="13716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2-19</a:t>
            </a:r>
            <a:endParaRPr/>
          </a:p>
        </p:txBody>
      </p:sp>
      <p:sp>
        <p:nvSpPr>
          <p:cNvPr id="439" name="Google Shape;439;p28"/>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The Recording Process Illustrated</a:t>
            </a:r>
            <a:endParaRPr/>
          </a:p>
        </p:txBody>
      </p:sp>
      <p:cxnSp>
        <p:nvCxnSpPr>
          <p:cNvPr id="440" name="Google Shape;440;p2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441" name="Google Shape;441;p28"/>
          <p:cNvPicPr preferRelativeResize="0"/>
          <p:nvPr/>
        </p:nvPicPr>
        <p:blipFill rotWithShape="1">
          <a:blip r:embed="rId3">
            <a:alphaModFix/>
          </a:blip>
          <a:srcRect b="0" l="0" r="0" t="0"/>
          <a:stretch/>
        </p:blipFill>
        <p:spPr>
          <a:xfrm>
            <a:off x="2924175" y="1295400"/>
            <a:ext cx="5991226" cy="5011844"/>
          </a:xfrm>
          <a:prstGeom prst="rect">
            <a:avLst/>
          </a:prstGeom>
          <a:noFill/>
          <a:ln>
            <a:noFill/>
          </a:ln>
        </p:spPr>
      </p:pic>
      <p:sp>
        <p:nvSpPr>
          <p:cNvPr id="442" name="Google Shape;442;p2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9"/>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cxnSp>
        <p:nvCxnSpPr>
          <p:cNvPr id="448" name="Google Shape;448;p2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449" name="Google Shape;449;p29"/>
          <p:cNvPicPr preferRelativeResize="0"/>
          <p:nvPr/>
        </p:nvPicPr>
        <p:blipFill rotWithShape="1">
          <a:blip r:embed="rId3">
            <a:alphaModFix/>
          </a:blip>
          <a:srcRect b="0" l="0" r="0" t="0"/>
          <a:stretch/>
        </p:blipFill>
        <p:spPr>
          <a:xfrm>
            <a:off x="347472" y="310895"/>
            <a:ext cx="8431445" cy="6075363"/>
          </a:xfrm>
          <a:prstGeom prst="rect">
            <a:avLst/>
          </a:prstGeom>
          <a:noFill/>
          <a:ln cap="flat" cmpd="sng" w="28575">
            <a:solidFill>
              <a:srgbClr val="A5A5A5"/>
            </a:solidFill>
            <a:prstDash val="solid"/>
            <a:miter lim="800000"/>
            <a:headEnd len="sm" w="sm" type="none"/>
            <a:tailEnd len="sm" w="sm" type="none"/>
          </a:ln>
        </p:spPr>
      </p:pic>
      <p:sp>
        <p:nvSpPr>
          <p:cNvPr id="450" name="Google Shape;450;p29"/>
          <p:cNvSpPr/>
          <p:nvPr/>
        </p:nvSpPr>
        <p:spPr>
          <a:xfrm>
            <a:off x="990600" y="6248400"/>
            <a:ext cx="2743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Purchase of office equipment</a:t>
            </a:r>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cxnSp>
        <p:nvCxnSpPr>
          <p:cNvPr id="455" name="Google Shape;455;p3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56" name="Google Shape;456;p30"/>
          <p:cNvSpPr/>
          <p:nvPr/>
        </p:nvSpPr>
        <p:spPr>
          <a:xfrm>
            <a:off x="7620000" y="1106269"/>
            <a:ext cx="13716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Receipt of cash for future service</a:t>
            </a:r>
            <a:endParaRPr sz="1200">
              <a:solidFill>
                <a:schemeClr val="dk1"/>
              </a:solidFill>
              <a:latin typeface="Arial"/>
              <a:ea typeface="Arial"/>
              <a:cs typeface="Arial"/>
              <a:sym typeface="Arial"/>
            </a:endParaRPr>
          </a:p>
        </p:txBody>
      </p:sp>
      <p:pic>
        <p:nvPicPr>
          <p:cNvPr id="457" name="Google Shape;457;p30"/>
          <p:cNvPicPr preferRelativeResize="0"/>
          <p:nvPr/>
        </p:nvPicPr>
        <p:blipFill rotWithShape="1">
          <a:blip r:embed="rId3">
            <a:alphaModFix/>
          </a:blip>
          <a:srcRect b="0" l="0" r="0" t="0"/>
          <a:stretch/>
        </p:blipFill>
        <p:spPr>
          <a:xfrm>
            <a:off x="838200" y="310895"/>
            <a:ext cx="6652824" cy="6075363"/>
          </a:xfrm>
          <a:prstGeom prst="rect">
            <a:avLst/>
          </a:prstGeom>
          <a:noFill/>
          <a:ln cap="flat" cmpd="sng" w="28575">
            <a:solidFill>
              <a:srgbClr val="A5A5A5"/>
            </a:solidFill>
            <a:prstDash val="solid"/>
            <a:miter lim="800000"/>
            <a:headEnd len="sm" w="sm" type="none"/>
            <a:tailEnd len="sm" w="sm" type="none"/>
          </a:ln>
        </p:spPr>
      </p:pic>
      <p:sp>
        <p:nvSpPr>
          <p:cNvPr id="458" name="Google Shape;458;p3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cxnSp>
        <p:nvCxnSpPr>
          <p:cNvPr id="463" name="Google Shape;463;p3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464" name="Google Shape;464;p31"/>
          <p:cNvPicPr preferRelativeResize="0"/>
          <p:nvPr/>
        </p:nvPicPr>
        <p:blipFill rotWithShape="1">
          <a:blip r:embed="rId3">
            <a:alphaModFix/>
          </a:blip>
          <a:srcRect b="0" l="0" r="0" t="0"/>
          <a:stretch/>
        </p:blipFill>
        <p:spPr>
          <a:xfrm>
            <a:off x="457200" y="310896"/>
            <a:ext cx="8122431" cy="6075363"/>
          </a:xfrm>
          <a:prstGeom prst="rect">
            <a:avLst/>
          </a:prstGeom>
          <a:noFill/>
          <a:ln cap="flat" cmpd="sng" w="28575">
            <a:solidFill>
              <a:srgbClr val="A5A5A5"/>
            </a:solidFill>
            <a:prstDash val="solid"/>
            <a:miter lim="800000"/>
            <a:headEnd len="sm" w="sm" type="none"/>
            <a:tailEnd len="sm" w="sm" type="none"/>
          </a:ln>
        </p:spPr>
      </p:pic>
      <p:sp>
        <p:nvSpPr>
          <p:cNvPr id="465" name="Google Shape;465;p31"/>
          <p:cNvSpPr/>
          <p:nvPr/>
        </p:nvSpPr>
        <p:spPr>
          <a:xfrm>
            <a:off x="990600" y="6248400"/>
            <a:ext cx="2743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Payment of monthly rent</a:t>
            </a:r>
            <a:endParaRPr sz="1200">
              <a:solidFill>
                <a:schemeClr val="dk1"/>
              </a:solidFill>
              <a:latin typeface="Arial"/>
              <a:ea typeface="Arial"/>
              <a:cs typeface="Arial"/>
              <a:sym typeface="Arial"/>
            </a:endParaRPr>
          </a:p>
        </p:txBody>
      </p:sp>
      <p:sp>
        <p:nvSpPr>
          <p:cNvPr id="466" name="Google Shape;466;p31"/>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cxnSp>
        <p:nvCxnSpPr>
          <p:cNvPr id="471" name="Google Shape;471;p3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472" name="Google Shape;472;p32"/>
          <p:cNvPicPr preferRelativeResize="0"/>
          <p:nvPr/>
        </p:nvPicPr>
        <p:blipFill rotWithShape="1">
          <a:blip r:embed="rId3">
            <a:alphaModFix/>
          </a:blip>
          <a:srcRect b="0" l="0" r="0" t="0"/>
          <a:stretch/>
        </p:blipFill>
        <p:spPr>
          <a:xfrm>
            <a:off x="685800" y="304800"/>
            <a:ext cx="7093159" cy="6324600"/>
          </a:xfrm>
          <a:prstGeom prst="rect">
            <a:avLst/>
          </a:prstGeom>
          <a:noFill/>
          <a:ln cap="flat" cmpd="sng" w="28575">
            <a:solidFill>
              <a:srgbClr val="A5A5A5"/>
            </a:solidFill>
            <a:prstDash val="solid"/>
            <a:miter lim="800000"/>
            <a:headEnd len="sm" w="sm" type="none"/>
            <a:tailEnd len="sm" w="sm" type="none"/>
          </a:ln>
        </p:spPr>
      </p:pic>
      <p:sp>
        <p:nvSpPr>
          <p:cNvPr id="473" name="Google Shape;473;p32"/>
          <p:cNvSpPr/>
          <p:nvPr/>
        </p:nvSpPr>
        <p:spPr>
          <a:xfrm>
            <a:off x="7543800" y="1143000"/>
            <a:ext cx="13716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Payment for insurance</a:t>
            </a:r>
            <a:endParaRPr sz="1200">
              <a:solidFill>
                <a:schemeClr val="dk1"/>
              </a:solidFill>
              <a:latin typeface="Arial"/>
              <a:ea typeface="Arial"/>
              <a:cs typeface="Arial"/>
              <a:sym typeface="Arial"/>
            </a:endParaRPr>
          </a:p>
        </p:txBody>
      </p:sp>
      <p:sp>
        <p:nvSpPr>
          <p:cNvPr id="474" name="Google Shape;474;p3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cxnSp>
        <p:nvCxnSpPr>
          <p:cNvPr id="479" name="Google Shape;479;p3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480" name="Google Shape;480;p33"/>
          <p:cNvPicPr preferRelativeResize="0"/>
          <p:nvPr/>
        </p:nvPicPr>
        <p:blipFill rotWithShape="1">
          <a:blip r:embed="rId3">
            <a:alphaModFix/>
          </a:blip>
          <a:srcRect b="0" l="0" r="0" t="0"/>
          <a:stretch/>
        </p:blipFill>
        <p:spPr>
          <a:xfrm>
            <a:off x="609600" y="310896"/>
            <a:ext cx="7803245" cy="6073766"/>
          </a:xfrm>
          <a:prstGeom prst="rect">
            <a:avLst/>
          </a:prstGeom>
          <a:noFill/>
          <a:ln cap="flat" cmpd="sng" w="28575">
            <a:solidFill>
              <a:srgbClr val="A5A5A5"/>
            </a:solidFill>
            <a:prstDash val="solid"/>
            <a:miter lim="800000"/>
            <a:headEnd len="sm" w="sm" type="none"/>
            <a:tailEnd len="sm" w="sm" type="none"/>
          </a:ln>
        </p:spPr>
      </p:pic>
      <p:sp>
        <p:nvSpPr>
          <p:cNvPr id="481" name="Google Shape;481;p33"/>
          <p:cNvSpPr/>
          <p:nvPr/>
        </p:nvSpPr>
        <p:spPr>
          <a:xfrm>
            <a:off x="990600" y="6248400"/>
            <a:ext cx="2743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2-24</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Purchase of supplies on credit</a:t>
            </a:r>
            <a:endParaRPr sz="1200">
              <a:solidFill>
                <a:schemeClr val="dk1"/>
              </a:solidFill>
              <a:latin typeface="Arial"/>
              <a:ea typeface="Arial"/>
              <a:cs typeface="Arial"/>
              <a:sym typeface="Arial"/>
            </a:endParaRPr>
          </a:p>
        </p:txBody>
      </p:sp>
      <p:sp>
        <p:nvSpPr>
          <p:cNvPr id="482" name="Google Shape;482;p33"/>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34"/>
          <p:cNvPicPr preferRelativeResize="0"/>
          <p:nvPr/>
        </p:nvPicPr>
        <p:blipFill rotWithShape="1">
          <a:blip r:embed="rId3">
            <a:alphaModFix/>
          </a:blip>
          <a:srcRect b="0" l="0" r="0" t="0"/>
          <a:stretch/>
        </p:blipFill>
        <p:spPr>
          <a:xfrm>
            <a:off x="304801" y="1371600"/>
            <a:ext cx="8534400" cy="3182447"/>
          </a:xfrm>
          <a:prstGeom prst="rect">
            <a:avLst/>
          </a:prstGeom>
          <a:noFill/>
          <a:ln cap="flat" cmpd="sng" w="28575">
            <a:solidFill>
              <a:srgbClr val="A5A5A5"/>
            </a:solidFill>
            <a:prstDash val="solid"/>
            <a:miter lim="800000"/>
            <a:headEnd len="sm" w="sm" type="none"/>
            <a:tailEnd len="sm" w="sm" type="none"/>
          </a:ln>
        </p:spPr>
      </p:pic>
      <p:sp>
        <p:nvSpPr>
          <p:cNvPr id="488" name="Google Shape;488;p34"/>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The Recording Process Illustrated</a:t>
            </a:r>
            <a:endParaRPr/>
          </a:p>
        </p:txBody>
      </p:sp>
      <p:cxnSp>
        <p:nvCxnSpPr>
          <p:cNvPr id="489" name="Google Shape;489;p3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90" name="Google Shape;490;p34"/>
          <p:cNvSpPr/>
          <p:nvPr/>
        </p:nvSpPr>
        <p:spPr>
          <a:xfrm>
            <a:off x="228600" y="4648200"/>
            <a:ext cx="22098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2-25</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Hiring of employees</a:t>
            </a:r>
            <a:endParaRPr sz="1200">
              <a:solidFill>
                <a:schemeClr val="dk1"/>
              </a:solidFill>
              <a:latin typeface="Arial"/>
              <a:ea typeface="Arial"/>
              <a:cs typeface="Arial"/>
              <a:sym typeface="Arial"/>
            </a:endParaRPr>
          </a:p>
        </p:txBody>
      </p:sp>
      <p:sp>
        <p:nvSpPr>
          <p:cNvPr id="491" name="Google Shape;491;p3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cxnSp>
        <p:nvCxnSpPr>
          <p:cNvPr id="496" name="Google Shape;496;p3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497" name="Google Shape;497;p35"/>
          <p:cNvPicPr preferRelativeResize="0"/>
          <p:nvPr/>
        </p:nvPicPr>
        <p:blipFill rotWithShape="1">
          <a:blip r:embed="rId3">
            <a:alphaModFix/>
          </a:blip>
          <a:srcRect b="0" l="0" r="0" t="0"/>
          <a:stretch/>
        </p:blipFill>
        <p:spPr>
          <a:xfrm>
            <a:off x="564445" y="306802"/>
            <a:ext cx="7969955" cy="6079457"/>
          </a:xfrm>
          <a:prstGeom prst="rect">
            <a:avLst/>
          </a:prstGeom>
          <a:noFill/>
          <a:ln cap="flat" cmpd="sng" w="28575">
            <a:solidFill>
              <a:srgbClr val="A5A5A5"/>
            </a:solidFill>
            <a:prstDash val="solid"/>
            <a:miter lim="800000"/>
            <a:headEnd len="sm" w="sm" type="none"/>
            <a:tailEnd len="sm" w="sm" type="none"/>
          </a:ln>
        </p:spPr>
      </p:pic>
      <p:sp>
        <p:nvSpPr>
          <p:cNvPr id="498" name="Google Shape;498;p35"/>
          <p:cNvSpPr/>
          <p:nvPr/>
        </p:nvSpPr>
        <p:spPr>
          <a:xfrm>
            <a:off x="990600" y="6248400"/>
            <a:ext cx="2743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2-26</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Withdrawal of cash by owner</a:t>
            </a:r>
            <a:endParaRPr sz="1200">
              <a:solidFill>
                <a:schemeClr val="dk1"/>
              </a:solidFill>
              <a:latin typeface="Arial"/>
              <a:ea typeface="Arial"/>
              <a:cs typeface="Arial"/>
              <a:sym typeface="Arial"/>
            </a:endParaRPr>
          </a:p>
        </p:txBody>
      </p:sp>
      <p:sp>
        <p:nvSpPr>
          <p:cNvPr id="499" name="Google Shape;499;p35"/>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cxnSp>
        <p:nvCxnSpPr>
          <p:cNvPr id="504" name="Google Shape;504;p3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505" name="Google Shape;505;p36"/>
          <p:cNvPicPr preferRelativeResize="0"/>
          <p:nvPr/>
        </p:nvPicPr>
        <p:blipFill rotWithShape="1">
          <a:blip r:embed="rId3">
            <a:alphaModFix/>
          </a:blip>
          <a:srcRect b="0" l="0" r="0" t="0"/>
          <a:stretch/>
        </p:blipFill>
        <p:spPr>
          <a:xfrm>
            <a:off x="808931" y="309260"/>
            <a:ext cx="7496869" cy="6076999"/>
          </a:xfrm>
          <a:prstGeom prst="rect">
            <a:avLst/>
          </a:prstGeom>
          <a:noFill/>
          <a:ln cap="flat" cmpd="sng" w="28575">
            <a:solidFill>
              <a:srgbClr val="A5A5A5"/>
            </a:solidFill>
            <a:prstDash val="solid"/>
            <a:miter lim="800000"/>
            <a:headEnd len="sm" w="sm" type="none"/>
            <a:tailEnd len="sm" w="sm" type="none"/>
          </a:ln>
        </p:spPr>
      </p:pic>
      <p:sp>
        <p:nvSpPr>
          <p:cNvPr id="506" name="Google Shape;506;p36"/>
          <p:cNvSpPr/>
          <p:nvPr/>
        </p:nvSpPr>
        <p:spPr>
          <a:xfrm>
            <a:off x="990600" y="6248400"/>
            <a:ext cx="2743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2-27</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Payment of salaries</a:t>
            </a:r>
            <a:endParaRPr sz="1200">
              <a:solidFill>
                <a:schemeClr val="dk1"/>
              </a:solidFill>
              <a:latin typeface="Arial"/>
              <a:ea typeface="Arial"/>
              <a:cs typeface="Arial"/>
              <a:sym typeface="Arial"/>
            </a:endParaRPr>
          </a:p>
        </p:txBody>
      </p:sp>
      <p:sp>
        <p:nvSpPr>
          <p:cNvPr id="507" name="Google Shape;507;p36"/>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cxnSp>
        <p:nvCxnSpPr>
          <p:cNvPr id="512" name="Google Shape;512;p3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513" name="Google Shape;513;p37"/>
          <p:cNvPicPr preferRelativeResize="0"/>
          <p:nvPr/>
        </p:nvPicPr>
        <p:blipFill rotWithShape="1">
          <a:blip r:embed="rId3">
            <a:alphaModFix/>
          </a:blip>
          <a:srcRect b="0" l="0" r="0" t="0"/>
          <a:stretch/>
        </p:blipFill>
        <p:spPr>
          <a:xfrm>
            <a:off x="914400" y="304800"/>
            <a:ext cx="7291181" cy="6081459"/>
          </a:xfrm>
          <a:prstGeom prst="rect">
            <a:avLst/>
          </a:prstGeom>
          <a:noFill/>
          <a:ln cap="flat" cmpd="sng" w="28575">
            <a:solidFill>
              <a:srgbClr val="A5A5A5"/>
            </a:solidFill>
            <a:prstDash val="solid"/>
            <a:miter lim="800000"/>
            <a:headEnd len="sm" w="sm" type="none"/>
            <a:tailEnd len="sm" w="sm" type="none"/>
          </a:ln>
        </p:spPr>
      </p:pic>
      <p:sp>
        <p:nvSpPr>
          <p:cNvPr id="514" name="Google Shape;514;p37"/>
          <p:cNvSpPr/>
          <p:nvPr/>
        </p:nvSpPr>
        <p:spPr>
          <a:xfrm>
            <a:off x="990600" y="6248400"/>
            <a:ext cx="28956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2-28</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Receipt of cash for services performed</a:t>
            </a:r>
            <a:endParaRPr sz="1200">
              <a:solidFill>
                <a:schemeClr val="dk1"/>
              </a:solidFill>
              <a:latin typeface="Arial"/>
              <a:ea typeface="Arial"/>
              <a:cs typeface="Arial"/>
              <a:sym typeface="Arial"/>
            </a:endParaRPr>
          </a:p>
        </p:txBody>
      </p:sp>
      <p:sp>
        <p:nvSpPr>
          <p:cNvPr id="515" name="Google Shape;515;p37"/>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8"/>
          <p:cNvSpPr/>
          <p:nvPr/>
        </p:nvSpPr>
        <p:spPr>
          <a:xfrm>
            <a:off x="2286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Summary Journalizing and Posting</a:t>
            </a:r>
            <a:endParaRPr b="1" sz="3200">
              <a:solidFill>
                <a:srgbClr val="0000BF"/>
              </a:solidFill>
              <a:latin typeface="Arial"/>
              <a:ea typeface="Arial"/>
              <a:cs typeface="Arial"/>
              <a:sym typeface="Arial"/>
            </a:endParaRPr>
          </a:p>
        </p:txBody>
      </p:sp>
      <p:cxnSp>
        <p:nvCxnSpPr>
          <p:cNvPr id="521" name="Google Shape;521;p3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522" name="Google Shape;522;p38"/>
          <p:cNvPicPr preferRelativeResize="0"/>
          <p:nvPr/>
        </p:nvPicPr>
        <p:blipFill rotWithShape="1">
          <a:blip r:embed="rId3">
            <a:alphaModFix/>
          </a:blip>
          <a:srcRect b="0" l="0" r="0" t="0"/>
          <a:stretch/>
        </p:blipFill>
        <p:spPr>
          <a:xfrm>
            <a:off x="287075" y="1159281"/>
            <a:ext cx="8552125" cy="5165319"/>
          </a:xfrm>
          <a:prstGeom prst="rect">
            <a:avLst/>
          </a:prstGeom>
          <a:noFill/>
          <a:ln>
            <a:noFill/>
          </a:ln>
        </p:spPr>
      </p:pic>
      <p:sp>
        <p:nvSpPr>
          <p:cNvPr id="523" name="Google Shape;523;p38"/>
          <p:cNvSpPr/>
          <p:nvPr/>
        </p:nvSpPr>
        <p:spPr>
          <a:xfrm>
            <a:off x="7543800" y="838200"/>
            <a:ext cx="1371600" cy="2746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2-29</a:t>
            </a:r>
            <a:endParaRPr/>
          </a:p>
        </p:txBody>
      </p:sp>
      <p:sp>
        <p:nvSpPr>
          <p:cNvPr id="524" name="Google Shape;524;p3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39"/>
          <p:cNvPicPr preferRelativeResize="0"/>
          <p:nvPr/>
        </p:nvPicPr>
        <p:blipFill rotWithShape="1">
          <a:blip r:embed="rId3">
            <a:alphaModFix/>
          </a:blip>
          <a:srcRect b="0" l="0" r="0" t="0"/>
          <a:stretch/>
        </p:blipFill>
        <p:spPr>
          <a:xfrm>
            <a:off x="287075" y="457200"/>
            <a:ext cx="8552125" cy="5165319"/>
          </a:xfrm>
          <a:prstGeom prst="rect">
            <a:avLst/>
          </a:prstGeom>
          <a:noFill/>
          <a:ln>
            <a:noFill/>
          </a:ln>
        </p:spPr>
      </p:pic>
      <p:sp>
        <p:nvSpPr>
          <p:cNvPr id="530" name="Google Shape;530;p39"/>
          <p:cNvSpPr/>
          <p:nvPr/>
        </p:nvSpPr>
        <p:spPr>
          <a:xfrm>
            <a:off x="762000" y="6400800"/>
            <a:ext cx="1371600" cy="2746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2-29</a:t>
            </a:r>
            <a:endParaRPr/>
          </a:p>
        </p:txBody>
      </p:sp>
      <p:pic>
        <p:nvPicPr>
          <p:cNvPr id="531" name="Google Shape;531;p39"/>
          <p:cNvPicPr preferRelativeResize="0"/>
          <p:nvPr/>
        </p:nvPicPr>
        <p:blipFill rotWithShape="1">
          <a:blip r:embed="rId4">
            <a:alphaModFix/>
          </a:blip>
          <a:srcRect b="0" l="0" r="0" t="0"/>
          <a:stretch/>
        </p:blipFill>
        <p:spPr>
          <a:xfrm>
            <a:off x="301752" y="1289304"/>
            <a:ext cx="8524226" cy="4989155"/>
          </a:xfrm>
          <a:prstGeom prst="rect">
            <a:avLst/>
          </a:prstGeom>
          <a:noFill/>
          <a:ln>
            <a:noFill/>
          </a:ln>
        </p:spPr>
      </p:pic>
      <p:sp>
        <p:nvSpPr>
          <p:cNvPr id="532" name="Google Shape;532;p3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0"/>
          <p:cNvSpPr txBox="1"/>
          <p:nvPr/>
        </p:nvSpPr>
        <p:spPr>
          <a:xfrm>
            <a:off x="81534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pic>
        <p:nvPicPr>
          <p:cNvPr id="538" name="Google Shape;538;p40"/>
          <p:cNvPicPr preferRelativeResize="0"/>
          <p:nvPr/>
        </p:nvPicPr>
        <p:blipFill rotWithShape="1">
          <a:blip r:embed="rId3">
            <a:alphaModFix/>
          </a:blip>
          <a:srcRect b="0" l="0" r="0" t="0"/>
          <a:stretch/>
        </p:blipFill>
        <p:spPr>
          <a:xfrm>
            <a:off x="685800" y="323850"/>
            <a:ext cx="7723260" cy="6218238"/>
          </a:xfrm>
          <a:prstGeom prst="rect">
            <a:avLst/>
          </a:prstGeom>
          <a:noFill/>
          <a:ln cap="sq" cmpd="sng" w="19050">
            <a:solidFill>
              <a:schemeClr val="dk1"/>
            </a:solidFill>
            <a:prstDash val="solid"/>
            <a:miter lim="800000"/>
            <a:headEnd len="sm" w="sm" type="none"/>
            <a:tailEnd len="sm" w="sm" type="none"/>
          </a:ln>
        </p:spPr>
      </p:pic>
      <p:sp>
        <p:nvSpPr>
          <p:cNvPr id="539" name="Google Shape;539;p40"/>
          <p:cNvSpPr/>
          <p:nvPr/>
        </p:nvSpPr>
        <p:spPr>
          <a:xfrm>
            <a:off x="685800" y="6202362"/>
            <a:ext cx="1371600" cy="27463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2-30</a:t>
            </a:r>
            <a:endParaRP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p41"/>
          <p:cNvPicPr preferRelativeResize="0"/>
          <p:nvPr/>
        </p:nvPicPr>
        <p:blipFill rotWithShape="1">
          <a:blip r:embed="rId3">
            <a:alphaModFix/>
          </a:blip>
          <a:srcRect b="0" l="0" r="0" t="0"/>
          <a:stretch/>
        </p:blipFill>
        <p:spPr>
          <a:xfrm>
            <a:off x="290286" y="357188"/>
            <a:ext cx="8636000" cy="823465"/>
          </a:xfrm>
          <a:prstGeom prst="rect">
            <a:avLst/>
          </a:prstGeom>
          <a:noFill/>
          <a:ln>
            <a:noFill/>
          </a:ln>
        </p:spPr>
      </p:pic>
      <p:pic>
        <p:nvPicPr>
          <p:cNvPr id="545" name="Google Shape;545;p41"/>
          <p:cNvPicPr preferRelativeResize="0"/>
          <p:nvPr/>
        </p:nvPicPr>
        <p:blipFill rotWithShape="1">
          <a:blip r:embed="rId4">
            <a:alphaModFix/>
          </a:blip>
          <a:srcRect b="0" l="0" r="0" t="0"/>
          <a:stretch/>
        </p:blipFill>
        <p:spPr>
          <a:xfrm rot="10800000">
            <a:off x="457200" y="501930"/>
            <a:ext cx="1600200" cy="564870"/>
          </a:xfrm>
          <a:prstGeom prst="rect">
            <a:avLst/>
          </a:prstGeom>
          <a:noFill/>
          <a:ln>
            <a:noFill/>
          </a:ln>
        </p:spPr>
      </p:pic>
      <p:sp>
        <p:nvSpPr>
          <p:cNvPr id="546" name="Google Shape;546;p41"/>
          <p:cNvSpPr txBox="1"/>
          <p:nvPr/>
        </p:nvSpPr>
        <p:spPr>
          <a:xfrm>
            <a:off x="1524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547" name="Google Shape;547;p41"/>
          <p:cNvSpPr/>
          <p:nvPr/>
        </p:nvSpPr>
        <p:spPr>
          <a:xfrm>
            <a:off x="628650" y="1371600"/>
            <a:ext cx="8058150" cy="83099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Kate Brown recorded the following transactions in a general journal during the month of March. Post these entries to the Cash account.</a:t>
            </a:r>
            <a:endParaRPr/>
          </a:p>
        </p:txBody>
      </p:sp>
      <p:sp>
        <p:nvSpPr>
          <p:cNvPr id="548" name="Google Shape;548;p41"/>
          <p:cNvSpPr/>
          <p:nvPr/>
        </p:nvSpPr>
        <p:spPr>
          <a:xfrm>
            <a:off x="914400" y="2362200"/>
            <a:ext cx="7696200" cy="240065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Mar. 4 	Cash 	2,280</a:t>
            </a:r>
            <a:endParaRPr/>
          </a:p>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		Service Revenue 		2,280</a:t>
            </a:r>
            <a:endParaRPr/>
          </a:p>
          <a:p>
            <a:pPr indent="0" lvl="0" marL="0" marR="0" rtl="0" algn="l">
              <a:lnSpc>
                <a:spcPct val="120000"/>
              </a:lnSpc>
              <a:spcBef>
                <a:spcPts val="300"/>
              </a:spcBef>
              <a:spcAft>
                <a:spcPts val="0"/>
              </a:spcAft>
              <a:buNone/>
            </a:pPr>
            <a:r>
              <a:rPr lang="en-US" sz="2000">
                <a:solidFill>
                  <a:schemeClr val="dk1"/>
                </a:solidFill>
                <a:latin typeface="Arial"/>
                <a:ea typeface="Arial"/>
                <a:cs typeface="Arial"/>
                <a:sym typeface="Arial"/>
              </a:rPr>
              <a:t>Mar. 15 	Salaries and Wages Expense 	400</a:t>
            </a:r>
            <a:endParaRPr/>
          </a:p>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		Cash 		400</a:t>
            </a:r>
            <a:endParaRPr/>
          </a:p>
          <a:p>
            <a:pPr indent="0" lvl="0" marL="0" marR="0" rtl="0" algn="l">
              <a:lnSpc>
                <a:spcPct val="120000"/>
              </a:lnSpc>
              <a:spcBef>
                <a:spcPts val="300"/>
              </a:spcBef>
              <a:spcAft>
                <a:spcPts val="0"/>
              </a:spcAft>
              <a:buNone/>
            </a:pPr>
            <a:r>
              <a:rPr lang="en-US" sz="2000">
                <a:solidFill>
                  <a:schemeClr val="dk1"/>
                </a:solidFill>
                <a:latin typeface="Arial"/>
                <a:ea typeface="Arial"/>
                <a:cs typeface="Arial"/>
                <a:sym typeface="Arial"/>
              </a:rPr>
              <a:t>Mar. 19 	Utilities Expense 	92</a:t>
            </a:r>
            <a:endParaRPr/>
          </a:p>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		Cash 		92</a:t>
            </a:r>
            <a:endParaRPr/>
          </a:p>
        </p:txBody>
      </p:sp>
      <p:pic>
        <p:nvPicPr>
          <p:cNvPr id="549" name="Google Shape;549;p41"/>
          <p:cNvPicPr preferRelativeResize="0"/>
          <p:nvPr/>
        </p:nvPicPr>
        <p:blipFill rotWithShape="1">
          <a:blip r:embed="rId5">
            <a:alphaModFix/>
          </a:blip>
          <a:srcRect b="0" l="0" r="0" t="0"/>
          <a:stretch/>
        </p:blipFill>
        <p:spPr>
          <a:xfrm>
            <a:off x="471714" y="4778276"/>
            <a:ext cx="8162925" cy="1725613"/>
          </a:xfrm>
          <a:prstGeom prst="rect">
            <a:avLst/>
          </a:prstGeom>
          <a:noFill/>
          <a:ln>
            <a:noFill/>
          </a:ln>
        </p:spPr>
      </p:pic>
      <p:sp>
        <p:nvSpPr>
          <p:cNvPr id="550" name="Google Shape;550;p41"/>
          <p:cNvSpPr/>
          <p:nvPr/>
        </p:nvSpPr>
        <p:spPr>
          <a:xfrm>
            <a:off x="1624239" y="5692676"/>
            <a:ext cx="28956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551" name="Google Shape;551;p41"/>
          <p:cNvSpPr/>
          <p:nvPr/>
        </p:nvSpPr>
        <p:spPr>
          <a:xfrm>
            <a:off x="4632552" y="5311676"/>
            <a:ext cx="28956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552" name="Google Shape;552;p41"/>
          <p:cNvSpPr/>
          <p:nvPr/>
        </p:nvSpPr>
        <p:spPr>
          <a:xfrm>
            <a:off x="4632552" y="5692676"/>
            <a:ext cx="28956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553" name="Google Shape;553;p41"/>
          <p:cNvSpPr/>
          <p:nvPr/>
        </p:nvSpPr>
        <p:spPr>
          <a:xfrm>
            <a:off x="1624239" y="6073676"/>
            <a:ext cx="28956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pic>
        <p:nvPicPr>
          <p:cNvPr id="554" name="Google Shape;554;p41"/>
          <p:cNvPicPr preferRelativeResize="0"/>
          <p:nvPr/>
        </p:nvPicPr>
        <p:blipFill rotWithShape="1">
          <a:blip r:embed="rId6">
            <a:alphaModFix/>
          </a:blip>
          <a:srcRect b="0" l="0" r="0" t="0"/>
          <a:stretch/>
        </p:blipFill>
        <p:spPr>
          <a:xfrm>
            <a:off x="3410857" y="586815"/>
            <a:ext cx="3144567" cy="413310"/>
          </a:xfrm>
          <a:prstGeom prst="rect">
            <a:avLst/>
          </a:prstGeom>
          <a:noFill/>
          <a:ln>
            <a:noFill/>
          </a:ln>
        </p:spPr>
      </p:pic>
      <p:pic>
        <p:nvPicPr>
          <p:cNvPr id="555" name="Google Shape;555;p41"/>
          <p:cNvPicPr preferRelativeResize="0"/>
          <p:nvPr/>
        </p:nvPicPr>
        <p:blipFill rotWithShape="1">
          <a:blip r:embed="rId7">
            <a:alphaModFix/>
          </a:blip>
          <a:srcRect b="0" l="0" r="0" t="0"/>
          <a:stretch/>
        </p:blipFill>
        <p:spPr>
          <a:xfrm>
            <a:off x="2493472" y="571501"/>
            <a:ext cx="409385" cy="344759"/>
          </a:xfrm>
          <a:prstGeom prst="rect">
            <a:avLst/>
          </a:prstGeom>
          <a:noFill/>
          <a:ln>
            <a:noFill/>
          </a:ln>
        </p:spPr>
      </p:pic>
      <p:sp>
        <p:nvSpPr>
          <p:cNvPr id="556" name="Google Shape;556;p41"/>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ctr">
              <a:spcBef>
                <a:spcPts val="0"/>
              </a:spcBef>
              <a:spcAft>
                <a:spcPts val="0"/>
              </a:spcAft>
              <a:buNone/>
            </a:pPr>
            <a:r>
              <a:rPr b="1" lang="en-US" sz="3600">
                <a:solidFill>
                  <a:srgbClr val="FF9900"/>
                </a:solidFill>
                <a:latin typeface="Arial"/>
                <a:ea typeface="Arial"/>
                <a:cs typeface="Arial"/>
                <a:sym typeface="Arial"/>
              </a:rPr>
              <a:t>3</a:t>
            </a:r>
            <a:endParaRPr b="1" sz="3600">
              <a:solidFill>
                <a:srgbClr val="FF9900"/>
              </a:solidFill>
              <a:latin typeface="Arial"/>
              <a:ea typeface="Arial"/>
              <a:cs typeface="Arial"/>
              <a:sym typeface="Arial"/>
            </a:endParaRPr>
          </a:p>
        </p:txBody>
      </p:sp>
      <p:sp>
        <p:nvSpPr>
          <p:cNvPr id="557" name="Google Shape;557;p41"/>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Posting</a:t>
            </a:r>
            <a:endParaRPr b="1" sz="2800">
              <a:solidFill>
                <a:schemeClr val="lt1"/>
              </a:solidFill>
              <a:latin typeface="Arial"/>
              <a:ea typeface="Arial"/>
              <a:cs typeface="Arial"/>
              <a:sym typeface="Arial"/>
            </a:endParaRPr>
          </a:p>
        </p:txBody>
      </p:sp>
      <p:sp>
        <p:nvSpPr>
          <p:cNvPr id="558" name="Google Shape;558;p4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0"/>
                                        </p:tgtEl>
                                      </p:cBhvr>
                                    </p:animEffect>
                                    <p:set>
                                      <p:cBhvr>
                                        <p:cTn dur="1" fill="hold">
                                          <p:stCondLst>
                                            <p:cond delay="500"/>
                                          </p:stCondLst>
                                        </p:cTn>
                                        <p:tgtEl>
                                          <p:spTgt spid="5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1"/>
                                        </p:tgtEl>
                                      </p:cBhvr>
                                    </p:animEffect>
                                    <p:set>
                                      <p:cBhvr>
                                        <p:cTn dur="1" fill="hold">
                                          <p:stCondLst>
                                            <p:cond delay="500"/>
                                          </p:stCondLst>
                                        </p:cTn>
                                        <p:tgtEl>
                                          <p:spTgt spid="5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2"/>
                                        </p:tgtEl>
                                      </p:cBhvr>
                                    </p:animEffect>
                                    <p:set>
                                      <p:cBhvr>
                                        <p:cTn dur="1" fill="hold">
                                          <p:stCondLst>
                                            <p:cond delay="500"/>
                                          </p:stCondLst>
                                        </p:cTn>
                                        <p:tgtEl>
                                          <p:spTgt spid="5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3"/>
                                        </p:tgtEl>
                                      </p:cBhvr>
                                    </p:animEffect>
                                    <p:set>
                                      <p:cBhvr>
                                        <p:cTn dur="1" fill="hold">
                                          <p:stCondLst>
                                            <p:cond delay="500"/>
                                          </p:stCondLst>
                                        </p:cTn>
                                        <p:tgtEl>
                                          <p:spTgt spid="55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2"/>
          <p:cNvSpPr/>
          <p:nvPr/>
        </p:nvSpPr>
        <p:spPr>
          <a:xfrm>
            <a:off x="5030251" y="6315075"/>
            <a:ext cx="24237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lt2"/>
                </a:solidFill>
                <a:latin typeface="Arial"/>
                <a:ea typeface="Arial"/>
                <a:cs typeface="Arial"/>
                <a:sym typeface="Arial"/>
              </a:rPr>
              <a:t> </a:t>
            </a:r>
            <a:endParaRPr/>
          </a:p>
        </p:txBody>
      </p:sp>
      <p:sp>
        <p:nvSpPr>
          <p:cNvPr id="564" name="Google Shape;564;p42"/>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565" name="Google Shape;565;p42"/>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800">
                <a:solidFill>
                  <a:schemeClr val="lt1"/>
                </a:solidFill>
                <a:latin typeface="Arial"/>
                <a:ea typeface="Arial"/>
                <a:cs typeface="Arial"/>
                <a:sym typeface="Arial"/>
              </a:rPr>
              <a:t>Prepare a trial balance.</a:t>
            </a:r>
            <a:endParaRPr b="1" sz="2800">
              <a:solidFill>
                <a:schemeClr val="lt1"/>
              </a:solidFill>
              <a:latin typeface="Arial"/>
              <a:ea typeface="Arial"/>
              <a:cs typeface="Arial"/>
              <a:sym typeface="Arial"/>
            </a:endParaRPr>
          </a:p>
        </p:txBody>
      </p:sp>
      <p:sp>
        <p:nvSpPr>
          <p:cNvPr id="566" name="Google Shape;566;p42"/>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4</a:t>
            </a:r>
            <a:endParaRPr/>
          </a:p>
        </p:txBody>
      </p:sp>
      <p:pic>
        <p:nvPicPr>
          <p:cNvPr id="567" name="Google Shape;567;p42"/>
          <p:cNvPicPr preferRelativeResize="0"/>
          <p:nvPr/>
        </p:nvPicPr>
        <p:blipFill rotWithShape="1">
          <a:blip r:embed="rId3">
            <a:alphaModFix/>
          </a:blip>
          <a:srcRect b="0" l="0" r="0" t="0"/>
          <a:stretch/>
        </p:blipFill>
        <p:spPr>
          <a:xfrm>
            <a:off x="609600" y="1524000"/>
            <a:ext cx="7924800" cy="4830940"/>
          </a:xfrm>
          <a:prstGeom prst="rect">
            <a:avLst/>
          </a:prstGeom>
          <a:noFill/>
          <a:ln cap="flat" cmpd="sng" w="28575">
            <a:solidFill>
              <a:srgbClr val="7F7F7F"/>
            </a:solidFill>
            <a:prstDash val="solid"/>
            <a:miter lim="800000"/>
            <a:headEnd len="sm" w="sm" type="none"/>
            <a:tailEnd len="sm" w="sm" type="none"/>
          </a:ln>
        </p:spPr>
      </p:pic>
      <p:sp>
        <p:nvSpPr>
          <p:cNvPr id="568" name="Google Shape;568;p42"/>
          <p:cNvSpPr/>
          <p:nvPr/>
        </p:nvSpPr>
        <p:spPr>
          <a:xfrm>
            <a:off x="1023257" y="6428601"/>
            <a:ext cx="1371600" cy="27699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2-31</a:t>
            </a:r>
            <a:endParaRPr/>
          </a:p>
        </p:txBody>
      </p:sp>
      <p:sp>
        <p:nvSpPr>
          <p:cNvPr id="569" name="Google Shape;569;p42"/>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3"/>
          <p:cNvSpPr txBox="1"/>
          <p:nvPr/>
        </p:nvSpPr>
        <p:spPr>
          <a:xfrm>
            <a:off x="533400" y="1905000"/>
            <a:ext cx="8229600" cy="3801041"/>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lang="en-US" sz="2300">
                <a:solidFill>
                  <a:schemeClr val="dk1"/>
                </a:solidFill>
                <a:latin typeface="Arial"/>
                <a:ea typeface="Arial"/>
                <a:cs typeface="Arial"/>
                <a:sym typeface="Arial"/>
              </a:rPr>
              <a:t>Trial balance may balance even when: </a:t>
            </a:r>
            <a:endParaRPr sz="2300">
              <a:solidFill>
                <a:schemeClr val="dk1"/>
              </a:solidFill>
              <a:latin typeface="Arial"/>
              <a:ea typeface="Arial"/>
              <a:cs typeface="Arial"/>
              <a:sym typeface="Arial"/>
            </a:endParaRPr>
          </a:p>
          <a:p>
            <a:pPr indent="-457200" lvl="1" marL="687388" marR="0" rtl="0" algn="l">
              <a:lnSpc>
                <a:spcPct val="120000"/>
              </a:lnSpc>
              <a:spcBef>
                <a:spcPts val="11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A transaction is not journalized. </a:t>
            </a:r>
            <a:endParaRPr/>
          </a:p>
          <a:p>
            <a:pPr indent="-457200" lvl="1" marL="687388" marR="0" rtl="0" algn="l">
              <a:lnSpc>
                <a:spcPct val="120000"/>
              </a:lnSpc>
              <a:spcBef>
                <a:spcPts val="11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A correct journal entry is not posted.</a:t>
            </a:r>
            <a:endParaRPr/>
          </a:p>
          <a:p>
            <a:pPr indent="-457200" lvl="1" marL="687388" marR="0" rtl="0" algn="l">
              <a:lnSpc>
                <a:spcPct val="120000"/>
              </a:lnSpc>
              <a:spcBef>
                <a:spcPts val="11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A journal entry is posted twice.</a:t>
            </a:r>
            <a:endParaRPr/>
          </a:p>
          <a:p>
            <a:pPr indent="-457200" lvl="1" marL="687388" marR="0" rtl="0" algn="l">
              <a:lnSpc>
                <a:spcPct val="120000"/>
              </a:lnSpc>
              <a:spcBef>
                <a:spcPts val="11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Incorrect accounts are used in journalizing or posting. </a:t>
            </a:r>
            <a:endParaRPr/>
          </a:p>
          <a:p>
            <a:pPr indent="-457200" lvl="1" marL="687388" marR="0" rtl="0" algn="l">
              <a:lnSpc>
                <a:spcPct val="120000"/>
              </a:lnSpc>
              <a:spcBef>
                <a:spcPts val="11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Offsetting errors are made in recording the amount of a transaction.</a:t>
            </a:r>
            <a:endParaRPr b="0" i="0" sz="2200" u="none" cap="none" strike="noStrike">
              <a:solidFill>
                <a:schemeClr val="dk1"/>
              </a:solidFill>
              <a:latin typeface="Arial"/>
              <a:ea typeface="Arial"/>
              <a:cs typeface="Arial"/>
              <a:sym typeface="Arial"/>
            </a:endParaRPr>
          </a:p>
        </p:txBody>
      </p:sp>
      <p:sp>
        <p:nvSpPr>
          <p:cNvPr id="575" name="Google Shape;575;p43"/>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Trial Balance</a:t>
            </a:r>
            <a:endParaRPr/>
          </a:p>
        </p:txBody>
      </p:sp>
      <p:cxnSp>
        <p:nvCxnSpPr>
          <p:cNvPr id="576" name="Google Shape;576;p4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77" name="Google Shape;577;p43"/>
          <p:cNvSpPr/>
          <p:nvPr/>
        </p:nvSpPr>
        <p:spPr>
          <a:xfrm>
            <a:off x="533400" y="1295400"/>
            <a:ext cx="80010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Limitations of a Trial Balance</a:t>
            </a:r>
            <a:endParaRPr/>
          </a:p>
        </p:txBody>
      </p:sp>
      <p:pic>
        <p:nvPicPr>
          <p:cNvPr id="578" name="Google Shape;578;p43"/>
          <p:cNvPicPr preferRelativeResize="0"/>
          <p:nvPr/>
        </p:nvPicPr>
        <p:blipFill rotWithShape="1">
          <a:blip r:embed="rId3">
            <a:alphaModFix/>
          </a:blip>
          <a:srcRect b="0" l="0" r="0" t="0"/>
          <a:stretch/>
        </p:blipFill>
        <p:spPr>
          <a:xfrm>
            <a:off x="6096000" y="1600200"/>
            <a:ext cx="2725667" cy="2334854"/>
          </a:xfrm>
          <a:prstGeom prst="rect">
            <a:avLst/>
          </a:prstGeom>
          <a:noFill/>
          <a:ln>
            <a:noFill/>
          </a:ln>
        </p:spPr>
      </p:pic>
      <p:sp>
        <p:nvSpPr>
          <p:cNvPr id="579" name="Google Shape;579;p4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4"/>
          <p:cNvSpPr txBox="1"/>
          <p:nvPr/>
        </p:nvSpPr>
        <p:spPr>
          <a:xfrm>
            <a:off x="533400" y="1295400"/>
            <a:ext cx="8153400" cy="511524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300">
                <a:solidFill>
                  <a:schemeClr val="dk1"/>
                </a:solidFill>
                <a:latin typeface="Arial"/>
                <a:ea typeface="Arial"/>
                <a:cs typeface="Arial"/>
                <a:sym typeface="Arial"/>
              </a:rPr>
              <a:t>Dollar Signs</a:t>
            </a:r>
            <a:endParaRPr/>
          </a:p>
          <a:p>
            <a:pPr indent="-457199" lvl="0" marL="693738" marR="0" rtl="0" algn="l">
              <a:lnSpc>
                <a:spcPct val="120000"/>
              </a:lnSpc>
              <a:spcBef>
                <a:spcPts val="120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Do not appear in journals or ledgers. </a:t>
            </a:r>
            <a:endParaRPr sz="2200">
              <a:solidFill>
                <a:schemeClr val="dk1"/>
              </a:solidFill>
              <a:latin typeface="Arial"/>
              <a:ea typeface="Arial"/>
              <a:cs typeface="Arial"/>
              <a:sym typeface="Arial"/>
            </a:endParaRPr>
          </a:p>
          <a:p>
            <a:pPr indent="-457199" lvl="0" marL="693738" marR="0" rtl="0" algn="l">
              <a:lnSpc>
                <a:spcPct val="120000"/>
              </a:lnSpc>
              <a:spcBef>
                <a:spcPts val="120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Typically used only in the trial balance and the financial statements. </a:t>
            </a:r>
            <a:endParaRPr sz="2200">
              <a:solidFill>
                <a:schemeClr val="dk1"/>
              </a:solidFill>
              <a:latin typeface="Arial"/>
              <a:ea typeface="Arial"/>
              <a:cs typeface="Arial"/>
              <a:sym typeface="Arial"/>
            </a:endParaRPr>
          </a:p>
          <a:p>
            <a:pPr indent="-457199" lvl="0" marL="693738" marR="0" rtl="0" algn="l">
              <a:lnSpc>
                <a:spcPct val="120000"/>
              </a:lnSpc>
              <a:spcBef>
                <a:spcPts val="120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Shown only for the first item in the column and for the total of that column.</a:t>
            </a:r>
            <a:endParaRPr/>
          </a:p>
          <a:p>
            <a:pPr indent="0" lvl="0" marL="0" marR="0" rtl="0" algn="l">
              <a:lnSpc>
                <a:spcPct val="120000"/>
              </a:lnSpc>
              <a:spcBef>
                <a:spcPts val="1200"/>
              </a:spcBef>
              <a:spcAft>
                <a:spcPts val="0"/>
              </a:spcAft>
              <a:buNone/>
            </a:pPr>
            <a:r>
              <a:rPr b="1" lang="en-US" sz="2300">
                <a:solidFill>
                  <a:schemeClr val="dk1"/>
                </a:solidFill>
                <a:latin typeface="Arial"/>
                <a:ea typeface="Arial"/>
                <a:cs typeface="Arial"/>
                <a:sym typeface="Arial"/>
              </a:rPr>
              <a:t>Underlining</a:t>
            </a:r>
            <a:endParaRPr/>
          </a:p>
          <a:p>
            <a:pPr indent="-457199" lvl="0" marL="693738" marR="0" rtl="0" algn="l">
              <a:lnSpc>
                <a:spcPct val="120000"/>
              </a:lnSpc>
              <a:spcBef>
                <a:spcPts val="120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A single line is placed under the column of figures to be added or subtracted. </a:t>
            </a:r>
            <a:endParaRPr sz="2200">
              <a:solidFill>
                <a:schemeClr val="dk1"/>
              </a:solidFill>
              <a:latin typeface="Arial"/>
              <a:ea typeface="Arial"/>
              <a:cs typeface="Arial"/>
              <a:sym typeface="Arial"/>
            </a:endParaRPr>
          </a:p>
          <a:p>
            <a:pPr indent="-457199" lvl="0" marL="693738" marR="0" rtl="0" algn="l">
              <a:lnSpc>
                <a:spcPct val="120000"/>
              </a:lnSpc>
              <a:spcBef>
                <a:spcPts val="1200"/>
              </a:spcBef>
              <a:spcAft>
                <a:spcPts val="0"/>
              </a:spcAft>
              <a:buClr>
                <a:srgbClr val="800000"/>
              </a:buClr>
              <a:buSzPts val="1760"/>
              <a:buFont typeface="Noto Sans Symbols"/>
              <a:buChar char="◆"/>
            </a:pPr>
            <a:r>
              <a:rPr lang="en-US" sz="2200">
                <a:solidFill>
                  <a:schemeClr val="dk1"/>
                </a:solidFill>
                <a:latin typeface="Arial"/>
                <a:ea typeface="Arial"/>
                <a:cs typeface="Arial"/>
                <a:sym typeface="Arial"/>
              </a:rPr>
              <a:t>Totals are double-underlined.</a:t>
            </a:r>
            <a:endParaRPr sz="2200">
              <a:solidFill>
                <a:schemeClr val="dk1"/>
              </a:solidFill>
              <a:latin typeface="Arial"/>
              <a:ea typeface="Arial"/>
              <a:cs typeface="Arial"/>
              <a:sym typeface="Arial"/>
            </a:endParaRPr>
          </a:p>
        </p:txBody>
      </p:sp>
      <p:sp>
        <p:nvSpPr>
          <p:cNvPr id="585" name="Google Shape;585;p44"/>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Dollar Signs and Underlining</a:t>
            </a:r>
            <a:endParaRPr b="1" sz="3200">
              <a:solidFill>
                <a:srgbClr val="0000BF"/>
              </a:solidFill>
              <a:latin typeface="Arial"/>
              <a:ea typeface="Arial"/>
              <a:cs typeface="Arial"/>
              <a:sym typeface="Arial"/>
            </a:endParaRPr>
          </a:p>
        </p:txBody>
      </p:sp>
      <p:cxnSp>
        <p:nvCxnSpPr>
          <p:cNvPr id="586" name="Google Shape;586;p4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87" name="Google Shape;587;p4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5"/>
          <p:cNvSpPr/>
          <p:nvPr/>
        </p:nvSpPr>
        <p:spPr>
          <a:xfrm>
            <a:off x="474663" y="1905000"/>
            <a:ext cx="8001000" cy="39624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0000"/>
              </a:lnSpc>
              <a:spcBef>
                <a:spcPts val="0"/>
              </a:spcBef>
              <a:spcAft>
                <a:spcPts val="0"/>
              </a:spcAft>
              <a:buClr>
                <a:schemeClr val="dk1"/>
              </a:buClr>
              <a:buSzPts val="2100"/>
              <a:buFont typeface="Noto Sans Symbols"/>
              <a:buNone/>
            </a:pPr>
            <a:r>
              <a:rPr lang="en-US" sz="2100">
                <a:solidFill>
                  <a:schemeClr val="dk1"/>
                </a:solidFill>
                <a:latin typeface="Arial"/>
                <a:ea typeface="Arial"/>
                <a:cs typeface="Arial"/>
                <a:sym typeface="Arial"/>
              </a:rPr>
              <a:t>A trial balance will not balance if:</a:t>
            </a:r>
            <a:endParaRPr/>
          </a:p>
          <a:p>
            <a:pPr indent="-455613" lvl="1" marL="685800" marR="0" rtl="0" algn="l">
              <a:lnSpc>
                <a:spcPct val="120000"/>
              </a:lnSpc>
              <a:spcBef>
                <a:spcPts val="105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a correct journal entry is posted twice.</a:t>
            </a:r>
            <a:endParaRPr/>
          </a:p>
          <a:p>
            <a:pPr indent="-455613" lvl="1" marL="685800" marR="0" rtl="0" algn="l">
              <a:lnSpc>
                <a:spcPct val="120000"/>
              </a:lnSpc>
              <a:spcBef>
                <a:spcPts val="105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the purchase of supplies on account is debited to Supplies and credited to Cash.</a:t>
            </a:r>
            <a:endParaRPr/>
          </a:p>
          <a:p>
            <a:pPr indent="-455613" lvl="1" marL="685800" marR="0" rtl="0" algn="l">
              <a:lnSpc>
                <a:spcPct val="120000"/>
              </a:lnSpc>
              <a:spcBef>
                <a:spcPts val="105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a $100 cash drawing by the owner is debited to Owner’s Drawing for $1,000 and credited to Cash for $100. </a:t>
            </a:r>
            <a:endParaRPr/>
          </a:p>
          <a:p>
            <a:pPr indent="-455613" lvl="1" marL="685800" marR="0" rtl="0" algn="l">
              <a:lnSpc>
                <a:spcPct val="120000"/>
              </a:lnSpc>
              <a:spcBef>
                <a:spcPts val="105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a $450 payment on account is debited to Accounts Payable for $45 and credited to Cash for $45.</a:t>
            </a:r>
            <a:endParaRPr/>
          </a:p>
        </p:txBody>
      </p:sp>
      <p:sp>
        <p:nvSpPr>
          <p:cNvPr id="593" name="Google Shape;593;p45"/>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Trial Balance</a:t>
            </a:r>
            <a:endParaRPr/>
          </a:p>
        </p:txBody>
      </p:sp>
      <p:cxnSp>
        <p:nvCxnSpPr>
          <p:cNvPr id="594" name="Google Shape;594;p4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95" name="Google Shape;595;p45"/>
          <p:cNvSpPr/>
          <p:nvPr/>
        </p:nvSpPr>
        <p:spPr>
          <a:xfrm>
            <a:off x="533400" y="1295400"/>
            <a:ext cx="5334000" cy="6096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596" name="Google Shape;596;p4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
        <p:nvSpPr>
          <p:cNvPr id="597" name="Google Shape;597;p45"/>
          <p:cNvSpPr/>
          <p:nvPr/>
        </p:nvSpPr>
        <p:spPr>
          <a:xfrm>
            <a:off x="152400" y="39624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8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46"/>
          <p:cNvPicPr preferRelativeResize="0"/>
          <p:nvPr/>
        </p:nvPicPr>
        <p:blipFill rotWithShape="1">
          <a:blip r:embed="rId3">
            <a:alphaModFix/>
          </a:blip>
          <a:srcRect b="0" l="0" r="0" t="0"/>
          <a:stretch/>
        </p:blipFill>
        <p:spPr>
          <a:xfrm>
            <a:off x="228600" y="585788"/>
            <a:ext cx="8658049" cy="4367212"/>
          </a:xfrm>
          <a:prstGeom prst="rect">
            <a:avLst/>
          </a:prstGeom>
          <a:noFill/>
          <a:ln>
            <a:noFill/>
          </a:ln>
        </p:spPr>
      </p:pic>
      <p:sp>
        <p:nvSpPr>
          <p:cNvPr id="603" name="Google Shape;603;p4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47"/>
          <p:cNvPicPr preferRelativeResize="0"/>
          <p:nvPr/>
        </p:nvPicPr>
        <p:blipFill rotWithShape="1">
          <a:blip r:embed="rId3">
            <a:alphaModFix/>
          </a:blip>
          <a:srcRect b="0" l="0" r="0" t="0"/>
          <a:stretch/>
        </p:blipFill>
        <p:spPr>
          <a:xfrm>
            <a:off x="290286" y="357188"/>
            <a:ext cx="8548914" cy="823465"/>
          </a:xfrm>
          <a:prstGeom prst="rect">
            <a:avLst/>
          </a:prstGeom>
          <a:noFill/>
          <a:ln>
            <a:noFill/>
          </a:ln>
        </p:spPr>
      </p:pic>
      <p:pic>
        <p:nvPicPr>
          <p:cNvPr id="609" name="Google Shape;609;p47"/>
          <p:cNvPicPr preferRelativeResize="0"/>
          <p:nvPr/>
        </p:nvPicPr>
        <p:blipFill rotWithShape="1">
          <a:blip r:embed="rId4">
            <a:alphaModFix/>
          </a:blip>
          <a:srcRect b="0" l="0" r="0" t="0"/>
          <a:stretch/>
        </p:blipFill>
        <p:spPr>
          <a:xfrm rot="10800000">
            <a:off x="457200" y="501930"/>
            <a:ext cx="1600200" cy="564870"/>
          </a:xfrm>
          <a:prstGeom prst="rect">
            <a:avLst/>
          </a:prstGeom>
          <a:noFill/>
          <a:ln>
            <a:noFill/>
          </a:ln>
        </p:spPr>
      </p:pic>
      <p:sp>
        <p:nvSpPr>
          <p:cNvPr id="610" name="Google Shape;610;p47"/>
          <p:cNvSpPr txBox="1"/>
          <p:nvPr/>
        </p:nvSpPr>
        <p:spPr>
          <a:xfrm>
            <a:off x="1524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pic>
        <p:nvPicPr>
          <p:cNvPr id="611" name="Google Shape;611;p47"/>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612" name="Google Shape;612;p47"/>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613" name="Google Shape;613;p47"/>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ctr">
              <a:spcBef>
                <a:spcPts val="0"/>
              </a:spcBef>
              <a:spcAft>
                <a:spcPts val="0"/>
              </a:spcAft>
              <a:buNone/>
            </a:pPr>
            <a:r>
              <a:rPr b="1" lang="en-US" sz="3600">
                <a:solidFill>
                  <a:srgbClr val="FF9900"/>
                </a:solidFill>
                <a:latin typeface="Arial"/>
                <a:ea typeface="Arial"/>
                <a:cs typeface="Arial"/>
                <a:sym typeface="Arial"/>
              </a:rPr>
              <a:t>4</a:t>
            </a:r>
            <a:endParaRPr b="1" sz="3600">
              <a:solidFill>
                <a:srgbClr val="FF9900"/>
              </a:solidFill>
              <a:latin typeface="Arial"/>
              <a:ea typeface="Arial"/>
              <a:cs typeface="Arial"/>
              <a:sym typeface="Arial"/>
            </a:endParaRPr>
          </a:p>
        </p:txBody>
      </p:sp>
      <p:sp>
        <p:nvSpPr>
          <p:cNvPr id="614" name="Google Shape;614;p47"/>
          <p:cNvSpPr txBox="1"/>
          <p:nvPr/>
        </p:nvSpPr>
        <p:spPr>
          <a:xfrm>
            <a:off x="3338287" y="508909"/>
            <a:ext cx="5348514"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Trial Balance</a:t>
            </a:r>
            <a:endParaRPr b="1" sz="2800">
              <a:solidFill>
                <a:schemeClr val="lt1"/>
              </a:solidFill>
              <a:latin typeface="Arial"/>
              <a:ea typeface="Arial"/>
              <a:cs typeface="Arial"/>
              <a:sym typeface="Arial"/>
            </a:endParaRPr>
          </a:p>
        </p:txBody>
      </p:sp>
      <p:pic>
        <p:nvPicPr>
          <p:cNvPr id="615" name="Google Shape;615;p47"/>
          <p:cNvPicPr preferRelativeResize="0"/>
          <p:nvPr/>
        </p:nvPicPr>
        <p:blipFill rotWithShape="1">
          <a:blip r:embed="rId7">
            <a:alphaModFix/>
          </a:blip>
          <a:srcRect b="0" l="0" r="0" t="0"/>
          <a:stretch/>
        </p:blipFill>
        <p:spPr>
          <a:xfrm>
            <a:off x="290286" y="1295400"/>
            <a:ext cx="8548914" cy="2797961"/>
          </a:xfrm>
          <a:prstGeom prst="rect">
            <a:avLst/>
          </a:prstGeom>
          <a:noFill/>
          <a:ln cap="flat" cmpd="sng" w="9525">
            <a:solidFill>
              <a:schemeClr val="dk1"/>
            </a:solidFill>
            <a:prstDash val="solid"/>
            <a:miter lim="800000"/>
            <a:headEnd len="sm" w="sm" type="none"/>
            <a:tailEnd len="sm" w="sm" type="none"/>
          </a:ln>
        </p:spPr>
      </p:pic>
      <p:sp>
        <p:nvSpPr>
          <p:cNvPr id="616" name="Google Shape;616;p4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48"/>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pic>
        <p:nvPicPr>
          <p:cNvPr id="622" name="Google Shape;622;p48"/>
          <p:cNvPicPr preferRelativeResize="0"/>
          <p:nvPr/>
        </p:nvPicPr>
        <p:blipFill rotWithShape="1">
          <a:blip r:embed="rId3">
            <a:alphaModFix/>
          </a:blip>
          <a:srcRect b="0" l="0" r="0" t="0"/>
          <a:stretch/>
        </p:blipFill>
        <p:spPr>
          <a:xfrm>
            <a:off x="290286" y="357188"/>
            <a:ext cx="8548914" cy="823465"/>
          </a:xfrm>
          <a:prstGeom prst="rect">
            <a:avLst/>
          </a:prstGeom>
          <a:noFill/>
          <a:ln>
            <a:noFill/>
          </a:ln>
        </p:spPr>
      </p:pic>
      <p:pic>
        <p:nvPicPr>
          <p:cNvPr id="623" name="Google Shape;623;p48"/>
          <p:cNvPicPr preferRelativeResize="0"/>
          <p:nvPr/>
        </p:nvPicPr>
        <p:blipFill rotWithShape="1">
          <a:blip r:embed="rId4">
            <a:alphaModFix/>
          </a:blip>
          <a:srcRect b="0" l="0" r="0" t="0"/>
          <a:stretch/>
        </p:blipFill>
        <p:spPr>
          <a:xfrm rot="10800000">
            <a:off x="457200" y="501930"/>
            <a:ext cx="1600200" cy="564870"/>
          </a:xfrm>
          <a:prstGeom prst="rect">
            <a:avLst/>
          </a:prstGeom>
          <a:noFill/>
          <a:ln>
            <a:noFill/>
          </a:ln>
        </p:spPr>
      </p:pic>
      <p:sp>
        <p:nvSpPr>
          <p:cNvPr id="624" name="Google Shape;624;p48"/>
          <p:cNvSpPr txBox="1"/>
          <p:nvPr/>
        </p:nvSpPr>
        <p:spPr>
          <a:xfrm>
            <a:off x="1524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pic>
        <p:nvPicPr>
          <p:cNvPr id="625" name="Google Shape;625;p48"/>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626" name="Google Shape;626;p48"/>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627" name="Google Shape;627;p48"/>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ctr">
              <a:spcBef>
                <a:spcPts val="0"/>
              </a:spcBef>
              <a:spcAft>
                <a:spcPts val="0"/>
              </a:spcAft>
              <a:buNone/>
            </a:pPr>
            <a:r>
              <a:rPr b="1" lang="en-US" sz="3600">
                <a:solidFill>
                  <a:srgbClr val="FF9900"/>
                </a:solidFill>
                <a:latin typeface="Arial"/>
                <a:ea typeface="Arial"/>
                <a:cs typeface="Arial"/>
                <a:sym typeface="Arial"/>
              </a:rPr>
              <a:t>4</a:t>
            </a:r>
            <a:endParaRPr b="1" sz="3600">
              <a:solidFill>
                <a:srgbClr val="FF9900"/>
              </a:solidFill>
              <a:latin typeface="Arial"/>
              <a:ea typeface="Arial"/>
              <a:cs typeface="Arial"/>
              <a:sym typeface="Arial"/>
            </a:endParaRPr>
          </a:p>
        </p:txBody>
      </p:sp>
      <p:sp>
        <p:nvSpPr>
          <p:cNvPr id="628" name="Google Shape;628;p48"/>
          <p:cNvSpPr txBox="1"/>
          <p:nvPr/>
        </p:nvSpPr>
        <p:spPr>
          <a:xfrm>
            <a:off x="3338287" y="508909"/>
            <a:ext cx="5348514"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Trial Balance</a:t>
            </a:r>
            <a:endParaRPr b="1" sz="2800">
              <a:solidFill>
                <a:schemeClr val="lt1"/>
              </a:solidFill>
              <a:latin typeface="Arial"/>
              <a:ea typeface="Arial"/>
              <a:cs typeface="Arial"/>
              <a:sym typeface="Arial"/>
            </a:endParaRPr>
          </a:p>
        </p:txBody>
      </p:sp>
      <p:pic>
        <p:nvPicPr>
          <p:cNvPr id="629" name="Google Shape;629;p48"/>
          <p:cNvPicPr preferRelativeResize="0"/>
          <p:nvPr/>
        </p:nvPicPr>
        <p:blipFill rotWithShape="1">
          <a:blip r:embed="rId7">
            <a:alphaModFix/>
          </a:blip>
          <a:srcRect b="0" l="0" r="0" t="0"/>
          <a:stretch/>
        </p:blipFill>
        <p:spPr>
          <a:xfrm>
            <a:off x="518888" y="1295400"/>
            <a:ext cx="8167912" cy="5141817"/>
          </a:xfrm>
          <a:prstGeom prst="rect">
            <a:avLst/>
          </a:prstGeom>
          <a:noFill/>
          <a:ln>
            <a:noFill/>
          </a:ln>
        </p:spPr>
      </p:pic>
      <p:pic>
        <p:nvPicPr>
          <p:cNvPr id="630" name="Google Shape;630;p48"/>
          <p:cNvPicPr preferRelativeResize="0"/>
          <p:nvPr/>
        </p:nvPicPr>
        <p:blipFill rotWithShape="1">
          <a:blip r:embed="rId8">
            <a:alphaModFix/>
          </a:blip>
          <a:srcRect b="0" l="0" r="0" t="0"/>
          <a:stretch/>
        </p:blipFill>
        <p:spPr>
          <a:xfrm>
            <a:off x="1066800" y="2772304"/>
            <a:ext cx="7092935" cy="247121"/>
          </a:xfrm>
          <a:prstGeom prst="rect">
            <a:avLst/>
          </a:prstGeom>
          <a:noFill/>
          <a:ln>
            <a:noFill/>
          </a:ln>
        </p:spPr>
      </p:pic>
      <p:pic>
        <p:nvPicPr>
          <p:cNvPr id="631" name="Google Shape;631;p48"/>
          <p:cNvPicPr preferRelativeResize="0"/>
          <p:nvPr/>
        </p:nvPicPr>
        <p:blipFill rotWithShape="1">
          <a:blip r:embed="rId8">
            <a:alphaModFix/>
          </a:blip>
          <a:srcRect b="0" l="0" r="0" t="0"/>
          <a:stretch/>
        </p:blipFill>
        <p:spPr>
          <a:xfrm>
            <a:off x="1066800" y="3048000"/>
            <a:ext cx="7092935" cy="247121"/>
          </a:xfrm>
          <a:prstGeom prst="rect">
            <a:avLst/>
          </a:prstGeom>
          <a:noFill/>
          <a:ln>
            <a:noFill/>
          </a:ln>
        </p:spPr>
      </p:pic>
      <p:pic>
        <p:nvPicPr>
          <p:cNvPr id="632" name="Google Shape;632;p48"/>
          <p:cNvPicPr preferRelativeResize="0"/>
          <p:nvPr/>
        </p:nvPicPr>
        <p:blipFill rotWithShape="1">
          <a:blip r:embed="rId8">
            <a:alphaModFix/>
          </a:blip>
          <a:srcRect b="0" l="0" r="0" t="0"/>
          <a:stretch/>
        </p:blipFill>
        <p:spPr>
          <a:xfrm>
            <a:off x="1066800" y="3276600"/>
            <a:ext cx="7092935" cy="247121"/>
          </a:xfrm>
          <a:prstGeom prst="rect">
            <a:avLst/>
          </a:prstGeom>
          <a:noFill/>
          <a:ln>
            <a:noFill/>
          </a:ln>
        </p:spPr>
      </p:pic>
      <p:pic>
        <p:nvPicPr>
          <p:cNvPr id="633" name="Google Shape;633;p48"/>
          <p:cNvPicPr preferRelativeResize="0"/>
          <p:nvPr/>
        </p:nvPicPr>
        <p:blipFill rotWithShape="1">
          <a:blip r:embed="rId8">
            <a:alphaModFix/>
          </a:blip>
          <a:srcRect b="0" l="0" r="0" t="0"/>
          <a:stretch/>
        </p:blipFill>
        <p:spPr>
          <a:xfrm>
            <a:off x="1066800" y="3562879"/>
            <a:ext cx="7092935" cy="247121"/>
          </a:xfrm>
          <a:prstGeom prst="rect">
            <a:avLst/>
          </a:prstGeom>
          <a:noFill/>
          <a:ln>
            <a:noFill/>
          </a:ln>
        </p:spPr>
      </p:pic>
      <p:pic>
        <p:nvPicPr>
          <p:cNvPr id="634" name="Google Shape;634;p48"/>
          <p:cNvPicPr preferRelativeResize="0"/>
          <p:nvPr/>
        </p:nvPicPr>
        <p:blipFill rotWithShape="1">
          <a:blip r:embed="rId8">
            <a:alphaModFix/>
          </a:blip>
          <a:srcRect b="0" l="0" r="0" t="0"/>
          <a:stretch/>
        </p:blipFill>
        <p:spPr>
          <a:xfrm>
            <a:off x="1066800" y="3810000"/>
            <a:ext cx="7092935" cy="247121"/>
          </a:xfrm>
          <a:prstGeom prst="rect">
            <a:avLst/>
          </a:prstGeom>
          <a:noFill/>
          <a:ln>
            <a:noFill/>
          </a:ln>
        </p:spPr>
      </p:pic>
      <p:pic>
        <p:nvPicPr>
          <p:cNvPr id="635" name="Google Shape;635;p48"/>
          <p:cNvPicPr preferRelativeResize="0"/>
          <p:nvPr/>
        </p:nvPicPr>
        <p:blipFill rotWithShape="1">
          <a:blip r:embed="rId8">
            <a:alphaModFix/>
          </a:blip>
          <a:srcRect b="0" l="0" r="0" t="0"/>
          <a:stretch/>
        </p:blipFill>
        <p:spPr>
          <a:xfrm>
            <a:off x="1066800" y="4020079"/>
            <a:ext cx="7092935" cy="247121"/>
          </a:xfrm>
          <a:prstGeom prst="rect">
            <a:avLst/>
          </a:prstGeom>
          <a:noFill/>
          <a:ln>
            <a:noFill/>
          </a:ln>
        </p:spPr>
      </p:pic>
      <p:pic>
        <p:nvPicPr>
          <p:cNvPr id="636" name="Google Shape;636;p48"/>
          <p:cNvPicPr preferRelativeResize="0"/>
          <p:nvPr/>
        </p:nvPicPr>
        <p:blipFill rotWithShape="1">
          <a:blip r:embed="rId8">
            <a:alphaModFix/>
          </a:blip>
          <a:srcRect b="0" l="0" r="0" t="0"/>
          <a:stretch/>
        </p:blipFill>
        <p:spPr>
          <a:xfrm>
            <a:off x="1066800" y="4267200"/>
            <a:ext cx="7092935" cy="247121"/>
          </a:xfrm>
          <a:prstGeom prst="rect">
            <a:avLst/>
          </a:prstGeom>
          <a:noFill/>
          <a:ln>
            <a:noFill/>
          </a:ln>
        </p:spPr>
      </p:pic>
      <p:pic>
        <p:nvPicPr>
          <p:cNvPr id="637" name="Google Shape;637;p48"/>
          <p:cNvPicPr preferRelativeResize="0"/>
          <p:nvPr/>
        </p:nvPicPr>
        <p:blipFill rotWithShape="1">
          <a:blip r:embed="rId8">
            <a:alphaModFix/>
          </a:blip>
          <a:srcRect b="0" l="0" r="0" t="0"/>
          <a:stretch/>
        </p:blipFill>
        <p:spPr>
          <a:xfrm>
            <a:off x="1066800" y="4507992"/>
            <a:ext cx="7092935" cy="247121"/>
          </a:xfrm>
          <a:prstGeom prst="rect">
            <a:avLst/>
          </a:prstGeom>
          <a:noFill/>
          <a:ln>
            <a:noFill/>
          </a:ln>
        </p:spPr>
      </p:pic>
      <p:pic>
        <p:nvPicPr>
          <p:cNvPr id="638" name="Google Shape;638;p48"/>
          <p:cNvPicPr preferRelativeResize="0"/>
          <p:nvPr/>
        </p:nvPicPr>
        <p:blipFill rotWithShape="1">
          <a:blip r:embed="rId8">
            <a:alphaModFix/>
          </a:blip>
          <a:srcRect b="0" l="0" r="0" t="0"/>
          <a:stretch/>
        </p:blipFill>
        <p:spPr>
          <a:xfrm>
            <a:off x="1066800" y="4782079"/>
            <a:ext cx="7092935" cy="247121"/>
          </a:xfrm>
          <a:prstGeom prst="rect">
            <a:avLst/>
          </a:prstGeom>
          <a:noFill/>
          <a:ln>
            <a:noFill/>
          </a:ln>
        </p:spPr>
      </p:pic>
      <p:pic>
        <p:nvPicPr>
          <p:cNvPr id="639" name="Google Shape;639;p48"/>
          <p:cNvPicPr preferRelativeResize="0"/>
          <p:nvPr/>
        </p:nvPicPr>
        <p:blipFill rotWithShape="1">
          <a:blip r:embed="rId8">
            <a:alphaModFix/>
          </a:blip>
          <a:srcRect b="0" l="0" r="0" t="0"/>
          <a:stretch/>
        </p:blipFill>
        <p:spPr>
          <a:xfrm>
            <a:off x="1066800" y="5010679"/>
            <a:ext cx="7092935" cy="247121"/>
          </a:xfrm>
          <a:prstGeom prst="rect">
            <a:avLst/>
          </a:prstGeom>
          <a:noFill/>
          <a:ln>
            <a:noFill/>
          </a:ln>
        </p:spPr>
      </p:pic>
      <p:pic>
        <p:nvPicPr>
          <p:cNvPr id="640" name="Google Shape;640;p48"/>
          <p:cNvPicPr preferRelativeResize="0"/>
          <p:nvPr/>
        </p:nvPicPr>
        <p:blipFill rotWithShape="1">
          <a:blip r:embed="rId8">
            <a:alphaModFix/>
          </a:blip>
          <a:srcRect b="0" l="0" r="0" t="0"/>
          <a:stretch/>
        </p:blipFill>
        <p:spPr>
          <a:xfrm>
            <a:off x="1066800" y="5257800"/>
            <a:ext cx="7092935" cy="247121"/>
          </a:xfrm>
          <a:prstGeom prst="rect">
            <a:avLst/>
          </a:prstGeom>
          <a:noFill/>
          <a:ln>
            <a:noFill/>
          </a:ln>
        </p:spPr>
      </p:pic>
      <p:pic>
        <p:nvPicPr>
          <p:cNvPr id="641" name="Google Shape;641;p48"/>
          <p:cNvPicPr preferRelativeResize="0"/>
          <p:nvPr/>
        </p:nvPicPr>
        <p:blipFill rotWithShape="1">
          <a:blip r:embed="rId8">
            <a:alphaModFix/>
          </a:blip>
          <a:srcRect b="0" l="0" r="0" t="0"/>
          <a:stretch/>
        </p:blipFill>
        <p:spPr>
          <a:xfrm>
            <a:off x="1066800" y="5495544"/>
            <a:ext cx="7092935" cy="247121"/>
          </a:xfrm>
          <a:prstGeom prst="rect">
            <a:avLst/>
          </a:prstGeom>
          <a:noFill/>
          <a:ln>
            <a:noFill/>
          </a:ln>
        </p:spPr>
      </p:pic>
      <p:pic>
        <p:nvPicPr>
          <p:cNvPr id="642" name="Google Shape;642;p48"/>
          <p:cNvPicPr preferRelativeResize="0"/>
          <p:nvPr/>
        </p:nvPicPr>
        <p:blipFill rotWithShape="1">
          <a:blip r:embed="rId8">
            <a:alphaModFix/>
          </a:blip>
          <a:srcRect b="0" l="0" r="0" t="0"/>
          <a:stretch/>
        </p:blipFill>
        <p:spPr>
          <a:xfrm>
            <a:off x="1066800" y="5791200"/>
            <a:ext cx="7092935" cy="247121"/>
          </a:xfrm>
          <a:prstGeom prst="rect">
            <a:avLst/>
          </a:prstGeom>
          <a:noFill/>
          <a:ln>
            <a:noFill/>
          </a:ln>
        </p:spPr>
      </p:pic>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0"/>
                                        </p:tgtEl>
                                      </p:cBhvr>
                                    </p:animEffect>
                                    <p:set>
                                      <p:cBhvr>
                                        <p:cTn dur="1" fill="hold">
                                          <p:stCondLst>
                                            <p:cond delay="500"/>
                                          </p:stCondLst>
                                        </p:cTn>
                                        <p:tgtEl>
                                          <p:spTgt spid="6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1"/>
                                        </p:tgtEl>
                                      </p:cBhvr>
                                    </p:animEffect>
                                    <p:set>
                                      <p:cBhvr>
                                        <p:cTn dur="1" fill="hold">
                                          <p:stCondLst>
                                            <p:cond delay="500"/>
                                          </p:stCondLst>
                                        </p:cTn>
                                        <p:tgtEl>
                                          <p:spTgt spid="6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2"/>
                                        </p:tgtEl>
                                      </p:cBhvr>
                                    </p:animEffect>
                                    <p:set>
                                      <p:cBhvr>
                                        <p:cTn dur="1" fill="hold">
                                          <p:stCondLst>
                                            <p:cond delay="500"/>
                                          </p:stCondLst>
                                        </p:cTn>
                                        <p:tgtEl>
                                          <p:spTgt spid="6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3"/>
                                        </p:tgtEl>
                                      </p:cBhvr>
                                    </p:animEffect>
                                    <p:set>
                                      <p:cBhvr>
                                        <p:cTn dur="1" fill="hold">
                                          <p:stCondLst>
                                            <p:cond delay="500"/>
                                          </p:stCondLst>
                                        </p:cTn>
                                        <p:tgtEl>
                                          <p:spTgt spid="6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4"/>
                                        </p:tgtEl>
                                      </p:cBhvr>
                                    </p:animEffect>
                                    <p:set>
                                      <p:cBhvr>
                                        <p:cTn dur="1" fill="hold">
                                          <p:stCondLst>
                                            <p:cond delay="500"/>
                                          </p:stCondLst>
                                        </p:cTn>
                                        <p:tgtEl>
                                          <p:spTgt spid="6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5"/>
                                        </p:tgtEl>
                                      </p:cBhvr>
                                    </p:animEffect>
                                    <p:set>
                                      <p:cBhvr>
                                        <p:cTn dur="1" fill="hold">
                                          <p:stCondLst>
                                            <p:cond delay="500"/>
                                          </p:stCondLst>
                                        </p:cTn>
                                        <p:tgtEl>
                                          <p:spTgt spid="6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6"/>
                                        </p:tgtEl>
                                      </p:cBhvr>
                                    </p:animEffect>
                                    <p:set>
                                      <p:cBhvr>
                                        <p:cTn dur="1" fill="hold">
                                          <p:stCondLst>
                                            <p:cond delay="500"/>
                                          </p:stCondLst>
                                        </p:cTn>
                                        <p:tgtEl>
                                          <p:spTgt spid="6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7"/>
                                        </p:tgtEl>
                                      </p:cBhvr>
                                    </p:animEffect>
                                    <p:set>
                                      <p:cBhvr>
                                        <p:cTn dur="1" fill="hold">
                                          <p:stCondLst>
                                            <p:cond delay="500"/>
                                          </p:stCondLst>
                                        </p:cTn>
                                        <p:tgtEl>
                                          <p:spTgt spid="6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8"/>
                                        </p:tgtEl>
                                      </p:cBhvr>
                                    </p:animEffect>
                                    <p:set>
                                      <p:cBhvr>
                                        <p:cTn dur="1" fill="hold">
                                          <p:stCondLst>
                                            <p:cond delay="500"/>
                                          </p:stCondLst>
                                        </p:cTn>
                                        <p:tgtEl>
                                          <p:spTgt spid="6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9"/>
                                        </p:tgtEl>
                                      </p:cBhvr>
                                    </p:animEffect>
                                    <p:set>
                                      <p:cBhvr>
                                        <p:cTn dur="1" fill="hold">
                                          <p:stCondLst>
                                            <p:cond delay="500"/>
                                          </p:stCondLst>
                                        </p:cTn>
                                        <p:tgtEl>
                                          <p:spTgt spid="6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40"/>
                                        </p:tgtEl>
                                      </p:cBhvr>
                                    </p:animEffect>
                                    <p:set>
                                      <p:cBhvr>
                                        <p:cTn dur="1" fill="hold">
                                          <p:stCondLst>
                                            <p:cond delay="500"/>
                                          </p:stCondLst>
                                        </p:cTn>
                                        <p:tgtEl>
                                          <p:spTgt spid="6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41"/>
                                        </p:tgtEl>
                                      </p:cBhvr>
                                    </p:animEffect>
                                    <p:set>
                                      <p:cBhvr>
                                        <p:cTn dur="1" fill="hold">
                                          <p:stCondLst>
                                            <p:cond delay="500"/>
                                          </p:stCondLst>
                                        </p:cTn>
                                        <p:tgtEl>
                                          <p:spTgt spid="6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42"/>
                                        </p:tgtEl>
                                      </p:cBhvr>
                                    </p:animEffect>
                                    <p:set>
                                      <p:cBhvr>
                                        <p:cTn dur="1" fill="hold">
                                          <p:stCondLst>
                                            <p:cond delay="500"/>
                                          </p:stCondLst>
                                        </p:cTn>
                                        <p:tgtEl>
                                          <p:spTgt spid="64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movnglnc">
  <a:themeElements>
    <a:clrScheme name="">
      <a:dk1>
        <a:srgbClr val="000000"/>
      </a:dk1>
      <a:lt1>
        <a:srgbClr val="FFFFFF"/>
      </a:lt1>
      <a:dk2>
        <a:srgbClr val="0000FF"/>
      </a:dk2>
      <a:lt2>
        <a:srgbClr val="000000"/>
      </a:lt2>
      <a:accent1>
        <a:srgbClr val="00FFFF"/>
      </a:accent1>
      <a:accent2>
        <a:srgbClr val="FF0000"/>
      </a:accent2>
      <a:accent3>
        <a:srgbClr val="FFFFFF"/>
      </a:accent3>
      <a:accent4>
        <a:srgbClr val="000000"/>
      </a:accent4>
      <a:accent5>
        <a:srgbClr val="AAFFFF"/>
      </a:accent5>
      <a:accent6>
        <a:srgbClr val="E70000"/>
      </a:accent6>
      <a:hlink>
        <a:srgbClr val="000099"/>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vnglnc">
  <a:themeElements>
    <a:clrScheme name="">
      <a:dk1>
        <a:srgbClr val="000000"/>
      </a:dk1>
      <a:lt1>
        <a:srgbClr val="FFFFFF"/>
      </a:lt1>
      <a:dk2>
        <a:srgbClr val="0000FF"/>
      </a:dk2>
      <a:lt2>
        <a:srgbClr val="000000"/>
      </a:lt2>
      <a:accent1>
        <a:srgbClr val="000000"/>
      </a:accent1>
      <a:accent2>
        <a:srgbClr val="FF0000"/>
      </a:accent2>
      <a:accent3>
        <a:srgbClr val="FFFFFF"/>
      </a:accent3>
      <a:accent4>
        <a:srgbClr val="000000"/>
      </a:accent4>
      <a:accent5>
        <a:srgbClr val="AAAAAA"/>
      </a:accent5>
      <a:accent6>
        <a:srgbClr val="E70000"/>
      </a:accent6>
      <a:hlink>
        <a:srgbClr val="00FF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1997-03-28T18:03:02Z</dcterms:created>
  <dc:creator>Coby Harmon</dc:creator>
</cp:coreProperties>
</file>