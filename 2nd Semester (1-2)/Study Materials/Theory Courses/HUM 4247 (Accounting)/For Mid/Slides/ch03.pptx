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Lst>
  <p:sldSz cy="6858000" cx="9144000"/>
  <p:notesSz cx="7315200" cy="96012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3023">
          <p15:clr>
            <a:srgbClr val="000000"/>
          </p15:clr>
        </p15:guide>
        <p15:guide id="2" pos="2304">
          <p15:clr>
            <a:srgbClr val="000000"/>
          </p15:clr>
        </p15:guide>
      </p15:notesGuideLst>
    </p:ext>
    <p:ext uri="GoogleSlidesCustomDataVersion2">
      <go:slidesCustomData xmlns:go="http://customooxmlschemas.google.com/" r:id="rId94" roundtripDataSignature="AMtx7mgqDZwMgkjHXRUZ3cPnUp0SbZl1s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3023" orient="horz"/>
        <p:guide pos="2304"/>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slide" Target="slides/slide78.xml"/><Relationship Id="rId83" Type="http://schemas.openxmlformats.org/officeDocument/2006/relationships/slide" Target="slides/slide77.xml"/><Relationship Id="rId42" Type="http://schemas.openxmlformats.org/officeDocument/2006/relationships/slide" Target="slides/slide36.xml"/><Relationship Id="rId86" Type="http://schemas.openxmlformats.org/officeDocument/2006/relationships/slide" Target="slides/slide80.xml"/><Relationship Id="rId41" Type="http://schemas.openxmlformats.org/officeDocument/2006/relationships/slide" Target="slides/slide35.xml"/><Relationship Id="rId85" Type="http://schemas.openxmlformats.org/officeDocument/2006/relationships/slide" Target="slides/slide79.xml"/><Relationship Id="rId44" Type="http://schemas.openxmlformats.org/officeDocument/2006/relationships/slide" Target="slides/slide38.xml"/><Relationship Id="rId88" Type="http://schemas.openxmlformats.org/officeDocument/2006/relationships/slide" Target="slides/slide82.xml"/><Relationship Id="rId43" Type="http://schemas.openxmlformats.org/officeDocument/2006/relationships/slide" Target="slides/slide37.xml"/><Relationship Id="rId87" Type="http://schemas.openxmlformats.org/officeDocument/2006/relationships/slide" Target="slides/slide81.xml"/><Relationship Id="rId46" Type="http://schemas.openxmlformats.org/officeDocument/2006/relationships/slide" Target="slides/slide40.xml"/><Relationship Id="rId45" Type="http://schemas.openxmlformats.org/officeDocument/2006/relationships/slide" Target="slides/slide39.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slide" Target="slides/slide73.xml"/><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94" Type="http://customschemas.google.com/relationships/presentationmetadata" Target="metadata"/><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lvl1pPr indent="-228600" lvl="0" marL="457200" marR="0" rtl="0" algn="l">
              <a:spcBef>
                <a:spcPts val="420"/>
              </a:spcBef>
              <a:spcAft>
                <a:spcPts val="0"/>
              </a:spcAft>
              <a:buSzPts val="1400"/>
              <a:buNone/>
              <a:defRPr b="0" i="0" sz="1400" u="none" cap="none" strike="noStrike">
                <a:solidFill>
                  <a:schemeClr val="dk1"/>
                </a:solidFill>
                <a:latin typeface="Arial"/>
                <a:ea typeface="Arial"/>
                <a:cs typeface="Arial"/>
                <a:sym typeface="Arial"/>
              </a:defRPr>
            </a:lvl1pPr>
            <a:lvl2pPr indent="-228600" lvl="1" marL="914400" marR="0" rtl="0" algn="l">
              <a:spcBef>
                <a:spcPts val="420"/>
              </a:spcBef>
              <a:spcAft>
                <a:spcPts val="0"/>
              </a:spcAft>
              <a:buSzPts val="1400"/>
              <a:buNone/>
              <a:defRPr b="0" i="0" sz="1400" u="none" cap="none" strike="noStrike">
                <a:solidFill>
                  <a:schemeClr val="dk1"/>
                </a:solidFill>
                <a:latin typeface="Arial"/>
                <a:ea typeface="Arial"/>
                <a:cs typeface="Arial"/>
                <a:sym typeface="Arial"/>
              </a:defRPr>
            </a:lvl2pPr>
            <a:lvl3pPr indent="-228600" lvl="2" marL="1371600" marR="0" rtl="0" algn="l">
              <a:spcBef>
                <a:spcPts val="420"/>
              </a:spcBef>
              <a:spcAft>
                <a:spcPts val="0"/>
              </a:spcAft>
              <a:buSzPts val="1400"/>
              <a:buNone/>
              <a:defRPr b="0" i="0" sz="1400" u="none" cap="none" strike="noStrike">
                <a:solidFill>
                  <a:schemeClr val="dk1"/>
                </a:solidFill>
                <a:latin typeface="Arial"/>
                <a:ea typeface="Arial"/>
                <a:cs typeface="Arial"/>
                <a:sym typeface="Arial"/>
              </a:defRPr>
            </a:lvl3pPr>
            <a:lvl4pPr indent="-228600" lvl="3" marL="1828800" marR="0" rtl="0" algn="l">
              <a:spcBef>
                <a:spcPts val="420"/>
              </a:spcBef>
              <a:spcAft>
                <a:spcPts val="0"/>
              </a:spcAft>
              <a:buSzPts val="1400"/>
              <a:buNone/>
              <a:defRPr b="0" i="0" sz="1400" u="none" cap="none" strike="noStrike">
                <a:solidFill>
                  <a:schemeClr val="dk1"/>
                </a:solidFill>
                <a:latin typeface="Arial"/>
                <a:ea typeface="Arial"/>
                <a:cs typeface="Arial"/>
                <a:sym typeface="Arial"/>
              </a:defRPr>
            </a:lvl4pPr>
            <a:lvl5pPr indent="-228600" lvl="4" marL="2286000" marR="0" rtl="0" algn="l">
              <a:spcBef>
                <a:spcPts val="420"/>
              </a:spcBef>
              <a:spcAft>
                <a:spcPts val="0"/>
              </a:spcAft>
              <a:buSzPts val="1400"/>
              <a:buNone/>
              <a:defRPr b="0" i="0" sz="14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4" name="Google Shape;4;n"/>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cap="flat" cmpd="sng" w="12700">
            <a:solidFill>
              <a:schemeClr val="dk1"/>
            </a:solidFill>
            <a:prstDash val="solid"/>
            <a:miter lim="800000"/>
            <a:headEnd len="sm" w="sm" type="none"/>
            <a:tailEnd len="sm" w="sm" type="none"/>
          </a:ln>
        </p:spPr>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1: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 name="Google Shape;58;p1: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2: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 name="Google Shape;79;p2: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 name="Google Shape;110;p3: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4: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8" name="Google Shape;118;p4: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5: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8" name="Google Shape;128;p5: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6: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 name="Google Shape;136;p6: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7: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 name="Google Shape;144;p7: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8: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4" name="Google Shape;154;p8: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9: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5" name="Google Shape;165;p9: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0: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 name="Google Shape;172;p10: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1: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2" name="Google Shape;182;p11: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2: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9" name="Google Shape;189;p12: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3: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7" name="Google Shape;197;p13: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4: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7" name="Google Shape;207;p14: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5: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3" name="Google Shape;223;p15: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6:notes"/>
          <p:cNvSpPr/>
          <p:nvPr>
            <p:ph idx="2" type="sldImg"/>
          </p:nvPr>
        </p:nvSpPr>
        <p:spPr>
          <a:xfrm>
            <a:off x="1268413"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4" name="Google Shape;234;p16: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7: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7" name="Google Shape;257;p17: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8: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6" name="Google Shape;266;p18: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9: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0" name="Google Shape;280;p19: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0: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0" name="Google Shape;290;p20: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1: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4" name="Google Shape;304;p21: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2: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3" name="Google Shape;313;p22: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23: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7" name="Google Shape;327;p23: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24: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6" name="Google Shape;336;p24: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25: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4" name="Google Shape;344;p25: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6: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9" name="Google Shape;359;p26: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27: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7" name="Google Shape;367;p27: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28: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7" name="Google Shape;377;p28: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29: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7" name="Google Shape;387;p29: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30: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1" name="Google Shape;401;p30: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31: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1" name="Google Shape;411;p31: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32: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5" name="Google Shape;425;p32: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33: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4" name="Google Shape;434;p33: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34: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4" name="Google Shape;444;p34: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35:notes"/>
          <p:cNvSpPr/>
          <p:nvPr>
            <p:ph idx="2" type="sldImg"/>
          </p:nvPr>
        </p:nvSpPr>
        <p:spPr>
          <a:xfrm>
            <a:off x="1268413"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1" name="Google Shape;451;p35: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36:notes"/>
          <p:cNvSpPr/>
          <p:nvPr>
            <p:ph idx="2" type="sldImg"/>
          </p:nvPr>
        </p:nvSpPr>
        <p:spPr>
          <a:xfrm>
            <a:off x="1268413"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8" name="Google Shape;468;p36: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37:notes"/>
          <p:cNvSpPr/>
          <p:nvPr>
            <p:ph idx="2" type="sldImg"/>
          </p:nvPr>
        </p:nvSpPr>
        <p:spPr>
          <a:xfrm>
            <a:off x="1268413"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6" name="Google Shape;486;p37: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38:notes"/>
          <p:cNvSpPr/>
          <p:nvPr>
            <p:ph idx="2" type="sldImg"/>
          </p:nvPr>
        </p:nvSpPr>
        <p:spPr>
          <a:xfrm>
            <a:off x="1268413"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4" name="Google Shape;504;p38: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39:notes"/>
          <p:cNvSpPr/>
          <p:nvPr>
            <p:ph idx="2" type="sldImg"/>
          </p:nvPr>
        </p:nvSpPr>
        <p:spPr>
          <a:xfrm>
            <a:off x="1268413"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2" name="Google Shape;522;p39: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40: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0" name="Google Shape;540;p40: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41: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9" name="Google Shape;549;p41: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42: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2" name="Google Shape;562;p42: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43: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2" name="Google Shape;572;p43: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p44: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2" name="Google Shape;592;p44: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45: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1" name="Google Shape;601;p45: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46: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1" name="Google Shape;611;p46: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47: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5" name="Google Shape;625;p47: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48: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5" name="Google Shape;635;p48: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p49: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1" name="Google Shape;651;p49: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50: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0" name="Google Shape;660;p50: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51: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1" name="Google Shape;671;p51: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p52: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0" name="Google Shape;680;p52: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p53: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0" name="Google Shape;690;p53: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p54: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7" name="Google Shape;697;p54: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p55:notes"/>
          <p:cNvSpPr/>
          <p:nvPr>
            <p:ph idx="2" type="sldImg"/>
          </p:nvPr>
        </p:nvSpPr>
        <p:spPr>
          <a:xfrm>
            <a:off x="1268413"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8" name="Google Shape;708;p55: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p56:notes"/>
          <p:cNvSpPr/>
          <p:nvPr>
            <p:ph idx="2" type="sldImg"/>
          </p:nvPr>
        </p:nvSpPr>
        <p:spPr>
          <a:xfrm>
            <a:off x="1268413"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3" name="Google Shape;723;p56: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p57: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1" name="Google Shape;741;p57: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58: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0" name="Google Shape;750;p58: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p59: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8" name="Google Shape;758;p59: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p60: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8" name="Google Shape;768;p60: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p61: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2" name="Google Shape;782;p61: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62: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0" name="Google Shape;790;p62: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p63:notes"/>
          <p:cNvSpPr/>
          <p:nvPr>
            <p:ph idx="2" type="sldImg"/>
          </p:nvPr>
        </p:nvSpPr>
        <p:spPr>
          <a:xfrm>
            <a:off x="1268413"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8" name="Google Shape;798;p63: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p64:notes"/>
          <p:cNvSpPr/>
          <p:nvPr>
            <p:ph idx="2" type="sldImg"/>
          </p:nvPr>
        </p:nvSpPr>
        <p:spPr>
          <a:xfrm>
            <a:off x="1268413"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4" name="Google Shape;814;p64: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p65:notes"/>
          <p:cNvSpPr/>
          <p:nvPr>
            <p:ph idx="2" type="sldImg"/>
          </p:nvPr>
        </p:nvSpPr>
        <p:spPr>
          <a:xfrm>
            <a:off x="1268413"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9" name="Google Shape;829;p65: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p66:notes"/>
          <p:cNvSpPr/>
          <p:nvPr>
            <p:ph idx="2" type="sldImg"/>
          </p:nvPr>
        </p:nvSpPr>
        <p:spPr>
          <a:xfrm>
            <a:off x="1268413"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6" name="Google Shape;846;p66: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p67: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4" name="Google Shape;864;p67: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p68: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4" name="Google Shape;874;p68: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p69: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4" name="Google Shape;884;p69: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p70: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4" name="Google Shape;894;p70: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p71: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3" name="Google Shape;903;p71: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p72: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3" name="Google Shape;913;p72: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9" name="Shape 919"/>
        <p:cNvGrpSpPr/>
        <p:nvPr/>
      </p:nvGrpSpPr>
      <p:grpSpPr>
        <a:xfrm>
          <a:off x="0" y="0"/>
          <a:ext cx="0" cy="0"/>
          <a:chOff x="0" y="0"/>
          <a:chExt cx="0" cy="0"/>
        </a:xfrm>
      </p:grpSpPr>
      <p:sp>
        <p:nvSpPr>
          <p:cNvPr id="920" name="Google Shape;920;p73: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1" name="Google Shape;921;p73: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p74: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4" name="Google Shape;934;p74: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75: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0" name="Google Shape;950;p75: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p76: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6" name="Google Shape;966;p76: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p77: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1" name="Google Shape;981;p77: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p78: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7" name="Google Shape;997;p78: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p79: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9" name="Google Shape;1009;p79: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p80: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3" name="Google Shape;1023;p80: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p81: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34" name="Google Shape;1034;p81: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p82: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5" name="Google Shape;1045;p82: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p83: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6" name="Google Shape;1056;p83: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5" name="Shape 1065"/>
        <p:cNvGrpSpPr/>
        <p:nvPr/>
      </p:nvGrpSpPr>
      <p:grpSpPr>
        <a:xfrm>
          <a:off x="0" y="0"/>
          <a:ext cx="0" cy="0"/>
          <a:chOff x="0" y="0"/>
          <a:chExt cx="0" cy="0"/>
        </a:xfrm>
      </p:grpSpPr>
      <p:sp>
        <p:nvSpPr>
          <p:cNvPr id="1066" name="Google Shape;1066;p84: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7" name="Google Shape;1067;p84: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p85: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9" name="Google Shape;1079;p85: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p86:notes"/>
          <p:cNvSpPr/>
          <p:nvPr>
            <p:ph idx="2" type="sldImg"/>
          </p:nvPr>
        </p:nvSpPr>
        <p:spPr>
          <a:xfrm>
            <a:off x="1266825" y="727075"/>
            <a:ext cx="4781550" cy="35861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91" name="Google Shape;1091;p86:notes"/>
          <p:cNvSpPr txBox="1"/>
          <p:nvPr>
            <p:ph idx="1" type="body"/>
          </p:nvPr>
        </p:nvSpPr>
        <p:spPr>
          <a:xfrm>
            <a:off x="406400" y="4560888"/>
            <a:ext cx="6583363" cy="4319587"/>
          </a:xfrm>
          <a:prstGeom prst="rect">
            <a:avLst/>
          </a:prstGeom>
          <a:noFill/>
          <a:ln>
            <a:noFill/>
          </a:ln>
        </p:spPr>
        <p:txBody>
          <a:bodyPr anchorCtr="0" anchor="t" bIns="46825" lIns="95350" spcFirstLastPara="1" rIns="95350" wrap="square" tIns="468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1" name="Shape 1101"/>
        <p:cNvGrpSpPr/>
        <p:nvPr/>
      </p:nvGrpSpPr>
      <p:grpSpPr>
        <a:xfrm>
          <a:off x="0" y="0"/>
          <a:ext cx="0" cy="0"/>
          <a:chOff x="0" y="0"/>
          <a:chExt cx="0" cy="0"/>
        </a:xfrm>
      </p:grpSpPr>
      <p:sp>
        <p:nvSpPr>
          <p:cNvPr id="1102" name="Google Shape;1102;p87:notes"/>
          <p:cNvSpPr/>
          <p:nvPr>
            <p:ph idx="2" type="sldImg"/>
          </p:nvPr>
        </p:nvSpPr>
        <p:spPr>
          <a:xfrm>
            <a:off x="1260475" y="722313"/>
            <a:ext cx="4794250" cy="35956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3" name="Google Shape;1103;p87:notes"/>
          <p:cNvSpPr txBox="1"/>
          <p:nvPr>
            <p:ph idx="1" type="body"/>
          </p:nvPr>
        </p:nvSpPr>
        <p:spPr>
          <a:xfrm>
            <a:off x="974725" y="4560888"/>
            <a:ext cx="5365750" cy="4319587"/>
          </a:xfrm>
          <a:prstGeom prst="rect">
            <a:avLst/>
          </a:prstGeom>
          <a:noFill/>
          <a:ln>
            <a:noFill/>
          </a:ln>
        </p:spPr>
        <p:txBody>
          <a:bodyPr anchorCtr="0" anchor="t" bIns="48500" lIns="97025" spcFirstLastPara="1" rIns="97025" wrap="square" tIns="485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Tree>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 name="Shape 10"/>
        <p:cNvGrpSpPr/>
        <p:nvPr/>
      </p:nvGrpSpPr>
      <p:grpSpPr>
        <a:xfrm>
          <a:off x="0" y="0"/>
          <a:ext cx="0" cy="0"/>
          <a:chOff x="0" y="0"/>
          <a:chExt cx="0" cy="0"/>
        </a:xfrm>
      </p:grpSpPr>
      <p:sp>
        <p:nvSpPr>
          <p:cNvPr id="11" name="Google Shape;11;p90"/>
          <p:cNvSpPr txBox="1"/>
          <p:nvPr>
            <p:ph type="title"/>
          </p:nvPr>
        </p:nvSpPr>
        <p:spPr>
          <a:xfrm>
            <a:off x="1149350" y="354013"/>
            <a:ext cx="7607300" cy="560387"/>
          </a:xfrm>
          <a:prstGeom prst="rect">
            <a:avLst/>
          </a:prstGeom>
          <a:solidFill>
            <a:srgbClr val="003399"/>
          </a:solidFill>
          <a:ln cap="flat" cmpd="sng" w="63500">
            <a:solidFill>
              <a:srgbClr val="54385C"/>
            </a:solidFill>
            <a:prstDash val="solid"/>
            <a:miter lim="800000"/>
            <a:headEnd len="sm" w="sm" type="none"/>
            <a:tailEnd len="sm" w="sm" type="none"/>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 name="Google Shape;12;p90"/>
          <p:cNvSpPr txBox="1"/>
          <p:nvPr>
            <p:ph idx="1" type="body"/>
          </p:nvPr>
        </p:nvSpPr>
        <p:spPr>
          <a:xfrm>
            <a:off x="381000" y="1143000"/>
            <a:ext cx="8382000" cy="4800600"/>
          </a:xfrm>
          <a:prstGeom prst="rect">
            <a:avLst/>
          </a:prstGeom>
          <a:noFill/>
          <a:ln>
            <a:noFill/>
          </a:ln>
        </p:spPr>
        <p:txBody>
          <a:bodyPr anchorCtr="0" anchor="t" bIns="46025" lIns="182550" spcFirstLastPara="1" rIns="182550" wrap="square" tIns="46025">
            <a:noAutofit/>
          </a:bodyPr>
          <a:lstStyle>
            <a:lvl1pPr indent="-314325" lvl="0" marL="457200" algn="l">
              <a:spcBef>
                <a:spcPts val="360"/>
              </a:spcBef>
              <a:spcAft>
                <a:spcPts val="0"/>
              </a:spcAft>
              <a:buSzPts val="1350"/>
              <a:buChar char="●"/>
              <a:defRPr/>
            </a:lvl1pPr>
            <a:lvl2pPr indent="-314325" lvl="1" marL="914400" algn="l">
              <a:spcBef>
                <a:spcPts val="360"/>
              </a:spcBef>
              <a:spcAft>
                <a:spcPts val="0"/>
              </a:spcAft>
              <a:buSzPts val="1350"/>
              <a:buChar char="●"/>
              <a:defRPr/>
            </a:lvl2pPr>
            <a:lvl3pPr indent="-314325" lvl="2" marL="1371600" algn="l">
              <a:spcBef>
                <a:spcPts val="360"/>
              </a:spcBef>
              <a:spcAft>
                <a:spcPts val="0"/>
              </a:spcAft>
              <a:buSzPts val="1350"/>
              <a:buChar char="●"/>
              <a:defRPr/>
            </a:lvl3pPr>
            <a:lvl4pPr indent="-314325" lvl="3" marL="1828800" algn="l">
              <a:spcBef>
                <a:spcPts val="360"/>
              </a:spcBef>
              <a:spcAft>
                <a:spcPts val="0"/>
              </a:spcAft>
              <a:buSzPts val="1350"/>
              <a:buChar char="●"/>
              <a:defRPr/>
            </a:lvl4pPr>
            <a:lvl5pPr indent="-314325" lvl="4" marL="2286000" algn="l">
              <a:spcBef>
                <a:spcPts val="360"/>
              </a:spcBef>
              <a:spcAft>
                <a:spcPts val="0"/>
              </a:spcAft>
              <a:buSzPts val="1350"/>
              <a:buChar char="●"/>
              <a:defRPr/>
            </a:lvl5pPr>
            <a:lvl6pPr indent="-314325" lvl="5" marL="2743200" algn="l">
              <a:spcBef>
                <a:spcPts val="360"/>
              </a:spcBef>
              <a:spcAft>
                <a:spcPts val="0"/>
              </a:spcAft>
              <a:buSzPts val="1350"/>
              <a:buChar char="●"/>
              <a:defRPr/>
            </a:lvl6pPr>
            <a:lvl7pPr indent="-314325" lvl="6" marL="3200400" algn="l">
              <a:spcBef>
                <a:spcPts val="360"/>
              </a:spcBef>
              <a:spcAft>
                <a:spcPts val="0"/>
              </a:spcAft>
              <a:buSzPts val="1350"/>
              <a:buChar char="●"/>
              <a:defRPr/>
            </a:lvl7pPr>
            <a:lvl8pPr indent="-314325" lvl="7" marL="3657600" algn="l">
              <a:spcBef>
                <a:spcPts val="360"/>
              </a:spcBef>
              <a:spcAft>
                <a:spcPts val="0"/>
              </a:spcAft>
              <a:buSzPts val="1350"/>
              <a:buChar char="●"/>
              <a:defRPr/>
            </a:lvl8pPr>
            <a:lvl9pPr indent="-314325" lvl="8" marL="4114800" algn="l">
              <a:spcBef>
                <a:spcPts val="360"/>
              </a:spcBef>
              <a:spcAft>
                <a:spcPts val="0"/>
              </a:spcAft>
              <a:buSzPts val="1350"/>
              <a:buChar char="●"/>
              <a:defRPr/>
            </a:lvl9pPr>
          </a:lstStyle>
          <a:p/>
        </p:txBody>
      </p:sp>
    </p:spTree>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13" name="Shape 13"/>
        <p:cNvGrpSpPr/>
        <p:nvPr/>
      </p:nvGrpSpPr>
      <p:grpSpPr>
        <a:xfrm>
          <a:off x="0" y="0"/>
          <a:ext cx="0" cy="0"/>
          <a:chOff x="0" y="0"/>
          <a:chExt cx="0" cy="0"/>
        </a:xfrm>
      </p:grpSpPr>
      <p:sp>
        <p:nvSpPr>
          <p:cNvPr id="14" name="Google Shape;14;p91"/>
          <p:cNvSpPr txBox="1"/>
          <p:nvPr>
            <p:ph type="title"/>
          </p:nvPr>
        </p:nvSpPr>
        <p:spPr>
          <a:xfrm>
            <a:off x="1149350" y="354013"/>
            <a:ext cx="7607300" cy="560387"/>
          </a:xfrm>
          <a:prstGeom prst="rect">
            <a:avLst/>
          </a:prstGeom>
          <a:solidFill>
            <a:srgbClr val="003399"/>
          </a:solidFill>
          <a:ln cap="flat" cmpd="sng" w="63500">
            <a:solidFill>
              <a:srgbClr val="54385C"/>
            </a:solidFill>
            <a:prstDash val="solid"/>
            <a:miter lim="800000"/>
            <a:headEnd len="sm" w="sm" type="none"/>
            <a:tailEnd len="sm" w="sm" type="none"/>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5" name="Google Shape;15;p91"/>
          <p:cNvSpPr txBox="1"/>
          <p:nvPr>
            <p:ph idx="1" type="body"/>
          </p:nvPr>
        </p:nvSpPr>
        <p:spPr>
          <a:xfrm>
            <a:off x="381000" y="1143000"/>
            <a:ext cx="4114800" cy="4800600"/>
          </a:xfrm>
          <a:prstGeom prst="rect">
            <a:avLst/>
          </a:prstGeom>
          <a:noFill/>
          <a:ln>
            <a:noFill/>
          </a:ln>
        </p:spPr>
        <p:txBody>
          <a:bodyPr anchorCtr="0" anchor="t" bIns="46025" lIns="182550" spcFirstLastPara="1" rIns="182550" wrap="square" tIns="46025">
            <a:noAutofit/>
          </a:bodyPr>
          <a:lstStyle>
            <a:lvl1pPr indent="-314325" lvl="0" marL="457200" algn="l">
              <a:spcBef>
                <a:spcPts val="360"/>
              </a:spcBef>
              <a:spcAft>
                <a:spcPts val="0"/>
              </a:spcAft>
              <a:buSzPts val="1350"/>
              <a:buChar char="●"/>
              <a:defRPr/>
            </a:lvl1pPr>
            <a:lvl2pPr indent="-314325" lvl="1" marL="914400" algn="l">
              <a:spcBef>
                <a:spcPts val="360"/>
              </a:spcBef>
              <a:spcAft>
                <a:spcPts val="0"/>
              </a:spcAft>
              <a:buSzPts val="1350"/>
              <a:buChar char="●"/>
              <a:defRPr/>
            </a:lvl2pPr>
            <a:lvl3pPr indent="-314325" lvl="2" marL="1371600" algn="l">
              <a:spcBef>
                <a:spcPts val="360"/>
              </a:spcBef>
              <a:spcAft>
                <a:spcPts val="0"/>
              </a:spcAft>
              <a:buSzPts val="1350"/>
              <a:buChar char="●"/>
              <a:defRPr/>
            </a:lvl3pPr>
            <a:lvl4pPr indent="-314325" lvl="3" marL="1828800" algn="l">
              <a:spcBef>
                <a:spcPts val="360"/>
              </a:spcBef>
              <a:spcAft>
                <a:spcPts val="0"/>
              </a:spcAft>
              <a:buSzPts val="1350"/>
              <a:buChar char="●"/>
              <a:defRPr/>
            </a:lvl4pPr>
            <a:lvl5pPr indent="-314325" lvl="4" marL="2286000" algn="l">
              <a:spcBef>
                <a:spcPts val="360"/>
              </a:spcBef>
              <a:spcAft>
                <a:spcPts val="0"/>
              </a:spcAft>
              <a:buSzPts val="1350"/>
              <a:buChar char="●"/>
              <a:defRPr/>
            </a:lvl5pPr>
            <a:lvl6pPr indent="-314325" lvl="5" marL="2743200" algn="l">
              <a:spcBef>
                <a:spcPts val="360"/>
              </a:spcBef>
              <a:spcAft>
                <a:spcPts val="0"/>
              </a:spcAft>
              <a:buSzPts val="1350"/>
              <a:buChar char="●"/>
              <a:defRPr/>
            </a:lvl6pPr>
            <a:lvl7pPr indent="-314325" lvl="6" marL="3200400" algn="l">
              <a:spcBef>
                <a:spcPts val="360"/>
              </a:spcBef>
              <a:spcAft>
                <a:spcPts val="0"/>
              </a:spcAft>
              <a:buSzPts val="1350"/>
              <a:buChar char="●"/>
              <a:defRPr/>
            </a:lvl7pPr>
            <a:lvl8pPr indent="-314325" lvl="7" marL="3657600" algn="l">
              <a:spcBef>
                <a:spcPts val="360"/>
              </a:spcBef>
              <a:spcAft>
                <a:spcPts val="0"/>
              </a:spcAft>
              <a:buSzPts val="1350"/>
              <a:buChar char="●"/>
              <a:defRPr/>
            </a:lvl8pPr>
            <a:lvl9pPr indent="-314325" lvl="8" marL="4114800" algn="l">
              <a:spcBef>
                <a:spcPts val="360"/>
              </a:spcBef>
              <a:spcAft>
                <a:spcPts val="0"/>
              </a:spcAft>
              <a:buSzPts val="1350"/>
              <a:buChar char="●"/>
              <a:defRPr/>
            </a:lvl9pPr>
          </a:lstStyle>
          <a:p/>
        </p:txBody>
      </p:sp>
      <p:sp>
        <p:nvSpPr>
          <p:cNvPr id="16" name="Google Shape;16;p91"/>
          <p:cNvSpPr txBox="1"/>
          <p:nvPr>
            <p:ph idx="2" type="body"/>
          </p:nvPr>
        </p:nvSpPr>
        <p:spPr>
          <a:xfrm>
            <a:off x="4648200" y="1143000"/>
            <a:ext cx="4114800" cy="4800600"/>
          </a:xfrm>
          <a:prstGeom prst="rect">
            <a:avLst/>
          </a:prstGeom>
          <a:noFill/>
          <a:ln>
            <a:noFill/>
          </a:ln>
        </p:spPr>
        <p:txBody>
          <a:bodyPr anchorCtr="0" anchor="t" bIns="46025" lIns="182550" spcFirstLastPara="1" rIns="182550" wrap="square" tIns="46025">
            <a:noAutofit/>
          </a:bodyPr>
          <a:lstStyle>
            <a:lvl1pPr indent="-314325" lvl="0" marL="457200" algn="l">
              <a:spcBef>
                <a:spcPts val="360"/>
              </a:spcBef>
              <a:spcAft>
                <a:spcPts val="0"/>
              </a:spcAft>
              <a:buSzPts val="1350"/>
              <a:buChar char="●"/>
              <a:defRPr/>
            </a:lvl1pPr>
            <a:lvl2pPr indent="-314325" lvl="1" marL="914400" algn="l">
              <a:spcBef>
                <a:spcPts val="360"/>
              </a:spcBef>
              <a:spcAft>
                <a:spcPts val="0"/>
              </a:spcAft>
              <a:buSzPts val="1350"/>
              <a:buChar char="●"/>
              <a:defRPr/>
            </a:lvl2pPr>
            <a:lvl3pPr indent="-314325" lvl="2" marL="1371600" algn="l">
              <a:spcBef>
                <a:spcPts val="360"/>
              </a:spcBef>
              <a:spcAft>
                <a:spcPts val="0"/>
              </a:spcAft>
              <a:buSzPts val="1350"/>
              <a:buChar char="●"/>
              <a:defRPr/>
            </a:lvl3pPr>
            <a:lvl4pPr indent="-314325" lvl="3" marL="1828800" algn="l">
              <a:spcBef>
                <a:spcPts val="360"/>
              </a:spcBef>
              <a:spcAft>
                <a:spcPts val="0"/>
              </a:spcAft>
              <a:buSzPts val="1350"/>
              <a:buChar char="●"/>
              <a:defRPr/>
            </a:lvl4pPr>
            <a:lvl5pPr indent="-314325" lvl="4" marL="2286000" algn="l">
              <a:spcBef>
                <a:spcPts val="360"/>
              </a:spcBef>
              <a:spcAft>
                <a:spcPts val="0"/>
              </a:spcAft>
              <a:buSzPts val="1350"/>
              <a:buChar char="●"/>
              <a:defRPr/>
            </a:lvl5pPr>
            <a:lvl6pPr indent="-314325" lvl="5" marL="2743200" algn="l">
              <a:spcBef>
                <a:spcPts val="360"/>
              </a:spcBef>
              <a:spcAft>
                <a:spcPts val="0"/>
              </a:spcAft>
              <a:buSzPts val="1350"/>
              <a:buChar char="●"/>
              <a:defRPr/>
            </a:lvl6pPr>
            <a:lvl7pPr indent="-314325" lvl="6" marL="3200400" algn="l">
              <a:spcBef>
                <a:spcPts val="360"/>
              </a:spcBef>
              <a:spcAft>
                <a:spcPts val="0"/>
              </a:spcAft>
              <a:buSzPts val="1350"/>
              <a:buChar char="●"/>
              <a:defRPr/>
            </a:lvl7pPr>
            <a:lvl8pPr indent="-314325" lvl="7" marL="3657600" algn="l">
              <a:spcBef>
                <a:spcPts val="360"/>
              </a:spcBef>
              <a:spcAft>
                <a:spcPts val="0"/>
              </a:spcAft>
              <a:buSzPts val="1350"/>
              <a:buChar char="●"/>
              <a:defRPr/>
            </a:lvl8pPr>
            <a:lvl9pPr indent="-314325" lvl="8" marL="4114800" algn="l">
              <a:spcBef>
                <a:spcPts val="360"/>
              </a:spcBef>
              <a:spcAft>
                <a:spcPts val="0"/>
              </a:spcAft>
              <a:buSzPts val="1350"/>
              <a:buChar char="●"/>
              <a:defRPr/>
            </a:lvl9pPr>
          </a:lstStyle>
          <a:p/>
        </p:txBody>
      </p:sp>
    </p:spTree>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 name="Shape 17"/>
        <p:cNvGrpSpPr/>
        <p:nvPr/>
      </p:nvGrpSpPr>
      <p:grpSpPr>
        <a:xfrm>
          <a:off x="0" y="0"/>
          <a:ext cx="0" cy="0"/>
          <a:chOff x="0" y="0"/>
          <a:chExt cx="0" cy="0"/>
        </a:xfrm>
      </p:grpSpPr>
      <p:sp>
        <p:nvSpPr>
          <p:cNvPr id="18" name="Google Shape;18;p94"/>
          <p:cNvSpPr txBox="1"/>
          <p:nvPr>
            <p:ph type="title"/>
          </p:nvPr>
        </p:nvSpPr>
        <p:spPr>
          <a:xfrm>
            <a:off x="1149350" y="354013"/>
            <a:ext cx="7607300" cy="560387"/>
          </a:xfrm>
          <a:prstGeom prst="rect">
            <a:avLst/>
          </a:prstGeom>
          <a:solidFill>
            <a:srgbClr val="003399"/>
          </a:solidFill>
          <a:ln cap="flat" cmpd="sng" w="63500">
            <a:solidFill>
              <a:srgbClr val="54385C"/>
            </a:solidFill>
            <a:prstDash val="solid"/>
            <a:miter lim="800000"/>
            <a:headEnd len="sm" w="sm" type="none"/>
            <a:tailEnd len="sm" w="sm" type="none"/>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95"/>
          <p:cNvSpPr txBox="1"/>
          <p:nvPr>
            <p:ph type="ctrTitle"/>
          </p:nvPr>
        </p:nvSpPr>
        <p:spPr>
          <a:xfrm>
            <a:off x="685800" y="2130425"/>
            <a:ext cx="7772400" cy="1470025"/>
          </a:xfrm>
          <a:prstGeom prst="rect">
            <a:avLst/>
          </a:prstGeom>
          <a:solidFill>
            <a:srgbClr val="003399"/>
          </a:solidFill>
          <a:ln cap="flat" cmpd="sng" w="63500">
            <a:solidFill>
              <a:srgbClr val="54385C"/>
            </a:solidFill>
            <a:prstDash val="solid"/>
            <a:miter lim="800000"/>
            <a:headEnd len="sm" w="sm" type="none"/>
            <a:tailEnd len="sm" w="sm" type="none"/>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1" name="Google Shape;21;p95"/>
          <p:cNvSpPr txBox="1"/>
          <p:nvPr>
            <p:ph idx="1" type="subTitle"/>
          </p:nvPr>
        </p:nvSpPr>
        <p:spPr>
          <a:xfrm>
            <a:off x="1371600" y="3886200"/>
            <a:ext cx="6400800" cy="1752600"/>
          </a:xfrm>
          <a:prstGeom prst="rect">
            <a:avLst/>
          </a:prstGeom>
          <a:noFill/>
          <a:ln>
            <a:noFill/>
          </a:ln>
        </p:spPr>
        <p:txBody>
          <a:bodyPr anchorCtr="0" anchor="t" bIns="46025" lIns="182550" spcFirstLastPara="1" rIns="182550" wrap="square" tIns="46025">
            <a:noAutofit/>
          </a:bodyPr>
          <a:lstStyle>
            <a:lvl1pPr lvl="0" algn="ctr">
              <a:spcBef>
                <a:spcPts val="560"/>
              </a:spcBef>
              <a:spcAft>
                <a:spcPts val="0"/>
              </a:spcAft>
              <a:buSzPts val="2100"/>
              <a:buNone/>
              <a:defRPr/>
            </a:lvl1pPr>
            <a:lvl2pPr lvl="1" algn="ctr">
              <a:spcBef>
                <a:spcPts val="480"/>
              </a:spcBef>
              <a:spcAft>
                <a:spcPts val="0"/>
              </a:spcAft>
              <a:buSzPts val="1800"/>
              <a:buNone/>
              <a:defRPr/>
            </a:lvl2pPr>
            <a:lvl3pPr lvl="2" algn="ctr">
              <a:spcBef>
                <a:spcPts val="400"/>
              </a:spcBef>
              <a:spcAft>
                <a:spcPts val="0"/>
              </a:spcAft>
              <a:buSzPts val="1500"/>
              <a:buNone/>
              <a:defRPr/>
            </a:lvl3pPr>
            <a:lvl4pPr lvl="3" algn="ctr">
              <a:spcBef>
                <a:spcPts val="400"/>
              </a:spcBef>
              <a:spcAft>
                <a:spcPts val="0"/>
              </a:spcAft>
              <a:buSzPts val="1500"/>
              <a:buNone/>
              <a:defRPr/>
            </a:lvl4pPr>
            <a:lvl5pPr lvl="4" algn="ctr">
              <a:spcBef>
                <a:spcPts val="400"/>
              </a:spcBef>
              <a:spcAft>
                <a:spcPts val="0"/>
              </a:spcAft>
              <a:buSzPts val="1500"/>
              <a:buNone/>
              <a:defRPr/>
            </a:lvl5pPr>
            <a:lvl6pPr lvl="5" algn="ctr">
              <a:spcBef>
                <a:spcPts val="400"/>
              </a:spcBef>
              <a:spcAft>
                <a:spcPts val="0"/>
              </a:spcAft>
              <a:buSzPts val="1500"/>
              <a:buNone/>
              <a:defRPr/>
            </a:lvl6pPr>
            <a:lvl7pPr lvl="6" algn="ctr">
              <a:spcBef>
                <a:spcPts val="400"/>
              </a:spcBef>
              <a:spcAft>
                <a:spcPts val="0"/>
              </a:spcAft>
              <a:buSzPts val="1500"/>
              <a:buNone/>
              <a:defRPr/>
            </a:lvl7pPr>
            <a:lvl8pPr lvl="7" algn="ctr">
              <a:spcBef>
                <a:spcPts val="400"/>
              </a:spcBef>
              <a:spcAft>
                <a:spcPts val="0"/>
              </a:spcAft>
              <a:buSzPts val="1500"/>
              <a:buNone/>
              <a:defRPr/>
            </a:lvl8pPr>
            <a:lvl9pPr lvl="8" algn="ctr">
              <a:spcBef>
                <a:spcPts val="400"/>
              </a:spcBef>
              <a:spcAft>
                <a:spcPts val="0"/>
              </a:spcAft>
              <a:buSzPts val="1500"/>
              <a:buNone/>
              <a:defRPr/>
            </a:lvl9pPr>
          </a:lstStyle>
          <a:p/>
        </p:txBody>
      </p:sp>
    </p:spTree>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 name="Shape 22"/>
        <p:cNvGrpSpPr/>
        <p:nvPr/>
      </p:nvGrpSpPr>
      <p:grpSpPr>
        <a:xfrm>
          <a:off x="0" y="0"/>
          <a:ext cx="0" cy="0"/>
          <a:chOff x="0" y="0"/>
          <a:chExt cx="0" cy="0"/>
        </a:xfrm>
      </p:grpSpPr>
      <p:sp>
        <p:nvSpPr>
          <p:cNvPr id="23" name="Google Shape;23;p96"/>
          <p:cNvSpPr txBox="1"/>
          <p:nvPr>
            <p:ph type="title"/>
          </p:nvPr>
        </p:nvSpPr>
        <p:spPr>
          <a:xfrm>
            <a:off x="722313" y="4406900"/>
            <a:ext cx="7772400" cy="1362075"/>
          </a:xfrm>
          <a:prstGeom prst="rect">
            <a:avLst/>
          </a:prstGeom>
          <a:solidFill>
            <a:srgbClr val="003399"/>
          </a:solidFill>
          <a:ln cap="flat" cmpd="sng" w="63500">
            <a:solidFill>
              <a:srgbClr val="54385C"/>
            </a:solidFill>
            <a:prstDash val="solid"/>
            <a:miter lim="800000"/>
            <a:headEnd len="sm" w="sm" type="none"/>
            <a:tailEnd len="sm" w="sm" type="none"/>
          </a:ln>
        </p:spPr>
        <p:txBody>
          <a:bodyPr anchorCtr="0" anchor="t" bIns="46025" lIns="92075" spcFirstLastPara="1" rIns="92075" wrap="square" tIns="46025">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4" name="Google Shape;24;p96"/>
          <p:cNvSpPr txBox="1"/>
          <p:nvPr>
            <p:ph idx="1" type="body"/>
          </p:nvPr>
        </p:nvSpPr>
        <p:spPr>
          <a:xfrm>
            <a:off x="722313" y="2906713"/>
            <a:ext cx="7772400" cy="1500187"/>
          </a:xfrm>
          <a:prstGeom prst="rect">
            <a:avLst/>
          </a:prstGeom>
          <a:noFill/>
          <a:ln>
            <a:noFill/>
          </a:ln>
        </p:spPr>
        <p:txBody>
          <a:bodyPr anchorCtr="0" anchor="b" bIns="46025" lIns="182550" spcFirstLastPara="1" rIns="182550" wrap="square" tIns="46025">
            <a:noAutofit/>
          </a:bodyPr>
          <a:lstStyle>
            <a:lvl1pPr indent="-228600" lvl="0" marL="457200" algn="l">
              <a:spcBef>
                <a:spcPts val="400"/>
              </a:spcBef>
              <a:spcAft>
                <a:spcPts val="0"/>
              </a:spcAft>
              <a:buSzPts val="1500"/>
              <a:buNone/>
              <a:defRPr sz="2000"/>
            </a:lvl1pPr>
            <a:lvl2pPr indent="-228600" lvl="1" marL="914400" algn="l">
              <a:spcBef>
                <a:spcPts val="360"/>
              </a:spcBef>
              <a:spcAft>
                <a:spcPts val="0"/>
              </a:spcAft>
              <a:buSzPts val="1350"/>
              <a:buNone/>
              <a:defRPr sz="1800"/>
            </a:lvl2pPr>
            <a:lvl3pPr indent="-228600" lvl="2" marL="1371600" algn="l">
              <a:spcBef>
                <a:spcPts val="320"/>
              </a:spcBef>
              <a:spcAft>
                <a:spcPts val="0"/>
              </a:spcAft>
              <a:buSzPts val="1200"/>
              <a:buNone/>
              <a:defRPr sz="1600"/>
            </a:lvl3pPr>
            <a:lvl4pPr indent="-228600" lvl="3" marL="1828800" algn="l">
              <a:spcBef>
                <a:spcPts val="280"/>
              </a:spcBef>
              <a:spcAft>
                <a:spcPts val="0"/>
              </a:spcAft>
              <a:buSzPts val="1050"/>
              <a:buNone/>
              <a:defRPr sz="1400"/>
            </a:lvl4pPr>
            <a:lvl5pPr indent="-228600" lvl="4" marL="2286000" algn="l">
              <a:spcBef>
                <a:spcPts val="280"/>
              </a:spcBef>
              <a:spcAft>
                <a:spcPts val="0"/>
              </a:spcAft>
              <a:buSzPts val="1050"/>
              <a:buNone/>
              <a:defRPr sz="1400"/>
            </a:lvl5pPr>
            <a:lvl6pPr indent="-228600" lvl="5" marL="2743200" algn="l">
              <a:spcBef>
                <a:spcPts val="280"/>
              </a:spcBef>
              <a:spcAft>
                <a:spcPts val="0"/>
              </a:spcAft>
              <a:buSzPts val="1050"/>
              <a:buNone/>
              <a:defRPr sz="1400"/>
            </a:lvl6pPr>
            <a:lvl7pPr indent="-228600" lvl="6" marL="3200400" algn="l">
              <a:spcBef>
                <a:spcPts val="280"/>
              </a:spcBef>
              <a:spcAft>
                <a:spcPts val="0"/>
              </a:spcAft>
              <a:buSzPts val="1050"/>
              <a:buNone/>
              <a:defRPr sz="1400"/>
            </a:lvl7pPr>
            <a:lvl8pPr indent="-228600" lvl="7" marL="3657600" algn="l">
              <a:spcBef>
                <a:spcPts val="280"/>
              </a:spcBef>
              <a:spcAft>
                <a:spcPts val="0"/>
              </a:spcAft>
              <a:buSzPts val="1050"/>
              <a:buNone/>
              <a:defRPr sz="1400"/>
            </a:lvl8pPr>
            <a:lvl9pPr indent="-228600" lvl="8" marL="4114800" algn="l">
              <a:spcBef>
                <a:spcPts val="280"/>
              </a:spcBef>
              <a:spcAft>
                <a:spcPts val="0"/>
              </a:spcAft>
              <a:buSzPts val="1050"/>
              <a:buNone/>
              <a:defRPr sz="1400"/>
            </a:lvl9pPr>
          </a:lstStyle>
          <a:p/>
        </p:txBody>
      </p:sp>
    </p:spTree>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5" name="Shape 25"/>
        <p:cNvGrpSpPr/>
        <p:nvPr/>
      </p:nvGrpSpPr>
      <p:grpSpPr>
        <a:xfrm>
          <a:off x="0" y="0"/>
          <a:ext cx="0" cy="0"/>
          <a:chOff x="0" y="0"/>
          <a:chExt cx="0" cy="0"/>
        </a:xfrm>
      </p:grpSpPr>
      <p:sp>
        <p:nvSpPr>
          <p:cNvPr id="26" name="Google Shape;26;p97"/>
          <p:cNvSpPr txBox="1"/>
          <p:nvPr>
            <p:ph type="title"/>
          </p:nvPr>
        </p:nvSpPr>
        <p:spPr>
          <a:xfrm>
            <a:off x="1149350" y="354013"/>
            <a:ext cx="7607300" cy="560387"/>
          </a:xfrm>
          <a:prstGeom prst="rect">
            <a:avLst/>
          </a:prstGeom>
          <a:solidFill>
            <a:srgbClr val="003399"/>
          </a:solidFill>
          <a:ln cap="flat" cmpd="sng" w="63500">
            <a:solidFill>
              <a:srgbClr val="54385C"/>
            </a:solidFill>
            <a:prstDash val="solid"/>
            <a:miter lim="800000"/>
            <a:headEnd len="sm" w="sm" type="none"/>
            <a:tailEnd len="sm" w="sm" type="none"/>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7" name="Google Shape;27;p97"/>
          <p:cNvSpPr txBox="1"/>
          <p:nvPr>
            <p:ph idx="1" type="body"/>
          </p:nvPr>
        </p:nvSpPr>
        <p:spPr>
          <a:xfrm>
            <a:off x="381000" y="1143000"/>
            <a:ext cx="4114800" cy="4800600"/>
          </a:xfrm>
          <a:prstGeom prst="rect">
            <a:avLst/>
          </a:prstGeom>
          <a:noFill/>
          <a:ln>
            <a:noFill/>
          </a:ln>
        </p:spPr>
        <p:txBody>
          <a:bodyPr anchorCtr="0" anchor="t" bIns="46025" lIns="182550" spcFirstLastPara="1" rIns="182550" wrap="square" tIns="46025">
            <a:noAutofit/>
          </a:bodyPr>
          <a:lstStyle>
            <a:lvl1pPr indent="-361950" lvl="0" marL="457200" algn="l">
              <a:spcBef>
                <a:spcPts val="560"/>
              </a:spcBef>
              <a:spcAft>
                <a:spcPts val="0"/>
              </a:spcAft>
              <a:buSzPts val="2100"/>
              <a:buChar char="●"/>
              <a:defRPr sz="2800"/>
            </a:lvl1pPr>
            <a:lvl2pPr indent="-342900" lvl="1" marL="914400" algn="l">
              <a:spcBef>
                <a:spcPts val="480"/>
              </a:spcBef>
              <a:spcAft>
                <a:spcPts val="0"/>
              </a:spcAft>
              <a:buSzPts val="1800"/>
              <a:buChar char="●"/>
              <a:defRPr sz="2400"/>
            </a:lvl2pPr>
            <a:lvl3pPr indent="-323850" lvl="2" marL="1371600" algn="l">
              <a:spcBef>
                <a:spcPts val="400"/>
              </a:spcBef>
              <a:spcAft>
                <a:spcPts val="0"/>
              </a:spcAft>
              <a:buSzPts val="1500"/>
              <a:buChar char="●"/>
              <a:defRPr sz="2000"/>
            </a:lvl3pPr>
            <a:lvl4pPr indent="-314325" lvl="3" marL="1828800" algn="l">
              <a:spcBef>
                <a:spcPts val="360"/>
              </a:spcBef>
              <a:spcAft>
                <a:spcPts val="0"/>
              </a:spcAft>
              <a:buSzPts val="1350"/>
              <a:buChar char="●"/>
              <a:defRPr sz="1800"/>
            </a:lvl4pPr>
            <a:lvl5pPr indent="-314325" lvl="4" marL="2286000" algn="l">
              <a:spcBef>
                <a:spcPts val="360"/>
              </a:spcBef>
              <a:spcAft>
                <a:spcPts val="0"/>
              </a:spcAft>
              <a:buSzPts val="1350"/>
              <a:buChar char="●"/>
              <a:defRPr sz="1800"/>
            </a:lvl5pPr>
            <a:lvl6pPr indent="-314325" lvl="5" marL="2743200" algn="l">
              <a:spcBef>
                <a:spcPts val="360"/>
              </a:spcBef>
              <a:spcAft>
                <a:spcPts val="0"/>
              </a:spcAft>
              <a:buSzPts val="1350"/>
              <a:buChar char="●"/>
              <a:defRPr sz="1800"/>
            </a:lvl6pPr>
            <a:lvl7pPr indent="-314325" lvl="6" marL="3200400" algn="l">
              <a:spcBef>
                <a:spcPts val="360"/>
              </a:spcBef>
              <a:spcAft>
                <a:spcPts val="0"/>
              </a:spcAft>
              <a:buSzPts val="1350"/>
              <a:buChar char="●"/>
              <a:defRPr sz="1800"/>
            </a:lvl7pPr>
            <a:lvl8pPr indent="-314325" lvl="7" marL="3657600" algn="l">
              <a:spcBef>
                <a:spcPts val="360"/>
              </a:spcBef>
              <a:spcAft>
                <a:spcPts val="0"/>
              </a:spcAft>
              <a:buSzPts val="1350"/>
              <a:buChar char="●"/>
              <a:defRPr sz="1800"/>
            </a:lvl8pPr>
            <a:lvl9pPr indent="-314325" lvl="8" marL="4114800" algn="l">
              <a:spcBef>
                <a:spcPts val="360"/>
              </a:spcBef>
              <a:spcAft>
                <a:spcPts val="0"/>
              </a:spcAft>
              <a:buSzPts val="1350"/>
              <a:buChar char="●"/>
              <a:defRPr sz="1800"/>
            </a:lvl9pPr>
          </a:lstStyle>
          <a:p/>
        </p:txBody>
      </p:sp>
      <p:sp>
        <p:nvSpPr>
          <p:cNvPr id="28" name="Google Shape;28;p97"/>
          <p:cNvSpPr txBox="1"/>
          <p:nvPr>
            <p:ph idx="2" type="body"/>
          </p:nvPr>
        </p:nvSpPr>
        <p:spPr>
          <a:xfrm>
            <a:off x="4648200" y="1143000"/>
            <a:ext cx="4114800" cy="4800600"/>
          </a:xfrm>
          <a:prstGeom prst="rect">
            <a:avLst/>
          </a:prstGeom>
          <a:noFill/>
          <a:ln>
            <a:noFill/>
          </a:ln>
        </p:spPr>
        <p:txBody>
          <a:bodyPr anchorCtr="0" anchor="t" bIns="46025" lIns="182550" spcFirstLastPara="1" rIns="182550" wrap="square" tIns="46025">
            <a:noAutofit/>
          </a:bodyPr>
          <a:lstStyle>
            <a:lvl1pPr indent="-361950" lvl="0" marL="457200" algn="l">
              <a:spcBef>
                <a:spcPts val="560"/>
              </a:spcBef>
              <a:spcAft>
                <a:spcPts val="0"/>
              </a:spcAft>
              <a:buSzPts val="2100"/>
              <a:buChar char="●"/>
              <a:defRPr sz="2800"/>
            </a:lvl1pPr>
            <a:lvl2pPr indent="-342900" lvl="1" marL="914400" algn="l">
              <a:spcBef>
                <a:spcPts val="480"/>
              </a:spcBef>
              <a:spcAft>
                <a:spcPts val="0"/>
              </a:spcAft>
              <a:buSzPts val="1800"/>
              <a:buChar char="●"/>
              <a:defRPr sz="2400"/>
            </a:lvl2pPr>
            <a:lvl3pPr indent="-323850" lvl="2" marL="1371600" algn="l">
              <a:spcBef>
                <a:spcPts val="400"/>
              </a:spcBef>
              <a:spcAft>
                <a:spcPts val="0"/>
              </a:spcAft>
              <a:buSzPts val="1500"/>
              <a:buChar char="●"/>
              <a:defRPr sz="2000"/>
            </a:lvl3pPr>
            <a:lvl4pPr indent="-314325" lvl="3" marL="1828800" algn="l">
              <a:spcBef>
                <a:spcPts val="360"/>
              </a:spcBef>
              <a:spcAft>
                <a:spcPts val="0"/>
              </a:spcAft>
              <a:buSzPts val="1350"/>
              <a:buChar char="●"/>
              <a:defRPr sz="1800"/>
            </a:lvl4pPr>
            <a:lvl5pPr indent="-314325" lvl="4" marL="2286000" algn="l">
              <a:spcBef>
                <a:spcPts val="360"/>
              </a:spcBef>
              <a:spcAft>
                <a:spcPts val="0"/>
              </a:spcAft>
              <a:buSzPts val="1350"/>
              <a:buChar char="●"/>
              <a:defRPr sz="1800"/>
            </a:lvl5pPr>
            <a:lvl6pPr indent="-314325" lvl="5" marL="2743200" algn="l">
              <a:spcBef>
                <a:spcPts val="360"/>
              </a:spcBef>
              <a:spcAft>
                <a:spcPts val="0"/>
              </a:spcAft>
              <a:buSzPts val="1350"/>
              <a:buChar char="●"/>
              <a:defRPr sz="1800"/>
            </a:lvl6pPr>
            <a:lvl7pPr indent="-314325" lvl="6" marL="3200400" algn="l">
              <a:spcBef>
                <a:spcPts val="360"/>
              </a:spcBef>
              <a:spcAft>
                <a:spcPts val="0"/>
              </a:spcAft>
              <a:buSzPts val="1350"/>
              <a:buChar char="●"/>
              <a:defRPr sz="1800"/>
            </a:lvl7pPr>
            <a:lvl8pPr indent="-314325" lvl="7" marL="3657600" algn="l">
              <a:spcBef>
                <a:spcPts val="360"/>
              </a:spcBef>
              <a:spcAft>
                <a:spcPts val="0"/>
              </a:spcAft>
              <a:buSzPts val="1350"/>
              <a:buChar char="●"/>
              <a:defRPr sz="1800"/>
            </a:lvl8pPr>
            <a:lvl9pPr indent="-314325" lvl="8" marL="4114800" algn="l">
              <a:spcBef>
                <a:spcPts val="360"/>
              </a:spcBef>
              <a:spcAft>
                <a:spcPts val="0"/>
              </a:spcAft>
              <a:buSzPts val="1350"/>
              <a:buChar char="●"/>
              <a:defRPr sz="1800"/>
            </a:lvl9pPr>
          </a:lstStyle>
          <a:p/>
        </p:txBody>
      </p:sp>
    </p:spTree>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9" name="Shape 29"/>
        <p:cNvGrpSpPr/>
        <p:nvPr/>
      </p:nvGrpSpPr>
      <p:grpSpPr>
        <a:xfrm>
          <a:off x="0" y="0"/>
          <a:ext cx="0" cy="0"/>
          <a:chOff x="0" y="0"/>
          <a:chExt cx="0" cy="0"/>
        </a:xfrm>
      </p:grpSpPr>
      <p:sp>
        <p:nvSpPr>
          <p:cNvPr id="30" name="Google Shape;30;p98"/>
          <p:cNvSpPr txBox="1"/>
          <p:nvPr>
            <p:ph type="title"/>
          </p:nvPr>
        </p:nvSpPr>
        <p:spPr>
          <a:xfrm>
            <a:off x="457200" y="274638"/>
            <a:ext cx="8229600" cy="1143000"/>
          </a:xfrm>
          <a:prstGeom prst="rect">
            <a:avLst/>
          </a:prstGeom>
          <a:solidFill>
            <a:srgbClr val="003399"/>
          </a:solidFill>
          <a:ln cap="flat" cmpd="sng" w="63500">
            <a:solidFill>
              <a:srgbClr val="54385C"/>
            </a:solidFill>
            <a:prstDash val="solid"/>
            <a:miter lim="800000"/>
            <a:headEnd len="sm" w="sm" type="none"/>
            <a:tailEnd len="sm" w="sm" type="none"/>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1" name="Google Shape;31;p98"/>
          <p:cNvSpPr txBox="1"/>
          <p:nvPr>
            <p:ph idx="1" type="body"/>
          </p:nvPr>
        </p:nvSpPr>
        <p:spPr>
          <a:xfrm>
            <a:off x="457200" y="1535113"/>
            <a:ext cx="4040188" cy="639762"/>
          </a:xfrm>
          <a:prstGeom prst="rect">
            <a:avLst/>
          </a:prstGeom>
          <a:noFill/>
          <a:ln>
            <a:noFill/>
          </a:ln>
        </p:spPr>
        <p:txBody>
          <a:bodyPr anchorCtr="0" anchor="b" bIns="46025" lIns="182550" spcFirstLastPara="1" rIns="182550" wrap="square" tIns="46025">
            <a:noAutofit/>
          </a:bodyPr>
          <a:lstStyle>
            <a:lvl1pPr indent="-228600" lvl="0" marL="457200" algn="l">
              <a:spcBef>
                <a:spcPts val="480"/>
              </a:spcBef>
              <a:spcAft>
                <a:spcPts val="0"/>
              </a:spcAft>
              <a:buSzPts val="1800"/>
              <a:buNone/>
              <a:defRPr b="1" sz="2400"/>
            </a:lvl1pPr>
            <a:lvl2pPr indent="-228600" lvl="1" marL="914400" algn="l">
              <a:spcBef>
                <a:spcPts val="400"/>
              </a:spcBef>
              <a:spcAft>
                <a:spcPts val="0"/>
              </a:spcAft>
              <a:buSzPts val="1500"/>
              <a:buNone/>
              <a:defRPr b="1" sz="2000"/>
            </a:lvl2pPr>
            <a:lvl3pPr indent="-228600" lvl="2" marL="1371600" algn="l">
              <a:spcBef>
                <a:spcPts val="360"/>
              </a:spcBef>
              <a:spcAft>
                <a:spcPts val="0"/>
              </a:spcAft>
              <a:buSzPts val="1350"/>
              <a:buNone/>
              <a:defRPr b="1" sz="1800"/>
            </a:lvl3pPr>
            <a:lvl4pPr indent="-228600" lvl="3" marL="1828800" algn="l">
              <a:spcBef>
                <a:spcPts val="320"/>
              </a:spcBef>
              <a:spcAft>
                <a:spcPts val="0"/>
              </a:spcAft>
              <a:buSzPts val="1200"/>
              <a:buNone/>
              <a:defRPr b="1" sz="1600"/>
            </a:lvl4pPr>
            <a:lvl5pPr indent="-228600" lvl="4" marL="2286000" algn="l">
              <a:spcBef>
                <a:spcPts val="320"/>
              </a:spcBef>
              <a:spcAft>
                <a:spcPts val="0"/>
              </a:spcAft>
              <a:buSzPts val="1200"/>
              <a:buNone/>
              <a:defRPr b="1" sz="1600"/>
            </a:lvl5pPr>
            <a:lvl6pPr indent="-228600" lvl="5" marL="2743200" algn="l">
              <a:spcBef>
                <a:spcPts val="320"/>
              </a:spcBef>
              <a:spcAft>
                <a:spcPts val="0"/>
              </a:spcAft>
              <a:buSzPts val="1200"/>
              <a:buNone/>
              <a:defRPr b="1" sz="1600"/>
            </a:lvl6pPr>
            <a:lvl7pPr indent="-228600" lvl="6" marL="3200400" algn="l">
              <a:spcBef>
                <a:spcPts val="320"/>
              </a:spcBef>
              <a:spcAft>
                <a:spcPts val="0"/>
              </a:spcAft>
              <a:buSzPts val="1200"/>
              <a:buNone/>
              <a:defRPr b="1" sz="1600"/>
            </a:lvl7pPr>
            <a:lvl8pPr indent="-228600" lvl="7" marL="3657600" algn="l">
              <a:spcBef>
                <a:spcPts val="320"/>
              </a:spcBef>
              <a:spcAft>
                <a:spcPts val="0"/>
              </a:spcAft>
              <a:buSzPts val="1200"/>
              <a:buNone/>
              <a:defRPr b="1" sz="1600"/>
            </a:lvl8pPr>
            <a:lvl9pPr indent="-228600" lvl="8" marL="4114800" algn="l">
              <a:spcBef>
                <a:spcPts val="320"/>
              </a:spcBef>
              <a:spcAft>
                <a:spcPts val="0"/>
              </a:spcAft>
              <a:buSzPts val="1200"/>
              <a:buNone/>
              <a:defRPr b="1" sz="1600"/>
            </a:lvl9pPr>
          </a:lstStyle>
          <a:p/>
        </p:txBody>
      </p:sp>
      <p:sp>
        <p:nvSpPr>
          <p:cNvPr id="32" name="Google Shape;32;p98"/>
          <p:cNvSpPr txBox="1"/>
          <p:nvPr>
            <p:ph idx="2" type="body"/>
          </p:nvPr>
        </p:nvSpPr>
        <p:spPr>
          <a:xfrm>
            <a:off x="457200" y="2174875"/>
            <a:ext cx="4040188" cy="3951288"/>
          </a:xfrm>
          <a:prstGeom prst="rect">
            <a:avLst/>
          </a:prstGeom>
          <a:noFill/>
          <a:ln>
            <a:noFill/>
          </a:ln>
        </p:spPr>
        <p:txBody>
          <a:bodyPr anchorCtr="0" anchor="t" bIns="46025" lIns="182550" spcFirstLastPara="1" rIns="182550" wrap="square" tIns="46025">
            <a:noAutofit/>
          </a:bodyPr>
          <a:lstStyle>
            <a:lvl1pPr indent="-342900" lvl="0" marL="457200" algn="l">
              <a:spcBef>
                <a:spcPts val="480"/>
              </a:spcBef>
              <a:spcAft>
                <a:spcPts val="0"/>
              </a:spcAft>
              <a:buSzPts val="1800"/>
              <a:buChar char="●"/>
              <a:defRPr sz="2400"/>
            </a:lvl1pPr>
            <a:lvl2pPr indent="-323850" lvl="1" marL="914400" algn="l">
              <a:spcBef>
                <a:spcPts val="400"/>
              </a:spcBef>
              <a:spcAft>
                <a:spcPts val="0"/>
              </a:spcAft>
              <a:buSzPts val="1500"/>
              <a:buChar char="●"/>
              <a:defRPr sz="2000"/>
            </a:lvl2pPr>
            <a:lvl3pPr indent="-314325" lvl="2" marL="1371600" algn="l">
              <a:spcBef>
                <a:spcPts val="360"/>
              </a:spcBef>
              <a:spcAft>
                <a:spcPts val="0"/>
              </a:spcAft>
              <a:buSzPts val="1350"/>
              <a:buChar char="●"/>
              <a:defRPr sz="1800"/>
            </a:lvl3pPr>
            <a:lvl4pPr indent="-304800" lvl="3" marL="1828800" algn="l">
              <a:spcBef>
                <a:spcPts val="320"/>
              </a:spcBef>
              <a:spcAft>
                <a:spcPts val="0"/>
              </a:spcAft>
              <a:buSzPts val="1200"/>
              <a:buChar char="●"/>
              <a:defRPr sz="1600"/>
            </a:lvl4pPr>
            <a:lvl5pPr indent="-304800" lvl="4" marL="2286000" algn="l">
              <a:spcBef>
                <a:spcPts val="320"/>
              </a:spcBef>
              <a:spcAft>
                <a:spcPts val="0"/>
              </a:spcAft>
              <a:buSzPts val="1200"/>
              <a:buChar char="●"/>
              <a:defRPr sz="1600"/>
            </a:lvl5pPr>
            <a:lvl6pPr indent="-304800" lvl="5" marL="2743200" algn="l">
              <a:spcBef>
                <a:spcPts val="320"/>
              </a:spcBef>
              <a:spcAft>
                <a:spcPts val="0"/>
              </a:spcAft>
              <a:buSzPts val="1200"/>
              <a:buChar char="●"/>
              <a:defRPr sz="1600"/>
            </a:lvl6pPr>
            <a:lvl7pPr indent="-304800" lvl="6" marL="3200400" algn="l">
              <a:spcBef>
                <a:spcPts val="320"/>
              </a:spcBef>
              <a:spcAft>
                <a:spcPts val="0"/>
              </a:spcAft>
              <a:buSzPts val="1200"/>
              <a:buChar char="●"/>
              <a:defRPr sz="1600"/>
            </a:lvl7pPr>
            <a:lvl8pPr indent="-304800" lvl="7" marL="3657600" algn="l">
              <a:spcBef>
                <a:spcPts val="320"/>
              </a:spcBef>
              <a:spcAft>
                <a:spcPts val="0"/>
              </a:spcAft>
              <a:buSzPts val="1200"/>
              <a:buChar char="●"/>
              <a:defRPr sz="1600"/>
            </a:lvl8pPr>
            <a:lvl9pPr indent="-304800" lvl="8" marL="4114800" algn="l">
              <a:spcBef>
                <a:spcPts val="320"/>
              </a:spcBef>
              <a:spcAft>
                <a:spcPts val="0"/>
              </a:spcAft>
              <a:buSzPts val="1200"/>
              <a:buChar char="●"/>
              <a:defRPr sz="1600"/>
            </a:lvl9pPr>
          </a:lstStyle>
          <a:p/>
        </p:txBody>
      </p:sp>
      <p:sp>
        <p:nvSpPr>
          <p:cNvPr id="33" name="Google Shape;33;p98"/>
          <p:cNvSpPr txBox="1"/>
          <p:nvPr>
            <p:ph idx="3" type="body"/>
          </p:nvPr>
        </p:nvSpPr>
        <p:spPr>
          <a:xfrm>
            <a:off x="4645025" y="1535113"/>
            <a:ext cx="4041775" cy="639762"/>
          </a:xfrm>
          <a:prstGeom prst="rect">
            <a:avLst/>
          </a:prstGeom>
          <a:noFill/>
          <a:ln>
            <a:noFill/>
          </a:ln>
        </p:spPr>
        <p:txBody>
          <a:bodyPr anchorCtr="0" anchor="b" bIns="46025" lIns="182550" spcFirstLastPara="1" rIns="182550" wrap="square" tIns="46025">
            <a:noAutofit/>
          </a:bodyPr>
          <a:lstStyle>
            <a:lvl1pPr indent="-228600" lvl="0" marL="457200" algn="l">
              <a:spcBef>
                <a:spcPts val="480"/>
              </a:spcBef>
              <a:spcAft>
                <a:spcPts val="0"/>
              </a:spcAft>
              <a:buSzPts val="1800"/>
              <a:buNone/>
              <a:defRPr b="1" sz="2400"/>
            </a:lvl1pPr>
            <a:lvl2pPr indent="-228600" lvl="1" marL="914400" algn="l">
              <a:spcBef>
                <a:spcPts val="400"/>
              </a:spcBef>
              <a:spcAft>
                <a:spcPts val="0"/>
              </a:spcAft>
              <a:buSzPts val="1500"/>
              <a:buNone/>
              <a:defRPr b="1" sz="2000"/>
            </a:lvl2pPr>
            <a:lvl3pPr indent="-228600" lvl="2" marL="1371600" algn="l">
              <a:spcBef>
                <a:spcPts val="360"/>
              </a:spcBef>
              <a:spcAft>
                <a:spcPts val="0"/>
              </a:spcAft>
              <a:buSzPts val="1350"/>
              <a:buNone/>
              <a:defRPr b="1" sz="1800"/>
            </a:lvl3pPr>
            <a:lvl4pPr indent="-228600" lvl="3" marL="1828800" algn="l">
              <a:spcBef>
                <a:spcPts val="320"/>
              </a:spcBef>
              <a:spcAft>
                <a:spcPts val="0"/>
              </a:spcAft>
              <a:buSzPts val="1200"/>
              <a:buNone/>
              <a:defRPr b="1" sz="1600"/>
            </a:lvl4pPr>
            <a:lvl5pPr indent="-228600" lvl="4" marL="2286000" algn="l">
              <a:spcBef>
                <a:spcPts val="320"/>
              </a:spcBef>
              <a:spcAft>
                <a:spcPts val="0"/>
              </a:spcAft>
              <a:buSzPts val="1200"/>
              <a:buNone/>
              <a:defRPr b="1" sz="1600"/>
            </a:lvl5pPr>
            <a:lvl6pPr indent="-228600" lvl="5" marL="2743200" algn="l">
              <a:spcBef>
                <a:spcPts val="320"/>
              </a:spcBef>
              <a:spcAft>
                <a:spcPts val="0"/>
              </a:spcAft>
              <a:buSzPts val="1200"/>
              <a:buNone/>
              <a:defRPr b="1" sz="1600"/>
            </a:lvl6pPr>
            <a:lvl7pPr indent="-228600" lvl="6" marL="3200400" algn="l">
              <a:spcBef>
                <a:spcPts val="320"/>
              </a:spcBef>
              <a:spcAft>
                <a:spcPts val="0"/>
              </a:spcAft>
              <a:buSzPts val="1200"/>
              <a:buNone/>
              <a:defRPr b="1" sz="1600"/>
            </a:lvl7pPr>
            <a:lvl8pPr indent="-228600" lvl="7" marL="3657600" algn="l">
              <a:spcBef>
                <a:spcPts val="320"/>
              </a:spcBef>
              <a:spcAft>
                <a:spcPts val="0"/>
              </a:spcAft>
              <a:buSzPts val="1200"/>
              <a:buNone/>
              <a:defRPr b="1" sz="1600"/>
            </a:lvl8pPr>
            <a:lvl9pPr indent="-228600" lvl="8" marL="4114800" algn="l">
              <a:spcBef>
                <a:spcPts val="320"/>
              </a:spcBef>
              <a:spcAft>
                <a:spcPts val="0"/>
              </a:spcAft>
              <a:buSzPts val="1200"/>
              <a:buNone/>
              <a:defRPr b="1" sz="1600"/>
            </a:lvl9pPr>
          </a:lstStyle>
          <a:p/>
        </p:txBody>
      </p:sp>
      <p:sp>
        <p:nvSpPr>
          <p:cNvPr id="34" name="Google Shape;34;p98"/>
          <p:cNvSpPr txBox="1"/>
          <p:nvPr>
            <p:ph idx="4" type="body"/>
          </p:nvPr>
        </p:nvSpPr>
        <p:spPr>
          <a:xfrm>
            <a:off x="4645025" y="2174875"/>
            <a:ext cx="4041775" cy="3951288"/>
          </a:xfrm>
          <a:prstGeom prst="rect">
            <a:avLst/>
          </a:prstGeom>
          <a:noFill/>
          <a:ln>
            <a:noFill/>
          </a:ln>
        </p:spPr>
        <p:txBody>
          <a:bodyPr anchorCtr="0" anchor="t" bIns="46025" lIns="182550" spcFirstLastPara="1" rIns="182550" wrap="square" tIns="46025">
            <a:noAutofit/>
          </a:bodyPr>
          <a:lstStyle>
            <a:lvl1pPr indent="-342900" lvl="0" marL="457200" algn="l">
              <a:spcBef>
                <a:spcPts val="480"/>
              </a:spcBef>
              <a:spcAft>
                <a:spcPts val="0"/>
              </a:spcAft>
              <a:buSzPts val="1800"/>
              <a:buChar char="●"/>
              <a:defRPr sz="2400"/>
            </a:lvl1pPr>
            <a:lvl2pPr indent="-323850" lvl="1" marL="914400" algn="l">
              <a:spcBef>
                <a:spcPts val="400"/>
              </a:spcBef>
              <a:spcAft>
                <a:spcPts val="0"/>
              </a:spcAft>
              <a:buSzPts val="1500"/>
              <a:buChar char="●"/>
              <a:defRPr sz="2000"/>
            </a:lvl2pPr>
            <a:lvl3pPr indent="-314325" lvl="2" marL="1371600" algn="l">
              <a:spcBef>
                <a:spcPts val="360"/>
              </a:spcBef>
              <a:spcAft>
                <a:spcPts val="0"/>
              </a:spcAft>
              <a:buSzPts val="1350"/>
              <a:buChar char="●"/>
              <a:defRPr sz="1800"/>
            </a:lvl3pPr>
            <a:lvl4pPr indent="-304800" lvl="3" marL="1828800" algn="l">
              <a:spcBef>
                <a:spcPts val="320"/>
              </a:spcBef>
              <a:spcAft>
                <a:spcPts val="0"/>
              </a:spcAft>
              <a:buSzPts val="1200"/>
              <a:buChar char="●"/>
              <a:defRPr sz="1600"/>
            </a:lvl4pPr>
            <a:lvl5pPr indent="-304800" lvl="4" marL="2286000" algn="l">
              <a:spcBef>
                <a:spcPts val="320"/>
              </a:spcBef>
              <a:spcAft>
                <a:spcPts val="0"/>
              </a:spcAft>
              <a:buSzPts val="1200"/>
              <a:buChar char="●"/>
              <a:defRPr sz="1600"/>
            </a:lvl5pPr>
            <a:lvl6pPr indent="-304800" lvl="5" marL="2743200" algn="l">
              <a:spcBef>
                <a:spcPts val="320"/>
              </a:spcBef>
              <a:spcAft>
                <a:spcPts val="0"/>
              </a:spcAft>
              <a:buSzPts val="1200"/>
              <a:buChar char="●"/>
              <a:defRPr sz="1600"/>
            </a:lvl6pPr>
            <a:lvl7pPr indent="-304800" lvl="6" marL="3200400" algn="l">
              <a:spcBef>
                <a:spcPts val="320"/>
              </a:spcBef>
              <a:spcAft>
                <a:spcPts val="0"/>
              </a:spcAft>
              <a:buSzPts val="1200"/>
              <a:buChar char="●"/>
              <a:defRPr sz="1600"/>
            </a:lvl7pPr>
            <a:lvl8pPr indent="-304800" lvl="7" marL="3657600" algn="l">
              <a:spcBef>
                <a:spcPts val="320"/>
              </a:spcBef>
              <a:spcAft>
                <a:spcPts val="0"/>
              </a:spcAft>
              <a:buSzPts val="1200"/>
              <a:buChar char="●"/>
              <a:defRPr sz="1600"/>
            </a:lvl8pPr>
            <a:lvl9pPr indent="-304800" lvl="8" marL="4114800" algn="l">
              <a:spcBef>
                <a:spcPts val="320"/>
              </a:spcBef>
              <a:spcAft>
                <a:spcPts val="0"/>
              </a:spcAft>
              <a:buSzPts val="1200"/>
              <a:buChar char="●"/>
              <a:defRPr sz="1600"/>
            </a:lvl9pPr>
          </a:lstStyle>
          <a:p/>
        </p:txBody>
      </p:sp>
    </p:spTree>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5" name="Shape 35"/>
        <p:cNvGrpSpPr/>
        <p:nvPr/>
      </p:nvGrpSpPr>
      <p:grpSpPr>
        <a:xfrm>
          <a:off x="0" y="0"/>
          <a:ext cx="0" cy="0"/>
          <a:chOff x="0" y="0"/>
          <a:chExt cx="0" cy="0"/>
        </a:xfrm>
      </p:grpSpPr>
      <p:sp>
        <p:nvSpPr>
          <p:cNvPr id="36" name="Google Shape;36;p99"/>
          <p:cNvSpPr txBox="1"/>
          <p:nvPr>
            <p:ph type="title"/>
          </p:nvPr>
        </p:nvSpPr>
        <p:spPr>
          <a:xfrm>
            <a:off x="457200" y="273050"/>
            <a:ext cx="3008313" cy="1162050"/>
          </a:xfrm>
          <a:prstGeom prst="rect">
            <a:avLst/>
          </a:prstGeom>
          <a:solidFill>
            <a:srgbClr val="003399"/>
          </a:solidFill>
          <a:ln cap="flat" cmpd="sng" w="63500">
            <a:solidFill>
              <a:srgbClr val="54385C"/>
            </a:solidFill>
            <a:prstDash val="solid"/>
            <a:miter lim="800000"/>
            <a:headEnd len="sm" w="sm" type="none"/>
            <a:tailEnd len="sm" w="sm" type="none"/>
          </a:ln>
        </p:spPr>
        <p:txBody>
          <a:bodyPr anchorCtr="0" anchor="b" bIns="46025" lIns="92075" spcFirstLastPara="1" rIns="92075" wrap="square" tIns="46025">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7" name="Google Shape;37;p99"/>
          <p:cNvSpPr txBox="1"/>
          <p:nvPr>
            <p:ph idx="1" type="body"/>
          </p:nvPr>
        </p:nvSpPr>
        <p:spPr>
          <a:xfrm>
            <a:off x="3575050" y="273050"/>
            <a:ext cx="5111750" cy="5853113"/>
          </a:xfrm>
          <a:prstGeom prst="rect">
            <a:avLst/>
          </a:prstGeom>
          <a:noFill/>
          <a:ln>
            <a:noFill/>
          </a:ln>
        </p:spPr>
        <p:txBody>
          <a:bodyPr anchorCtr="0" anchor="t" bIns="46025" lIns="182550" spcFirstLastPara="1" rIns="182550" wrap="square" tIns="46025">
            <a:noAutofit/>
          </a:bodyPr>
          <a:lstStyle>
            <a:lvl1pPr indent="-381000" lvl="0" marL="457200" algn="l">
              <a:spcBef>
                <a:spcPts val="640"/>
              </a:spcBef>
              <a:spcAft>
                <a:spcPts val="0"/>
              </a:spcAft>
              <a:buSzPts val="2400"/>
              <a:buChar char="●"/>
              <a:defRPr sz="3200"/>
            </a:lvl1pPr>
            <a:lvl2pPr indent="-361950" lvl="1" marL="914400" algn="l">
              <a:spcBef>
                <a:spcPts val="560"/>
              </a:spcBef>
              <a:spcAft>
                <a:spcPts val="0"/>
              </a:spcAft>
              <a:buSzPts val="2100"/>
              <a:buChar char="●"/>
              <a:defRPr sz="2800"/>
            </a:lvl2pPr>
            <a:lvl3pPr indent="-342900" lvl="2" marL="1371600" algn="l">
              <a:spcBef>
                <a:spcPts val="480"/>
              </a:spcBef>
              <a:spcAft>
                <a:spcPts val="0"/>
              </a:spcAft>
              <a:buSzPts val="1800"/>
              <a:buChar char="●"/>
              <a:defRPr sz="2400"/>
            </a:lvl3pPr>
            <a:lvl4pPr indent="-323850" lvl="3" marL="1828800" algn="l">
              <a:spcBef>
                <a:spcPts val="400"/>
              </a:spcBef>
              <a:spcAft>
                <a:spcPts val="0"/>
              </a:spcAft>
              <a:buSzPts val="1500"/>
              <a:buChar char="●"/>
              <a:defRPr sz="2000"/>
            </a:lvl4pPr>
            <a:lvl5pPr indent="-323850" lvl="4" marL="2286000" algn="l">
              <a:spcBef>
                <a:spcPts val="400"/>
              </a:spcBef>
              <a:spcAft>
                <a:spcPts val="0"/>
              </a:spcAft>
              <a:buSzPts val="1500"/>
              <a:buChar char="●"/>
              <a:defRPr sz="2000"/>
            </a:lvl5pPr>
            <a:lvl6pPr indent="-323850" lvl="5" marL="2743200" algn="l">
              <a:spcBef>
                <a:spcPts val="400"/>
              </a:spcBef>
              <a:spcAft>
                <a:spcPts val="0"/>
              </a:spcAft>
              <a:buSzPts val="1500"/>
              <a:buChar char="●"/>
              <a:defRPr sz="2000"/>
            </a:lvl6pPr>
            <a:lvl7pPr indent="-323850" lvl="6" marL="3200400" algn="l">
              <a:spcBef>
                <a:spcPts val="400"/>
              </a:spcBef>
              <a:spcAft>
                <a:spcPts val="0"/>
              </a:spcAft>
              <a:buSzPts val="1500"/>
              <a:buChar char="●"/>
              <a:defRPr sz="2000"/>
            </a:lvl7pPr>
            <a:lvl8pPr indent="-323850" lvl="7" marL="3657600" algn="l">
              <a:spcBef>
                <a:spcPts val="400"/>
              </a:spcBef>
              <a:spcAft>
                <a:spcPts val="0"/>
              </a:spcAft>
              <a:buSzPts val="1500"/>
              <a:buChar char="●"/>
              <a:defRPr sz="2000"/>
            </a:lvl8pPr>
            <a:lvl9pPr indent="-323850" lvl="8" marL="4114800" algn="l">
              <a:spcBef>
                <a:spcPts val="400"/>
              </a:spcBef>
              <a:spcAft>
                <a:spcPts val="0"/>
              </a:spcAft>
              <a:buSzPts val="1500"/>
              <a:buChar char="●"/>
              <a:defRPr sz="2000"/>
            </a:lvl9pPr>
          </a:lstStyle>
          <a:p/>
        </p:txBody>
      </p:sp>
      <p:sp>
        <p:nvSpPr>
          <p:cNvPr id="38" name="Google Shape;38;p99"/>
          <p:cNvSpPr txBox="1"/>
          <p:nvPr>
            <p:ph idx="2" type="body"/>
          </p:nvPr>
        </p:nvSpPr>
        <p:spPr>
          <a:xfrm>
            <a:off x="457200" y="1435100"/>
            <a:ext cx="3008313" cy="4691063"/>
          </a:xfrm>
          <a:prstGeom prst="rect">
            <a:avLst/>
          </a:prstGeom>
          <a:noFill/>
          <a:ln>
            <a:noFill/>
          </a:ln>
        </p:spPr>
        <p:txBody>
          <a:bodyPr anchorCtr="0" anchor="t" bIns="46025" lIns="182550" spcFirstLastPara="1" rIns="182550" wrap="square" tIns="46025">
            <a:noAutofit/>
          </a:bodyPr>
          <a:lstStyle>
            <a:lvl1pPr indent="-228600" lvl="0" marL="457200" algn="l">
              <a:spcBef>
                <a:spcPts val="280"/>
              </a:spcBef>
              <a:spcAft>
                <a:spcPts val="0"/>
              </a:spcAft>
              <a:buSzPts val="1050"/>
              <a:buNone/>
              <a:defRPr sz="1400"/>
            </a:lvl1pPr>
            <a:lvl2pPr indent="-228600" lvl="1" marL="914400" algn="l">
              <a:spcBef>
                <a:spcPts val="240"/>
              </a:spcBef>
              <a:spcAft>
                <a:spcPts val="0"/>
              </a:spcAft>
              <a:buSzPts val="900"/>
              <a:buNone/>
              <a:defRPr sz="1200"/>
            </a:lvl2pPr>
            <a:lvl3pPr indent="-228600" lvl="2" marL="1371600" algn="l">
              <a:spcBef>
                <a:spcPts val="200"/>
              </a:spcBef>
              <a:spcAft>
                <a:spcPts val="0"/>
              </a:spcAft>
              <a:buSzPts val="750"/>
              <a:buNone/>
              <a:defRPr sz="1000"/>
            </a:lvl3pPr>
            <a:lvl4pPr indent="-228600" lvl="3" marL="1828800" algn="l">
              <a:spcBef>
                <a:spcPts val="180"/>
              </a:spcBef>
              <a:spcAft>
                <a:spcPts val="0"/>
              </a:spcAft>
              <a:buSzPts val="675"/>
              <a:buNone/>
              <a:defRPr sz="900"/>
            </a:lvl4pPr>
            <a:lvl5pPr indent="-228600" lvl="4" marL="2286000" algn="l">
              <a:spcBef>
                <a:spcPts val="180"/>
              </a:spcBef>
              <a:spcAft>
                <a:spcPts val="0"/>
              </a:spcAft>
              <a:buSzPts val="675"/>
              <a:buNone/>
              <a:defRPr sz="900"/>
            </a:lvl5pPr>
            <a:lvl6pPr indent="-228600" lvl="5" marL="2743200" algn="l">
              <a:spcBef>
                <a:spcPts val="180"/>
              </a:spcBef>
              <a:spcAft>
                <a:spcPts val="0"/>
              </a:spcAft>
              <a:buSzPts val="675"/>
              <a:buNone/>
              <a:defRPr sz="900"/>
            </a:lvl6pPr>
            <a:lvl7pPr indent="-228600" lvl="6" marL="3200400" algn="l">
              <a:spcBef>
                <a:spcPts val="180"/>
              </a:spcBef>
              <a:spcAft>
                <a:spcPts val="0"/>
              </a:spcAft>
              <a:buSzPts val="675"/>
              <a:buNone/>
              <a:defRPr sz="900"/>
            </a:lvl7pPr>
            <a:lvl8pPr indent="-228600" lvl="7" marL="3657600" algn="l">
              <a:spcBef>
                <a:spcPts val="180"/>
              </a:spcBef>
              <a:spcAft>
                <a:spcPts val="0"/>
              </a:spcAft>
              <a:buSzPts val="675"/>
              <a:buNone/>
              <a:defRPr sz="900"/>
            </a:lvl8pPr>
            <a:lvl9pPr indent="-228600" lvl="8" marL="4114800" algn="l">
              <a:spcBef>
                <a:spcPts val="180"/>
              </a:spcBef>
              <a:spcAft>
                <a:spcPts val="0"/>
              </a:spcAft>
              <a:buSzPts val="675"/>
              <a:buNone/>
              <a:defRPr sz="900"/>
            </a:lvl9pPr>
          </a:lstStyle>
          <a:p/>
        </p:txBody>
      </p:sp>
    </p:spTree>
  </p:cSld>
  <p:clrMapOvr>
    <a:masterClrMapping/>
  </p:clrMapOvr>
  <p:transition>
    <p:wipe dir="r"/>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9" name="Shape 39"/>
        <p:cNvGrpSpPr/>
        <p:nvPr/>
      </p:nvGrpSpPr>
      <p:grpSpPr>
        <a:xfrm>
          <a:off x="0" y="0"/>
          <a:ext cx="0" cy="0"/>
          <a:chOff x="0" y="0"/>
          <a:chExt cx="0" cy="0"/>
        </a:xfrm>
      </p:grpSpPr>
      <p:sp>
        <p:nvSpPr>
          <p:cNvPr id="40" name="Google Shape;40;p100"/>
          <p:cNvSpPr txBox="1"/>
          <p:nvPr>
            <p:ph type="title"/>
          </p:nvPr>
        </p:nvSpPr>
        <p:spPr>
          <a:xfrm>
            <a:off x="1792288" y="4800600"/>
            <a:ext cx="5486400" cy="566738"/>
          </a:xfrm>
          <a:prstGeom prst="rect">
            <a:avLst/>
          </a:prstGeom>
          <a:solidFill>
            <a:srgbClr val="003399"/>
          </a:solidFill>
          <a:ln cap="flat" cmpd="sng" w="63500">
            <a:solidFill>
              <a:srgbClr val="54385C"/>
            </a:solidFill>
            <a:prstDash val="solid"/>
            <a:miter lim="800000"/>
            <a:headEnd len="sm" w="sm" type="none"/>
            <a:tailEnd len="sm" w="sm" type="none"/>
          </a:ln>
        </p:spPr>
        <p:txBody>
          <a:bodyPr anchorCtr="0" anchor="b" bIns="46025" lIns="92075" spcFirstLastPara="1" rIns="92075" wrap="square" tIns="46025">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1" name="Google Shape;41;p100"/>
          <p:cNvSpPr/>
          <p:nvPr>
            <p:ph idx="2" type="pic"/>
          </p:nvPr>
        </p:nvSpPr>
        <p:spPr>
          <a:xfrm>
            <a:off x="1792288" y="612775"/>
            <a:ext cx="5486400" cy="4114800"/>
          </a:xfrm>
          <a:prstGeom prst="rect">
            <a:avLst/>
          </a:prstGeom>
          <a:noFill/>
          <a:ln>
            <a:noFill/>
          </a:ln>
        </p:spPr>
      </p:sp>
      <p:sp>
        <p:nvSpPr>
          <p:cNvPr id="42" name="Google Shape;42;p100"/>
          <p:cNvSpPr txBox="1"/>
          <p:nvPr>
            <p:ph idx="1" type="body"/>
          </p:nvPr>
        </p:nvSpPr>
        <p:spPr>
          <a:xfrm>
            <a:off x="1792288" y="5367338"/>
            <a:ext cx="5486400" cy="804862"/>
          </a:xfrm>
          <a:prstGeom prst="rect">
            <a:avLst/>
          </a:prstGeom>
          <a:noFill/>
          <a:ln>
            <a:noFill/>
          </a:ln>
        </p:spPr>
        <p:txBody>
          <a:bodyPr anchorCtr="0" anchor="t" bIns="46025" lIns="182550" spcFirstLastPara="1" rIns="182550" wrap="square" tIns="46025">
            <a:noAutofit/>
          </a:bodyPr>
          <a:lstStyle>
            <a:lvl1pPr indent="-228600" lvl="0" marL="457200" algn="l">
              <a:spcBef>
                <a:spcPts val="280"/>
              </a:spcBef>
              <a:spcAft>
                <a:spcPts val="0"/>
              </a:spcAft>
              <a:buSzPts val="1050"/>
              <a:buNone/>
              <a:defRPr sz="1400"/>
            </a:lvl1pPr>
            <a:lvl2pPr indent="-228600" lvl="1" marL="914400" algn="l">
              <a:spcBef>
                <a:spcPts val="240"/>
              </a:spcBef>
              <a:spcAft>
                <a:spcPts val="0"/>
              </a:spcAft>
              <a:buSzPts val="900"/>
              <a:buNone/>
              <a:defRPr sz="1200"/>
            </a:lvl2pPr>
            <a:lvl3pPr indent="-228600" lvl="2" marL="1371600" algn="l">
              <a:spcBef>
                <a:spcPts val="200"/>
              </a:spcBef>
              <a:spcAft>
                <a:spcPts val="0"/>
              </a:spcAft>
              <a:buSzPts val="750"/>
              <a:buNone/>
              <a:defRPr sz="1000"/>
            </a:lvl3pPr>
            <a:lvl4pPr indent="-228600" lvl="3" marL="1828800" algn="l">
              <a:spcBef>
                <a:spcPts val="180"/>
              </a:spcBef>
              <a:spcAft>
                <a:spcPts val="0"/>
              </a:spcAft>
              <a:buSzPts val="675"/>
              <a:buNone/>
              <a:defRPr sz="900"/>
            </a:lvl4pPr>
            <a:lvl5pPr indent="-228600" lvl="4" marL="2286000" algn="l">
              <a:spcBef>
                <a:spcPts val="180"/>
              </a:spcBef>
              <a:spcAft>
                <a:spcPts val="0"/>
              </a:spcAft>
              <a:buSzPts val="675"/>
              <a:buNone/>
              <a:defRPr sz="900"/>
            </a:lvl5pPr>
            <a:lvl6pPr indent="-228600" lvl="5" marL="2743200" algn="l">
              <a:spcBef>
                <a:spcPts val="180"/>
              </a:spcBef>
              <a:spcAft>
                <a:spcPts val="0"/>
              </a:spcAft>
              <a:buSzPts val="675"/>
              <a:buNone/>
              <a:defRPr sz="900"/>
            </a:lvl6pPr>
            <a:lvl7pPr indent="-228600" lvl="6" marL="3200400" algn="l">
              <a:spcBef>
                <a:spcPts val="180"/>
              </a:spcBef>
              <a:spcAft>
                <a:spcPts val="0"/>
              </a:spcAft>
              <a:buSzPts val="675"/>
              <a:buNone/>
              <a:defRPr sz="900"/>
            </a:lvl7pPr>
            <a:lvl8pPr indent="-228600" lvl="7" marL="3657600" algn="l">
              <a:spcBef>
                <a:spcPts val="180"/>
              </a:spcBef>
              <a:spcAft>
                <a:spcPts val="0"/>
              </a:spcAft>
              <a:buSzPts val="675"/>
              <a:buNone/>
              <a:defRPr sz="900"/>
            </a:lvl8pPr>
            <a:lvl9pPr indent="-228600" lvl="8" marL="4114800" algn="l">
              <a:spcBef>
                <a:spcPts val="180"/>
              </a:spcBef>
              <a:spcAft>
                <a:spcPts val="0"/>
              </a:spcAft>
              <a:buSzPts val="675"/>
              <a:buNone/>
              <a:defRPr sz="900"/>
            </a:lvl9pPr>
          </a:lstStyle>
          <a:p/>
        </p:txBody>
      </p:sp>
    </p:spTree>
  </p:cSld>
  <p:clrMapOvr>
    <a:masterClrMapping/>
  </p:clrMapOvr>
  <p:transition>
    <p:wipe dir="r"/>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3" name="Shape 43"/>
        <p:cNvGrpSpPr/>
        <p:nvPr/>
      </p:nvGrpSpPr>
      <p:grpSpPr>
        <a:xfrm>
          <a:off x="0" y="0"/>
          <a:ext cx="0" cy="0"/>
          <a:chOff x="0" y="0"/>
          <a:chExt cx="0" cy="0"/>
        </a:xfrm>
      </p:grpSpPr>
      <p:sp>
        <p:nvSpPr>
          <p:cNvPr id="44" name="Google Shape;44;p101"/>
          <p:cNvSpPr txBox="1"/>
          <p:nvPr>
            <p:ph type="title"/>
          </p:nvPr>
        </p:nvSpPr>
        <p:spPr>
          <a:xfrm>
            <a:off x="1149350" y="354013"/>
            <a:ext cx="7607300" cy="560387"/>
          </a:xfrm>
          <a:prstGeom prst="rect">
            <a:avLst/>
          </a:prstGeom>
          <a:solidFill>
            <a:srgbClr val="003399"/>
          </a:solidFill>
          <a:ln cap="flat" cmpd="sng" w="63500">
            <a:solidFill>
              <a:srgbClr val="54385C"/>
            </a:solidFill>
            <a:prstDash val="solid"/>
            <a:miter lim="800000"/>
            <a:headEnd len="sm" w="sm" type="none"/>
            <a:tailEnd len="sm" w="sm" type="none"/>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5" name="Google Shape;45;p101"/>
          <p:cNvSpPr txBox="1"/>
          <p:nvPr>
            <p:ph idx="1" type="body"/>
          </p:nvPr>
        </p:nvSpPr>
        <p:spPr>
          <a:xfrm rot="5400000">
            <a:off x="2171700" y="-647700"/>
            <a:ext cx="4800600" cy="8382000"/>
          </a:xfrm>
          <a:prstGeom prst="rect">
            <a:avLst/>
          </a:prstGeom>
          <a:noFill/>
          <a:ln>
            <a:noFill/>
          </a:ln>
        </p:spPr>
        <p:txBody>
          <a:bodyPr anchorCtr="0" anchor="t" bIns="46025" lIns="182550" spcFirstLastPara="1" rIns="182550" wrap="square" tIns="46025">
            <a:noAutofit/>
          </a:bodyPr>
          <a:lstStyle>
            <a:lvl1pPr indent="-314325" lvl="0" marL="457200" algn="l">
              <a:spcBef>
                <a:spcPts val="360"/>
              </a:spcBef>
              <a:spcAft>
                <a:spcPts val="0"/>
              </a:spcAft>
              <a:buSzPts val="1350"/>
              <a:buChar char="●"/>
              <a:defRPr/>
            </a:lvl1pPr>
            <a:lvl2pPr indent="-314325" lvl="1" marL="914400" algn="l">
              <a:spcBef>
                <a:spcPts val="360"/>
              </a:spcBef>
              <a:spcAft>
                <a:spcPts val="0"/>
              </a:spcAft>
              <a:buSzPts val="1350"/>
              <a:buChar char="●"/>
              <a:defRPr/>
            </a:lvl2pPr>
            <a:lvl3pPr indent="-314325" lvl="2" marL="1371600" algn="l">
              <a:spcBef>
                <a:spcPts val="360"/>
              </a:spcBef>
              <a:spcAft>
                <a:spcPts val="0"/>
              </a:spcAft>
              <a:buSzPts val="1350"/>
              <a:buChar char="●"/>
              <a:defRPr/>
            </a:lvl3pPr>
            <a:lvl4pPr indent="-314325" lvl="3" marL="1828800" algn="l">
              <a:spcBef>
                <a:spcPts val="360"/>
              </a:spcBef>
              <a:spcAft>
                <a:spcPts val="0"/>
              </a:spcAft>
              <a:buSzPts val="1350"/>
              <a:buChar char="●"/>
              <a:defRPr/>
            </a:lvl4pPr>
            <a:lvl5pPr indent="-314325" lvl="4" marL="2286000" algn="l">
              <a:spcBef>
                <a:spcPts val="360"/>
              </a:spcBef>
              <a:spcAft>
                <a:spcPts val="0"/>
              </a:spcAft>
              <a:buSzPts val="1350"/>
              <a:buChar char="●"/>
              <a:defRPr/>
            </a:lvl5pPr>
            <a:lvl6pPr indent="-314325" lvl="5" marL="2743200" algn="l">
              <a:spcBef>
                <a:spcPts val="360"/>
              </a:spcBef>
              <a:spcAft>
                <a:spcPts val="0"/>
              </a:spcAft>
              <a:buSzPts val="1350"/>
              <a:buChar char="●"/>
              <a:defRPr/>
            </a:lvl6pPr>
            <a:lvl7pPr indent="-314325" lvl="6" marL="3200400" algn="l">
              <a:spcBef>
                <a:spcPts val="360"/>
              </a:spcBef>
              <a:spcAft>
                <a:spcPts val="0"/>
              </a:spcAft>
              <a:buSzPts val="1350"/>
              <a:buChar char="●"/>
              <a:defRPr/>
            </a:lvl7pPr>
            <a:lvl8pPr indent="-314325" lvl="7" marL="3657600" algn="l">
              <a:spcBef>
                <a:spcPts val="360"/>
              </a:spcBef>
              <a:spcAft>
                <a:spcPts val="0"/>
              </a:spcAft>
              <a:buSzPts val="1350"/>
              <a:buChar char="●"/>
              <a:defRPr/>
            </a:lvl8pPr>
            <a:lvl9pPr indent="-314325" lvl="8" marL="4114800" algn="l">
              <a:spcBef>
                <a:spcPts val="360"/>
              </a:spcBef>
              <a:spcAft>
                <a:spcPts val="0"/>
              </a:spcAft>
              <a:buSzPts val="1350"/>
              <a:buChar char="●"/>
              <a:defRPr/>
            </a:lvl9pPr>
          </a:lstStyle>
          <a:p/>
        </p:txBody>
      </p:sp>
    </p:spTree>
  </p:cSld>
  <p:clrMapOvr>
    <a:masterClrMapping/>
  </p:clrMapOvr>
  <p:transition>
    <p:wipe dir="r"/>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46" name="Shape 46"/>
        <p:cNvGrpSpPr/>
        <p:nvPr/>
      </p:nvGrpSpPr>
      <p:grpSpPr>
        <a:xfrm>
          <a:off x="0" y="0"/>
          <a:ext cx="0" cy="0"/>
          <a:chOff x="0" y="0"/>
          <a:chExt cx="0" cy="0"/>
        </a:xfrm>
      </p:grpSpPr>
      <p:sp>
        <p:nvSpPr>
          <p:cNvPr id="47" name="Google Shape;47;p102"/>
          <p:cNvSpPr txBox="1"/>
          <p:nvPr>
            <p:ph type="title"/>
          </p:nvPr>
        </p:nvSpPr>
        <p:spPr>
          <a:xfrm rot="5400000">
            <a:off x="4920457" y="2101057"/>
            <a:ext cx="5589587" cy="2095500"/>
          </a:xfrm>
          <a:prstGeom prst="rect">
            <a:avLst/>
          </a:prstGeom>
          <a:solidFill>
            <a:srgbClr val="003399"/>
          </a:solidFill>
          <a:ln cap="flat" cmpd="sng" w="63500">
            <a:solidFill>
              <a:srgbClr val="54385C"/>
            </a:solidFill>
            <a:prstDash val="solid"/>
            <a:miter lim="800000"/>
            <a:headEnd len="sm" w="sm" type="none"/>
            <a:tailEnd len="sm" w="sm" type="none"/>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8" name="Google Shape;48;p102"/>
          <p:cNvSpPr txBox="1"/>
          <p:nvPr>
            <p:ph idx="1" type="body"/>
          </p:nvPr>
        </p:nvSpPr>
        <p:spPr>
          <a:xfrm rot="5400000">
            <a:off x="653256" y="81756"/>
            <a:ext cx="5589587" cy="6134100"/>
          </a:xfrm>
          <a:prstGeom prst="rect">
            <a:avLst/>
          </a:prstGeom>
          <a:noFill/>
          <a:ln>
            <a:noFill/>
          </a:ln>
        </p:spPr>
        <p:txBody>
          <a:bodyPr anchorCtr="0" anchor="t" bIns="46025" lIns="182550" spcFirstLastPara="1" rIns="182550" wrap="square" tIns="46025">
            <a:noAutofit/>
          </a:bodyPr>
          <a:lstStyle>
            <a:lvl1pPr indent="-314325" lvl="0" marL="457200" algn="l">
              <a:spcBef>
                <a:spcPts val="360"/>
              </a:spcBef>
              <a:spcAft>
                <a:spcPts val="0"/>
              </a:spcAft>
              <a:buSzPts val="1350"/>
              <a:buChar char="●"/>
              <a:defRPr/>
            </a:lvl1pPr>
            <a:lvl2pPr indent="-314325" lvl="1" marL="914400" algn="l">
              <a:spcBef>
                <a:spcPts val="360"/>
              </a:spcBef>
              <a:spcAft>
                <a:spcPts val="0"/>
              </a:spcAft>
              <a:buSzPts val="1350"/>
              <a:buChar char="●"/>
              <a:defRPr/>
            </a:lvl2pPr>
            <a:lvl3pPr indent="-314325" lvl="2" marL="1371600" algn="l">
              <a:spcBef>
                <a:spcPts val="360"/>
              </a:spcBef>
              <a:spcAft>
                <a:spcPts val="0"/>
              </a:spcAft>
              <a:buSzPts val="1350"/>
              <a:buChar char="●"/>
              <a:defRPr/>
            </a:lvl3pPr>
            <a:lvl4pPr indent="-314325" lvl="3" marL="1828800" algn="l">
              <a:spcBef>
                <a:spcPts val="360"/>
              </a:spcBef>
              <a:spcAft>
                <a:spcPts val="0"/>
              </a:spcAft>
              <a:buSzPts val="1350"/>
              <a:buChar char="●"/>
              <a:defRPr/>
            </a:lvl4pPr>
            <a:lvl5pPr indent="-314325" lvl="4" marL="2286000" algn="l">
              <a:spcBef>
                <a:spcPts val="360"/>
              </a:spcBef>
              <a:spcAft>
                <a:spcPts val="0"/>
              </a:spcAft>
              <a:buSzPts val="1350"/>
              <a:buChar char="●"/>
              <a:defRPr/>
            </a:lvl5pPr>
            <a:lvl6pPr indent="-314325" lvl="5" marL="2743200" algn="l">
              <a:spcBef>
                <a:spcPts val="360"/>
              </a:spcBef>
              <a:spcAft>
                <a:spcPts val="0"/>
              </a:spcAft>
              <a:buSzPts val="1350"/>
              <a:buChar char="●"/>
              <a:defRPr/>
            </a:lvl6pPr>
            <a:lvl7pPr indent="-314325" lvl="6" marL="3200400" algn="l">
              <a:spcBef>
                <a:spcPts val="360"/>
              </a:spcBef>
              <a:spcAft>
                <a:spcPts val="0"/>
              </a:spcAft>
              <a:buSzPts val="1350"/>
              <a:buChar char="●"/>
              <a:defRPr/>
            </a:lvl7pPr>
            <a:lvl8pPr indent="-314325" lvl="7" marL="3657600" algn="l">
              <a:spcBef>
                <a:spcPts val="360"/>
              </a:spcBef>
              <a:spcAft>
                <a:spcPts val="0"/>
              </a:spcAft>
              <a:buSzPts val="1350"/>
              <a:buChar char="●"/>
              <a:defRPr/>
            </a:lvl8pPr>
            <a:lvl9pPr indent="-314325" lvl="8" marL="4114800" algn="l">
              <a:spcBef>
                <a:spcPts val="360"/>
              </a:spcBef>
              <a:spcAft>
                <a:spcPts val="0"/>
              </a:spcAft>
              <a:buSzPts val="1350"/>
              <a:buChar char="●"/>
              <a:defRPr/>
            </a:lvl9pPr>
          </a:lstStyle>
          <a:p/>
        </p:txBody>
      </p:sp>
    </p:spTree>
  </p:cSld>
  <p:clrMapOvr>
    <a:masterClrMapping/>
  </p:clrMapOvr>
  <p:transition>
    <p:wipe dir="r"/>
  </p:transition>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3" name="Shape 53"/>
        <p:cNvGrpSpPr/>
        <p:nvPr/>
      </p:nvGrpSpPr>
      <p:grpSpPr>
        <a:xfrm>
          <a:off x="0" y="0"/>
          <a:ext cx="0" cy="0"/>
          <a:chOff x="0" y="0"/>
          <a:chExt cx="0" cy="0"/>
        </a:xfrm>
      </p:grpSpPr>
      <p:sp>
        <p:nvSpPr>
          <p:cNvPr id="54" name="Google Shape;54;p93"/>
          <p:cNvSpPr txBox="1"/>
          <p:nvPr>
            <p:ph type="title"/>
          </p:nvPr>
        </p:nvSpPr>
        <p:spPr>
          <a:xfrm>
            <a:off x="1149350" y="354013"/>
            <a:ext cx="7607300" cy="560387"/>
          </a:xfrm>
          <a:prstGeom prst="rect">
            <a:avLst/>
          </a:prstGeom>
          <a:solidFill>
            <a:srgbClr val="003399"/>
          </a:solidFill>
          <a:ln cap="flat" cmpd="sng" w="63500">
            <a:solidFill>
              <a:srgbClr val="54385C"/>
            </a:solidFill>
            <a:prstDash val="solid"/>
            <a:miter lim="800000"/>
            <a:headEnd len="sm" w="sm" type="none"/>
            <a:tailEnd len="sm" w="sm" type="none"/>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5" name="Google Shape;55;p93"/>
          <p:cNvSpPr txBox="1"/>
          <p:nvPr>
            <p:ph idx="1" type="body"/>
          </p:nvPr>
        </p:nvSpPr>
        <p:spPr>
          <a:xfrm>
            <a:off x="381000" y="1143000"/>
            <a:ext cx="8382000" cy="4800600"/>
          </a:xfrm>
          <a:prstGeom prst="rect">
            <a:avLst/>
          </a:prstGeom>
          <a:noFill/>
          <a:ln>
            <a:noFill/>
          </a:ln>
        </p:spPr>
        <p:txBody>
          <a:bodyPr anchorCtr="0" anchor="t" bIns="46025" lIns="182550" spcFirstLastPara="1" rIns="182550" wrap="square" tIns="46025">
            <a:noAutofit/>
          </a:bodyPr>
          <a:lstStyle>
            <a:lvl1pPr indent="-314325" lvl="0" marL="457200" algn="l">
              <a:spcBef>
                <a:spcPts val="360"/>
              </a:spcBef>
              <a:spcAft>
                <a:spcPts val="0"/>
              </a:spcAft>
              <a:buSzPts val="1350"/>
              <a:buChar char="●"/>
              <a:defRPr/>
            </a:lvl1pPr>
            <a:lvl2pPr indent="-314325" lvl="1" marL="914400" algn="l">
              <a:spcBef>
                <a:spcPts val="360"/>
              </a:spcBef>
              <a:spcAft>
                <a:spcPts val="0"/>
              </a:spcAft>
              <a:buSzPts val="1350"/>
              <a:buChar char="●"/>
              <a:defRPr/>
            </a:lvl2pPr>
            <a:lvl3pPr indent="-314325" lvl="2" marL="1371600" algn="l">
              <a:spcBef>
                <a:spcPts val="360"/>
              </a:spcBef>
              <a:spcAft>
                <a:spcPts val="0"/>
              </a:spcAft>
              <a:buSzPts val="1350"/>
              <a:buChar char="●"/>
              <a:defRPr/>
            </a:lvl3pPr>
            <a:lvl4pPr indent="-314325" lvl="3" marL="1828800" algn="l">
              <a:spcBef>
                <a:spcPts val="360"/>
              </a:spcBef>
              <a:spcAft>
                <a:spcPts val="0"/>
              </a:spcAft>
              <a:buSzPts val="1350"/>
              <a:buChar char="●"/>
              <a:defRPr/>
            </a:lvl4pPr>
            <a:lvl5pPr indent="-314325" lvl="4" marL="2286000" algn="l">
              <a:spcBef>
                <a:spcPts val="360"/>
              </a:spcBef>
              <a:spcAft>
                <a:spcPts val="0"/>
              </a:spcAft>
              <a:buSzPts val="1350"/>
              <a:buChar char="●"/>
              <a:defRPr/>
            </a:lvl5pPr>
            <a:lvl6pPr indent="-314325" lvl="5" marL="2743200" algn="l">
              <a:spcBef>
                <a:spcPts val="360"/>
              </a:spcBef>
              <a:spcAft>
                <a:spcPts val="0"/>
              </a:spcAft>
              <a:buSzPts val="1350"/>
              <a:buChar char="●"/>
              <a:defRPr/>
            </a:lvl6pPr>
            <a:lvl7pPr indent="-314325" lvl="6" marL="3200400" algn="l">
              <a:spcBef>
                <a:spcPts val="360"/>
              </a:spcBef>
              <a:spcAft>
                <a:spcPts val="0"/>
              </a:spcAft>
              <a:buSzPts val="1350"/>
              <a:buChar char="●"/>
              <a:defRPr/>
            </a:lvl7pPr>
            <a:lvl8pPr indent="-314325" lvl="7" marL="3657600" algn="l">
              <a:spcBef>
                <a:spcPts val="360"/>
              </a:spcBef>
              <a:spcAft>
                <a:spcPts val="0"/>
              </a:spcAft>
              <a:buSzPts val="1350"/>
              <a:buChar char="●"/>
              <a:defRPr/>
            </a:lvl8pPr>
            <a:lvl9pPr indent="-314325" lvl="8" marL="4114800" algn="l">
              <a:spcBef>
                <a:spcPts val="360"/>
              </a:spcBef>
              <a:spcAft>
                <a:spcPts val="0"/>
              </a:spcAft>
              <a:buSzPts val="1350"/>
              <a:buChar char="●"/>
              <a:defRPr/>
            </a:lvl9pPr>
          </a:lstStyle>
          <a:p/>
        </p:txBody>
      </p:sp>
    </p:spTree>
  </p:cSld>
  <p:clrMapOvr>
    <a:masterClrMapping/>
  </p:clrMapOvr>
  <p:transition>
    <p:wipe dir="r"/>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88"/>
          <p:cNvSpPr txBox="1"/>
          <p:nvPr>
            <p:ph type="title"/>
          </p:nvPr>
        </p:nvSpPr>
        <p:spPr>
          <a:xfrm>
            <a:off x="1149350" y="354013"/>
            <a:ext cx="7607300" cy="560387"/>
          </a:xfrm>
          <a:prstGeom prst="rect">
            <a:avLst/>
          </a:prstGeom>
          <a:solidFill>
            <a:srgbClr val="003399"/>
          </a:solidFill>
          <a:ln cap="flat" cmpd="sng" w="63500">
            <a:solidFill>
              <a:srgbClr val="54385C"/>
            </a:solidFill>
            <a:prstDash val="solid"/>
            <a:miter lim="800000"/>
            <a:headEnd len="sm" w="sm" type="none"/>
            <a:tailEnd len="sm" w="sm" type="none"/>
          </a:ln>
        </p:spPr>
        <p:txBody>
          <a:bodyPr anchorCtr="0" anchor="ctr" bIns="46025" lIns="92075" spcFirstLastPara="1" rIns="92075" wrap="square" tIns="46025">
            <a:noAutofit/>
          </a:bodyPr>
          <a:lstStyle>
            <a:lvl1pPr lvl="0" marR="0" rtl="0" algn="ctr">
              <a:spcBef>
                <a:spcPts val="0"/>
              </a:spcBef>
              <a:spcAft>
                <a:spcPts val="0"/>
              </a:spcAft>
              <a:buSzPts val="1400"/>
              <a:buNone/>
              <a:defRPr b="1" i="1" sz="3000" u="none" cap="none" strike="noStrike">
                <a:solidFill>
                  <a:schemeClr val="dk1"/>
                </a:solidFill>
                <a:latin typeface="Comic Sans MS"/>
                <a:ea typeface="Comic Sans MS"/>
                <a:cs typeface="Comic Sans MS"/>
                <a:sym typeface="Comic Sans MS"/>
              </a:defRPr>
            </a:lvl1pPr>
            <a:lvl2pPr lvl="1" marR="0" rtl="0" algn="ctr">
              <a:spcBef>
                <a:spcPts val="0"/>
              </a:spcBef>
              <a:spcAft>
                <a:spcPts val="0"/>
              </a:spcAft>
              <a:buSzPts val="1400"/>
              <a:buNone/>
              <a:defRPr b="1" i="1" sz="3000" u="none" cap="none" strike="noStrike">
                <a:solidFill>
                  <a:schemeClr val="dk1"/>
                </a:solidFill>
                <a:latin typeface="Comic Sans MS"/>
                <a:ea typeface="Comic Sans MS"/>
                <a:cs typeface="Comic Sans MS"/>
                <a:sym typeface="Comic Sans MS"/>
              </a:defRPr>
            </a:lvl2pPr>
            <a:lvl3pPr lvl="2" marR="0" rtl="0" algn="ctr">
              <a:spcBef>
                <a:spcPts val="0"/>
              </a:spcBef>
              <a:spcAft>
                <a:spcPts val="0"/>
              </a:spcAft>
              <a:buSzPts val="1400"/>
              <a:buNone/>
              <a:defRPr b="1" i="1" sz="3000" u="none" cap="none" strike="noStrike">
                <a:solidFill>
                  <a:schemeClr val="dk1"/>
                </a:solidFill>
                <a:latin typeface="Comic Sans MS"/>
                <a:ea typeface="Comic Sans MS"/>
                <a:cs typeface="Comic Sans MS"/>
                <a:sym typeface="Comic Sans MS"/>
              </a:defRPr>
            </a:lvl3pPr>
            <a:lvl4pPr lvl="3" marR="0" rtl="0" algn="ctr">
              <a:spcBef>
                <a:spcPts val="0"/>
              </a:spcBef>
              <a:spcAft>
                <a:spcPts val="0"/>
              </a:spcAft>
              <a:buSzPts val="1400"/>
              <a:buNone/>
              <a:defRPr b="1" i="1" sz="3000" u="none" cap="none" strike="noStrike">
                <a:solidFill>
                  <a:schemeClr val="dk1"/>
                </a:solidFill>
                <a:latin typeface="Comic Sans MS"/>
                <a:ea typeface="Comic Sans MS"/>
                <a:cs typeface="Comic Sans MS"/>
                <a:sym typeface="Comic Sans MS"/>
              </a:defRPr>
            </a:lvl4pPr>
            <a:lvl5pPr lvl="4" marR="0" rtl="0" algn="ctr">
              <a:spcBef>
                <a:spcPts val="0"/>
              </a:spcBef>
              <a:spcAft>
                <a:spcPts val="0"/>
              </a:spcAft>
              <a:buSzPts val="1400"/>
              <a:buNone/>
              <a:defRPr b="1" i="1" sz="3000" u="none" cap="none" strike="noStrike">
                <a:solidFill>
                  <a:schemeClr val="dk1"/>
                </a:solidFill>
                <a:latin typeface="Comic Sans MS"/>
                <a:ea typeface="Comic Sans MS"/>
                <a:cs typeface="Comic Sans MS"/>
                <a:sym typeface="Comic Sans MS"/>
              </a:defRPr>
            </a:lvl5pPr>
            <a:lvl6pPr lvl="5" marR="0" rtl="0" algn="ctr">
              <a:spcBef>
                <a:spcPts val="0"/>
              </a:spcBef>
              <a:spcAft>
                <a:spcPts val="0"/>
              </a:spcAft>
              <a:buSzPts val="1400"/>
              <a:buNone/>
              <a:defRPr b="1" i="1" sz="3000" u="none" cap="none" strike="noStrike">
                <a:solidFill>
                  <a:schemeClr val="dk1"/>
                </a:solidFill>
                <a:latin typeface="Comic Sans MS"/>
                <a:ea typeface="Comic Sans MS"/>
                <a:cs typeface="Comic Sans MS"/>
                <a:sym typeface="Comic Sans MS"/>
              </a:defRPr>
            </a:lvl6pPr>
            <a:lvl7pPr lvl="6" marR="0" rtl="0" algn="ctr">
              <a:spcBef>
                <a:spcPts val="0"/>
              </a:spcBef>
              <a:spcAft>
                <a:spcPts val="0"/>
              </a:spcAft>
              <a:buSzPts val="1400"/>
              <a:buNone/>
              <a:defRPr b="1" i="1" sz="3000" u="none" cap="none" strike="noStrike">
                <a:solidFill>
                  <a:schemeClr val="dk1"/>
                </a:solidFill>
                <a:latin typeface="Comic Sans MS"/>
                <a:ea typeface="Comic Sans MS"/>
                <a:cs typeface="Comic Sans MS"/>
                <a:sym typeface="Comic Sans MS"/>
              </a:defRPr>
            </a:lvl7pPr>
            <a:lvl8pPr lvl="7" marR="0" rtl="0" algn="ctr">
              <a:spcBef>
                <a:spcPts val="0"/>
              </a:spcBef>
              <a:spcAft>
                <a:spcPts val="0"/>
              </a:spcAft>
              <a:buSzPts val="1400"/>
              <a:buNone/>
              <a:defRPr b="1" i="1" sz="3000" u="none" cap="none" strike="noStrike">
                <a:solidFill>
                  <a:schemeClr val="dk1"/>
                </a:solidFill>
                <a:latin typeface="Comic Sans MS"/>
                <a:ea typeface="Comic Sans MS"/>
                <a:cs typeface="Comic Sans MS"/>
                <a:sym typeface="Comic Sans MS"/>
              </a:defRPr>
            </a:lvl8pPr>
            <a:lvl9pPr lvl="8" marR="0" rtl="0" algn="ctr">
              <a:spcBef>
                <a:spcPts val="0"/>
              </a:spcBef>
              <a:spcAft>
                <a:spcPts val="0"/>
              </a:spcAft>
              <a:buSzPts val="1400"/>
              <a:buNone/>
              <a:defRPr b="1" i="1" sz="3000" u="none" cap="none" strike="noStrike">
                <a:solidFill>
                  <a:schemeClr val="dk1"/>
                </a:solidFill>
                <a:latin typeface="Comic Sans MS"/>
                <a:ea typeface="Comic Sans MS"/>
                <a:cs typeface="Comic Sans MS"/>
                <a:sym typeface="Comic Sans MS"/>
              </a:defRPr>
            </a:lvl9pPr>
          </a:lstStyle>
          <a:p/>
        </p:txBody>
      </p:sp>
      <p:sp>
        <p:nvSpPr>
          <p:cNvPr id="7" name="Google Shape;7;p88"/>
          <p:cNvSpPr txBox="1"/>
          <p:nvPr>
            <p:ph idx="1" type="body"/>
          </p:nvPr>
        </p:nvSpPr>
        <p:spPr>
          <a:xfrm>
            <a:off x="381000" y="1143000"/>
            <a:ext cx="8382000" cy="4800600"/>
          </a:xfrm>
          <a:prstGeom prst="rect">
            <a:avLst/>
          </a:prstGeom>
          <a:noFill/>
          <a:ln>
            <a:noFill/>
          </a:ln>
        </p:spPr>
        <p:txBody>
          <a:bodyPr anchorCtr="0" anchor="t" bIns="46025" lIns="182550" spcFirstLastPara="1" rIns="182550" wrap="square" tIns="46025">
            <a:noAutofit/>
          </a:bodyPr>
          <a:lstStyle>
            <a:lvl1pPr indent="-361950" lvl="0" marL="457200" marR="0" rtl="0" algn="l">
              <a:spcBef>
                <a:spcPts val="560"/>
              </a:spcBef>
              <a:spcAft>
                <a:spcPts val="0"/>
              </a:spcAft>
              <a:buClr>
                <a:schemeClr val="accent2"/>
              </a:buClr>
              <a:buSzPts val="2100"/>
              <a:buFont typeface="Noto Sans Symbols"/>
              <a:buChar char="●"/>
              <a:defRPr b="1" i="0" sz="2800" u="none" cap="none" strike="noStrike">
                <a:solidFill>
                  <a:schemeClr val="lt2"/>
                </a:solidFill>
                <a:latin typeface="Arial"/>
                <a:ea typeface="Arial"/>
                <a:cs typeface="Arial"/>
                <a:sym typeface="Arial"/>
              </a:defRPr>
            </a:lvl1pPr>
            <a:lvl2pPr indent="-342900" lvl="1" marL="914400" marR="0" rtl="0" algn="l">
              <a:spcBef>
                <a:spcPts val="480"/>
              </a:spcBef>
              <a:spcAft>
                <a:spcPts val="0"/>
              </a:spcAft>
              <a:buClr>
                <a:schemeClr val="accent2"/>
              </a:buClr>
              <a:buSzPts val="1800"/>
              <a:buFont typeface="Noto Sans Symbols"/>
              <a:buChar char="●"/>
              <a:defRPr b="1" i="0" sz="2400" u="none" cap="none" strike="noStrike">
                <a:solidFill>
                  <a:schemeClr val="lt2"/>
                </a:solidFill>
                <a:latin typeface="Arial"/>
                <a:ea typeface="Arial"/>
                <a:cs typeface="Arial"/>
                <a:sym typeface="Arial"/>
              </a:defRPr>
            </a:lvl2pPr>
            <a:lvl3pPr indent="-323850" lvl="2" marL="1371600" marR="0" rtl="0" algn="l">
              <a:spcBef>
                <a:spcPts val="400"/>
              </a:spcBef>
              <a:spcAft>
                <a:spcPts val="0"/>
              </a:spcAft>
              <a:buClr>
                <a:schemeClr val="accent2"/>
              </a:buClr>
              <a:buSzPts val="1500"/>
              <a:buFont typeface="Noto Sans Symbols"/>
              <a:buChar char="●"/>
              <a:defRPr b="1" i="0" sz="2000" u="none" cap="none" strike="noStrike">
                <a:solidFill>
                  <a:schemeClr val="lt2"/>
                </a:solidFill>
                <a:latin typeface="Arial"/>
                <a:ea typeface="Arial"/>
                <a:cs typeface="Arial"/>
                <a:sym typeface="Arial"/>
              </a:defRPr>
            </a:lvl3pPr>
            <a:lvl4pPr indent="-323850" lvl="3" marL="1828800" marR="0" rtl="0" algn="l">
              <a:spcBef>
                <a:spcPts val="400"/>
              </a:spcBef>
              <a:spcAft>
                <a:spcPts val="0"/>
              </a:spcAft>
              <a:buClr>
                <a:schemeClr val="accent2"/>
              </a:buClr>
              <a:buSzPts val="1500"/>
              <a:buFont typeface="Noto Sans Symbols"/>
              <a:buChar char="●"/>
              <a:defRPr b="1" i="0" sz="2000" u="none" cap="none" strike="noStrike">
                <a:solidFill>
                  <a:schemeClr val="lt2"/>
                </a:solidFill>
                <a:latin typeface="Arial"/>
                <a:ea typeface="Arial"/>
                <a:cs typeface="Arial"/>
                <a:sym typeface="Arial"/>
              </a:defRPr>
            </a:lvl4pPr>
            <a:lvl5pPr indent="-323850" lvl="4" marL="2286000" marR="0" rtl="0" algn="l">
              <a:spcBef>
                <a:spcPts val="400"/>
              </a:spcBef>
              <a:spcAft>
                <a:spcPts val="0"/>
              </a:spcAft>
              <a:buClr>
                <a:schemeClr val="accent2"/>
              </a:buClr>
              <a:buSzPts val="1500"/>
              <a:buFont typeface="Noto Sans Symbols"/>
              <a:buChar char="●"/>
              <a:defRPr b="1" i="0" sz="2000" u="none" cap="none" strike="noStrike">
                <a:solidFill>
                  <a:schemeClr val="lt2"/>
                </a:solidFill>
                <a:latin typeface="Arial"/>
                <a:ea typeface="Arial"/>
                <a:cs typeface="Arial"/>
                <a:sym typeface="Arial"/>
              </a:defRPr>
            </a:lvl5pPr>
            <a:lvl6pPr indent="-323850" lvl="5" marL="2743200" marR="0" rtl="0" algn="l">
              <a:spcBef>
                <a:spcPts val="400"/>
              </a:spcBef>
              <a:spcAft>
                <a:spcPts val="0"/>
              </a:spcAft>
              <a:buClr>
                <a:schemeClr val="accent2"/>
              </a:buClr>
              <a:buSzPts val="1500"/>
              <a:buFont typeface="Noto Sans Symbols"/>
              <a:buChar char="●"/>
              <a:defRPr b="1" i="0" sz="2000" u="none" cap="none" strike="noStrike">
                <a:solidFill>
                  <a:schemeClr val="lt2"/>
                </a:solidFill>
                <a:latin typeface="Arial"/>
                <a:ea typeface="Arial"/>
                <a:cs typeface="Arial"/>
                <a:sym typeface="Arial"/>
              </a:defRPr>
            </a:lvl6pPr>
            <a:lvl7pPr indent="-323850" lvl="6" marL="3200400" marR="0" rtl="0" algn="l">
              <a:spcBef>
                <a:spcPts val="400"/>
              </a:spcBef>
              <a:spcAft>
                <a:spcPts val="0"/>
              </a:spcAft>
              <a:buClr>
                <a:schemeClr val="accent2"/>
              </a:buClr>
              <a:buSzPts val="1500"/>
              <a:buFont typeface="Noto Sans Symbols"/>
              <a:buChar char="●"/>
              <a:defRPr b="1" i="0" sz="2000" u="none" cap="none" strike="noStrike">
                <a:solidFill>
                  <a:schemeClr val="lt2"/>
                </a:solidFill>
                <a:latin typeface="Arial"/>
                <a:ea typeface="Arial"/>
                <a:cs typeface="Arial"/>
                <a:sym typeface="Arial"/>
              </a:defRPr>
            </a:lvl7pPr>
            <a:lvl8pPr indent="-323850" lvl="7" marL="3657600" marR="0" rtl="0" algn="l">
              <a:spcBef>
                <a:spcPts val="400"/>
              </a:spcBef>
              <a:spcAft>
                <a:spcPts val="0"/>
              </a:spcAft>
              <a:buClr>
                <a:schemeClr val="accent2"/>
              </a:buClr>
              <a:buSzPts val="1500"/>
              <a:buFont typeface="Noto Sans Symbols"/>
              <a:buChar char="●"/>
              <a:defRPr b="1" i="0" sz="2000" u="none" cap="none" strike="noStrike">
                <a:solidFill>
                  <a:schemeClr val="lt2"/>
                </a:solidFill>
                <a:latin typeface="Arial"/>
                <a:ea typeface="Arial"/>
                <a:cs typeface="Arial"/>
                <a:sym typeface="Arial"/>
              </a:defRPr>
            </a:lvl8pPr>
            <a:lvl9pPr indent="-323850" lvl="8" marL="4114800" marR="0" rtl="0" algn="l">
              <a:spcBef>
                <a:spcPts val="400"/>
              </a:spcBef>
              <a:spcAft>
                <a:spcPts val="0"/>
              </a:spcAft>
              <a:buClr>
                <a:schemeClr val="accent2"/>
              </a:buClr>
              <a:buSzPts val="1500"/>
              <a:buFont typeface="Noto Sans Symbols"/>
              <a:buChar char="●"/>
              <a:defRPr b="1" i="0" sz="2000" u="none" cap="none" strike="noStrike">
                <a:solidFill>
                  <a:schemeClr val="lt2"/>
                </a:solidFill>
                <a:latin typeface="Arial"/>
                <a:ea typeface="Arial"/>
                <a:cs typeface="Arial"/>
                <a:sym typeface="Arial"/>
              </a:defRPr>
            </a:lvl9pPr>
          </a:lstStyle>
          <a:p/>
        </p:txBody>
      </p:sp>
      <p:sp>
        <p:nvSpPr>
          <p:cNvPr id="8" name="Google Shape;8;p88"/>
          <p:cNvSpPr txBox="1"/>
          <p:nvPr/>
        </p:nvSpPr>
        <p:spPr>
          <a:xfrm>
            <a:off x="76200" y="6477000"/>
            <a:ext cx="685800" cy="2746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wipe dir="r"/>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9" name="Shape 49"/>
        <p:cNvGrpSpPr/>
        <p:nvPr/>
      </p:nvGrpSpPr>
      <p:grpSpPr>
        <a:xfrm>
          <a:off x="0" y="0"/>
          <a:ext cx="0" cy="0"/>
          <a:chOff x="0" y="0"/>
          <a:chExt cx="0" cy="0"/>
        </a:xfrm>
      </p:grpSpPr>
      <p:sp>
        <p:nvSpPr>
          <p:cNvPr id="50" name="Google Shape;50;p92"/>
          <p:cNvSpPr txBox="1"/>
          <p:nvPr>
            <p:ph type="title"/>
          </p:nvPr>
        </p:nvSpPr>
        <p:spPr>
          <a:xfrm>
            <a:off x="1149350" y="354013"/>
            <a:ext cx="7607300" cy="560387"/>
          </a:xfrm>
          <a:prstGeom prst="rect">
            <a:avLst/>
          </a:prstGeom>
          <a:solidFill>
            <a:srgbClr val="003399"/>
          </a:solidFill>
          <a:ln cap="flat" cmpd="sng" w="63500">
            <a:solidFill>
              <a:srgbClr val="54385C"/>
            </a:solidFill>
            <a:prstDash val="solid"/>
            <a:miter lim="800000"/>
            <a:headEnd len="sm" w="sm" type="none"/>
            <a:tailEnd len="sm" w="sm" type="none"/>
          </a:ln>
        </p:spPr>
        <p:txBody>
          <a:bodyPr anchorCtr="0" anchor="ctr" bIns="46025" lIns="92075" spcFirstLastPara="1" rIns="92075" wrap="square" tIns="46025">
            <a:noAutofit/>
          </a:bodyPr>
          <a:lstStyle>
            <a:lvl1pPr lvl="0" marR="0" rtl="0" algn="ctr">
              <a:spcBef>
                <a:spcPts val="0"/>
              </a:spcBef>
              <a:spcAft>
                <a:spcPts val="0"/>
              </a:spcAft>
              <a:buSzPts val="1400"/>
              <a:buNone/>
              <a:defRPr b="1" i="1" sz="3000" u="none" cap="none" strike="noStrike">
                <a:solidFill>
                  <a:schemeClr val="dk1"/>
                </a:solidFill>
                <a:latin typeface="Comic Sans MS"/>
                <a:ea typeface="Comic Sans MS"/>
                <a:cs typeface="Comic Sans MS"/>
                <a:sym typeface="Comic Sans MS"/>
              </a:defRPr>
            </a:lvl1pPr>
            <a:lvl2pPr lvl="1" marR="0" rtl="0" algn="ctr">
              <a:spcBef>
                <a:spcPts val="0"/>
              </a:spcBef>
              <a:spcAft>
                <a:spcPts val="0"/>
              </a:spcAft>
              <a:buSzPts val="1400"/>
              <a:buNone/>
              <a:defRPr b="1" i="1" sz="3000" u="none" cap="none" strike="noStrike">
                <a:solidFill>
                  <a:schemeClr val="dk1"/>
                </a:solidFill>
                <a:latin typeface="Comic Sans MS"/>
                <a:ea typeface="Comic Sans MS"/>
                <a:cs typeface="Comic Sans MS"/>
                <a:sym typeface="Comic Sans MS"/>
              </a:defRPr>
            </a:lvl2pPr>
            <a:lvl3pPr lvl="2" marR="0" rtl="0" algn="ctr">
              <a:spcBef>
                <a:spcPts val="0"/>
              </a:spcBef>
              <a:spcAft>
                <a:spcPts val="0"/>
              </a:spcAft>
              <a:buSzPts val="1400"/>
              <a:buNone/>
              <a:defRPr b="1" i="1" sz="3000" u="none" cap="none" strike="noStrike">
                <a:solidFill>
                  <a:schemeClr val="dk1"/>
                </a:solidFill>
                <a:latin typeface="Comic Sans MS"/>
                <a:ea typeface="Comic Sans MS"/>
                <a:cs typeface="Comic Sans MS"/>
                <a:sym typeface="Comic Sans MS"/>
              </a:defRPr>
            </a:lvl3pPr>
            <a:lvl4pPr lvl="3" marR="0" rtl="0" algn="ctr">
              <a:spcBef>
                <a:spcPts val="0"/>
              </a:spcBef>
              <a:spcAft>
                <a:spcPts val="0"/>
              </a:spcAft>
              <a:buSzPts val="1400"/>
              <a:buNone/>
              <a:defRPr b="1" i="1" sz="3000" u="none" cap="none" strike="noStrike">
                <a:solidFill>
                  <a:schemeClr val="dk1"/>
                </a:solidFill>
                <a:latin typeface="Comic Sans MS"/>
                <a:ea typeface="Comic Sans MS"/>
                <a:cs typeface="Comic Sans MS"/>
                <a:sym typeface="Comic Sans MS"/>
              </a:defRPr>
            </a:lvl4pPr>
            <a:lvl5pPr lvl="4" marR="0" rtl="0" algn="ctr">
              <a:spcBef>
                <a:spcPts val="0"/>
              </a:spcBef>
              <a:spcAft>
                <a:spcPts val="0"/>
              </a:spcAft>
              <a:buSzPts val="1400"/>
              <a:buNone/>
              <a:defRPr b="1" i="1" sz="3000" u="none" cap="none" strike="noStrike">
                <a:solidFill>
                  <a:schemeClr val="dk1"/>
                </a:solidFill>
                <a:latin typeface="Comic Sans MS"/>
                <a:ea typeface="Comic Sans MS"/>
                <a:cs typeface="Comic Sans MS"/>
                <a:sym typeface="Comic Sans MS"/>
              </a:defRPr>
            </a:lvl5pPr>
            <a:lvl6pPr lvl="5" marR="0" rtl="0" algn="ctr">
              <a:spcBef>
                <a:spcPts val="0"/>
              </a:spcBef>
              <a:spcAft>
                <a:spcPts val="0"/>
              </a:spcAft>
              <a:buSzPts val="1400"/>
              <a:buNone/>
              <a:defRPr b="1" i="1" sz="3000" u="none" cap="none" strike="noStrike">
                <a:solidFill>
                  <a:schemeClr val="dk1"/>
                </a:solidFill>
                <a:latin typeface="Comic Sans MS"/>
                <a:ea typeface="Comic Sans MS"/>
                <a:cs typeface="Comic Sans MS"/>
                <a:sym typeface="Comic Sans MS"/>
              </a:defRPr>
            </a:lvl6pPr>
            <a:lvl7pPr lvl="6" marR="0" rtl="0" algn="ctr">
              <a:spcBef>
                <a:spcPts val="0"/>
              </a:spcBef>
              <a:spcAft>
                <a:spcPts val="0"/>
              </a:spcAft>
              <a:buSzPts val="1400"/>
              <a:buNone/>
              <a:defRPr b="1" i="1" sz="3000" u="none" cap="none" strike="noStrike">
                <a:solidFill>
                  <a:schemeClr val="dk1"/>
                </a:solidFill>
                <a:latin typeface="Comic Sans MS"/>
                <a:ea typeface="Comic Sans MS"/>
                <a:cs typeface="Comic Sans MS"/>
                <a:sym typeface="Comic Sans MS"/>
              </a:defRPr>
            </a:lvl7pPr>
            <a:lvl8pPr lvl="7" marR="0" rtl="0" algn="ctr">
              <a:spcBef>
                <a:spcPts val="0"/>
              </a:spcBef>
              <a:spcAft>
                <a:spcPts val="0"/>
              </a:spcAft>
              <a:buSzPts val="1400"/>
              <a:buNone/>
              <a:defRPr b="1" i="1" sz="3000" u="none" cap="none" strike="noStrike">
                <a:solidFill>
                  <a:schemeClr val="dk1"/>
                </a:solidFill>
                <a:latin typeface="Comic Sans MS"/>
                <a:ea typeface="Comic Sans MS"/>
                <a:cs typeface="Comic Sans MS"/>
                <a:sym typeface="Comic Sans MS"/>
              </a:defRPr>
            </a:lvl8pPr>
            <a:lvl9pPr lvl="8" marR="0" rtl="0" algn="ctr">
              <a:spcBef>
                <a:spcPts val="0"/>
              </a:spcBef>
              <a:spcAft>
                <a:spcPts val="0"/>
              </a:spcAft>
              <a:buSzPts val="1400"/>
              <a:buNone/>
              <a:defRPr b="1" i="1" sz="3000" u="none" cap="none" strike="noStrike">
                <a:solidFill>
                  <a:schemeClr val="dk1"/>
                </a:solidFill>
                <a:latin typeface="Comic Sans MS"/>
                <a:ea typeface="Comic Sans MS"/>
                <a:cs typeface="Comic Sans MS"/>
                <a:sym typeface="Comic Sans MS"/>
              </a:defRPr>
            </a:lvl9pPr>
          </a:lstStyle>
          <a:p/>
        </p:txBody>
      </p:sp>
      <p:sp>
        <p:nvSpPr>
          <p:cNvPr id="51" name="Google Shape;51;p92"/>
          <p:cNvSpPr txBox="1"/>
          <p:nvPr>
            <p:ph idx="1" type="body"/>
          </p:nvPr>
        </p:nvSpPr>
        <p:spPr>
          <a:xfrm>
            <a:off x="381000" y="1143000"/>
            <a:ext cx="8382000" cy="4800600"/>
          </a:xfrm>
          <a:prstGeom prst="rect">
            <a:avLst/>
          </a:prstGeom>
          <a:noFill/>
          <a:ln>
            <a:noFill/>
          </a:ln>
        </p:spPr>
        <p:txBody>
          <a:bodyPr anchorCtr="0" anchor="t" bIns="46025" lIns="182550" spcFirstLastPara="1" rIns="182550" wrap="square" tIns="46025">
            <a:noAutofit/>
          </a:bodyPr>
          <a:lstStyle>
            <a:lvl1pPr indent="-361950" lvl="0" marL="457200" marR="0" rtl="0" algn="l">
              <a:spcBef>
                <a:spcPts val="560"/>
              </a:spcBef>
              <a:spcAft>
                <a:spcPts val="0"/>
              </a:spcAft>
              <a:buClr>
                <a:schemeClr val="accent2"/>
              </a:buClr>
              <a:buSzPts val="2100"/>
              <a:buFont typeface="Noto Sans Symbols"/>
              <a:buChar char="●"/>
              <a:defRPr b="1" i="0" sz="2800" u="none" cap="none" strike="noStrike">
                <a:solidFill>
                  <a:schemeClr val="lt2"/>
                </a:solidFill>
                <a:latin typeface="Arial"/>
                <a:ea typeface="Arial"/>
                <a:cs typeface="Arial"/>
                <a:sym typeface="Arial"/>
              </a:defRPr>
            </a:lvl1pPr>
            <a:lvl2pPr indent="-342900" lvl="1" marL="914400" marR="0" rtl="0" algn="l">
              <a:spcBef>
                <a:spcPts val="480"/>
              </a:spcBef>
              <a:spcAft>
                <a:spcPts val="0"/>
              </a:spcAft>
              <a:buClr>
                <a:schemeClr val="accent2"/>
              </a:buClr>
              <a:buSzPts val="1800"/>
              <a:buFont typeface="Noto Sans Symbols"/>
              <a:buChar char="●"/>
              <a:defRPr b="1" i="0" sz="2400" u="none" cap="none" strike="noStrike">
                <a:solidFill>
                  <a:schemeClr val="lt2"/>
                </a:solidFill>
                <a:latin typeface="Arial"/>
                <a:ea typeface="Arial"/>
                <a:cs typeface="Arial"/>
                <a:sym typeface="Arial"/>
              </a:defRPr>
            </a:lvl2pPr>
            <a:lvl3pPr indent="-323850" lvl="2" marL="1371600" marR="0" rtl="0" algn="l">
              <a:spcBef>
                <a:spcPts val="400"/>
              </a:spcBef>
              <a:spcAft>
                <a:spcPts val="0"/>
              </a:spcAft>
              <a:buClr>
                <a:schemeClr val="accent2"/>
              </a:buClr>
              <a:buSzPts val="1500"/>
              <a:buFont typeface="Noto Sans Symbols"/>
              <a:buChar char="●"/>
              <a:defRPr b="1" i="0" sz="2000" u="none" cap="none" strike="noStrike">
                <a:solidFill>
                  <a:schemeClr val="lt2"/>
                </a:solidFill>
                <a:latin typeface="Arial"/>
                <a:ea typeface="Arial"/>
                <a:cs typeface="Arial"/>
                <a:sym typeface="Arial"/>
              </a:defRPr>
            </a:lvl3pPr>
            <a:lvl4pPr indent="-323850" lvl="3" marL="1828800" marR="0" rtl="0" algn="l">
              <a:spcBef>
                <a:spcPts val="400"/>
              </a:spcBef>
              <a:spcAft>
                <a:spcPts val="0"/>
              </a:spcAft>
              <a:buClr>
                <a:schemeClr val="accent2"/>
              </a:buClr>
              <a:buSzPts val="1500"/>
              <a:buFont typeface="Noto Sans Symbols"/>
              <a:buChar char="●"/>
              <a:defRPr b="1" i="0" sz="2000" u="none" cap="none" strike="noStrike">
                <a:solidFill>
                  <a:schemeClr val="lt2"/>
                </a:solidFill>
                <a:latin typeface="Arial"/>
                <a:ea typeface="Arial"/>
                <a:cs typeface="Arial"/>
                <a:sym typeface="Arial"/>
              </a:defRPr>
            </a:lvl4pPr>
            <a:lvl5pPr indent="-323850" lvl="4" marL="2286000" marR="0" rtl="0" algn="l">
              <a:spcBef>
                <a:spcPts val="400"/>
              </a:spcBef>
              <a:spcAft>
                <a:spcPts val="0"/>
              </a:spcAft>
              <a:buClr>
                <a:schemeClr val="accent2"/>
              </a:buClr>
              <a:buSzPts val="1500"/>
              <a:buFont typeface="Noto Sans Symbols"/>
              <a:buChar char="●"/>
              <a:defRPr b="1" i="0" sz="2000" u="none" cap="none" strike="noStrike">
                <a:solidFill>
                  <a:schemeClr val="lt2"/>
                </a:solidFill>
                <a:latin typeface="Arial"/>
                <a:ea typeface="Arial"/>
                <a:cs typeface="Arial"/>
                <a:sym typeface="Arial"/>
              </a:defRPr>
            </a:lvl5pPr>
            <a:lvl6pPr indent="-323850" lvl="5" marL="2743200" marR="0" rtl="0" algn="l">
              <a:spcBef>
                <a:spcPts val="400"/>
              </a:spcBef>
              <a:spcAft>
                <a:spcPts val="0"/>
              </a:spcAft>
              <a:buClr>
                <a:schemeClr val="accent2"/>
              </a:buClr>
              <a:buSzPts val="1500"/>
              <a:buFont typeface="Noto Sans Symbols"/>
              <a:buChar char="●"/>
              <a:defRPr b="1" i="0" sz="2000" u="none" cap="none" strike="noStrike">
                <a:solidFill>
                  <a:schemeClr val="lt2"/>
                </a:solidFill>
                <a:latin typeface="Arial"/>
                <a:ea typeface="Arial"/>
                <a:cs typeface="Arial"/>
                <a:sym typeface="Arial"/>
              </a:defRPr>
            </a:lvl6pPr>
            <a:lvl7pPr indent="-323850" lvl="6" marL="3200400" marR="0" rtl="0" algn="l">
              <a:spcBef>
                <a:spcPts val="400"/>
              </a:spcBef>
              <a:spcAft>
                <a:spcPts val="0"/>
              </a:spcAft>
              <a:buClr>
                <a:schemeClr val="accent2"/>
              </a:buClr>
              <a:buSzPts val="1500"/>
              <a:buFont typeface="Noto Sans Symbols"/>
              <a:buChar char="●"/>
              <a:defRPr b="1" i="0" sz="2000" u="none" cap="none" strike="noStrike">
                <a:solidFill>
                  <a:schemeClr val="lt2"/>
                </a:solidFill>
                <a:latin typeface="Arial"/>
                <a:ea typeface="Arial"/>
                <a:cs typeface="Arial"/>
                <a:sym typeface="Arial"/>
              </a:defRPr>
            </a:lvl7pPr>
            <a:lvl8pPr indent="-323850" lvl="7" marL="3657600" marR="0" rtl="0" algn="l">
              <a:spcBef>
                <a:spcPts val="400"/>
              </a:spcBef>
              <a:spcAft>
                <a:spcPts val="0"/>
              </a:spcAft>
              <a:buClr>
                <a:schemeClr val="accent2"/>
              </a:buClr>
              <a:buSzPts val="1500"/>
              <a:buFont typeface="Noto Sans Symbols"/>
              <a:buChar char="●"/>
              <a:defRPr b="1" i="0" sz="2000" u="none" cap="none" strike="noStrike">
                <a:solidFill>
                  <a:schemeClr val="lt2"/>
                </a:solidFill>
                <a:latin typeface="Arial"/>
                <a:ea typeface="Arial"/>
                <a:cs typeface="Arial"/>
                <a:sym typeface="Arial"/>
              </a:defRPr>
            </a:lvl8pPr>
            <a:lvl9pPr indent="-323850" lvl="8" marL="4114800" marR="0" rtl="0" algn="l">
              <a:spcBef>
                <a:spcPts val="400"/>
              </a:spcBef>
              <a:spcAft>
                <a:spcPts val="0"/>
              </a:spcAft>
              <a:buClr>
                <a:schemeClr val="accent2"/>
              </a:buClr>
              <a:buSzPts val="1500"/>
              <a:buFont typeface="Noto Sans Symbols"/>
              <a:buChar char="●"/>
              <a:defRPr b="1" i="0" sz="2000" u="none" cap="none" strike="noStrike">
                <a:solidFill>
                  <a:schemeClr val="lt2"/>
                </a:solidFill>
                <a:latin typeface="Arial"/>
                <a:ea typeface="Arial"/>
                <a:cs typeface="Arial"/>
                <a:sym typeface="Arial"/>
              </a:defRPr>
            </a:lvl9pPr>
          </a:lstStyle>
          <a:p/>
        </p:txBody>
      </p:sp>
      <p:sp>
        <p:nvSpPr>
          <p:cNvPr id="52" name="Google Shape;52;p92"/>
          <p:cNvSpPr txBox="1"/>
          <p:nvPr/>
        </p:nvSpPr>
        <p:spPr>
          <a:xfrm>
            <a:off x="76200" y="6477000"/>
            <a:ext cx="685800" cy="2746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u="none">
                <a:solidFill>
                  <a:schemeClr val="dk1"/>
                </a:solidFill>
                <a:latin typeface="Arial"/>
                <a:ea typeface="Arial"/>
                <a:cs typeface="Arial"/>
                <a:sym typeface="Arial"/>
              </a:rPr>
              <a:t>3-</a:t>
            </a:r>
            <a:fld id="{00000000-1234-1234-1234-123412341234}" type="slidenum">
              <a:rPr b="1" lang="en-US" sz="1200" u="none">
                <a:solidFill>
                  <a:schemeClr val="dk1"/>
                </a:solidFill>
                <a:latin typeface="Arial"/>
                <a:ea typeface="Arial"/>
                <a:cs typeface="Arial"/>
                <a:sym typeface="Arial"/>
              </a:rPr>
              <a:t>‹#›</a:t>
            </a:fld>
            <a:endParaRPr b="1" sz="1200" u="non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2" r:id="rId1"/>
  </p:sldLayoutIdLst>
  <p:transition>
    <p:wipe dir="r"/>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8.png"/><Relationship Id="rId6" Type="http://schemas.openxmlformats.org/officeDocument/2006/relationships/image" Target="../media/image26.png"/><Relationship Id="rId7"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8.png"/><Relationship Id="rId6" Type="http://schemas.openxmlformats.org/officeDocument/2006/relationships/image" Target="../media/image26.png"/><Relationship Id="rId7" Type="http://schemas.openxmlformats.org/officeDocument/2006/relationships/image" Target="../media/image1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8.png"/><Relationship Id="rId6" Type="http://schemas.openxmlformats.org/officeDocument/2006/relationships/image" Target="../media/image26.png"/><Relationship Id="rId7" Type="http://schemas.openxmlformats.org/officeDocument/2006/relationships/image" Target="../media/image1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8.png"/><Relationship Id="rId6" Type="http://schemas.openxmlformats.org/officeDocument/2006/relationships/image" Target="../media/image26.png"/><Relationship Id="rId7" Type="http://schemas.openxmlformats.org/officeDocument/2006/relationships/image" Target="../media/image1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8.png"/><Relationship Id="rId6" Type="http://schemas.openxmlformats.org/officeDocument/2006/relationships/image" Target="../media/image26.png"/><Relationship Id="rId7" Type="http://schemas.openxmlformats.org/officeDocument/2006/relationships/image" Target="../media/image1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8.png"/><Relationship Id="rId6" Type="http://schemas.openxmlformats.org/officeDocument/2006/relationships/image" Target="../media/image26.png"/><Relationship Id="rId7" Type="http://schemas.openxmlformats.org/officeDocument/2006/relationships/image" Target="../media/image1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3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5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3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3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4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3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3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3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3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4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4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4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8.png"/><Relationship Id="rId6" Type="http://schemas.openxmlformats.org/officeDocument/2006/relationships/image" Target="../media/image26.png"/><Relationship Id="rId7" Type="http://schemas.openxmlformats.org/officeDocument/2006/relationships/image" Target="../media/image1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8.png"/><Relationship Id="rId6" Type="http://schemas.openxmlformats.org/officeDocument/2006/relationships/image" Target="../media/image26.png"/><Relationship Id="rId7" Type="http://schemas.openxmlformats.org/officeDocument/2006/relationships/image" Target="../media/image1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54.png"/><Relationship Id="rId4" Type="http://schemas.openxmlformats.org/officeDocument/2006/relationships/image" Target="../media/image3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46.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40.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8.png"/><Relationship Id="rId6" Type="http://schemas.openxmlformats.org/officeDocument/2006/relationships/image" Target="../media/image26.png"/><Relationship Id="rId7" Type="http://schemas.openxmlformats.org/officeDocument/2006/relationships/image" Target="../media/image17.png"/><Relationship Id="rId8" Type="http://schemas.openxmlformats.org/officeDocument/2006/relationships/image" Target="../media/image6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8.png"/><Relationship Id="rId6" Type="http://schemas.openxmlformats.org/officeDocument/2006/relationships/image" Target="../media/image26.png"/><Relationship Id="rId7" Type="http://schemas.openxmlformats.org/officeDocument/2006/relationships/image" Target="../media/image17.png"/><Relationship Id="rId8" Type="http://schemas.openxmlformats.org/officeDocument/2006/relationships/image" Target="../media/image48.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14.png"/><Relationship Id="rId4" Type="http://schemas.openxmlformats.org/officeDocument/2006/relationships/image" Target="../media/image4.png"/><Relationship Id="rId9" Type="http://schemas.openxmlformats.org/officeDocument/2006/relationships/image" Target="../media/image51.png"/><Relationship Id="rId5" Type="http://schemas.openxmlformats.org/officeDocument/2006/relationships/image" Target="../media/image18.png"/><Relationship Id="rId6" Type="http://schemas.openxmlformats.org/officeDocument/2006/relationships/image" Target="../media/image26.png"/><Relationship Id="rId7" Type="http://schemas.openxmlformats.org/officeDocument/2006/relationships/image" Target="../media/image17.png"/><Relationship Id="rId8" Type="http://schemas.openxmlformats.org/officeDocument/2006/relationships/image" Target="../media/image48.png"/></Relationships>
</file>

<file path=ppt/slides/_rels/slide66.xml.rels><?xml version="1.0" encoding="UTF-8" standalone="yes"?><Relationships xmlns="http://schemas.openxmlformats.org/package/2006/relationships"><Relationship Id="rId10" Type="http://schemas.openxmlformats.org/officeDocument/2006/relationships/image" Target="../media/image62.png"/><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14.png"/><Relationship Id="rId4" Type="http://schemas.openxmlformats.org/officeDocument/2006/relationships/image" Target="../media/image4.png"/><Relationship Id="rId9" Type="http://schemas.openxmlformats.org/officeDocument/2006/relationships/image" Target="../media/image51.png"/><Relationship Id="rId5" Type="http://schemas.openxmlformats.org/officeDocument/2006/relationships/image" Target="../media/image18.png"/><Relationship Id="rId6" Type="http://schemas.openxmlformats.org/officeDocument/2006/relationships/image" Target="../media/image26.png"/><Relationship Id="rId7" Type="http://schemas.openxmlformats.org/officeDocument/2006/relationships/image" Target="../media/image17.png"/><Relationship Id="rId8" Type="http://schemas.openxmlformats.org/officeDocument/2006/relationships/image" Target="../media/image48.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4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image" Target="../media/image55.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Relationship Id="rId3" Type="http://schemas.openxmlformats.org/officeDocument/2006/relationships/image" Target="../media/image44.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58.png"/><Relationship Id="rId4" Type="http://schemas.openxmlformats.org/officeDocument/2006/relationships/image" Target="../media/image49.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image" Target="../media/image57.png"/><Relationship Id="rId4" Type="http://schemas.openxmlformats.org/officeDocument/2006/relationships/image" Target="../media/image5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64.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 Id="rId3" Type="http://schemas.openxmlformats.org/officeDocument/2006/relationships/image" Target="../media/image59.jp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 Id="rId3" Type="http://schemas.openxmlformats.org/officeDocument/2006/relationships/image" Target="../media/image56.jp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 Id="rId3" Type="http://schemas.openxmlformats.org/officeDocument/2006/relationships/image" Target="../media/image56.jp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 Id="rId3" Type="http://schemas.openxmlformats.org/officeDocument/2006/relationships/image" Target="../media/image56.jp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 Id="rId3" Type="http://schemas.openxmlformats.org/officeDocument/2006/relationships/image" Target="../media/image56.jp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 Id="rId3" Type="http://schemas.openxmlformats.org/officeDocument/2006/relationships/image" Target="../media/image56.jp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 Id="rId3" Type="http://schemas.openxmlformats.org/officeDocument/2006/relationships/image" Target="../media/image59.jp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56.jp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
          <p:cNvSpPr/>
          <p:nvPr/>
        </p:nvSpPr>
        <p:spPr>
          <a:xfrm>
            <a:off x="0" y="228600"/>
            <a:ext cx="9144000" cy="1752600"/>
          </a:xfrm>
          <a:prstGeom prst="rect">
            <a:avLst/>
          </a:prstGeom>
          <a:solidFill>
            <a:srgbClr val="C5C5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2800">
              <a:solidFill>
                <a:schemeClr val="lt1"/>
              </a:solidFill>
              <a:latin typeface="Arial"/>
              <a:ea typeface="Arial"/>
              <a:cs typeface="Arial"/>
              <a:sym typeface="Arial"/>
            </a:endParaRPr>
          </a:p>
        </p:txBody>
      </p:sp>
      <p:sp>
        <p:nvSpPr>
          <p:cNvPr id="61" name="Google Shape;61;p1"/>
          <p:cNvSpPr/>
          <p:nvPr/>
        </p:nvSpPr>
        <p:spPr>
          <a:xfrm>
            <a:off x="0" y="685800"/>
            <a:ext cx="2514600" cy="914400"/>
          </a:xfrm>
          <a:prstGeom prst="rect">
            <a:avLst/>
          </a:prstGeom>
          <a:solidFill>
            <a:srgbClr val="A5A5A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2800">
              <a:solidFill>
                <a:schemeClr val="lt1"/>
              </a:solidFill>
              <a:latin typeface="Arial"/>
              <a:ea typeface="Arial"/>
              <a:cs typeface="Arial"/>
              <a:sym typeface="Arial"/>
            </a:endParaRPr>
          </a:p>
        </p:txBody>
      </p:sp>
      <p:sp>
        <p:nvSpPr>
          <p:cNvPr id="62" name="Google Shape;62;p1"/>
          <p:cNvSpPr txBox="1"/>
          <p:nvPr/>
        </p:nvSpPr>
        <p:spPr>
          <a:xfrm>
            <a:off x="2514600" y="533400"/>
            <a:ext cx="5943600" cy="1200329"/>
          </a:xfrm>
          <a:prstGeom prst="rect">
            <a:avLst/>
          </a:prstGeom>
          <a:solidFill>
            <a:schemeClr val="lt1"/>
          </a:solidFill>
          <a:ln cap="flat" cmpd="sng" w="28575">
            <a:solidFill>
              <a:srgbClr val="A5A5A5"/>
            </a:solidFill>
            <a:prstDash val="solid"/>
            <a:miter lim="800000"/>
            <a:headEnd len="sm" w="sm" type="none"/>
            <a:tailEnd len="sm" w="sm" type="none"/>
          </a:ln>
        </p:spPr>
        <p:txBody>
          <a:bodyPr anchorCtr="0" anchor="ctr" bIns="45700" lIns="91425" spcFirstLastPara="1" rIns="91425" wrap="square" tIns="45700">
            <a:noAutofit/>
          </a:bodyPr>
          <a:lstStyle/>
          <a:p>
            <a:pPr indent="0" lvl="0" marL="58738" marR="0" rtl="0" algn="l">
              <a:spcBef>
                <a:spcPts val="0"/>
              </a:spcBef>
              <a:spcAft>
                <a:spcPts val="0"/>
              </a:spcAft>
              <a:buClr>
                <a:schemeClr val="accent2"/>
              </a:buClr>
              <a:buSzPts val="3800"/>
              <a:buFont typeface="Noto Sans Symbols"/>
              <a:buNone/>
            </a:pPr>
            <a:r>
              <a:rPr b="1" lang="en-US" sz="3800" u="none">
                <a:solidFill>
                  <a:srgbClr val="CC0000"/>
                </a:solidFill>
                <a:latin typeface="Arial"/>
                <a:ea typeface="Arial"/>
                <a:cs typeface="Arial"/>
                <a:sym typeface="Arial"/>
              </a:rPr>
              <a:t>Adjusting The Accounts</a:t>
            </a:r>
            <a:endParaRPr b="1" sz="3800" u="none">
              <a:solidFill>
                <a:srgbClr val="CC0000"/>
              </a:solidFill>
              <a:latin typeface="Arial"/>
              <a:ea typeface="Arial"/>
              <a:cs typeface="Arial"/>
              <a:sym typeface="Arial"/>
            </a:endParaRPr>
          </a:p>
        </p:txBody>
      </p:sp>
      <p:sp>
        <p:nvSpPr>
          <p:cNvPr id="63" name="Google Shape;63;p1"/>
          <p:cNvSpPr/>
          <p:nvPr/>
        </p:nvSpPr>
        <p:spPr>
          <a:xfrm>
            <a:off x="762000" y="381000"/>
            <a:ext cx="1447800" cy="1447800"/>
          </a:xfrm>
          <a:prstGeom prst="ellipse">
            <a:avLst/>
          </a:prstGeom>
          <a:solidFill>
            <a:srgbClr val="0027A4"/>
          </a:solidFill>
          <a:ln>
            <a:noFill/>
          </a:ln>
        </p:spPr>
        <p:txBody>
          <a:bodyPr anchorCtr="0" anchor="ctr" bIns="45700" lIns="91425" spcFirstLastPara="1" rIns="91425" wrap="square" tIns="0">
            <a:noAutofit/>
          </a:bodyPr>
          <a:lstStyle/>
          <a:p>
            <a:pPr indent="0" lvl="0" marL="0" marR="0" rtl="0" algn="ctr">
              <a:spcBef>
                <a:spcPts val="0"/>
              </a:spcBef>
              <a:spcAft>
                <a:spcPts val="0"/>
              </a:spcAft>
              <a:buNone/>
            </a:pPr>
            <a:r>
              <a:rPr b="1" lang="en-US" sz="10000">
                <a:solidFill>
                  <a:schemeClr val="lt1"/>
                </a:solidFill>
                <a:latin typeface="Arial"/>
                <a:ea typeface="Arial"/>
                <a:cs typeface="Arial"/>
                <a:sym typeface="Arial"/>
              </a:rPr>
              <a:t>3</a:t>
            </a:r>
            <a:endParaRPr b="1" sz="10000">
              <a:solidFill>
                <a:schemeClr val="lt1"/>
              </a:solidFill>
              <a:latin typeface="Arial"/>
              <a:ea typeface="Arial"/>
              <a:cs typeface="Arial"/>
              <a:sym typeface="Arial"/>
            </a:endParaRPr>
          </a:p>
        </p:txBody>
      </p:sp>
      <p:sp>
        <p:nvSpPr>
          <p:cNvPr id="64" name="Google Shape;64;p1"/>
          <p:cNvSpPr/>
          <p:nvPr/>
        </p:nvSpPr>
        <p:spPr>
          <a:xfrm>
            <a:off x="0" y="3773424"/>
            <a:ext cx="1447800" cy="722376"/>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2800">
              <a:solidFill>
                <a:schemeClr val="lt1"/>
              </a:solidFill>
              <a:latin typeface="Arial"/>
              <a:ea typeface="Arial"/>
              <a:cs typeface="Arial"/>
              <a:sym typeface="Arial"/>
            </a:endParaRPr>
          </a:p>
        </p:txBody>
      </p:sp>
      <p:sp>
        <p:nvSpPr>
          <p:cNvPr id="65" name="Google Shape;65;p1"/>
          <p:cNvSpPr/>
          <p:nvPr/>
        </p:nvSpPr>
        <p:spPr>
          <a:xfrm>
            <a:off x="0" y="2846832"/>
            <a:ext cx="1447800" cy="722376"/>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2800">
              <a:solidFill>
                <a:schemeClr val="lt1"/>
              </a:solidFill>
              <a:latin typeface="Arial"/>
              <a:ea typeface="Arial"/>
              <a:cs typeface="Arial"/>
              <a:sym typeface="Arial"/>
            </a:endParaRPr>
          </a:p>
        </p:txBody>
      </p:sp>
      <p:sp>
        <p:nvSpPr>
          <p:cNvPr id="66" name="Google Shape;66;p1"/>
          <p:cNvSpPr/>
          <p:nvPr/>
        </p:nvSpPr>
        <p:spPr>
          <a:xfrm>
            <a:off x="457200" y="2133600"/>
            <a:ext cx="441960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Arial"/>
                <a:ea typeface="Arial"/>
                <a:cs typeface="Arial"/>
                <a:sym typeface="Arial"/>
              </a:rPr>
              <a:t>Learning Objectives</a:t>
            </a:r>
            <a:endParaRPr/>
          </a:p>
        </p:txBody>
      </p:sp>
      <p:sp>
        <p:nvSpPr>
          <p:cNvPr id="67" name="Google Shape;67;p1"/>
          <p:cNvSpPr/>
          <p:nvPr/>
        </p:nvSpPr>
        <p:spPr>
          <a:xfrm>
            <a:off x="1447800" y="2782824"/>
            <a:ext cx="7696200" cy="850392"/>
          </a:xfrm>
          <a:prstGeom prst="rect">
            <a:avLst/>
          </a:prstGeom>
          <a:solidFill>
            <a:srgbClr val="0027A4"/>
          </a:solidFill>
          <a:ln>
            <a:noFill/>
          </a:ln>
        </p:spPr>
        <p:txBody>
          <a:bodyPr anchorCtr="0" anchor="ctr" bIns="45700" lIns="91425" spcFirstLastPara="1" rIns="91425" wrap="square" tIns="27425">
            <a:noAutofit/>
          </a:bodyPr>
          <a:lstStyle/>
          <a:p>
            <a:pPr indent="0" lvl="0" marL="117475" marR="0" rtl="0" algn="l">
              <a:spcBef>
                <a:spcPts val="0"/>
              </a:spcBef>
              <a:spcAft>
                <a:spcPts val="0"/>
              </a:spcAft>
              <a:buNone/>
            </a:pPr>
            <a:r>
              <a:rPr b="1" lang="en-US" sz="2000">
                <a:solidFill>
                  <a:schemeClr val="lt1"/>
                </a:solidFill>
                <a:latin typeface="Arial"/>
                <a:ea typeface="Arial"/>
                <a:cs typeface="Arial"/>
                <a:sym typeface="Arial"/>
              </a:rPr>
              <a:t>Explain the accrual basis of accounting and the </a:t>
            </a:r>
            <a:endParaRPr b="1" sz="2000">
              <a:solidFill>
                <a:schemeClr val="lt1"/>
              </a:solidFill>
              <a:latin typeface="Arial"/>
              <a:ea typeface="Arial"/>
              <a:cs typeface="Arial"/>
              <a:sym typeface="Arial"/>
            </a:endParaRPr>
          </a:p>
          <a:p>
            <a:pPr indent="0" lvl="0" marL="117475" marR="0" rtl="0" algn="l">
              <a:spcBef>
                <a:spcPts val="0"/>
              </a:spcBef>
              <a:spcAft>
                <a:spcPts val="0"/>
              </a:spcAft>
              <a:buNone/>
            </a:pPr>
            <a:r>
              <a:rPr b="1" lang="en-US" sz="2000">
                <a:solidFill>
                  <a:schemeClr val="lt1"/>
                </a:solidFill>
                <a:latin typeface="Arial"/>
                <a:ea typeface="Arial"/>
                <a:cs typeface="Arial"/>
                <a:sym typeface="Arial"/>
              </a:rPr>
              <a:t>reasons for adjusting entries.</a:t>
            </a:r>
            <a:endParaRPr/>
          </a:p>
        </p:txBody>
      </p:sp>
      <p:sp>
        <p:nvSpPr>
          <p:cNvPr id="68" name="Google Shape;68;p1"/>
          <p:cNvSpPr/>
          <p:nvPr/>
        </p:nvSpPr>
        <p:spPr>
          <a:xfrm>
            <a:off x="1447800" y="3773424"/>
            <a:ext cx="7696200" cy="722376"/>
          </a:xfrm>
          <a:prstGeom prst="rect">
            <a:avLst/>
          </a:prstGeom>
          <a:solidFill>
            <a:srgbClr val="0027A4"/>
          </a:solidFill>
          <a:ln>
            <a:noFill/>
          </a:ln>
        </p:spPr>
        <p:txBody>
          <a:bodyPr anchorCtr="0" anchor="ctr" bIns="45700" lIns="91425" spcFirstLastPara="1" rIns="91425" wrap="square" tIns="27425">
            <a:noAutofit/>
          </a:bodyPr>
          <a:lstStyle/>
          <a:p>
            <a:pPr indent="0" lvl="0" marL="117475" marR="0" rtl="0" algn="l">
              <a:spcBef>
                <a:spcPts val="0"/>
              </a:spcBef>
              <a:spcAft>
                <a:spcPts val="0"/>
              </a:spcAft>
              <a:buNone/>
            </a:pPr>
            <a:r>
              <a:rPr b="1" lang="en-US" sz="2000">
                <a:solidFill>
                  <a:schemeClr val="lt1"/>
                </a:solidFill>
                <a:latin typeface="Arial"/>
                <a:ea typeface="Arial"/>
                <a:cs typeface="Arial"/>
                <a:sym typeface="Arial"/>
              </a:rPr>
              <a:t>Prepare adjusting entries for deferrals.</a:t>
            </a:r>
            <a:endParaRPr b="1" sz="2000">
              <a:solidFill>
                <a:schemeClr val="lt1"/>
              </a:solidFill>
              <a:latin typeface="Arial"/>
              <a:ea typeface="Arial"/>
              <a:cs typeface="Arial"/>
              <a:sym typeface="Arial"/>
            </a:endParaRPr>
          </a:p>
        </p:txBody>
      </p:sp>
      <p:sp>
        <p:nvSpPr>
          <p:cNvPr id="69" name="Google Shape;69;p1"/>
          <p:cNvSpPr/>
          <p:nvPr/>
        </p:nvSpPr>
        <p:spPr>
          <a:xfrm>
            <a:off x="0" y="4648200"/>
            <a:ext cx="1447800" cy="722376"/>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2800">
              <a:solidFill>
                <a:schemeClr val="lt1"/>
              </a:solidFill>
              <a:latin typeface="Arial"/>
              <a:ea typeface="Arial"/>
              <a:cs typeface="Arial"/>
              <a:sym typeface="Arial"/>
            </a:endParaRPr>
          </a:p>
        </p:txBody>
      </p:sp>
      <p:sp>
        <p:nvSpPr>
          <p:cNvPr id="70" name="Google Shape;70;p1"/>
          <p:cNvSpPr/>
          <p:nvPr/>
        </p:nvSpPr>
        <p:spPr>
          <a:xfrm>
            <a:off x="1447800" y="4648200"/>
            <a:ext cx="7696200" cy="722376"/>
          </a:xfrm>
          <a:prstGeom prst="rect">
            <a:avLst/>
          </a:prstGeom>
          <a:solidFill>
            <a:srgbClr val="0027A4"/>
          </a:solidFill>
          <a:ln>
            <a:noFill/>
          </a:ln>
        </p:spPr>
        <p:txBody>
          <a:bodyPr anchorCtr="0" anchor="ctr" bIns="45700" lIns="91425" spcFirstLastPara="1" rIns="91425" wrap="square" tIns="27425">
            <a:noAutofit/>
          </a:bodyPr>
          <a:lstStyle/>
          <a:p>
            <a:pPr indent="0" lvl="0" marL="117475" marR="0" rtl="0" algn="l">
              <a:spcBef>
                <a:spcPts val="0"/>
              </a:spcBef>
              <a:spcAft>
                <a:spcPts val="0"/>
              </a:spcAft>
              <a:buNone/>
            </a:pPr>
            <a:r>
              <a:rPr b="1" lang="en-US" sz="2000">
                <a:solidFill>
                  <a:schemeClr val="lt1"/>
                </a:solidFill>
                <a:latin typeface="Arial"/>
                <a:ea typeface="Arial"/>
                <a:cs typeface="Arial"/>
                <a:sym typeface="Arial"/>
              </a:rPr>
              <a:t>Prepare adjusting entries for accruals.</a:t>
            </a:r>
            <a:endParaRPr/>
          </a:p>
        </p:txBody>
      </p:sp>
      <p:sp>
        <p:nvSpPr>
          <p:cNvPr id="71" name="Google Shape;71;p1"/>
          <p:cNvSpPr/>
          <p:nvPr/>
        </p:nvSpPr>
        <p:spPr>
          <a:xfrm>
            <a:off x="685800" y="4733544"/>
            <a:ext cx="548640" cy="548640"/>
          </a:xfrm>
          <a:prstGeom prst="ellipse">
            <a:avLst/>
          </a:prstGeom>
          <a:solidFill>
            <a:srgbClr val="FF6600"/>
          </a:solidFill>
          <a:ln>
            <a:noFill/>
          </a:ln>
        </p:spPr>
        <p:txBody>
          <a:bodyPr anchorCtr="0" anchor="ctr" bIns="45700" lIns="91425" spcFirstLastPara="1" rIns="91425" wrap="square" tIns="0">
            <a:noAutofit/>
          </a:bodyPr>
          <a:lstStyle/>
          <a:p>
            <a:pPr indent="0" lvl="0" marL="0" marR="0" rtl="0" algn="l">
              <a:spcBef>
                <a:spcPts val="0"/>
              </a:spcBef>
              <a:spcAft>
                <a:spcPts val="0"/>
              </a:spcAft>
              <a:buNone/>
            </a:pPr>
            <a:r>
              <a:rPr b="1" lang="en-US" sz="2500">
                <a:solidFill>
                  <a:schemeClr val="lt1"/>
                </a:solidFill>
                <a:latin typeface="Arial"/>
                <a:ea typeface="Arial"/>
                <a:cs typeface="Arial"/>
                <a:sym typeface="Arial"/>
              </a:rPr>
              <a:t>3</a:t>
            </a:r>
            <a:endParaRPr/>
          </a:p>
        </p:txBody>
      </p:sp>
      <p:sp>
        <p:nvSpPr>
          <p:cNvPr id="72" name="Google Shape;72;p1"/>
          <p:cNvSpPr/>
          <p:nvPr/>
        </p:nvSpPr>
        <p:spPr>
          <a:xfrm>
            <a:off x="1447800" y="5526024"/>
            <a:ext cx="7696200" cy="874776"/>
          </a:xfrm>
          <a:prstGeom prst="rect">
            <a:avLst/>
          </a:prstGeom>
          <a:solidFill>
            <a:srgbClr val="0027A4"/>
          </a:solidFill>
          <a:ln>
            <a:noFill/>
          </a:ln>
        </p:spPr>
        <p:txBody>
          <a:bodyPr anchorCtr="0" anchor="ctr" bIns="45700" lIns="91425" spcFirstLastPara="1" rIns="91425" wrap="square" tIns="27425">
            <a:noAutofit/>
          </a:bodyPr>
          <a:lstStyle/>
          <a:p>
            <a:pPr indent="0" lvl="0" marL="117475" marR="0" rtl="0" algn="l">
              <a:spcBef>
                <a:spcPts val="0"/>
              </a:spcBef>
              <a:spcAft>
                <a:spcPts val="0"/>
              </a:spcAft>
              <a:buNone/>
            </a:pPr>
            <a:r>
              <a:rPr b="1" lang="en-US" sz="2000">
                <a:solidFill>
                  <a:schemeClr val="lt1"/>
                </a:solidFill>
                <a:latin typeface="Arial"/>
                <a:ea typeface="Arial"/>
                <a:cs typeface="Arial"/>
                <a:sym typeface="Arial"/>
              </a:rPr>
              <a:t>Describe the nature and purpose of an adjusted </a:t>
            </a:r>
            <a:endParaRPr b="1" sz="2000">
              <a:solidFill>
                <a:schemeClr val="lt1"/>
              </a:solidFill>
              <a:latin typeface="Arial"/>
              <a:ea typeface="Arial"/>
              <a:cs typeface="Arial"/>
              <a:sym typeface="Arial"/>
            </a:endParaRPr>
          </a:p>
          <a:p>
            <a:pPr indent="0" lvl="0" marL="117475" marR="0" rtl="0" algn="l">
              <a:spcBef>
                <a:spcPts val="0"/>
              </a:spcBef>
              <a:spcAft>
                <a:spcPts val="0"/>
              </a:spcAft>
              <a:buNone/>
            </a:pPr>
            <a:r>
              <a:rPr b="1" lang="en-US" sz="2000">
                <a:solidFill>
                  <a:schemeClr val="lt1"/>
                </a:solidFill>
                <a:latin typeface="Arial"/>
                <a:ea typeface="Arial"/>
                <a:cs typeface="Arial"/>
                <a:sym typeface="Arial"/>
              </a:rPr>
              <a:t>trial balance.</a:t>
            </a:r>
            <a:endParaRPr/>
          </a:p>
        </p:txBody>
      </p:sp>
      <p:sp>
        <p:nvSpPr>
          <p:cNvPr id="73" name="Google Shape;73;p1"/>
          <p:cNvSpPr/>
          <p:nvPr/>
        </p:nvSpPr>
        <p:spPr>
          <a:xfrm>
            <a:off x="685800" y="3870960"/>
            <a:ext cx="548640" cy="548640"/>
          </a:xfrm>
          <a:prstGeom prst="ellipse">
            <a:avLst/>
          </a:prstGeom>
          <a:solidFill>
            <a:srgbClr val="FF6600"/>
          </a:solidFill>
          <a:ln>
            <a:noFill/>
          </a:ln>
        </p:spPr>
        <p:txBody>
          <a:bodyPr anchorCtr="0" anchor="ctr" bIns="45700" lIns="91425" spcFirstLastPara="1" rIns="91425" wrap="square" tIns="0">
            <a:noAutofit/>
          </a:bodyPr>
          <a:lstStyle/>
          <a:p>
            <a:pPr indent="0" lvl="0" marL="0" marR="0" rtl="0" algn="l">
              <a:spcBef>
                <a:spcPts val="0"/>
              </a:spcBef>
              <a:spcAft>
                <a:spcPts val="0"/>
              </a:spcAft>
              <a:buNone/>
            </a:pPr>
            <a:r>
              <a:rPr b="1" lang="en-US" sz="2500">
                <a:solidFill>
                  <a:schemeClr val="lt1"/>
                </a:solidFill>
                <a:latin typeface="Arial"/>
                <a:ea typeface="Arial"/>
                <a:cs typeface="Arial"/>
                <a:sym typeface="Arial"/>
              </a:rPr>
              <a:t>2</a:t>
            </a:r>
            <a:endParaRPr/>
          </a:p>
        </p:txBody>
      </p:sp>
      <p:sp>
        <p:nvSpPr>
          <p:cNvPr id="74" name="Google Shape;74;p1"/>
          <p:cNvSpPr/>
          <p:nvPr/>
        </p:nvSpPr>
        <p:spPr>
          <a:xfrm>
            <a:off x="685800" y="2932176"/>
            <a:ext cx="548640" cy="548640"/>
          </a:xfrm>
          <a:prstGeom prst="ellipse">
            <a:avLst/>
          </a:prstGeom>
          <a:solidFill>
            <a:srgbClr val="FF6600"/>
          </a:solidFill>
          <a:ln>
            <a:noFill/>
          </a:ln>
        </p:spPr>
        <p:txBody>
          <a:bodyPr anchorCtr="0" anchor="ctr" bIns="45700" lIns="91425" spcFirstLastPara="1" rIns="91425" wrap="square" tIns="0">
            <a:noAutofit/>
          </a:bodyPr>
          <a:lstStyle/>
          <a:p>
            <a:pPr indent="0" lvl="0" marL="0" marR="0" rtl="0" algn="ctr">
              <a:spcBef>
                <a:spcPts val="0"/>
              </a:spcBef>
              <a:spcAft>
                <a:spcPts val="0"/>
              </a:spcAft>
              <a:buNone/>
            </a:pPr>
            <a:r>
              <a:rPr b="1" lang="en-US" sz="2500">
                <a:solidFill>
                  <a:schemeClr val="lt1"/>
                </a:solidFill>
                <a:latin typeface="Arial"/>
                <a:ea typeface="Arial"/>
                <a:cs typeface="Arial"/>
                <a:sym typeface="Arial"/>
              </a:rPr>
              <a:t>1</a:t>
            </a:r>
            <a:endParaRPr b="1" sz="2500">
              <a:solidFill>
                <a:schemeClr val="lt1"/>
              </a:solidFill>
              <a:latin typeface="Arial"/>
              <a:ea typeface="Arial"/>
              <a:cs typeface="Arial"/>
              <a:sym typeface="Arial"/>
            </a:endParaRPr>
          </a:p>
        </p:txBody>
      </p:sp>
      <p:sp>
        <p:nvSpPr>
          <p:cNvPr id="75" name="Google Shape;75;p1"/>
          <p:cNvSpPr/>
          <p:nvPr/>
        </p:nvSpPr>
        <p:spPr>
          <a:xfrm>
            <a:off x="0" y="5602224"/>
            <a:ext cx="1447800" cy="722376"/>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2800">
              <a:solidFill>
                <a:schemeClr val="lt1"/>
              </a:solidFill>
              <a:latin typeface="Arial"/>
              <a:ea typeface="Arial"/>
              <a:cs typeface="Arial"/>
              <a:sym typeface="Arial"/>
            </a:endParaRPr>
          </a:p>
        </p:txBody>
      </p:sp>
      <p:sp>
        <p:nvSpPr>
          <p:cNvPr id="76" name="Google Shape;76;p1"/>
          <p:cNvSpPr/>
          <p:nvPr/>
        </p:nvSpPr>
        <p:spPr>
          <a:xfrm>
            <a:off x="685800" y="5699760"/>
            <a:ext cx="548640" cy="548640"/>
          </a:xfrm>
          <a:prstGeom prst="ellipse">
            <a:avLst/>
          </a:prstGeom>
          <a:solidFill>
            <a:srgbClr val="FF6600"/>
          </a:solidFill>
          <a:ln>
            <a:noFill/>
          </a:ln>
        </p:spPr>
        <p:txBody>
          <a:bodyPr anchorCtr="0" anchor="ctr" bIns="45700" lIns="91425" spcFirstLastPara="1" rIns="91425" wrap="square" tIns="0">
            <a:noAutofit/>
          </a:bodyPr>
          <a:lstStyle/>
          <a:p>
            <a:pPr indent="0" lvl="0" marL="0" marR="0" rtl="0" algn="l">
              <a:spcBef>
                <a:spcPts val="0"/>
              </a:spcBef>
              <a:spcAft>
                <a:spcPts val="0"/>
              </a:spcAft>
              <a:buNone/>
            </a:pPr>
            <a:r>
              <a:rPr b="1" lang="en-US" sz="2500">
                <a:solidFill>
                  <a:schemeClr val="lt1"/>
                </a:solidFill>
                <a:latin typeface="Arial"/>
                <a:ea typeface="Arial"/>
                <a:cs typeface="Arial"/>
                <a:sym typeface="Arial"/>
              </a:rPr>
              <a:t>4</a:t>
            </a:r>
            <a:endParaRPr/>
          </a:p>
        </p:txBody>
      </p:sp>
    </p:spTree>
  </p:cSld>
  <p:clrMapOvr>
    <a:masterClrMapping/>
  </p:clrMapOvr>
  <p:transition>
    <p:wipe dir="r"/>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2"/>
          <p:cNvSpPr txBox="1"/>
          <p:nvPr/>
        </p:nvSpPr>
        <p:spPr>
          <a:xfrm>
            <a:off x="914400" y="4191000"/>
            <a:ext cx="3733800" cy="1984710"/>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Clr>
                <a:srgbClr val="800000"/>
              </a:buClr>
              <a:buSzPts val="1760"/>
              <a:buFont typeface="Noto Sans Symbols"/>
              <a:buNone/>
            </a:pPr>
            <a:r>
              <a:rPr b="0" lang="en-US" sz="2200">
                <a:solidFill>
                  <a:schemeClr val="dk1"/>
                </a:solidFill>
                <a:latin typeface="Arial"/>
                <a:ea typeface="Arial"/>
                <a:cs typeface="Arial"/>
                <a:sym typeface="Arial"/>
              </a:rPr>
              <a:t>Generally a </a:t>
            </a:r>
            <a:endParaRPr/>
          </a:p>
          <a:p>
            <a:pPr indent="-457200" lvl="1" marL="685800" marR="0" rtl="0" algn="l">
              <a:lnSpc>
                <a:spcPct val="120000"/>
              </a:lnSpc>
              <a:spcBef>
                <a:spcPts val="660"/>
              </a:spcBef>
              <a:spcAft>
                <a:spcPts val="0"/>
              </a:spcAft>
              <a:buClr>
                <a:srgbClr val="800000"/>
              </a:buClr>
              <a:buSzPts val="1760"/>
              <a:buFont typeface="Noto Sans Symbols"/>
              <a:buChar char="◆"/>
            </a:pPr>
            <a:r>
              <a:rPr b="1" i="0" lang="en-US" sz="2200" u="none" cap="none" strike="noStrike">
                <a:solidFill>
                  <a:schemeClr val="dk1"/>
                </a:solidFill>
                <a:latin typeface="Arial"/>
                <a:ea typeface="Arial"/>
                <a:cs typeface="Arial"/>
                <a:sym typeface="Arial"/>
              </a:rPr>
              <a:t>month</a:t>
            </a:r>
            <a:r>
              <a:rPr b="0" i="0" lang="en-US" sz="2200" u="none" cap="none" strike="noStrike">
                <a:solidFill>
                  <a:schemeClr val="dk1"/>
                </a:solidFill>
                <a:latin typeface="Arial"/>
                <a:ea typeface="Arial"/>
                <a:cs typeface="Arial"/>
                <a:sym typeface="Arial"/>
              </a:rPr>
              <a:t>, </a:t>
            </a:r>
            <a:endParaRPr/>
          </a:p>
          <a:p>
            <a:pPr indent="-457200" lvl="1" marL="685800" marR="0" rtl="0" algn="l">
              <a:lnSpc>
                <a:spcPct val="120000"/>
              </a:lnSpc>
              <a:spcBef>
                <a:spcPts val="660"/>
              </a:spcBef>
              <a:spcAft>
                <a:spcPts val="0"/>
              </a:spcAft>
              <a:buClr>
                <a:srgbClr val="800000"/>
              </a:buClr>
              <a:buSzPts val="1760"/>
              <a:buFont typeface="Noto Sans Symbols"/>
              <a:buChar char="◆"/>
            </a:pPr>
            <a:r>
              <a:rPr b="1" i="0" lang="en-US" sz="2200" u="none" cap="none" strike="noStrike">
                <a:solidFill>
                  <a:schemeClr val="dk1"/>
                </a:solidFill>
                <a:latin typeface="Arial"/>
                <a:ea typeface="Arial"/>
                <a:cs typeface="Arial"/>
                <a:sym typeface="Arial"/>
              </a:rPr>
              <a:t>quarter</a:t>
            </a:r>
            <a:r>
              <a:rPr b="0" i="0" lang="en-US" sz="2200" u="none" cap="none" strike="noStrike">
                <a:solidFill>
                  <a:schemeClr val="dk1"/>
                </a:solidFill>
                <a:latin typeface="Arial"/>
                <a:ea typeface="Arial"/>
                <a:cs typeface="Arial"/>
                <a:sym typeface="Arial"/>
              </a:rPr>
              <a:t>, or </a:t>
            </a:r>
            <a:endParaRPr/>
          </a:p>
          <a:p>
            <a:pPr indent="-457200" lvl="1" marL="685800" marR="0" rtl="0" algn="l">
              <a:lnSpc>
                <a:spcPct val="120000"/>
              </a:lnSpc>
              <a:spcBef>
                <a:spcPts val="660"/>
              </a:spcBef>
              <a:spcAft>
                <a:spcPts val="0"/>
              </a:spcAft>
              <a:buClr>
                <a:srgbClr val="800000"/>
              </a:buClr>
              <a:buSzPts val="1760"/>
              <a:buFont typeface="Noto Sans Symbols"/>
              <a:buChar char="◆"/>
            </a:pPr>
            <a:r>
              <a:rPr b="1" i="0" lang="en-US" sz="2200" u="none" cap="none" strike="noStrike">
                <a:solidFill>
                  <a:schemeClr val="dk1"/>
                </a:solidFill>
                <a:latin typeface="Arial"/>
                <a:ea typeface="Arial"/>
                <a:cs typeface="Arial"/>
                <a:sym typeface="Arial"/>
              </a:rPr>
              <a:t>year</a:t>
            </a:r>
            <a:r>
              <a:rPr b="0" i="0" lang="en-US" sz="2200" u="none" cap="none" strike="noStrike">
                <a:solidFill>
                  <a:schemeClr val="dk1"/>
                </a:solidFill>
                <a:latin typeface="Arial"/>
                <a:ea typeface="Arial"/>
                <a:cs typeface="Arial"/>
                <a:sym typeface="Arial"/>
              </a:rPr>
              <a:t>.</a:t>
            </a:r>
            <a:endParaRPr/>
          </a:p>
        </p:txBody>
      </p:sp>
      <p:sp>
        <p:nvSpPr>
          <p:cNvPr id="82" name="Google Shape;82;p2"/>
          <p:cNvSpPr txBox="1"/>
          <p:nvPr/>
        </p:nvSpPr>
        <p:spPr>
          <a:xfrm>
            <a:off x="609600" y="1447800"/>
            <a:ext cx="7772400" cy="904863"/>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0" lang="en-US" sz="2200">
                <a:solidFill>
                  <a:schemeClr val="dk1"/>
                </a:solidFill>
                <a:latin typeface="Arial"/>
                <a:ea typeface="Arial"/>
                <a:cs typeface="Arial"/>
                <a:sym typeface="Arial"/>
              </a:rPr>
              <a:t>Accountants divide the economic life of a business into artificial time periods (</a:t>
            </a:r>
            <a:r>
              <a:rPr b="1" lang="en-US" sz="2200">
                <a:solidFill>
                  <a:srgbClr val="0000BF"/>
                </a:solidFill>
                <a:latin typeface="Arial"/>
                <a:ea typeface="Arial"/>
                <a:cs typeface="Arial"/>
                <a:sym typeface="Arial"/>
              </a:rPr>
              <a:t>Time Period Assumption</a:t>
            </a:r>
            <a:r>
              <a:rPr b="0" lang="en-US" sz="2200">
                <a:solidFill>
                  <a:schemeClr val="dk1"/>
                </a:solidFill>
                <a:latin typeface="Arial"/>
                <a:ea typeface="Arial"/>
                <a:cs typeface="Arial"/>
                <a:sym typeface="Arial"/>
              </a:rPr>
              <a:t>).</a:t>
            </a:r>
            <a:endParaRPr/>
          </a:p>
        </p:txBody>
      </p:sp>
      <p:sp>
        <p:nvSpPr>
          <p:cNvPr id="83" name="Google Shape;83;p2"/>
          <p:cNvSpPr/>
          <p:nvPr/>
        </p:nvSpPr>
        <p:spPr>
          <a:xfrm>
            <a:off x="792163" y="2794000"/>
            <a:ext cx="7285037" cy="4763"/>
          </a:xfrm>
          <a:custGeom>
            <a:rect b="b" l="l" r="r" t="t"/>
            <a:pathLst>
              <a:path extrusionOk="0" h="3" w="4589">
                <a:moveTo>
                  <a:pt x="0" y="0"/>
                </a:moveTo>
                <a:lnTo>
                  <a:pt x="4589" y="3"/>
                </a:lnTo>
              </a:path>
            </a:pathLst>
          </a:custGeom>
          <a:noFill/>
          <a:ln cap="flat" cmpd="sng" w="50800">
            <a:solidFill>
              <a:schemeClr val="dk1"/>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2800">
              <a:solidFill>
                <a:schemeClr val="lt1"/>
              </a:solidFill>
              <a:latin typeface="Arial"/>
              <a:ea typeface="Arial"/>
              <a:cs typeface="Arial"/>
              <a:sym typeface="Arial"/>
            </a:endParaRPr>
          </a:p>
        </p:txBody>
      </p:sp>
      <p:cxnSp>
        <p:nvCxnSpPr>
          <p:cNvPr id="84" name="Google Shape;84;p2"/>
          <p:cNvCxnSpPr/>
          <p:nvPr/>
        </p:nvCxnSpPr>
        <p:spPr>
          <a:xfrm>
            <a:off x="766763" y="2667000"/>
            <a:ext cx="0" cy="254000"/>
          </a:xfrm>
          <a:prstGeom prst="straightConnector1">
            <a:avLst/>
          </a:prstGeom>
          <a:noFill/>
          <a:ln cap="flat" cmpd="sng" w="50800">
            <a:solidFill>
              <a:schemeClr val="dk1"/>
            </a:solidFill>
            <a:prstDash val="solid"/>
            <a:round/>
            <a:headEnd len="med" w="med" type="none"/>
            <a:tailEnd len="med" w="med" type="none"/>
          </a:ln>
        </p:spPr>
      </p:cxnSp>
      <p:cxnSp>
        <p:nvCxnSpPr>
          <p:cNvPr id="85" name="Google Shape;85;p2"/>
          <p:cNvCxnSpPr/>
          <p:nvPr/>
        </p:nvCxnSpPr>
        <p:spPr>
          <a:xfrm>
            <a:off x="1905000" y="2667000"/>
            <a:ext cx="0" cy="254000"/>
          </a:xfrm>
          <a:prstGeom prst="straightConnector1">
            <a:avLst/>
          </a:prstGeom>
          <a:noFill/>
          <a:ln cap="flat" cmpd="sng" w="50800">
            <a:solidFill>
              <a:schemeClr val="dk1"/>
            </a:solidFill>
            <a:prstDash val="solid"/>
            <a:round/>
            <a:headEnd len="med" w="med" type="none"/>
            <a:tailEnd len="med" w="med" type="none"/>
          </a:ln>
        </p:spPr>
      </p:cxnSp>
      <p:sp>
        <p:nvSpPr>
          <p:cNvPr id="86" name="Google Shape;86;p2"/>
          <p:cNvSpPr/>
          <p:nvPr/>
        </p:nvSpPr>
        <p:spPr>
          <a:xfrm>
            <a:off x="828675" y="2806700"/>
            <a:ext cx="923925" cy="393700"/>
          </a:xfrm>
          <a:prstGeom prst="rect">
            <a:avLst/>
          </a:prstGeom>
          <a:noFill/>
          <a:ln>
            <a:noFill/>
          </a:ln>
        </p:spPr>
        <p:txBody>
          <a:bodyPr anchorCtr="0" anchor="t" bIns="44450" lIns="90475" spcFirstLastPara="1" rIns="90475" wrap="square" tIns="44450">
            <a:spAutoFit/>
          </a:bodyPr>
          <a:lstStyle/>
          <a:p>
            <a:pPr indent="0" lvl="0" marL="0" marR="0" rtl="0" algn="ctr">
              <a:spcBef>
                <a:spcPts val="0"/>
              </a:spcBef>
              <a:spcAft>
                <a:spcPts val="0"/>
              </a:spcAft>
              <a:buNone/>
            </a:pPr>
            <a:r>
              <a:rPr b="1" lang="en-US" sz="2000">
                <a:solidFill>
                  <a:schemeClr val="dk1"/>
                </a:solidFill>
                <a:latin typeface="Arial"/>
                <a:ea typeface="Arial"/>
                <a:cs typeface="Arial"/>
                <a:sym typeface="Arial"/>
              </a:rPr>
              <a:t>Jan.</a:t>
            </a:r>
            <a:endParaRPr/>
          </a:p>
        </p:txBody>
      </p:sp>
      <p:sp>
        <p:nvSpPr>
          <p:cNvPr id="87" name="Google Shape;87;p2"/>
          <p:cNvSpPr/>
          <p:nvPr/>
        </p:nvSpPr>
        <p:spPr>
          <a:xfrm>
            <a:off x="2047875" y="2806700"/>
            <a:ext cx="771525" cy="393700"/>
          </a:xfrm>
          <a:prstGeom prst="rect">
            <a:avLst/>
          </a:prstGeom>
          <a:noFill/>
          <a:ln>
            <a:noFill/>
          </a:ln>
        </p:spPr>
        <p:txBody>
          <a:bodyPr anchorCtr="0" anchor="t" bIns="44450" lIns="90475" spcFirstLastPara="1" rIns="90475" wrap="square" tIns="44450">
            <a:spAutoFit/>
          </a:bodyPr>
          <a:lstStyle/>
          <a:p>
            <a:pPr indent="0" lvl="0" marL="0" marR="0" rtl="0" algn="ctr">
              <a:spcBef>
                <a:spcPts val="0"/>
              </a:spcBef>
              <a:spcAft>
                <a:spcPts val="0"/>
              </a:spcAft>
              <a:buNone/>
            </a:pPr>
            <a:r>
              <a:rPr b="1" lang="en-US" sz="2000">
                <a:solidFill>
                  <a:schemeClr val="dk1"/>
                </a:solidFill>
                <a:latin typeface="Arial"/>
                <a:ea typeface="Arial"/>
                <a:cs typeface="Arial"/>
                <a:sym typeface="Arial"/>
              </a:rPr>
              <a:t>Feb.</a:t>
            </a:r>
            <a:endParaRPr/>
          </a:p>
        </p:txBody>
      </p:sp>
      <p:sp>
        <p:nvSpPr>
          <p:cNvPr id="88" name="Google Shape;88;p2"/>
          <p:cNvSpPr/>
          <p:nvPr/>
        </p:nvSpPr>
        <p:spPr>
          <a:xfrm>
            <a:off x="3190875" y="2806700"/>
            <a:ext cx="771525" cy="393700"/>
          </a:xfrm>
          <a:prstGeom prst="rect">
            <a:avLst/>
          </a:prstGeom>
          <a:noFill/>
          <a:ln>
            <a:noFill/>
          </a:ln>
        </p:spPr>
        <p:txBody>
          <a:bodyPr anchorCtr="0" anchor="t" bIns="44450" lIns="90475" spcFirstLastPara="1" rIns="90475" wrap="square" tIns="44450">
            <a:spAutoFit/>
          </a:bodyPr>
          <a:lstStyle/>
          <a:p>
            <a:pPr indent="0" lvl="0" marL="0" marR="0" rtl="0" algn="ctr">
              <a:spcBef>
                <a:spcPts val="0"/>
              </a:spcBef>
              <a:spcAft>
                <a:spcPts val="0"/>
              </a:spcAft>
              <a:buNone/>
            </a:pPr>
            <a:r>
              <a:rPr b="1" lang="en-US" sz="2000">
                <a:solidFill>
                  <a:schemeClr val="dk1"/>
                </a:solidFill>
                <a:latin typeface="Arial"/>
                <a:ea typeface="Arial"/>
                <a:cs typeface="Arial"/>
                <a:sym typeface="Arial"/>
              </a:rPr>
              <a:t>Mar.</a:t>
            </a:r>
            <a:endParaRPr/>
          </a:p>
        </p:txBody>
      </p:sp>
      <p:sp>
        <p:nvSpPr>
          <p:cNvPr id="89" name="Google Shape;89;p2"/>
          <p:cNvSpPr/>
          <p:nvPr/>
        </p:nvSpPr>
        <p:spPr>
          <a:xfrm>
            <a:off x="4333875" y="2806700"/>
            <a:ext cx="771525" cy="393700"/>
          </a:xfrm>
          <a:prstGeom prst="rect">
            <a:avLst/>
          </a:prstGeom>
          <a:noFill/>
          <a:ln>
            <a:noFill/>
          </a:ln>
        </p:spPr>
        <p:txBody>
          <a:bodyPr anchorCtr="0" anchor="t" bIns="44450" lIns="90475" spcFirstLastPara="1" rIns="90475" wrap="square" tIns="44450">
            <a:spAutoFit/>
          </a:bodyPr>
          <a:lstStyle/>
          <a:p>
            <a:pPr indent="0" lvl="0" marL="0" marR="0" rtl="0" algn="ctr">
              <a:spcBef>
                <a:spcPts val="0"/>
              </a:spcBef>
              <a:spcAft>
                <a:spcPts val="0"/>
              </a:spcAft>
              <a:buNone/>
            </a:pPr>
            <a:r>
              <a:rPr b="1" lang="en-US" sz="2000">
                <a:solidFill>
                  <a:schemeClr val="dk1"/>
                </a:solidFill>
                <a:latin typeface="Arial"/>
                <a:ea typeface="Arial"/>
                <a:cs typeface="Arial"/>
                <a:sym typeface="Arial"/>
              </a:rPr>
              <a:t>Apr.</a:t>
            </a:r>
            <a:endParaRPr/>
          </a:p>
        </p:txBody>
      </p:sp>
      <p:cxnSp>
        <p:nvCxnSpPr>
          <p:cNvPr id="90" name="Google Shape;90;p2"/>
          <p:cNvCxnSpPr/>
          <p:nvPr/>
        </p:nvCxnSpPr>
        <p:spPr>
          <a:xfrm>
            <a:off x="5324475" y="2667000"/>
            <a:ext cx="0" cy="254000"/>
          </a:xfrm>
          <a:prstGeom prst="straightConnector1">
            <a:avLst/>
          </a:prstGeom>
          <a:noFill/>
          <a:ln cap="flat" cmpd="sng" w="50800">
            <a:solidFill>
              <a:schemeClr val="dk1"/>
            </a:solidFill>
            <a:prstDash val="solid"/>
            <a:round/>
            <a:headEnd len="med" w="med" type="none"/>
            <a:tailEnd len="med" w="med" type="none"/>
          </a:ln>
        </p:spPr>
      </p:cxnSp>
      <p:sp>
        <p:nvSpPr>
          <p:cNvPr id="91" name="Google Shape;91;p2"/>
          <p:cNvSpPr/>
          <p:nvPr/>
        </p:nvSpPr>
        <p:spPr>
          <a:xfrm>
            <a:off x="7153275" y="2806700"/>
            <a:ext cx="771525" cy="393700"/>
          </a:xfrm>
          <a:prstGeom prst="rect">
            <a:avLst/>
          </a:prstGeom>
          <a:noFill/>
          <a:ln>
            <a:noFill/>
          </a:ln>
        </p:spPr>
        <p:txBody>
          <a:bodyPr anchorCtr="0" anchor="t" bIns="44450" lIns="90475" spcFirstLastPara="1" rIns="90475" wrap="square" tIns="44450">
            <a:spAutoFit/>
          </a:bodyPr>
          <a:lstStyle/>
          <a:p>
            <a:pPr indent="0" lvl="0" marL="0" marR="0" rtl="0" algn="ctr">
              <a:spcBef>
                <a:spcPts val="0"/>
              </a:spcBef>
              <a:spcAft>
                <a:spcPts val="0"/>
              </a:spcAft>
              <a:buNone/>
            </a:pPr>
            <a:r>
              <a:rPr b="1" lang="en-US" sz="2000">
                <a:solidFill>
                  <a:schemeClr val="dk1"/>
                </a:solidFill>
                <a:latin typeface="Arial"/>
                <a:ea typeface="Arial"/>
                <a:cs typeface="Arial"/>
                <a:sym typeface="Arial"/>
              </a:rPr>
              <a:t>Dec.</a:t>
            </a:r>
            <a:endParaRPr/>
          </a:p>
        </p:txBody>
      </p:sp>
      <p:cxnSp>
        <p:nvCxnSpPr>
          <p:cNvPr id="92" name="Google Shape;92;p2"/>
          <p:cNvCxnSpPr/>
          <p:nvPr/>
        </p:nvCxnSpPr>
        <p:spPr>
          <a:xfrm>
            <a:off x="8067675" y="2667000"/>
            <a:ext cx="0" cy="254000"/>
          </a:xfrm>
          <a:prstGeom prst="straightConnector1">
            <a:avLst/>
          </a:prstGeom>
          <a:noFill/>
          <a:ln cap="flat" cmpd="sng" w="50800">
            <a:solidFill>
              <a:schemeClr val="dk1"/>
            </a:solidFill>
            <a:prstDash val="solid"/>
            <a:round/>
            <a:headEnd len="med" w="med" type="none"/>
            <a:tailEnd len="med" w="med" type="none"/>
          </a:ln>
        </p:spPr>
      </p:cxnSp>
      <p:sp>
        <p:nvSpPr>
          <p:cNvPr id="93" name="Google Shape;93;p2"/>
          <p:cNvSpPr/>
          <p:nvPr/>
        </p:nvSpPr>
        <p:spPr>
          <a:xfrm>
            <a:off x="5562600" y="2667000"/>
            <a:ext cx="1143000" cy="304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5000"/>
              </a:lnSpc>
              <a:spcBef>
                <a:spcPts val="0"/>
              </a:spcBef>
              <a:spcAft>
                <a:spcPts val="0"/>
              </a:spcAft>
              <a:buNone/>
            </a:pPr>
            <a:r>
              <a:rPr b="1" lang="en-US" sz="2800">
                <a:solidFill>
                  <a:schemeClr val="dk1"/>
                </a:solidFill>
                <a:latin typeface="Arial"/>
                <a:ea typeface="Arial"/>
                <a:cs typeface="Arial"/>
                <a:sym typeface="Arial"/>
              </a:rPr>
              <a:t>. . . . .</a:t>
            </a:r>
            <a:endParaRPr/>
          </a:p>
        </p:txBody>
      </p:sp>
      <p:cxnSp>
        <p:nvCxnSpPr>
          <p:cNvPr id="94" name="Google Shape;94;p2"/>
          <p:cNvCxnSpPr/>
          <p:nvPr/>
        </p:nvCxnSpPr>
        <p:spPr>
          <a:xfrm>
            <a:off x="3048000" y="2667000"/>
            <a:ext cx="0" cy="254000"/>
          </a:xfrm>
          <a:prstGeom prst="straightConnector1">
            <a:avLst/>
          </a:prstGeom>
          <a:noFill/>
          <a:ln cap="flat" cmpd="sng" w="50800">
            <a:solidFill>
              <a:schemeClr val="dk1"/>
            </a:solidFill>
            <a:prstDash val="solid"/>
            <a:round/>
            <a:headEnd len="med" w="med" type="none"/>
            <a:tailEnd len="med" w="med" type="none"/>
          </a:ln>
        </p:spPr>
      </p:cxnSp>
      <p:cxnSp>
        <p:nvCxnSpPr>
          <p:cNvPr id="95" name="Google Shape;95;p2"/>
          <p:cNvCxnSpPr/>
          <p:nvPr/>
        </p:nvCxnSpPr>
        <p:spPr>
          <a:xfrm>
            <a:off x="4191000" y="2667000"/>
            <a:ext cx="0" cy="254000"/>
          </a:xfrm>
          <a:prstGeom prst="straightConnector1">
            <a:avLst/>
          </a:prstGeom>
          <a:noFill/>
          <a:ln cap="flat" cmpd="sng" w="50800">
            <a:solidFill>
              <a:schemeClr val="dk1"/>
            </a:solidFill>
            <a:prstDash val="solid"/>
            <a:round/>
            <a:headEnd len="med" w="med" type="none"/>
            <a:tailEnd len="med" w="med" type="none"/>
          </a:ln>
        </p:spPr>
      </p:cxnSp>
      <p:cxnSp>
        <p:nvCxnSpPr>
          <p:cNvPr id="96" name="Google Shape;96;p2"/>
          <p:cNvCxnSpPr/>
          <p:nvPr/>
        </p:nvCxnSpPr>
        <p:spPr>
          <a:xfrm>
            <a:off x="6934200" y="2667000"/>
            <a:ext cx="0" cy="254000"/>
          </a:xfrm>
          <a:prstGeom prst="straightConnector1">
            <a:avLst/>
          </a:prstGeom>
          <a:noFill/>
          <a:ln cap="flat" cmpd="sng" w="50800">
            <a:solidFill>
              <a:schemeClr val="dk1"/>
            </a:solidFill>
            <a:prstDash val="solid"/>
            <a:round/>
            <a:headEnd len="med" w="med" type="none"/>
            <a:tailEnd len="med" w="med" type="none"/>
          </a:ln>
        </p:spPr>
      </p:cxnSp>
      <p:sp>
        <p:nvSpPr>
          <p:cNvPr id="97" name="Google Shape;97;p2"/>
          <p:cNvSpPr/>
          <p:nvPr/>
        </p:nvSpPr>
        <p:spPr>
          <a:xfrm rot="-5400000">
            <a:off x="1143000" y="2743200"/>
            <a:ext cx="381000" cy="1143000"/>
          </a:xfrm>
          <a:prstGeom prst="leftBrace">
            <a:avLst>
              <a:gd fmla="val 25000" name="adj1"/>
              <a:gd fmla="val 50000" name="adj2"/>
            </a:avLst>
          </a:prstGeom>
          <a:noFill/>
          <a:ln cap="sq"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
          <p:cNvSpPr txBox="1"/>
          <p:nvPr/>
        </p:nvSpPr>
        <p:spPr>
          <a:xfrm>
            <a:off x="789898" y="3124200"/>
            <a:ext cx="1087204" cy="13470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Arial"/>
              <a:ea typeface="Arial"/>
              <a:cs typeface="Arial"/>
              <a:sym typeface="Arial"/>
            </a:endParaRPr>
          </a:p>
        </p:txBody>
      </p:sp>
      <p:sp>
        <p:nvSpPr>
          <p:cNvPr id="99" name="Google Shape;99;p2"/>
          <p:cNvSpPr/>
          <p:nvPr/>
        </p:nvSpPr>
        <p:spPr>
          <a:xfrm rot="-5400000">
            <a:off x="2286000" y="1905000"/>
            <a:ext cx="381000" cy="3429000"/>
          </a:xfrm>
          <a:prstGeom prst="leftBrace">
            <a:avLst>
              <a:gd fmla="val 75000" name="adj1"/>
              <a:gd fmla="val 50000" name="adj2"/>
            </a:avLst>
          </a:prstGeom>
          <a:noFill/>
          <a:ln cap="sq"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
          <p:cNvSpPr txBox="1"/>
          <p:nvPr/>
        </p:nvSpPr>
        <p:spPr>
          <a:xfrm>
            <a:off x="845694" y="3429000"/>
            <a:ext cx="3261612" cy="13470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Arial"/>
              <a:ea typeface="Arial"/>
              <a:cs typeface="Arial"/>
              <a:sym typeface="Arial"/>
            </a:endParaRPr>
          </a:p>
        </p:txBody>
      </p:sp>
      <p:sp>
        <p:nvSpPr>
          <p:cNvPr id="101" name="Google Shape;101;p2"/>
          <p:cNvSpPr/>
          <p:nvPr/>
        </p:nvSpPr>
        <p:spPr>
          <a:xfrm rot="-5400000">
            <a:off x="4229100" y="266700"/>
            <a:ext cx="381000" cy="7315200"/>
          </a:xfrm>
          <a:prstGeom prst="leftBrace">
            <a:avLst>
              <a:gd fmla="val 160000" name="adj1"/>
              <a:gd fmla="val 50000" name="adj2"/>
            </a:avLst>
          </a:prstGeom>
          <a:noFill/>
          <a:ln cap="sq"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
          <p:cNvSpPr txBox="1"/>
          <p:nvPr/>
        </p:nvSpPr>
        <p:spPr>
          <a:xfrm>
            <a:off x="940548" y="3733800"/>
            <a:ext cx="6958105" cy="13470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Arial"/>
              <a:ea typeface="Arial"/>
              <a:cs typeface="Arial"/>
              <a:sym typeface="Arial"/>
            </a:endParaRPr>
          </a:p>
        </p:txBody>
      </p:sp>
      <p:sp>
        <p:nvSpPr>
          <p:cNvPr id="103" name="Google Shape;103;p2"/>
          <p:cNvSpPr/>
          <p:nvPr/>
        </p:nvSpPr>
        <p:spPr>
          <a:xfrm>
            <a:off x="4876800" y="4495800"/>
            <a:ext cx="3124200" cy="1274195"/>
          </a:xfrm>
          <a:prstGeom prst="rect">
            <a:avLst/>
          </a:prstGeom>
          <a:solidFill>
            <a:srgbClr val="FFFFCC"/>
          </a:solidFill>
          <a:ln cap="flat" cmpd="sng" w="19050">
            <a:solidFill>
              <a:schemeClr val="dk1"/>
            </a:solidFill>
            <a:prstDash val="solid"/>
            <a:miter lim="800000"/>
            <a:headEnd len="sm" w="sm" type="none"/>
            <a:tailEnd len="sm" w="sm" type="none"/>
          </a:ln>
        </p:spPr>
        <p:txBody>
          <a:bodyPr anchorCtr="0" anchor="t" bIns="91425" lIns="90475" spcFirstLastPara="1" rIns="90475" wrap="square" tIns="73150">
            <a:spAutoFit/>
          </a:bodyPr>
          <a:lstStyle/>
          <a:p>
            <a:pPr indent="0" lvl="0" marL="57150" marR="0" rtl="0" algn="l">
              <a:spcBef>
                <a:spcPts val="0"/>
              </a:spcBef>
              <a:spcAft>
                <a:spcPts val="0"/>
              </a:spcAft>
              <a:buNone/>
            </a:pPr>
            <a:r>
              <a:rPr b="1" lang="en-US" sz="1800">
                <a:solidFill>
                  <a:srgbClr val="0000BF"/>
                </a:solidFill>
                <a:latin typeface="Arial"/>
                <a:ea typeface="Arial"/>
                <a:cs typeface="Arial"/>
                <a:sym typeface="Arial"/>
              </a:rPr>
              <a:t>Alternative Terminology</a:t>
            </a:r>
            <a:endParaRPr/>
          </a:p>
          <a:p>
            <a:pPr indent="0" lvl="0" marL="57150" marR="0" rtl="0" algn="l">
              <a:spcBef>
                <a:spcPts val="0"/>
              </a:spcBef>
              <a:spcAft>
                <a:spcPts val="0"/>
              </a:spcAft>
              <a:buNone/>
            </a:pPr>
            <a:r>
              <a:rPr b="0" lang="en-US" sz="1800">
                <a:solidFill>
                  <a:schemeClr val="dk1"/>
                </a:solidFill>
                <a:latin typeface="Arial"/>
                <a:ea typeface="Arial"/>
                <a:cs typeface="Arial"/>
                <a:sym typeface="Arial"/>
              </a:rPr>
              <a:t>The time period assumption</a:t>
            </a:r>
            <a:endParaRPr/>
          </a:p>
          <a:p>
            <a:pPr indent="0" lvl="0" marL="57150" marR="0" rtl="0" algn="l">
              <a:spcBef>
                <a:spcPts val="0"/>
              </a:spcBef>
              <a:spcAft>
                <a:spcPts val="0"/>
              </a:spcAft>
              <a:buNone/>
            </a:pPr>
            <a:r>
              <a:rPr b="0" lang="en-US" sz="1800">
                <a:solidFill>
                  <a:schemeClr val="dk1"/>
                </a:solidFill>
                <a:latin typeface="Arial"/>
                <a:ea typeface="Arial"/>
                <a:cs typeface="Arial"/>
                <a:sym typeface="Arial"/>
              </a:rPr>
              <a:t>is also called the</a:t>
            </a:r>
            <a:endParaRPr/>
          </a:p>
          <a:p>
            <a:pPr indent="0" lvl="0" marL="57150" marR="0" rtl="0" algn="l">
              <a:spcBef>
                <a:spcPts val="0"/>
              </a:spcBef>
              <a:spcAft>
                <a:spcPts val="0"/>
              </a:spcAft>
              <a:buNone/>
            </a:pPr>
            <a:r>
              <a:rPr b="0" i="1" lang="en-US" sz="1800">
                <a:solidFill>
                  <a:schemeClr val="dk1"/>
                </a:solidFill>
                <a:latin typeface="Arial"/>
                <a:ea typeface="Arial"/>
                <a:cs typeface="Arial"/>
                <a:sym typeface="Arial"/>
              </a:rPr>
              <a:t>periodicity assumption</a:t>
            </a:r>
            <a:r>
              <a:rPr b="0" lang="en-US" sz="1800">
                <a:solidFill>
                  <a:schemeClr val="dk1"/>
                </a:solidFill>
                <a:latin typeface="Arial"/>
                <a:ea typeface="Arial"/>
                <a:cs typeface="Arial"/>
                <a:sym typeface="Arial"/>
              </a:rPr>
              <a:t>.</a:t>
            </a:r>
            <a:endParaRPr/>
          </a:p>
        </p:txBody>
      </p:sp>
      <p:sp>
        <p:nvSpPr>
          <p:cNvPr id="104" name="Google Shape;104;p2"/>
          <p:cNvSpPr/>
          <p:nvPr/>
        </p:nvSpPr>
        <p:spPr>
          <a:xfrm>
            <a:off x="290286" y="405765"/>
            <a:ext cx="2249714" cy="677228"/>
          </a:xfrm>
          <a:prstGeom prst="rect">
            <a:avLst/>
          </a:prstGeom>
          <a:solidFill>
            <a:srgbClr val="D8D8D8"/>
          </a:solidFill>
          <a:ln>
            <a:noFill/>
          </a:ln>
        </p:spPr>
        <p:txBody>
          <a:bodyPr anchorCtr="0" anchor="ctr" bIns="43225" lIns="86475" spcFirstLastPara="1" rIns="86475" wrap="square" tIns="43225">
            <a:noAutofit/>
          </a:bodyPr>
          <a:lstStyle/>
          <a:p>
            <a:pPr indent="0" lvl="0" marL="0" marR="0" rtl="0" algn="l">
              <a:spcBef>
                <a:spcPts val="0"/>
              </a:spcBef>
              <a:spcAft>
                <a:spcPts val="0"/>
              </a:spcAft>
              <a:buNone/>
            </a:pPr>
            <a:r>
              <a:rPr b="1" lang="en-US" sz="1700">
                <a:solidFill>
                  <a:schemeClr val="dk1"/>
                </a:solidFill>
                <a:latin typeface="Arial"/>
                <a:ea typeface="Arial"/>
                <a:cs typeface="Arial"/>
                <a:sym typeface="Arial"/>
              </a:rPr>
              <a:t>LEARNING</a:t>
            </a:r>
            <a:endParaRPr/>
          </a:p>
          <a:p>
            <a:pPr indent="0" lvl="0" marL="0" marR="0" rtl="0" algn="l">
              <a:spcBef>
                <a:spcPts val="0"/>
              </a:spcBef>
              <a:spcAft>
                <a:spcPts val="0"/>
              </a:spcAft>
              <a:buNone/>
            </a:pPr>
            <a:r>
              <a:rPr b="1" lang="en-US" sz="1700">
                <a:solidFill>
                  <a:schemeClr val="dk1"/>
                </a:solidFill>
                <a:latin typeface="Arial"/>
                <a:ea typeface="Arial"/>
                <a:cs typeface="Arial"/>
                <a:sym typeface="Arial"/>
              </a:rPr>
              <a:t>OBJECTIVE</a:t>
            </a:r>
            <a:endParaRPr/>
          </a:p>
        </p:txBody>
      </p:sp>
      <p:sp>
        <p:nvSpPr>
          <p:cNvPr id="105" name="Google Shape;105;p2"/>
          <p:cNvSpPr/>
          <p:nvPr/>
        </p:nvSpPr>
        <p:spPr>
          <a:xfrm>
            <a:off x="2540000" y="274320"/>
            <a:ext cx="6241143" cy="928688"/>
          </a:xfrm>
          <a:prstGeom prst="rect">
            <a:avLst/>
          </a:prstGeom>
          <a:solidFill>
            <a:srgbClr val="0027A4"/>
          </a:solidFill>
          <a:ln>
            <a:noFill/>
          </a:ln>
        </p:spPr>
        <p:txBody>
          <a:bodyPr anchorCtr="0" anchor="ctr" bIns="45700" lIns="91425" spcFirstLastPara="1" rIns="91425" wrap="square" tIns="27425">
            <a:noAutofit/>
          </a:bodyPr>
          <a:lstStyle/>
          <a:p>
            <a:pPr indent="0" lvl="0" marL="117475" marR="0" rtl="0" algn="l">
              <a:spcBef>
                <a:spcPts val="0"/>
              </a:spcBef>
              <a:spcAft>
                <a:spcPts val="0"/>
              </a:spcAft>
              <a:buNone/>
            </a:pPr>
            <a:r>
              <a:rPr b="1" lang="en-US" sz="2100">
                <a:solidFill>
                  <a:schemeClr val="lt1"/>
                </a:solidFill>
                <a:latin typeface="Arial"/>
                <a:ea typeface="Arial"/>
                <a:cs typeface="Arial"/>
                <a:sym typeface="Arial"/>
              </a:rPr>
              <a:t>Explain the accrual basis of accounting</a:t>
            </a:r>
            <a:endParaRPr/>
          </a:p>
          <a:p>
            <a:pPr indent="0" lvl="0" marL="117475" marR="0" rtl="0" algn="l">
              <a:spcBef>
                <a:spcPts val="0"/>
              </a:spcBef>
              <a:spcAft>
                <a:spcPts val="0"/>
              </a:spcAft>
              <a:buNone/>
            </a:pPr>
            <a:r>
              <a:rPr b="1" lang="en-US" sz="2100">
                <a:solidFill>
                  <a:schemeClr val="lt1"/>
                </a:solidFill>
                <a:latin typeface="Arial"/>
                <a:ea typeface="Arial"/>
                <a:cs typeface="Arial"/>
                <a:sym typeface="Arial"/>
              </a:rPr>
              <a:t>and the reasons for adjusting entries.</a:t>
            </a:r>
            <a:endParaRPr b="1" sz="2100">
              <a:solidFill>
                <a:schemeClr val="lt1"/>
              </a:solidFill>
              <a:latin typeface="Arial"/>
              <a:ea typeface="Arial"/>
              <a:cs typeface="Arial"/>
              <a:sym typeface="Arial"/>
            </a:endParaRPr>
          </a:p>
        </p:txBody>
      </p:sp>
      <p:sp>
        <p:nvSpPr>
          <p:cNvPr id="106" name="Google Shape;106;p2"/>
          <p:cNvSpPr/>
          <p:nvPr/>
        </p:nvSpPr>
        <p:spPr>
          <a:xfrm>
            <a:off x="1872343" y="485775"/>
            <a:ext cx="522514" cy="514350"/>
          </a:xfrm>
          <a:prstGeom prst="ellipse">
            <a:avLst/>
          </a:prstGeom>
          <a:solidFill>
            <a:srgbClr val="FF6600"/>
          </a:solidFill>
          <a:ln>
            <a:noFill/>
          </a:ln>
        </p:spPr>
        <p:txBody>
          <a:bodyPr anchorCtr="0" anchor="ctr" bIns="43225" lIns="86475" spcFirstLastPara="1" rIns="86475" wrap="square" tIns="0">
            <a:noAutofit/>
          </a:bodyPr>
          <a:lstStyle/>
          <a:p>
            <a:pPr indent="0" lvl="0" marL="0" marR="0" rtl="0" algn="ctr">
              <a:spcBef>
                <a:spcPts val="0"/>
              </a:spcBef>
              <a:spcAft>
                <a:spcPts val="0"/>
              </a:spcAft>
              <a:buNone/>
            </a:pPr>
            <a:r>
              <a:rPr b="1" lang="en-US" sz="2400">
                <a:solidFill>
                  <a:schemeClr val="lt1"/>
                </a:solidFill>
                <a:latin typeface="Arial"/>
                <a:ea typeface="Arial"/>
                <a:cs typeface="Arial"/>
                <a:sym typeface="Arial"/>
              </a:rPr>
              <a:t>1</a:t>
            </a:r>
            <a:endParaRPr/>
          </a:p>
        </p:txBody>
      </p:sp>
      <p:sp>
        <p:nvSpPr>
          <p:cNvPr id="107" name="Google Shape;107;p2"/>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1</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3"/>
          <p:cNvSpPr txBox="1"/>
          <p:nvPr/>
        </p:nvSpPr>
        <p:spPr>
          <a:xfrm>
            <a:off x="609600" y="1295400"/>
            <a:ext cx="7772400" cy="3520900"/>
          </a:xfrm>
          <a:prstGeom prst="rect">
            <a:avLst/>
          </a:prstGeom>
          <a:noFill/>
          <a:ln>
            <a:noFill/>
          </a:ln>
        </p:spPr>
        <p:txBody>
          <a:bodyPr anchorCtr="0" anchor="t" bIns="45700" lIns="91425" spcFirstLastPara="1" rIns="91425" wrap="square" tIns="45700">
            <a:spAutoFit/>
          </a:bodyPr>
          <a:lstStyle/>
          <a:p>
            <a:pPr indent="-457199" lvl="0" marL="693738" marR="0" rtl="0" algn="l">
              <a:lnSpc>
                <a:spcPct val="125000"/>
              </a:lnSpc>
              <a:spcBef>
                <a:spcPts val="0"/>
              </a:spcBef>
              <a:spcAft>
                <a:spcPts val="0"/>
              </a:spcAft>
              <a:buClr>
                <a:srgbClr val="800000"/>
              </a:buClr>
              <a:buSzPts val="1760"/>
              <a:buFont typeface="Noto Sans Symbols"/>
              <a:buChar char="◆"/>
            </a:pPr>
            <a:r>
              <a:rPr b="0" lang="en-US" sz="2200">
                <a:solidFill>
                  <a:schemeClr val="dk1"/>
                </a:solidFill>
                <a:latin typeface="Arial"/>
                <a:ea typeface="Arial"/>
                <a:cs typeface="Arial"/>
                <a:sym typeface="Arial"/>
              </a:rPr>
              <a:t>Monthly and quarterly time periods are called </a:t>
            </a:r>
            <a:r>
              <a:rPr b="1" lang="en-US" sz="2200">
                <a:solidFill>
                  <a:schemeClr val="hlink"/>
                </a:solidFill>
                <a:latin typeface="Arial"/>
                <a:ea typeface="Arial"/>
                <a:cs typeface="Arial"/>
                <a:sym typeface="Arial"/>
              </a:rPr>
              <a:t>interim periods</a:t>
            </a:r>
            <a:r>
              <a:rPr b="0" lang="en-US" sz="2200">
                <a:solidFill>
                  <a:schemeClr val="dk1"/>
                </a:solidFill>
                <a:latin typeface="Arial"/>
                <a:ea typeface="Arial"/>
                <a:cs typeface="Arial"/>
                <a:sym typeface="Arial"/>
              </a:rPr>
              <a:t>. </a:t>
            </a:r>
            <a:endParaRPr/>
          </a:p>
          <a:p>
            <a:pPr indent="-457199" lvl="0" marL="693738" marR="0" rtl="0" algn="l">
              <a:lnSpc>
                <a:spcPct val="125000"/>
              </a:lnSpc>
              <a:spcBef>
                <a:spcPts val="1200"/>
              </a:spcBef>
              <a:spcAft>
                <a:spcPts val="0"/>
              </a:spcAft>
              <a:buClr>
                <a:srgbClr val="800000"/>
              </a:buClr>
              <a:buSzPts val="1760"/>
              <a:buFont typeface="Noto Sans Symbols"/>
              <a:buChar char="◆"/>
            </a:pPr>
            <a:r>
              <a:rPr b="0" lang="en-US" sz="2200">
                <a:solidFill>
                  <a:schemeClr val="dk1"/>
                </a:solidFill>
                <a:latin typeface="Arial"/>
                <a:ea typeface="Arial"/>
                <a:cs typeface="Arial"/>
                <a:sym typeface="Arial"/>
              </a:rPr>
              <a:t>Most large companies must prepare both </a:t>
            </a:r>
            <a:r>
              <a:rPr b="1" lang="en-US" sz="2200">
                <a:solidFill>
                  <a:schemeClr val="dk1"/>
                </a:solidFill>
                <a:latin typeface="Arial"/>
                <a:ea typeface="Arial"/>
                <a:cs typeface="Arial"/>
                <a:sym typeface="Arial"/>
              </a:rPr>
              <a:t>quarterly </a:t>
            </a:r>
            <a:r>
              <a:rPr b="0" lang="en-US" sz="2200">
                <a:solidFill>
                  <a:schemeClr val="dk1"/>
                </a:solidFill>
                <a:latin typeface="Arial"/>
                <a:ea typeface="Arial"/>
                <a:cs typeface="Arial"/>
                <a:sym typeface="Arial"/>
              </a:rPr>
              <a:t>and</a:t>
            </a:r>
            <a:r>
              <a:rPr b="1" lang="en-US" sz="2200">
                <a:solidFill>
                  <a:schemeClr val="dk1"/>
                </a:solidFill>
                <a:latin typeface="Arial"/>
                <a:ea typeface="Arial"/>
                <a:cs typeface="Arial"/>
                <a:sym typeface="Arial"/>
              </a:rPr>
              <a:t> annual</a:t>
            </a:r>
            <a:r>
              <a:rPr b="0" lang="en-US" sz="2200">
                <a:solidFill>
                  <a:schemeClr val="dk1"/>
                </a:solidFill>
                <a:latin typeface="Arial"/>
                <a:ea typeface="Arial"/>
                <a:cs typeface="Arial"/>
                <a:sym typeface="Arial"/>
              </a:rPr>
              <a:t> financial statements.</a:t>
            </a:r>
            <a:endParaRPr/>
          </a:p>
          <a:p>
            <a:pPr indent="-457199" lvl="0" marL="693738" marR="0" rtl="0" algn="l">
              <a:lnSpc>
                <a:spcPct val="125000"/>
              </a:lnSpc>
              <a:spcBef>
                <a:spcPts val="1200"/>
              </a:spcBef>
              <a:spcAft>
                <a:spcPts val="0"/>
              </a:spcAft>
              <a:buClr>
                <a:srgbClr val="800000"/>
              </a:buClr>
              <a:buSzPts val="1760"/>
              <a:buFont typeface="Noto Sans Symbols"/>
              <a:buChar char="◆"/>
            </a:pPr>
            <a:r>
              <a:rPr b="1" lang="en-US" sz="2200">
                <a:solidFill>
                  <a:schemeClr val="hlink"/>
                </a:solidFill>
                <a:latin typeface="Arial"/>
                <a:ea typeface="Arial"/>
                <a:cs typeface="Arial"/>
                <a:sym typeface="Arial"/>
              </a:rPr>
              <a:t>Fiscal Year</a:t>
            </a:r>
            <a:r>
              <a:rPr b="0" lang="en-US" sz="2200">
                <a:solidFill>
                  <a:schemeClr val="dk1"/>
                </a:solidFill>
                <a:latin typeface="Arial"/>
                <a:ea typeface="Arial"/>
                <a:cs typeface="Arial"/>
                <a:sym typeface="Arial"/>
              </a:rPr>
              <a:t> = Accounting time period that is </a:t>
            </a:r>
            <a:r>
              <a:rPr b="1" lang="en-US" sz="2200">
                <a:solidFill>
                  <a:schemeClr val="dk1"/>
                </a:solidFill>
                <a:latin typeface="Arial"/>
                <a:ea typeface="Arial"/>
                <a:cs typeface="Arial"/>
                <a:sym typeface="Arial"/>
              </a:rPr>
              <a:t>one year</a:t>
            </a:r>
            <a:r>
              <a:rPr b="0" lang="en-US" sz="2200">
                <a:solidFill>
                  <a:schemeClr val="dk1"/>
                </a:solidFill>
                <a:latin typeface="Arial"/>
                <a:ea typeface="Arial"/>
                <a:cs typeface="Arial"/>
                <a:sym typeface="Arial"/>
              </a:rPr>
              <a:t> in length.</a:t>
            </a:r>
            <a:endParaRPr/>
          </a:p>
          <a:p>
            <a:pPr indent="-457199" lvl="0" marL="693738" marR="0" rtl="0" algn="l">
              <a:lnSpc>
                <a:spcPct val="125000"/>
              </a:lnSpc>
              <a:spcBef>
                <a:spcPts val="1200"/>
              </a:spcBef>
              <a:spcAft>
                <a:spcPts val="0"/>
              </a:spcAft>
              <a:buClr>
                <a:srgbClr val="800000"/>
              </a:buClr>
              <a:buSzPts val="1760"/>
              <a:buFont typeface="Noto Sans Symbols"/>
              <a:buChar char="◆"/>
            </a:pPr>
            <a:r>
              <a:rPr b="1" lang="en-US" sz="2200">
                <a:solidFill>
                  <a:schemeClr val="hlink"/>
                </a:solidFill>
                <a:latin typeface="Arial"/>
                <a:ea typeface="Arial"/>
                <a:cs typeface="Arial"/>
                <a:sym typeface="Arial"/>
              </a:rPr>
              <a:t>Calendar Year</a:t>
            </a:r>
            <a:r>
              <a:rPr b="0" lang="en-US" sz="2200">
                <a:solidFill>
                  <a:schemeClr val="dk1"/>
                </a:solidFill>
                <a:latin typeface="Arial"/>
                <a:ea typeface="Arial"/>
                <a:cs typeface="Arial"/>
                <a:sym typeface="Arial"/>
              </a:rPr>
              <a:t> = January 1 to December 31.</a:t>
            </a:r>
            <a:endParaRPr/>
          </a:p>
        </p:txBody>
      </p:sp>
      <p:cxnSp>
        <p:nvCxnSpPr>
          <p:cNvPr id="113" name="Google Shape;113;p3"/>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114" name="Google Shape;114;p3"/>
          <p:cNvSpPr/>
          <p:nvPr/>
        </p:nvSpPr>
        <p:spPr>
          <a:xfrm>
            <a:off x="609600" y="304800"/>
            <a:ext cx="76200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Fiscal and Calendar Years</a:t>
            </a:r>
            <a:endParaRPr b="1" sz="3200">
              <a:solidFill>
                <a:srgbClr val="0000BF"/>
              </a:solidFill>
              <a:latin typeface="Arial"/>
              <a:ea typeface="Arial"/>
              <a:cs typeface="Arial"/>
              <a:sym typeface="Arial"/>
            </a:endParaRPr>
          </a:p>
        </p:txBody>
      </p:sp>
      <p:sp>
        <p:nvSpPr>
          <p:cNvPr id="115" name="Google Shape;115;p3"/>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1</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4"/>
          <p:cNvSpPr/>
          <p:nvPr/>
        </p:nvSpPr>
        <p:spPr>
          <a:xfrm>
            <a:off x="609600" y="1905000"/>
            <a:ext cx="7696200" cy="4117975"/>
          </a:xfrm>
          <a:prstGeom prst="rect">
            <a:avLst/>
          </a:prstGeom>
          <a:solidFill>
            <a:schemeClr val="lt1"/>
          </a:solidFill>
          <a:ln>
            <a:noFill/>
          </a:ln>
        </p:spPr>
        <p:txBody>
          <a:bodyPr anchorCtr="0" anchor="t" bIns="46025" lIns="91425" spcFirstLastPara="1" rIns="182550" wrap="square" tIns="46025">
            <a:spAutoFit/>
          </a:bodyPr>
          <a:lstStyle/>
          <a:p>
            <a:pPr indent="-517525" lvl="0" marL="517525" marR="0" rtl="0" algn="l">
              <a:lnSpc>
                <a:spcPct val="125000"/>
              </a:lnSpc>
              <a:spcBef>
                <a:spcPts val="0"/>
              </a:spcBef>
              <a:spcAft>
                <a:spcPts val="0"/>
              </a:spcAft>
              <a:buClr>
                <a:schemeClr val="accent2"/>
              </a:buClr>
              <a:buSzPts val="1650"/>
              <a:buFont typeface="Noto Sans Symbols"/>
              <a:buNone/>
            </a:pPr>
            <a:r>
              <a:rPr b="0" lang="en-US" sz="2200">
                <a:solidFill>
                  <a:schemeClr val="lt2"/>
                </a:solidFill>
                <a:latin typeface="Arial"/>
                <a:ea typeface="Arial"/>
                <a:cs typeface="Arial"/>
                <a:sym typeface="Arial"/>
              </a:rPr>
              <a:t>The time period assumption states that:</a:t>
            </a:r>
            <a:endParaRPr/>
          </a:p>
          <a:p>
            <a:pPr indent="-457200" lvl="1" marL="914400" marR="0" rtl="0" algn="l">
              <a:lnSpc>
                <a:spcPct val="125000"/>
              </a:lnSpc>
              <a:spcBef>
                <a:spcPts val="1100"/>
              </a:spcBef>
              <a:spcAft>
                <a:spcPts val="0"/>
              </a:spcAft>
              <a:buClr>
                <a:schemeClr val="dk1"/>
              </a:buClr>
              <a:buSzPts val="2200"/>
              <a:buFont typeface="Noto Sans Symbols"/>
              <a:buAutoNum type="alphaLcPeriod"/>
            </a:pPr>
            <a:r>
              <a:rPr b="0" i="0" lang="en-US" sz="2200" u="none" cap="none" strike="noStrike">
                <a:solidFill>
                  <a:schemeClr val="dk1"/>
                </a:solidFill>
                <a:latin typeface="Arial"/>
                <a:ea typeface="Arial"/>
                <a:cs typeface="Arial"/>
                <a:sym typeface="Arial"/>
              </a:rPr>
              <a:t>revenue should be recognized in the accounting period in which it is earned.</a:t>
            </a:r>
            <a:endParaRPr/>
          </a:p>
          <a:p>
            <a:pPr indent="-457200" lvl="1" marL="914400" marR="0" rtl="0" algn="l">
              <a:lnSpc>
                <a:spcPct val="125000"/>
              </a:lnSpc>
              <a:spcBef>
                <a:spcPts val="1100"/>
              </a:spcBef>
              <a:spcAft>
                <a:spcPts val="0"/>
              </a:spcAft>
              <a:buClr>
                <a:schemeClr val="dk1"/>
              </a:buClr>
              <a:buSzPts val="2200"/>
              <a:buFont typeface="Noto Sans Symbols"/>
              <a:buAutoNum type="alphaLcPeriod"/>
            </a:pPr>
            <a:r>
              <a:rPr b="0" i="0" lang="en-US" sz="2200" u="none" cap="none" strike="noStrike">
                <a:solidFill>
                  <a:schemeClr val="dk1"/>
                </a:solidFill>
                <a:latin typeface="Arial"/>
                <a:ea typeface="Arial"/>
                <a:cs typeface="Arial"/>
                <a:sym typeface="Arial"/>
              </a:rPr>
              <a:t>expenses should be matched with revenues.</a:t>
            </a:r>
            <a:endParaRPr/>
          </a:p>
          <a:p>
            <a:pPr indent="-457200" lvl="1" marL="914400" marR="0" rtl="0" algn="l">
              <a:lnSpc>
                <a:spcPct val="125000"/>
              </a:lnSpc>
              <a:spcBef>
                <a:spcPts val="1100"/>
              </a:spcBef>
              <a:spcAft>
                <a:spcPts val="0"/>
              </a:spcAft>
              <a:buClr>
                <a:schemeClr val="dk1"/>
              </a:buClr>
              <a:buSzPts val="2200"/>
              <a:buFont typeface="Noto Sans Symbols"/>
              <a:buAutoNum type="alphaLcPeriod"/>
            </a:pPr>
            <a:r>
              <a:rPr b="0" i="0" lang="en-US" sz="2200" u="none" cap="none" strike="noStrike">
                <a:solidFill>
                  <a:schemeClr val="dk1"/>
                </a:solidFill>
                <a:latin typeface="Arial"/>
                <a:ea typeface="Arial"/>
                <a:cs typeface="Arial"/>
                <a:sym typeface="Arial"/>
              </a:rPr>
              <a:t>the economic life of a business can be divided into artificial time periods.</a:t>
            </a:r>
            <a:endParaRPr/>
          </a:p>
          <a:p>
            <a:pPr indent="-457200" lvl="1" marL="914400" marR="0" rtl="0" algn="l">
              <a:lnSpc>
                <a:spcPct val="125000"/>
              </a:lnSpc>
              <a:spcBef>
                <a:spcPts val="1100"/>
              </a:spcBef>
              <a:spcAft>
                <a:spcPts val="0"/>
              </a:spcAft>
              <a:buClr>
                <a:schemeClr val="dk1"/>
              </a:buClr>
              <a:buSzPts val="2200"/>
              <a:buFont typeface="Noto Sans Symbols"/>
              <a:buAutoNum type="alphaLcPeriod"/>
            </a:pPr>
            <a:r>
              <a:rPr b="0" i="0" lang="en-US" sz="2200" u="none" cap="none" strike="noStrike">
                <a:solidFill>
                  <a:schemeClr val="dk1"/>
                </a:solidFill>
                <a:latin typeface="Arial"/>
                <a:ea typeface="Arial"/>
                <a:cs typeface="Arial"/>
                <a:sym typeface="Arial"/>
              </a:rPr>
              <a:t>the fiscal year should correspond with the calendar year.</a:t>
            </a:r>
            <a:endParaRPr/>
          </a:p>
        </p:txBody>
      </p:sp>
      <p:cxnSp>
        <p:nvCxnSpPr>
          <p:cNvPr id="121" name="Google Shape;121;p4"/>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122" name="Google Shape;122;p4"/>
          <p:cNvSpPr/>
          <p:nvPr/>
        </p:nvSpPr>
        <p:spPr>
          <a:xfrm>
            <a:off x="609600" y="1295400"/>
            <a:ext cx="5334000" cy="5540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000">
                <a:solidFill>
                  <a:srgbClr val="800000"/>
                </a:solidFill>
                <a:latin typeface="Arial"/>
                <a:ea typeface="Arial"/>
                <a:cs typeface="Arial"/>
                <a:sym typeface="Arial"/>
              </a:rPr>
              <a:t>Question</a:t>
            </a:r>
            <a:endParaRPr/>
          </a:p>
        </p:txBody>
      </p:sp>
      <p:sp>
        <p:nvSpPr>
          <p:cNvPr id="123" name="Google Shape;123;p4"/>
          <p:cNvSpPr/>
          <p:nvPr/>
        </p:nvSpPr>
        <p:spPr>
          <a:xfrm>
            <a:off x="609600" y="304800"/>
            <a:ext cx="76200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Fiscal and Calendar Years</a:t>
            </a:r>
            <a:endParaRPr b="1" sz="3200">
              <a:solidFill>
                <a:srgbClr val="0000BF"/>
              </a:solidFill>
              <a:latin typeface="Arial"/>
              <a:ea typeface="Arial"/>
              <a:cs typeface="Arial"/>
              <a:sym typeface="Arial"/>
            </a:endParaRPr>
          </a:p>
        </p:txBody>
      </p:sp>
      <p:sp>
        <p:nvSpPr>
          <p:cNvPr id="124" name="Google Shape;124;p4"/>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1</a:t>
            </a:r>
            <a:endParaRPr b="1" i="1" sz="1600">
              <a:solidFill>
                <a:schemeClr val="lt2"/>
              </a:solidFill>
              <a:latin typeface="Arial"/>
              <a:ea typeface="Arial"/>
              <a:cs typeface="Arial"/>
              <a:sym typeface="Arial"/>
            </a:endParaRPr>
          </a:p>
        </p:txBody>
      </p:sp>
      <p:sp>
        <p:nvSpPr>
          <p:cNvPr id="125" name="Google Shape;125;p4"/>
          <p:cNvSpPr/>
          <p:nvPr/>
        </p:nvSpPr>
        <p:spPr>
          <a:xfrm>
            <a:off x="457200" y="4114800"/>
            <a:ext cx="609600" cy="457200"/>
          </a:xfrm>
          <a:prstGeom prst="notchedRightArrow">
            <a:avLst>
              <a:gd fmla="val 50000" name="adj1"/>
              <a:gd fmla="val 50000" name="adj2"/>
            </a:avLst>
          </a:prstGeom>
          <a:solidFill>
            <a:srgbClr val="A50021"/>
          </a:solidFill>
          <a:ln cap="sq"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b="1" sz="2400">
              <a:solidFill>
                <a:srgbClr val="730000"/>
              </a:solidFill>
              <a:latin typeface="Comic Sans MS"/>
              <a:ea typeface="Comic Sans MS"/>
              <a:cs typeface="Comic Sans MS"/>
              <a:sym typeface="Comic Sans MS"/>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
                                        </p:tgtEl>
                                        <p:attrNameLst>
                                          <p:attrName>style.visibility</p:attrName>
                                        </p:attrNameLst>
                                      </p:cBhvr>
                                      <p:to>
                                        <p:strVal val="visible"/>
                                      </p:to>
                                    </p:set>
                                    <p:animEffect filter="fade" transition="in">
                                      <p:cBhvr>
                                        <p:cTn dur="500"/>
                                        <p:tgtEl>
                                          <p:spTgt spid="1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5"/>
          <p:cNvSpPr txBox="1"/>
          <p:nvPr/>
        </p:nvSpPr>
        <p:spPr>
          <a:xfrm>
            <a:off x="609600" y="1295400"/>
            <a:ext cx="7620000" cy="4593565"/>
          </a:xfrm>
          <a:prstGeom prst="rect">
            <a:avLst/>
          </a:prstGeom>
          <a:no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Clr>
                <a:srgbClr val="800000"/>
              </a:buClr>
              <a:buSzPts val="2080"/>
              <a:buFont typeface="Noto Sans Symbols"/>
              <a:buNone/>
            </a:pPr>
            <a:r>
              <a:rPr b="1" lang="en-US" sz="2600">
                <a:solidFill>
                  <a:srgbClr val="0000BF"/>
                </a:solidFill>
                <a:latin typeface="Arial"/>
                <a:ea typeface="Arial"/>
                <a:cs typeface="Arial"/>
                <a:sym typeface="Arial"/>
              </a:rPr>
              <a:t>Accrual-Basis Accounting</a:t>
            </a:r>
            <a:endParaRPr/>
          </a:p>
          <a:p>
            <a:pPr indent="-457200" lvl="1" marL="685800" marR="0" rtl="0" algn="l">
              <a:lnSpc>
                <a:spcPct val="125000"/>
              </a:lnSpc>
              <a:spcBef>
                <a:spcPts val="1200"/>
              </a:spcBef>
              <a:spcAft>
                <a:spcPts val="0"/>
              </a:spcAft>
              <a:buClr>
                <a:srgbClr val="800000"/>
              </a:buClr>
              <a:buSzPts val="1760"/>
              <a:buFont typeface="Noto Sans Symbols"/>
              <a:buChar char="◆"/>
            </a:pPr>
            <a:r>
              <a:rPr b="0" i="0" lang="en-US" sz="2200" u="none" cap="none" strike="noStrike">
                <a:solidFill>
                  <a:schemeClr val="dk1"/>
                </a:solidFill>
                <a:latin typeface="Arial"/>
                <a:ea typeface="Arial"/>
                <a:cs typeface="Arial"/>
                <a:sym typeface="Arial"/>
              </a:rPr>
              <a:t>Transactions recorded in the </a:t>
            </a:r>
            <a:r>
              <a:rPr b="1" i="0" lang="en-US" sz="2200" u="none" cap="none" strike="noStrike">
                <a:solidFill>
                  <a:schemeClr val="dk1"/>
                </a:solidFill>
                <a:latin typeface="Arial"/>
                <a:ea typeface="Arial"/>
                <a:cs typeface="Arial"/>
                <a:sym typeface="Arial"/>
              </a:rPr>
              <a:t>periods in which the events occur</a:t>
            </a:r>
            <a:r>
              <a:rPr b="0" i="0" lang="en-US" sz="2200" u="none" cap="none" strike="noStrike">
                <a:solidFill>
                  <a:schemeClr val="dk1"/>
                </a:solidFill>
                <a:latin typeface="Arial"/>
                <a:ea typeface="Arial"/>
                <a:cs typeface="Arial"/>
                <a:sym typeface="Arial"/>
              </a:rPr>
              <a:t>.</a:t>
            </a:r>
            <a:endParaRPr/>
          </a:p>
          <a:p>
            <a:pPr indent="-457200" lvl="1" marL="685800" marR="0" rtl="0" algn="l">
              <a:lnSpc>
                <a:spcPct val="125000"/>
              </a:lnSpc>
              <a:spcBef>
                <a:spcPts val="1200"/>
              </a:spcBef>
              <a:spcAft>
                <a:spcPts val="0"/>
              </a:spcAft>
              <a:buClr>
                <a:srgbClr val="800000"/>
              </a:buClr>
              <a:buSzPts val="1760"/>
              <a:buFont typeface="Noto Sans Symbols"/>
              <a:buChar char="◆"/>
            </a:pPr>
            <a:r>
              <a:rPr b="0" i="0" lang="en-US" sz="2200" u="none" cap="none" strike="noStrike">
                <a:solidFill>
                  <a:schemeClr val="dk1"/>
                </a:solidFill>
                <a:latin typeface="Arial"/>
                <a:ea typeface="Arial"/>
                <a:cs typeface="Arial"/>
                <a:sym typeface="Arial"/>
              </a:rPr>
              <a:t>Companies </a:t>
            </a:r>
            <a:r>
              <a:rPr b="1" i="0" lang="en-US" sz="2200" u="none" cap="none" strike="noStrike">
                <a:solidFill>
                  <a:schemeClr val="dk1"/>
                </a:solidFill>
                <a:latin typeface="Arial"/>
                <a:ea typeface="Arial"/>
                <a:cs typeface="Arial"/>
                <a:sym typeface="Arial"/>
              </a:rPr>
              <a:t>recognize</a:t>
            </a:r>
            <a:r>
              <a:rPr b="0" i="0" lang="en-US" sz="2200" u="none" cap="none" strike="noStrike">
                <a:solidFill>
                  <a:schemeClr val="dk1"/>
                </a:solidFill>
                <a:latin typeface="Arial"/>
                <a:ea typeface="Arial"/>
                <a:cs typeface="Arial"/>
                <a:sym typeface="Arial"/>
              </a:rPr>
              <a:t> </a:t>
            </a:r>
            <a:r>
              <a:rPr b="1" i="0" lang="en-US" sz="2200" u="none" cap="none" strike="noStrike">
                <a:solidFill>
                  <a:schemeClr val="dk1"/>
                </a:solidFill>
                <a:latin typeface="Arial"/>
                <a:ea typeface="Arial"/>
                <a:cs typeface="Arial"/>
                <a:sym typeface="Arial"/>
              </a:rPr>
              <a:t>revenues when they</a:t>
            </a:r>
            <a:r>
              <a:rPr b="0" i="0" lang="en-US" sz="2200" u="none" cap="none" strike="noStrike">
                <a:solidFill>
                  <a:schemeClr val="dk1"/>
                </a:solidFill>
                <a:latin typeface="Arial"/>
                <a:ea typeface="Arial"/>
                <a:cs typeface="Arial"/>
                <a:sym typeface="Arial"/>
              </a:rPr>
              <a:t> </a:t>
            </a:r>
            <a:r>
              <a:rPr b="1" i="0" lang="en-US" sz="2200" u="none" cap="none" strike="noStrike">
                <a:solidFill>
                  <a:schemeClr val="dk1"/>
                </a:solidFill>
                <a:latin typeface="Arial"/>
                <a:ea typeface="Arial"/>
                <a:cs typeface="Arial"/>
                <a:sym typeface="Arial"/>
              </a:rPr>
              <a:t>perform services</a:t>
            </a:r>
            <a:r>
              <a:rPr b="0" i="0" lang="en-US" sz="2200" u="none" cap="none" strike="noStrike">
                <a:solidFill>
                  <a:schemeClr val="dk1"/>
                </a:solidFill>
                <a:latin typeface="Arial"/>
                <a:ea typeface="Arial"/>
                <a:cs typeface="Arial"/>
                <a:sym typeface="Arial"/>
              </a:rPr>
              <a:t> (rather than when they receive cash). </a:t>
            </a:r>
            <a:endParaRPr b="0" i="0" sz="2200" u="none" cap="none" strike="noStrike">
              <a:solidFill>
                <a:schemeClr val="dk1"/>
              </a:solidFill>
              <a:latin typeface="Arial"/>
              <a:ea typeface="Arial"/>
              <a:cs typeface="Arial"/>
              <a:sym typeface="Arial"/>
            </a:endParaRPr>
          </a:p>
          <a:p>
            <a:pPr indent="-457200" lvl="1" marL="685800" marR="0" rtl="0" algn="l">
              <a:lnSpc>
                <a:spcPct val="125000"/>
              </a:lnSpc>
              <a:spcBef>
                <a:spcPts val="1200"/>
              </a:spcBef>
              <a:spcAft>
                <a:spcPts val="0"/>
              </a:spcAft>
              <a:buClr>
                <a:srgbClr val="800000"/>
              </a:buClr>
              <a:buSzPts val="1760"/>
              <a:buFont typeface="Noto Sans Symbols"/>
              <a:buChar char="◆"/>
            </a:pPr>
            <a:r>
              <a:rPr b="1" i="0" lang="en-US" sz="2200" u="none" cap="none" strike="noStrike">
                <a:solidFill>
                  <a:schemeClr val="dk1"/>
                </a:solidFill>
                <a:latin typeface="Arial"/>
                <a:ea typeface="Arial"/>
                <a:cs typeface="Arial"/>
                <a:sym typeface="Arial"/>
              </a:rPr>
              <a:t>Expenses</a:t>
            </a:r>
            <a:r>
              <a:rPr b="0" i="0" lang="en-US" sz="2200" u="none" cap="none" strike="noStrike">
                <a:solidFill>
                  <a:schemeClr val="dk1"/>
                </a:solidFill>
                <a:latin typeface="Arial"/>
                <a:ea typeface="Arial"/>
                <a:cs typeface="Arial"/>
                <a:sym typeface="Arial"/>
              </a:rPr>
              <a:t> are recognized when </a:t>
            </a:r>
            <a:r>
              <a:rPr b="1" i="0" lang="en-US" sz="2200" u="none" cap="none" strike="noStrike">
                <a:solidFill>
                  <a:schemeClr val="dk1"/>
                </a:solidFill>
                <a:latin typeface="Arial"/>
                <a:ea typeface="Arial"/>
                <a:cs typeface="Arial"/>
                <a:sym typeface="Arial"/>
              </a:rPr>
              <a:t>incurred </a:t>
            </a:r>
            <a:r>
              <a:rPr b="0" i="0" lang="en-US" sz="2200" u="none" cap="none" strike="noStrike">
                <a:solidFill>
                  <a:schemeClr val="dk1"/>
                </a:solidFill>
                <a:latin typeface="Arial"/>
                <a:ea typeface="Arial"/>
                <a:cs typeface="Arial"/>
                <a:sym typeface="Arial"/>
              </a:rPr>
              <a:t>(rather than when paid).</a:t>
            </a:r>
            <a:endParaRPr/>
          </a:p>
          <a:p>
            <a:pPr indent="-457200" lvl="1" marL="685800" marR="0" rtl="0" algn="l">
              <a:lnSpc>
                <a:spcPct val="125000"/>
              </a:lnSpc>
              <a:spcBef>
                <a:spcPts val="1200"/>
              </a:spcBef>
              <a:spcAft>
                <a:spcPts val="0"/>
              </a:spcAft>
              <a:buClr>
                <a:srgbClr val="800000"/>
              </a:buClr>
              <a:buSzPts val="1760"/>
              <a:buFont typeface="Noto Sans Symbols"/>
              <a:buChar char="◆"/>
            </a:pPr>
            <a:r>
              <a:rPr b="0" i="0" lang="en-US" sz="2200" u="none" cap="none" strike="noStrike">
                <a:solidFill>
                  <a:schemeClr val="dk1"/>
                </a:solidFill>
                <a:latin typeface="Arial"/>
                <a:ea typeface="Arial"/>
                <a:cs typeface="Arial"/>
                <a:sym typeface="Arial"/>
              </a:rPr>
              <a:t>In accordance with </a:t>
            </a:r>
            <a:r>
              <a:rPr b="1" i="0" lang="en-US" sz="2200" u="none" cap="none" strike="noStrike">
                <a:solidFill>
                  <a:schemeClr val="dk1"/>
                </a:solidFill>
                <a:latin typeface="Arial"/>
                <a:ea typeface="Arial"/>
                <a:cs typeface="Arial"/>
                <a:sym typeface="Arial"/>
              </a:rPr>
              <a:t>generally accepted accounting principles (GAAP)</a:t>
            </a:r>
            <a:r>
              <a:rPr b="0" i="0" lang="en-US" sz="2200" u="none" cap="none" strike="noStrike">
                <a:solidFill>
                  <a:schemeClr val="dk1"/>
                </a:solidFill>
                <a:latin typeface="Arial"/>
                <a:ea typeface="Arial"/>
                <a:cs typeface="Arial"/>
                <a:sym typeface="Arial"/>
              </a:rPr>
              <a:t>.</a:t>
            </a:r>
            <a:endParaRPr b="0" i="0" sz="2200" u="none" cap="none" strike="noStrike">
              <a:solidFill>
                <a:schemeClr val="dk1"/>
              </a:solidFill>
              <a:latin typeface="Arial"/>
              <a:ea typeface="Arial"/>
              <a:cs typeface="Arial"/>
              <a:sym typeface="Arial"/>
            </a:endParaRPr>
          </a:p>
        </p:txBody>
      </p:sp>
      <p:sp>
        <p:nvSpPr>
          <p:cNvPr id="131" name="Google Shape;131;p5"/>
          <p:cNvSpPr/>
          <p:nvPr/>
        </p:nvSpPr>
        <p:spPr>
          <a:xfrm>
            <a:off x="609600" y="304800"/>
            <a:ext cx="82296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Accrual- versus Cash-Basis Accounting</a:t>
            </a:r>
            <a:endParaRPr/>
          </a:p>
        </p:txBody>
      </p:sp>
      <p:cxnSp>
        <p:nvCxnSpPr>
          <p:cNvPr id="132" name="Google Shape;132;p5"/>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133" name="Google Shape;133;p5"/>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1</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6"/>
          <p:cNvSpPr txBox="1"/>
          <p:nvPr/>
        </p:nvSpPr>
        <p:spPr>
          <a:xfrm>
            <a:off x="609600" y="1295400"/>
            <a:ext cx="7620000" cy="2746906"/>
          </a:xfrm>
          <a:prstGeom prst="rect">
            <a:avLst/>
          </a:prstGeom>
          <a:no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Clr>
                <a:srgbClr val="800000"/>
              </a:buClr>
              <a:buSzPts val="2080"/>
              <a:buFont typeface="Noto Sans Symbols"/>
              <a:buNone/>
            </a:pPr>
            <a:r>
              <a:rPr b="1" lang="en-US" sz="2600">
                <a:solidFill>
                  <a:srgbClr val="0000BF"/>
                </a:solidFill>
                <a:latin typeface="Arial"/>
                <a:ea typeface="Arial"/>
                <a:cs typeface="Arial"/>
                <a:sym typeface="Arial"/>
              </a:rPr>
              <a:t>Cash-Basis Accounting</a:t>
            </a:r>
            <a:endParaRPr/>
          </a:p>
          <a:p>
            <a:pPr indent="-457200" lvl="1" marL="685800" marR="0" rtl="0" algn="l">
              <a:lnSpc>
                <a:spcPct val="125000"/>
              </a:lnSpc>
              <a:spcBef>
                <a:spcPts val="1200"/>
              </a:spcBef>
              <a:spcAft>
                <a:spcPts val="0"/>
              </a:spcAft>
              <a:buClr>
                <a:srgbClr val="800000"/>
              </a:buClr>
              <a:buSzPts val="1760"/>
              <a:buFont typeface="Noto Sans Symbols"/>
              <a:buChar char="◆"/>
            </a:pPr>
            <a:r>
              <a:rPr b="1" i="0" lang="en-US" sz="2200" u="none" cap="none" strike="noStrike">
                <a:solidFill>
                  <a:schemeClr val="dk1"/>
                </a:solidFill>
                <a:latin typeface="Arial"/>
                <a:ea typeface="Arial"/>
                <a:cs typeface="Arial"/>
                <a:sym typeface="Arial"/>
              </a:rPr>
              <a:t>Revenues</a:t>
            </a:r>
            <a:r>
              <a:rPr b="0" i="0" lang="en-US" sz="2200" u="none" cap="none" strike="noStrike">
                <a:solidFill>
                  <a:schemeClr val="dk1"/>
                </a:solidFill>
                <a:latin typeface="Arial"/>
                <a:ea typeface="Arial"/>
                <a:cs typeface="Arial"/>
                <a:sym typeface="Arial"/>
              </a:rPr>
              <a:t> recognized when </a:t>
            </a:r>
            <a:r>
              <a:rPr b="1" i="0" lang="en-US" sz="2200" u="none" cap="none" strike="noStrike">
                <a:solidFill>
                  <a:schemeClr val="dk1"/>
                </a:solidFill>
                <a:latin typeface="Arial"/>
                <a:ea typeface="Arial"/>
                <a:cs typeface="Arial"/>
                <a:sym typeface="Arial"/>
              </a:rPr>
              <a:t>cash is received</a:t>
            </a:r>
            <a:r>
              <a:rPr b="0" i="0" lang="en-US" sz="2200" u="none" cap="none" strike="noStrike">
                <a:solidFill>
                  <a:schemeClr val="dk1"/>
                </a:solidFill>
                <a:latin typeface="Arial"/>
                <a:ea typeface="Arial"/>
                <a:cs typeface="Arial"/>
                <a:sym typeface="Arial"/>
              </a:rPr>
              <a:t>.</a:t>
            </a:r>
            <a:endParaRPr/>
          </a:p>
          <a:p>
            <a:pPr indent="-457200" lvl="1" marL="685800" marR="0" rtl="0" algn="l">
              <a:lnSpc>
                <a:spcPct val="125000"/>
              </a:lnSpc>
              <a:spcBef>
                <a:spcPts val="1200"/>
              </a:spcBef>
              <a:spcAft>
                <a:spcPts val="0"/>
              </a:spcAft>
              <a:buClr>
                <a:srgbClr val="800000"/>
              </a:buClr>
              <a:buSzPts val="1760"/>
              <a:buFont typeface="Noto Sans Symbols"/>
              <a:buChar char="◆"/>
            </a:pPr>
            <a:r>
              <a:rPr b="1" i="0" lang="en-US" sz="2200" u="none" cap="none" strike="noStrike">
                <a:solidFill>
                  <a:schemeClr val="dk1"/>
                </a:solidFill>
                <a:latin typeface="Arial"/>
                <a:ea typeface="Arial"/>
                <a:cs typeface="Arial"/>
                <a:sym typeface="Arial"/>
              </a:rPr>
              <a:t>Expenses</a:t>
            </a:r>
            <a:r>
              <a:rPr b="0" i="0" lang="en-US" sz="2200" u="none" cap="none" strike="noStrike">
                <a:solidFill>
                  <a:schemeClr val="dk1"/>
                </a:solidFill>
                <a:latin typeface="Arial"/>
                <a:ea typeface="Arial"/>
                <a:cs typeface="Arial"/>
                <a:sym typeface="Arial"/>
              </a:rPr>
              <a:t> recognized when </a:t>
            </a:r>
            <a:r>
              <a:rPr b="1" i="0" lang="en-US" sz="2200" u="none" cap="none" strike="noStrike">
                <a:solidFill>
                  <a:schemeClr val="dk1"/>
                </a:solidFill>
                <a:latin typeface="Arial"/>
                <a:ea typeface="Arial"/>
                <a:cs typeface="Arial"/>
                <a:sym typeface="Arial"/>
              </a:rPr>
              <a:t>cash is paid</a:t>
            </a:r>
            <a:r>
              <a:rPr b="0" i="0" lang="en-US" sz="2200" u="none" cap="none" strike="noStrike">
                <a:solidFill>
                  <a:schemeClr val="dk1"/>
                </a:solidFill>
                <a:latin typeface="Arial"/>
                <a:ea typeface="Arial"/>
                <a:cs typeface="Arial"/>
                <a:sym typeface="Arial"/>
              </a:rPr>
              <a:t>.  </a:t>
            </a:r>
            <a:endParaRPr/>
          </a:p>
          <a:p>
            <a:pPr indent="-457200" lvl="1" marL="685800" marR="0" rtl="0" algn="l">
              <a:lnSpc>
                <a:spcPct val="125000"/>
              </a:lnSpc>
              <a:spcBef>
                <a:spcPts val="1200"/>
              </a:spcBef>
              <a:spcAft>
                <a:spcPts val="0"/>
              </a:spcAft>
              <a:buClr>
                <a:srgbClr val="800000"/>
              </a:buClr>
              <a:buSzPts val="1760"/>
              <a:buFont typeface="Noto Sans Symbols"/>
              <a:buChar char="◆"/>
            </a:pPr>
            <a:r>
              <a:rPr b="0" i="0" lang="en-US" sz="2200" u="none" cap="none" strike="noStrike">
                <a:solidFill>
                  <a:schemeClr val="dk1"/>
                </a:solidFill>
                <a:latin typeface="Arial"/>
                <a:ea typeface="Arial"/>
                <a:cs typeface="Arial"/>
                <a:sym typeface="Arial"/>
              </a:rPr>
              <a:t>Cash-basis accounting is </a:t>
            </a:r>
            <a:r>
              <a:rPr b="1" i="0" lang="en-US" sz="2200" u="none" cap="none" strike="noStrike">
                <a:solidFill>
                  <a:schemeClr val="dk1"/>
                </a:solidFill>
                <a:latin typeface="Arial"/>
                <a:ea typeface="Arial"/>
                <a:cs typeface="Arial"/>
                <a:sym typeface="Arial"/>
              </a:rPr>
              <a:t>not in accordance with generally accepted accounting principles (GAAP)</a:t>
            </a:r>
            <a:r>
              <a:rPr b="0" i="0" lang="en-US" sz="2200" u="none" cap="none" strike="noStrike">
                <a:solidFill>
                  <a:schemeClr val="dk1"/>
                </a:solidFill>
                <a:latin typeface="Arial"/>
                <a:ea typeface="Arial"/>
                <a:cs typeface="Arial"/>
                <a:sym typeface="Arial"/>
              </a:rPr>
              <a:t>.</a:t>
            </a:r>
            <a:endParaRPr/>
          </a:p>
        </p:txBody>
      </p:sp>
      <p:cxnSp>
        <p:nvCxnSpPr>
          <p:cNvPr id="139" name="Google Shape;139;p6"/>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140" name="Google Shape;140;p6"/>
          <p:cNvSpPr/>
          <p:nvPr/>
        </p:nvSpPr>
        <p:spPr>
          <a:xfrm>
            <a:off x="609600" y="304800"/>
            <a:ext cx="82296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Accrual- versus Cash-Basis Accounting</a:t>
            </a:r>
            <a:endParaRPr/>
          </a:p>
        </p:txBody>
      </p:sp>
      <p:sp>
        <p:nvSpPr>
          <p:cNvPr id="141" name="Google Shape;141;p6"/>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1</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pic>
        <p:nvPicPr>
          <p:cNvPr id="146" name="Google Shape;146;p7"/>
          <p:cNvPicPr preferRelativeResize="0"/>
          <p:nvPr/>
        </p:nvPicPr>
        <p:blipFill rotWithShape="1">
          <a:blip r:embed="rId3">
            <a:alphaModFix/>
          </a:blip>
          <a:srcRect b="0" l="0" r="0" t="0"/>
          <a:stretch/>
        </p:blipFill>
        <p:spPr>
          <a:xfrm>
            <a:off x="5410200" y="2029955"/>
            <a:ext cx="3114618" cy="4218445"/>
          </a:xfrm>
          <a:prstGeom prst="rect">
            <a:avLst/>
          </a:prstGeom>
          <a:noFill/>
          <a:ln cap="flat" cmpd="sng" w="19050">
            <a:solidFill>
              <a:schemeClr val="dk1"/>
            </a:solidFill>
            <a:prstDash val="solid"/>
            <a:miter lim="800000"/>
            <a:headEnd len="sm" w="sm" type="none"/>
            <a:tailEnd len="sm" w="sm" type="none"/>
          </a:ln>
        </p:spPr>
      </p:pic>
      <p:sp>
        <p:nvSpPr>
          <p:cNvPr id="147" name="Google Shape;147;p7"/>
          <p:cNvSpPr txBox="1"/>
          <p:nvPr/>
        </p:nvSpPr>
        <p:spPr>
          <a:xfrm>
            <a:off x="609600" y="1295400"/>
            <a:ext cx="7086600" cy="49244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800000"/>
              </a:buClr>
              <a:buSzPts val="2080"/>
              <a:buFont typeface="Noto Sans Symbols"/>
              <a:buNone/>
            </a:pPr>
            <a:r>
              <a:rPr b="1" lang="en-US" sz="2600">
                <a:solidFill>
                  <a:schemeClr val="dk1"/>
                </a:solidFill>
                <a:latin typeface="Arial"/>
                <a:ea typeface="Arial"/>
                <a:cs typeface="Arial"/>
                <a:sym typeface="Arial"/>
              </a:rPr>
              <a:t>REVENUE RECOGNITION PRINCIPLE</a:t>
            </a:r>
            <a:endParaRPr/>
          </a:p>
        </p:txBody>
      </p:sp>
      <p:sp>
        <p:nvSpPr>
          <p:cNvPr id="148" name="Google Shape;148;p7"/>
          <p:cNvSpPr txBox="1"/>
          <p:nvPr/>
        </p:nvSpPr>
        <p:spPr>
          <a:xfrm>
            <a:off x="609600" y="1882775"/>
            <a:ext cx="4724400" cy="1785104"/>
          </a:xfrm>
          <a:prstGeom prst="rect">
            <a:avLst/>
          </a:prstGeom>
          <a:no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None/>
            </a:pPr>
            <a:r>
              <a:rPr b="1" lang="en-US" sz="2200">
                <a:solidFill>
                  <a:schemeClr val="dk1"/>
                </a:solidFill>
                <a:latin typeface="Arial"/>
                <a:ea typeface="Arial"/>
                <a:cs typeface="Arial"/>
                <a:sym typeface="Arial"/>
              </a:rPr>
              <a:t>Recognize</a:t>
            </a:r>
            <a:r>
              <a:rPr b="0" lang="en-US" sz="2200">
                <a:solidFill>
                  <a:schemeClr val="dk1"/>
                </a:solidFill>
                <a:latin typeface="Arial"/>
                <a:ea typeface="Arial"/>
                <a:cs typeface="Arial"/>
                <a:sym typeface="Arial"/>
              </a:rPr>
              <a:t> revenue in the accounting period in which the </a:t>
            </a:r>
            <a:r>
              <a:rPr b="1" lang="en-US" sz="2200">
                <a:solidFill>
                  <a:schemeClr val="dk1"/>
                </a:solidFill>
                <a:latin typeface="Arial"/>
                <a:ea typeface="Arial"/>
                <a:cs typeface="Arial"/>
                <a:sym typeface="Arial"/>
              </a:rPr>
              <a:t>performance obligation</a:t>
            </a:r>
            <a:r>
              <a:rPr b="0" lang="en-US" sz="2200">
                <a:solidFill>
                  <a:schemeClr val="dk1"/>
                </a:solidFill>
                <a:latin typeface="Arial"/>
                <a:ea typeface="Arial"/>
                <a:cs typeface="Arial"/>
                <a:sym typeface="Arial"/>
              </a:rPr>
              <a:t> is satisfied.</a:t>
            </a:r>
            <a:endParaRPr/>
          </a:p>
        </p:txBody>
      </p:sp>
      <p:sp>
        <p:nvSpPr>
          <p:cNvPr id="149" name="Google Shape;149;p7"/>
          <p:cNvSpPr/>
          <p:nvPr/>
        </p:nvSpPr>
        <p:spPr>
          <a:xfrm>
            <a:off x="609600" y="304800"/>
            <a:ext cx="82296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Recognizing Revenues and Expenses</a:t>
            </a:r>
            <a:endParaRPr/>
          </a:p>
        </p:txBody>
      </p:sp>
      <p:cxnSp>
        <p:nvCxnSpPr>
          <p:cNvPr id="150" name="Google Shape;150;p7"/>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151" name="Google Shape;151;p7"/>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1</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8"/>
          <p:cNvSpPr txBox="1"/>
          <p:nvPr/>
        </p:nvSpPr>
        <p:spPr>
          <a:xfrm>
            <a:off x="609600" y="1295400"/>
            <a:ext cx="7086600" cy="49244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800000"/>
              </a:buClr>
              <a:buSzPts val="2080"/>
              <a:buFont typeface="Noto Sans Symbols"/>
              <a:buNone/>
            </a:pPr>
            <a:r>
              <a:rPr b="1" lang="en-US" sz="2600">
                <a:solidFill>
                  <a:schemeClr val="dk1"/>
                </a:solidFill>
                <a:latin typeface="Arial"/>
                <a:ea typeface="Arial"/>
                <a:cs typeface="Arial"/>
                <a:sym typeface="Arial"/>
              </a:rPr>
              <a:t>EXPENSE RECOGNITION PRINCIPLE</a:t>
            </a:r>
            <a:endParaRPr/>
          </a:p>
        </p:txBody>
      </p:sp>
      <p:sp>
        <p:nvSpPr>
          <p:cNvPr id="157" name="Google Shape;157;p8"/>
          <p:cNvSpPr txBox="1"/>
          <p:nvPr/>
        </p:nvSpPr>
        <p:spPr>
          <a:xfrm>
            <a:off x="609600" y="1882775"/>
            <a:ext cx="4343400" cy="1785104"/>
          </a:xfrm>
          <a:prstGeom prst="rect">
            <a:avLst/>
          </a:prstGeom>
          <a:no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None/>
            </a:pPr>
            <a:r>
              <a:rPr b="1" lang="en-US" sz="2200">
                <a:solidFill>
                  <a:schemeClr val="dk1"/>
                </a:solidFill>
                <a:latin typeface="Arial"/>
                <a:ea typeface="Arial"/>
                <a:cs typeface="Arial"/>
                <a:sym typeface="Arial"/>
              </a:rPr>
              <a:t>Match expenses with revenues</a:t>
            </a:r>
            <a:r>
              <a:rPr b="0" lang="en-US" sz="2200">
                <a:solidFill>
                  <a:schemeClr val="dk1"/>
                </a:solidFill>
                <a:latin typeface="Arial"/>
                <a:ea typeface="Arial"/>
                <a:cs typeface="Arial"/>
                <a:sym typeface="Arial"/>
              </a:rPr>
              <a:t> in the period when the company makes efforts that generate those revenues.</a:t>
            </a:r>
            <a:endParaRPr b="1" sz="2200">
              <a:solidFill>
                <a:schemeClr val="dk1"/>
              </a:solidFill>
              <a:latin typeface="Arial"/>
              <a:ea typeface="Arial"/>
              <a:cs typeface="Arial"/>
              <a:sym typeface="Arial"/>
            </a:endParaRPr>
          </a:p>
        </p:txBody>
      </p:sp>
      <p:sp>
        <p:nvSpPr>
          <p:cNvPr id="158" name="Google Shape;158;p8"/>
          <p:cNvSpPr/>
          <p:nvPr/>
        </p:nvSpPr>
        <p:spPr>
          <a:xfrm>
            <a:off x="609600" y="304800"/>
            <a:ext cx="82296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Recognizing Revenues and Expenses</a:t>
            </a:r>
            <a:endParaRPr/>
          </a:p>
        </p:txBody>
      </p:sp>
      <p:cxnSp>
        <p:nvCxnSpPr>
          <p:cNvPr id="159" name="Google Shape;159;p8"/>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pic>
        <p:nvPicPr>
          <p:cNvPr id="160" name="Google Shape;160;p8"/>
          <p:cNvPicPr preferRelativeResize="0"/>
          <p:nvPr/>
        </p:nvPicPr>
        <p:blipFill rotWithShape="1">
          <a:blip r:embed="rId3">
            <a:alphaModFix/>
          </a:blip>
          <a:srcRect b="0" l="0" r="0" t="0"/>
          <a:stretch/>
        </p:blipFill>
        <p:spPr>
          <a:xfrm>
            <a:off x="5410200" y="2029955"/>
            <a:ext cx="3124200" cy="4218445"/>
          </a:xfrm>
          <a:prstGeom prst="rect">
            <a:avLst/>
          </a:prstGeom>
          <a:noFill/>
          <a:ln cap="flat" cmpd="sng" w="19050">
            <a:solidFill>
              <a:schemeClr val="dk1"/>
            </a:solidFill>
            <a:prstDash val="solid"/>
            <a:miter lim="800000"/>
            <a:headEnd len="sm" w="sm" type="none"/>
            <a:tailEnd len="sm" w="sm" type="none"/>
          </a:ln>
        </p:spPr>
      </p:pic>
      <p:sp>
        <p:nvSpPr>
          <p:cNvPr id="161" name="Google Shape;161;p8"/>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1</a:t>
            </a:r>
            <a:endParaRPr b="1" i="1" sz="1600">
              <a:solidFill>
                <a:schemeClr val="lt2"/>
              </a:solidFill>
              <a:latin typeface="Arial"/>
              <a:ea typeface="Arial"/>
              <a:cs typeface="Arial"/>
              <a:sym typeface="Arial"/>
            </a:endParaRPr>
          </a:p>
        </p:txBody>
      </p:sp>
      <p:sp>
        <p:nvSpPr>
          <p:cNvPr id="162" name="Google Shape;162;p8"/>
          <p:cNvSpPr txBox="1"/>
          <p:nvPr/>
        </p:nvSpPr>
        <p:spPr>
          <a:xfrm>
            <a:off x="1066800" y="4090481"/>
            <a:ext cx="3429000" cy="938719"/>
          </a:xfrm>
          <a:prstGeom prst="rect">
            <a:avLst/>
          </a:prstGeom>
          <a:solidFill>
            <a:schemeClr val="lt1"/>
          </a:solidFill>
          <a:ln cap="sq" cmpd="sng" w="2857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25000"/>
              </a:lnSpc>
              <a:spcBef>
                <a:spcPts val="0"/>
              </a:spcBef>
              <a:spcAft>
                <a:spcPts val="0"/>
              </a:spcAft>
              <a:buNone/>
            </a:pPr>
            <a:r>
              <a:rPr b="1" lang="en-US" sz="2200">
                <a:solidFill>
                  <a:schemeClr val="dk1"/>
                </a:solidFill>
                <a:latin typeface="Arial"/>
                <a:ea typeface="Arial"/>
                <a:cs typeface="Arial"/>
                <a:sym typeface="Arial"/>
              </a:rPr>
              <a:t>“Let the expenses follow the revenues.”</a:t>
            </a:r>
            <a:endParaRPr/>
          </a:p>
        </p:txBody>
      </p:sp>
    </p:spTree>
  </p:cSld>
  <p:clrMapOvr>
    <a:masterClrMapping/>
  </p:clrMapOvr>
  <p:transition>
    <p:wipe dir="r"/>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pic>
        <p:nvPicPr>
          <p:cNvPr id="167" name="Google Shape;167;p9"/>
          <p:cNvPicPr preferRelativeResize="0"/>
          <p:nvPr/>
        </p:nvPicPr>
        <p:blipFill rotWithShape="1">
          <a:blip r:embed="rId3">
            <a:alphaModFix/>
          </a:blip>
          <a:srcRect b="0" l="0" r="0" t="0"/>
          <a:stretch/>
        </p:blipFill>
        <p:spPr>
          <a:xfrm>
            <a:off x="685800" y="635000"/>
            <a:ext cx="7734107" cy="5461000"/>
          </a:xfrm>
          <a:prstGeom prst="rect">
            <a:avLst/>
          </a:prstGeom>
          <a:noFill/>
          <a:ln>
            <a:noFill/>
          </a:ln>
        </p:spPr>
      </p:pic>
      <p:sp>
        <p:nvSpPr>
          <p:cNvPr id="168" name="Google Shape;168;p9"/>
          <p:cNvSpPr/>
          <p:nvPr/>
        </p:nvSpPr>
        <p:spPr>
          <a:xfrm>
            <a:off x="6858000" y="381000"/>
            <a:ext cx="1981200" cy="828432"/>
          </a:xfrm>
          <a:prstGeom prst="rect">
            <a:avLst/>
          </a:prstGeom>
          <a:noFill/>
          <a:ln>
            <a:noFill/>
          </a:ln>
        </p:spPr>
        <p:txBody>
          <a:bodyPr anchorCtr="0" anchor="t" bIns="44450" lIns="90475" spcFirstLastPara="1" rIns="90475" wrap="square" tIns="4445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3-1 </a:t>
            </a:r>
            <a:endParaRPr/>
          </a:p>
          <a:p>
            <a:pPr indent="0" lvl="0" marL="0" marR="0" rtl="0" algn="l">
              <a:spcBef>
                <a:spcPts val="0"/>
              </a:spcBef>
              <a:spcAft>
                <a:spcPts val="0"/>
              </a:spcAft>
              <a:buNone/>
            </a:pPr>
            <a:r>
              <a:rPr b="0" lang="en-US" sz="1200">
                <a:solidFill>
                  <a:schemeClr val="dk1"/>
                </a:solidFill>
                <a:latin typeface="Arial"/>
                <a:ea typeface="Arial"/>
                <a:cs typeface="Arial"/>
                <a:sym typeface="Arial"/>
              </a:rPr>
              <a:t>GAAP relationships in revenue and expense recognition</a:t>
            </a:r>
            <a:endParaRPr/>
          </a:p>
        </p:txBody>
      </p:sp>
      <p:sp>
        <p:nvSpPr>
          <p:cNvPr id="169" name="Google Shape;169;p9"/>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1</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0"/>
          <p:cNvSpPr/>
          <p:nvPr/>
        </p:nvSpPr>
        <p:spPr>
          <a:xfrm>
            <a:off x="533400" y="1860550"/>
            <a:ext cx="8382000" cy="4419600"/>
          </a:xfrm>
          <a:prstGeom prst="rect">
            <a:avLst/>
          </a:prstGeom>
          <a:solidFill>
            <a:schemeClr val="lt1"/>
          </a:solidFill>
          <a:ln>
            <a:noFill/>
          </a:ln>
        </p:spPr>
        <p:txBody>
          <a:bodyPr anchorCtr="0" anchor="t" bIns="46025" lIns="182550" spcFirstLastPara="1" rIns="182550" wrap="square" tIns="46025">
            <a:noAutofit/>
          </a:bodyPr>
          <a:lstStyle/>
          <a:p>
            <a:pPr indent="0" lvl="0" marL="0" marR="0" rtl="0" algn="l">
              <a:lnSpc>
                <a:spcPct val="120000"/>
              </a:lnSpc>
              <a:spcBef>
                <a:spcPts val="0"/>
              </a:spcBef>
              <a:spcAft>
                <a:spcPts val="0"/>
              </a:spcAft>
              <a:buClr>
                <a:schemeClr val="dk1"/>
              </a:buClr>
              <a:buSzPts val="2100"/>
              <a:buFont typeface="Noto Sans Symbols"/>
              <a:buNone/>
            </a:pPr>
            <a:r>
              <a:rPr b="0" lang="en-US" sz="2100">
                <a:solidFill>
                  <a:schemeClr val="dk1"/>
                </a:solidFill>
                <a:latin typeface="Arial"/>
                <a:ea typeface="Arial"/>
                <a:cs typeface="Arial"/>
                <a:sym typeface="Arial"/>
              </a:rPr>
              <a:t>One of the following statements about the accrual basis of accounting is </a:t>
            </a:r>
            <a:r>
              <a:rPr b="0" i="1" lang="en-US" sz="2100">
                <a:solidFill>
                  <a:schemeClr val="dk1"/>
                </a:solidFill>
                <a:latin typeface="Arial"/>
                <a:ea typeface="Arial"/>
                <a:cs typeface="Arial"/>
                <a:sym typeface="Arial"/>
              </a:rPr>
              <a:t>false?</a:t>
            </a:r>
            <a:r>
              <a:rPr b="0" lang="en-US" sz="2100">
                <a:solidFill>
                  <a:schemeClr val="dk1"/>
                </a:solidFill>
                <a:latin typeface="Arial"/>
                <a:ea typeface="Arial"/>
                <a:cs typeface="Arial"/>
                <a:sym typeface="Arial"/>
              </a:rPr>
              <a:t>  That statement is:	</a:t>
            </a:r>
            <a:endParaRPr/>
          </a:p>
          <a:p>
            <a:pPr indent="-457200" lvl="1" marL="685800" marR="0" rtl="0" algn="l">
              <a:lnSpc>
                <a:spcPct val="120000"/>
              </a:lnSpc>
              <a:spcBef>
                <a:spcPts val="840"/>
              </a:spcBef>
              <a:spcAft>
                <a:spcPts val="0"/>
              </a:spcAft>
              <a:buClr>
                <a:schemeClr val="dk1"/>
              </a:buClr>
              <a:buSzPts val="2100"/>
              <a:buFont typeface="Noto Sans Symbols"/>
              <a:buAutoNum type="alphaLcPeriod"/>
            </a:pPr>
            <a:r>
              <a:rPr b="0" i="0" lang="en-US" sz="2100" u="none" cap="none" strike="noStrike">
                <a:solidFill>
                  <a:schemeClr val="dk1"/>
                </a:solidFill>
                <a:latin typeface="Arial"/>
                <a:ea typeface="Arial"/>
                <a:cs typeface="Arial"/>
                <a:sym typeface="Arial"/>
              </a:rPr>
              <a:t>Events that change a company’s financial statements are recorded in the periods in which the events occur.</a:t>
            </a:r>
            <a:endParaRPr/>
          </a:p>
          <a:p>
            <a:pPr indent="-457200" lvl="1" marL="685800" marR="0" rtl="0" algn="l">
              <a:lnSpc>
                <a:spcPct val="120000"/>
              </a:lnSpc>
              <a:spcBef>
                <a:spcPts val="840"/>
              </a:spcBef>
              <a:spcAft>
                <a:spcPts val="0"/>
              </a:spcAft>
              <a:buClr>
                <a:schemeClr val="dk1"/>
              </a:buClr>
              <a:buSzPts val="2100"/>
              <a:buFont typeface="Noto Sans Symbols"/>
              <a:buAutoNum type="alphaLcPeriod"/>
            </a:pPr>
            <a:r>
              <a:rPr b="0" i="0" lang="en-US" sz="2100" u="none" cap="none" strike="noStrike">
                <a:solidFill>
                  <a:schemeClr val="dk1"/>
                </a:solidFill>
                <a:latin typeface="Arial"/>
                <a:ea typeface="Arial"/>
                <a:cs typeface="Arial"/>
                <a:sym typeface="Arial"/>
              </a:rPr>
              <a:t>Revenue is recognized in the period in which the performance obligation is satisfied.</a:t>
            </a:r>
            <a:endParaRPr/>
          </a:p>
          <a:p>
            <a:pPr indent="-457200" lvl="1" marL="685800" marR="0" rtl="0" algn="l">
              <a:lnSpc>
                <a:spcPct val="120000"/>
              </a:lnSpc>
              <a:spcBef>
                <a:spcPts val="840"/>
              </a:spcBef>
              <a:spcAft>
                <a:spcPts val="0"/>
              </a:spcAft>
              <a:buClr>
                <a:schemeClr val="dk1"/>
              </a:buClr>
              <a:buSzPts val="2100"/>
              <a:buFont typeface="Noto Sans Symbols"/>
              <a:buAutoNum type="alphaLcPeriod"/>
            </a:pPr>
            <a:r>
              <a:rPr b="0" i="0" lang="en-US" sz="2100" u="none" cap="none" strike="noStrike">
                <a:solidFill>
                  <a:schemeClr val="dk1"/>
                </a:solidFill>
                <a:latin typeface="Arial"/>
                <a:ea typeface="Arial"/>
                <a:cs typeface="Arial"/>
                <a:sym typeface="Arial"/>
              </a:rPr>
              <a:t>The accrual basis of accounting is in accord with generally accepted accounting principles.</a:t>
            </a:r>
            <a:endParaRPr/>
          </a:p>
          <a:p>
            <a:pPr indent="-457200" lvl="1" marL="685800" marR="0" rtl="0" algn="l">
              <a:lnSpc>
                <a:spcPct val="120000"/>
              </a:lnSpc>
              <a:spcBef>
                <a:spcPts val="840"/>
              </a:spcBef>
              <a:spcAft>
                <a:spcPts val="0"/>
              </a:spcAft>
              <a:buClr>
                <a:schemeClr val="dk1"/>
              </a:buClr>
              <a:buSzPts val="2100"/>
              <a:buFont typeface="Noto Sans Symbols"/>
              <a:buAutoNum type="alphaLcPeriod"/>
            </a:pPr>
            <a:r>
              <a:rPr b="0" i="0" lang="en-US" sz="2100" u="none" cap="none" strike="noStrike">
                <a:solidFill>
                  <a:schemeClr val="dk1"/>
                </a:solidFill>
                <a:latin typeface="Arial"/>
                <a:ea typeface="Arial"/>
                <a:cs typeface="Arial"/>
                <a:sym typeface="Arial"/>
              </a:rPr>
              <a:t>Revenue is recorded only when cash is received, and expenses are recorded only when cash is paid.</a:t>
            </a:r>
            <a:endParaRPr/>
          </a:p>
        </p:txBody>
      </p:sp>
      <p:cxnSp>
        <p:nvCxnSpPr>
          <p:cNvPr id="175" name="Google Shape;175;p10"/>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176" name="Google Shape;176;p10"/>
          <p:cNvSpPr/>
          <p:nvPr/>
        </p:nvSpPr>
        <p:spPr>
          <a:xfrm>
            <a:off x="609600" y="1295400"/>
            <a:ext cx="5334000" cy="5540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000">
                <a:solidFill>
                  <a:srgbClr val="800000"/>
                </a:solidFill>
                <a:latin typeface="Arial"/>
                <a:ea typeface="Arial"/>
                <a:cs typeface="Arial"/>
                <a:sym typeface="Arial"/>
              </a:rPr>
              <a:t>Question</a:t>
            </a:r>
            <a:endParaRPr/>
          </a:p>
        </p:txBody>
      </p:sp>
      <p:sp>
        <p:nvSpPr>
          <p:cNvPr id="177" name="Google Shape;177;p10"/>
          <p:cNvSpPr/>
          <p:nvPr/>
        </p:nvSpPr>
        <p:spPr>
          <a:xfrm>
            <a:off x="609600" y="304800"/>
            <a:ext cx="82296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Recognizing Revenues and Expenses</a:t>
            </a:r>
            <a:endParaRPr/>
          </a:p>
        </p:txBody>
      </p:sp>
      <p:sp>
        <p:nvSpPr>
          <p:cNvPr id="178" name="Google Shape;178;p10"/>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1</a:t>
            </a:r>
            <a:endParaRPr b="1" i="1" sz="1600">
              <a:solidFill>
                <a:schemeClr val="lt2"/>
              </a:solidFill>
              <a:latin typeface="Arial"/>
              <a:ea typeface="Arial"/>
              <a:cs typeface="Arial"/>
              <a:sym typeface="Arial"/>
            </a:endParaRPr>
          </a:p>
        </p:txBody>
      </p:sp>
      <p:sp>
        <p:nvSpPr>
          <p:cNvPr id="179" name="Google Shape;179;p10"/>
          <p:cNvSpPr/>
          <p:nvPr/>
        </p:nvSpPr>
        <p:spPr>
          <a:xfrm>
            <a:off x="228600" y="5486400"/>
            <a:ext cx="609600" cy="457200"/>
          </a:xfrm>
          <a:prstGeom prst="notchedRightArrow">
            <a:avLst>
              <a:gd fmla="val 50000" name="adj1"/>
              <a:gd fmla="val 50000" name="adj2"/>
            </a:avLst>
          </a:prstGeom>
          <a:solidFill>
            <a:srgbClr val="A50021"/>
          </a:solidFill>
          <a:ln cap="sq"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b="1" sz="2400">
              <a:solidFill>
                <a:srgbClr val="730000"/>
              </a:solidFill>
              <a:latin typeface="Comic Sans MS"/>
              <a:ea typeface="Comic Sans MS"/>
              <a:cs typeface="Comic Sans MS"/>
              <a:sym typeface="Comic Sans MS"/>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gtEl>
                                        <p:attrNameLst>
                                          <p:attrName>style.visibility</p:attrName>
                                        </p:attrNameLst>
                                      </p:cBhvr>
                                      <p:to>
                                        <p:strVal val="visible"/>
                                      </p:to>
                                    </p:set>
                                    <p:animEffect filter="fade" transition="in">
                                      <p:cBhvr>
                                        <p:cTn dur="500"/>
                                        <p:tgtEl>
                                          <p:spTgt spid="1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1"/>
          <p:cNvSpPr/>
          <p:nvPr/>
        </p:nvSpPr>
        <p:spPr>
          <a:xfrm>
            <a:off x="6172200" y="4167188"/>
            <a:ext cx="1828800" cy="2286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imes New Roman"/>
              <a:ea typeface="Times New Roman"/>
              <a:cs typeface="Times New Roman"/>
              <a:sym typeface="Times New Roman"/>
            </a:endParaRPr>
          </a:p>
        </p:txBody>
      </p:sp>
      <p:pic>
        <p:nvPicPr>
          <p:cNvPr id="185" name="Google Shape;185;p11"/>
          <p:cNvPicPr preferRelativeResize="0"/>
          <p:nvPr/>
        </p:nvPicPr>
        <p:blipFill rotWithShape="1">
          <a:blip r:embed="rId3">
            <a:alphaModFix/>
          </a:blip>
          <a:srcRect b="0" l="0" r="0" t="0"/>
          <a:stretch/>
        </p:blipFill>
        <p:spPr>
          <a:xfrm>
            <a:off x="304801" y="947738"/>
            <a:ext cx="8458199" cy="3875745"/>
          </a:xfrm>
          <a:prstGeom prst="rect">
            <a:avLst/>
          </a:prstGeom>
          <a:noFill/>
          <a:ln>
            <a:noFill/>
          </a:ln>
        </p:spPr>
      </p:pic>
      <p:sp>
        <p:nvSpPr>
          <p:cNvPr id="186" name="Google Shape;186;p11"/>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1</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2"/>
          <p:cNvSpPr txBox="1"/>
          <p:nvPr/>
        </p:nvSpPr>
        <p:spPr>
          <a:xfrm>
            <a:off x="609600" y="1298575"/>
            <a:ext cx="7848600" cy="432246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Clr>
                <a:srgbClr val="800000"/>
              </a:buClr>
              <a:buSzPts val="2240"/>
              <a:buFont typeface="Noto Sans Symbols"/>
              <a:buNone/>
            </a:pPr>
            <a:r>
              <a:rPr b="1" lang="en-US" sz="2800">
                <a:solidFill>
                  <a:srgbClr val="0000BF"/>
                </a:solidFill>
                <a:latin typeface="Arial"/>
                <a:ea typeface="Arial"/>
                <a:cs typeface="Arial"/>
                <a:sym typeface="Arial"/>
              </a:rPr>
              <a:t>Adjusting Entries</a:t>
            </a:r>
            <a:endParaRPr/>
          </a:p>
          <a:p>
            <a:pPr indent="-457200" lvl="1" marL="685800" marR="0" rtl="0" algn="l">
              <a:lnSpc>
                <a:spcPct val="120000"/>
              </a:lnSpc>
              <a:spcBef>
                <a:spcPts val="1050"/>
              </a:spcBef>
              <a:spcAft>
                <a:spcPts val="0"/>
              </a:spcAft>
              <a:buClr>
                <a:srgbClr val="800000"/>
              </a:buClr>
              <a:buSzPts val="1680"/>
              <a:buFont typeface="Noto Sans Symbols"/>
              <a:buChar char="◆"/>
            </a:pPr>
            <a:r>
              <a:rPr b="0" i="0" lang="en-US" sz="2100" u="none" cap="none" strike="noStrike">
                <a:solidFill>
                  <a:schemeClr val="dk1"/>
                </a:solidFill>
                <a:latin typeface="Arial"/>
                <a:ea typeface="Arial"/>
                <a:cs typeface="Arial"/>
                <a:sym typeface="Arial"/>
              </a:rPr>
              <a:t>Ensure that the </a:t>
            </a:r>
            <a:r>
              <a:rPr b="1" i="0" lang="en-US" sz="2100" u="none" cap="none" strike="noStrike">
                <a:solidFill>
                  <a:schemeClr val="dk1"/>
                </a:solidFill>
                <a:latin typeface="Arial"/>
                <a:ea typeface="Arial"/>
                <a:cs typeface="Arial"/>
                <a:sym typeface="Arial"/>
              </a:rPr>
              <a:t>revenue recognition</a:t>
            </a:r>
            <a:r>
              <a:rPr b="0" i="0" lang="en-US" sz="2100" u="none" cap="none" strike="noStrike">
                <a:solidFill>
                  <a:schemeClr val="dk1"/>
                </a:solidFill>
                <a:latin typeface="Arial"/>
                <a:ea typeface="Arial"/>
                <a:cs typeface="Arial"/>
                <a:sym typeface="Arial"/>
              </a:rPr>
              <a:t> and </a:t>
            </a:r>
            <a:r>
              <a:rPr b="1" i="0" lang="en-US" sz="2100" u="none" cap="none" strike="noStrike">
                <a:solidFill>
                  <a:schemeClr val="dk1"/>
                </a:solidFill>
                <a:latin typeface="Arial"/>
                <a:ea typeface="Arial"/>
                <a:cs typeface="Arial"/>
                <a:sym typeface="Arial"/>
              </a:rPr>
              <a:t>expense recognition</a:t>
            </a:r>
            <a:r>
              <a:rPr b="0" i="0" lang="en-US" sz="2100" u="none" cap="none" strike="noStrike">
                <a:solidFill>
                  <a:schemeClr val="dk1"/>
                </a:solidFill>
                <a:latin typeface="Arial"/>
                <a:ea typeface="Arial"/>
                <a:cs typeface="Arial"/>
                <a:sym typeface="Arial"/>
              </a:rPr>
              <a:t> principles are followed.</a:t>
            </a:r>
            <a:endParaRPr/>
          </a:p>
          <a:p>
            <a:pPr indent="-457200" lvl="1" marL="685800" marR="0" rtl="0" algn="l">
              <a:lnSpc>
                <a:spcPct val="120000"/>
              </a:lnSpc>
              <a:spcBef>
                <a:spcPts val="1050"/>
              </a:spcBef>
              <a:spcAft>
                <a:spcPts val="0"/>
              </a:spcAft>
              <a:buClr>
                <a:srgbClr val="800000"/>
              </a:buClr>
              <a:buSzPts val="1680"/>
              <a:buFont typeface="Noto Sans Symbols"/>
              <a:buChar char="◆"/>
            </a:pPr>
            <a:r>
              <a:rPr b="0" i="0" lang="en-US" sz="2100" u="none" cap="none" strike="noStrike">
                <a:solidFill>
                  <a:schemeClr val="dk1"/>
                </a:solidFill>
                <a:latin typeface="Arial"/>
                <a:ea typeface="Arial"/>
                <a:cs typeface="Arial"/>
                <a:sym typeface="Arial"/>
              </a:rPr>
              <a:t>Necessary because the </a:t>
            </a:r>
            <a:r>
              <a:rPr b="1" i="0" lang="en-US" sz="2100" u="none" cap="none" strike="noStrike">
                <a:solidFill>
                  <a:schemeClr val="dk1"/>
                </a:solidFill>
                <a:latin typeface="Arial"/>
                <a:ea typeface="Arial"/>
                <a:cs typeface="Arial"/>
                <a:sym typeface="Arial"/>
              </a:rPr>
              <a:t>trial balance may not contain up-to-date</a:t>
            </a:r>
            <a:r>
              <a:rPr b="0" i="0" lang="en-US" sz="2100" u="none" cap="none" strike="noStrike">
                <a:solidFill>
                  <a:schemeClr val="dk1"/>
                </a:solidFill>
                <a:latin typeface="Arial"/>
                <a:ea typeface="Arial"/>
                <a:cs typeface="Arial"/>
                <a:sym typeface="Arial"/>
              </a:rPr>
              <a:t> and complete data.</a:t>
            </a:r>
            <a:endParaRPr/>
          </a:p>
          <a:p>
            <a:pPr indent="-457200" lvl="1" marL="685800" marR="0" rtl="0" algn="l">
              <a:lnSpc>
                <a:spcPct val="120000"/>
              </a:lnSpc>
              <a:spcBef>
                <a:spcPts val="1050"/>
              </a:spcBef>
              <a:spcAft>
                <a:spcPts val="0"/>
              </a:spcAft>
              <a:buClr>
                <a:srgbClr val="800000"/>
              </a:buClr>
              <a:buSzPts val="1680"/>
              <a:buFont typeface="Noto Sans Symbols"/>
              <a:buChar char="◆"/>
            </a:pPr>
            <a:r>
              <a:rPr b="1" i="0" lang="en-US" sz="2100" u="none" cap="none" strike="noStrike">
                <a:solidFill>
                  <a:schemeClr val="dk1"/>
                </a:solidFill>
                <a:latin typeface="Arial"/>
                <a:ea typeface="Arial"/>
                <a:cs typeface="Arial"/>
                <a:sym typeface="Arial"/>
              </a:rPr>
              <a:t>Required</a:t>
            </a:r>
            <a:r>
              <a:rPr b="0" i="0" lang="en-US" sz="2100" u="none" cap="none" strike="noStrike">
                <a:solidFill>
                  <a:schemeClr val="dk1"/>
                </a:solidFill>
                <a:latin typeface="Arial"/>
                <a:ea typeface="Arial"/>
                <a:cs typeface="Arial"/>
                <a:sym typeface="Arial"/>
              </a:rPr>
              <a:t> every time a company prepares financial statements.</a:t>
            </a:r>
            <a:endParaRPr/>
          </a:p>
          <a:p>
            <a:pPr indent="-457200" lvl="1" marL="685800" marR="0" rtl="0" algn="l">
              <a:lnSpc>
                <a:spcPct val="120000"/>
              </a:lnSpc>
              <a:spcBef>
                <a:spcPts val="1050"/>
              </a:spcBef>
              <a:spcAft>
                <a:spcPts val="0"/>
              </a:spcAft>
              <a:buClr>
                <a:srgbClr val="800000"/>
              </a:buClr>
              <a:buSzPts val="1680"/>
              <a:buFont typeface="Noto Sans Symbols"/>
              <a:buChar char="◆"/>
            </a:pPr>
            <a:r>
              <a:rPr b="0" i="0" lang="en-US" sz="2100" u="none" cap="none" strike="noStrike">
                <a:solidFill>
                  <a:schemeClr val="dk1"/>
                </a:solidFill>
                <a:latin typeface="Arial"/>
                <a:ea typeface="Arial"/>
                <a:cs typeface="Arial"/>
                <a:sym typeface="Arial"/>
              </a:rPr>
              <a:t>Will include </a:t>
            </a:r>
            <a:r>
              <a:rPr b="1" i="0" lang="en-US" sz="2100" u="none" cap="none" strike="noStrike">
                <a:solidFill>
                  <a:schemeClr val="dk1"/>
                </a:solidFill>
                <a:latin typeface="Arial"/>
                <a:ea typeface="Arial"/>
                <a:cs typeface="Arial"/>
                <a:sym typeface="Arial"/>
              </a:rPr>
              <a:t>one income statement account</a:t>
            </a:r>
            <a:r>
              <a:rPr b="0" i="0" lang="en-US" sz="2100" u="none" cap="none" strike="noStrike">
                <a:solidFill>
                  <a:schemeClr val="dk1"/>
                </a:solidFill>
                <a:latin typeface="Arial"/>
                <a:ea typeface="Arial"/>
                <a:cs typeface="Arial"/>
                <a:sym typeface="Arial"/>
              </a:rPr>
              <a:t> and </a:t>
            </a:r>
            <a:r>
              <a:rPr b="1" i="0" lang="en-US" sz="2100" u="none" cap="none" strike="noStrike">
                <a:solidFill>
                  <a:schemeClr val="dk1"/>
                </a:solidFill>
                <a:latin typeface="Arial"/>
                <a:ea typeface="Arial"/>
                <a:cs typeface="Arial"/>
                <a:sym typeface="Arial"/>
              </a:rPr>
              <a:t>one balance sheet account</a:t>
            </a:r>
            <a:r>
              <a:rPr b="0" i="0" lang="en-US" sz="2100" u="none" cap="none" strike="noStrike">
                <a:solidFill>
                  <a:schemeClr val="dk1"/>
                </a:solidFill>
                <a:latin typeface="Arial"/>
                <a:ea typeface="Arial"/>
                <a:cs typeface="Arial"/>
                <a:sym typeface="Arial"/>
              </a:rPr>
              <a:t>.</a:t>
            </a:r>
            <a:endParaRPr/>
          </a:p>
        </p:txBody>
      </p:sp>
      <p:cxnSp>
        <p:nvCxnSpPr>
          <p:cNvPr id="192" name="Google Shape;192;p12"/>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193" name="Google Shape;193;p12"/>
          <p:cNvSpPr/>
          <p:nvPr/>
        </p:nvSpPr>
        <p:spPr>
          <a:xfrm>
            <a:off x="609600" y="304800"/>
            <a:ext cx="82296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The Need for Adjusting Entries</a:t>
            </a:r>
            <a:endParaRPr b="1" sz="3200">
              <a:solidFill>
                <a:srgbClr val="0000BF"/>
              </a:solidFill>
              <a:latin typeface="Arial"/>
              <a:ea typeface="Arial"/>
              <a:cs typeface="Arial"/>
              <a:sym typeface="Arial"/>
            </a:endParaRPr>
          </a:p>
        </p:txBody>
      </p:sp>
      <p:sp>
        <p:nvSpPr>
          <p:cNvPr id="194" name="Google Shape;194;p12"/>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1</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3"/>
          <p:cNvSpPr/>
          <p:nvPr/>
        </p:nvSpPr>
        <p:spPr>
          <a:xfrm>
            <a:off x="533400" y="1905000"/>
            <a:ext cx="7696200" cy="4038600"/>
          </a:xfrm>
          <a:prstGeom prst="rect">
            <a:avLst/>
          </a:prstGeom>
          <a:solidFill>
            <a:schemeClr val="lt1"/>
          </a:solidFill>
          <a:ln>
            <a:noFill/>
          </a:ln>
        </p:spPr>
        <p:txBody>
          <a:bodyPr anchorCtr="0" anchor="t" bIns="46025" lIns="182550" spcFirstLastPara="1" rIns="182550" wrap="square" tIns="46025">
            <a:noAutofit/>
          </a:bodyPr>
          <a:lstStyle/>
          <a:p>
            <a:pPr indent="-457200" lvl="0" marL="457200" marR="0" rtl="0" algn="l">
              <a:lnSpc>
                <a:spcPct val="110000"/>
              </a:lnSpc>
              <a:spcBef>
                <a:spcPts val="0"/>
              </a:spcBef>
              <a:spcAft>
                <a:spcPts val="0"/>
              </a:spcAft>
              <a:buClr>
                <a:schemeClr val="accent2"/>
              </a:buClr>
              <a:buSzPts val="1725"/>
              <a:buFont typeface="Noto Sans Symbols"/>
              <a:buNone/>
            </a:pPr>
            <a:r>
              <a:rPr b="0" lang="en-US" sz="2300">
                <a:solidFill>
                  <a:schemeClr val="dk1"/>
                </a:solidFill>
                <a:latin typeface="Arial"/>
                <a:ea typeface="Arial"/>
                <a:cs typeface="Arial"/>
                <a:sym typeface="Arial"/>
              </a:rPr>
              <a:t>Adjusting entries are made to ensure that:</a:t>
            </a:r>
            <a:endParaRPr/>
          </a:p>
          <a:p>
            <a:pPr indent="-457200" lvl="1" marL="685800" marR="0" rtl="0" algn="l">
              <a:lnSpc>
                <a:spcPct val="110000"/>
              </a:lnSpc>
              <a:spcBef>
                <a:spcPts val="920"/>
              </a:spcBef>
              <a:spcAft>
                <a:spcPts val="0"/>
              </a:spcAft>
              <a:buClr>
                <a:schemeClr val="dk1"/>
              </a:buClr>
              <a:buSzPts val="2300"/>
              <a:buFont typeface="Noto Sans Symbols"/>
              <a:buAutoNum type="alphaLcPeriod"/>
            </a:pPr>
            <a:r>
              <a:rPr b="0" i="0" lang="en-US" sz="2300" u="none" cap="none" strike="noStrike">
                <a:solidFill>
                  <a:schemeClr val="dk1"/>
                </a:solidFill>
                <a:latin typeface="Arial"/>
                <a:ea typeface="Arial"/>
                <a:cs typeface="Arial"/>
                <a:sym typeface="Arial"/>
              </a:rPr>
              <a:t>expenses are recognized in the period in which they are incurred.</a:t>
            </a:r>
            <a:endParaRPr/>
          </a:p>
          <a:p>
            <a:pPr indent="-457200" lvl="1" marL="685800" marR="0" rtl="0" algn="l">
              <a:lnSpc>
                <a:spcPct val="110000"/>
              </a:lnSpc>
              <a:spcBef>
                <a:spcPts val="920"/>
              </a:spcBef>
              <a:spcAft>
                <a:spcPts val="0"/>
              </a:spcAft>
              <a:buClr>
                <a:schemeClr val="dk1"/>
              </a:buClr>
              <a:buSzPts val="2300"/>
              <a:buFont typeface="Noto Sans Symbols"/>
              <a:buAutoNum type="alphaLcPeriod"/>
            </a:pPr>
            <a:r>
              <a:rPr b="0" i="0" lang="en-US" sz="2300" u="none" cap="none" strike="noStrike">
                <a:solidFill>
                  <a:schemeClr val="dk1"/>
                </a:solidFill>
                <a:latin typeface="Arial"/>
                <a:ea typeface="Arial"/>
                <a:cs typeface="Arial"/>
                <a:sym typeface="Arial"/>
              </a:rPr>
              <a:t>revenues are recorded in the period in which services are performed.</a:t>
            </a:r>
            <a:endParaRPr/>
          </a:p>
          <a:p>
            <a:pPr indent="-457200" lvl="1" marL="685800" marR="0" rtl="0" algn="l">
              <a:lnSpc>
                <a:spcPct val="110000"/>
              </a:lnSpc>
              <a:spcBef>
                <a:spcPts val="920"/>
              </a:spcBef>
              <a:spcAft>
                <a:spcPts val="0"/>
              </a:spcAft>
              <a:buClr>
                <a:schemeClr val="dk1"/>
              </a:buClr>
              <a:buSzPts val="2300"/>
              <a:buFont typeface="Noto Sans Symbols"/>
              <a:buAutoNum type="alphaLcPeriod"/>
            </a:pPr>
            <a:r>
              <a:rPr b="0" i="0" lang="en-US" sz="2300" u="none" cap="none" strike="noStrike">
                <a:solidFill>
                  <a:schemeClr val="dk1"/>
                </a:solidFill>
                <a:latin typeface="Arial"/>
                <a:ea typeface="Arial"/>
                <a:cs typeface="Arial"/>
                <a:sym typeface="Arial"/>
              </a:rPr>
              <a:t>balance sheet and income statement accounts have correct balances at the end of an accounting period.</a:t>
            </a:r>
            <a:endParaRPr/>
          </a:p>
          <a:p>
            <a:pPr indent="-457200" lvl="1" marL="685800" marR="0" rtl="0" algn="l">
              <a:lnSpc>
                <a:spcPct val="110000"/>
              </a:lnSpc>
              <a:spcBef>
                <a:spcPts val="920"/>
              </a:spcBef>
              <a:spcAft>
                <a:spcPts val="0"/>
              </a:spcAft>
              <a:buClr>
                <a:schemeClr val="dk1"/>
              </a:buClr>
              <a:buSzPts val="2300"/>
              <a:buFont typeface="Noto Sans Symbols"/>
              <a:buAutoNum type="alphaLcPeriod"/>
            </a:pPr>
            <a:r>
              <a:rPr b="0" i="0" lang="en-US" sz="2300" u="none" cap="none" strike="noStrike">
                <a:solidFill>
                  <a:schemeClr val="dk1"/>
                </a:solidFill>
                <a:latin typeface="Arial"/>
                <a:ea typeface="Arial"/>
                <a:cs typeface="Arial"/>
                <a:sym typeface="Arial"/>
              </a:rPr>
              <a:t>all of the above.</a:t>
            </a:r>
            <a:endParaRPr/>
          </a:p>
        </p:txBody>
      </p:sp>
      <p:cxnSp>
        <p:nvCxnSpPr>
          <p:cNvPr id="200" name="Google Shape;200;p13"/>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201" name="Google Shape;201;p13"/>
          <p:cNvSpPr/>
          <p:nvPr/>
        </p:nvSpPr>
        <p:spPr>
          <a:xfrm>
            <a:off x="609600" y="1295400"/>
            <a:ext cx="5334000" cy="5540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000">
                <a:solidFill>
                  <a:srgbClr val="800000"/>
                </a:solidFill>
                <a:latin typeface="Arial"/>
                <a:ea typeface="Arial"/>
                <a:cs typeface="Arial"/>
                <a:sym typeface="Arial"/>
              </a:rPr>
              <a:t>Question</a:t>
            </a:r>
            <a:endParaRPr/>
          </a:p>
        </p:txBody>
      </p:sp>
      <p:sp>
        <p:nvSpPr>
          <p:cNvPr id="202" name="Google Shape;202;p13"/>
          <p:cNvSpPr/>
          <p:nvPr/>
        </p:nvSpPr>
        <p:spPr>
          <a:xfrm>
            <a:off x="609600" y="304800"/>
            <a:ext cx="82296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The Need for Adjusting Entries</a:t>
            </a:r>
            <a:endParaRPr b="1" sz="3200">
              <a:solidFill>
                <a:srgbClr val="0000BF"/>
              </a:solidFill>
              <a:latin typeface="Arial"/>
              <a:ea typeface="Arial"/>
              <a:cs typeface="Arial"/>
              <a:sym typeface="Arial"/>
            </a:endParaRPr>
          </a:p>
        </p:txBody>
      </p:sp>
      <p:sp>
        <p:nvSpPr>
          <p:cNvPr id="203" name="Google Shape;203;p13"/>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1</a:t>
            </a:r>
            <a:endParaRPr b="1" i="1" sz="1600">
              <a:solidFill>
                <a:schemeClr val="lt2"/>
              </a:solidFill>
              <a:latin typeface="Arial"/>
              <a:ea typeface="Arial"/>
              <a:cs typeface="Arial"/>
              <a:sym typeface="Arial"/>
            </a:endParaRPr>
          </a:p>
        </p:txBody>
      </p:sp>
      <p:sp>
        <p:nvSpPr>
          <p:cNvPr id="204" name="Google Shape;204;p13"/>
          <p:cNvSpPr/>
          <p:nvPr/>
        </p:nvSpPr>
        <p:spPr>
          <a:xfrm>
            <a:off x="228600" y="5562600"/>
            <a:ext cx="609600" cy="457200"/>
          </a:xfrm>
          <a:prstGeom prst="notchedRightArrow">
            <a:avLst>
              <a:gd fmla="val 50000" name="adj1"/>
              <a:gd fmla="val 50000" name="adj2"/>
            </a:avLst>
          </a:prstGeom>
          <a:solidFill>
            <a:srgbClr val="A50021"/>
          </a:solidFill>
          <a:ln cap="sq"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b="1" sz="2400">
              <a:solidFill>
                <a:srgbClr val="730000"/>
              </a:solidFill>
              <a:latin typeface="Comic Sans MS"/>
              <a:ea typeface="Comic Sans MS"/>
              <a:cs typeface="Comic Sans MS"/>
              <a:sym typeface="Comic Sans MS"/>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gtEl>
                                        <p:attrNameLst>
                                          <p:attrName>style.visibility</p:attrName>
                                        </p:attrNameLst>
                                      </p:cBhvr>
                                      <p:to>
                                        <p:strVal val="visible"/>
                                      </p:to>
                                    </p:set>
                                    <p:animEffect filter="fade" transition="in">
                                      <p:cBhvr>
                                        <p:cTn dur="500"/>
                                        <p:tgtEl>
                                          <p:spTgt spid="2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4"/>
          <p:cNvSpPr/>
          <p:nvPr/>
        </p:nvSpPr>
        <p:spPr>
          <a:xfrm>
            <a:off x="6400800" y="1143000"/>
            <a:ext cx="2514600" cy="4572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3-2</a:t>
            </a:r>
            <a:endParaRPr/>
          </a:p>
          <a:p>
            <a:pPr indent="0" lvl="0" marL="0" marR="0" rtl="0" algn="l">
              <a:spcBef>
                <a:spcPts val="0"/>
              </a:spcBef>
              <a:spcAft>
                <a:spcPts val="0"/>
              </a:spcAft>
              <a:buNone/>
            </a:pPr>
            <a:r>
              <a:rPr b="1" lang="en-US" sz="1200">
                <a:solidFill>
                  <a:schemeClr val="dk1"/>
                </a:solidFill>
                <a:latin typeface="Arial"/>
                <a:ea typeface="Arial"/>
                <a:cs typeface="Arial"/>
                <a:sym typeface="Arial"/>
              </a:rPr>
              <a:t>Categories of adjusting entries</a:t>
            </a:r>
            <a:endParaRPr b="1" sz="1200">
              <a:solidFill>
                <a:srgbClr val="B00000"/>
              </a:solidFill>
              <a:latin typeface="Arial"/>
              <a:ea typeface="Arial"/>
              <a:cs typeface="Arial"/>
              <a:sym typeface="Arial"/>
            </a:endParaRPr>
          </a:p>
        </p:txBody>
      </p:sp>
      <p:cxnSp>
        <p:nvCxnSpPr>
          <p:cNvPr id="210" name="Google Shape;210;p14"/>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211" name="Google Shape;211;p14"/>
          <p:cNvSpPr/>
          <p:nvPr/>
        </p:nvSpPr>
        <p:spPr>
          <a:xfrm>
            <a:off x="457200" y="1676400"/>
            <a:ext cx="8305800" cy="3810000"/>
          </a:xfrm>
          <a:prstGeom prst="rect">
            <a:avLst/>
          </a:prstGeom>
          <a:solidFill>
            <a:srgbClr val="F9EFA9"/>
          </a:solidFill>
          <a:ln cap="sq"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Arial"/>
              <a:ea typeface="Arial"/>
              <a:cs typeface="Arial"/>
              <a:sym typeface="Arial"/>
            </a:endParaRPr>
          </a:p>
        </p:txBody>
      </p:sp>
      <p:sp>
        <p:nvSpPr>
          <p:cNvPr id="212" name="Google Shape;212;p14"/>
          <p:cNvSpPr/>
          <p:nvPr/>
        </p:nvSpPr>
        <p:spPr>
          <a:xfrm>
            <a:off x="609600" y="2362200"/>
            <a:ext cx="3810000" cy="1600200"/>
          </a:xfrm>
          <a:prstGeom prst="rect">
            <a:avLst/>
          </a:prstGeom>
          <a:noFill/>
          <a:ln>
            <a:noFill/>
          </a:ln>
        </p:spPr>
        <p:txBody>
          <a:bodyPr anchorCtr="0" anchor="t" bIns="45700" lIns="91425" spcFirstLastPara="1" rIns="91425" wrap="square" tIns="137150">
            <a:noAutofit/>
          </a:bodyPr>
          <a:lstStyle/>
          <a:p>
            <a:pPr indent="-346075" lvl="0" marL="346075" marR="0" rtl="0" algn="l">
              <a:lnSpc>
                <a:spcPct val="115000"/>
              </a:lnSpc>
              <a:spcBef>
                <a:spcPts val="0"/>
              </a:spcBef>
              <a:spcAft>
                <a:spcPts val="0"/>
              </a:spcAft>
              <a:buNone/>
            </a:pPr>
            <a:r>
              <a:rPr b="0" lang="en-US" sz="2000">
                <a:solidFill>
                  <a:schemeClr val="dk1"/>
                </a:solidFill>
                <a:latin typeface="Arial"/>
                <a:ea typeface="Arial"/>
                <a:cs typeface="Arial"/>
                <a:sym typeface="Arial"/>
              </a:rPr>
              <a:t>1.</a:t>
            </a:r>
            <a:r>
              <a:rPr b="1" lang="en-US" sz="2000">
                <a:solidFill>
                  <a:schemeClr val="accent2"/>
                </a:solidFill>
                <a:latin typeface="Arial"/>
                <a:ea typeface="Arial"/>
                <a:cs typeface="Arial"/>
                <a:sym typeface="Arial"/>
              </a:rPr>
              <a:t>	</a:t>
            </a:r>
            <a:r>
              <a:rPr b="1" lang="en-US" sz="2000">
                <a:solidFill>
                  <a:srgbClr val="990000"/>
                </a:solidFill>
                <a:latin typeface="Arial"/>
                <a:ea typeface="Arial"/>
                <a:cs typeface="Arial"/>
                <a:sym typeface="Arial"/>
              </a:rPr>
              <a:t>Prepaid Expenses.</a:t>
            </a:r>
            <a:r>
              <a:rPr b="1" lang="en-US" sz="2000">
                <a:solidFill>
                  <a:schemeClr val="accent2"/>
                </a:solidFill>
                <a:latin typeface="Arial"/>
                <a:ea typeface="Arial"/>
                <a:cs typeface="Arial"/>
                <a:sym typeface="Arial"/>
              </a:rPr>
              <a:t> </a:t>
            </a:r>
            <a:r>
              <a:rPr b="0" lang="en-US" sz="1900">
                <a:solidFill>
                  <a:schemeClr val="dk1"/>
                </a:solidFill>
                <a:latin typeface="Arial"/>
                <a:ea typeface="Arial"/>
                <a:cs typeface="Arial"/>
                <a:sym typeface="Arial"/>
              </a:rPr>
              <a:t>Expenses paid in cash before they are used or consumed.</a:t>
            </a:r>
            <a:endParaRPr/>
          </a:p>
        </p:txBody>
      </p:sp>
      <p:sp>
        <p:nvSpPr>
          <p:cNvPr id="213" name="Google Shape;213;p14"/>
          <p:cNvSpPr/>
          <p:nvPr/>
        </p:nvSpPr>
        <p:spPr>
          <a:xfrm>
            <a:off x="609600" y="1752600"/>
            <a:ext cx="289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400">
                <a:solidFill>
                  <a:schemeClr val="dk1"/>
                </a:solidFill>
                <a:latin typeface="Arial"/>
                <a:ea typeface="Arial"/>
                <a:cs typeface="Arial"/>
                <a:sym typeface="Arial"/>
              </a:rPr>
              <a:t>Deferrals</a:t>
            </a:r>
            <a:endParaRPr/>
          </a:p>
        </p:txBody>
      </p:sp>
      <p:sp>
        <p:nvSpPr>
          <p:cNvPr id="214" name="Google Shape;214;p14"/>
          <p:cNvSpPr/>
          <p:nvPr/>
        </p:nvSpPr>
        <p:spPr>
          <a:xfrm>
            <a:off x="4800600" y="2362200"/>
            <a:ext cx="3810000" cy="1600200"/>
          </a:xfrm>
          <a:prstGeom prst="rect">
            <a:avLst/>
          </a:prstGeom>
          <a:noFill/>
          <a:ln>
            <a:noFill/>
          </a:ln>
        </p:spPr>
        <p:txBody>
          <a:bodyPr anchorCtr="0" anchor="t" bIns="45700" lIns="91425" spcFirstLastPara="1" rIns="91425" wrap="square" tIns="137150">
            <a:noAutofit/>
          </a:bodyPr>
          <a:lstStyle/>
          <a:p>
            <a:pPr indent="-346075" lvl="0" marL="346075" marR="0" rtl="0" algn="l">
              <a:lnSpc>
                <a:spcPct val="115000"/>
              </a:lnSpc>
              <a:spcBef>
                <a:spcPts val="0"/>
              </a:spcBef>
              <a:spcAft>
                <a:spcPts val="0"/>
              </a:spcAft>
              <a:buNone/>
            </a:pPr>
            <a:r>
              <a:rPr b="0" lang="en-US" sz="2000">
                <a:solidFill>
                  <a:schemeClr val="dk1"/>
                </a:solidFill>
                <a:latin typeface="Arial"/>
                <a:ea typeface="Arial"/>
                <a:cs typeface="Arial"/>
                <a:sym typeface="Arial"/>
              </a:rPr>
              <a:t>1. 	</a:t>
            </a:r>
            <a:r>
              <a:rPr b="1" lang="en-US" sz="2000">
                <a:solidFill>
                  <a:srgbClr val="990000"/>
                </a:solidFill>
                <a:latin typeface="Arial"/>
                <a:ea typeface="Arial"/>
                <a:cs typeface="Arial"/>
                <a:sym typeface="Arial"/>
              </a:rPr>
              <a:t>Accrued Revenues.</a:t>
            </a:r>
            <a:r>
              <a:rPr b="0" lang="en-US" sz="2000">
                <a:solidFill>
                  <a:schemeClr val="dk1"/>
                </a:solidFill>
                <a:latin typeface="Arial"/>
                <a:ea typeface="Arial"/>
                <a:cs typeface="Arial"/>
                <a:sym typeface="Arial"/>
              </a:rPr>
              <a:t> </a:t>
            </a:r>
            <a:r>
              <a:rPr b="0" lang="en-US" sz="1900">
                <a:solidFill>
                  <a:schemeClr val="dk1"/>
                </a:solidFill>
                <a:latin typeface="Arial"/>
                <a:ea typeface="Arial"/>
                <a:cs typeface="Arial"/>
                <a:sym typeface="Arial"/>
              </a:rPr>
              <a:t>Revenues for services performed but not yet received in cash or recorded.</a:t>
            </a:r>
            <a:r>
              <a:rPr b="0" lang="en-US" sz="2000">
                <a:solidFill>
                  <a:schemeClr val="dk1"/>
                </a:solidFill>
                <a:latin typeface="Arial"/>
                <a:ea typeface="Arial"/>
                <a:cs typeface="Arial"/>
                <a:sym typeface="Arial"/>
              </a:rPr>
              <a:t> </a:t>
            </a:r>
            <a:endParaRPr/>
          </a:p>
        </p:txBody>
      </p:sp>
      <p:sp>
        <p:nvSpPr>
          <p:cNvPr id="215" name="Google Shape;215;p14"/>
          <p:cNvSpPr/>
          <p:nvPr/>
        </p:nvSpPr>
        <p:spPr>
          <a:xfrm>
            <a:off x="4800600" y="3886200"/>
            <a:ext cx="3810000" cy="1600200"/>
          </a:xfrm>
          <a:prstGeom prst="rect">
            <a:avLst/>
          </a:prstGeom>
          <a:noFill/>
          <a:ln>
            <a:noFill/>
          </a:ln>
        </p:spPr>
        <p:txBody>
          <a:bodyPr anchorCtr="0" anchor="t" bIns="45700" lIns="91425" spcFirstLastPara="1" rIns="91425" wrap="square" tIns="137150">
            <a:noAutofit/>
          </a:bodyPr>
          <a:lstStyle/>
          <a:p>
            <a:pPr indent="-346075" lvl="0" marL="346075" marR="0" rtl="0" algn="l">
              <a:lnSpc>
                <a:spcPct val="115000"/>
              </a:lnSpc>
              <a:spcBef>
                <a:spcPts val="0"/>
              </a:spcBef>
              <a:spcAft>
                <a:spcPts val="0"/>
              </a:spcAft>
              <a:buNone/>
            </a:pPr>
            <a:r>
              <a:rPr b="0" lang="en-US" sz="2000">
                <a:solidFill>
                  <a:schemeClr val="dk1"/>
                </a:solidFill>
                <a:latin typeface="Arial"/>
                <a:ea typeface="Arial"/>
                <a:cs typeface="Arial"/>
                <a:sym typeface="Arial"/>
              </a:rPr>
              <a:t>2. 	</a:t>
            </a:r>
            <a:r>
              <a:rPr b="1" lang="en-US" sz="2000">
                <a:solidFill>
                  <a:srgbClr val="990000"/>
                </a:solidFill>
                <a:latin typeface="Arial"/>
                <a:ea typeface="Arial"/>
                <a:cs typeface="Arial"/>
                <a:sym typeface="Arial"/>
              </a:rPr>
              <a:t>Accrued Expenses.</a:t>
            </a:r>
            <a:r>
              <a:rPr b="0" lang="en-US" sz="2000">
                <a:solidFill>
                  <a:schemeClr val="dk1"/>
                </a:solidFill>
                <a:latin typeface="Arial"/>
                <a:ea typeface="Arial"/>
                <a:cs typeface="Arial"/>
                <a:sym typeface="Arial"/>
              </a:rPr>
              <a:t>  </a:t>
            </a:r>
            <a:r>
              <a:rPr b="0" lang="en-US" sz="1900">
                <a:solidFill>
                  <a:schemeClr val="dk1"/>
                </a:solidFill>
                <a:latin typeface="Arial"/>
                <a:ea typeface="Arial"/>
                <a:cs typeface="Arial"/>
                <a:sym typeface="Arial"/>
              </a:rPr>
              <a:t>Expenses incurred but not yet paid in cash or recorded.</a:t>
            </a:r>
            <a:endParaRPr/>
          </a:p>
        </p:txBody>
      </p:sp>
      <p:sp>
        <p:nvSpPr>
          <p:cNvPr id="216" name="Google Shape;216;p14"/>
          <p:cNvSpPr/>
          <p:nvPr/>
        </p:nvSpPr>
        <p:spPr>
          <a:xfrm>
            <a:off x="609600" y="3886200"/>
            <a:ext cx="3810000" cy="1600200"/>
          </a:xfrm>
          <a:prstGeom prst="rect">
            <a:avLst/>
          </a:prstGeom>
          <a:noFill/>
          <a:ln>
            <a:noFill/>
          </a:ln>
        </p:spPr>
        <p:txBody>
          <a:bodyPr anchorCtr="0" anchor="t" bIns="45700" lIns="91425" spcFirstLastPara="1" rIns="91425" wrap="square" tIns="137150">
            <a:noAutofit/>
          </a:bodyPr>
          <a:lstStyle/>
          <a:p>
            <a:pPr indent="-342900" lvl="0" marL="342900" marR="0" rtl="0" algn="l">
              <a:lnSpc>
                <a:spcPct val="115000"/>
              </a:lnSpc>
              <a:spcBef>
                <a:spcPts val="0"/>
              </a:spcBef>
              <a:spcAft>
                <a:spcPts val="0"/>
              </a:spcAft>
              <a:buNone/>
            </a:pPr>
            <a:r>
              <a:rPr b="0" lang="en-US" sz="2000">
                <a:solidFill>
                  <a:schemeClr val="dk1"/>
                </a:solidFill>
                <a:latin typeface="Arial"/>
                <a:ea typeface="Arial"/>
                <a:cs typeface="Arial"/>
                <a:sym typeface="Arial"/>
              </a:rPr>
              <a:t>2.</a:t>
            </a:r>
            <a:r>
              <a:rPr b="1" lang="en-US" sz="2000">
                <a:solidFill>
                  <a:srgbClr val="990000"/>
                </a:solidFill>
                <a:latin typeface="Arial"/>
                <a:ea typeface="Arial"/>
                <a:cs typeface="Arial"/>
                <a:sym typeface="Arial"/>
              </a:rPr>
              <a:t>  Unearned Revenues.</a:t>
            </a:r>
            <a:r>
              <a:rPr b="0" lang="en-US" sz="2000">
                <a:solidFill>
                  <a:schemeClr val="dk1"/>
                </a:solidFill>
                <a:latin typeface="Arial"/>
                <a:ea typeface="Arial"/>
                <a:cs typeface="Arial"/>
                <a:sym typeface="Arial"/>
              </a:rPr>
              <a:t>  </a:t>
            </a:r>
            <a:endParaRPr/>
          </a:p>
          <a:p>
            <a:pPr indent="-342900" lvl="0" marL="342900" marR="0" rtl="0" algn="l">
              <a:lnSpc>
                <a:spcPct val="115000"/>
              </a:lnSpc>
              <a:spcBef>
                <a:spcPts val="0"/>
              </a:spcBef>
              <a:spcAft>
                <a:spcPts val="0"/>
              </a:spcAft>
              <a:buNone/>
            </a:pPr>
            <a:r>
              <a:rPr b="0" lang="en-US" sz="2000">
                <a:solidFill>
                  <a:schemeClr val="dk1"/>
                </a:solidFill>
                <a:latin typeface="Arial"/>
                <a:ea typeface="Arial"/>
                <a:cs typeface="Arial"/>
                <a:sym typeface="Arial"/>
              </a:rPr>
              <a:t>	</a:t>
            </a:r>
            <a:r>
              <a:rPr b="0" lang="en-US" sz="1900">
                <a:solidFill>
                  <a:schemeClr val="dk1"/>
                </a:solidFill>
                <a:latin typeface="Arial"/>
                <a:ea typeface="Arial"/>
                <a:cs typeface="Arial"/>
                <a:sym typeface="Arial"/>
              </a:rPr>
              <a:t>Cash received before services are performed.</a:t>
            </a:r>
            <a:endParaRPr/>
          </a:p>
        </p:txBody>
      </p:sp>
      <p:sp>
        <p:nvSpPr>
          <p:cNvPr id="217" name="Google Shape;217;p14"/>
          <p:cNvSpPr/>
          <p:nvPr/>
        </p:nvSpPr>
        <p:spPr>
          <a:xfrm>
            <a:off x="4800600" y="1752600"/>
            <a:ext cx="289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400">
                <a:solidFill>
                  <a:schemeClr val="dk1"/>
                </a:solidFill>
                <a:latin typeface="Arial"/>
                <a:ea typeface="Arial"/>
                <a:cs typeface="Arial"/>
                <a:sym typeface="Arial"/>
              </a:rPr>
              <a:t>Accruals</a:t>
            </a:r>
            <a:endParaRPr/>
          </a:p>
        </p:txBody>
      </p:sp>
      <p:cxnSp>
        <p:nvCxnSpPr>
          <p:cNvPr id="218" name="Google Shape;218;p14"/>
          <p:cNvCxnSpPr/>
          <p:nvPr/>
        </p:nvCxnSpPr>
        <p:spPr>
          <a:xfrm>
            <a:off x="685800" y="2286000"/>
            <a:ext cx="7848600" cy="0"/>
          </a:xfrm>
          <a:prstGeom prst="straightConnector1">
            <a:avLst/>
          </a:prstGeom>
          <a:noFill/>
          <a:ln cap="sq" cmpd="sng" w="38100">
            <a:solidFill>
              <a:schemeClr val="dk1"/>
            </a:solidFill>
            <a:prstDash val="solid"/>
            <a:round/>
            <a:headEnd len="sm" w="sm" type="none"/>
            <a:tailEnd len="sm" w="sm" type="none"/>
          </a:ln>
        </p:spPr>
      </p:cxnSp>
      <p:sp>
        <p:nvSpPr>
          <p:cNvPr id="219" name="Google Shape;219;p14"/>
          <p:cNvSpPr/>
          <p:nvPr/>
        </p:nvSpPr>
        <p:spPr>
          <a:xfrm>
            <a:off x="609600" y="304800"/>
            <a:ext cx="82296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Types of Adjusting Entries</a:t>
            </a:r>
            <a:endParaRPr b="1" sz="3200">
              <a:solidFill>
                <a:srgbClr val="0000BF"/>
              </a:solidFill>
              <a:latin typeface="Arial"/>
              <a:ea typeface="Arial"/>
              <a:cs typeface="Arial"/>
              <a:sym typeface="Arial"/>
            </a:endParaRPr>
          </a:p>
        </p:txBody>
      </p:sp>
      <p:sp>
        <p:nvSpPr>
          <p:cNvPr id="220" name="Google Shape;220;p14"/>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1</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5"/>
          <p:cNvSpPr txBox="1"/>
          <p:nvPr/>
        </p:nvSpPr>
        <p:spPr>
          <a:xfrm>
            <a:off x="609600" y="1219200"/>
            <a:ext cx="8001000" cy="897105"/>
          </a:xfrm>
          <a:prstGeom prst="rect">
            <a:avLst/>
          </a:prstGeom>
          <a:no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None/>
            </a:pPr>
            <a:r>
              <a:rPr b="1" lang="en-US" sz="2200">
                <a:solidFill>
                  <a:schemeClr val="dk1"/>
                </a:solidFill>
                <a:latin typeface="Arial"/>
                <a:ea typeface="Arial"/>
                <a:cs typeface="Arial"/>
                <a:sym typeface="Arial"/>
              </a:rPr>
              <a:t>Trial Balance</a:t>
            </a:r>
            <a:r>
              <a:rPr b="0" lang="en-US" sz="2200">
                <a:solidFill>
                  <a:schemeClr val="dk1"/>
                </a:solidFill>
                <a:latin typeface="Arial"/>
                <a:ea typeface="Arial"/>
                <a:cs typeface="Arial"/>
                <a:sym typeface="Arial"/>
              </a:rPr>
              <a:t> – Each account is analyzed to determine whether it is complete and up-to-date.</a:t>
            </a:r>
            <a:endParaRPr b="0" sz="2200">
              <a:solidFill>
                <a:schemeClr val="dk1"/>
              </a:solidFill>
              <a:latin typeface="Arial"/>
              <a:ea typeface="Arial"/>
              <a:cs typeface="Arial"/>
              <a:sym typeface="Arial"/>
            </a:endParaRPr>
          </a:p>
        </p:txBody>
      </p:sp>
      <p:sp>
        <p:nvSpPr>
          <p:cNvPr id="226" name="Google Shape;226;p15"/>
          <p:cNvSpPr/>
          <p:nvPr/>
        </p:nvSpPr>
        <p:spPr>
          <a:xfrm>
            <a:off x="6172200" y="2011362"/>
            <a:ext cx="1524000" cy="27463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200">
                <a:solidFill>
                  <a:schemeClr val="dk1"/>
                </a:solidFill>
                <a:latin typeface="Arial"/>
                <a:ea typeface="Arial"/>
                <a:cs typeface="Arial"/>
                <a:sym typeface="Arial"/>
              </a:rPr>
              <a:t>Illustration 3-3</a:t>
            </a:r>
            <a:endParaRPr/>
          </a:p>
        </p:txBody>
      </p:sp>
      <p:cxnSp>
        <p:nvCxnSpPr>
          <p:cNvPr id="227" name="Google Shape;227;p15"/>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228" name="Google Shape;228;p15"/>
          <p:cNvSpPr/>
          <p:nvPr/>
        </p:nvSpPr>
        <p:spPr>
          <a:xfrm>
            <a:off x="609600" y="304800"/>
            <a:ext cx="82296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Types of Adjusting Entries</a:t>
            </a:r>
            <a:endParaRPr b="1" sz="3200">
              <a:solidFill>
                <a:srgbClr val="0000BF"/>
              </a:solidFill>
              <a:latin typeface="Arial"/>
              <a:ea typeface="Arial"/>
              <a:cs typeface="Arial"/>
              <a:sym typeface="Arial"/>
            </a:endParaRPr>
          </a:p>
        </p:txBody>
      </p:sp>
      <p:pic>
        <p:nvPicPr>
          <p:cNvPr id="229" name="Google Shape;229;p15"/>
          <p:cNvPicPr preferRelativeResize="0"/>
          <p:nvPr/>
        </p:nvPicPr>
        <p:blipFill rotWithShape="1">
          <a:blip r:embed="rId3">
            <a:alphaModFix/>
          </a:blip>
          <a:srcRect b="0" l="0" r="0" t="0"/>
          <a:stretch/>
        </p:blipFill>
        <p:spPr>
          <a:xfrm>
            <a:off x="1295400" y="2362200"/>
            <a:ext cx="6390507" cy="4267729"/>
          </a:xfrm>
          <a:prstGeom prst="rect">
            <a:avLst/>
          </a:prstGeom>
          <a:noFill/>
          <a:ln cap="sq" cmpd="sng" w="19050">
            <a:solidFill>
              <a:schemeClr val="dk1"/>
            </a:solidFill>
            <a:prstDash val="solid"/>
            <a:miter lim="800000"/>
            <a:headEnd len="sm" w="sm" type="none"/>
            <a:tailEnd len="sm" w="sm" type="none"/>
          </a:ln>
        </p:spPr>
      </p:pic>
      <p:pic>
        <p:nvPicPr>
          <p:cNvPr id="230" name="Google Shape;230;p15"/>
          <p:cNvPicPr preferRelativeResize="0"/>
          <p:nvPr/>
        </p:nvPicPr>
        <p:blipFill rotWithShape="1">
          <a:blip r:embed="rId4">
            <a:alphaModFix/>
          </a:blip>
          <a:srcRect b="0" l="0" r="0" t="0"/>
          <a:stretch/>
        </p:blipFill>
        <p:spPr>
          <a:xfrm>
            <a:off x="1289304" y="2404872"/>
            <a:ext cx="438150" cy="701040"/>
          </a:xfrm>
          <a:prstGeom prst="rect">
            <a:avLst/>
          </a:prstGeom>
          <a:noFill/>
          <a:ln>
            <a:noFill/>
          </a:ln>
        </p:spPr>
      </p:pic>
      <p:sp>
        <p:nvSpPr>
          <p:cNvPr id="231" name="Google Shape;231;p15"/>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1</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6"/>
          <p:cNvSpPr/>
          <p:nvPr/>
        </p:nvSpPr>
        <p:spPr>
          <a:xfrm>
            <a:off x="4191000" y="5164138"/>
            <a:ext cx="76200" cy="76200"/>
          </a:xfrm>
          <a:prstGeom prst="ellipse">
            <a:avLst/>
          </a:prstGeom>
          <a:solidFill>
            <a:srgbClr val="CC0000"/>
          </a:solidFill>
          <a:ln cap="flat" cmpd="sng" w="9525">
            <a:solidFill>
              <a:schemeClr val="dk1"/>
            </a:solidFill>
            <a:prstDash val="solid"/>
            <a:round/>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t/>
            </a:r>
            <a:endParaRPr b="1" sz="2800">
              <a:solidFill>
                <a:schemeClr val="lt1"/>
              </a:solidFill>
              <a:latin typeface="Arial"/>
              <a:ea typeface="Arial"/>
              <a:cs typeface="Arial"/>
              <a:sym typeface="Arial"/>
            </a:endParaRPr>
          </a:p>
        </p:txBody>
      </p:sp>
      <p:sp>
        <p:nvSpPr>
          <p:cNvPr id="237" name="Google Shape;237;p16"/>
          <p:cNvSpPr/>
          <p:nvPr/>
        </p:nvSpPr>
        <p:spPr>
          <a:xfrm>
            <a:off x="4114800" y="2524125"/>
            <a:ext cx="4495800" cy="3952875"/>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l">
              <a:lnSpc>
                <a:spcPct val="120000"/>
              </a:lnSpc>
              <a:spcBef>
                <a:spcPts val="0"/>
              </a:spcBef>
              <a:spcAft>
                <a:spcPts val="0"/>
              </a:spcAft>
              <a:buClr>
                <a:schemeClr val="dk1"/>
              </a:buClr>
              <a:buSzPts val="1700"/>
              <a:buFont typeface="Arial"/>
              <a:buAutoNum type="alphaLcParenBoth"/>
            </a:pPr>
            <a:r>
              <a:rPr b="0" lang="en-US" sz="1700">
                <a:solidFill>
                  <a:schemeClr val="dk1"/>
                </a:solidFill>
                <a:latin typeface="Arial"/>
                <a:ea typeface="Arial"/>
                <a:cs typeface="Arial"/>
                <a:sym typeface="Arial"/>
              </a:rPr>
              <a:t>Monthly and quarterly time periods.</a:t>
            </a:r>
            <a:endParaRPr/>
          </a:p>
          <a:p>
            <a:pPr indent="-457200" lvl="0" marL="457200" marR="0" rtl="0" algn="l">
              <a:lnSpc>
                <a:spcPct val="120000"/>
              </a:lnSpc>
              <a:spcBef>
                <a:spcPts val="170"/>
              </a:spcBef>
              <a:spcAft>
                <a:spcPts val="0"/>
              </a:spcAft>
              <a:buClr>
                <a:schemeClr val="dk1"/>
              </a:buClr>
              <a:buSzPts val="1700"/>
              <a:buFont typeface="Arial"/>
              <a:buAutoNum type="alphaLcParenBoth"/>
            </a:pPr>
            <a:r>
              <a:rPr b="0" lang="en-US" sz="1700">
                <a:solidFill>
                  <a:schemeClr val="dk1"/>
                </a:solidFill>
                <a:latin typeface="Arial"/>
                <a:ea typeface="Arial"/>
                <a:cs typeface="Arial"/>
                <a:sym typeface="Arial"/>
              </a:rPr>
              <a:t>Efforts (expenses) should be matched with results (revenues).</a:t>
            </a:r>
            <a:endParaRPr/>
          </a:p>
          <a:p>
            <a:pPr indent="-457200" lvl="0" marL="457200" marR="0" rtl="0" algn="l">
              <a:lnSpc>
                <a:spcPct val="120000"/>
              </a:lnSpc>
              <a:spcBef>
                <a:spcPts val="170"/>
              </a:spcBef>
              <a:spcAft>
                <a:spcPts val="0"/>
              </a:spcAft>
              <a:buClr>
                <a:schemeClr val="dk1"/>
              </a:buClr>
              <a:buSzPts val="1700"/>
              <a:buFont typeface="Arial"/>
              <a:buAutoNum type="alphaLcParenBoth"/>
            </a:pPr>
            <a:r>
              <a:rPr b="0" lang="en-US" sz="1700">
                <a:solidFill>
                  <a:schemeClr val="dk1"/>
                </a:solidFill>
                <a:latin typeface="Arial"/>
                <a:ea typeface="Arial"/>
                <a:cs typeface="Arial"/>
                <a:sym typeface="Arial"/>
              </a:rPr>
              <a:t>Accountants divide the economic life of a business into artificial time periods.</a:t>
            </a:r>
            <a:endParaRPr/>
          </a:p>
          <a:p>
            <a:pPr indent="-457200" lvl="0" marL="457200" marR="0" rtl="0" algn="l">
              <a:lnSpc>
                <a:spcPct val="120000"/>
              </a:lnSpc>
              <a:spcBef>
                <a:spcPts val="170"/>
              </a:spcBef>
              <a:spcAft>
                <a:spcPts val="0"/>
              </a:spcAft>
              <a:buClr>
                <a:schemeClr val="dk1"/>
              </a:buClr>
              <a:buSzPts val="1700"/>
              <a:buFont typeface="Arial"/>
              <a:buAutoNum type="alphaLcParenBoth"/>
            </a:pPr>
            <a:r>
              <a:rPr b="0" lang="en-US" sz="1700">
                <a:solidFill>
                  <a:schemeClr val="dk1"/>
                </a:solidFill>
                <a:latin typeface="Arial"/>
                <a:ea typeface="Arial"/>
                <a:cs typeface="Arial"/>
                <a:sym typeface="Arial"/>
              </a:rPr>
              <a:t>Companies record revenues when they receive cash and record expenses when they pay out cash.</a:t>
            </a:r>
            <a:endParaRPr/>
          </a:p>
          <a:p>
            <a:pPr indent="-457200" lvl="0" marL="457200" marR="0" rtl="0" algn="l">
              <a:lnSpc>
                <a:spcPct val="120000"/>
              </a:lnSpc>
              <a:spcBef>
                <a:spcPts val="170"/>
              </a:spcBef>
              <a:spcAft>
                <a:spcPts val="0"/>
              </a:spcAft>
              <a:buClr>
                <a:schemeClr val="dk1"/>
              </a:buClr>
              <a:buSzPts val="1700"/>
              <a:buFont typeface="Arial"/>
              <a:buAutoNum type="alphaLcParenBoth"/>
            </a:pPr>
            <a:r>
              <a:rPr b="0" lang="en-US" sz="1700">
                <a:solidFill>
                  <a:schemeClr val="dk1"/>
                </a:solidFill>
                <a:latin typeface="Arial"/>
                <a:ea typeface="Arial"/>
                <a:cs typeface="Arial"/>
                <a:sym typeface="Arial"/>
              </a:rPr>
              <a:t>An accounting time period that starts on January 1 and ends on December 31.</a:t>
            </a:r>
            <a:endParaRPr/>
          </a:p>
          <a:p>
            <a:pPr indent="-457200" lvl="0" marL="457200" marR="0" rtl="0" algn="l">
              <a:lnSpc>
                <a:spcPct val="120000"/>
              </a:lnSpc>
              <a:spcBef>
                <a:spcPts val="170"/>
              </a:spcBef>
              <a:spcAft>
                <a:spcPts val="0"/>
              </a:spcAft>
              <a:buClr>
                <a:schemeClr val="dk1"/>
              </a:buClr>
              <a:buSzPts val="1700"/>
              <a:buFont typeface="Arial"/>
              <a:buAutoNum type="alphaLcParenBoth"/>
            </a:pPr>
            <a:r>
              <a:rPr b="0" lang="en-US" sz="1700">
                <a:solidFill>
                  <a:schemeClr val="dk1"/>
                </a:solidFill>
                <a:latin typeface="Arial"/>
                <a:ea typeface="Arial"/>
                <a:cs typeface="Arial"/>
                <a:sym typeface="Arial"/>
              </a:rPr>
              <a:t>Companies record transactions in the period in which the events occur.</a:t>
            </a:r>
            <a:endParaRPr/>
          </a:p>
        </p:txBody>
      </p:sp>
      <p:sp>
        <p:nvSpPr>
          <p:cNvPr id="238" name="Google Shape;238;p16"/>
          <p:cNvSpPr/>
          <p:nvPr/>
        </p:nvSpPr>
        <p:spPr>
          <a:xfrm>
            <a:off x="609600" y="1381125"/>
            <a:ext cx="8001000" cy="102552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0" lang="en-US" sz="1700">
                <a:solidFill>
                  <a:schemeClr val="dk1"/>
                </a:solidFill>
                <a:latin typeface="Arial"/>
                <a:ea typeface="Arial"/>
                <a:cs typeface="Arial"/>
                <a:sym typeface="Arial"/>
              </a:rPr>
              <a:t>A list of concepts is provided in the left column below, with a description of the concept in the right column below. There are more descriptions provided than concepts. Match the description of the concept to the concept.</a:t>
            </a:r>
            <a:endParaRPr/>
          </a:p>
        </p:txBody>
      </p:sp>
      <p:sp>
        <p:nvSpPr>
          <p:cNvPr id="239" name="Google Shape;239;p16"/>
          <p:cNvSpPr/>
          <p:nvPr/>
        </p:nvSpPr>
        <p:spPr>
          <a:xfrm>
            <a:off x="2438400" y="2971800"/>
            <a:ext cx="76200" cy="76200"/>
          </a:xfrm>
          <a:prstGeom prst="ellipse">
            <a:avLst/>
          </a:prstGeom>
          <a:solidFill>
            <a:srgbClr val="CC0000"/>
          </a:solidFill>
          <a:ln cap="flat" cmpd="sng" w="9525">
            <a:solidFill>
              <a:schemeClr val="dk1"/>
            </a:solidFill>
            <a:prstDash val="solid"/>
            <a:round/>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t/>
            </a:r>
            <a:endParaRPr b="1" sz="2800">
              <a:solidFill>
                <a:schemeClr val="lt1"/>
              </a:solidFill>
              <a:latin typeface="Arial"/>
              <a:ea typeface="Arial"/>
              <a:cs typeface="Arial"/>
              <a:sym typeface="Arial"/>
            </a:endParaRPr>
          </a:p>
        </p:txBody>
      </p:sp>
      <p:sp>
        <p:nvSpPr>
          <p:cNvPr id="240" name="Google Shape;240;p16"/>
          <p:cNvSpPr/>
          <p:nvPr/>
        </p:nvSpPr>
        <p:spPr>
          <a:xfrm>
            <a:off x="609600" y="2524125"/>
            <a:ext cx="3352800" cy="2101850"/>
          </a:xfrm>
          <a:prstGeom prst="rect">
            <a:avLst/>
          </a:prstGeom>
          <a:solidFill>
            <a:schemeClr val="lt1"/>
          </a:solidFill>
          <a:ln>
            <a:noFill/>
          </a:ln>
        </p:spPr>
        <p:txBody>
          <a:bodyPr anchorCtr="0" anchor="t" bIns="45700" lIns="91425" spcFirstLastPara="1" rIns="91425" wrap="square" tIns="45700">
            <a:spAutoFit/>
          </a:bodyPr>
          <a:lstStyle/>
          <a:p>
            <a:pPr indent="-685800" lvl="0" marL="685800" marR="0" rtl="0" algn="l">
              <a:lnSpc>
                <a:spcPct val="125000"/>
              </a:lnSpc>
              <a:spcBef>
                <a:spcPts val="0"/>
              </a:spcBef>
              <a:spcAft>
                <a:spcPts val="0"/>
              </a:spcAft>
              <a:buNone/>
            </a:pPr>
            <a:r>
              <a:rPr b="0" lang="en-US" sz="1700">
                <a:solidFill>
                  <a:schemeClr val="dk1"/>
                </a:solidFill>
                <a:latin typeface="Arial"/>
                <a:ea typeface="Arial"/>
                <a:cs typeface="Arial"/>
                <a:sym typeface="Arial"/>
              </a:rPr>
              <a:t>1. ___ Accrual-basis accounting.</a:t>
            </a:r>
            <a:endParaRPr/>
          </a:p>
          <a:p>
            <a:pPr indent="-685800" lvl="0" marL="685800" marR="0" rtl="0" algn="l">
              <a:lnSpc>
                <a:spcPct val="125000"/>
              </a:lnSpc>
              <a:spcBef>
                <a:spcPts val="850"/>
              </a:spcBef>
              <a:spcAft>
                <a:spcPts val="0"/>
              </a:spcAft>
              <a:buNone/>
            </a:pPr>
            <a:r>
              <a:rPr b="0" lang="en-US" sz="1700">
                <a:solidFill>
                  <a:schemeClr val="dk1"/>
                </a:solidFill>
                <a:latin typeface="Arial"/>
                <a:ea typeface="Arial"/>
                <a:cs typeface="Arial"/>
                <a:sym typeface="Arial"/>
              </a:rPr>
              <a:t>2. ___	Calendar year.</a:t>
            </a:r>
            <a:endParaRPr/>
          </a:p>
          <a:p>
            <a:pPr indent="-685800" lvl="0" marL="685800" marR="0" rtl="0" algn="l">
              <a:lnSpc>
                <a:spcPct val="125000"/>
              </a:lnSpc>
              <a:spcBef>
                <a:spcPts val="850"/>
              </a:spcBef>
              <a:spcAft>
                <a:spcPts val="0"/>
              </a:spcAft>
              <a:buNone/>
            </a:pPr>
            <a:r>
              <a:rPr b="0" lang="en-US" sz="1700">
                <a:solidFill>
                  <a:schemeClr val="dk1"/>
                </a:solidFill>
                <a:latin typeface="Arial"/>
                <a:ea typeface="Arial"/>
                <a:cs typeface="Arial"/>
                <a:sym typeface="Arial"/>
              </a:rPr>
              <a:t>3. ___	Time period assumption.</a:t>
            </a:r>
            <a:endParaRPr/>
          </a:p>
          <a:p>
            <a:pPr indent="-685800" lvl="0" marL="685800" marR="0" rtl="0" algn="l">
              <a:lnSpc>
                <a:spcPct val="125000"/>
              </a:lnSpc>
              <a:spcBef>
                <a:spcPts val="850"/>
              </a:spcBef>
              <a:spcAft>
                <a:spcPts val="0"/>
              </a:spcAft>
              <a:buNone/>
            </a:pPr>
            <a:r>
              <a:rPr b="0" lang="en-US" sz="1700">
                <a:solidFill>
                  <a:schemeClr val="dk1"/>
                </a:solidFill>
                <a:latin typeface="Arial"/>
                <a:ea typeface="Arial"/>
                <a:cs typeface="Arial"/>
                <a:sym typeface="Arial"/>
              </a:rPr>
              <a:t>4. ___	Expense recognition principle.</a:t>
            </a:r>
            <a:endParaRPr/>
          </a:p>
        </p:txBody>
      </p:sp>
      <p:sp>
        <p:nvSpPr>
          <p:cNvPr id="241" name="Google Shape;241;p16"/>
          <p:cNvSpPr txBox="1"/>
          <p:nvPr/>
        </p:nvSpPr>
        <p:spPr>
          <a:xfrm>
            <a:off x="914400" y="2524125"/>
            <a:ext cx="381000" cy="381000"/>
          </a:xfrm>
          <a:prstGeom prst="rect">
            <a:avLst/>
          </a:prstGeom>
          <a:noFill/>
          <a:ln>
            <a:noFill/>
          </a:ln>
        </p:spPr>
        <p:txBody>
          <a:bodyPr anchorCtr="0" anchor="t" bIns="45700" lIns="91425" spcFirstLastPara="1" rIns="91425" wrap="square" tIns="45700">
            <a:spAutoFit/>
          </a:bodyPr>
          <a:lstStyle/>
          <a:p>
            <a:pPr indent="-685800" lvl="0" marL="685800" marR="0" rtl="0" algn="ctr">
              <a:spcBef>
                <a:spcPts val="0"/>
              </a:spcBef>
              <a:spcAft>
                <a:spcPts val="0"/>
              </a:spcAft>
              <a:buNone/>
            </a:pPr>
            <a:r>
              <a:rPr b="1" lang="en-US" sz="1900">
                <a:solidFill>
                  <a:srgbClr val="800000"/>
                </a:solidFill>
                <a:latin typeface="Arial"/>
                <a:ea typeface="Arial"/>
                <a:cs typeface="Arial"/>
                <a:sym typeface="Arial"/>
              </a:rPr>
              <a:t>f</a:t>
            </a:r>
            <a:endParaRPr/>
          </a:p>
        </p:txBody>
      </p:sp>
      <p:sp>
        <p:nvSpPr>
          <p:cNvPr id="242" name="Google Shape;242;p16"/>
          <p:cNvSpPr txBox="1"/>
          <p:nvPr/>
        </p:nvSpPr>
        <p:spPr>
          <a:xfrm>
            <a:off x="914400" y="2981325"/>
            <a:ext cx="381000" cy="381000"/>
          </a:xfrm>
          <a:prstGeom prst="rect">
            <a:avLst/>
          </a:prstGeom>
          <a:noFill/>
          <a:ln>
            <a:noFill/>
          </a:ln>
        </p:spPr>
        <p:txBody>
          <a:bodyPr anchorCtr="0" anchor="t" bIns="45700" lIns="91425" spcFirstLastPara="1" rIns="91425" wrap="square" tIns="45700">
            <a:spAutoFit/>
          </a:bodyPr>
          <a:lstStyle/>
          <a:p>
            <a:pPr indent="-685800" lvl="0" marL="685800" marR="0" rtl="0" algn="ctr">
              <a:spcBef>
                <a:spcPts val="0"/>
              </a:spcBef>
              <a:spcAft>
                <a:spcPts val="0"/>
              </a:spcAft>
              <a:buNone/>
            </a:pPr>
            <a:r>
              <a:rPr b="1" lang="en-US" sz="1900">
                <a:solidFill>
                  <a:srgbClr val="800000"/>
                </a:solidFill>
                <a:latin typeface="Arial"/>
                <a:ea typeface="Arial"/>
                <a:cs typeface="Arial"/>
                <a:sym typeface="Arial"/>
              </a:rPr>
              <a:t>e</a:t>
            </a:r>
            <a:endParaRPr/>
          </a:p>
        </p:txBody>
      </p:sp>
      <p:sp>
        <p:nvSpPr>
          <p:cNvPr id="243" name="Google Shape;243;p16"/>
          <p:cNvSpPr txBox="1"/>
          <p:nvPr/>
        </p:nvSpPr>
        <p:spPr>
          <a:xfrm>
            <a:off x="914400" y="3438525"/>
            <a:ext cx="381000" cy="381000"/>
          </a:xfrm>
          <a:prstGeom prst="rect">
            <a:avLst/>
          </a:prstGeom>
          <a:noFill/>
          <a:ln>
            <a:noFill/>
          </a:ln>
        </p:spPr>
        <p:txBody>
          <a:bodyPr anchorCtr="0" anchor="t" bIns="45700" lIns="91425" spcFirstLastPara="1" rIns="91425" wrap="square" tIns="45700">
            <a:spAutoFit/>
          </a:bodyPr>
          <a:lstStyle/>
          <a:p>
            <a:pPr indent="-685800" lvl="0" marL="685800" marR="0" rtl="0" algn="ctr">
              <a:spcBef>
                <a:spcPts val="0"/>
              </a:spcBef>
              <a:spcAft>
                <a:spcPts val="0"/>
              </a:spcAft>
              <a:buNone/>
            </a:pPr>
            <a:r>
              <a:rPr b="1" lang="en-US" sz="1900">
                <a:solidFill>
                  <a:srgbClr val="800000"/>
                </a:solidFill>
                <a:latin typeface="Arial"/>
                <a:ea typeface="Arial"/>
                <a:cs typeface="Arial"/>
                <a:sym typeface="Arial"/>
              </a:rPr>
              <a:t>c</a:t>
            </a:r>
            <a:endParaRPr/>
          </a:p>
        </p:txBody>
      </p:sp>
      <p:sp>
        <p:nvSpPr>
          <p:cNvPr id="244" name="Google Shape;244;p16"/>
          <p:cNvSpPr txBox="1"/>
          <p:nvPr/>
        </p:nvSpPr>
        <p:spPr>
          <a:xfrm>
            <a:off x="914400" y="3895725"/>
            <a:ext cx="381000" cy="381000"/>
          </a:xfrm>
          <a:prstGeom prst="rect">
            <a:avLst/>
          </a:prstGeom>
          <a:noFill/>
          <a:ln>
            <a:noFill/>
          </a:ln>
        </p:spPr>
        <p:txBody>
          <a:bodyPr anchorCtr="0" anchor="t" bIns="45700" lIns="91425" spcFirstLastPara="1" rIns="91425" wrap="square" tIns="45700">
            <a:spAutoFit/>
          </a:bodyPr>
          <a:lstStyle/>
          <a:p>
            <a:pPr indent="-685800" lvl="0" marL="685800" marR="0" rtl="0" algn="ctr">
              <a:spcBef>
                <a:spcPts val="0"/>
              </a:spcBef>
              <a:spcAft>
                <a:spcPts val="0"/>
              </a:spcAft>
              <a:buNone/>
            </a:pPr>
            <a:r>
              <a:rPr b="1" lang="en-US" sz="1900">
                <a:solidFill>
                  <a:srgbClr val="800000"/>
                </a:solidFill>
                <a:latin typeface="Arial"/>
                <a:ea typeface="Arial"/>
                <a:cs typeface="Arial"/>
                <a:sym typeface="Arial"/>
              </a:rPr>
              <a:t>b</a:t>
            </a:r>
            <a:endParaRPr/>
          </a:p>
        </p:txBody>
      </p:sp>
      <p:cxnSp>
        <p:nvCxnSpPr>
          <p:cNvPr id="245" name="Google Shape;245;p16"/>
          <p:cNvCxnSpPr/>
          <p:nvPr/>
        </p:nvCxnSpPr>
        <p:spPr>
          <a:xfrm>
            <a:off x="290286" y="784324"/>
            <a:ext cx="8636000" cy="1489"/>
          </a:xfrm>
          <a:prstGeom prst="straightConnector1">
            <a:avLst/>
          </a:prstGeom>
          <a:noFill/>
          <a:ln cap="flat" cmpd="sng" w="57150">
            <a:solidFill>
              <a:srgbClr val="FF9900"/>
            </a:solidFill>
            <a:prstDash val="solid"/>
            <a:round/>
            <a:headEnd len="med" w="med" type="none"/>
            <a:tailEnd len="med" w="med" type="none"/>
          </a:ln>
        </p:spPr>
      </p:cxnSp>
      <p:pic>
        <p:nvPicPr>
          <p:cNvPr id="246" name="Google Shape;246;p16"/>
          <p:cNvPicPr preferRelativeResize="0"/>
          <p:nvPr/>
        </p:nvPicPr>
        <p:blipFill rotWithShape="1">
          <a:blip r:embed="rId3">
            <a:alphaModFix/>
          </a:blip>
          <a:srcRect b="0" l="0" r="0" t="0"/>
          <a:stretch/>
        </p:blipFill>
        <p:spPr>
          <a:xfrm>
            <a:off x="580571" y="395883"/>
            <a:ext cx="1669143" cy="604242"/>
          </a:xfrm>
          <a:prstGeom prst="rect">
            <a:avLst/>
          </a:prstGeom>
          <a:noFill/>
          <a:ln>
            <a:noFill/>
          </a:ln>
        </p:spPr>
      </p:pic>
      <p:pic>
        <p:nvPicPr>
          <p:cNvPr id="247" name="Google Shape;247;p16"/>
          <p:cNvPicPr preferRelativeResize="0"/>
          <p:nvPr/>
        </p:nvPicPr>
        <p:blipFill rotWithShape="1">
          <a:blip r:embed="rId4">
            <a:alphaModFix/>
          </a:blip>
          <a:srcRect b="0" l="0" r="0" t="0"/>
          <a:stretch/>
        </p:blipFill>
        <p:spPr>
          <a:xfrm>
            <a:off x="290286" y="357188"/>
            <a:ext cx="8636000" cy="823465"/>
          </a:xfrm>
          <a:prstGeom prst="rect">
            <a:avLst/>
          </a:prstGeom>
          <a:noFill/>
          <a:ln>
            <a:noFill/>
          </a:ln>
        </p:spPr>
      </p:pic>
      <p:pic>
        <p:nvPicPr>
          <p:cNvPr id="248" name="Google Shape;248;p16"/>
          <p:cNvPicPr preferRelativeResize="0"/>
          <p:nvPr/>
        </p:nvPicPr>
        <p:blipFill rotWithShape="1">
          <a:blip r:embed="rId5">
            <a:alphaModFix/>
          </a:blip>
          <a:srcRect b="0" l="0" r="0" t="0"/>
          <a:stretch/>
        </p:blipFill>
        <p:spPr>
          <a:xfrm>
            <a:off x="3410857" y="586815"/>
            <a:ext cx="3144567" cy="413310"/>
          </a:xfrm>
          <a:prstGeom prst="rect">
            <a:avLst/>
          </a:prstGeom>
          <a:noFill/>
          <a:ln>
            <a:noFill/>
          </a:ln>
        </p:spPr>
      </p:pic>
      <p:pic>
        <p:nvPicPr>
          <p:cNvPr id="249" name="Google Shape;249;p16"/>
          <p:cNvPicPr preferRelativeResize="0"/>
          <p:nvPr/>
        </p:nvPicPr>
        <p:blipFill rotWithShape="1">
          <a:blip r:embed="rId6">
            <a:alphaModFix/>
          </a:blip>
          <a:srcRect b="0" l="0" r="0" t="0"/>
          <a:stretch/>
        </p:blipFill>
        <p:spPr>
          <a:xfrm>
            <a:off x="2493472" y="571501"/>
            <a:ext cx="409385" cy="344759"/>
          </a:xfrm>
          <a:prstGeom prst="rect">
            <a:avLst/>
          </a:prstGeom>
          <a:noFill/>
          <a:ln>
            <a:noFill/>
          </a:ln>
        </p:spPr>
      </p:pic>
      <p:sp>
        <p:nvSpPr>
          <p:cNvPr id="250" name="Google Shape;250;p16"/>
          <p:cNvSpPr txBox="1"/>
          <p:nvPr/>
        </p:nvSpPr>
        <p:spPr>
          <a:xfrm>
            <a:off x="2467428" y="428625"/>
            <a:ext cx="435429" cy="641336"/>
          </a:xfrm>
          <a:prstGeom prst="rect">
            <a:avLst/>
          </a:prstGeom>
          <a:noFill/>
          <a:ln>
            <a:noFill/>
          </a:ln>
        </p:spPr>
        <p:txBody>
          <a:bodyPr anchorCtr="0" anchor="t" bIns="43225" lIns="86475" spcFirstLastPara="1" rIns="86475" wrap="square" tIns="43225">
            <a:spAutoFit/>
          </a:bodyPr>
          <a:lstStyle/>
          <a:p>
            <a:pPr indent="0" lvl="0" marL="0" marR="0" rtl="0" algn="l">
              <a:spcBef>
                <a:spcPts val="0"/>
              </a:spcBef>
              <a:spcAft>
                <a:spcPts val="0"/>
              </a:spcAft>
              <a:buNone/>
            </a:pPr>
            <a:r>
              <a:rPr b="1" lang="en-US" sz="3600">
                <a:solidFill>
                  <a:srgbClr val="FF9900"/>
                </a:solidFill>
                <a:latin typeface="Arial"/>
                <a:ea typeface="Arial"/>
                <a:cs typeface="Arial"/>
                <a:sym typeface="Arial"/>
              </a:rPr>
              <a:t>1</a:t>
            </a:r>
            <a:endParaRPr/>
          </a:p>
        </p:txBody>
      </p:sp>
      <p:sp>
        <p:nvSpPr>
          <p:cNvPr id="251" name="Google Shape;251;p16"/>
          <p:cNvSpPr txBox="1"/>
          <p:nvPr/>
        </p:nvSpPr>
        <p:spPr>
          <a:xfrm>
            <a:off x="3338286" y="508909"/>
            <a:ext cx="5515429" cy="519373"/>
          </a:xfrm>
          <a:prstGeom prst="rect">
            <a:avLst/>
          </a:prstGeom>
          <a:noFill/>
          <a:ln>
            <a:noFill/>
          </a:ln>
        </p:spPr>
        <p:txBody>
          <a:bodyPr anchorCtr="0" anchor="t" bIns="43225" lIns="86475" spcFirstLastPara="1" rIns="86475" wrap="square" tIns="43225">
            <a:spAutoFit/>
          </a:bodyPr>
          <a:lstStyle/>
          <a:p>
            <a:pPr indent="0" lvl="0" marL="111120" marR="0" rtl="0" algn="l">
              <a:spcBef>
                <a:spcPts val="0"/>
              </a:spcBef>
              <a:spcAft>
                <a:spcPts val="0"/>
              </a:spcAft>
              <a:buNone/>
            </a:pPr>
            <a:r>
              <a:rPr b="1" lang="en-US" sz="2800">
                <a:solidFill>
                  <a:schemeClr val="lt1"/>
                </a:solidFill>
                <a:latin typeface="Arial"/>
                <a:ea typeface="Arial"/>
                <a:cs typeface="Arial"/>
                <a:sym typeface="Arial"/>
              </a:rPr>
              <a:t>Timing Concepts</a:t>
            </a:r>
            <a:endParaRPr b="1" sz="2800">
              <a:solidFill>
                <a:schemeClr val="lt1"/>
              </a:solidFill>
              <a:latin typeface="Arial"/>
              <a:ea typeface="Arial"/>
              <a:cs typeface="Arial"/>
              <a:sym typeface="Arial"/>
            </a:endParaRPr>
          </a:p>
        </p:txBody>
      </p:sp>
      <p:pic>
        <p:nvPicPr>
          <p:cNvPr id="252" name="Google Shape;252;p16"/>
          <p:cNvPicPr preferRelativeResize="0"/>
          <p:nvPr/>
        </p:nvPicPr>
        <p:blipFill rotWithShape="1">
          <a:blip r:embed="rId7">
            <a:alphaModFix/>
          </a:blip>
          <a:srcRect b="0" l="0" r="0" t="0"/>
          <a:stretch/>
        </p:blipFill>
        <p:spPr>
          <a:xfrm rot="10800000">
            <a:off x="457200" y="501930"/>
            <a:ext cx="1600200" cy="564870"/>
          </a:xfrm>
          <a:prstGeom prst="rect">
            <a:avLst/>
          </a:prstGeom>
          <a:noFill/>
          <a:ln>
            <a:noFill/>
          </a:ln>
        </p:spPr>
      </p:pic>
      <p:sp>
        <p:nvSpPr>
          <p:cNvPr id="253" name="Google Shape;253;p16"/>
          <p:cNvSpPr txBox="1"/>
          <p:nvPr/>
        </p:nvSpPr>
        <p:spPr>
          <a:xfrm>
            <a:off x="304800" y="381000"/>
            <a:ext cx="2209800"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200">
                <a:solidFill>
                  <a:srgbClr val="FF9900"/>
                </a:solidFill>
                <a:latin typeface="Arial"/>
                <a:ea typeface="Arial"/>
                <a:cs typeface="Arial"/>
                <a:sym typeface="Arial"/>
              </a:rPr>
              <a:t>DO IT!</a:t>
            </a:r>
            <a:endParaRPr b="1" sz="4200">
              <a:solidFill>
                <a:srgbClr val="FF9900"/>
              </a:solidFill>
              <a:latin typeface="Arial"/>
              <a:ea typeface="Arial"/>
              <a:cs typeface="Arial"/>
              <a:sym typeface="Arial"/>
            </a:endParaRPr>
          </a:p>
        </p:txBody>
      </p:sp>
      <p:sp>
        <p:nvSpPr>
          <p:cNvPr id="254" name="Google Shape;254;p16"/>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1</a:t>
            </a:r>
            <a:endParaRPr b="1" i="1" sz="1600">
              <a:solidFill>
                <a:schemeClr val="lt2"/>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gtEl>
                                        <p:attrNameLst>
                                          <p:attrName>style.visibility</p:attrName>
                                        </p:attrNameLst>
                                      </p:cBhvr>
                                      <p:to>
                                        <p:strVal val="visible"/>
                                      </p:to>
                                    </p:set>
                                    <p:animEffect filter="fade" transition="in">
                                      <p:cBhvr>
                                        <p:cTn dur="500"/>
                                        <p:tgtEl>
                                          <p:spTgt spid="2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500"/>
                                        <p:tgtEl>
                                          <p:spTgt spid="2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gtEl>
                                        <p:attrNameLst>
                                          <p:attrName>style.visibility</p:attrName>
                                        </p:attrNameLst>
                                      </p:cBhvr>
                                      <p:to>
                                        <p:strVal val="visible"/>
                                      </p:to>
                                    </p:set>
                                    <p:animEffect filter="fade" transition="in">
                                      <p:cBhvr>
                                        <p:cTn dur="500"/>
                                        <p:tgtEl>
                                          <p:spTgt spid="2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4"/>
                                        </p:tgtEl>
                                        <p:attrNameLst>
                                          <p:attrName>style.visibility</p:attrName>
                                        </p:attrNameLst>
                                      </p:cBhvr>
                                      <p:to>
                                        <p:strVal val="visible"/>
                                      </p:to>
                                    </p:set>
                                    <p:animEffect filter="fade" transition="in">
                                      <p:cBhvr>
                                        <p:cTn dur="500"/>
                                        <p:tgtEl>
                                          <p:spTgt spid="2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17"/>
          <p:cNvSpPr txBox="1"/>
          <p:nvPr/>
        </p:nvSpPr>
        <p:spPr>
          <a:xfrm>
            <a:off x="609599" y="1524000"/>
            <a:ext cx="8171543" cy="2711512"/>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en-US" sz="2400">
                <a:solidFill>
                  <a:schemeClr val="dk1"/>
                </a:solidFill>
                <a:latin typeface="Arial"/>
                <a:ea typeface="Arial"/>
                <a:cs typeface="Arial"/>
                <a:sym typeface="Arial"/>
              </a:rPr>
              <a:t>Deferrals </a:t>
            </a:r>
            <a:r>
              <a:rPr b="0" lang="en-US" sz="2400">
                <a:solidFill>
                  <a:schemeClr val="dk1"/>
                </a:solidFill>
                <a:latin typeface="Arial"/>
                <a:ea typeface="Arial"/>
                <a:cs typeface="Arial"/>
                <a:sym typeface="Arial"/>
              </a:rPr>
              <a:t>are </a:t>
            </a:r>
            <a:r>
              <a:rPr b="1" lang="en-US" sz="2400">
                <a:solidFill>
                  <a:schemeClr val="dk1"/>
                </a:solidFill>
                <a:latin typeface="Arial"/>
                <a:ea typeface="Arial"/>
                <a:cs typeface="Arial"/>
                <a:sym typeface="Arial"/>
              </a:rPr>
              <a:t>expenses or revenues</a:t>
            </a:r>
            <a:r>
              <a:rPr b="0" lang="en-US" sz="2400">
                <a:solidFill>
                  <a:schemeClr val="dk1"/>
                </a:solidFill>
                <a:latin typeface="Arial"/>
                <a:ea typeface="Arial"/>
                <a:cs typeface="Arial"/>
                <a:sym typeface="Arial"/>
              </a:rPr>
              <a:t> that are recognized at a date later than the point when cash was originally exchanged.  There are </a:t>
            </a:r>
            <a:r>
              <a:rPr b="1" lang="en-US" sz="2400">
                <a:solidFill>
                  <a:schemeClr val="dk1"/>
                </a:solidFill>
                <a:latin typeface="Arial"/>
                <a:ea typeface="Arial"/>
                <a:cs typeface="Arial"/>
                <a:sym typeface="Arial"/>
              </a:rPr>
              <a:t>two types</a:t>
            </a:r>
            <a:r>
              <a:rPr b="0" lang="en-US" sz="2400">
                <a:solidFill>
                  <a:schemeClr val="dk1"/>
                </a:solidFill>
                <a:latin typeface="Arial"/>
                <a:ea typeface="Arial"/>
                <a:cs typeface="Arial"/>
                <a:sym typeface="Arial"/>
              </a:rPr>
              <a:t>:</a:t>
            </a:r>
            <a:endParaRPr/>
          </a:p>
          <a:p>
            <a:pPr indent="-457200" lvl="1" marL="685800" marR="0" rtl="0" algn="l">
              <a:lnSpc>
                <a:spcPct val="120000"/>
              </a:lnSpc>
              <a:spcBef>
                <a:spcPts val="1610"/>
              </a:spcBef>
              <a:spcAft>
                <a:spcPts val="0"/>
              </a:spcAft>
              <a:buClr>
                <a:srgbClr val="800000"/>
              </a:buClr>
              <a:buSzPts val="1840"/>
              <a:buFont typeface="Noto Sans Symbols"/>
              <a:buChar char="◆"/>
            </a:pPr>
            <a:r>
              <a:rPr b="1" i="0" lang="en-US" sz="2300" u="none" cap="none" strike="noStrike">
                <a:solidFill>
                  <a:schemeClr val="dk1"/>
                </a:solidFill>
                <a:latin typeface="Arial"/>
                <a:ea typeface="Arial"/>
                <a:cs typeface="Arial"/>
                <a:sym typeface="Arial"/>
              </a:rPr>
              <a:t>Prepaid expenses</a:t>
            </a:r>
            <a:endParaRPr b="1" i="1" sz="2300" u="none" cap="none" strike="noStrike">
              <a:solidFill>
                <a:srgbClr val="CC0000"/>
              </a:solidFill>
              <a:latin typeface="Arial"/>
              <a:ea typeface="Arial"/>
              <a:cs typeface="Arial"/>
              <a:sym typeface="Arial"/>
            </a:endParaRPr>
          </a:p>
          <a:p>
            <a:pPr indent="-457200" lvl="1" marL="685800" marR="0" rtl="0" algn="l">
              <a:lnSpc>
                <a:spcPct val="120000"/>
              </a:lnSpc>
              <a:spcBef>
                <a:spcPts val="1610"/>
              </a:spcBef>
              <a:spcAft>
                <a:spcPts val="0"/>
              </a:spcAft>
              <a:buClr>
                <a:srgbClr val="800000"/>
              </a:buClr>
              <a:buSzPts val="1840"/>
              <a:buFont typeface="Noto Sans Symbols"/>
              <a:buChar char="◆"/>
            </a:pPr>
            <a:r>
              <a:rPr b="1" i="0" lang="en-US" sz="2300" u="none" cap="none" strike="noStrike">
                <a:solidFill>
                  <a:schemeClr val="dk1"/>
                </a:solidFill>
                <a:latin typeface="Arial"/>
                <a:ea typeface="Arial"/>
                <a:cs typeface="Arial"/>
                <a:sym typeface="Arial"/>
              </a:rPr>
              <a:t>Unearned revenues</a:t>
            </a:r>
            <a:endParaRPr b="0" i="0" sz="2300" u="none" cap="none" strike="noStrike">
              <a:solidFill>
                <a:schemeClr val="dk1"/>
              </a:solidFill>
              <a:latin typeface="Arial"/>
              <a:ea typeface="Arial"/>
              <a:cs typeface="Arial"/>
              <a:sym typeface="Arial"/>
            </a:endParaRPr>
          </a:p>
        </p:txBody>
      </p:sp>
      <p:sp>
        <p:nvSpPr>
          <p:cNvPr id="260" name="Google Shape;260;p17"/>
          <p:cNvSpPr/>
          <p:nvPr/>
        </p:nvSpPr>
        <p:spPr>
          <a:xfrm>
            <a:off x="290286" y="405765"/>
            <a:ext cx="2249714" cy="677228"/>
          </a:xfrm>
          <a:prstGeom prst="rect">
            <a:avLst/>
          </a:prstGeom>
          <a:solidFill>
            <a:srgbClr val="D8D8D8"/>
          </a:solidFill>
          <a:ln>
            <a:noFill/>
          </a:ln>
        </p:spPr>
        <p:txBody>
          <a:bodyPr anchorCtr="0" anchor="ctr" bIns="43225" lIns="86475" spcFirstLastPara="1" rIns="86475" wrap="square" tIns="43225">
            <a:noAutofit/>
          </a:bodyPr>
          <a:lstStyle/>
          <a:p>
            <a:pPr indent="0" lvl="0" marL="0" marR="0" rtl="0" algn="l">
              <a:spcBef>
                <a:spcPts val="0"/>
              </a:spcBef>
              <a:spcAft>
                <a:spcPts val="0"/>
              </a:spcAft>
              <a:buNone/>
            </a:pPr>
            <a:r>
              <a:rPr b="1" lang="en-US" sz="1700">
                <a:solidFill>
                  <a:schemeClr val="dk1"/>
                </a:solidFill>
                <a:latin typeface="Arial"/>
                <a:ea typeface="Arial"/>
                <a:cs typeface="Arial"/>
                <a:sym typeface="Arial"/>
              </a:rPr>
              <a:t>LEARNING</a:t>
            </a:r>
            <a:endParaRPr/>
          </a:p>
          <a:p>
            <a:pPr indent="0" lvl="0" marL="0" marR="0" rtl="0" algn="l">
              <a:spcBef>
                <a:spcPts val="0"/>
              </a:spcBef>
              <a:spcAft>
                <a:spcPts val="0"/>
              </a:spcAft>
              <a:buNone/>
            </a:pPr>
            <a:r>
              <a:rPr b="1" lang="en-US" sz="1700">
                <a:solidFill>
                  <a:schemeClr val="dk1"/>
                </a:solidFill>
                <a:latin typeface="Arial"/>
                <a:ea typeface="Arial"/>
                <a:cs typeface="Arial"/>
                <a:sym typeface="Arial"/>
              </a:rPr>
              <a:t>OBJECTIVE</a:t>
            </a:r>
            <a:endParaRPr/>
          </a:p>
        </p:txBody>
      </p:sp>
      <p:sp>
        <p:nvSpPr>
          <p:cNvPr id="261" name="Google Shape;261;p17"/>
          <p:cNvSpPr/>
          <p:nvPr/>
        </p:nvSpPr>
        <p:spPr>
          <a:xfrm>
            <a:off x="2540000" y="274320"/>
            <a:ext cx="6241143" cy="928688"/>
          </a:xfrm>
          <a:prstGeom prst="rect">
            <a:avLst/>
          </a:prstGeom>
          <a:solidFill>
            <a:srgbClr val="0027A4"/>
          </a:solidFill>
          <a:ln>
            <a:noFill/>
          </a:ln>
        </p:spPr>
        <p:txBody>
          <a:bodyPr anchorCtr="0" anchor="ctr" bIns="45700" lIns="91425" spcFirstLastPara="1" rIns="91425" wrap="square" tIns="27425">
            <a:noAutofit/>
          </a:bodyPr>
          <a:lstStyle/>
          <a:p>
            <a:pPr indent="0" lvl="0" marL="117475" marR="0" rtl="0" algn="l">
              <a:spcBef>
                <a:spcPts val="0"/>
              </a:spcBef>
              <a:spcAft>
                <a:spcPts val="0"/>
              </a:spcAft>
              <a:buNone/>
            </a:pPr>
            <a:r>
              <a:rPr b="1" lang="en-US" sz="2500">
                <a:solidFill>
                  <a:schemeClr val="lt1"/>
                </a:solidFill>
                <a:latin typeface="Arial"/>
                <a:ea typeface="Arial"/>
                <a:cs typeface="Arial"/>
                <a:sym typeface="Arial"/>
              </a:rPr>
              <a:t>Prepare adjusting entries for deferrals.</a:t>
            </a:r>
            <a:endParaRPr b="1" sz="2500">
              <a:solidFill>
                <a:schemeClr val="lt1"/>
              </a:solidFill>
              <a:latin typeface="Arial"/>
              <a:ea typeface="Arial"/>
              <a:cs typeface="Arial"/>
              <a:sym typeface="Arial"/>
            </a:endParaRPr>
          </a:p>
        </p:txBody>
      </p:sp>
      <p:sp>
        <p:nvSpPr>
          <p:cNvPr id="262" name="Google Shape;262;p17"/>
          <p:cNvSpPr/>
          <p:nvPr/>
        </p:nvSpPr>
        <p:spPr>
          <a:xfrm>
            <a:off x="1872343" y="485775"/>
            <a:ext cx="522514" cy="514350"/>
          </a:xfrm>
          <a:prstGeom prst="ellipse">
            <a:avLst/>
          </a:prstGeom>
          <a:solidFill>
            <a:srgbClr val="FF6600"/>
          </a:solidFill>
          <a:ln>
            <a:noFill/>
          </a:ln>
        </p:spPr>
        <p:txBody>
          <a:bodyPr anchorCtr="0" anchor="ctr" bIns="43225" lIns="86475" spcFirstLastPara="1" rIns="86475" wrap="square" tIns="0">
            <a:noAutofit/>
          </a:bodyPr>
          <a:lstStyle/>
          <a:p>
            <a:pPr indent="0" lvl="0" marL="0" marR="0" rtl="0" algn="ctr">
              <a:spcBef>
                <a:spcPts val="0"/>
              </a:spcBef>
              <a:spcAft>
                <a:spcPts val="0"/>
              </a:spcAft>
              <a:buNone/>
            </a:pPr>
            <a:r>
              <a:rPr b="1" lang="en-US" sz="2400">
                <a:solidFill>
                  <a:schemeClr val="lt1"/>
                </a:solidFill>
                <a:latin typeface="Arial"/>
                <a:ea typeface="Arial"/>
                <a:cs typeface="Arial"/>
                <a:sym typeface="Arial"/>
              </a:rPr>
              <a:t>2</a:t>
            </a:r>
            <a:endParaRPr b="1" sz="2400">
              <a:solidFill>
                <a:schemeClr val="lt1"/>
              </a:solidFill>
              <a:latin typeface="Arial"/>
              <a:ea typeface="Arial"/>
              <a:cs typeface="Arial"/>
              <a:sym typeface="Arial"/>
            </a:endParaRPr>
          </a:p>
        </p:txBody>
      </p:sp>
      <p:sp>
        <p:nvSpPr>
          <p:cNvPr id="263" name="Google Shape;263;p17"/>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2</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18"/>
          <p:cNvSpPr txBox="1"/>
          <p:nvPr>
            <p:ph idx="4294967295" type="body"/>
          </p:nvPr>
        </p:nvSpPr>
        <p:spPr>
          <a:xfrm>
            <a:off x="533400" y="1295400"/>
            <a:ext cx="8077200" cy="914400"/>
          </a:xfrm>
          <a:prstGeom prst="rect">
            <a:avLst/>
          </a:prstGeom>
          <a:noFill/>
          <a:ln>
            <a:noFill/>
          </a:ln>
        </p:spPr>
        <p:txBody>
          <a:bodyPr anchorCtr="0" anchor="t" bIns="46025" lIns="182550" spcFirstLastPara="1" rIns="182550" wrap="square" tIns="46025">
            <a:noAutofit/>
          </a:bodyPr>
          <a:lstStyle/>
          <a:p>
            <a:pPr indent="0" lvl="0" marL="0" rtl="0" algn="l">
              <a:lnSpc>
                <a:spcPct val="110000"/>
              </a:lnSpc>
              <a:spcBef>
                <a:spcPts val="0"/>
              </a:spcBef>
              <a:spcAft>
                <a:spcPts val="0"/>
              </a:spcAft>
              <a:buClr>
                <a:srgbClr val="006666"/>
              </a:buClr>
              <a:buSzPts val="2300"/>
              <a:buFont typeface="Arial"/>
              <a:buNone/>
            </a:pPr>
            <a:r>
              <a:rPr lang="en-US" sz="2300">
                <a:latin typeface="Arial"/>
                <a:ea typeface="Arial"/>
                <a:cs typeface="Arial"/>
                <a:sym typeface="Arial"/>
              </a:rPr>
              <a:t>Payment of cash, that is recorded as an asset to show   the service or benefit the company will receive in the future.</a:t>
            </a:r>
            <a:endParaRPr/>
          </a:p>
        </p:txBody>
      </p:sp>
      <p:sp>
        <p:nvSpPr>
          <p:cNvPr id="269" name="Google Shape;269;p18"/>
          <p:cNvSpPr/>
          <p:nvPr/>
        </p:nvSpPr>
        <p:spPr>
          <a:xfrm>
            <a:off x="762000" y="4223028"/>
            <a:ext cx="2438400" cy="1415772"/>
          </a:xfrm>
          <a:prstGeom prst="rect">
            <a:avLst/>
          </a:prstGeom>
          <a:noFill/>
          <a:ln>
            <a:noFill/>
          </a:ln>
        </p:spPr>
        <p:txBody>
          <a:bodyPr anchorCtr="0" anchor="t" bIns="45700" lIns="91425" spcFirstLastPara="1" rIns="91425" wrap="square" tIns="45700">
            <a:spAutoFit/>
          </a:bodyPr>
          <a:lstStyle/>
          <a:p>
            <a:pPr indent="-457200" lvl="1" marL="571500" marR="0" rtl="0" algn="l">
              <a:spcBef>
                <a:spcPts val="0"/>
              </a:spcBef>
              <a:spcAft>
                <a:spcPts val="0"/>
              </a:spcAft>
              <a:buClr>
                <a:srgbClr val="800000"/>
              </a:buClr>
              <a:buSzPts val="1760"/>
              <a:buFont typeface="Noto Sans Symbols"/>
              <a:buChar char="◆"/>
            </a:pPr>
            <a:r>
              <a:rPr b="0" i="0" lang="en-US" sz="2200" u="none" cap="none" strike="noStrike">
                <a:solidFill>
                  <a:schemeClr val="lt2"/>
                </a:solidFill>
                <a:latin typeface="Arial"/>
                <a:ea typeface="Arial"/>
                <a:cs typeface="Arial"/>
                <a:sym typeface="Arial"/>
              </a:rPr>
              <a:t>insurance</a:t>
            </a:r>
            <a:endParaRPr/>
          </a:p>
          <a:p>
            <a:pPr indent="-457200" lvl="1" marL="571500" marR="0" rtl="0" algn="l">
              <a:spcBef>
                <a:spcPts val="1200"/>
              </a:spcBef>
              <a:spcAft>
                <a:spcPts val="0"/>
              </a:spcAft>
              <a:buClr>
                <a:srgbClr val="800000"/>
              </a:buClr>
              <a:buSzPts val="1760"/>
              <a:buFont typeface="Noto Sans Symbols"/>
              <a:buChar char="◆"/>
            </a:pPr>
            <a:r>
              <a:rPr b="0" i="0" lang="en-US" sz="2200" u="none" cap="none" strike="noStrike">
                <a:solidFill>
                  <a:schemeClr val="lt2"/>
                </a:solidFill>
                <a:latin typeface="Arial"/>
                <a:ea typeface="Arial"/>
                <a:cs typeface="Arial"/>
                <a:sym typeface="Arial"/>
              </a:rPr>
              <a:t>supplies</a:t>
            </a:r>
            <a:endParaRPr/>
          </a:p>
          <a:p>
            <a:pPr indent="-457200" lvl="1" marL="571500" marR="0" rtl="0" algn="l">
              <a:spcBef>
                <a:spcPts val="1200"/>
              </a:spcBef>
              <a:spcAft>
                <a:spcPts val="0"/>
              </a:spcAft>
              <a:buClr>
                <a:srgbClr val="800000"/>
              </a:buClr>
              <a:buSzPts val="1760"/>
              <a:buFont typeface="Noto Sans Symbols"/>
              <a:buChar char="◆"/>
            </a:pPr>
            <a:r>
              <a:rPr b="0" i="0" lang="en-US" sz="2200" u="none" cap="none" strike="noStrike">
                <a:solidFill>
                  <a:schemeClr val="lt2"/>
                </a:solidFill>
                <a:latin typeface="Arial"/>
                <a:ea typeface="Arial"/>
                <a:cs typeface="Arial"/>
                <a:sym typeface="Arial"/>
              </a:rPr>
              <a:t>advertising</a:t>
            </a:r>
            <a:endParaRPr/>
          </a:p>
        </p:txBody>
      </p:sp>
      <p:sp>
        <p:nvSpPr>
          <p:cNvPr id="270" name="Google Shape;270;p18"/>
          <p:cNvSpPr txBox="1"/>
          <p:nvPr/>
        </p:nvSpPr>
        <p:spPr>
          <a:xfrm>
            <a:off x="1066800" y="2862540"/>
            <a:ext cx="2438400" cy="492443"/>
          </a:xfrm>
          <a:prstGeom prst="rect">
            <a:avLst/>
          </a:prstGeom>
          <a:solidFill>
            <a:srgbClr val="FFFF99"/>
          </a:solidFill>
          <a:ln cap="flat" cmpd="sng" w="28575">
            <a:solidFill>
              <a:schemeClr val="dk1"/>
            </a:solidFill>
            <a:prstDash val="solid"/>
            <a:miter lim="800000"/>
            <a:headEnd len="sm" w="sm" type="none"/>
            <a:tailEnd len="sm" w="sm" type="none"/>
          </a:ln>
        </p:spPr>
        <p:txBody>
          <a:bodyPr anchorCtr="0" anchor="t" bIns="91425" lIns="91425" spcFirstLastPara="1" rIns="91425" wrap="square" tIns="45700">
            <a:spAutoFit/>
          </a:bodyPr>
          <a:lstStyle/>
          <a:p>
            <a:pPr indent="-457200" lvl="0" marL="457200" marR="0" rtl="0" algn="ctr">
              <a:spcBef>
                <a:spcPts val="0"/>
              </a:spcBef>
              <a:spcAft>
                <a:spcPts val="0"/>
              </a:spcAft>
              <a:buNone/>
            </a:pPr>
            <a:r>
              <a:rPr b="1" lang="en-US" sz="2300">
                <a:solidFill>
                  <a:schemeClr val="dk1"/>
                </a:solidFill>
                <a:latin typeface="Arial"/>
                <a:ea typeface="Arial"/>
                <a:cs typeface="Arial"/>
                <a:sym typeface="Arial"/>
              </a:rPr>
              <a:t>Cash Payment</a:t>
            </a:r>
            <a:endParaRPr/>
          </a:p>
        </p:txBody>
      </p:sp>
      <p:sp>
        <p:nvSpPr>
          <p:cNvPr id="271" name="Google Shape;271;p18"/>
          <p:cNvSpPr txBox="1"/>
          <p:nvPr/>
        </p:nvSpPr>
        <p:spPr>
          <a:xfrm>
            <a:off x="5170488" y="2862540"/>
            <a:ext cx="3135312" cy="492443"/>
          </a:xfrm>
          <a:prstGeom prst="rect">
            <a:avLst/>
          </a:prstGeom>
          <a:solidFill>
            <a:srgbClr val="FFFF99"/>
          </a:solidFill>
          <a:ln cap="flat" cmpd="sng" w="28575">
            <a:solidFill>
              <a:schemeClr val="dk1"/>
            </a:solidFill>
            <a:prstDash val="solid"/>
            <a:miter lim="800000"/>
            <a:headEnd len="sm" w="sm" type="none"/>
            <a:tailEnd len="sm" w="sm" type="none"/>
          </a:ln>
        </p:spPr>
        <p:txBody>
          <a:bodyPr anchorCtr="0" anchor="t" bIns="91425" lIns="91425" spcFirstLastPara="1" rIns="91425" wrap="square" tIns="45700">
            <a:spAutoFit/>
          </a:bodyPr>
          <a:lstStyle/>
          <a:p>
            <a:pPr indent="-457200" lvl="0" marL="457200" marR="0" rtl="0" algn="ctr">
              <a:spcBef>
                <a:spcPts val="0"/>
              </a:spcBef>
              <a:spcAft>
                <a:spcPts val="0"/>
              </a:spcAft>
              <a:buNone/>
            </a:pPr>
            <a:r>
              <a:rPr b="1" lang="en-US" sz="2300">
                <a:solidFill>
                  <a:schemeClr val="dk1"/>
                </a:solidFill>
                <a:latin typeface="Arial"/>
                <a:ea typeface="Arial"/>
                <a:cs typeface="Arial"/>
                <a:sym typeface="Arial"/>
              </a:rPr>
              <a:t>Expense Recorded</a:t>
            </a:r>
            <a:endParaRPr/>
          </a:p>
        </p:txBody>
      </p:sp>
      <p:sp>
        <p:nvSpPr>
          <p:cNvPr id="272" name="Google Shape;272;p18"/>
          <p:cNvSpPr txBox="1"/>
          <p:nvPr/>
        </p:nvSpPr>
        <p:spPr>
          <a:xfrm>
            <a:off x="3276600" y="2862540"/>
            <a:ext cx="2133600" cy="442913"/>
          </a:xfrm>
          <a:prstGeom prst="rect">
            <a:avLst/>
          </a:prstGeom>
          <a:noFill/>
          <a:ln>
            <a:noFill/>
          </a:ln>
        </p:spPr>
        <p:txBody>
          <a:bodyPr anchorCtr="0" anchor="t" bIns="45700" lIns="91425" spcFirstLastPara="1" rIns="91425" wrap="square" tIns="45700">
            <a:spAutoFit/>
          </a:bodyPr>
          <a:lstStyle/>
          <a:p>
            <a:pPr indent="-457200" lvl="0" marL="457200" marR="0" rtl="0" algn="ctr">
              <a:spcBef>
                <a:spcPts val="0"/>
              </a:spcBef>
              <a:spcAft>
                <a:spcPts val="0"/>
              </a:spcAft>
              <a:buNone/>
            </a:pPr>
            <a:r>
              <a:rPr b="1" lang="en-US" sz="2300">
                <a:solidFill>
                  <a:srgbClr val="800000"/>
                </a:solidFill>
                <a:latin typeface="Arial"/>
                <a:ea typeface="Arial"/>
                <a:cs typeface="Arial"/>
                <a:sym typeface="Arial"/>
              </a:rPr>
              <a:t>BEFORE</a:t>
            </a:r>
            <a:endParaRPr/>
          </a:p>
        </p:txBody>
      </p:sp>
      <p:sp>
        <p:nvSpPr>
          <p:cNvPr id="273" name="Google Shape;273;p18"/>
          <p:cNvSpPr/>
          <p:nvPr/>
        </p:nvSpPr>
        <p:spPr>
          <a:xfrm>
            <a:off x="3352800" y="4202390"/>
            <a:ext cx="2438400" cy="1415772"/>
          </a:xfrm>
          <a:prstGeom prst="rect">
            <a:avLst/>
          </a:prstGeom>
          <a:noFill/>
          <a:ln>
            <a:noFill/>
          </a:ln>
        </p:spPr>
        <p:txBody>
          <a:bodyPr anchorCtr="0" anchor="t" bIns="45700" lIns="91425" spcFirstLastPara="1" rIns="91425" wrap="square" tIns="45700">
            <a:spAutoFit/>
          </a:bodyPr>
          <a:lstStyle/>
          <a:p>
            <a:pPr indent="-457200" lvl="1" marL="571500" marR="0" rtl="0" algn="l">
              <a:spcBef>
                <a:spcPts val="0"/>
              </a:spcBef>
              <a:spcAft>
                <a:spcPts val="0"/>
              </a:spcAft>
              <a:buClr>
                <a:srgbClr val="800000"/>
              </a:buClr>
              <a:buSzPts val="1760"/>
              <a:buFont typeface="Noto Sans Symbols"/>
              <a:buChar char="◆"/>
            </a:pPr>
            <a:r>
              <a:rPr b="0" i="0" lang="en-US" sz="2200" u="none" cap="none" strike="noStrike">
                <a:solidFill>
                  <a:schemeClr val="lt2"/>
                </a:solidFill>
                <a:latin typeface="Arial"/>
                <a:ea typeface="Arial"/>
                <a:cs typeface="Arial"/>
                <a:sym typeface="Arial"/>
              </a:rPr>
              <a:t>rent</a:t>
            </a:r>
            <a:endParaRPr/>
          </a:p>
          <a:p>
            <a:pPr indent="-457200" lvl="1" marL="571500" marR="0" rtl="0" algn="l">
              <a:spcBef>
                <a:spcPts val="1200"/>
              </a:spcBef>
              <a:spcAft>
                <a:spcPts val="0"/>
              </a:spcAft>
              <a:buClr>
                <a:srgbClr val="800000"/>
              </a:buClr>
              <a:buSzPts val="1760"/>
              <a:buFont typeface="Noto Sans Symbols"/>
              <a:buChar char="◆"/>
            </a:pPr>
            <a:r>
              <a:rPr b="0" i="0" lang="en-US" sz="2200" u="none" cap="none" strike="noStrike">
                <a:solidFill>
                  <a:schemeClr val="lt2"/>
                </a:solidFill>
                <a:latin typeface="Arial"/>
                <a:ea typeface="Arial"/>
                <a:cs typeface="Arial"/>
                <a:sym typeface="Arial"/>
              </a:rPr>
              <a:t>equipment</a:t>
            </a:r>
            <a:endParaRPr/>
          </a:p>
          <a:p>
            <a:pPr indent="-457200" lvl="1" marL="571500" marR="0" rtl="0" algn="l">
              <a:spcBef>
                <a:spcPts val="1200"/>
              </a:spcBef>
              <a:spcAft>
                <a:spcPts val="0"/>
              </a:spcAft>
              <a:buClr>
                <a:srgbClr val="800000"/>
              </a:buClr>
              <a:buSzPts val="1760"/>
              <a:buFont typeface="Noto Sans Symbols"/>
              <a:buChar char="◆"/>
            </a:pPr>
            <a:r>
              <a:rPr b="0" i="0" lang="en-US" sz="2200" u="none" cap="none" strike="noStrike">
                <a:solidFill>
                  <a:schemeClr val="lt2"/>
                </a:solidFill>
                <a:latin typeface="Arial"/>
                <a:ea typeface="Arial"/>
                <a:cs typeface="Arial"/>
                <a:sym typeface="Arial"/>
              </a:rPr>
              <a:t>buildings</a:t>
            </a:r>
            <a:endParaRPr/>
          </a:p>
        </p:txBody>
      </p:sp>
      <p:sp>
        <p:nvSpPr>
          <p:cNvPr id="274" name="Google Shape;274;p18"/>
          <p:cNvSpPr/>
          <p:nvPr/>
        </p:nvSpPr>
        <p:spPr>
          <a:xfrm>
            <a:off x="609600" y="3700740"/>
            <a:ext cx="6324600" cy="446276"/>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None/>
            </a:pPr>
            <a:r>
              <a:rPr b="1" lang="en-US" sz="2300">
                <a:solidFill>
                  <a:schemeClr val="lt2"/>
                </a:solidFill>
                <a:latin typeface="Arial"/>
                <a:ea typeface="Arial"/>
                <a:cs typeface="Arial"/>
                <a:sym typeface="Arial"/>
              </a:rPr>
              <a:t>Prepayments</a:t>
            </a:r>
            <a:r>
              <a:rPr b="0" lang="en-US" sz="2300">
                <a:solidFill>
                  <a:schemeClr val="lt2"/>
                </a:solidFill>
                <a:latin typeface="Arial"/>
                <a:ea typeface="Arial"/>
                <a:cs typeface="Arial"/>
                <a:sym typeface="Arial"/>
              </a:rPr>
              <a:t> often occur in regard to:</a:t>
            </a:r>
            <a:endParaRPr/>
          </a:p>
        </p:txBody>
      </p:sp>
      <p:cxnSp>
        <p:nvCxnSpPr>
          <p:cNvPr id="275" name="Google Shape;275;p18"/>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276" name="Google Shape;276;p18"/>
          <p:cNvSpPr/>
          <p:nvPr/>
        </p:nvSpPr>
        <p:spPr>
          <a:xfrm>
            <a:off x="609600" y="304800"/>
            <a:ext cx="82296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Prepaid Expenses</a:t>
            </a:r>
            <a:endParaRPr b="1" sz="3200">
              <a:solidFill>
                <a:srgbClr val="0000BF"/>
              </a:solidFill>
              <a:latin typeface="Arial"/>
              <a:ea typeface="Arial"/>
              <a:cs typeface="Arial"/>
              <a:sym typeface="Arial"/>
            </a:endParaRPr>
          </a:p>
        </p:txBody>
      </p:sp>
      <p:sp>
        <p:nvSpPr>
          <p:cNvPr id="277" name="Google Shape;277;p18"/>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2</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19"/>
          <p:cNvSpPr txBox="1"/>
          <p:nvPr/>
        </p:nvSpPr>
        <p:spPr>
          <a:xfrm>
            <a:off x="609600" y="1295400"/>
            <a:ext cx="8001000" cy="2322174"/>
          </a:xfrm>
          <a:prstGeom prst="rect">
            <a:avLst/>
          </a:prstGeom>
          <a:noFill/>
          <a:ln>
            <a:noFill/>
          </a:ln>
        </p:spPr>
        <p:txBody>
          <a:bodyPr anchorCtr="0" anchor="t" bIns="45700" lIns="91425" spcFirstLastPara="1" rIns="91425" wrap="square" tIns="45700">
            <a:spAutoFit/>
          </a:bodyPr>
          <a:lstStyle/>
          <a:p>
            <a:pPr indent="-457200" lvl="0" marL="685800" marR="0" rtl="0" algn="l">
              <a:lnSpc>
                <a:spcPct val="120000"/>
              </a:lnSpc>
              <a:spcBef>
                <a:spcPts val="0"/>
              </a:spcBef>
              <a:spcAft>
                <a:spcPts val="0"/>
              </a:spcAft>
              <a:buClr>
                <a:srgbClr val="800000"/>
              </a:buClr>
              <a:buSzPts val="1840"/>
              <a:buFont typeface="Noto Sans Symbols"/>
              <a:buChar char="◆"/>
            </a:pPr>
            <a:r>
              <a:rPr b="0" lang="en-US" sz="2300">
                <a:solidFill>
                  <a:schemeClr val="dk1"/>
                </a:solidFill>
                <a:latin typeface="Arial"/>
                <a:ea typeface="Arial"/>
                <a:cs typeface="Arial"/>
                <a:sym typeface="Arial"/>
              </a:rPr>
              <a:t>Expire either with the passage of time or through use.</a:t>
            </a:r>
            <a:endParaRPr/>
          </a:p>
          <a:p>
            <a:pPr indent="-457200" lvl="0" marL="685800" marR="0" rtl="0" algn="l">
              <a:lnSpc>
                <a:spcPct val="120000"/>
              </a:lnSpc>
              <a:spcBef>
                <a:spcPts val="1150"/>
              </a:spcBef>
              <a:spcAft>
                <a:spcPts val="0"/>
              </a:spcAft>
              <a:buClr>
                <a:srgbClr val="800000"/>
              </a:buClr>
              <a:buSzPts val="1840"/>
              <a:buFont typeface="Noto Sans Symbols"/>
              <a:buChar char="◆"/>
            </a:pPr>
            <a:r>
              <a:rPr b="0" lang="en-US" sz="2300">
                <a:solidFill>
                  <a:schemeClr val="dk1"/>
                </a:solidFill>
                <a:latin typeface="Arial"/>
                <a:ea typeface="Arial"/>
                <a:cs typeface="Arial"/>
                <a:sym typeface="Arial"/>
              </a:rPr>
              <a:t>Adjusting entry: </a:t>
            </a:r>
            <a:endParaRPr/>
          </a:p>
          <a:p>
            <a:pPr indent="-400050" lvl="1" marL="1314450" marR="0" rtl="0" algn="l">
              <a:lnSpc>
                <a:spcPct val="120000"/>
              </a:lnSpc>
              <a:spcBef>
                <a:spcPts val="1100"/>
              </a:spcBef>
              <a:spcAft>
                <a:spcPts val="0"/>
              </a:spcAft>
              <a:buClr>
                <a:srgbClr val="800000"/>
              </a:buClr>
              <a:buSzPts val="1760"/>
              <a:buFont typeface="Arial"/>
              <a:buChar char="►"/>
            </a:pPr>
            <a:r>
              <a:rPr b="1" i="0" lang="en-US" sz="2200" u="none" cap="none" strike="noStrike">
                <a:solidFill>
                  <a:schemeClr val="dk1"/>
                </a:solidFill>
                <a:latin typeface="Arial"/>
                <a:ea typeface="Arial"/>
                <a:cs typeface="Arial"/>
                <a:sym typeface="Arial"/>
              </a:rPr>
              <a:t>Increase</a:t>
            </a:r>
            <a:r>
              <a:rPr b="0" i="0" lang="en-US" sz="2200" u="none" cap="none" strike="noStrike">
                <a:solidFill>
                  <a:schemeClr val="dk1"/>
                </a:solidFill>
                <a:latin typeface="Arial"/>
                <a:ea typeface="Arial"/>
                <a:cs typeface="Arial"/>
                <a:sym typeface="Arial"/>
              </a:rPr>
              <a:t> (debit) to an </a:t>
            </a:r>
            <a:r>
              <a:rPr b="1" i="0" lang="en-US" sz="2200" u="none" cap="none" strike="noStrike">
                <a:solidFill>
                  <a:schemeClr val="dk1"/>
                </a:solidFill>
                <a:latin typeface="Arial"/>
                <a:ea typeface="Arial"/>
                <a:cs typeface="Arial"/>
                <a:sym typeface="Arial"/>
              </a:rPr>
              <a:t>expense account</a:t>
            </a:r>
            <a:r>
              <a:rPr b="0" i="0" lang="en-US" sz="2200" u="none" cap="none" strike="noStrike">
                <a:solidFill>
                  <a:schemeClr val="dk1"/>
                </a:solidFill>
                <a:latin typeface="Arial"/>
                <a:ea typeface="Arial"/>
                <a:cs typeface="Arial"/>
                <a:sym typeface="Arial"/>
              </a:rPr>
              <a:t> and </a:t>
            </a:r>
            <a:endParaRPr/>
          </a:p>
          <a:p>
            <a:pPr indent="-400050" lvl="1" marL="1314450" marR="0" rtl="0" algn="l">
              <a:lnSpc>
                <a:spcPct val="120000"/>
              </a:lnSpc>
              <a:spcBef>
                <a:spcPts val="1100"/>
              </a:spcBef>
              <a:spcAft>
                <a:spcPts val="0"/>
              </a:spcAft>
              <a:buClr>
                <a:srgbClr val="800000"/>
              </a:buClr>
              <a:buSzPts val="1760"/>
              <a:buFont typeface="Arial"/>
              <a:buChar char="►"/>
            </a:pPr>
            <a:r>
              <a:rPr b="1" i="0" lang="en-US" sz="2200" u="none" cap="none" strike="noStrike">
                <a:solidFill>
                  <a:schemeClr val="dk1"/>
                </a:solidFill>
                <a:latin typeface="Arial"/>
                <a:ea typeface="Arial"/>
                <a:cs typeface="Arial"/>
                <a:sym typeface="Arial"/>
              </a:rPr>
              <a:t>Decrease</a:t>
            </a:r>
            <a:r>
              <a:rPr b="0" i="0" lang="en-US" sz="2200" u="none" cap="none" strike="noStrike">
                <a:solidFill>
                  <a:schemeClr val="dk1"/>
                </a:solidFill>
                <a:latin typeface="Arial"/>
                <a:ea typeface="Arial"/>
                <a:cs typeface="Arial"/>
                <a:sym typeface="Arial"/>
              </a:rPr>
              <a:t> (credit) to an </a:t>
            </a:r>
            <a:r>
              <a:rPr b="1" i="0" lang="en-US" sz="2200" u="none" cap="none" strike="noStrike">
                <a:solidFill>
                  <a:schemeClr val="dk1"/>
                </a:solidFill>
                <a:latin typeface="Arial"/>
                <a:ea typeface="Arial"/>
                <a:cs typeface="Arial"/>
                <a:sym typeface="Arial"/>
              </a:rPr>
              <a:t>asset account</a:t>
            </a:r>
            <a:r>
              <a:rPr b="0" i="0" lang="en-US" sz="2200" u="none" cap="none" strike="noStrike">
                <a:solidFill>
                  <a:schemeClr val="dk1"/>
                </a:solidFill>
                <a:latin typeface="Arial"/>
                <a:ea typeface="Arial"/>
                <a:cs typeface="Arial"/>
                <a:sym typeface="Arial"/>
              </a:rPr>
              <a:t>.</a:t>
            </a:r>
            <a:endParaRPr b="0" i="0" sz="2200" u="none" cap="none" strike="noStrike">
              <a:solidFill>
                <a:schemeClr val="dk1"/>
              </a:solidFill>
              <a:latin typeface="Arial"/>
              <a:ea typeface="Arial"/>
              <a:cs typeface="Arial"/>
              <a:sym typeface="Arial"/>
            </a:endParaRPr>
          </a:p>
        </p:txBody>
      </p:sp>
      <p:cxnSp>
        <p:nvCxnSpPr>
          <p:cNvPr id="283" name="Google Shape;283;p19"/>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pic>
        <p:nvPicPr>
          <p:cNvPr id="284" name="Google Shape;284;p19"/>
          <p:cNvPicPr preferRelativeResize="0"/>
          <p:nvPr/>
        </p:nvPicPr>
        <p:blipFill rotWithShape="1">
          <a:blip r:embed="rId3">
            <a:alphaModFix/>
          </a:blip>
          <a:srcRect b="0" l="0" r="0" t="0"/>
          <a:stretch/>
        </p:blipFill>
        <p:spPr>
          <a:xfrm>
            <a:off x="1160028" y="3906837"/>
            <a:ext cx="6764772" cy="2112963"/>
          </a:xfrm>
          <a:prstGeom prst="rect">
            <a:avLst/>
          </a:prstGeom>
          <a:noFill/>
          <a:ln>
            <a:noFill/>
          </a:ln>
        </p:spPr>
      </p:pic>
      <p:sp>
        <p:nvSpPr>
          <p:cNvPr id="285" name="Google Shape;285;p19"/>
          <p:cNvSpPr/>
          <p:nvPr/>
        </p:nvSpPr>
        <p:spPr>
          <a:xfrm>
            <a:off x="7086600" y="3840162"/>
            <a:ext cx="1524000" cy="27463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200">
                <a:solidFill>
                  <a:schemeClr val="dk1"/>
                </a:solidFill>
                <a:latin typeface="Arial"/>
                <a:ea typeface="Arial"/>
                <a:cs typeface="Arial"/>
                <a:sym typeface="Arial"/>
              </a:rPr>
              <a:t>Illustration 3-4</a:t>
            </a:r>
            <a:endParaRPr/>
          </a:p>
        </p:txBody>
      </p:sp>
      <p:sp>
        <p:nvSpPr>
          <p:cNvPr id="286" name="Google Shape;286;p19"/>
          <p:cNvSpPr/>
          <p:nvPr/>
        </p:nvSpPr>
        <p:spPr>
          <a:xfrm>
            <a:off x="609600" y="304800"/>
            <a:ext cx="82296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Prepaid Expenses</a:t>
            </a:r>
            <a:endParaRPr b="1" sz="3200">
              <a:solidFill>
                <a:srgbClr val="0000BF"/>
              </a:solidFill>
              <a:latin typeface="Arial"/>
              <a:ea typeface="Arial"/>
              <a:cs typeface="Arial"/>
              <a:sym typeface="Arial"/>
            </a:endParaRPr>
          </a:p>
        </p:txBody>
      </p:sp>
      <p:sp>
        <p:nvSpPr>
          <p:cNvPr id="287" name="Google Shape;287;p19"/>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2</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0"/>
          <p:cNvSpPr txBox="1"/>
          <p:nvPr/>
        </p:nvSpPr>
        <p:spPr>
          <a:xfrm>
            <a:off x="609600" y="1250950"/>
            <a:ext cx="5105400" cy="3706813"/>
          </a:xfrm>
          <a:prstGeom prst="rect">
            <a:avLst/>
          </a:prstGeom>
          <a:no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None/>
            </a:pPr>
            <a:r>
              <a:rPr b="1" lang="en-US" sz="2100">
                <a:solidFill>
                  <a:schemeClr val="dk1"/>
                </a:solidFill>
                <a:latin typeface="Arial"/>
                <a:ea typeface="Arial"/>
                <a:cs typeface="Arial"/>
                <a:sym typeface="Arial"/>
              </a:rPr>
              <a:t>Illustration:</a:t>
            </a:r>
            <a:r>
              <a:rPr b="0" lang="en-US" sz="2100">
                <a:solidFill>
                  <a:schemeClr val="dk1"/>
                </a:solidFill>
                <a:latin typeface="Arial"/>
                <a:ea typeface="Arial"/>
                <a:cs typeface="Arial"/>
                <a:sym typeface="Arial"/>
              </a:rPr>
              <a:t>  Pioneer Advertising purchased supplies costing $2,500 on October 5. Pioneer recorded the payment by increasing (debiting) the asset Supplies. This account shows a balance of $2,500 in the October 31 trial balance. An inventory count at the close of business on October 31 reveals that $1,000 of supplies are still on hand.</a:t>
            </a:r>
            <a:endParaRPr/>
          </a:p>
        </p:txBody>
      </p:sp>
      <p:sp>
        <p:nvSpPr>
          <p:cNvPr id="293" name="Google Shape;293;p20"/>
          <p:cNvSpPr txBox="1"/>
          <p:nvPr/>
        </p:nvSpPr>
        <p:spPr>
          <a:xfrm>
            <a:off x="1981200" y="5607050"/>
            <a:ext cx="3505200" cy="412750"/>
          </a:xfrm>
          <a:prstGeom prst="rect">
            <a:avLst/>
          </a:prstGeom>
          <a:noFill/>
          <a:ln>
            <a:noFill/>
          </a:ln>
        </p:spPr>
        <p:txBody>
          <a:bodyPr anchorCtr="0" anchor="t" bIns="45700" lIns="91425" spcFirstLastPara="1" rIns="91425" wrap="square" tIns="45700">
            <a:spAutoFit/>
          </a:bodyPr>
          <a:lstStyle/>
          <a:p>
            <a:pPr indent="0" lvl="0" marL="457200" marR="0" rtl="0" algn="l">
              <a:spcBef>
                <a:spcPts val="0"/>
              </a:spcBef>
              <a:spcAft>
                <a:spcPts val="0"/>
              </a:spcAft>
              <a:buNone/>
            </a:pPr>
            <a:r>
              <a:rPr b="0" lang="en-US" sz="2100">
                <a:solidFill>
                  <a:schemeClr val="dk1"/>
                </a:solidFill>
                <a:latin typeface="Arial"/>
                <a:ea typeface="Arial"/>
                <a:cs typeface="Arial"/>
                <a:sym typeface="Arial"/>
              </a:rPr>
              <a:t>Supplies</a:t>
            </a:r>
            <a:endParaRPr/>
          </a:p>
        </p:txBody>
      </p:sp>
      <p:sp>
        <p:nvSpPr>
          <p:cNvPr id="294" name="Google Shape;294;p20"/>
          <p:cNvSpPr txBox="1"/>
          <p:nvPr/>
        </p:nvSpPr>
        <p:spPr>
          <a:xfrm>
            <a:off x="5867400" y="5607050"/>
            <a:ext cx="1219200" cy="412750"/>
          </a:xfrm>
          <a:prstGeom prst="rect">
            <a:avLst/>
          </a:prstGeom>
          <a:noFill/>
          <a:ln>
            <a:noFill/>
          </a:ln>
        </p:spPr>
        <p:txBody>
          <a:bodyPr anchorCtr="0" anchor="t" bIns="45700" lIns="274300" spcFirstLastPara="1" rIns="0" wrap="square" tIns="45700">
            <a:spAutoFit/>
          </a:bodyPr>
          <a:lstStyle/>
          <a:p>
            <a:pPr indent="0" lvl="0" marL="0" marR="0" rtl="0" algn="r">
              <a:spcBef>
                <a:spcPts val="0"/>
              </a:spcBef>
              <a:spcAft>
                <a:spcPts val="0"/>
              </a:spcAft>
              <a:buNone/>
            </a:pPr>
            <a:r>
              <a:rPr b="0" lang="en-US" sz="2100">
                <a:solidFill>
                  <a:schemeClr val="dk1"/>
                </a:solidFill>
                <a:latin typeface="Arial"/>
                <a:ea typeface="Arial"/>
                <a:cs typeface="Arial"/>
                <a:sym typeface="Arial"/>
              </a:rPr>
              <a:t>1,500</a:t>
            </a:r>
            <a:endParaRPr/>
          </a:p>
        </p:txBody>
      </p:sp>
      <p:sp>
        <p:nvSpPr>
          <p:cNvPr id="295" name="Google Shape;295;p20"/>
          <p:cNvSpPr txBox="1"/>
          <p:nvPr/>
        </p:nvSpPr>
        <p:spPr>
          <a:xfrm>
            <a:off x="1981200" y="5148263"/>
            <a:ext cx="3810000" cy="4127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2100">
                <a:solidFill>
                  <a:schemeClr val="dk1"/>
                </a:solidFill>
                <a:latin typeface="Arial"/>
                <a:ea typeface="Arial"/>
                <a:cs typeface="Arial"/>
                <a:sym typeface="Arial"/>
              </a:rPr>
              <a:t>Supplies Expense</a:t>
            </a:r>
            <a:endParaRPr b="0" sz="2100">
              <a:solidFill>
                <a:schemeClr val="dk1"/>
              </a:solidFill>
              <a:latin typeface="Arial"/>
              <a:ea typeface="Arial"/>
              <a:cs typeface="Arial"/>
              <a:sym typeface="Arial"/>
            </a:endParaRPr>
          </a:p>
        </p:txBody>
      </p:sp>
      <p:sp>
        <p:nvSpPr>
          <p:cNvPr id="296" name="Google Shape;296;p20"/>
          <p:cNvSpPr txBox="1"/>
          <p:nvPr/>
        </p:nvSpPr>
        <p:spPr>
          <a:xfrm>
            <a:off x="4876800" y="5148263"/>
            <a:ext cx="1219200" cy="412750"/>
          </a:xfrm>
          <a:prstGeom prst="rect">
            <a:avLst/>
          </a:prstGeom>
          <a:noFill/>
          <a:ln>
            <a:noFill/>
          </a:ln>
        </p:spPr>
        <p:txBody>
          <a:bodyPr anchorCtr="0" anchor="t" bIns="45700" lIns="274300" spcFirstLastPara="1" rIns="0" wrap="square" tIns="45700">
            <a:spAutoFit/>
          </a:bodyPr>
          <a:lstStyle/>
          <a:p>
            <a:pPr indent="0" lvl="0" marL="0" marR="0" rtl="0" algn="r">
              <a:spcBef>
                <a:spcPts val="0"/>
              </a:spcBef>
              <a:spcAft>
                <a:spcPts val="0"/>
              </a:spcAft>
              <a:buNone/>
            </a:pPr>
            <a:r>
              <a:rPr b="0" lang="en-US" sz="2100">
                <a:solidFill>
                  <a:schemeClr val="dk1"/>
                </a:solidFill>
                <a:latin typeface="Arial"/>
                <a:ea typeface="Arial"/>
                <a:cs typeface="Arial"/>
                <a:sym typeface="Arial"/>
              </a:rPr>
              <a:t>1,500</a:t>
            </a:r>
            <a:endParaRPr/>
          </a:p>
        </p:txBody>
      </p:sp>
      <p:sp>
        <p:nvSpPr>
          <p:cNvPr id="297" name="Google Shape;297;p20"/>
          <p:cNvSpPr txBox="1"/>
          <p:nvPr/>
        </p:nvSpPr>
        <p:spPr>
          <a:xfrm>
            <a:off x="609600" y="5148263"/>
            <a:ext cx="1219200" cy="412750"/>
          </a:xfrm>
          <a:prstGeom prst="rect">
            <a:avLst/>
          </a:prstGeom>
          <a:noFill/>
          <a:ln>
            <a:noFill/>
          </a:ln>
        </p:spPr>
        <p:txBody>
          <a:bodyPr anchorCtr="0" anchor="t" bIns="45700" lIns="91425" spcFirstLastPara="1" rIns="0" wrap="square" tIns="45700">
            <a:spAutoFit/>
          </a:bodyPr>
          <a:lstStyle/>
          <a:p>
            <a:pPr indent="0" lvl="0" marL="0" marR="0" rtl="0" algn="l">
              <a:spcBef>
                <a:spcPts val="0"/>
              </a:spcBef>
              <a:spcAft>
                <a:spcPts val="0"/>
              </a:spcAft>
              <a:buNone/>
            </a:pPr>
            <a:r>
              <a:rPr b="0" lang="en-US" sz="2100">
                <a:solidFill>
                  <a:schemeClr val="dk1"/>
                </a:solidFill>
                <a:latin typeface="Arial"/>
                <a:ea typeface="Arial"/>
                <a:cs typeface="Arial"/>
                <a:sym typeface="Arial"/>
              </a:rPr>
              <a:t>Oct. 31</a:t>
            </a:r>
            <a:endParaRPr/>
          </a:p>
        </p:txBody>
      </p:sp>
      <p:cxnSp>
        <p:nvCxnSpPr>
          <p:cNvPr id="298" name="Google Shape;298;p20"/>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pic>
        <p:nvPicPr>
          <p:cNvPr id="299" name="Google Shape;299;p20"/>
          <p:cNvPicPr preferRelativeResize="0"/>
          <p:nvPr/>
        </p:nvPicPr>
        <p:blipFill rotWithShape="1">
          <a:blip r:embed="rId3">
            <a:alphaModFix/>
          </a:blip>
          <a:srcRect b="0" l="0" r="0" t="0"/>
          <a:stretch/>
        </p:blipFill>
        <p:spPr>
          <a:xfrm>
            <a:off x="6338888" y="914400"/>
            <a:ext cx="2271712" cy="4038600"/>
          </a:xfrm>
          <a:prstGeom prst="rect">
            <a:avLst/>
          </a:prstGeom>
          <a:noFill/>
          <a:ln>
            <a:noFill/>
          </a:ln>
        </p:spPr>
      </p:pic>
      <p:sp>
        <p:nvSpPr>
          <p:cNvPr id="300" name="Google Shape;300;p20"/>
          <p:cNvSpPr/>
          <p:nvPr/>
        </p:nvSpPr>
        <p:spPr>
          <a:xfrm>
            <a:off x="609600" y="304800"/>
            <a:ext cx="82296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Supplies</a:t>
            </a:r>
            <a:endParaRPr b="1" sz="3200">
              <a:solidFill>
                <a:srgbClr val="0000BF"/>
              </a:solidFill>
              <a:latin typeface="Arial"/>
              <a:ea typeface="Arial"/>
              <a:cs typeface="Arial"/>
              <a:sym typeface="Arial"/>
            </a:endParaRPr>
          </a:p>
        </p:txBody>
      </p:sp>
      <p:sp>
        <p:nvSpPr>
          <p:cNvPr id="301" name="Google Shape;301;p20"/>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2</a:t>
            </a:r>
            <a:endParaRPr b="1" i="1" sz="1600">
              <a:solidFill>
                <a:schemeClr val="lt2"/>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gtEl>
                                        <p:attrNameLst>
                                          <p:attrName>style.visibility</p:attrName>
                                        </p:attrNameLst>
                                      </p:cBhvr>
                                      <p:to>
                                        <p:strVal val="visible"/>
                                      </p:to>
                                    </p:set>
                                    <p:animEffect filter="fade" transition="in">
                                      <p:cBhvr>
                                        <p:cTn dur="500"/>
                                        <p:tgtEl>
                                          <p:spTgt spid="29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96"/>
                                        </p:tgtEl>
                                        <p:attrNameLst>
                                          <p:attrName>style.visibility</p:attrName>
                                        </p:attrNameLst>
                                      </p:cBhvr>
                                      <p:to>
                                        <p:strVal val="visible"/>
                                      </p:to>
                                    </p:set>
                                    <p:animEffect filter="fade" transition="in">
                                      <p:cBhvr>
                                        <p:cTn dur="500"/>
                                        <p:tgtEl>
                                          <p:spTgt spid="2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3"/>
                                        </p:tgtEl>
                                        <p:attrNameLst>
                                          <p:attrName>style.visibility</p:attrName>
                                        </p:attrNameLst>
                                      </p:cBhvr>
                                      <p:to>
                                        <p:strVal val="visible"/>
                                      </p:to>
                                    </p:set>
                                    <p:animEffect filter="fade" transition="in">
                                      <p:cBhvr>
                                        <p:cTn dur="500"/>
                                        <p:tgtEl>
                                          <p:spTgt spid="29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94"/>
                                        </p:tgtEl>
                                        <p:attrNameLst>
                                          <p:attrName>style.visibility</p:attrName>
                                        </p:attrNameLst>
                                      </p:cBhvr>
                                      <p:to>
                                        <p:strVal val="visible"/>
                                      </p:to>
                                    </p:set>
                                    <p:animEffect filter="fade" transition="in">
                                      <p:cBhvr>
                                        <p:cTn dur="500"/>
                                        <p:tgtEl>
                                          <p:spTgt spid="2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pic>
        <p:nvPicPr>
          <p:cNvPr id="306" name="Google Shape;306;p21"/>
          <p:cNvPicPr preferRelativeResize="0"/>
          <p:nvPr/>
        </p:nvPicPr>
        <p:blipFill rotWithShape="1">
          <a:blip r:embed="rId3">
            <a:alphaModFix/>
          </a:blip>
          <a:srcRect b="0" l="0" r="0" t="0"/>
          <a:stretch/>
        </p:blipFill>
        <p:spPr>
          <a:xfrm>
            <a:off x="152400" y="1323975"/>
            <a:ext cx="8839200" cy="5068888"/>
          </a:xfrm>
          <a:prstGeom prst="rect">
            <a:avLst/>
          </a:prstGeom>
          <a:noFill/>
          <a:ln>
            <a:noFill/>
          </a:ln>
        </p:spPr>
      </p:pic>
      <p:cxnSp>
        <p:nvCxnSpPr>
          <p:cNvPr id="307" name="Google Shape;307;p21"/>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308" name="Google Shape;308;p21"/>
          <p:cNvSpPr/>
          <p:nvPr/>
        </p:nvSpPr>
        <p:spPr>
          <a:xfrm>
            <a:off x="7086600" y="1219200"/>
            <a:ext cx="1524000" cy="27463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Illustration 3-5</a:t>
            </a:r>
            <a:endParaRPr/>
          </a:p>
        </p:txBody>
      </p:sp>
      <p:sp>
        <p:nvSpPr>
          <p:cNvPr id="309" name="Google Shape;309;p21"/>
          <p:cNvSpPr/>
          <p:nvPr/>
        </p:nvSpPr>
        <p:spPr>
          <a:xfrm>
            <a:off x="609600" y="304800"/>
            <a:ext cx="82296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Supplies</a:t>
            </a:r>
            <a:endParaRPr b="1" sz="3200">
              <a:solidFill>
                <a:srgbClr val="0000BF"/>
              </a:solidFill>
              <a:latin typeface="Arial"/>
              <a:ea typeface="Arial"/>
              <a:cs typeface="Arial"/>
              <a:sym typeface="Arial"/>
            </a:endParaRPr>
          </a:p>
        </p:txBody>
      </p:sp>
      <p:sp>
        <p:nvSpPr>
          <p:cNvPr id="310" name="Google Shape;310;p21"/>
          <p:cNvSpPr txBox="1"/>
          <p:nvPr/>
        </p:nvSpPr>
        <p:spPr>
          <a:xfrm>
            <a:off x="8077200" y="64452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2</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22"/>
          <p:cNvSpPr txBox="1"/>
          <p:nvPr/>
        </p:nvSpPr>
        <p:spPr>
          <a:xfrm>
            <a:off x="609600" y="1250950"/>
            <a:ext cx="5638800" cy="3305175"/>
          </a:xfrm>
          <a:prstGeom prst="rect">
            <a:avLst/>
          </a:prstGeom>
          <a:no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None/>
            </a:pPr>
            <a:r>
              <a:rPr b="1" lang="en-US" sz="2100">
                <a:solidFill>
                  <a:schemeClr val="dk1"/>
                </a:solidFill>
                <a:latin typeface="Arial"/>
                <a:ea typeface="Arial"/>
                <a:cs typeface="Arial"/>
                <a:sym typeface="Arial"/>
              </a:rPr>
              <a:t>Illustration:</a:t>
            </a:r>
            <a:r>
              <a:rPr b="0" lang="en-US" sz="2100">
                <a:solidFill>
                  <a:schemeClr val="dk1"/>
                </a:solidFill>
                <a:latin typeface="Arial"/>
                <a:ea typeface="Arial"/>
                <a:cs typeface="Arial"/>
                <a:sym typeface="Arial"/>
              </a:rPr>
              <a:t>  On October 4, Pioneer Advertising paid $600 for a one-year fire insurance policy. Coverage began on October 1. Pioneer recorded the payment by increasing (debiting) Prepaid Insurance. This account shows a balance of $600 in the October 31 trial balance.  Insurance of $50 ($600 ÷ 12) expires each month.</a:t>
            </a:r>
            <a:endParaRPr/>
          </a:p>
        </p:txBody>
      </p:sp>
      <p:sp>
        <p:nvSpPr>
          <p:cNvPr id="316" name="Google Shape;316;p22"/>
          <p:cNvSpPr txBox="1"/>
          <p:nvPr/>
        </p:nvSpPr>
        <p:spPr>
          <a:xfrm>
            <a:off x="1981200" y="5607050"/>
            <a:ext cx="3505200" cy="412750"/>
          </a:xfrm>
          <a:prstGeom prst="rect">
            <a:avLst/>
          </a:prstGeom>
          <a:noFill/>
          <a:ln>
            <a:noFill/>
          </a:ln>
        </p:spPr>
        <p:txBody>
          <a:bodyPr anchorCtr="0" anchor="t" bIns="45700" lIns="91425" spcFirstLastPara="1" rIns="91425" wrap="square" tIns="45700">
            <a:spAutoFit/>
          </a:bodyPr>
          <a:lstStyle/>
          <a:p>
            <a:pPr indent="0" lvl="0" marL="457200" marR="0" rtl="0" algn="l">
              <a:spcBef>
                <a:spcPts val="0"/>
              </a:spcBef>
              <a:spcAft>
                <a:spcPts val="0"/>
              </a:spcAft>
              <a:buNone/>
            </a:pPr>
            <a:r>
              <a:rPr b="0" lang="en-US" sz="2100">
                <a:solidFill>
                  <a:schemeClr val="dk1"/>
                </a:solidFill>
                <a:latin typeface="Arial"/>
                <a:ea typeface="Arial"/>
                <a:cs typeface="Arial"/>
                <a:sym typeface="Arial"/>
              </a:rPr>
              <a:t>Prepaid Insurance</a:t>
            </a:r>
            <a:endParaRPr b="0" sz="2100">
              <a:solidFill>
                <a:schemeClr val="dk1"/>
              </a:solidFill>
              <a:latin typeface="Arial"/>
              <a:ea typeface="Arial"/>
              <a:cs typeface="Arial"/>
              <a:sym typeface="Arial"/>
            </a:endParaRPr>
          </a:p>
        </p:txBody>
      </p:sp>
      <p:sp>
        <p:nvSpPr>
          <p:cNvPr id="317" name="Google Shape;317;p22"/>
          <p:cNvSpPr txBox="1"/>
          <p:nvPr/>
        </p:nvSpPr>
        <p:spPr>
          <a:xfrm>
            <a:off x="5791200" y="5607050"/>
            <a:ext cx="1219200" cy="412750"/>
          </a:xfrm>
          <a:prstGeom prst="rect">
            <a:avLst/>
          </a:prstGeom>
          <a:noFill/>
          <a:ln>
            <a:noFill/>
          </a:ln>
        </p:spPr>
        <p:txBody>
          <a:bodyPr anchorCtr="0" anchor="t" bIns="45700" lIns="274300" spcFirstLastPara="1" rIns="0" wrap="square" tIns="45700">
            <a:spAutoFit/>
          </a:bodyPr>
          <a:lstStyle/>
          <a:p>
            <a:pPr indent="0" lvl="0" marL="0" marR="0" rtl="0" algn="r">
              <a:spcBef>
                <a:spcPts val="0"/>
              </a:spcBef>
              <a:spcAft>
                <a:spcPts val="0"/>
              </a:spcAft>
              <a:buNone/>
            </a:pPr>
            <a:r>
              <a:rPr b="0" lang="en-US" sz="2100">
                <a:solidFill>
                  <a:schemeClr val="dk1"/>
                </a:solidFill>
                <a:latin typeface="Arial"/>
                <a:ea typeface="Arial"/>
                <a:cs typeface="Arial"/>
                <a:sym typeface="Arial"/>
              </a:rPr>
              <a:t>50</a:t>
            </a:r>
            <a:endParaRPr/>
          </a:p>
        </p:txBody>
      </p:sp>
      <p:sp>
        <p:nvSpPr>
          <p:cNvPr id="318" name="Google Shape;318;p22"/>
          <p:cNvSpPr txBox="1"/>
          <p:nvPr/>
        </p:nvSpPr>
        <p:spPr>
          <a:xfrm>
            <a:off x="1981200" y="5148263"/>
            <a:ext cx="2971800" cy="4127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2100">
                <a:solidFill>
                  <a:schemeClr val="dk1"/>
                </a:solidFill>
                <a:latin typeface="Arial"/>
                <a:ea typeface="Arial"/>
                <a:cs typeface="Arial"/>
                <a:sym typeface="Arial"/>
              </a:rPr>
              <a:t>Insurance Expense</a:t>
            </a:r>
            <a:endParaRPr b="0" sz="2100">
              <a:solidFill>
                <a:schemeClr val="dk1"/>
              </a:solidFill>
              <a:latin typeface="Arial"/>
              <a:ea typeface="Arial"/>
              <a:cs typeface="Arial"/>
              <a:sym typeface="Arial"/>
            </a:endParaRPr>
          </a:p>
        </p:txBody>
      </p:sp>
      <p:sp>
        <p:nvSpPr>
          <p:cNvPr id="319" name="Google Shape;319;p22"/>
          <p:cNvSpPr txBox="1"/>
          <p:nvPr/>
        </p:nvSpPr>
        <p:spPr>
          <a:xfrm>
            <a:off x="4800600" y="5148263"/>
            <a:ext cx="1219200" cy="412750"/>
          </a:xfrm>
          <a:prstGeom prst="rect">
            <a:avLst/>
          </a:prstGeom>
          <a:noFill/>
          <a:ln>
            <a:noFill/>
          </a:ln>
        </p:spPr>
        <p:txBody>
          <a:bodyPr anchorCtr="0" anchor="t" bIns="45700" lIns="274300" spcFirstLastPara="1" rIns="0" wrap="square" tIns="45700">
            <a:spAutoFit/>
          </a:bodyPr>
          <a:lstStyle/>
          <a:p>
            <a:pPr indent="0" lvl="0" marL="0" marR="0" rtl="0" algn="r">
              <a:spcBef>
                <a:spcPts val="0"/>
              </a:spcBef>
              <a:spcAft>
                <a:spcPts val="0"/>
              </a:spcAft>
              <a:buNone/>
            </a:pPr>
            <a:r>
              <a:rPr b="0" lang="en-US" sz="2100">
                <a:solidFill>
                  <a:schemeClr val="dk1"/>
                </a:solidFill>
                <a:latin typeface="Arial"/>
                <a:ea typeface="Arial"/>
                <a:cs typeface="Arial"/>
                <a:sym typeface="Arial"/>
              </a:rPr>
              <a:t>50</a:t>
            </a:r>
            <a:endParaRPr/>
          </a:p>
        </p:txBody>
      </p:sp>
      <p:sp>
        <p:nvSpPr>
          <p:cNvPr id="320" name="Google Shape;320;p22"/>
          <p:cNvSpPr txBox="1"/>
          <p:nvPr/>
        </p:nvSpPr>
        <p:spPr>
          <a:xfrm>
            <a:off x="609600" y="5148263"/>
            <a:ext cx="1219200" cy="412750"/>
          </a:xfrm>
          <a:prstGeom prst="rect">
            <a:avLst/>
          </a:prstGeom>
          <a:noFill/>
          <a:ln>
            <a:noFill/>
          </a:ln>
        </p:spPr>
        <p:txBody>
          <a:bodyPr anchorCtr="0" anchor="t" bIns="45700" lIns="91425" spcFirstLastPara="1" rIns="0" wrap="square" tIns="45700">
            <a:spAutoFit/>
          </a:bodyPr>
          <a:lstStyle/>
          <a:p>
            <a:pPr indent="0" lvl="0" marL="0" marR="0" rtl="0" algn="l">
              <a:spcBef>
                <a:spcPts val="0"/>
              </a:spcBef>
              <a:spcAft>
                <a:spcPts val="0"/>
              </a:spcAft>
              <a:buNone/>
            </a:pPr>
            <a:r>
              <a:rPr b="0" lang="en-US" sz="2100">
                <a:solidFill>
                  <a:schemeClr val="dk1"/>
                </a:solidFill>
                <a:latin typeface="Arial"/>
                <a:ea typeface="Arial"/>
                <a:cs typeface="Arial"/>
                <a:sym typeface="Arial"/>
              </a:rPr>
              <a:t>Oct. 31</a:t>
            </a:r>
            <a:endParaRPr/>
          </a:p>
        </p:txBody>
      </p:sp>
      <p:cxnSp>
        <p:nvCxnSpPr>
          <p:cNvPr id="321" name="Google Shape;321;p22"/>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pic>
        <p:nvPicPr>
          <p:cNvPr id="322" name="Google Shape;322;p22"/>
          <p:cNvPicPr preferRelativeResize="0"/>
          <p:nvPr/>
        </p:nvPicPr>
        <p:blipFill rotWithShape="1">
          <a:blip r:embed="rId3">
            <a:alphaModFix/>
          </a:blip>
          <a:srcRect b="0" l="0" r="0" t="0"/>
          <a:stretch/>
        </p:blipFill>
        <p:spPr>
          <a:xfrm>
            <a:off x="6684963" y="1066800"/>
            <a:ext cx="2001837" cy="4191000"/>
          </a:xfrm>
          <a:prstGeom prst="rect">
            <a:avLst/>
          </a:prstGeom>
          <a:noFill/>
          <a:ln>
            <a:noFill/>
          </a:ln>
        </p:spPr>
      </p:pic>
      <p:sp>
        <p:nvSpPr>
          <p:cNvPr id="323" name="Google Shape;323;p22"/>
          <p:cNvSpPr/>
          <p:nvPr/>
        </p:nvSpPr>
        <p:spPr>
          <a:xfrm>
            <a:off x="609600" y="304800"/>
            <a:ext cx="82296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Insurance</a:t>
            </a:r>
            <a:endParaRPr b="1" sz="3200">
              <a:solidFill>
                <a:srgbClr val="0000BF"/>
              </a:solidFill>
              <a:latin typeface="Arial"/>
              <a:ea typeface="Arial"/>
              <a:cs typeface="Arial"/>
              <a:sym typeface="Arial"/>
            </a:endParaRPr>
          </a:p>
        </p:txBody>
      </p:sp>
      <p:sp>
        <p:nvSpPr>
          <p:cNvPr id="324" name="Google Shape;324;p22"/>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2</a:t>
            </a:r>
            <a:endParaRPr b="1" i="1" sz="1600">
              <a:solidFill>
                <a:schemeClr val="lt2"/>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8"/>
                                        </p:tgtEl>
                                        <p:attrNameLst>
                                          <p:attrName>style.visibility</p:attrName>
                                        </p:attrNameLst>
                                      </p:cBhvr>
                                      <p:to>
                                        <p:strVal val="visible"/>
                                      </p:to>
                                    </p:set>
                                    <p:animEffect filter="fade" transition="in">
                                      <p:cBhvr>
                                        <p:cTn dur="500"/>
                                        <p:tgtEl>
                                          <p:spTgt spid="31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19"/>
                                        </p:tgtEl>
                                        <p:attrNameLst>
                                          <p:attrName>style.visibility</p:attrName>
                                        </p:attrNameLst>
                                      </p:cBhvr>
                                      <p:to>
                                        <p:strVal val="visible"/>
                                      </p:to>
                                    </p:set>
                                    <p:animEffect filter="fade" transition="in">
                                      <p:cBhvr>
                                        <p:cTn dur="500"/>
                                        <p:tgtEl>
                                          <p:spTgt spid="3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6"/>
                                        </p:tgtEl>
                                        <p:attrNameLst>
                                          <p:attrName>style.visibility</p:attrName>
                                        </p:attrNameLst>
                                      </p:cBhvr>
                                      <p:to>
                                        <p:strVal val="visible"/>
                                      </p:to>
                                    </p:set>
                                    <p:animEffect filter="fade" transition="in">
                                      <p:cBhvr>
                                        <p:cTn dur="500"/>
                                        <p:tgtEl>
                                          <p:spTgt spid="31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17"/>
                                        </p:tgtEl>
                                        <p:attrNameLst>
                                          <p:attrName>style.visibility</p:attrName>
                                        </p:attrNameLst>
                                      </p:cBhvr>
                                      <p:to>
                                        <p:strVal val="visible"/>
                                      </p:to>
                                    </p:set>
                                    <p:animEffect filter="fade" transition="in">
                                      <p:cBhvr>
                                        <p:cTn dur="500"/>
                                        <p:tgtEl>
                                          <p:spTgt spid="3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23"/>
          <p:cNvSpPr txBox="1"/>
          <p:nvPr/>
        </p:nvSpPr>
        <p:spPr>
          <a:xfrm>
            <a:off x="8077200" y="64452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2</a:t>
            </a:r>
            <a:endParaRPr b="1" i="1" sz="1600">
              <a:solidFill>
                <a:schemeClr val="lt2"/>
              </a:solidFill>
              <a:latin typeface="Arial"/>
              <a:ea typeface="Arial"/>
              <a:cs typeface="Arial"/>
              <a:sym typeface="Arial"/>
            </a:endParaRPr>
          </a:p>
        </p:txBody>
      </p:sp>
      <p:pic>
        <p:nvPicPr>
          <p:cNvPr id="330" name="Google Shape;330;p23"/>
          <p:cNvPicPr preferRelativeResize="0"/>
          <p:nvPr/>
        </p:nvPicPr>
        <p:blipFill rotWithShape="1">
          <a:blip r:embed="rId3">
            <a:alphaModFix/>
          </a:blip>
          <a:srcRect b="0" l="0" r="0" t="0"/>
          <a:stretch/>
        </p:blipFill>
        <p:spPr>
          <a:xfrm>
            <a:off x="228600" y="1323975"/>
            <a:ext cx="8686800" cy="5140325"/>
          </a:xfrm>
          <a:prstGeom prst="rect">
            <a:avLst/>
          </a:prstGeom>
          <a:noFill/>
          <a:ln>
            <a:noFill/>
          </a:ln>
        </p:spPr>
      </p:pic>
      <p:cxnSp>
        <p:nvCxnSpPr>
          <p:cNvPr id="331" name="Google Shape;331;p23"/>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332" name="Google Shape;332;p23"/>
          <p:cNvSpPr/>
          <p:nvPr/>
        </p:nvSpPr>
        <p:spPr>
          <a:xfrm>
            <a:off x="7086600" y="1219200"/>
            <a:ext cx="1524000" cy="27463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Illustration 3-6</a:t>
            </a:r>
            <a:endParaRPr/>
          </a:p>
        </p:txBody>
      </p:sp>
      <p:sp>
        <p:nvSpPr>
          <p:cNvPr id="333" name="Google Shape;333;p23"/>
          <p:cNvSpPr/>
          <p:nvPr/>
        </p:nvSpPr>
        <p:spPr>
          <a:xfrm>
            <a:off x="609600" y="304800"/>
            <a:ext cx="82296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Insurance</a:t>
            </a:r>
            <a:endParaRPr b="1" sz="3200">
              <a:solidFill>
                <a:srgbClr val="0000BF"/>
              </a:solidFill>
              <a:latin typeface="Arial"/>
              <a:ea typeface="Arial"/>
              <a:cs typeface="Arial"/>
              <a:sym typeface="Arial"/>
            </a:endParaRPr>
          </a:p>
        </p:txBody>
      </p:sp>
    </p:spTree>
  </p:cSld>
  <p:clrMapOvr>
    <a:masterClrMapping/>
  </p:clrMapOvr>
  <p:transition>
    <p:wipe dir="r"/>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cxnSp>
        <p:nvCxnSpPr>
          <p:cNvPr id="338" name="Google Shape;338;p24"/>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339" name="Google Shape;339;p24"/>
          <p:cNvSpPr txBox="1"/>
          <p:nvPr/>
        </p:nvSpPr>
        <p:spPr>
          <a:xfrm>
            <a:off x="609600" y="1311142"/>
            <a:ext cx="7620000" cy="4658198"/>
          </a:xfrm>
          <a:prstGeom prst="rect">
            <a:avLst/>
          </a:prstGeom>
          <a:noFill/>
          <a:ln>
            <a:noFill/>
          </a:ln>
        </p:spPr>
        <p:txBody>
          <a:bodyPr anchorCtr="0" anchor="t" bIns="45700" lIns="91425" spcFirstLastPara="1" rIns="91425" wrap="square" tIns="45700">
            <a:spAutoFit/>
          </a:bodyPr>
          <a:lstStyle/>
          <a:p>
            <a:pPr indent="-457200" lvl="1" marL="685800" marR="0" rtl="0" algn="l">
              <a:lnSpc>
                <a:spcPct val="120000"/>
              </a:lnSpc>
              <a:spcBef>
                <a:spcPts val="0"/>
              </a:spcBef>
              <a:spcAft>
                <a:spcPts val="0"/>
              </a:spcAft>
              <a:buClr>
                <a:srgbClr val="800000"/>
              </a:buClr>
              <a:buSzPts val="1840"/>
              <a:buFont typeface="Noto Sans Symbols"/>
              <a:buChar char="◆"/>
            </a:pPr>
            <a:r>
              <a:rPr b="1" i="0" lang="en-US" sz="2300" u="none" cap="none" strike="noStrike">
                <a:solidFill>
                  <a:schemeClr val="dk1"/>
                </a:solidFill>
                <a:latin typeface="Arial"/>
                <a:ea typeface="Arial"/>
                <a:cs typeface="Arial"/>
                <a:sym typeface="Arial"/>
              </a:rPr>
              <a:t>Buildings</a:t>
            </a:r>
            <a:r>
              <a:rPr b="0" i="0" lang="en-US" sz="2300" u="none" cap="none" strike="noStrike">
                <a:solidFill>
                  <a:schemeClr val="dk1"/>
                </a:solidFill>
                <a:latin typeface="Arial"/>
                <a:ea typeface="Arial"/>
                <a:cs typeface="Arial"/>
                <a:sym typeface="Arial"/>
              </a:rPr>
              <a:t>, </a:t>
            </a:r>
            <a:r>
              <a:rPr b="1" i="0" lang="en-US" sz="2300" u="none" cap="none" strike="noStrike">
                <a:solidFill>
                  <a:schemeClr val="dk1"/>
                </a:solidFill>
                <a:latin typeface="Arial"/>
                <a:ea typeface="Arial"/>
                <a:cs typeface="Arial"/>
                <a:sym typeface="Arial"/>
              </a:rPr>
              <a:t>equipment</a:t>
            </a:r>
            <a:r>
              <a:rPr b="0" i="0" lang="en-US" sz="2300" u="none" cap="none" strike="noStrike">
                <a:solidFill>
                  <a:schemeClr val="dk1"/>
                </a:solidFill>
                <a:latin typeface="Arial"/>
                <a:ea typeface="Arial"/>
                <a:cs typeface="Arial"/>
                <a:sym typeface="Arial"/>
              </a:rPr>
              <a:t>, and </a:t>
            </a:r>
            <a:r>
              <a:rPr b="1" i="0" lang="en-US" sz="2300" u="none" cap="none" strike="noStrike">
                <a:solidFill>
                  <a:schemeClr val="dk1"/>
                </a:solidFill>
                <a:latin typeface="Arial"/>
                <a:ea typeface="Arial"/>
                <a:cs typeface="Arial"/>
                <a:sym typeface="Arial"/>
              </a:rPr>
              <a:t>motor vehicles</a:t>
            </a:r>
            <a:r>
              <a:rPr b="0" i="0" lang="en-US" sz="2300" u="none" cap="none" strike="noStrike">
                <a:solidFill>
                  <a:schemeClr val="dk1"/>
                </a:solidFill>
                <a:latin typeface="Arial"/>
                <a:ea typeface="Arial"/>
                <a:cs typeface="Arial"/>
                <a:sym typeface="Arial"/>
              </a:rPr>
              <a:t> (assets that provide service for many years) are </a:t>
            </a:r>
            <a:r>
              <a:rPr b="1" i="0" lang="en-US" sz="2300" u="none" cap="none" strike="noStrike">
                <a:solidFill>
                  <a:schemeClr val="dk1"/>
                </a:solidFill>
                <a:latin typeface="Arial"/>
                <a:ea typeface="Arial"/>
                <a:cs typeface="Arial"/>
                <a:sym typeface="Arial"/>
              </a:rPr>
              <a:t>recorded as assets</a:t>
            </a:r>
            <a:r>
              <a:rPr b="0" i="0" lang="en-US" sz="2300" u="none" cap="none" strike="noStrike">
                <a:solidFill>
                  <a:schemeClr val="dk1"/>
                </a:solidFill>
                <a:latin typeface="Arial"/>
                <a:ea typeface="Arial"/>
                <a:cs typeface="Arial"/>
                <a:sym typeface="Arial"/>
              </a:rPr>
              <a:t>, rather than an expense, on the date acquired.</a:t>
            </a:r>
            <a:endParaRPr b="0" i="0" sz="2300" u="none" cap="none" strike="noStrike">
              <a:solidFill>
                <a:schemeClr val="dk1"/>
              </a:solidFill>
              <a:latin typeface="Arial"/>
              <a:ea typeface="Arial"/>
              <a:cs typeface="Arial"/>
              <a:sym typeface="Arial"/>
            </a:endParaRPr>
          </a:p>
          <a:p>
            <a:pPr indent="-457200" lvl="1" marL="685800" marR="0" rtl="0" algn="l">
              <a:lnSpc>
                <a:spcPct val="120000"/>
              </a:lnSpc>
              <a:spcBef>
                <a:spcPts val="1610"/>
              </a:spcBef>
              <a:spcAft>
                <a:spcPts val="0"/>
              </a:spcAft>
              <a:buClr>
                <a:srgbClr val="800000"/>
              </a:buClr>
              <a:buSzPts val="1840"/>
              <a:buFont typeface="Noto Sans Symbols"/>
              <a:buChar char="◆"/>
            </a:pPr>
            <a:r>
              <a:rPr b="1" i="0" lang="en-US" sz="2300" u="none" cap="none" strike="noStrike">
                <a:solidFill>
                  <a:schemeClr val="hlink"/>
                </a:solidFill>
                <a:latin typeface="Arial"/>
                <a:ea typeface="Arial"/>
                <a:cs typeface="Arial"/>
                <a:sym typeface="Arial"/>
              </a:rPr>
              <a:t>Depreciation</a:t>
            </a:r>
            <a:r>
              <a:rPr b="0" i="0" lang="en-US" sz="2300" u="none" cap="none" strike="noStrike">
                <a:solidFill>
                  <a:schemeClr val="dk1"/>
                </a:solidFill>
                <a:latin typeface="Arial"/>
                <a:ea typeface="Arial"/>
                <a:cs typeface="Arial"/>
                <a:sym typeface="Arial"/>
              </a:rPr>
              <a:t> is the process of </a:t>
            </a:r>
            <a:r>
              <a:rPr b="1" i="0" lang="en-US" sz="2300" u="none" cap="none" strike="noStrike">
                <a:solidFill>
                  <a:schemeClr val="dk1"/>
                </a:solidFill>
                <a:latin typeface="Arial"/>
                <a:ea typeface="Arial"/>
                <a:cs typeface="Arial"/>
                <a:sym typeface="Arial"/>
              </a:rPr>
              <a:t>allocating the cost of an asset to expense </a:t>
            </a:r>
            <a:r>
              <a:rPr b="0" i="0" lang="en-US" sz="2300" u="none" cap="none" strike="noStrike">
                <a:solidFill>
                  <a:schemeClr val="dk1"/>
                </a:solidFill>
                <a:latin typeface="Arial"/>
                <a:ea typeface="Arial"/>
                <a:cs typeface="Arial"/>
                <a:sym typeface="Arial"/>
              </a:rPr>
              <a:t>over its </a:t>
            </a:r>
            <a:r>
              <a:rPr b="1" i="0" lang="en-US" sz="2300" u="none" cap="none" strike="noStrike">
                <a:solidFill>
                  <a:schemeClr val="hlink"/>
                </a:solidFill>
                <a:latin typeface="Arial"/>
                <a:ea typeface="Arial"/>
                <a:cs typeface="Arial"/>
                <a:sym typeface="Arial"/>
              </a:rPr>
              <a:t>useful life</a:t>
            </a:r>
            <a:r>
              <a:rPr b="0" i="0" lang="en-US" sz="2300" u="none" cap="none" strike="noStrike">
                <a:solidFill>
                  <a:schemeClr val="dk1"/>
                </a:solidFill>
                <a:latin typeface="Arial"/>
                <a:ea typeface="Arial"/>
                <a:cs typeface="Arial"/>
                <a:sym typeface="Arial"/>
              </a:rPr>
              <a:t>.</a:t>
            </a:r>
            <a:endParaRPr/>
          </a:p>
          <a:p>
            <a:pPr indent="-457200" lvl="1" marL="685800" marR="0" rtl="0" algn="l">
              <a:lnSpc>
                <a:spcPct val="120000"/>
              </a:lnSpc>
              <a:spcBef>
                <a:spcPts val="1610"/>
              </a:spcBef>
              <a:spcAft>
                <a:spcPts val="0"/>
              </a:spcAft>
              <a:buClr>
                <a:srgbClr val="800000"/>
              </a:buClr>
              <a:buSzPts val="1840"/>
              <a:buFont typeface="Noto Sans Symbols"/>
              <a:buChar char="◆"/>
            </a:pPr>
            <a:r>
              <a:rPr b="0" i="0" lang="en-US" sz="2300" u="none" cap="none" strike="noStrike">
                <a:solidFill>
                  <a:schemeClr val="dk1"/>
                </a:solidFill>
                <a:latin typeface="Arial"/>
                <a:ea typeface="Arial"/>
                <a:cs typeface="Arial"/>
                <a:sym typeface="Arial"/>
              </a:rPr>
              <a:t>Depreciation</a:t>
            </a:r>
            <a:r>
              <a:rPr b="1" i="0" lang="en-US" sz="2300" u="none" cap="none" strike="noStrike">
                <a:solidFill>
                  <a:schemeClr val="dk1"/>
                </a:solidFill>
                <a:latin typeface="Arial"/>
                <a:ea typeface="Arial"/>
                <a:cs typeface="Arial"/>
                <a:sym typeface="Arial"/>
              </a:rPr>
              <a:t> does not attempt</a:t>
            </a:r>
            <a:r>
              <a:rPr b="0" i="0" lang="en-US" sz="2300" u="none" cap="none" strike="noStrike">
                <a:solidFill>
                  <a:schemeClr val="dk1"/>
                </a:solidFill>
                <a:latin typeface="Arial"/>
                <a:ea typeface="Arial"/>
                <a:cs typeface="Arial"/>
                <a:sym typeface="Arial"/>
              </a:rPr>
              <a:t> to report the actual change in the </a:t>
            </a:r>
            <a:r>
              <a:rPr b="1" i="0" lang="en-US" sz="2300" u="none" cap="none" strike="noStrike">
                <a:solidFill>
                  <a:schemeClr val="dk1"/>
                </a:solidFill>
                <a:latin typeface="Arial"/>
                <a:ea typeface="Arial"/>
                <a:cs typeface="Arial"/>
                <a:sym typeface="Arial"/>
              </a:rPr>
              <a:t>value of the asset</a:t>
            </a:r>
            <a:r>
              <a:rPr b="0" i="0" lang="en-US" sz="2300" u="none" cap="none" strike="noStrike">
                <a:solidFill>
                  <a:schemeClr val="dk1"/>
                </a:solidFill>
                <a:latin typeface="Arial"/>
                <a:ea typeface="Arial"/>
                <a:cs typeface="Arial"/>
                <a:sym typeface="Arial"/>
              </a:rPr>
              <a:t>.</a:t>
            </a:r>
            <a:endParaRPr/>
          </a:p>
          <a:p>
            <a:pPr indent="-457200" lvl="2" marL="1371600" marR="0" rtl="0" algn="l">
              <a:lnSpc>
                <a:spcPct val="120000"/>
              </a:lnSpc>
              <a:spcBef>
                <a:spcPts val="1610"/>
              </a:spcBef>
              <a:spcAft>
                <a:spcPts val="0"/>
              </a:spcAft>
              <a:buClr>
                <a:srgbClr val="800000"/>
              </a:buClr>
              <a:buSzPts val="1760"/>
              <a:buFont typeface="Arial"/>
              <a:buChar char="►"/>
            </a:pPr>
            <a:r>
              <a:rPr b="1" i="0" lang="en-US" sz="2200" u="none" cap="none" strike="noStrike">
                <a:solidFill>
                  <a:schemeClr val="dk1"/>
                </a:solidFill>
                <a:latin typeface="Arial"/>
                <a:ea typeface="Arial"/>
                <a:cs typeface="Arial"/>
                <a:sym typeface="Arial"/>
              </a:rPr>
              <a:t>Allocation</a:t>
            </a:r>
            <a:r>
              <a:rPr b="1" i="0" lang="en-US" sz="2300" u="none" cap="none" strike="noStrike">
                <a:solidFill>
                  <a:schemeClr val="dk1"/>
                </a:solidFill>
                <a:latin typeface="Arial"/>
                <a:ea typeface="Arial"/>
                <a:cs typeface="Arial"/>
                <a:sym typeface="Arial"/>
              </a:rPr>
              <a:t> concept</a:t>
            </a:r>
            <a:r>
              <a:rPr b="0" i="0" lang="en-US" sz="2300" u="none" cap="none" strike="noStrike">
                <a:solidFill>
                  <a:schemeClr val="dk1"/>
                </a:solidFill>
                <a:latin typeface="Arial"/>
                <a:ea typeface="Arial"/>
                <a:cs typeface="Arial"/>
                <a:sym typeface="Arial"/>
              </a:rPr>
              <a:t>, not a valuation concept.</a:t>
            </a:r>
            <a:endParaRPr b="0" i="0" sz="2300" u="none" cap="none" strike="noStrike">
              <a:solidFill>
                <a:schemeClr val="dk1"/>
              </a:solidFill>
              <a:latin typeface="Arial"/>
              <a:ea typeface="Arial"/>
              <a:cs typeface="Arial"/>
              <a:sym typeface="Arial"/>
            </a:endParaRPr>
          </a:p>
        </p:txBody>
      </p:sp>
      <p:sp>
        <p:nvSpPr>
          <p:cNvPr id="340" name="Google Shape;340;p24"/>
          <p:cNvSpPr/>
          <p:nvPr/>
        </p:nvSpPr>
        <p:spPr>
          <a:xfrm>
            <a:off x="609600" y="304800"/>
            <a:ext cx="82296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Depreciation</a:t>
            </a:r>
            <a:endParaRPr b="1" sz="3200">
              <a:solidFill>
                <a:srgbClr val="0000BF"/>
              </a:solidFill>
              <a:latin typeface="Arial"/>
              <a:ea typeface="Arial"/>
              <a:cs typeface="Arial"/>
              <a:sym typeface="Arial"/>
            </a:endParaRPr>
          </a:p>
        </p:txBody>
      </p:sp>
      <p:sp>
        <p:nvSpPr>
          <p:cNvPr id="341" name="Google Shape;341;p24"/>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2</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25"/>
          <p:cNvSpPr txBox="1"/>
          <p:nvPr/>
        </p:nvSpPr>
        <p:spPr>
          <a:xfrm>
            <a:off x="3810000" y="3429000"/>
            <a:ext cx="1219200" cy="412750"/>
          </a:xfrm>
          <a:prstGeom prst="rect">
            <a:avLst/>
          </a:prstGeom>
          <a:noFill/>
          <a:ln>
            <a:noFill/>
          </a:ln>
        </p:spPr>
        <p:txBody>
          <a:bodyPr anchorCtr="0" anchor="t" bIns="45700" lIns="274300" spcFirstLastPara="1" rIns="0" wrap="square" tIns="45700">
            <a:spAutoFit/>
          </a:bodyPr>
          <a:lstStyle/>
          <a:p>
            <a:pPr indent="0" lvl="0" marL="0" marR="0" rtl="0" algn="r">
              <a:spcBef>
                <a:spcPts val="0"/>
              </a:spcBef>
              <a:spcAft>
                <a:spcPts val="0"/>
              </a:spcAft>
              <a:buNone/>
            </a:pPr>
            <a:r>
              <a:rPr b="0" lang="en-US" sz="2100">
                <a:solidFill>
                  <a:schemeClr val="dk1"/>
                </a:solidFill>
                <a:latin typeface="Arial"/>
                <a:ea typeface="Arial"/>
                <a:cs typeface="Arial"/>
                <a:sym typeface="Arial"/>
              </a:rPr>
              <a:t>40</a:t>
            </a:r>
            <a:endParaRPr/>
          </a:p>
        </p:txBody>
      </p:sp>
      <p:sp>
        <p:nvSpPr>
          <p:cNvPr id="347" name="Google Shape;347;p25"/>
          <p:cNvSpPr txBox="1"/>
          <p:nvPr/>
        </p:nvSpPr>
        <p:spPr>
          <a:xfrm>
            <a:off x="609600" y="1295400"/>
            <a:ext cx="5638800" cy="1244600"/>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en-US" sz="2100">
                <a:solidFill>
                  <a:schemeClr val="dk1"/>
                </a:solidFill>
                <a:latin typeface="Arial"/>
                <a:ea typeface="Arial"/>
                <a:cs typeface="Arial"/>
                <a:sym typeface="Arial"/>
              </a:rPr>
              <a:t>Illustration:  </a:t>
            </a:r>
            <a:r>
              <a:rPr b="0" lang="en-US" sz="2100">
                <a:solidFill>
                  <a:schemeClr val="dk1"/>
                </a:solidFill>
                <a:latin typeface="Arial"/>
                <a:ea typeface="Arial"/>
                <a:cs typeface="Arial"/>
                <a:sym typeface="Arial"/>
              </a:rPr>
              <a:t>For Pioneer Advertising, assume that depreciation on the equipment is $480 a year, or $40 per month.</a:t>
            </a:r>
            <a:endParaRPr/>
          </a:p>
        </p:txBody>
      </p:sp>
      <p:sp>
        <p:nvSpPr>
          <p:cNvPr id="348" name="Google Shape;348;p25"/>
          <p:cNvSpPr txBox="1"/>
          <p:nvPr/>
        </p:nvSpPr>
        <p:spPr>
          <a:xfrm>
            <a:off x="609600" y="3887788"/>
            <a:ext cx="4876800" cy="412750"/>
          </a:xfrm>
          <a:prstGeom prst="rect">
            <a:avLst/>
          </a:prstGeom>
          <a:noFill/>
          <a:ln>
            <a:noFill/>
          </a:ln>
        </p:spPr>
        <p:txBody>
          <a:bodyPr anchorCtr="0" anchor="t" bIns="45700" lIns="91425" spcFirstLastPara="1" rIns="91425" wrap="square" tIns="45700">
            <a:spAutoFit/>
          </a:bodyPr>
          <a:lstStyle/>
          <a:p>
            <a:pPr indent="0" lvl="0" marL="457200" marR="0" rtl="0" algn="l">
              <a:spcBef>
                <a:spcPts val="0"/>
              </a:spcBef>
              <a:spcAft>
                <a:spcPts val="0"/>
              </a:spcAft>
              <a:buNone/>
            </a:pPr>
            <a:r>
              <a:rPr b="0" lang="en-US" sz="2100">
                <a:solidFill>
                  <a:schemeClr val="dk1"/>
                </a:solidFill>
                <a:latin typeface="Arial"/>
                <a:ea typeface="Arial"/>
                <a:cs typeface="Arial"/>
                <a:sym typeface="Arial"/>
              </a:rPr>
              <a:t>Accumulated depreciation</a:t>
            </a:r>
            <a:endParaRPr/>
          </a:p>
        </p:txBody>
      </p:sp>
      <p:sp>
        <p:nvSpPr>
          <p:cNvPr id="349" name="Google Shape;349;p25"/>
          <p:cNvSpPr txBox="1"/>
          <p:nvPr/>
        </p:nvSpPr>
        <p:spPr>
          <a:xfrm>
            <a:off x="4800600" y="3887788"/>
            <a:ext cx="1219200" cy="412750"/>
          </a:xfrm>
          <a:prstGeom prst="rect">
            <a:avLst/>
          </a:prstGeom>
          <a:noFill/>
          <a:ln>
            <a:noFill/>
          </a:ln>
        </p:spPr>
        <p:txBody>
          <a:bodyPr anchorCtr="0" anchor="t" bIns="45700" lIns="274300" spcFirstLastPara="1" rIns="0" wrap="square" tIns="45700">
            <a:spAutoFit/>
          </a:bodyPr>
          <a:lstStyle/>
          <a:p>
            <a:pPr indent="0" lvl="0" marL="0" marR="0" rtl="0" algn="r">
              <a:spcBef>
                <a:spcPts val="0"/>
              </a:spcBef>
              <a:spcAft>
                <a:spcPts val="0"/>
              </a:spcAft>
              <a:buNone/>
            </a:pPr>
            <a:r>
              <a:rPr b="0" lang="en-US" sz="2100">
                <a:solidFill>
                  <a:schemeClr val="dk1"/>
                </a:solidFill>
                <a:latin typeface="Arial"/>
                <a:ea typeface="Arial"/>
                <a:cs typeface="Arial"/>
                <a:sym typeface="Arial"/>
              </a:rPr>
              <a:t>40</a:t>
            </a:r>
            <a:endParaRPr/>
          </a:p>
        </p:txBody>
      </p:sp>
      <p:sp>
        <p:nvSpPr>
          <p:cNvPr id="350" name="Google Shape;350;p25"/>
          <p:cNvSpPr txBox="1"/>
          <p:nvPr/>
        </p:nvSpPr>
        <p:spPr>
          <a:xfrm>
            <a:off x="609600" y="3429000"/>
            <a:ext cx="3810000" cy="4127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2100">
                <a:solidFill>
                  <a:schemeClr val="dk1"/>
                </a:solidFill>
                <a:latin typeface="Arial"/>
                <a:ea typeface="Arial"/>
                <a:cs typeface="Arial"/>
                <a:sym typeface="Arial"/>
              </a:rPr>
              <a:t>Depreciation expense</a:t>
            </a:r>
            <a:endParaRPr/>
          </a:p>
        </p:txBody>
      </p:sp>
      <p:sp>
        <p:nvSpPr>
          <p:cNvPr id="351" name="Google Shape;351;p25"/>
          <p:cNvSpPr txBox="1"/>
          <p:nvPr/>
        </p:nvSpPr>
        <p:spPr>
          <a:xfrm>
            <a:off x="609600" y="2895600"/>
            <a:ext cx="1219200" cy="412750"/>
          </a:xfrm>
          <a:prstGeom prst="rect">
            <a:avLst/>
          </a:prstGeom>
          <a:noFill/>
          <a:ln>
            <a:noFill/>
          </a:ln>
        </p:spPr>
        <p:txBody>
          <a:bodyPr anchorCtr="0" anchor="t" bIns="45700" lIns="91425" spcFirstLastPara="1" rIns="0" wrap="square" tIns="45700">
            <a:spAutoFit/>
          </a:bodyPr>
          <a:lstStyle/>
          <a:p>
            <a:pPr indent="0" lvl="0" marL="0" marR="0" rtl="0" algn="l">
              <a:spcBef>
                <a:spcPts val="0"/>
              </a:spcBef>
              <a:spcAft>
                <a:spcPts val="0"/>
              </a:spcAft>
              <a:buNone/>
            </a:pPr>
            <a:r>
              <a:rPr b="0" lang="en-US" sz="2100">
                <a:solidFill>
                  <a:schemeClr val="dk1"/>
                </a:solidFill>
                <a:latin typeface="Arial"/>
                <a:ea typeface="Arial"/>
                <a:cs typeface="Arial"/>
                <a:sym typeface="Arial"/>
              </a:rPr>
              <a:t>Oct. 31</a:t>
            </a:r>
            <a:endParaRPr/>
          </a:p>
        </p:txBody>
      </p:sp>
      <p:cxnSp>
        <p:nvCxnSpPr>
          <p:cNvPr id="352" name="Google Shape;352;p25"/>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353" name="Google Shape;353;p25"/>
          <p:cNvSpPr txBox="1"/>
          <p:nvPr/>
        </p:nvSpPr>
        <p:spPr>
          <a:xfrm>
            <a:off x="609600" y="4800600"/>
            <a:ext cx="4724400" cy="86042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en-US" sz="2100">
                <a:solidFill>
                  <a:schemeClr val="dk1"/>
                </a:solidFill>
                <a:latin typeface="Arial"/>
                <a:ea typeface="Arial"/>
                <a:cs typeface="Arial"/>
                <a:sym typeface="Arial"/>
              </a:rPr>
              <a:t>Accumulated Depreciation</a:t>
            </a:r>
            <a:r>
              <a:rPr b="0" lang="en-US" sz="2100">
                <a:solidFill>
                  <a:schemeClr val="dk1"/>
                </a:solidFill>
                <a:latin typeface="Arial"/>
                <a:ea typeface="Arial"/>
                <a:cs typeface="Arial"/>
                <a:sym typeface="Arial"/>
              </a:rPr>
              <a:t> is called a </a:t>
            </a:r>
            <a:r>
              <a:rPr b="1" lang="en-US" sz="2100">
                <a:solidFill>
                  <a:schemeClr val="hlink"/>
                </a:solidFill>
                <a:latin typeface="Arial"/>
                <a:ea typeface="Arial"/>
                <a:cs typeface="Arial"/>
                <a:sym typeface="Arial"/>
              </a:rPr>
              <a:t>contra asset account</a:t>
            </a:r>
            <a:r>
              <a:rPr b="0" lang="en-US" sz="2100">
                <a:solidFill>
                  <a:schemeClr val="dk1"/>
                </a:solidFill>
                <a:latin typeface="Arial"/>
                <a:ea typeface="Arial"/>
                <a:cs typeface="Arial"/>
                <a:sym typeface="Arial"/>
              </a:rPr>
              <a:t>.</a:t>
            </a:r>
            <a:endParaRPr/>
          </a:p>
        </p:txBody>
      </p:sp>
      <p:pic>
        <p:nvPicPr>
          <p:cNvPr id="354" name="Google Shape;354;p25"/>
          <p:cNvPicPr preferRelativeResize="0"/>
          <p:nvPr/>
        </p:nvPicPr>
        <p:blipFill rotWithShape="1">
          <a:blip r:embed="rId3">
            <a:alphaModFix/>
          </a:blip>
          <a:srcRect b="0" l="0" r="0" t="0"/>
          <a:stretch/>
        </p:blipFill>
        <p:spPr>
          <a:xfrm>
            <a:off x="6553200" y="1371600"/>
            <a:ext cx="2143125" cy="4495800"/>
          </a:xfrm>
          <a:prstGeom prst="rect">
            <a:avLst/>
          </a:prstGeom>
          <a:noFill/>
          <a:ln>
            <a:noFill/>
          </a:ln>
        </p:spPr>
      </p:pic>
      <p:sp>
        <p:nvSpPr>
          <p:cNvPr id="355" name="Google Shape;355;p25"/>
          <p:cNvSpPr/>
          <p:nvPr/>
        </p:nvSpPr>
        <p:spPr>
          <a:xfrm>
            <a:off x="609600" y="304800"/>
            <a:ext cx="82296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Depreciation</a:t>
            </a:r>
            <a:endParaRPr b="1" sz="3200">
              <a:solidFill>
                <a:srgbClr val="0000BF"/>
              </a:solidFill>
              <a:latin typeface="Arial"/>
              <a:ea typeface="Arial"/>
              <a:cs typeface="Arial"/>
              <a:sym typeface="Arial"/>
            </a:endParaRPr>
          </a:p>
        </p:txBody>
      </p:sp>
      <p:sp>
        <p:nvSpPr>
          <p:cNvPr id="356" name="Google Shape;356;p25"/>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2</a:t>
            </a:r>
            <a:endParaRPr b="1" i="1" sz="1600">
              <a:solidFill>
                <a:schemeClr val="lt2"/>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
                                        </p:tgtEl>
                                        <p:attrNameLst>
                                          <p:attrName>style.visibility</p:attrName>
                                        </p:attrNameLst>
                                      </p:cBhvr>
                                      <p:to>
                                        <p:strVal val="visible"/>
                                      </p:to>
                                    </p:set>
                                    <p:animEffect filter="fade" transition="in">
                                      <p:cBhvr>
                                        <p:cTn dur="500"/>
                                        <p:tgtEl>
                                          <p:spTgt spid="35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46"/>
                                        </p:tgtEl>
                                        <p:attrNameLst>
                                          <p:attrName>style.visibility</p:attrName>
                                        </p:attrNameLst>
                                      </p:cBhvr>
                                      <p:to>
                                        <p:strVal val="visible"/>
                                      </p:to>
                                    </p:set>
                                    <p:animEffect filter="fade" transition="in">
                                      <p:cBhvr>
                                        <p:cTn dur="500"/>
                                        <p:tgtEl>
                                          <p:spTgt spid="3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
                                        </p:tgtEl>
                                        <p:attrNameLst>
                                          <p:attrName>style.visibility</p:attrName>
                                        </p:attrNameLst>
                                      </p:cBhvr>
                                      <p:to>
                                        <p:strVal val="visible"/>
                                      </p:to>
                                    </p:set>
                                    <p:animEffect filter="fade" transition="in">
                                      <p:cBhvr>
                                        <p:cTn dur="500"/>
                                        <p:tgtEl>
                                          <p:spTgt spid="34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49"/>
                                        </p:tgtEl>
                                        <p:attrNameLst>
                                          <p:attrName>style.visibility</p:attrName>
                                        </p:attrNameLst>
                                      </p:cBhvr>
                                      <p:to>
                                        <p:strVal val="visible"/>
                                      </p:to>
                                    </p:set>
                                    <p:animEffect filter="fade" transition="in">
                                      <p:cBhvr>
                                        <p:cTn dur="500"/>
                                        <p:tgtEl>
                                          <p:spTgt spid="3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26"/>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2</a:t>
            </a:r>
            <a:endParaRPr b="1" i="1" sz="1600">
              <a:solidFill>
                <a:schemeClr val="lt2"/>
              </a:solidFill>
              <a:latin typeface="Arial"/>
              <a:ea typeface="Arial"/>
              <a:cs typeface="Arial"/>
              <a:sym typeface="Arial"/>
            </a:endParaRPr>
          </a:p>
        </p:txBody>
      </p:sp>
      <p:cxnSp>
        <p:nvCxnSpPr>
          <p:cNvPr id="362" name="Google Shape;362;p26"/>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pic>
        <p:nvPicPr>
          <p:cNvPr id="363" name="Google Shape;363;p26"/>
          <p:cNvPicPr preferRelativeResize="0"/>
          <p:nvPr/>
        </p:nvPicPr>
        <p:blipFill rotWithShape="1">
          <a:blip r:embed="rId3">
            <a:alphaModFix/>
          </a:blip>
          <a:srcRect b="0" l="0" r="0" t="0"/>
          <a:stretch/>
        </p:blipFill>
        <p:spPr>
          <a:xfrm>
            <a:off x="685800" y="518698"/>
            <a:ext cx="7772400" cy="5882102"/>
          </a:xfrm>
          <a:prstGeom prst="rect">
            <a:avLst/>
          </a:prstGeom>
          <a:noFill/>
          <a:ln>
            <a:noFill/>
          </a:ln>
        </p:spPr>
      </p:pic>
      <p:sp>
        <p:nvSpPr>
          <p:cNvPr id="364" name="Google Shape;364;p26"/>
          <p:cNvSpPr/>
          <p:nvPr/>
        </p:nvSpPr>
        <p:spPr>
          <a:xfrm>
            <a:off x="6781800" y="396461"/>
            <a:ext cx="1524000" cy="27463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Illustration 3-7</a:t>
            </a:r>
            <a:endParaRPr/>
          </a:p>
        </p:txBody>
      </p:sp>
    </p:spTree>
  </p:cSld>
  <p:clrMapOvr>
    <a:masterClrMapping/>
  </p:clrMapOvr>
  <p:transition>
    <p:wipe dir="r"/>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pic>
        <p:nvPicPr>
          <p:cNvPr id="369" name="Google Shape;369;p27"/>
          <p:cNvPicPr preferRelativeResize="0"/>
          <p:nvPr/>
        </p:nvPicPr>
        <p:blipFill rotWithShape="1">
          <a:blip r:embed="rId3">
            <a:alphaModFix/>
          </a:blip>
          <a:srcRect b="0" l="0" r="0" t="0"/>
          <a:stretch/>
        </p:blipFill>
        <p:spPr>
          <a:xfrm>
            <a:off x="762000" y="4733925"/>
            <a:ext cx="7696200" cy="1285875"/>
          </a:xfrm>
          <a:prstGeom prst="rect">
            <a:avLst/>
          </a:prstGeom>
          <a:noFill/>
          <a:ln cap="sq" cmpd="sng" w="19050">
            <a:solidFill>
              <a:schemeClr val="dk1"/>
            </a:solidFill>
            <a:prstDash val="solid"/>
            <a:miter lim="800000"/>
            <a:headEnd len="sm" w="sm" type="none"/>
            <a:tailEnd len="sm" w="sm" type="none"/>
          </a:ln>
        </p:spPr>
      </p:pic>
      <p:cxnSp>
        <p:nvCxnSpPr>
          <p:cNvPr id="370" name="Google Shape;370;p27"/>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371" name="Google Shape;371;p27"/>
          <p:cNvSpPr txBox="1"/>
          <p:nvPr/>
        </p:nvSpPr>
        <p:spPr>
          <a:xfrm>
            <a:off x="7239000" y="4373563"/>
            <a:ext cx="1371600" cy="27463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Illustration 3-8</a:t>
            </a:r>
            <a:endParaRPr/>
          </a:p>
        </p:txBody>
      </p:sp>
      <p:sp>
        <p:nvSpPr>
          <p:cNvPr id="372" name="Google Shape;372;p27"/>
          <p:cNvSpPr txBox="1"/>
          <p:nvPr/>
        </p:nvSpPr>
        <p:spPr>
          <a:xfrm>
            <a:off x="609600" y="1295400"/>
            <a:ext cx="7620000" cy="298928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en-US" sz="2500">
                <a:solidFill>
                  <a:schemeClr val="dk1"/>
                </a:solidFill>
                <a:latin typeface="Arial"/>
                <a:ea typeface="Arial"/>
                <a:cs typeface="Arial"/>
                <a:sym typeface="Arial"/>
              </a:rPr>
              <a:t>STATEMENT PRESENTATION</a:t>
            </a:r>
            <a:endParaRPr b="0" sz="2500">
              <a:solidFill>
                <a:schemeClr val="dk1"/>
              </a:solidFill>
              <a:latin typeface="Arial"/>
              <a:ea typeface="Arial"/>
              <a:cs typeface="Arial"/>
              <a:sym typeface="Arial"/>
            </a:endParaRPr>
          </a:p>
          <a:p>
            <a:pPr indent="-457200" lvl="1" marL="685800" marR="0" rtl="0" algn="l">
              <a:lnSpc>
                <a:spcPct val="115000"/>
              </a:lnSpc>
              <a:spcBef>
                <a:spcPts val="1100"/>
              </a:spcBef>
              <a:spcAft>
                <a:spcPts val="0"/>
              </a:spcAft>
              <a:buClr>
                <a:srgbClr val="800000"/>
              </a:buClr>
              <a:buSzPts val="1760"/>
              <a:buFont typeface="Noto Sans Symbols"/>
              <a:buChar char="◆"/>
            </a:pPr>
            <a:r>
              <a:rPr b="0" i="0" lang="en-US" sz="2200" u="none" cap="none" strike="noStrike">
                <a:solidFill>
                  <a:schemeClr val="dk1"/>
                </a:solidFill>
                <a:latin typeface="Arial"/>
                <a:ea typeface="Arial"/>
                <a:cs typeface="Arial"/>
                <a:sym typeface="Arial"/>
              </a:rPr>
              <a:t>Accumulated Depreciation is a </a:t>
            </a:r>
            <a:r>
              <a:rPr b="1" i="0" lang="en-US" sz="2200" u="none" cap="none" strike="noStrike">
                <a:solidFill>
                  <a:schemeClr val="dk1"/>
                </a:solidFill>
                <a:latin typeface="Arial"/>
                <a:ea typeface="Arial"/>
                <a:cs typeface="Arial"/>
                <a:sym typeface="Arial"/>
              </a:rPr>
              <a:t>contra asset account </a:t>
            </a:r>
            <a:r>
              <a:rPr b="0" i="0" lang="en-US" sz="2200" u="none" cap="none" strike="noStrike">
                <a:solidFill>
                  <a:schemeClr val="dk1"/>
                </a:solidFill>
                <a:latin typeface="Arial"/>
                <a:ea typeface="Arial"/>
                <a:cs typeface="Arial"/>
                <a:sym typeface="Arial"/>
              </a:rPr>
              <a:t>(credit). </a:t>
            </a:r>
            <a:endParaRPr/>
          </a:p>
          <a:p>
            <a:pPr indent="-457200" lvl="1" marL="685800" marR="0" rtl="0" algn="l">
              <a:lnSpc>
                <a:spcPct val="115000"/>
              </a:lnSpc>
              <a:spcBef>
                <a:spcPts val="1100"/>
              </a:spcBef>
              <a:spcAft>
                <a:spcPts val="0"/>
              </a:spcAft>
              <a:buClr>
                <a:srgbClr val="800000"/>
              </a:buClr>
              <a:buSzPts val="1760"/>
              <a:buFont typeface="Noto Sans Symbols"/>
              <a:buChar char="◆"/>
            </a:pPr>
            <a:r>
              <a:rPr b="1" i="0" lang="en-US" sz="2200" u="none" cap="none" strike="noStrike">
                <a:solidFill>
                  <a:schemeClr val="dk1"/>
                </a:solidFill>
                <a:latin typeface="Arial"/>
                <a:ea typeface="Arial"/>
                <a:cs typeface="Arial"/>
                <a:sym typeface="Arial"/>
              </a:rPr>
              <a:t>Offsets related asset account </a:t>
            </a:r>
            <a:r>
              <a:rPr b="0" i="0" lang="en-US" sz="2200" u="none" cap="none" strike="noStrike">
                <a:solidFill>
                  <a:schemeClr val="dk1"/>
                </a:solidFill>
                <a:latin typeface="Arial"/>
                <a:ea typeface="Arial"/>
                <a:cs typeface="Arial"/>
                <a:sym typeface="Arial"/>
              </a:rPr>
              <a:t>on the balance sheet. </a:t>
            </a:r>
            <a:endParaRPr/>
          </a:p>
          <a:p>
            <a:pPr indent="-457200" lvl="1" marL="685800" marR="0" rtl="0" algn="l">
              <a:lnSpc>
                <a:spcPct val="115000"/>
              </a:lnSpc>
              <a:spcBef>
                <a:spcPts val="1100"/>
              </a:spcBef>
              <a:spcAft>
                <a:spcPts val="0"/>
              </a:spcAft>
              <a:buClr>
                <a:srgbClr val="800000"/>
              </a:buClr>
              <a:buSzPts val="1760"/>
              <a:buFont typeface="Noto Sans Symbols"/>
              <a:buChar char="◆"/>
            </a:pPr>
            <a:r>
              <a:rPr b="1" i="0" lang="en-US" sz="2200" u="none" cap="none" strike="noStrike">
                <a:solidFill>
                  <a:schemeClr val="hlink"/>
                </a:solidFill>
                <a:latin typeface="Arial"/>
                <a:ea typeface="Arial"/>
                <a:cs typeface="Arial"/>
                <a:sym typeface="Arial"/>
              </a:rPr>
              <a:t>Book value</a:t>
            </a:r>
            <a:r>
              <a:rPr b="0" i="0" lang="en-US" sz="2200" u="none" cap="none" strike="noStrike">
                <a:solidFill>
                  <a:schemeClr val="dk1"/>
                </a:solidFill>
                <a:latin typeface="Arial"/>
                <a:ea typeface="Arial"/>
                <a:cs typeface="Arial"/>
                <a:sym typeface="Arial"/>
              </a:rPr>
              <a:t> is the difference between the cost of any depreciable asset and its accumulated depreciation.</a:t>
            </a:r>
            <a:endParaRPr/>
          </a:p>
        </p:txBody>
      </p:sp>
      <p:sp>
        <p:nvSpPr>
          <p:cNvPr id="373" name="Google Shape;373;p27"/>
          <p:cNvSpPr/>
          <p:nvPr/>
        </p:nvSpPr>
        <p:spPr>
          <a:xfrm>
            <a:off x="609600" y="304800"/>
            <a:ext cx="82296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Depreciation</a:t>
            </a:r>
            <a:endParaRPr b="1" sz="3200">
              <a:solidFill>
                <a:srgbClr val="0000BF"/>
              </a:solidFill>
              <a:latin typeface="Arial"/>
              <a:ea typeface="Arial"/>
              <a:cs typeface="Arial"/>
              <a:sym typeface="Arial"/>
            </a:endParaRPr>
          </a:p>
        </p:txBody>
      </p:sp>
      <p:sp>
        <p:nvSpPr>
          <p:cNvPr id="374" name="Google Shape;374;p27"/>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2</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cxnSp>
        <p:nvCxnSpPr>
          <p:cNvPr id="379" name="Google Shape;379;p28"/>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380" name="Google Shape;380;p28"/>
          <p:cNvSpPr/>
          <p:nvPr/>
        </p:nvSpPr>
        <p:spPr>
          <a:xfrm>
            <a:off x="609600" y="304800"/>
            <a:ext cx="82296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Prepaid Expenses</a:t>
            </a:r>
            <a:endParaRPr b="1" sz="3200">
              <a:solidFill>
                <a:srgbClr val="0000BF"/>
              </a:solidFill>
              <a:latin typeface="Arial"/>
              <a:ea typeface="Arial"/>
              <a:cs typeface="Arial"/>
              <a:sym typeface="Arial"/>
            </a:endParaRPr>
          </a:p>
        </p:txBody>
      </p:sp>
      <p:pic>
        <p:nvPicPr>
          <p:cNvPr id="381" name="Google Shape;381;p28"/>
          <p:cNvPicPr preferRelativeResize="0"/>
          <p:nvPr/>
        </p:nvPicPr>
        <p:blipFill rotWithShape="1">
          <a:blip r:embed="rId3">
            <a:alphaModFix/>
          </a:blip>
          <a:srcRect b="0" l="0" r="0" t="0"/>
          <a:stretch/>
        </p:blipFill>
        <p:spPr>
          <a:xfrm>
            <a:off x="304800" y="1981200"/>
            <a:ext cx="8534400" cy="2196406"/>
          </a:xfrm>
          <a:prstGeom prst="rect">
            <a:avLst/>
          </a:prstGeom>
          <a:noFill/>
          <a:ln cap="sq" cmpd="sng" w="19050">
            <a:solidFill>
              <a:schemeClr val="dk1"/>
            </a:solidFill>
            <a:prstDash val="solid"/>
            <a:miter lim="800000"/>
            <a:headEnd len="sm" w="sm" type="none"/>
            <a:tailEnd len="sm" w="sm" type="none"/>
          </a:ln>
        </p:spPr>
      </p:pic>
      <p:sp>
        <p:nvSpPr>
          <p:cNvPr id="382" name="Google Shape;382;p28"/>
          <p:cNvSpPr/>
          <p:nvPr/>
        </p:nvSpPr>
        <p:spPr>
          <a:xfrm>
            <a:off x="280219" y="4262735"/>
            <a:ext cx="25146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3-9</a:t>
            </a:r>
            <a:endParaRPr/>
          </a:p>
          <a:p>
            <a:pPr indent="0" lvl="0" marL="0" marR="0" rtl="0" algn="l">
              <a:spcBef>
                <a:spcPts val="0"/>
              </a:spcBef>
              <a:spcAft>
                <a:spcPts val="0"/>
              </a:spcAft>
              <a:buNone/>
            </a:pPr>
            <a:r>
              <a:rPr b="0" lang="en-US" sz="1200">
                <a:solidFill>
                  <a:schemeClr val="dk1"/>
                </a:solidFill>
                <a:latin typeface="Arial"/>
                <a:ea typeface="Arial"/>
                <a:cs typeface="Arial"/>
                <a:sym typeface="Arial"/>
              </a:rPr>
              <a:t>Accounting for prepaid expenses</a:t>
            </a:r>
            <a:endParaRPr b="1" sz="1200">
              <a:solidFill>
                <a:schemeClr val="dk1"/>
              </a:solidFill>
              <a:latin typeface="Arial"/>
              <a:ea typeface="Arial"/>
              <a:cs typeface="Arial"/>
              <a:sym typeface="Arial"/>
            </a:endParaRPr>
          </a:p>
        </p:txBody>
      </p:sp>
      <p:sp>
        <p:nvSpPr>
          <p:cNvPr id="383" name="Google Shape;383;p28"/>
          <p:cNvSpPr txBox="1"/>
          <p:nvPr/>
        </p:nvSpPr>
        <p:spPr>
          <a:xfrm>
            <a:off x="609600" y="1295400"/>
            <a:ext cx="7620000" cy="499367"/>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lang="en-US" sz="2300">
                <a:solidFill>
                  <a:schemeClr val="dk1"/>
                </a:solidFill>
                <a:latin typeface="Arial"/>
                <a:ea typeface="Arial"/>
                <a:cs typeface="Arial"/>
                <a:sym typeface="Arial"/>
              </a:rPr>
              <a:t>Summary of the accounting for prepaid expenses.</a:t>
            </a:r>
            <a:endParaRPr b="0" sz="2300">
              <a:solidFill>
                <a:schemeClr val="dk1"/>
              </a:solidFill>
              <a:latin typeface="Arial"/>
              <a:ea typeface="Arial"/>
              <a:cs typeface="Arial"/>
              <a:sym typeface="Arial"/>
            </a:endParaRPr>
          </a:p>
        </p:txBody>
      </p:sp>
      <p:sp>
        <p:nvSpPr>
          <p:cNvPr id="384" name="Google Shape;384;p28"/>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2</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29"/>
          <p:cNvSpPr txBox="1"/>
          <p:nvPr>
            <p:ph idx="4294967295" type="body"/>
          </p:nvPr>
        </p:nvSpPr>
        <p:spPr>
          <a:xfrm>
            <a:off x="533400" y="1295400"/>
            <a:ext cx="8077200" cy="914400"/>
          </a:xfrm>
          <a:prstGeom prst="rect">
            <a:avLst/>
          </a:prstGeom>
          <a:noFill/>
          <a:ln>
            <a:noFill/>
          </a:ln>
        </p:spPr>
        <p:txBody>
          <a:bodyPr anchorCtr="0" anchor="t" bIns="46025" lIns="182550" spcFirstLastPara="1" rIns="182550" wrap="square" tIns="46025">
            <a:noAutofit/>
          </a:bodyPr>
          <a:lstStyle/>
          <a:p>
            <a:pPr indent="0" lvl="0" marL="0" rtl="0" algn="l">
              <a:lnSpc>
                <a:spcPct val="120000"/>
              </a:lnSpc>
              <a:spcBef>
                <a:spcPts val="0"/>
              </a:spcBef>
              <a:spcAft>
                <a:spcPts val="0"/>
              </a:spcAft>
              <a:buClr>
                <a:srgbClr val="006666"/>
              </a:buClr>
              <a:buSzPts val="2300"/>
              <a:buFont typeface="Arial"/>
              <a:buNone/>
            </a:pPr>
            <a:r>
              <a:rPr lang="en-US" sz="2300">
                <a:latin typeface="Arial"/>
                <a:ea typeface="Arial"/>
                <a:cs typeface="Arial"/>
                <a:sym typeface="Arial"/>
              </a:rPr>
              <a:t>Receipt of cash that is recorded as a liability because the service has not been performed.</a:t>
            </a:r>
            <a:endParaRPr/>
          </a:p>
        </p:txBody>
      </p:sp>
      <p:sp>
        <p:nvSpPr>
          <p:cNvPr id="390" name="Google Shape;390;p29"/>
          <p:cNvSpPr/>
          <p:nvPr/>
        </p:nvSpPr>
        <p:spPr>
          <a:xfrm>
            <a:off x="838200" y="4029670"/>
            <a:ext cx="2743200" cy="923330"/>
          </a:xfrm>
          <a:prstGeom prst="rect">
            <a:avLst/>
          </a:prstGeom>
          <a:noFill/>
          <a:ln>
            <a:noFill/>
          </a:ln>
        </p:spPr>
        <p:txBody>
          <a:bodyPr anchorCtr="0" anchor="t" bIns="45700" lIns="91425" spcFirstLastPara="1" rIns="91425" wrap="square" tIns="45700">
            <a:spAutoFit/>
          </a:bodyPr>
          <a:lstStyle/>
          <a:p>
            <a:pPr indent="-457200" lvl="1" marL="571500" marR="0" rtl="0" algn="l">
              <a:spcBef>
                <a:spcPts val="0"/>
              </a:spcBef>
              <a:spcAft>
                <a:spcPts val="0"/>
              </a:spcAft>
              <a:buClr>
                <a:srgbClr val="800000"/>
              </a:buClr>
              <a:buSzPts val="1760"/>
              <a:buFont typeface="Noto Sans Symbols"/>
              <a:buChar char="◆"/>
            </a:pPr>
            <a:r>
              <a:rPr b="0" i="0" lang="en-US" sz="2200" u="none" cap="none" strike="noStrike">
                <a:solidFill>
                  <a:schemeClr val="lt2"/>
                </a:solidFill>
                <a:latin typeface="Arial"/>
                <a:ea typeface="Arial"/>
                <a:cs typeface="Arial"/>
                <a:sym typeface="Arial"/>
              </a:rPr>
              <a:t>Rent</a:t>
            </a:r>
            <a:endParaRPr/>
          </a:p>
          <a:p>
            <a:pPr indent="-457200" lvl="1" marL="571500" marR="0" rtl="0" algn="l">
              <a:spcBef>
                <a:spcPts val="1200"/>
              </a:spcBef>
              <a:spcAft>
                <a:spcPts val="0"/>
              </a:spcAft>
              <a:buClr>
                <a:srgbClr val="800000"/>
              </a:buClr>
              <a:buSzPts val="1760"/>
              <a:buFont typeface="Noto Sans Symbols"/>
              <a:buChar char="◆"/>
            </a:pPr>
            <a:r>
              <a:rPr b="0" i="0" lang="en-US" sz="2200" u="none" cap="none" strike="noStrike">
                <a:solidFill>
                  <a:schemeClr val="lt2"/>
                </a:solidFill>
                <a:latin typeface="Arial"/>
                <a:ea typeface="Arial"/>
                <a:cs typeface="Arial"/>
                <a:sym typeface="Arial"/>
              </a:rPr>
              <a:t>Airline tickets</a:t>
            </a:r>
            <a:endParaRPr/>
          </a:p>
        </p:txBody>
      </p:sp>
      <p:sp>
        <p:nvSpPr>
          <p:cNvPr id="391" name="Google Shape;391;p29"/>
          <p:cNvSpPr txBox="1"/>
          <p:nvPr/>
        </p:nvSpPr>
        <p:spPr>
          <a:xfrm>
            <a:off x="990600" y="2544763"/>
            <a:ext cx="2438400" cy="492443"/>
          </a:xfrm>
          <a:prstGeom prst="rect">
            <a:avLst/>
          </a:prstGeom>
          <a:solidFill>
            <a:srgbClr val="FFFF99"/>
          </a:solidFill>
          <a:ln cap="flat" cmpd="sng" w="28575">
            <a:solidFill>
              <a:schemeClr val="dk1"/>
            </a:solidFill>
            <a:prstDash val="solid"/>
            <a:miter lim="800000"/>
            <a:headEnd len="sm" w="sm" type="none"/>
            <a:tailEnd len="sm" w="sm" type="none"/>
          </a:ln>
        </p:spPr>
        <p:txBody>
          <a:bodyPr anchorCtr="0" anchor="t" bIns="91425" lIns="91425" spcFirstLastPara="1" rIns="91425" wrap="square" tIns="45700">
            <a:spAutoFit/>
          </a:bodyPr>
          <a:lstStyle/>
          <a:p>
            <a:pPr indent="-457200" lvl="0" marL="457200" marR="0" rtl="0" algn="ctr">
              <a:spcBef>
                <a:spcPts val="0"/>
              </a:spcBef>
              <a:spcAft>
                <a:spcPts val="0"/>
              </a:spcAft>
              <a:buNone/>
            </a:pPr>
            <a:r>
              <a:rPr b="1" lang="en-US" sz="2300">
                <a:solidFill>
                  <a:schemeClr val="dk1"/>
                </a:solidFill>
                <a:latin typeface="Arial"/>
                <a:ea typeface="Arial"/>
                <a:cs typeface="Arial"/>
                <a:sym typeface="Arial"/>
              </a:rPr>
              <a:t>Cash Receipt</a:t>
            </a:r>
            <a:endParaRPr/>
          </a:p>
        </p:txBody>
      </p:sp>
      <p:sp>
        <p:nvSpPr>
          <p:cNvPr id="392" name="Google Shape;392;p29"/>
          <p:cNvSpPr txBox="1"/>
          <p:nvPr/>
        </p:nvSpPr>
        <p:spPr>
          <a:xfrm>
            <a:off x="5094288" y="2544763"/>
            <a:ext cx="3135312" cy="492443"/>
          </a:xfrm>
          <a:prstGeom prst="rect">
            <a:avLst/>
          </a:prstGeom>
          <a:solidFill>
            <a:srgbClr val="FFFF99"/>
          </a:solidFill>
          <a:ln cap="flat" cmpd="sng" w="28575">
            <a:solidFill>
              <a:schemeClr val="dk1"/>
            </a:solidFill>
            <a:prstDash val="solid"/>
            <a:miter lim="800000"/>
            <a:headEnd len="sm" w="sm" type="none"/>
            <a:tailEnd len="sm" w="sm" type="none"/>
          </a:ln>
        </p:spPr>
        <p:txBody>
          <a:bodyPr anchorCtr="0" anchor="t" bIns="91425" lIns="91425" spcFirstLastPara="1" rIns="91425" wrap="square" tIns="45700">
            <a:spAutoFit/>
          </a:bodyPr>
          <a:lstStyle/>
          <a:p>
            <a:pPr indent="-457200" lvl="0" marL="457200" marR="0" rtl="0" algn="ctr">
              <a:spcBef>
                <a:spcPts val="0"/>
              </a:spcBef>
              <a:spcAft>
                <a:spcPts val="0"/>
              </a:spcAft>
              <a:buNone/>
            </a:pPr>
            <a:r>
              <a:rPr b="1" lang="en-US" sz="2300">
                <a:solidFill>
                  <a:schemeClr val="dk1"/>
                </a:solidFill>
                <a:latin typeface="Arial"/>
                <a:ea typeface="Arial"/>
                <a:cs typeface="Arial"/>
                <a:sym typeface="Arial"/>
              </a:rPr>
              <a:t>Revenue Recorded</a:t>
            </a:r>
            <a:endParaRPr/>
          </a:p>
        </p:txBody>
      </p:sp>
      <p:sp>
        <p:nvSpPr>
          <p:cNvPr id="393" name="Google Shape;393;p29"/>
          <p:cNvSpPr txBox="1"/>
          <p:nvPr/>
        </p:nvSpPr>
        <p:spPr>
          <a:xfrm>
            <a:off x="3200400" y="2578608"/>
            <a:ext cx="2133600" cy="442912"/>
          </a:xfrm>
          <a:prstGeom prst="rect">
            <a:avLst/>
          </a:prstGeom>
          <a:noFill/>
          <a:ln>
            <a:noFill/>
          </a:ln>
        </p:spPr>
        <p:txBody>
          <a:bodyPr anchorCtr="0" anchor="t" bIns="45700" lIns="91425" spcFirstLastPara="1" rIns="91425" wrap="square" tIns="45700">
            <a:spAutoFit/>
          </a:bodyPr>
          <a:lstStyle/>
          <a:p>
            <a:pPr indent="-457200" lvl="0" marL="457200" marR="0" rtl="0" algn="ctr">
              <a:spcBef>
                <a:spcPts val="0"/>
              </a:spcBef>
              <a:spcAft>
                <a:spcPts val="0"/>
              </a:spcAft>
              <a:buNone/>
            </a:pPr>
            <a:r>
              <a:rPr b="1" lang="en-US" sz="2300">
                <a:solidFill>
                  <a:srgbClr val="800000"/>
                </a:solidFill>
                <a:latin typeface="Arial"/>
                <a:ea typeface="Arial"/>
                <a:cs typeface="Arial"/>
                <a:sym typeface="Arial"/>
              </a:rPr>
              <a:t>BEFORE</a:t>
            </a:r>
            <a:endParaRPr/>
          </a:p>
        </p:txBody>
      </p:sp>
      <p:sp>
        <p:nvSpPr>
          <p:cNvPr id="394" name="Google Shape;394;p29"/>
          <p:cNvSpPr/>
          <p:nvPr/>
        </p:nvSpPr>
        <p:spPr>
          <a:xfrm>
            <a:off x="3886200" y="4009032"/>
            <a:ext cx="4800600" cy="923330"/>
          </a:xfrm>
          <a:prstGeom prst="rect">
            <a:avLst/>
          </a:prstGeom>
          <a:noFill/>
          <a:ln>
            <a:noFill/>
          </a:ln>
        </p:spPr>
        <p:txBody>
          <a:bodyPr anchorCtr="0" anchor="t" bIns="45700" lIns="91425" spcFirstLastPara="1" rIns="91425" wrap="square" tIns="45700">
            <a:spAutoFit/>
          </a:bodyPr>
          <a:lstStyle/>
          <a:p>
            <a:pPr indent="-457200" lvl="1" marL="571500" marR="0" rtl="0" algn="l">
              <a:spcBef>
                <a:spcPts val="0"/>
              </a:spcBef>
              <a:spcAft>
                <a:spcPts val="0"/>
              </a:spcAft>
              <a:buClr>
                <a:srgbClr val="800000"/>
              </a:buClr>
              <a:buSzPts val="1760"/>
              <a:buFont typeface="Noto Sans Symbols"/>
              <a:buChar char="◆"/>
            </a:pPr>
            <a:r>
              <a:rPr b="0" i="0" lang="en-US" sz="2200" u="none" cap="none" strike="noStrike">
                <a:solidFill>
                  <a:schemeClr val="lt2"/>
                </a:solidFill>
                <a:latin typeface="Arial"/>
                <a:ea typeface="Arial"/>
                <a:cs typeface="Arial"/>
                <a:sym typeface="Arial"/>
              </a:rPr>
              <a:t>Magazine subscriptions</a:t>
            </a:r>
            <a:endParaRPr/>
          </a:p>
          <a:p>
            <a:pPr indent="-457200" lvl="1" marL="571500" marR="0" rtl="0" algn="l">
              <a:spcBef>
                <a:spcPts val="1200"/>
              </a:spcBef>
              <a:spcAft>
                <a:spcPts val="0"/>
              </a:spcAft>
              <a:buClr>
                <a:srgbClr val="800000"/>
              </a:buClr>
              <a:buSzPts val="1760"/>
              <a:buFont typeface="Noto Sans Symbols"/>
              <a:buChar char="◆"/>
            </a:pPr>
            <a:r>
              <a:rPr b="0" i="0" lang="en-US" sz="2200" u="none" cap="none" strike="noStrike">
                <a:solidFill>
                  <a:schemeClr val="lt2"/>
                </a:solidFill>
                <a:latin typeface="Arial"/>
                <a:ea typeface="Arial"/>
                <a:cs typeface="Arial"/>
                <a:sym typeface="Arial"/>
              </a:rPr>
              <a:t>Customer deposits</a:t>
            </a:r>
            <a:endParaRPr/>
          </a:p>
        </p:txBody>
      </p:sp>
      <p:sp>
        <p:nvSpPr>
          <p:cNvPr id="395" name="Google Shape;395;p29"/>
          <p:cNvSpPr/>
          <p:nvPr/>
        </p:nvSpPr>
        <p:spPr>
          <a:xfrm>
            <a:off x="609600" y="3429000"/>
            <a:ext cx="6324600" cy="446276"/>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None/>
            </a:pPr>
            <a:r>
              <a:rPr b="1" lang="en-US" sz="2300">
                <a:solidFill>
                  <a:schemeClr val="lt2"/>
                </a:solidFill>
                <a:latin typeface="Arial"/>
                <a:ea typeface="Arial"/>
                <a:cs typeface="Arial"/>
                <a:sym typeface="Arial"/>
              </a:rPr>
              <a:t>Unearned revenues </a:t>
            </a:r>
            <a:r>
              <a:rPr b="0" lang="en-US" sz="2300">
                <a:solidFill>
                  <a:schemeClr val="lt2"/>
                </a:solidFill>
                <a:latin typeface="Arial"/>
                <a:ea typeface="Arial"/>
                <a:cs typeface="Arial"/>
                <a:sym typeface="Arial"/>
              </a:rPr>
              <a:t>often occur in regard to:</a:t>
            </a:r>
            <a:endParaRPr/>
          </a:p>
        </p:txBody>
      </p:sp>
      <p:cxnSp>
        <p:nvCxnSpPr>
          <p:cNvPr id="396" name="Google Shape;396;p29"/>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397" name="Google Shape;397;p29"/>
          <p:cNvSpPr/>
          <p:nvPr/>
        </p:nvSpPr>
        <p:spPr>
          <a:xfrm>
            <a:off x="609600" y="304800"/>
            <a:ext cx="82296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Unearned Revenues</a:t>
            </a:r>
            <a:endParaRPr b="1" sz="3200">
              <a:solidFill>
                <a:srgbClr val="0000BF"/>
              </a:solidFill>
              <a:latin typeface="Arial"/>
              <a:ea typeface="Arial"/>
              <a:cs typeface="Arial"/>
              <a:sym typeface="Arial"/>
            </a:endParaRPr>
          </a:p>
        </p:txBody>
      </p:sp>
      <p:sp>
        <p:nvSpPr>
          <p:cNvPr id="398" name="Google Shape;398;p29"/>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2</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pic>
        <p:nvPicPr>
          <p:cNvPr id="403" name="Google Shape;403;p30"/>
          <p:cNvPicPr preferRelativeResize="0"/>
          <p:nvPr/>
        </p:nvPicPr>
        <p:blipFill rotWithShape="1">
          <a:blip r:embed="rId3">
            <a:alphaModFix/>
          </a:blip>
          <a:srcRect b="0" l="0" r="0" t="0"/>
          <a:stretch/>
        </p:blipFill>
        <p:spPr>
          <a:xfrm>
            <a:off x="1483512" y="3962400"/>
            <a:ext cx="6288888" cy="2438400"/>
          </a:xfrm>
          <a:prstGeom prst="rect">
            <a:avLst/>
          </a:prstGeom>
          <a:noFill/>
          <a:ln>
            <a:noFill/>
          </a:ln>
        </p:spPr>
      </p:pic>
      <p:cxnSp>
        <p:nvCxnSpPr>
          <p:cNvPr id="404" name="Google Shape;404;p30"/>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405" name="Google Shape;405;p30"/>
          <p:cNvSpPr/>
          <p:nvPr/>
        </p:nvSpPr>
        <p:spPr>
          <a:xfrm>
            <a:off x="7086600" y="3916362"/>
            <a:ext cx="1524000" cy="27463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200">
                <a:solidFill>
                  <a:schemeClr val="dk1"/>
                </a:solidFill>
                <a:latin typeface="Arial"/>
                <a:ea typeface="Arial"/>
                <a:cs typeface="Arial"/>
                <a:sym typeface="Arial"/>
              </a:rPr>
              <a:t>Illustration 3-10</a:t>
            </a:r>
            <a:endParaRPr/>
          </a:p>
        </p:txBody>
      </p:sp>
      <p:sp>
        <p:nvSpPr>
          <p:cNvPr id="406" name="Google Shape;406;p30"/>
          <p:cNvSpPr txBox="1"/>
          <p:nvPr/>
        </p:nvSpPr>
        <p:spPr>
          <a:xfrm>
            <a:off x="609600" y="1295400"/>
            <a:ext cx="7772400" cy="2446824"/>
          </a:xfrm>
          <a:prstGeom prst="rect">
            <a:avLst/>
          </a:prstGeom>
          <a:noFill/>
          <a:ln>
            <a:noFill/>
          </a:ln>
        </p:spPr>
        <p:txBody>
          <a:bodyPr anchorCtr="0" anchor="t" bIns="45700" lIns="91425" spcFirstLastPara="1" rIns="91425" wrap="square" tIns="45700">
            <a:spAutoFit/>
          </a:bodyPr>
          <a:lstStyle/>
          <a:p>
            <a:pPr indent="-457200" lvl="1" marL="685800" marR="0" rtl="0" algn="l">
              <a:lnSpc>
                <a:spcPct val="120000"/>
              </a:lnSpc>
              <a:spcBef>
                <a:spcPts val="0"/>
              </a:spcBef>
              <a:spcAft>
                <a:spcPts val="0"/>
              </a:spcAft>
              <a:buClr>
                <a:srgbClr val="800000"/>
              </a:buClr>
              <a:buSzPts val="1840"/>
              <a:buFont typeface="Noto Sans Symbols"/>
              <a:buChar char="◆"/>
            </a:pPr>
            <a:r>
              <a:rPr b="0" i="0" lang="en-US" sz="2300" u="none" cap="none" strike="noStrike">
                <a:solidFill>
                  <a:schemeClr val="dk1"/>
                </a:solidFill>
                <a:latin typeface="Arial"/>
                <a:ea typeface="Arial"/>
                <a:cs typeface="Arial"/>
                <a:sym typeface="Arial"/>
              </a:rPr>
              <a:t>Adjusting entry is made to </a:t>
            </a:r>
            <a:r>
              <a:rPr b="1" i="0" lang="en-US" sz="2300" u="none" cap="none" strike="noStrike">
                <a:solidFill>
                  <a:schemeClr val="dk1"/>
                </a:solidFill>
                <a:latin typeface="Arial"/>
                <a:ea typeface="Arial"/>
                <a:cs typeface="Arial"/>
                <a:sym typeface="Arial"/>
              </a:rPr>
              <a:t>record the revenue</a:t>
            </a:r>
            <a:r>
              <a:rPr b="0" i="0" lang="en-US" sz="2300" u="none" cap="none" strike="noStrike">
                <a:solidFill>
                  <a:schemeClr val="dk1"/>
                </a:solidFill>
                <a:latin typeface="Arial"/>
                <a:ea typeface="Arial"/>
                <a:cs typeface="Arial"/>
                <a:sym typeface="Arial"/>
              </a:rPr>
              <a:t> for services performed during the period and to show the liability that remains at the end of the period.</a:t>
            </a:r>
            <a:endParaRPr/>
          </a:p>
          <a:p>
            <a:pPr indent="-457200" lvl="1" marL="685800" marR="0" rtl="0" algn="l">
              <a:lnSpc>
                <a:spcPct val="120000"/>
              </a:lnSpc>
              <a:spcBef>
                <a:spcPts val="1800"/>
              </a:spcBef>
              <a:spcAft>
                <a:spcPts val="0"/>
              </a:spcAft>
              <a:buClr>
                <a:srgbClr val="800000"/>
              </a:buClr>
              <a:buSzPts val="1840"/>
              <a:buFont typeface="Noto Sans Symbols"/>
              <a:buChar char="◆"/>
            </a:pPr>
            <a:r>
              <a:rPr b="0" i="0" lang="en-US" sz="2300" u="none" cap="none" strike="noStrike">
                <a:solidFill>
                  <a:schemeClr val="dk1"/>
                </a:solidFill>
                <a:latin typeface="Arial"/>
                <a:ea typeface="Arial"/>
                <a:cs typeface="Arial"/>
                <a:sym typeface="Arial"/>
              </a:rPr>
              <a:t>Results in a </a:t>
            </a:r>
            <a:r>
              <a:rPr b="1" i="0" lang="en-US" sz="2300" u="none" cap="none" strike="noStrike">
                <a:solidFill>
                  <a:schemeClr val="dk1"/>
                </a:solidFill>
                <a:latin typeface="Arial"/>
                <a:ea typeface="Arial"/>
                <a:cs typeface="Arial"/>
                <a:sym typeface="Arial"/>
              </a:rPr>
              <a:t>decrease</a:t>
            </a:r>
            <a:r>
              <a:rPr b="0" i="0" lang="en-US" sz="2300" u="none" cap="none" strike="noStrike">
                <a:solidFill>
                  <a:schemeClr val="dk1"/>
                </a:solidFill>
                <a:latin typeface="Arial"/>
                <a:ea typeface="Arial"/>
                <a:cs typeface="Arial"/>
                <a:sym typeface="Arial"/>
              </a:rPr>
              <a:t> (debit) to a </a:t>
            </a:r>
            <a:r>
              <a:rPr b="1" i="0" lang="en-US" sz="2300" u="none" cap="none" strike="noStrike">
                <a:solidFill>
                  <a:schemeClr val="dk1"/>
                </a:solidFill>
                <a:latin typeface="Arial"/>
                <a:ea typeface="Arial"/>
                <a:cs typeface="Arial"/>
                <a:sym typeface="Arial"/>
              </a:rPr>
              <a:t>liability account</a:t>
            </a:r>
            <a:r>
              <a:rPr b="0" i="0" lang="en-US" sz="2300" u="none" cap="none" strike="noStrike">
                <a:solidFill>
                  <a:schemeClr val="dk1"/>
                </a:solidFill>
                <a:latin typeface="Arial"/>
                <a:ea typeface="Arial"/>
                <a:cs typeface="Arial"/>
                <a:sym typeface="Arial"/>
              </a:rPr>
              <a:t> and an </a:t>
            </a:r>
            <a:r>
              <a:rPr b="1" i="0" lang="en-US" sz="2300" u="none" cap="none" strike="noStrike">
                <a:solidFill>
                  <a:schemeClr val="dk1"/>
                </a:solidFill>
                <a:latin typeface="Arial"/>
                <a:ea typeface="Arial"/>
                <a:cs typeface="Arial"/>
                <a:sym typeface="Arial"/>
              </a:rPr>
              <a:t>increase</a:t>
            </a:r>
            <a:r>
              <a:rPr b="0" i="0" lang="en-US" sz="2300" u="none" cap="none" strike="noStrike">
                <a:solidFill>
                  <a:schemeClr val="dk1"/>
                </a:solidFill>
                <a:latin typeface="Arial"/>
                <a:ea typeface="Arial"/>
                <a:cs typeface="Arial"/>
                <a:sym typeface="Arial"/>
              </a:rPr>
              <a:t> (credit) to a </a:t>
            </a:r>
            <a:r>
              <a:rPr b="1" i="0" lang="en-US" sz="2300" u="none" cap="none" strike="noStrike">
                <a:solidFill>
                  <a:schemeClr val="dk1"/>
                </a:solidFill>
                <a:latin typeface="Arial"/>
                <a:ea typeface="Arial"/>
                <a:cs typeface="Arial"/>
                <a:sym typeface="Arial"/>
              </a:rPr>
              <a:t>revenue account</a:t>
            </a:r>
            <a:r>
              <a:rPr b="0" i="0" lang="en-US" sz="2300" u="none" cap="none" strike="noStrike">
                <a:solidFill>
                  <a:schemeClr val="dk1"/>
                </a:solidFill>
                <a:latin typeface="Arial"/>
                <a:ea typeface="Arial"/>
                <a:cs typeface="Arial"/>
                <a:sym typeface="Arial"/>
              </a:rPr>
              <a:t>.</a:t>
            </a:r>
            <a:endParaRPr/>
          </a:p>
        </p:txBody>
      </p:sp>
      <p:sp>
        <p:nvSpPr>
          <p:cNvPr id="407" name="Google Shape;407;p30"/>
          <p:cNvSpPr/>
          <p:nvPr/>
        </p:nvSpPr>
        <p:spPr>
          <a:xfrm>
            <a:off x="609600" y="304800"/>
            <a:ext cx="82296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Unearned Revenues</a:t>
            </a:r>
            <a:endParaRPr b="1" sz="3200">
              <a:solidFill>
                <a:srgbClr val="0000BF"/>
              </a:solidFill>
              <a:latin typeface="Arial"/>
              <a:ea typeface="Arial"/>
              <a:cs typeface="Arial"/>
              <a:sym typeface="Arial"/>
            </a:endParaRPr>
          </a:p>
        </p:txBody>
      </p:sp>
      <p:sp>
        <p:nvSpPr>
          <p:cNvPr id="408" name="Google Shape;408;p30"/>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2</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31"/>
          <p:cNvSpPr txBox="1"/>
          <p:nvPr/>
        </p:nvSpPr>
        <p:spPr>
          <a:xfrm>
            <a:off x="609600" y="1295400"/>
            <a:ext cx="5562600" cy="3323987"/>
          </a:xfrm>
          <a:prstGeom prst="rect">
            <a:avLst/>
          </a:prstGeom>
          <a:no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None/>
            </a:pPr>
            <a:r>
              <a:rPr b="1" lang="en-US" sz="2100">
                <a:solidFill>
                  <a:schemeClr val="dk1"/>
                </a:solidFill>
                <a:latin typeface="Arial"/>
                <a:ea typeface="Arial"/>
                <a:cs typeface="Arial"/>
                <a:sym typeface="Arial"/>
              </a:rPr>
              <a:t>Illustration:  </a:t>
            </a:r>
            <a:r>
              <a:rPr b="0" lang="en-US" sz="2100">
                <a:solidFill>
                  <a:schemeClr val="dk1"/>
                </a:solidFill>
                <a:latin typeface="Arial"/>
                <a:ea typeface="Arial"/>
                <a:cs typeface="Arial"/>
                <a:sym typeface="Arial"/>
              </a:rPr>
              <a:t>Pioneer Advertising received $1,200 on October 2 from R. Knox for advertising services expected to be completed by December 31.  Unearned Service Revenue shows a balance of $1,200 in the October 31 trial balance. Analysis reveals that the company performed $400 of services in October.</a:t>
            </a:r>
            <a:endParaRPr/>
          </a:p>
        </p:txBody>
      </p:sp>
      <p:sp>
        <p:nvSpPr>
          <p:cNvPr id="414" name="Google Shape;414;p31"/>
          <p:cNvSpPr txBox="1"/>
          <p:nvPr/>
        </p:nvSpPr>
        <p:spPr>
          <a:xfrm>
            <a:off x="1981200" y="5683250"/>
            <a:ext cx="3505200" cy="412750"/>
          </a:xfrm>
          <a:prstGeom prst="rect">
            <a:avLst/>
          </a:prstGeom>
          <a:noFill/>
          <a:ln>
            <a:noFill/>
          </a:ln>
        </p:spPr>
        <p:txBody>
          <a:bodyPr anchorCtr="0" anchor="t" bIns="45700" lIns="91425" spcFirstLastPara="1" rIns="91425" wrap="square" tIns="45700">
            <a:spAutoFit/>
          </a:bodyPr>
          <a:lstStyle/>
          <a:p>
            <a:pPr indent="0" lvl="0" marL="457200" marR="0" rtl="0" algn="l">
              <a:spcBef>
                <a:spcPts val="0"/>
              </a:spcBef>
              <a:spcAft>
                <a:spcPts val="0"/>
              </a:spcAft>
              <a:buNone/>
            </a:pPr>
            <a:r>
              <a:rPr b="0" lang="en-US" sz="2100">
                <a:solidFill>
                  <a:schemeClr val="dk1"/>
                </a:solidFill>
                <a:latin typeface="Arial"/>
                <a:ea typeface="Arial"/>
                <a:cs typeface="Arial"/>
                <a:sym typeface="Arial"/>
              </a:rPr>
              <a:t>Service Revenue</a:t>
            </a:r>
            <a:endParaRPr b="0" sz="2100">
              <a:solidFill>
                <a:schemeClr val="dk1"/>
              </a:solidFill>
              <a:latin typeface="Arial"/>
              <a:ea typeface="Arial"/>
              <a:cs typeface="Arial"/>
              <a:sym typeface="Arial"/>
            </a:endParaRPr>
          </a:p>
        </p:txBody>
      </p:sp>
      <p:sp>
        <p:nvSpPr>
          <p:cNvPr id="415" name="Google Shape;415;p31"/>
          <p:cNvSpPr txBox="1"/>
          <p:nvPr/>
        </p:nvSpPr>
        <p:spPr>
          <a:xfrm>
            <a:off x="6934200" y="5683250"/>
            <a:ext cx="1219200" cy="412750"/>
          </a:xfrm>
          <a:prstGeom prst="rect">
            <a:avLst/>
          </a:prstGeom>
          <a:noFill/>
          <a:ln>
            <a:noFill/>
          </a:ln>
        </p:spPr>
        <p:txBody>
          <a:bodyPr anchorCtr="0" anchor="t" bIns="45700" lIns="274300" spcFirstLastPara="1" rIns="0" wrap="square" tIns="45700">
            <a:spAutoFit/>
          </a:bodyPr>
          <a:lstStyle/>
          <a:p>
            <a:pPr indent="0" lvl="0" marL="0" marR="0" rtl="0" algn="r">
              <a:spcBef>
                <a:spcPts val="0"/>
              </a:spcBef>
              <a:spcAft>
                <a:spcPts val="0"/>
              </a:spcAft>
              <a:buNone/>
            </a:pPr>
            <a:r>
              <a:rPr b="0" lang="en-US" sz="2100">
                <a:solidFill>
                  <a:schemeClr val="dk1"/>
                </a:solidFill>
                <a:latin typeface="Arial"/>
                <a:ea typeface="Arial"/>
                <a:cs typeface="Arial"/>
                <a:sym typeface="Arial"/>
              </a:rPr>
              <a:t>400</a:t>
            </a:r>
            <a:endParaRPr/>
          </a:p>
        </p:txBody>
      </p:sp>
      <p:sp>
        <p:nvSpPr>
          <p:cNvPr id="416" name="Google Shape;416;p31"/>
          <p:cNvSpPr txBox="1"/>
          <p:nvPr/>
        </p:nvSpPr>
        <p:spPr>
          <a:xfrm>
            <a:off x="1981200" y="5224462"/>
            <a:ext cx="3810000" cy="4127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2100">
                <a:solidFill>
                  <a:schemeClr val="dk1"/>
                </a:solidFill>
                <a:latin typeface="Arial"/>
                <a:ea typeface="Arial"/>
                <a:cs typeface="Arial"/>
                <a:sym typeface="Arial"/>
              </a:rPr>
              <a:t>Unearned Service Revenue</a:t>
            </a:r>
            <a:endParaRPr b="0" sz="2100">
              <a:solidFill>
                <a:schemeClr val="dk1"/>
              </a:solidFill>
              <a:latin typeface="Arial"/>
              <a:ea typeface="Arial"/>
              <a:cs typeface="Arial"/>
              <a:sym typeface="Arial"/>
            </a:endParaRPr>
          </a:p>
        </p:txBody>
      </p:sp>
      <p:sp>
        <p:nvSpPr>
          <p:cNvPr id="417" name="Google Shape;417;p31"/>
          <p:cNvSpPr txBox="1"/>
          <p:nvPr/>
        </p:nvSpPr>
        <p:spPr>
          <a:xfrm>
            <a:off x="5943600" y="5224462"/>
            <a:ext cx="1219200" cy="412750"/>
          </a:xfrm>
          <a:prstGeom prst="rect">
            <a:avLst/>
          </a:prstGeom>
          <a:noFill/>
          <a:ln>
            <a:noFill/>
          </a:ln>
        </p:spPr>
        <p:txBody>
          <a:bodyPr anchorCtr="0" anchor="t" bIns="45700" lIns="274300" spcFirstLastPara="1" rIns="0" wrap="square" tIns="45700">
            <a:spAutoFit/>
          </a:bodyPr>
          <a:lstStyle/>
          <a:p>
            <a:pPr indent="0" lvl="0" marL="0" marR="0" rtl="0" algn="r">
              <a:spcBef>
                <a:spcPts val="0"/>
              </a:spcBef>
              <a:spcAft>
                <a:spcPts val="0"/>
              </a:spcAft>
              <a:buNone/>
            </a:pPr>
            <a:r>
              <a:rPr b="0" lang="en-US" sz="2100">
                <a:solidFill>
                  <a:schemeClr val="dk1"/>
                </a:solidFill>
                <a:latin typeface="Arial"/>
                <a:ea typeface="Arial"/>
                <a:cs typeface="Arial"/>
                <a:sym typeface="Arial"/>
              </a:rPr>
              <a:t>400</a:t>
            </a:r>
            <a:endParaRPr/>
          </a:p>
        </p:txBody>
      </p:sp>
      <p:sp>
        <p:nvSpPr>
          <p:cNvPr id="418" name="Google Shape;418;p31"/>
          <p:cNvSpPr txBox="1"/>
          <p:nvPr/>
        </p:nvSpPr>
        <p:spPr>
          <a:xfrm>
            <a:off x="609600" y="5224462"/>
            <a:ext cx="1219200" cy="412750"/>
          </a:xfrm>
          <a:prstGeom prst="rect">
            <a:avLst/>
          </a:prstGeom>
          <a:noFill/>
          <a:ln>
            <a:noFill/>
          </a:ln>
        </p:spPr>
        <p:txBody>
          <a:bodyPr anchorCtr="0" anchor="t" bIns="45700" lIns="91425" spcFirstLastPara="1" rIns="0" wrap="square" tIns="45700">
            <a:spAutoFit/>
          </a:bodyPr>
          <a:lstStyle/>
          <a:p>
            <a:pPr indent="0" lvl="0" marL="0" marR="0" rtl="0" algn="l">
              <a:spcBef>
                <a:spcPts val="0"/>
              </a:spcBef>
              <a:spcAft>
                <a:spcPts val="0"/>
              </a:spcAft>
              <a:buNone/>
            </a:pPr>
            <a:r>
              <a:rPr b="0" lang="en-US" sz="2100">
                <a:solidFill>
                  <a:schemeClr val="dk1"/>
                </a:solidFill>
                <a:latin typeface="Arial"/>
                <a:ea typeface="Arial"/>
                <a:cs typeface="Arial"/>
                <a:sym typeface="Arial"/>
              </a:rPr>
              <a:t>Oct. 31</a:t>
            </a:r>
            <a:endParaRPr/>
          </a:p>
        </p:txBody>
      </p:sp>
      <p:cxnSp>
        <p:nvCxnSpPr>
          <p:cNvPr id="419" name="Google Shape;419;p31"/>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420" name="Google Shape;420;p31"/>
          <p:cNvSpPr/>
          <p:nvPr/>
        </p:nvSpPr>
        <p:spPr>
          <a:xfrm>
            <a:off x="609600" y="304800"/>
            <a:ext cx="82296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Unearned Revenues</a:t>
            </a:r>
            <a:endParaRPr b="1" sz="3200">
              <a:solidFill>
                <a:srgbClr val="0000BF"/>
              </a:solidFill>
              <a:latin typeface="Arial"/>
              <a:ea typeface="Arial"/>
              <a:cs typeface="Arial"/>
              <a:sym typeface="Arial"/>
            </a:endParaRPr>
          </a:p>
        </p:txBody>
      </p:sp>
      <p:pic>
        <p:nvPicPr>
          <p:cNvPr id="421" name="Google Shape;421;p31"/>
          <p:cNvPicPr preferRelativeResize="0"/>
          <p:nvPr/>
        </p:nvPicPr>
        <p:blipFill rotWithShape="1">
          <a:blip r:embed="rId3">
            <a:alphaModFix/>
          </a:blip>
          <a:srcRect b="0" l="0" r="0" t="0"/>
          <a:stretch/>
        </p:blipFill>
        <p:spPr>
          <a:xfrm>
            <a:off x="6553200" y="304800"/>
            <a:ext cx="2128377" cy="4679051"/>
          </a:xfrm>
          <a:prstGeom prst="rect">
            <a:avLst/>
          </a:prstGeom>
          <a:noFill/>
          <a:ln>
            <a:noFill/>
          </a:ln>
        </p:spPr>
      </p:pic>
      <p:sp>
        <p:nvSpPr>
          <p:cNvPr id="422" name="Google Shape;422;p31"/>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2</a:t>
            </a:r>
            <a:endParaRPr b="1" i="1" sz="1600">
              <a:solidFill>
                <a:schemeClr val="lt2"/>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6"/>
                                        </p:tgtEl>
                                        <p:attrNameLst>
                                          <p:attrName>style.visibility</p:attrName>
                                        </p:attrNameLst>
                                      </p:cBhvr>
                                      <p:to>
                                        <p:strVal val="visible"/>
                                      </p:to>
                                    </p:set>
                                    <p:animEffect filter="fade" transition="in">
                                      <p:cBhvr>
                                        <p:cTn dur="500"/>
                                        <p:tgtEl>
                                          <p:spTgt spid="41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17"/>
                                        </p:tgtEl>
                                        <p:attrNameLst>
                                          <p:attrName>style.visibility</p:attrName>
                                        </p:attrNameLst>
                                      </p:cBhvr>
                                      <p:to>
                                        <p:strVal val="visible"/>
                                      </p:to>
                                    </p:set>
                                    <p:animEffect filter="fade" transition="in">
                                      <p:cBhvr>
                                        <p:cTn dur="500"/>
                                        <p:tgtEl>
                                          <p:spTgt spid="4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4"/>
                                        </p:tgtEl>
                                        <p:attrNameLst>
                                          <p:attrName>style.visibility</p:attrName>
                                        </p:attrNameLst>
                                      </p:cBhvr>
                                      <p:to>
                                        <p:strVal val="visible"/>
                                      </p:to>
                                    </p:set>
                                    <p:animEffect filter="fade" transition="in">
                                      <p:cBhvr>
                                        <p:cTn dur="500"/>
                                        <p:tgtEl>
                                          <p:spTgt spid="41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15"/>
                                        </p:tgtEl>
                                        <p:attrNameLst>
                                          <p:attrName>style.visibility</p:attrName>
                                        </p:attrNameLst>
                                      </p:cBhvr>
                                      <p:to>
                                        <p:strVal val="visible"/>
                                      </p:to>
                                    </p:set>
                                    <p:animEffect filter="fade" transition="in">
                                      <p:cBhvr>
                                        <p:cTn dur="500"/>
                                        <p:tgtEl>
                                          <p:spTgt spid="4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32"/>
          <p:cNvSpPr txBox="1"/>
          <p:nvPr/>
        </p:nvSpPr>
        <p:spPr>
          <a:xfrm>
            <a:off x="8077200" y="64770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2</a:t>
            </a:r>
            <a:endParaRPr b="1" i="1" sz="1600">
              <a:solidFill>
                <a:schemeClr val="lt2"/>
              </a:solidFill>
              <a:latin typeface="Arial"/>
              <a:ea typeface="Arial"/>
              <a:cs typeface="Arial"/>
              <a:sym typeface="Arial"/>
            </a:endParaRPr>
          </a:p>
        </p:txBody>
      </p:sp>
      <p:pic>
        <p:nvPicPr>
          <p:cNvPr id="428" name="Google Shape;428;p32"/>
          <p:cNvPicPr preferRelativeResize="0"/>
          <p:nvPr/>
        </p:nvPicPr>
        <p:blipFill rotWithShape="1">
          <a:blip r:embed="rId3">
            <a:alphaModFix/>
          </a:blip>
          <a:srcRect b="0" l="0" r="0" t="0"/>
          <a:stretch/>
        </p:blipFill>
        <p:spPr>
          <a:xfrm>
            <a:off x="533400" y="1323975"/>
            <a:ext cx="8153400" cy="5162550"/>
          </a:xfrm>
          <a:prstGeom prst="rect">
            <a:avLst/>
          </a:prstGeom>
          <a:noFill/>
          <a:ln>
            <a:noFill/>
          </a:ln>
        </p:spPr>
      </p:pic>
      <p:cxnSp>
        <p:nvCxnSpPr>
          <p:cNvPr id="429" name="Google Shape;429;p32"/>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430" name="Google Shape;430;p32"/>
          <p:cNvSpPr/>
          <p:nvPr/>
        </p:nvSpPr>
        <p:spPr>
          <a:xfrm>
            <a:off x="6705600" y="1219200"/>
            <a:ext cx="1524000" cy="27463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Illustration 3-11</a:t>
            </a:r>
            <a:endParaRPr/>
          </a:p>
        </p:txBody>
      </p:sp>
      <p:sp>
        <p:nvSpPr>
          <p:cNvPr id="431" name="Google Shape;431;p32"/>
          <p:cNvSpPr/>
          <p:nvPr/>
        </p:nvSpPr>
        <p:spPr>
          <a:xfrm>
            <a:off x="609600" y="304800"/>
            <a:ext cx="82296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Unearned Revenues</a:t>
            </a:r>
            <a:endParaRPr b="1" sz="3200">
              <a:solidFill>
                <a:srgbClr val="0000BF"/>
              </a:solidFill>
              <a:latin typeface="Arial"/>
              <a:ea typeface="Arial"/>
              <a:cs typeface="Arial"/>
              <a:sym typeface="Arial"/>
            </a:endParaRPr>
          </a:p>
        </p:txBody>
      </p:sp>
    </p:spTree>
  </p:cSld>
  <p:clrMapOvr>
    <a:masterClrMapping/>
  </p:clrMapOvr>
  <p:transition>
    <p:wipe dir="r"/>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33"/>
          <p:cNvSpPr txBox="1"/>
          <p:nvPr/>
        </p:nvSpPr>
        <p:spPr>
          <a:xfrm>
            <a:off x="7543800" y="1782763"/>
            <a:ext cx="1371600" cy="27463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200">
                <a:solidFill>
                  <a:schemeClr val="dk1"/>
                </a:solidFill>
                <a:latin typeface="Arial"/>
                <a:ea typeface="Arial"/>
                <a:cs typeface="Arial"/>
                <a:sym typeface="Arial"/>
              </a:rPr>
              <a:t>Illustration 3-12</a:t>
            </a:r>
            <a:endParaRPr/>
          </a:p>
        </p:txBody>
      </p:sp>
      <p:cxnSp>
        <p:nvCxnSpPr>
          <p:cNvPr id="437" name="Google Shape;437;p33"/>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438" name="Google Shape;438;p33"/>
          <p:cNvSpPr/>
          <p:nvPr/>
        </p:nvSpPr>
        <p:spPr>
          <a:xfrm>
            <a:off x="609600" y="304800"/>
            <a:ext cx="82296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Unearned Revenues</a:t>
            </a:r>
            <a:endParaRPr b="1" sz="3200">
              <a:solidFill>
                <a:srgbClr val="0000BF"/>
              </a:solidFill>
              <a:latin typeface="Arial"/>
              <a:ea typeface="Arial"/>
              <a:cs typeface="Arial"/>
              <a:sym typeface="Arial"/>
            </a:endParaRPr>
          </a:p>
        </p:txBody>
      </p:sp>
      <p:sp>
        <p:nvSpPr>
          <p:cNvPr id="439" name="Google Shape;439;p33"/>
          <p:cNvSpPr txBox="1"/>
          <p:nvPr/>
        </p:nvSpPr>
        <p:spPr>
          <a:xfrm>
            <a:off x="609600" y="1295400"/>
            <a:ext cx="7620000" cy="464743"/>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lang="en-US" sz="2300">
                <a:solidFill>
                  <a:schemeClr val="dk1"/>
                </a:solidFill>
                <a:latin typeface="Arial"/>
                <a:ea typeface="Arial"/>
                <a:cs typeface="Arial"/>
                <a:sym typeface="Arial"/>
              </a:rPr>
              <a:t>Summary of the accounting for unearned revenues.</a:t>
            </a:r>
            <a:endParaRPr b="0" sz="2300">
              <a:solidFill>
                <a:schemeClr val="dk1"/>
              </a:solidFill>
              <a:latin typeface="Arial"/>
              <a:ea typeface="Arial"/>
              <a:cs typeface="Arial"/>
              <a:sym typeface="Arial"/>
            </a:endParaRPr>
          </a:p>
        </p:txBody>
      </p:sp>
      <p:pic>
        <p:nvPicPr>
          <p:cNvPr id="440" name="Google Shape;440;p33"/>
          <p:cNvPicPr preferRelativeResize="0"/>
          <p:nvPr/>
        </p:nvPicPr>
        <p:blipFill rotWithShape="1">
          <a:blip r:embed="rId3">
            <a:alphaModFix/>
          </a:blip>
          <a:srcRect b="0" l="0" r="0" t="0"/>
          <a:stretch/>
        </p:blipFill>
        <p:spPr>
          <a:xfrm>
            <a:off x="304801" y="2133600"/>
            <a:ext cx="8534400" cy="2704110"/>
          </a:xfrm>
          <a:prstGeom prst="rect">
            <a:avLst/>
          </a:prstGeom>
          <a:noFill/>
          <a:ln cap="sq" cmpd="sng" w="19050">
            <a:solidFill>
              <a:schemeClr val="dk1"/>
            </a:solidFill>
            <a:prstDash val="solid"/>
            <a:miter lim="800000"/>
            <a:headEnd len="sm" w="sm" type="none"/>
            <a:tailEnd len="sm" w="sm" type="none"/>
          </a:ln>
        </p:spPr>
      </p:pic>
      <p:sp>
        <p:nvSpPr>
          <p:cNvPr id="441" name="Google Shape;441;p33"/>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2</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34"/>
          <p:cNvSpPr/>
          <p:nvPr/>
        </p:nvSpPr>
        <p:spPr>
          <a:xfrm>
            <a:off x="3505200" y="4648200"/>
            <a:ext cx="1295400" cy="304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imes New Roman"/>
              <a:ea typeface="Times New Roman"/>
              <a:cs typeface="Times New Roman"/>
              <a:sym typeface="Times New Roman"/>
            </a:endParaRPr>
          </a:p>
        </p:txBody>
      </p:sp>
      <p:pic>
        <p:nvPicPr>
          <p:cNvPr id="447" name="Google Shape;447;p34"/>
          <p:cNvPicPr preferRelativeResize="0"/>
          <p:nvPr/>
        </p:nvPicPr>
        <p:blipFill rotWithShape="1">
          <a:blip r:embed="rId3">
            <a:alphaModFix/>
          </a:blip>
          <a:srcRect b="0" l="0" r="0" t="0"/>
          <a:stretch/>
        </p:blipFill>
        <p:spPr>
          <a:xfrm>
            <a:off x="457201" y="762001"/>
            <a:ext cx="8263434" cy="3733799"/>
          </a:xfrm>
          <a:prstGeom prst="rect">
            <a:avLst/>
          </a:prstGeom>
          <a:noFill/>
          <a:ln>
            <a:noFill/>
          </a:ln>
        </p:spPr>
      </p:pic>
      <p:sp>
        <p:nvSpPr>
          <p:cNvPr id="448" name="Google Shape;448;p34"/>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2</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35"/>
          <p:cNvSpPr/>
          <p:nvPr/>
        </p:nvSpPr>
        <p:spPr>
          <a:xfrm>
            <a:off x="609600" y="1381125"/>
            <a:ext cx="8001000" cy="4964436"/>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en-US" sz="1800">
                <a:solidFill>
                  <a:schemeClr val="dk1"/>
                </a:solidFill>
                <a:latin typeface="Arial"/>
                <a:ea typeface="Arial"/>
                <a:cs typeface="Arial"/>
                <a:sym typeface="Arial"/>
              </a:rPr>
              <a:t>The ledger of Hammond Company, on March 31, 2017, includes these selected accounts before adjusting entries are prepared.</a:t>
            </a:r>
            <a:endParaRPr/>
          </a:p>
          <a:p>
            <a:pPr indent="0" lvl="0" marL="0" marR="0" rtl="0" algn="l">
              <a:lnSpc>
                <a:spcPct val="120000"/>
              </a:lnSpc>
              <a:spcBef>
                <a:spcPts val="600"/>
              </a:spcBef>
              <a:spcAft>
                <a:spcPts val="0"/>
              </a:spcAft>
              <a:buNone/>
            </a:pPr>
            <a:r>
              <a:rPr b="1" lang="en-US" sz="1800">
                <a:solidFill>
                  <a:schemeClr val="dk1"/>
                </a:solidFill>
                <a:latin typeface="Arial"/>
                <a:ea typeface="Arial"/>
                <a:cs typeface="Arial"/>
                <a:sym typeface="Arial"/>
              </a:rPr>
              <a:t>	Debit 	Credit</a:t>
            </a:r>
            <a:endParaRPr b="1" sz="1800">
              <a:solidFill>
                <a:schemeClr val="dk1"/>
              </a:solidFill>
              <a:latin typeface="Arial"/>
              <a:ea typeface="Arial"/>
              <a:cs typeface="Arial"/>
              <a:sym typeface="Arial"/>
            </a:endParaRPr>
          </a:p>
          <a:p>
            <a:pPr indent="457200" lvl="0" marL="0" marR="0" rtl="0" algn="l">
              <a:spcBef>
                <a:spcPts val="600"/>
              </a:spcBef>
              <a:spcAft>
                <a:spcPts val="0"/>
              </a:spcAft>
              <a:buNone/>
            </a:pPr>
            <a:r>
              <a:rPr b="1" lang="en-US" sz="1800">
                <a:solidFill>
                  <a:schemeClr val="dk1"/>
                </a:solidFill>
                <a:latin typeface="Arial"/>
                <a:ea typeface="Arial"/>
                <a:cs typeface="Arial"/>
                <a:sym typeface="Arial"/>
              </a:rPr>
              <a:t>Prepaid Insurance 	$ 3,600</a:t>
            </a:r>
            <a:endParaRPr/>
          </a:p>
          <a:p>
            <a:pPr indent="457200" lvl="0" marL="0" marR="0" rtl="0" algn="l">
              <a:spcBef>
                <a:spcPts val="0"/>
              </a:spcBef>
              <a:spcAft>
                <a:spcPts val="0"/>
              </a:spcAft>
              <a:buNone/>
            </a:pPr>
            <a:r>
              <a:rPr b="1" lang="en-US" sz="1800">
                <a:solidFill>
                  <a:schemeClr val="dk1"/>
                </a:solidFill>
                <a:latin typeface="Arial"/>
                <a:ea typeface="Arial"/>
                <a:cs typeface="Arial"/>
                <a:sym typeface="Arial"/>
              </a:rPr>
              <a:t>Supplies 		2,800</a:t>
            </a:r>
            <a:endParaRPr b="1" sz="1800">
              <a:solidFill>
                <a:schemeClr val="dk1"/>
              </a:solidFill>
              <a:latin typeface="Arial"/>
              <a:ea typeface="Arial"/>
              <a:cs typeface="Arial"/>
              <a:sym typeface="Arial"/>
            </a:endParaRPr>
          </a:p>
          <a:p>
            <a:pPr indent="457200" lvl="0" marL="0" marR="0" rtl="0" algn="l">
              <a:spcBef>
                <a:spcPts val="0"/>
              </a:spcBef>
              <a:spcAft>
                <a:spcPts val="0"/>
              </a:spcAft>
              <a:buNone/>
            </a:pPr>
            <a:r>
              <a:rPr b="1" lang="en-US" sz="1800">
                <a:solidFill>
                  <a:schemeClr val="dk1"/>
                </a:solidFill>
                <a:latin typeface="Arial"/>
                <a:ea typeface="Arial"/>
                <a:cs typeface="Arial"/>
                <a:sym typeface="Arial"/>
              </a:rPr>
              <a:t>Equipment 		25,000</a:t>
            </a:r>
            <a:endParaRPr b="1" sz="1800">
              <a:solidFill>
                <a:schemeClr val="dk1"/>
              </a:solidFill>
              <a:latin typeface="Arial"/>
              <a:ea typeface="Arial"/>
              <a:cs typeface="Arial"/>
              <a:sym typeface="Arial"/>
            </a:endParaRPr>
          </a:p>
          <a:p>
            <a:pPr indent="457200" lvl="0" marL="0" marR="0" rtl="0" algn="l">
              <a:spcBef>
                <a:spcPts val="0"/>
              </a:spcBef>
              <a:spcAft>
                <a:spcPts val="0"/>
              </a:spcAft>
              <a:buNone/>
            </a:pPr>
            <a:r>
              <a:rPr b="1" lang="en-US" sz="1800">
                <a:solidFill>
                  <a:schemeClr val="dk1"/>
                </a:solidFill>
                <a:latin typeface="Arial"/>
                <a:ea typeface="Arial"/>
                <a:cs typeface="Arial"/>
                <a:sym typeface="Arial"/>
              </a:rPr>
              <a:t>Accumulated Depreciation—Equipment 		$5,000</a:t>
            </a:r>
            <a:endParaRPr/>
          </a:p>
          <a:p>
            <a:pPr indent="457200" lvl="0" marL="0" marR="0" rtl="0" algn="l">
              <a:spcBef>
                <a:spcPts val="0"/>
              </a:spcBef>
              <a:spcAft>
                <a:spcPts val="0"/>
              </a:spcAft>
              <a:buNone/>
            </a:pPr>
            <a:r>
              <a:rPr b="1" lang="en-US" sz="1800">
                <a:solidFill>
                  <a:schemeClr val="dk1"/>
                </a:solidFill>
                <a:latin typeface="Arial"/>
                <a:ea typeface="Arial"/>
                <a:cs typeface="Arial"/>
                <a:sym typeface="Arial"/>
              </a:rPr>
              <a:t>Unearned Service Revenue 		9,200</a:t>
            </a:r>
            <a:endParaRPr b="1" sz="1800">
              <a:solidFill>
                <a:schemeClr val="dk1"/>
              </a:solidFill>
              <a:latin typeface="Arial"/>
              <a:ea typeface="Arial"/>
              <a:cs typeface="Arial"/>
              <a:sym typeface="Arial"/>
            </a:endParaRPr>
          </a:p>
          <a:p>
            <a:pPr indent="0" lvl="0" marL="0" marR="0" rtl="0" algn="l">
              <a:lnSpc>
                <a:spcPct val="120000"/>
              </a:lnSpc>
              <a:spcBef>
                <a:spcPts val="600"/>
              </a:spcBef>
              <a:spcAft>
                <a:spcPts val="0"/>
              </a:spcAft>
              <a:buNone/>
            </a:pPr>
            <a:r>
              <a:rPr b="1" lang="en-US" sz="1800">
                <a:solidFill>
                  <a:schemeClr val="dk1"/>
                </a:solidFill>
                <a:latin typeface="Arial"/>
                <a:ea typeface="Arial"/>
                <a:cs typeface="Arial"/>
                <a:sym typeface="Arial"/>
              </a:rPr>
              <a:t>An analysis of the accounts shows the following.</a:t>
            </a:r>
            <a:endParaRPr/>
          </a:p>
          <a:p>
            <a:pPr indent="-342900" lvl="0" marL="342900" marR="0" rtl="0" algn="l">
              <a:lnSpc>
                <a:spcPct val="120000"/>
              </a:lnSpc>
              <a:spcBef>
                <a:spcPts val="600"/>
              </a:spcBef>
              <a:spcAft>
                <a:spcPts val="0"/>
              </a:spcAft>
              <a:buClr>
                <a:schemeClr val="dk1"/>
              </a:buClr>
              <a:buSzPts val="1800"/>
              <a:buFont typeface="Comic Sans MS"/>
              <a:buAutoNum type="arabicPeriod"/>
            </a:pPr>
            <a:r>
              <a:rPr b="1" lang="en-US" sz="1800">
                <a:solidFill>
                  <a:schemeClr val="dk1"/>
                </a:solidFill>
                <a:latin typeface="Arial"/>
                <a:ea typeface="Arial"/>
                <a:cs typeface="Arial"/>
                <a:sym typeface="Arial"/>
              </a:rPr>
              <a:t>Insurance expires at the rate of $100 per month.</a:t>
            </a:r>
            <a:endParaRPr/>
          </a:p>
          <a:p>
            <a:pPr indent="-342900" lvl="0" marL="342900" marR="0" rtl="0" algn="l">
              <a:spcBef>
                <a:spcPts val="0"/>
              </a:spcBef>
              <a:spcAft>
                <a:spcPts val="0"/>
              </a:spcAft>
              <a:buClr>
                <a:schemeClr val="dk1"/>
              </a:buClr>
              <a:buSzPts val="1800"/>
              <a:buFont typeface="Comic Sans MS"/>
              <a:buAutoNum type="arabicPeriod"/>
            </a:pPr>
            <a:r>
              <a:rPr b="1" lang="en-US" sz="1800">
                <a:solidFill>
                  <a:schemeClr val="dk1"/>
                </a:solidFill>
                <a:latin typeface="Arial"/>
                <a:ea typeface="Arial"/>
                <a:cs typeface="Arial"/>
                <a:sym typeface="Arial"/>
              </a:rPr>
              <a:t>Supplies on hand total $800.</a:t>
            </a:r>
            <a:endParaRPr/>
          </a:p>
          <a:p>
            <a:pPr indent="-342900" lvl="0" marL="342900" marR="0" rtl="0" algn="l">
              <a:spcBef>
                <a:spcPts val="0"/>
              </a:spcBef>
              <a:spcAft>
                <a:spcPts val="0"/>
              </a:spcAft>
              <a:buClr>
                <a:schemeClr val="dk1"/>
              </a:buClr>
              <a:buSzPts val="1800"/>
              <a:buFont typeface="Comic Sans MS"/>
              <a:buAutoNum type="arabicPeriod"/>
            </a:pPr>
            <a:r>
              <a:rPr b="1" lang="en-US" sz="1800">
                <a:solidFill>
                  <a:schemeClr val="dk1"/>
                </a:solidFill>
                <a:latin typeface="Arial"/>
                <a:ea typeface="Arial"/>
                <a:cs typeface="Arial"/>
                <a:sym typeface="Arial"/>
              </a:rPr>
              <a:t>The equipment depreciates $200 a month.</a:t>
            </a:r>
            <a:endParaRPr/>
          </a:p>
          <a:p>
            <a:pPr indent="-342900" lvl="0" marL="342900" marR="0" rtl="0" algn="l">
              <a:spcBef>
                <a:spcPts val="0"/>
              </a:spcBef>
              <a:spcAft>
                <a:spcPts val="0"/>
              </a:spcAft>
              <a:buClr>
                <a:schemeClr val="dk1"/>
              </a:buClr>
              <a:buSzPts val="1800"/>
              <a:buFont typeface="Comic Sans MS"/>
              <a:buAutoNum type="arabicPeriod"/>
            </a:pPr>
            <a:r>
              <a:rPr b="1" lang="en-US" sz="1800">
                <a:solidFill>
                  <a:schemeClr val="dk1"/>
                </a:solidFill>
                <a:latin typeface="Arial"/>
                <a:ea typeface="Arial"/>
                <a:cs typeface="Arial"/>
                <a:sym typeface="Arial"/>
              </a:rPr>
              <a:t>During March, services were performed for one-half of the unearned service revenue.</a:t>
            </a:r>
            <a:endParaRPr/>
          </a:p>
          <a:p>
            <a:pPr indent="0" lvl="0" marL="0" marR="0" rtl="0" algn="l">
              <a:lnSpc>
                <a:spcPct val="120000"/>
              </a:lnSpc>
              <a:spcBef>
                <a:spcPts val="600"/>
              </a:spcBef>
              <a:spcAft>
                <a:spcPts val="0"/>
              </a:spcAft>
              <a:buNone/>
            </a:pPr>
            <a:r>
              <a:rPr b="1" lang="en-US" sz="1800">
                <a:solidFill>
                  <a:schemeClr val="dk1"/>
                </a:solidFill>
                <a:latin typeface="Arial"/>
                <a:ea typeface="Arial"/>
                <a:cs typeface="Arial"/>
                <a:sym typeface="Arial"/>
              </a:rPr>
              <a:t>Prepare the adjusting entries for the month of March.</a:t>
            </a:r>
            <a:endParaRPr b="1" sz="1700">
              <a:solidFill>
                <a:schemeClr val="dk1"/>
              </a:solidFill>
              <a:latin typeface="Arial"/>
              <a:ea typeface="Arial"/>
              <a:cs typeface="Arial"/>
              <a:sym typeface="Arial"/>
            </a:endParaRPr>
          </a:p>
        </p:txBody>
      </p:sp>
      <p:cxnSp>
        <p:nvCxnSpPr>
          <p:cNvPr id="454" name="Google Shape;454;p35"/>
          <p:cNvCxnSpPr/>
          <p:nvPr/>
        </p:nvCxnSpPr>
        <p:spPr>
          <a:xfrm>
            <a:off x="290286" y="784324"/>
            <a:ext cx="8636000" cy="1489"/>
          </a:xfrm>
          <a:prstGeom prst="straightConnector1">
            <a:avLst/>
          </a:prstGeom>
          <a:noFill/>
          <a:ln cap="flat" cmpd="sng" w="57150">
            <a:solidFill>
              <a:srgbClr val="FF9900"/>
            </a:solidFill>
            <a:prstDash val="solid"/>
            <a:round/>
            <a:headEnd len="med" w="med" type="none"/>
            <a:tailEnd len="med" w="med" type="none"/>
          </a:ln>
        </p:spPr>
      </p:cxnSp>
      <p:pic>
        <p:nvPicPr>
          <p:cNvPr id="455" name="Google Shape;455;p35"/>
          <p:cNvPicPr preferRelativeResize="0"/>
          <p:nvPr/>
        </p:nvPicPr>
        <p:blipFill rotWithShape="1">
          <a:blip r:embed="rId3">
            <a:alphaModFix/>
          </a:blip>
          <a:srcRect b="0" l="0" r="0" t="0"/>
          <a:stretch/>
        </p:blipFill>
        <p:spPr>
          <a:xfrm>
            <a:off x="580571" y="395883"/>
            <a:ext cx="1669143" cy="604242"/>
          </a:xfrm>
          <a:prstGeom prst="rect">
            <a:avLst/>
          </a:prstGeom>
          <a:noFill/>
          <a:ln>
            <a:noFill/>
          </a:ln>
        </p:spPr>
      </p:pic>
      <p:pic>
        <p:nvPicPr>
          <p:cNvPr id="456" name="Google Shape;456;p35"/>
          <p:cNvPicPr preferRelativeResize="0"/>
          <p:nvPr/>
        </p:nvPicPr>
        <p:blipFill rotWithShape="1">
          <a:blip r:embed="rId4">
            <a:alphaModFix/>
          </a:blip>
          <a:srcRect b="0" l="0" r="0" t="0"/>
          <a:stretch/>
        </p:blipFill>
        <p:spPr>
          <a:xfrm>
            <a:off x="290286" y="357188"/>
            <a:ext cx="8636000" cy="823465"/>
          </a:xfrm>
          <a:prstGeom prst="rect">
            <a:avLst/>
          </a:prstGeom>
          <a:noFill/>
          <a:ln>
            <a:noFill/>
          </a:ln>
        </p:spPr>
      </p:pic>
      <p:pic>
        <p:nvPicPr>
          <p:cNvPr id="457" name="Google Shape;457;p35"/>
          <p:cNvPicPr preferRelativeResize="0"/>
          <p:nvPr/>
        </p:nvPicPr>
        <p:blipFill rotWithShape="1">
          <a:blip r:embed="rId5">
            <a:alphaModFix/>
          </a:blip>
          <a:srcRect b="0" l="0" r="0" t="0"/>
          <a:stretch/>
        </p:blipFill>
        <p:spPr>
          <a:xfrm>
            <a:off x="3410857" y="586815"/>
            <a:ext cx="3144567" cy="413310"/>
          </a:xfrm>
          <a:prstGeom prst="rect">
            <a:avLst/>
          </a:prstGeom>
          <a:noFill/>
          <a:ln>
            <a:noFill/>
          </a:ln>
        </p:spPr>
      </p:pic>
      <p:pic>
        <p:nvPicPr>
          <p:cNvPr id="458" name="Google Shape;458;p35"/>
          <p:cNvPicPr preferRelativeResize="0"/>
          <p:nvPr/>
        </p:nvPicPr>
        <p:blipFill rotWithShape="1">
          <a:blip r:embed="rId6">
            <a:alphaModFix/>
          </a:blip>
          <a:srcRect b="0" l="0" r="0" t="0"/>
          <a:stretch/>
        </p:blipFill>
        <p:spPr>
          <a:xfrm>
            <a:off x="2493472" y="571501"/>
            <a:ext cx="409385" cy="344759"/>
          </a:xfrm>
          <a:prstGeom prst="rect">
            <a:avLst/>
          </a:prstGeom>
          <a:noFill/>
          <a:ln>
            <a:noFill/>
          </a:ln>
        </p:spPr>
      </p:pic>
      <p:sp>
        <p:nvSpPr>
          <p:cNvPr id="459" name="Google Shape;459;p35"/>
          <p:cNvSpPr txBox="1"/>
          <p:nvPr/>
        </p:nvSpPr>
        <p:spPr>
          <a:xfrm>
            <a:off x="2467428" y="428625"/>
            <a:ext cx="435429" cy="641336"/>
          </a:xfrm>
          <a:prstGeom prst="rect">
            <a:avLst/>
          </a:prstGeom>
          <a:noFill/>
          <a:ln>
            <a:noFill/>
          </a:ln>
        </p:spPr>
        <p:txBody>
          <a:bodyPr anchorCtr="0" anchor="t" bIns="43225" lIns="86475" spcFirstLastPara="1" rIns="86475" wrap="square" tIns="43225">
            <a:spAutoFit/>
          </a:bodyPr>
          <a:lstStyle/>
          <a:p>
            <a:pPr indent="0" lvl="0" marL="0" marR="0" rtl="0" algn="l">
              <a:spcBef>
                <a:spcPts val="0"/>
              </a:spcBef>
              <a:spcAft>
                <a:spcPts val="0"/>
              </a:spcAft>
              <a:buNone/>
            </a:pPr>
            <a:r>
              <a:rPr b="1" lang="en-US" sz="3600">
                <a:solidFill>
                  <a:srgbClr val="FF9900"/>
                </a:solidFill>
                <a:latin typeface="Arial"/>
                <a:ea typeface="Arial"/>
                <a:cs typeface="Arial"/>
                <a:sym typeface="Arial"/>
              </a:rPr>
              <a:t>2</a:t>
            </a:r>
            <a:endParaRPr b="1" sz="3600">
              <a:solidFill>
                <a:srgbClr val="FF9900"/>
              </a:solidFill>
              <a:latin typeface="Arial"/>
              <a:ea typeface="Arial"/>
              <a:cs typeface="Arial"/>
              <a:sym typeface="Arial"/>
            </a:endParaRPr>
          </a:p>
        </p:txBody>
      </p:sp>
      <p:sp>
        <p:nvSpPr>
          <p:cNvPr id="460" name="Google Shape;460;p35"/>
          <p:cNvSpPr txBox="1"/>
          <p:nvPr/>
        </p:nvSpPr>
        <p:spPr>
          <a:xfrm>
            <a:off x="3338286" y="508909"/>
            <a:ext cx="5515429" cy="519373"/>
          </a:xfrm>
          <a:prstGeom prst="rect">
            <a:avLst/>
          </a:prstGeom>
          <a:noFill/>
          <a:ln>
            <a:noFill/>
          </a:ln>
        </p:spPr>
        <p:txBody>
          <a:bodyPr anchorCtr="0" anchor="t" bIns="43225" lIns="86475" spcFirstLastPara="1" rIns="86475" wrap="square" tIns="43225">
            <a:spAutoFit/>
          </a:bodyPr>
          <a:lstStyle/>
          <a:p>
            <a:pPr indent="0" lvl="0" marL="111120" marR="0" rtl="0" algn="l">
              <a:spcBef>
                <a:spcPts val="0"/>
              </a:spcBef>
              <a:spcAft>
                <a:spcPts val="0"/>
              </a:spcAft>
              <a:buNone/>
            </a:pPr>
            <a:r>
              <a:rPr b="1" lang="en-US" sz="2800">
                <a:solidFill>
                  <a:schemeClr val="lt1"/>
                </a:solidFill>
                <a:latin typeface="Arial"/>
                <a:ea typeface="Arial"/>
                <a:cs typeface="Arial"/>
                <a:sym typeface="Arial"/>
              </a:rPr>
              <a:t>Adjusting Entries for Deferrals</a:t>
            </a:r>
            <a:endParaRPr b="1" sz="2800">
              <a:solidFill>
                <a:schemeClr val="lt1"/>
              </a:solidFill>
              <a:latin typeface="Arial"/>
              <a:ea typeface="Arial"/>
              <a:cs typeface="Arial"/>
              <a:sym typeface="Arial"/>
            </a:endParaRPr>
          </a:p>
        </p:txBody>
      </p:sp>
      <p:pic>
        <p:nvPicPr>
          <p:cNvPr id="461" name="Google Shape;461;p35"/>
          <p:cNvPicPr preferRelativeResize="0"/>
          <p:nvPr/>
        </p:nvPicPr>
        <p:blipFill rotWithShape="1">
          <a:blip r:embed="rId7">
            <a:alphaModFix/>
          </a:blip>
          <a:srcRect b="0" l="0" r="0" t="0"/>
          <a:stretch/>
        </p:blipFill>
        <p:spPr>
          <a:xfrm rot="10800000">
            <a:off x="457200" y="501930"/>
            <a:ext cx="1600200" cy="564870"/>
          </a:xfrm>
          <a:prstGeom prst="rect">
            <a:avLst/>
          </a:prstGeom>
          <a:noFill/>
          <a:ln>
            <a:noFill/>
          </a:ln>
        </p:spPr>
      </p:pic>
      <p:sp>
        <p:nvSpPr>
          <p:cNvPr id="462" name="Google Shape;462;p35"/>
          <p:cNvSpPr txBox="1"/>
          <p:nvPr/>
        </p:nvSpPr>
        <p:spPr>
          <a:xfrm>
            <a:off x="304800" y="381000"/>
            <a:ext cx="2209800"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200">
                <a:solidFill>
                  <a:srgbClr val="FF9900"/>
                </a:solidFill>
                <a:latin typeface="Arial"/>
                <a:ea typeface="Arial"/>
                <a:cs typeface="Arial"/>
                <a:sym typeface="Arial"/>
              </a:rPr>
              <a:t>DO IT!</a:t>
            </a:r>
            <a:endParaRPr b="1" sz="4200">
              <a:solidFill>
                <a:srgbClr val="FF9900"/>
              </a:solidFill>
              <a:latin typeface="Arial"/>
              <a:ea typeface="Arial"/>
              <a:cs typeface="Arial"/>
              <a:sym typeface="Arial"/>
            </a:endParaRPr>
          </a:p>
        </p:txBody>
      </p:sp>
      <p:cxnSp>
        <p:nvCxnSpPr>
          <p:cNvPr id="463" name="Google Shape;463;p35"/>
          <p:cNvCxnSpPr/>
          <p:nvPr/>
        </p:nvCxnSpPr>
        <p:spPr>
          <a:xfrm>
            <a:off x="7010400" y="2496312"/>
            <a:ext cx="838200" cy="0"/>
          </a:xfrm>
          <a:prstGeom prst="straightConnector1">
            <a:avLst/>
          </a:prstGeom>
          <a:solidFill>
            <a:schemeClr val="accent1"/>
          </a:solidFill>
          <a:ln cap="sq" cmpd="sng" w="28575">
            <a:solidFill>
              <a:schemeClr val="dk1"/>
            </a:solidFill>
            <a:prstDash val="solid"/>
            <a:round/>
            <a:headEnd len="sm" w="sm" type="none"/>
            <a:tailEnd len="sm" w="sm" type="none"/>
          </a:ln>
        </p:spPr>
      </p:cxnSp>
      <p:cxnSp>
        <p:nvCxnSpPr>
          <p:cNvPr id="464" name="Google Shape;464;p35"/>
          <p:cNvCxnSpPr/>
          <p:nvPr/>
        </p:nvCxnSpPr>
        <p:spPr>
          <a:xfrm>
            <a:off x="5867400" y="2496312"/>
            <a:ext cx="838200" cy="0"/>
          </a:xfrm>
          <a:prstGeom prst="straightConnector1">
            <a:avLst/>
          </a:prstGeom>
          <a:solidFill>
            <a:schemeClr val="accent1"/>
          </a:solidFill>
          <a:ln cap="sq" cmpd="sng" w="28575">
            <a:solidFill>
              <a:schemeClr val="dk1"/>
            </a:solidFill>
            <a:prstDash val="solid"/>
            <a:round/>
            <a:headEnd len="sm" w="sm" type="none"/>
            <a:tailEnd len="sm" w="sm" type="none"/>
          </a:ln>
        </p:spPr>
      </p:cxnSp>
      <p:sp>
        <p:nvSpPr>
          <p:cNvPr id="465" name="Google Shape;465;p35"/>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2</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36"/>
          <p:cNvSpPr/>
          <p:nvPr/>
        </p:nvSpPr>
        <p:spPr>
          <a:xfrm>
            <a:off x="609600" y="1381125"/>
            <a:ext cx="8001000" cy="352404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en-US" sz="1800">
                <a:solidFill>
                  <a:schemeClr val="dk1"/>
                </a:solidFill>
                <a:latin typeface="Arial"/>
                <a:ea typeface="Arial"/>
                <a:cs typeface="Arial"/>
                <a:sym typeface="Arial"/>
              </a:rPr>
              <a:t>The ledger of Hammond Company, on March 31, 2017, includes these selected accounts before adjusting entries are prepared.</a:t>
            </a:r>
            <a:endParaRPr/>
          </a:p>
          <a:p>
            <a:pPr indent="0" lvl="0" marL="0" marR="0" rtl="0" algn="l">
              <a:lnSpc>
                <a:spcPct val="120000"/>
              </a:lnSpc>
              <a:spcBef>
                <a:spcPts val="600"/>
              </a:spcBef>
              <a:spcAft>
                <a:spcPts val="0"/>
              </a:spcAft>
              <a:buNone/>
            </a:pPr>
            <a:r>
              <a:rPr b="1" lang="en-US" sz="1800">
                <a:solidFill>
                  <a:schemeClr val="dk1"/>
                </a:solidFill>
                <a:latin typeface="Arial"/>
                <a:ea typeface="Arial"/>
                <a:cs typeface="Arial"/>
                <a:sym typeface="Arial"/>
              </a:rPr>
              <a:t>	Debit 	Credit</a:t>
            </a:r>
            <a:endParaRPr b="1" sz="1800">
              <a:solidFill>
                <a:schemeClr val="dk1"/>
              </a:solidFill>
              <a:latin typeface="Arial"/>
              <a:ea typeface="Arial"/>
              <a:cs typeface="Arial"/>
              <a:sym typeface="Arial"/>
            </a:endParaRPr>
          </a:p>
          <a:p>
            <a:pPr indent="457200" lvl="0" marL="0" marR="0" rtl="0" algn="l">
              <a:spcBef>
                <a:spcPts val="600"/>
              </a:spcBef>
              <a:spcAft>
                <a:spcPts val="0"/>
              </a:spcAft>
              <a:buNone/>
            </a:pPr>
            <a:r>
              <a:rPr b="1" lang="en-US" sz="1800">
                <a:solidFill>
                  <a:schemeClr val="dk1"/>
                </a:solidFill>
                <a:latin typeface="Arial"/>
                <a:ea typeface="Arial"/>
                <a:cs typeface="Arial"/>
                <a:sym typeface="Arial"/>
              </a:rPr>
              <a:t>Prepaid Insurance 	$ 3,600</a:t>
            </a:r>
            <a:endParaRPr/>
          </a:p>
          <a:p>
            <a:pPr indent="457200" lvl="0" marL="0" marR="0" rtl="0" algn="l">
              <a:spcBef>
                <a:spcPts val="0"/>
              </a:spcBef>
              <a:spcAft>
                <a:spcPts val="0"/>
              </a:spcAft>
              <a:buNone/>
            </a:pPr>
            <a:r>
              <a:rPr b="1" lang="en-US" sz="1800">
                <a:solidFill>
                  <a:schemeClr val="dk1"/>
                </a:solidFill>
                <a:latin typeface="Arial"/>
                <a:ea typeface="Arial"/>
                <a:cs typeface="Arial"/>
                <a:sym typeface="Arial"/>
              </a:rPr>
              <a:t>Supplies 		2,800</a:t>
            </a:r>
            <a:endParaRPr b="1" sz="1800">
              <a:solidFill>
                <a:schemeClr val="dk1"/>
              </a:solidFill>
              <a:latin typeface="Arial"/>
              <a:ea typeface="Arial"/>
              <a:cs typeface="Arial"/>
              <a:sym typeface="Arial"/>
            </a:endParaRPr>
          </a:p>
          <a:p>
            <a:pPr indent="457200" lvl="0" marL="0" marR="0" rtl="0" algn="l">
              <a:spcBef>
                <a:spcPts val="0"/>
              </a:spcBef>
              <a:spcAft>
                <a:spcPts val="0"/>
              </a:spcAft>
              <a:buNone/>
            </a:pPr>
            <a:r>
              <a:rPr b="1" lang="en-US" sz="1800">
                <a:solidFill>
                  <a:schemeClr val="dk1"/>
                </a:solidFill>
                <a:latin typeface="Arial"/>
                <a:ea typeface="Arial"/>
                <a:cs typeface="Arial"/>
                <a:sym typeface="Arial"/>
              </a:rPr>
              <a:t>Equipment 		25,000</a:t>
            </a:r>
            <a:endParaRPr b="1" sz="1800">
              <a:solidFill>
                <a:schemeClr val="dk1"/>
              </a:solidFill>
              <a:latin typeface="Arial"/>
              <a:ea typeface="Arial"/>
              <a:cs typeface="Arial"/>
              <a:sym typeface="Arial"/>
            </a:endParaRPr>
          </a:p>
          <a:p>
            <a:pPr indent="457200" lvl="0" marL="0" marR="0" rtl="0" algn="l">
              <a:spcBef>
                <a:spcPts val="0"/>
              </a:spcBef>
              <a:spcAft>
                <a:spcPts val="0"/>
              </a:spcAft>
              <a:buNone/>
            </a:pPr>
            <a:r>
              <a:rPr b="1" lang="en-US" sz="1800">
                <a:solidFill>
                  <a:schemeClr val="dk1"/>
                </a:solidFill>
                <a:latin typeface="Arial"/>
                <a:ea typeface="Arial"/>
                <a:cs typeface="Arial"/>
                <a:sym typeface="Arial"/>
              </a:rPr>
              <a:t>Accumulated Depreciation—Equipment 		$5,000</a:t>
            </a:r>
            <a:endParaRPr/>
          </a:p>
          <a:p>
            <a:pPr indent="457200" lvl="0" marL="0" marR="0" rtl="0" algn="l">
              <a:spcBef>
                <a:spcPts val="0"/>
              </a:spcBef>
              <a:spcAft>
                <a:spcPts val="0"/>
              </a:spcAft>
              <a:buNone/>
            </a:pPr>
            <a:r>
              <a:rPr b="1" lang="en-US" sz="1800">
                <a:solidFill>
                  <a:schemeClr val="dk1"/>
                </a:solidFill>
                <a:latin typeface="Arial"/>
                <a:ea typeface="Arial"/>
                <a:cs typeface="Arial"/>
                <a:sym typeface="Arial"/>
              </a:rPr>
              <a:t>Unearned Service Revenue 		9,200</a:t>
            </a:r>
            <a:endParaRPr b="1" sz="1800">
              <a:solidFill>
                <a:schemeClr val="dk1"/>
              </a:solidFill>
              <a:latin typeface="Arial"/>
              <a:ea typeface="Arial"/>
              <a:cs typeface="Arial"/>
              <a:sym typeface="Arial"/>
            </a:endParaRPr>
          </a:p>
          <a:p>
            <a:pPr indent="0" lvl="0" marL="0" marR="0" rtl="0" algn="l">
              <a:lnSpc>
                <a:spcPct val="120000"/>
              </a:lnSpc>
              <a:spcBef>
                <a:spcPts val="600"/>
              </a:spcBef>
              <a:spcAft>
                <a:spcPts val="0"/>
              </a:spcAft>
              <a:buNone/>
            </a:pPr>
            <a:r>
              <a:rPr b="1" lang="en-US" sz="1800">
                <a:solidFill>
                  <a:schemeClr val="dk1"/>
                </a:solidFill>
                <a:latin typeface="Arial"/>
                <a:ea typeface="Arial"/>
                <a:cs typeface="Arial"/>
                <a:sym typeface="Arial"/>
              </a:rPr>
              <a:t>Prepare the adjusting entries for the month of March.</a:t>
            </a:r>
            <a:endParaRPr b="1" sz="1700">
              <a:solidFill>
                <a:schemeClr val="dk1"/>
              </a:solidFill>
              <a:latin typeface="Arial"/>
              <a:ea typeface="Arial"/>
              <a:cs typeface="Arial"/>
              <a:sym typeface="Arial"/>
            </a:endParaRPr>
          </a:p>
          <a:p>
            <a:pPr indent="-342900" lvl="0" marL="342900" marR="0" rtl="0" algn="l">
              <a:lnSpc>
                <a:spcPct val="120000"/>
              </a:lnSpc>
              <a:spcBef>
                <a:spcPts val="1200"/>
              </a:spcBef>
              <a:spcAft>
                <a:spcPts val="0"/>
              </a:spcAft>
              <a:buClr>
                <a:schemeClr val="dk1"/>
              </a:buClr>
              <a:buSzPts val="1800"/>
              <a:buFont typeface="Comic Sans MS"/>
              <a:buAutoNum type="arabicPeriod"/>
            </a:pPr>
            <a:r>
              <a:rPr b="1" lang="en-US" sz="1800">
                <a:solidFill>
                  <a:schemeClr val="dk1"/>
                </a:solidFill>
                <a:latin typeface="Arial"/>
                <a:ea typeface="Arial"/>
                <a:cs typeface="Arial"/>
                <a:sym typeface="Arial"/>
              </a:rPr>
              <a:t>Insurance expires at the rate of $100 per month.</a:t>
            </a:r>
            <a:endParaRPr b="1" sz="1800">
              <a:solidFill>
                <a:schemeClr val="dk1"/>
              </a:solidFill>
              <a:latin typeface="Arial"/>
              <a:ea typeface="Arial"/>
              <a:cs typeface="Arial"/>
              <a:sym typeface="Arial"/>
            </a:endParaRPr>
          </a:p>
        </p:txBody>
      </p:sp>
      <p:cxnSp>
        <p:nvCxnSpPr>
          <p:cNvPr id="471" name="Google Shape;471;p36"/>
          <p:cNvCxnSpPr/>
          <p:nvPr/>
        </p:nvCxnSpPr>
        <p:spPr>
          <a:xfrm>
            <a:off x="290286" y="784324"/>
            <a:ext cx="8636000" cy="1489"/>
          </a:xfrm>
          <a:prstGeom prst="straightConnector1">
            <a:avLst/>
          </a:prstGeom>
          <a:noFill/>
          <a:ln cap="flat" cmpd="sng" w="57150">
            <a:solidFill>
              <a:srgbClr val="FF9900"/>
            </a:solidFill>
            <a:prstDash val="solid"/>
            <a:round/>
            <a:headEnd len="med" w="med" type="none"/>
            <a:tailEnd len="med" w="med" type="none"/>
          </a:ln>
        </p:spPr>
      </p:cxnSp>
      <p:pic>
        <p:nvPicPr>
          <p:cNvPr id="472" name="Google Shape;472;p36"/>
          <p:cNvPicPr preferRelativeResize="0"/>
          <p:nvPr/>
        </p:nvPicPr>
        <p:blipFill rotWithShape="1">
          <a:blip r:embed="rId3">
            <a:alphaModFix/>
          </a:blip>
          <a:srcRect b="0" l="0" r="0" t="0"/>
          <a:stretch/>
        </p:blipFill>
        <p:spPr>
          <a:xfrm>
            <a:off x="580571" y="395883"/>
            <a:ext cx="1669143" cy="604242"/>
          </a:xfrm>
          <a:prstGeom prst="rect">
            <a:avLst/>
          </a:prstGeom>
          <a:noFill/>
          <a:ln>
            <a:noFill/>
          </a:ln>
        </p:spPr>
      </p:pic>
      <p:pic>
        <p:nvPicPr>
          <p:cNvPr id="473" name="Google Shape;473;p36"/>
          <p:cNvPicPr preferRelativeResize="0"/>
          <p:nvPr/>
        </p:nvPicPr>
        <p:blipFill rotWithShape="1">
          <a:blip r:embed="rId4">
            <a:alphaModFix/>
          </a:blip>
          <a:srcRect b="0" l="0" r="0" t="0"/>
          <a:stretch/>
        </p:blipFill>
        <p:spPr>
          <a:xfrm>
            <a:off x="290286" y="357188"/>
            <a:ext cx="8636000" cy="823465"/>
          </a:xfrm>
          <a:prstGeom prst="rect">
            <a:avLst/>
          </a:prstGeom>
          <a:noFill/>
          <a:ln>
            <a:noFill/>
          </a:ln>
        </p:spPr>
      </p:pic>
      <p:pic>
        <p:nvPicPr>
          <p:cNvPr id="474" name="Google Shape;474;p36"/>
          <p:cNvPicPr preferRelativeResize="0"/>
          <p:nvPr/>
        </p:nvPicPr>
        <p:blipFill rotWithShape="1">
          <a:blip r:embed="rId5">
            <a:alphaModFix/>
          </a:blip>
          <a:srcRect b="0" l="0" r="0" t="0"/>
          <a:stretch/>
        </p:blipFill>
        <p:spPr>
          <a:xfrm>
            <a:off x="3410857" y="586815"/>
            <a:ext cx="3144567" cy="413310"/>
          </a:xfrm>
          <a:prstGeom prst="rect">
            <a:avLst/>
          </a:prstGeom>
          <a:noFill/>
          <a:ln>
            <a:noFill/>
          </a:ln>
        </p:spPr>
      </p:pic>
      <p:pic>
        <p:nvPicPr>
          <p:cNvPr id="475" name="Google Shape;475;p36"/>
          <p:cNvPicPr preferRelativeResize="0"/>
          <p:nvPr/>
        </p:nvPicPr>
        <p:blipFill rotWithShape="1">
          <a:blip r:embed="rId6">
            <a:alphaModFix/>
          </a:blip>
          <a:srcRect b="0" l="0" r="0" t="0"/>
          <a:stretch/>
        </p:blipFill>
        <p:spPr>
          <a:xfrm>
            <a:off x="2493472" y="571501"/>
            <a:ext cx="409385" cy="344759"/>
          </a:xfrm>
          <a:prstGeom prst="rect">
            <a:avLst/>
          </a:prstGeom>
          <a:noFill/>
          <a:ln>
            <a:noFill/>
          </a:ln>
        </p:spPr>
      </p:pic>
      <p:sp>
        <p:nvSpPr>
          <p:cNvPr id="476" name="Google Shape;476;p36"/>
          <p:cNvSpPr txBox="1"/>
          <p:nvPr/>
        </p:nvSpPr>
        <p:spPr>
          <a:xfrm>
            <a:off x="2467428" y="428625"/>
            <a:ext cx="435429" cy="641336"/>
          </a:xfrm>
          <a:prstGeom prst="rect">
            <a:avLst/>
          </a:prstGeom>
          <a:noFill/>
          <a:ln>
            <a:noFill/>
          </a:ln>
        </p:spPr>
        <p:txBody>
          <a:bodyPr anchorCtr="0" anchor="t" bIns="43225" lIns="86475" spcFirstLastPara="1" rIns="86475" wrap="square" tIns="43225">
            <a:spAutoFit/>
          </a:bodyPr>
          <a:lstStyle/>
          <a:p>
            <a:pPr indent="0" lvl="0" marL="0" marR="0" rtl="0" algn="l">
              <a:spcBef>
                <a:spcPts val="0"/>
              </a:spcBef>
              <a:spcAft>
                <a:spcPts val="0"/>
              </a:spcAft>
              <a:buNone/>
            </a:pPr>
            <a:r>
              <a:rPr b="1" lang="en-US" sz="3600">
                <a:solidFill>
                  <a:srgbClr val="FF9900"/>
                </a:solidFill>
                <a:latin typeface="Arial"/>
                <a:ea typeface="Arial"/>
                <a:cs typeface="Arial"/>
                <a:sym typeface="Arial"/>
              </a:rPr>
              <a:t>2</a:t>
            </a:r>
            <a:endParaRPr b="1" sz="3600">
              <a:solidFill>
                <a:srgbClr val="FF9900"/>
              </a:solidFill>
              <a:latin typeface="Arial"/>
              <a:ea typeface="Arial"/>
              <a:cs typeface="Arial"/>
              <a:sym typeface="Arial"/>
            </a:endParaRPr>
          </a:p>
        </p:txBody>
      </p:sp>
      <p:sp>
        <p:nvSpPr>
          <p:cNvPr id="477" name="Google Shape;477;p36"/>
          <p:cNvSpPr txBox="1"/>
          <p:nvPr/>
        </p:nvSpPr>
        <p:spPr>
          <a:xfrm>
            <a:off x="3338286" y="508909"/>
            <a:ext cx="5515429" cy="519373"/>
          </a:xfrm>
          <a:prstGeom prst="rect">
            <a:avLst/>
          </a:prstGeom>
          <a:noFill/>
          <a:ln>
            <a:noFill/>
          </a:ln>
        </p:spPr>
        <p:txBody>
          <a:bodyPr anchorCtr="0" anchor="t" bIns="43225" lIns="86475" spcFirstLastPara="1" rIns="86475" wrap="square" tIns="43225">
            <a:spAutoFit/>
          </a:bodyPr>
          <a:lstStyle/>
          <a:p>
            <a:pPr indent="0" lvl="0" marL="111120" marR="0" rtl="0" algn="l">
              <a:spcBef>
                <a:spcPts val="0"/>
              </a:spcBef>
              <a:spcAft>
                <a:spcPts val="0"/>
              </a:spcAft>
              <a:buNone/>
            </a:pPr>
            <a:r>
              <a:rPr b="1" lang="en-US" sz="2800">
                <a:solidFill>
                  <a:schemeClr val="lt1"/>
                </a:solidFill>
                <a:latin typeface="Arial"/>
                <a:ea typeface="Arial"/>
                <a:cs typeface="Arial"/>
                <a:sym typeface="Arial"/>
              </a:rPr>
              <a:t>Adjusting Entries for Deferrals</a:t>
            </a:r>
            <a:endParaRPr b="1" sz="2800">
              <a:solidFill>
                <a:schemeClr val="lt1"/>
              </a:solidFill>
              <a:latin typeface="Arial"/>
              <a:ea typeface="Arial"/>
              <a:cs typeface="Arial"/>
              <a:sym typeface="Arial"/>
            </a:endParaRPr>
          </a:p>
        </p:txBody>
      </p:sp>
      <p:pic>
        <p:nvPicPr>
          <p:cNvPr id="478" name="Google Shape;478;p36"/>
          <p:cNvPicPr preferRelativeResize="0"/>
          <p:nvPr/>
        </p:nvPicPr>
        <p:blipFill rotWithShape="1">
          <a:blip r:embed="rId7">
            <a:alphaModFix/>
          </a:blip>
          <a:srcRect b="0" l="0" r="0" t="0"/>
          <a:stretch/>
        </p:blipFill>
        <p:spPr>
          <a:xfrm rot="10800000">
            <a:off x="457200" y="501930"/>
            <a:ext cx="1600200" cy="564870"/>
          </a:xfrm>
          <a:prstGeom prst="rect">
            <a:avLst/>
          </a:prstGeom>
          <a:noFill/>
          <a:ln>
            <a:noFill/>
          </a:ln>
        </p:spPr>
      </p:pic>
      <p:sp>
        <p:nvSpPr>
          <p:cNvPr id="479" name="Google Shape;479;p36"/>
          <p:cNvSpPr txBox="1"/>
          <p:nvPr/>
        </p:nvSpPr>
        <p:spPr>
          <a:xfrm>
            <a:off x="304800" y="381000"/>
            <a:ext cx="2209800"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200">
                <a:solidFill>
                  <a:srgbClr val="FF9900"/>
                </a:solidFill>
                <a:latin typeface="Arial"/>
                <a:ea typeface="Arial"/>
                <a:cs typeface="Arial"/>
                <a:sym typeface="Arial"/>
              </a:rPr>
              <a:t>DO IT!</a:t>
            </a:r>
            <a:endParaRPr b="1" sz="4200">
              <a:solidFill>
                <a:srgbClr val="FF9900"/>
              </a:solidFill>
              <a:latin typeface="Arial"/>
              <a:ea typeface="Arial"/>
              <a:cs typeface="Arial"/>
              <a:sym typeface="Arial"/>
            </a:endParaRPr>
          </a:p>
        </p:txBody>
      </p:sp>
      <p:cxnSp>
        <p:nvCxnSpPr>
          <p:cNvPr id="480" name="Google Shape;480;p36"/>
          <p:cNvCxnSpPr/>
          <p:nvPr/>
        </p:nvCxnSpPr>
        <p:spPr>
          <a:xfrm>
            <a:off x="7010400" y="2496312"/>
            <a:ext cx="838200" cy="0"/>
          </a:xfrm>
          <a:prstGeom prst="straightConnector1">
            <a:avLst/>
          </a:prstGeom>
          <a:solidFill>
            <a:schemeClr val="accent1"/>
          </a:solidFill>
          <a:ln cap="sq" cmpd="sng" w="28575">
            <a:solidFill>
              <a:schemeClr val="dk1"/>
            </a:solidFill>
            <a:prstDash val="solid"/>
            <a:round/>
            <a:headEnd len="sm" w="sm" type="none"/>
            <a:tailEnd len="sm" w="sm" type="none"/>
          </a:ln>
        </p:spPr>
      </p:cxnSp>
      <p:cxnSp>
        <p:nvCxnSpPr>
          <p:cNvPr id="481" name="Google Shape;481;p36"/>
          <p:cNvCxnSpPr/>
          <p:nvPr/>
        </p:nvCxnSpPr>
        <p:spPr>
          <a:xfrm>
            <a:off x="5867400" y="2496312"/>
            <a:ext cx="838200" cy="0"/>
          </a:xfrm>
          <a:prstGeom prst="straightConnector1">
            <a:avLst/>
          </a:prstGeom>
          <a:solidFill>
            <a:schemeClr val="accent1"/>
          </a:solidFill>
          <a:ln cap="sq" cmpd="sng" w="28575">
            <a:solidFill>
              <a:schemeClr val="dk1"/>
            </a:solidFill>
            <a:prstDash val="solid"/>
            <a:round/>
            <a:headEnd len="sm" w="sm" type="none"/>
            <a:tailEnd len="sm" w="sm" type="none"/>
          </a:ln>
        </p:spPr>
      </p:cxnSp>
      <p:sp>
        <p:nvSpPr>
          <p:cNvPr id="482" name="Google Shape;482;p36"/>
          <p:cNvSpPr/>
          <p:nvPr/>
        </p:nvSpPr>
        <p:spPr>
          <a:xfrm>
            <a:off x="1219200" y="5033326"/>
            <a:ext cx="7239000" cy="834074"/>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l">
              <a:lnSpc>
                <a:spcPct val="120000"/>
              </a:lnSpc>
              <a:spcBef>
                <a:spcPts val="0"/>
              </a:spcBef>
              <a:spcAft>
                <a:spcPts val="0"/>
              </a:spcAft>
              <a:buNone/>
            </a:pPr>
            <a:r>
              <a:rPr b="1" lang="en-US" sz="1800">
                <a:solidFill>
                  <a:schemeClr val="dk1"/>
                </a:solidFill>
                <a:latin typeface="Arial"/>
                <a:ea typeface="Arial"/>
                <a:cs typeface="Arial"/>
                <a:sym typeface="Arial"/>
              </a:rPr>
              <a:t>Insurance Expense 	100</a:t>
            </a:r>
            <a:endParaRPr b="1" sz="1800">
              <a:solidFill>
                <a:schemeClr val="dk1"/>
              </a:solidFill>
              <a:latin typeface="Arial"/>
              <a:ea typeface="Arial"/>
              <a:cs typeface="Arial"/>
              <a:sym typeface="Arial"/>
            </a:endParaRPr>
          </a:p>
          <a:p>
            <a:pPr indent="-457200" lvl="0" marL="457200" marR="0" rtl="0" algn="l">
              <a:lnSpc>
                <a:spcPct val="120000"/>
              </a:lnSpc>
              <a:spcBef>
                <a:spcPts val="600"/>
              </a:spcBef>
              <a:spcAft>
                <a:spcPts val="0"/>
              </a:spcAft>
              <a:buNone/>
            </a:pPr>
            <a:r>
              <a:rPr b="1" lang="en-US" sz="1800">
                <a:solidFill>
                  <a:schemeClr val="dk1"/>
                </a:solidFill>
                <a:latin typeface="Arial"/>
                <a:ea typeface="Arial"/>
                <a:cs typeface="Arial"/>
                <a:sym typeface="Arial"/>
              </a:rPr>
              <a:t>	Prepaid Insurance 		100</a:t>
            </a:r>
            <a:endParaRPr b="1" sz="1800">
              <a:solidFill>
                <a:schemeClr val="dk1"/>
              </a:solidFill>
              <a:latin typeface="Arial"/>
              <a:ea typeface="Arial"/>
              <a:cs typeface="Arial"/>
              <a:sym typeface="Arial"/>
            </a:endParaRPr>
          </a:p>
        </p:txBody>
      </p:sp>
      <p:sp>
        <p:nvSpPr>
          <p:cNvPr id="483" name="Google Shape;483;p36"/>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2</a:t>
            </a:r>
            <a:endParaRPr b="1" i="1" sz="1600">
              <a:solidFill>
                <a:schemeClr val="lt2"/>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2">
                                            <p:txEl>
                                              <p:pRg end="0" st="0"/>
                                            </p:txEl>
                                          </p:spTgt>
                                        </p:tgtEl>
                                        <p:attrNameLst>
                                          <p:attrName>style.visibility</p:attrName>
                                        </p:attrNameLst>
                                      </p:cBhvr>
                                      <p:to>
                                        <p:strVal val="visible"/>
                                      </p:to>
                                    </p:set>
                                    <p:animEffect filter="fade" transition="in">
                                      <p:cBhvr>
                                        <p:cTn dur="500"/>
                                        <p:tgtEl>
                                          <p:spTgt spid="48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2">
                                            <p:txEl>
                                              <p:pRg end="1" st="1"/>
                                            </p:txEl>
                                          </p:spTgt>
                                        </p:tgtEl>
                                        <p:attrNameLst>
                                          <p:attrName>style.visibility</p:attrName>
                                        </p:attrNameLst>
                                      </p:cBhvr>
                                      <p:to>
                                        <p:strVal val="visible"/>
                                      </p:to>
                                    </p:set>
                                    <p:animEffect filter="fade" transition="in">
                                      <p:cBhvr>
                                        <p:cTn dur="500"/>
                                        <p:tgtEl>
                                          <p:spTgt spid="482">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37"/>
          <p:cNvSpPr/>
          <p:nvPr/>
        </p:nvSpPr>
        <p:spPr>
          <a:xfrm>
            <a:off x="609600" y="1381125"/>
            <a:ext cx="8001000" cy="3933384"/>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en-US" sz="1800">
                <a:solidFill>
                  <a:schemeClr val="dk1"/>
                </a:solidFill>
                <a:latin typeface="Arial"/>
                <a:ea typeface="Arial"/>
                <a:cs typeface="Arial"/>
                <a:sym typeface="Arial"/>
              </a:rPr>
              <a:t>The ledger of Hammond Company, on March 31, 2017, includes these selected accounts before adjusting entries are prepared.</a:t>
            </a:r>
            <a:endParaRPr/>
          </a:p>
          <a:p>
            <a:pPr indent="0" lvl="0" marL="0" marR="0" rtl="0" algn="l">
              <a:lnSpc>
                <a:spcPct val="120000"/>
              </a:lnSpc>
              <a:spcBef>
                <a:spcPts val="600"/>
              </a:spcBef>
              <a:spcAft>
                <a:spcPts val="0"/>
              </a:spcAft>
              <a:buNone/>
            </a:pPr>
            <a:r>
              <a:rPr b="1" lang="en-US" sz="1800">
                <a:solidFill>
                  <a:schemeClr val="dk1"/>
                </a:solidFill>
                <a:latin typeface="Arial"/>
                <a:ea typeface="Arial"/>
                <a:cs typeface="Arial"/>
                <a:sym typeface="Arial"/>
              </a:rPr>
              <a:t>	Debit 	Credit</a:t>
            </a:r>
            <a:endParaRPr b="1" sz="1800">
              <a:solidFill>
                <a:schemeClr val="dk1"/>
              </a:solidFill>
              <a:latin typeface="Arial"/>
              <a:ea typeface="Arial"/>
              <a:cs typeface="Arial"/>
              <a:sym typeface="Arial"/>
            </a:endParaRPr>
          </a:p>
          <a:p>
            <a:pPr indent="457200" lvl="0" marL="0" marR="0" rtl="0" algn="l">
              <a:spcBef>
                <a:spcPts val="600"/>
              </a:spcBef>
              <a:spcAft>
                <a:spcPts val="0"/>
              </a:spcAft>
              <a:buNone/>
            </a:pPr>
            <a:r>
              <a:rPr b="1" lang="en-US" sz="1800">
                <a:solidFill>
                  <a:schemeClr val="dk1"/>
                </a:solidFill>
                <a:latin typeface="Arial"/>
                <a:ea typeface="Arial"/>
                <a:cs typeface="Arial"/>
                <a:sym typeface="Arial"/>
              </a:rPr>
              <a:t>Prepaid Insurance 	$ 3,600</a:t>
            </a:r>
            <a:endParaRPr/>
          </a:p>
          <a:p>
            <a:pPr indent="457200" lvl="0" marL="0" marR="0" rtl="0" algn="l">
              <a:spcBef>
                <a:spcPts val="0"/>
              </a:spcBef>
              <a:spcAft>
                <a:spcPts val="0"/>
              </a:spcAft>
              <a:buNone/>
            </a:pPr>
            <a:r>
              <a:rPr b="1" lang="en-US" sz="1800">
                <a:solidFill>
                  <a:schemeClr val="dk1"/>
                </a:solidFill>
                <a:latin typeface="Arial"/>
                <a:ea typeface="Arial"/>
                <a:cs typeface="Arial"/>
                <a:sym typeface="Arial"/>
              </a:rPr>
              <a:t>Supplies 		2,800</a:t>
            </a:r>
            <a:endParaRPr b="1" sz="1800">
              <a:solidFill>
                <a:schemeClr val="dk1"/>
              </a:solidFill>
              <a:latin typeface="Arial"/>
              <a:ea typeface="Arial"/>
              <a:cs typeface="Arial"/>
              <a:sym typeface="Arial"/>
            </a:endParaRPr>
          </a:p>
          <a:p>
            <a:pPr indent="457200" lvl="0" marL="0" marR="0" rtl="0" algn="l">
              <a:spcBef>
                <a:spcPts val="0"/>
              </a:spcBef>
              <a:spcAft>
                <a:spcPts val="0"/>
              </a:spcAft>
              <a:buNone/>
            </a:pPr>
            <a:r>
              <a:rPr b="1" lang="en-US" sz="1800">
                <a:solidFill>
                  <a:schemeClr val="dk1"/>
                </a:solidFill>
                <a:latin typeface="Arial"/>
                <a:ea typeface="Arial"/>
                <a:cs typeface="Arial"/>
                <a:sym typeface="Arial"/>
              </a:rPr>
              <a:t>Equipment 		25,000</a:t>
            </a:r>
            <a:endParaRPr b="1" sz="1800">
              <a:solidFill>
                <a:schemeClr val="dk1"/>
              </a:solidFill>
              <a:latin typeface="Arial"/>
              <a:ea typeface="Arial"/>
              <a:cs typeface="Arial"/>
              <a:sym typeface="Arial"/>
            </a:endParaRPr>
          </a:p>
          <a:p>
            <a:pPr indent="457200" lvl="0" marL="0" marR="0" rtl="0" algn="l">
              <a:spcBef>
                <a:spcPts val="0"/>
              </a:spcBef>
              <a:spcAft>
                <a:spcPts val="0"/>
              </a:spcAft>
              <a:buNone/>
            </a:pPr>
            <a:r>
              <a:rPr b="1" lang="en-US" sz="1800">
                <a:solidFill>
                  <a:schemeClr val="dk1"/>
                </a:solidFill>
                <a:latin typeface="Arial"/>
                <a:ea typeface="Arial"/>
                <a:cs typeface="Arial"/>
                <a:sym typeface="Arial"/>
              </a:rPr>
              <a:t>Accumulated Depreciation—Equipment 		$5,000</a:t>
            </a:r>
            <a:endParaRPr/>
          </a:p>
          <a:p>
            <a:pPr indent="457200" lvl="0" marL="0" marR="0" rtl="0" algn="l">
              <a:spcBef>
                <a:spcPts val="0"/>
              </a:spcBef>
              <a:spcAft>
                <a:spcPts val="0"/>
              </a:spcAft>
              <a:buNone/>
            </a:pPr>
            <a:r>
              <a:rPr b="1" lang="en-US" sz="1800">
                <a:solidFill>
                  <a:schemeClr val="dk1"/>
                </a:solidFill>
                <a:latin typeface="Arial"/>
                <a:ea typeface="Arial"/>
                <a:cs typeface="Arial"/>
                <a:sym typeface="Arial"/>
              </a:rPr>
              <a:t>Unearned Service Revenue 		9,200</a:t>
            </a:r>
            <a:endParaRPr b="1" sz="1800">
              <a:solidFill>
                <a:schemeClr val="dk1"/>
              </a:solidFill>
              <a:latin typeface="Arial"/>
              <a:ea typeface="Arial"/>
              <a:cs typeface="Arial"/>
              <a:sym typeface="Arial"/>
            </a:endParaRPr>
          </a:p>
          <a:p>
            <a:pPr indent="0" lvl="0" marL="0" marR="0" rtl="0" algn="l">
              <a:lnSpc>
                <a:spcPct val="120000"/>
              </a:lnSpc>
              <a:spcBef>
                <a:spcPts val="600"/>
              </a:spcBef>
              <a:spcAft>
                <a:spcPts val="0"/>
              </a:spcAft>
              <a:buNone/>
            </a:pPr>
            <a:r>
              <a:rPr b="1" lang="en-US" sz="1800">
                <a:solidFill>
                  <a:schemeClr val="dk1"/>
                </a:solidFill>
                <a:latin typeface="Arial"/>
                <a:ea typeface="Arial"/>
                <a:cs typeface="Arial"/>
                <a:sym typeface="Arial"/>
              </a:rPr>
              <a:t>Prepare the adjusting entries for the month of March.</a:t>
            </a:r>
            <a:endParaRPr b="1" sz="1700">
              <a:solidFill>
                <a:schemeClr val="dk1"/>
              </a:solidFill>
              <a:latin typeface="Arial"/>
              <a:ea typeface="Arial"/>
              <a:cs typeface="Arial"/>
              <a:sym typeface="Arial"/>
            </a:endParaRPr>
          </a:p>
          <a:p>
            <a:pPr indent="-342900" lvl="0" marL="342900" marR="0" rtl="0" algn="l">
              <a:lnSpc>
                <a:spcPct val="120000"/>
              </a:lnSpc>
              <a:spcBef>
                <a:spcPts val="1200"/>
              </a:spcBef>
              <a:spcAft>
                <a:spcPts val="0"/>
              </a:spcAft>
              <a:buClr>
                <a:schemeClr val="dk1"/>
              </a:buClr>
              <a:buSzPts val="1800"/>
              <a:buFont typeface="Comic Sans MS"/>
              <a:buAutoNum type="arabicPeriod" startAt="2"/>
            </a:pPr>
            <a:r>
              <a:rPr b="1" lang="en-US" sz="1800">
                <a:solidFill>
                  <a:schemeClr val="dk1"/>
                </a:solidFill>
                <a:latin typeface="Arial"/>
                <a:ea typeface="Arial"/>
                <a:cs typeface="Arial"/>
                <a:sym typeface="Arial"/>
              </a:rPr>
              <a:t>Supplies on hand total $800.</a:t>
            </a:r>
            <a:endParaRPr/>
          </a:p>
          <a:p>
            <a:pPr indent="-228600" lvl="0" marL="342900" marR="0" rtl="0" algn="l">
              <a:lnSpc>
                <a:spcPct val="120000"/>
              </a:lnSpc>
              <a:spcBef>
                <a:spcPts val="600"/>
              </a:spcBef>
              <a:spcAft>
                <a:spcPts val="0"/>
              </a:spcAft>
              <a:buClr>
                <a:schemeClr val="lt1"/>
              </a:buClr>
              <a:buSzPts val="1800"/>
              <a:buFont typeface="Comic Sans MS"/>
              <a:buNone/>
            </a:pPr>
            <a:r>
              <a:t/>
            </a:r>
            <a:endParaRPr b="1" sz="1800">
              <a:solidFill>
                <a:schemeClr val="dk1"/>
              </a:solidFill>
              <a:latin typeface="Arial"/>
              <a:ea typeface="Arial"/>
              <a:cs typeface="Arial"/>
              <a:sym typeface="Arial"/>
            </a:endParaRPr>
          </a:p>
        </p:txBody>
      </p:sp>
      <p:cxnSp>
        <p:nvCxnSpPr>
          <p:cNvPr id="489" name="Google Shape;489;p37"/>
          <p:cNvCxnSpPr/>
          <p:nvPr/>
        </p:nvCxnSpPr>
        <p:spPr>
          <a:xfrm>
            <a:off x="290286" y="784324"/>
            <a:ext cx="8636000" cy="1489"/>
          </a:xfrm>
          <a:prstGeom prst="straightConnector1">
            <a:avLst/>
          </a:prstGeom>
          <a:noFill/>
          <a:ln cap="flat" cmpd="sng" w="57150">
            <a:solidFill>
              <a:srgbClr val="FF9900"/>
            </a:solidFill>
            <a:prstDash val="solid"/>
            <a:round/>
            <a:headEnd len="med" w="med" type="none"/>
            <a:tailEnd len="med" w="med" type="none"/>
          </a:ln>
        </p:spPr>
      </p:cxnSp>
      <p:pic>
        <p:nvPicPr>
          <p:cNvPr id="490" name="Google Shape;490;p37"/>
          <p:cNvPicPr preferRelativeResize="0"/>
          <p:nvPr/>
        </p:nvPicPr>
        <p:blipFill rotWithShape="1">
          <a:blip r:embed="rId3">
            <a:alphaModFix/>
          </a:blip>
          <a:srcRect b="0" l="0" r="0" t="0"/>
          <a:stretch/>
        </p:blipFill>
        <p:spPr>
          <a:xfrm>
            <a:off x="580571" y="395883"/>
            <a:ext cx="1669143" cy="604242"/>
          </a:xfrm>
          <a:prstGeom prst="rect">
            <a:avLst/>
          </a:prstGeom>
          <a:noFill/>
          <a:ln>
            <a:noFill/>
          </a:ln>
        </p:spPr>
      </p:pic>
      <p:pic>
        <p:nvPicPr>
          <p:cNvPr id="491" name="Google Shape;491;p37"/>
          <p:cNvPicPr preferRelativeResize="0"/>
          <p:nvPr/>
        </p:nvPicPr>
        <p:blipFill rotWithShape="1">
          <a:blip r:embed="rId4">
            <a:alphaModFix/>
          </a:blip>
          <a:srcRect b="0" l="0" r="0" t="0"/>
          <a:stretch/>
        </p:blipFill>
        <p:spPr>
          <a:xfrm>
            <a:off x="290286" y="357188"/>
            <a:ext cx="8636000" cy="823465"/>
          </a:xfrm>
          <a:prstGeom prst="rect">
            <a:avLst/>
          </a:prstGeom>
          <a:noFill/>
          <a:ln>
            <a:noFill/>
          </a:ln>
        </p:spPr>
      </p:pic>
      <p:pic>
        <p:nvPicPr>
          <p:cNvPr id="492" name="Google Shape;492;p37"/>
          <p:cNvPicPr preferRelativeResize="0"/>
          <p:nvPr/>
        </p:nvPicPr>
        <p:blipFill rotWithShape="1">
          <a:blip r:embed="rId5">
            <a:alphaModFix/>
          </a:blip>
          <a:srcRect b="0" l="0" r="0" t="0"/>
          <a:stretch/>
        </p:blipFill>
        <p:spPr>
          <a:xfrm>
            <a:off x="3410857" y="586815"/>
            <a:ext cx="3144567" cy="413310"/>
          </a:xfrm>
          <a:prstGeom prst="rect">
            <a:avLst/>
          </a:prstGeom>
          <a:noFill/>
          <a:ln>
            <a:noFill/>
          </a:ln>
        </p:spPr>
      </p:pic>
      <p:pic>
        <p:nvPicPr>
          <p:cNvPr id="493" name="Google Shape;493;p37"/>
          <p:cNvPicPr preferRelativeResize="0"/>
          <p:nvPr/>
        </p:nvPicPr>
        <p:blipFill rotWithShape="1">
          <a:blip r:embed="rId6">
            <a:alphaModFix/>
          </a:blip>
          <a:srcRect b="0" l="0" r="0" t="0"/>
          <a:stretch/>
        </p:blipFill>
        <p:spPr>
          <a:xfrm>
            <a:off x="2493472" y="571501"/>
            <a:ext cx="409385" cy="344759"/>
          </a:xfrm>
          <a:prstGeom prst="rect">
            <a:avLst/>
          </a:prstGeom>
          <a:noFill/>
          <a:ln>
            <a:noFill/>
          </a:ln>
        </p:spPr>
      </p:pic>
      <p:sp>
        <p:nvSpPr>
          <p:cNvPr id="494" name="Google Shape;494;p37"/>
          <p:cNvSpPr txBox="1"/>
          <p:nvPr/>
        </p:nvSpPr>
        <p:spPr>
          <a:xfrm>
            <a:off x="2467428" y="428625"/>
            <a:ext cx="435429" cy="641336"/>
          </a:xfrm>
          <a:prstGeom prst="rect">
            <a:avLst/>
          </a:prstGeom>
          <a:noFill/>
          <a:ln>
            <a:noFill/>
          </a:ln>
        </p:spPr>
        <p:txBody>
          <a:bodyPr anchorCtr="0" anchor="t" bIns="43225" lIns="86475" spcFirstLastPara="1" rIns="86475" wrap="square" tIns="43225">
            <a:spAutoFit/>
          </a:bodyPr>
          <a:lstStyle/>
          <a:p>
            <a:pPr indent="0" lvl="0" marL="0" marR="0" rtl="0" algn="l">
              <a:spcBef>
                <a:spcPts val="0"/>
              </a:spcBef>
              <a:spcAft>
                <a:spcPts val="0"/>
              </a:spcAft>
              <a:buNone/>
            </a:pPr>
            <a:r>
              <a:rPr b="1" lang="en-US" sz="3600">
                <a:solidFill>
                  <a:srgbClr val="FF9900"/>
                </a:solidFill>
                <a:latin typeface="Arial"/>
                <a:ea typeface="Arial"/>
                <a:cs typeface="Arial"/>
                <a:sym typeface="Arial"/>
              </a:rPr>
              <a:t>2</a:t>
            </a:r>
            <a:endParaRPr b="1" sz="3600">
              <a:solidFill>
                <a:srgbClr val="FF9900"/>
              </a:solidFill>
              <a:latin typeface="Arial"/>
              <a:ea typeface="Arial"/>
              <a:cs typeface="Arial"/>
              <a:sym typeface="Arial"/>
            </a:endParaRPr>
          </a:p>
        </p:txBody>
      </p:sp>
      <p:sp>
        <p:nvSpPr>
          <p:cNvPr id="495" name="Google Shape;495;p37"/>
          <p:cNvSpPr txBox="1"/>
          <p:nvPr/>
        </p:nvSpPr>
        <p:spPr>
          <a:xfrm>
            <a:off x="3338286" y="508909"/>
            <a:ext cx="5515429" cy="519373"/>
          </a:xfrm>
          <a:prstGeom prst="rect">
            <a:avLst/>
          </a:prstGeom>
          <a:noFill/>
          <a:ln>
            <a:noFill/>
          </a:ln>
        </p:spPr>
        <p:txBody>
          <a:bodyPr anchorCtr="0" anchor="t" bIns="43225" lIns="86475" spcFirstLastPara="1" rIns="86475" wrap="square" tIns="43225">
            <a:spAutoFit/>
          </a:bodyPr>
          <a:lstStyle/>
          <a:p>
            <a:pPr indent="0" lvl="0" marL="111120" marR="0" rtl="0" algn="l">
              <a:spcBef>
                <a:spcPts val="0"/>
              </a:spcBef>
              <a:spcAft>
                <a:spcPts val="0"/>
              </a:spcAft>
              <a:buNone/>
            </a:pPr>
            <a:r>
              <a:rPr b="1" lang="en-US" sz="2800">
                <a:solidFill>
                  <a:schemeClr val="lt1"/>
                </a:solidFill>
                <a:latin typeface="Arial"/>
                <a:ea typeface="Arial"/>
                <a:cs typeface="Arial"/>
                <a:sym typeface="Arial"/>
              </a:rPr>
              <a:t>Adjusting Entries for Deferrals</a:t>
            </a:r>
            <a:endParaRPr b="1" sz="2800">
              <a:solidFill>
                <a:schemeClr val="lt1"/>
              </a:solidFill>
              <a:latin typeface="Arial"/>
              <a:ea typeface="Arial"/>
              <a:cs typeface="Arial"/>
              <a:sym typeface="Arial"/>
            </a:endParaRPr>
          </a:p>
        </p:txBody>
      </p:sp>
      <p:pic>
        <p:nvPicPr>
          <p:cNvPr id="496" name="Google Shape;496;p37"/>
          <p:cNvPicPr preferRelativeResize="0"/>
          <p:nvPr/>
        </p:nvPicPr>
        <p:blipFill rotWithShape="1">
          <a:blip r:embed="rId7">
            <a:alphaModFix/>
          </a:blip>
          <a:srcRect b="0" l="0" r="0" t="0"/>
          <a:stretch/>
        </p:blipFill>
        <p:spPr>
          <a:xfrm rot="10800000">
            <a:off x="457200" y="501930"/>
            <a:ext cx="1600200" cy="564870"/>
          </a:xfrm>
          <a:prstGeom prst="rect">
            <a:avLst/>
          </a:prstGeom>
          <a:noFill/>
          <a:ln>
            <a:noFill/>
          </a:ln>
        </p:spPr>
      </p:pic>
      <p:sp>
        <p:nvSpPr>
          <p:cNvPr id="497" name="Google Shape;497;p37"/>
          <p:cNvSpPr txBox="1"/>
          <p:nvPr/>
        </p:nvSpPr>
        <p:spPr>
          <a:xfrm>
            <a:off x="304800" y="381000"/>
            <a:ext cx="2209800"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200">
                <a:solidFill>
                  <a:srgbClr val="FF9900"/>
                </a:solidFill>
                <a:latin typeface="Arial"/>
                <a:ea typeface="Arial"/>
                <a:cs typeface="Arial"/>
                <a:sym typeface="Arial"/>
              </a:rPr>
              <a:t>DO IT!</a:t>
            </a:r>
            <a:endParaRPr b="1" sz="4200">
              <a:solidFill>
                <a:srgbClr val="FF9900"/>
              </a:solidFill>
              <a:latin typeface="Arial"/>
              <a:ea typeface="Arial"/>
              <a:cs typeface="Arial"/>
              <a:sym typeface="Arial"/>
            </a:endParaRPr>
          </a:p>
        </p:txBody>
      </p:sp>
      <p:cxnSp>
        <p:nvCxnSpPr>
          <p:cNvPr id="498" name="Google Shape;498;p37"/>
          <p:cNvCxnSpPr/>
          <p:nvPr/>
        </p:nvCxnSpPr>
        <p:spPr>
          <a:xfrm>
            <a:off x="7010400" y="2496312"/>
            <a:ext cx="838200" cy="0"/>
          </a:xfrm>
          <a:prstGeom prst="straightConnector1">
            <a:avLst/>
          </a:prstGeom>
          <a:solidFill>
            <a:schemeClr val="accent1"/>
          </a:solidFill>
          <a:ln cap="sq" cmpd="sng" w="28575">
            <a:solidFill>
              <a:schemeClr val="dk1"/>
            </a:solidFill>
            <a:prstDash val="solid"/>
            <a:round/>
            <a:headEnd len="sm" w="sm" type="none"/>
            <a:tailEnd len="sm" w="sm" type="none"/>
          </a:ln>
        </p:spPr>
      </p:cxnSp>
      <p:cxnSp>
        <p:nvCxnSpPr>
          <p:cNvPr id="499" name="Google Shape;499;p37"/>
          <p:cNvCxnSpPr/>
          <p:nvPr/>
        </p:nvCxnSpPr>
        <p:spPr>
          <a:xfrm>
            <a:off x="5867400" y="2496312"/>
            <a:ext cx="838200" cy="0"/>
          </a:xfrm>
          <a:prstGeom prst="straightConnector1">
            <a:avLst/>
          </a:prstGeom>
          <a:solidFill>
            <a:schemeClr val="accent1"/>
          </a:solidFill>
          <a:ln cap="sq" cmpd="sng" w="28575">
            <a:solidFill>
              <a:schemeClr val="dk1"/>
            </a:solidFill>
            <a:prstDash val="solid"/>
            <a:round/>
            <a:headEnd len="sm" w="sm" type="none"/>
            <a:tailEnd len="sm" w="sm" type="none"/>
          </a:ln>
        </p:spPr>
      </p:cxnSp>
      <p:sp>
        <p:nvSpPr>
          <p:cNvPr id="500" name="Google Shape;500;p37"/>
          <p:cNvSpPr/>
          <p:nvPr/>
        </p:nvSpPr>
        <p:spPr>
          <a:xfrm>
            <a:off x="1219200" y="5033326"/>
            <a:ext cx="7239000" cy="834074"/>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l">
              <a:lnSpc>
                <a:spcPct val="120000"/>
              </a:lnSpc>
              <a:spcBef>
                <a:spcPts val="0"/>
              </a:spcBef>
              <a:spcAft>
                <a:spcPts val="0"/>
              </a:spcAft>
              <a:buNone/>
            </a:pPr>
            <a:r>
              <a:rPr b="1" lang="en-US" sz="1800">
                <a:solidFill>
                  <a:schemeClr val="dk1"/>
                </a:solidFill>
                <a:latin typeface="Arial"/>
                <a:ea typeface="Arial"/>
                <a:cs typeface="Arial"/>
                <a:sym typeface="Arial"/>
              </a:rPr>
              <a:t>Supplies Expense 	2,000</a:t>
            </a:r>
            <a:endParaRPr b="1" sz="1800">
              <a:solidFill>
                <a:schemeClr val="dk1"/>
              </a:solidFill>
              <a:latin typeface="Arial"/>
              <a:ea typeface="Arial"/>
              <a:cs typeface="Arial"/>
              <a:sym typeface="Arial"/>
            </a:endParaRPr>
          </a:p>
          <a:p>
            <a:pPr indent="-457200" lvl="0" marL="457200" marR="0" rtl="0" algn="l">
              <a:lnSpc>
                <a:spcPct val="120000"/>
              </a:lnSpc>
              <a:spcBef>
                <a:spcPts val="600"/>
              </a:spcBef>
              <a:spcAft>
                <a:spcPts val="0"/>
              </a:spcAft>
              <a:buNone/>
            </a:pPr>
            <a:r>
              <a:rPr b="1" lang="en-US" sz="1800">
                <a:solidFill>
                  <a:schemeClr val="dk1"/>
                </a:solidFill>
                <a:latin typeface="Arial"/>
                <a:ea typeface="Arial"/>
                <a:cs typeface="Arial"/>
                <a:sym typeface="Arial"/>
              </a:rPr>
              <a:t>	Supplies 		2,000</a:t>
            </a:r>
            <a:endParaRPr b="1" sz="1800">
              <a:solidFill>
                <a:schemeClr val="dk1"/>
              </a:solidFill>
              <a:latin typeface="Arial"/>
              <a:ea typeface="Arial"/>
              <a:cs typeface="Arial"/>
              <a:sym typeface="Arial"/>
            </a:endParaRPr>
          </a:p>
        </p:txBody>
      </p:sp>
      <p:sp>
        <p:nvSpPr>
          <p:cNvPr id="501" name="Google Shape;501;p37"/>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2</a:t>
            </a:r>
            <a:endParaRPr b="1" i="1" sz="1600">
              <a:solidFill>
                <a:schemeClr val="lt2"/>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0">
                                            <p:txEl>
                                              <p:pRg end="0" st="0"/>
                                            </p:txEl>
                                          </p:spTgt>
                                        </p:tgtEl>
                                        <p:attrNameLst>
                                          <p:attrName>style.visibility</p:attrName>
                                        </p:attrNameLst>
                                      </p:cBhvr>
                                      <p:to>
                                        <p:strVal val="visible"/>
                                      </p:to>
                                    </p:set>
                                    <p:animEffect filter="fade" transition="in">
                                      <p:cBhvr>
                                        <p:cTn dur="500"/>
                                        <p:tgtEl>
                                          <p:spTgt spid="50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0">
                                            <p:txEl>
                                              <p:pRg end="1" st="1"/>
                                            </p:txEl>
                                          </p:spTgt>
                                        </p:tgtEl>
                                        <p:attrNameLst>
                                          <p:attrName>style.visibility</p:attrName>
                                        </p:attrNameLst>
                                      </p:cBhvr>
                                      <p:to>
                                        <p:strVal val="visible"/>
                                      </p:to>
                                    </p:set>
                                    <p:animEffect filter="fade" transition="in">
                                      <p:cBhvr>
                                        <p:cTn dur="500"/>
                                        <p:tgtEl>
                                          <p:spTgt spid="500">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38"/>
          <p:cNvSpPr/>
          <p:nvPr/>
        </p:nvSpPr>
        <p:spPr>
          <a:xfrm>
            <a:off x="609600" y="1381125"/>
            <a:ext cx="8001000" cy="3933384"/>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en-US" sz="1800">
                <a:solidFill>
                  <a:schemeClr val="dk1"/>
                </a:solidFill>
                <a:latin typeface="Arial"/>
                <a:ea typeface="Arial"/>
                <a:cs typeface="Arial"/>
                <a:sym typeface="Arial"/>
              </a:rPr>
              <a:t>The ledger of Hammond Company, on March 31, 2017, includes these selected accounts before adjusting entries are prepared.</a:t>
            </a:r>
            <a:endParaRPr/>
          </a:p>
          <a:p>
            <a:pPr indent="0" lvl="0" marL="0" marR="0" rtl="0" algn="l">
              <a:lnSpc>
                <a:spcPct val="120000"/>
              </a:lnSpc>
              <a:spcBef>
                <a:spcPts val="600"/>
              </a:spcBef>
              <a:spcAft>
                <a:spcPts val="0"/>
              </a:spcAft>
              <a:buNone/>
            </a:pPr>
            <a:r>
              <a:rPr b="1" lang="en-US" sz="1800">
                <a:solidFill>
                  <a:schemeClr val="dk1"/>
                </a:solidFill>
                <a:latin typeface="Arial"/>
                <a:ea typeface="Arial"/>
                <a:cs typeface="Arial"/>
                <a:sym typeface="Arial"/>
              </a:rPr>
              <a:t>	Debit 	Credit</a:t>
            </a:r>
            <a:endParaRPr b="1" sz="1800">
              <a:solidFill>
                <a:schemeClr val="dk1"/>
              </a:solidFill>
              <a:latin typeface="Arial"/>
              <a:ea typeface="Arial"/>
              <a:cs typeface="Arial"/>
              <a:sym typeface="Arial"/>
            </a:endParaRPr>
          </a:p>
          <a:p>
            <a:pPr indent="457200" lvl="0" marL="0" marR="0" rtl="0" algn="l">
              <a:spcBef>
                <a:spcPts val="600"/>
              </a:spcBef>
              <a:spcAft>
                <a:spcPts val="0"/>
              </a:spcAft>
              <a:buNone/>
            </a:pPr>
            <a:r>
              <a:rPr b="1" lang="en-US" sz="1800">
                <a:solidFill>
                  <a:schemeClr val="dk1"/>
                </a:solidFill>
                <a:latin typeface="Arial"/>
                <a:ea typeface="Arial"/>
                <a:cs typeface="Arial"/>
                <a:sym typeface="Arial"/>
              </a:rPr>
              <a:t>Prepaid Insurance 	$ 3,600</a:t>
            </a:r>
            <a:endParaRPr/>
          </a:p>
          <a:p>
            <a:pPr indent="457200" lvl="0" marL="0" marR="0" rtl="0" algn="l">
              <a:spcBef>
                <a:spcPts val="0"/>
              </a:spcBef>
              <a:spcAft>
                <a:spcPts val="0"/>
              </a:spcAft>
              <a:buNone/>
            </a:pPr>
            <a:r>
              <a:rPr b="1" lang="en-US" sz="1800">
                <a:solidFill>
                  <a:schemeClr val="dk1"/>
                </a:solidFill>
                <a:latin typeface="Arial"/>
                <a:ea typeface="Arial"/>
                <a:cs typeface="Arial"/>
                <a:sym typeface="Arial"/>
              </a:rPr>
              <a:t>Supplies 		2,800</a:t>
            </a:r>
            <a:endParaRPr b="1" sz="1800">
              <a:solidFill>
                <a:schemeClr val="dk1"/>
              </a:solidFill>
              <a:latin typeface="Arial"/>
              <a:ea typeface="Arial"/>
              <a:cs typeface="Arial"/>
              <a:sym typeface="Arial"/>
            </a:endParaRPr>
          </a:p>
          <a:p>
            <a:pPr indent="457200" lvl="0" marL="0" marR="0" rtl="0" algn="l">
              <a:spcBef>
                <a:spcPts val="0"/>
              </a:spcBef>
              <a:spcAft>
                <a:spcPts val="0"/>
              </a:spcAft>
              <a:buNone/>
            </a:pPr>
            <a:r>
              <a:rPr b="1" lang="en-US" sz="1800">
                <a:solidFill>
                  <a:schemeClr val="dk1"/>
                </a:solidFill>
                <a:latin typeface="Arial"/>
                <a:ea typeface="Arial"/>
                <a:cs typeface="Arial"/>
                <a:sym typeface="Arial"/>
              </a:rPr>
              <a:t>Equipment 		25,000</a:t>
            </a:r>
            <a:endParaRPr b="1" sz="1800">
              <a:solidFill>
                <a:schemeClr val="dk1"/>
              </a:solidFill>
              <a:latin typeface="Arial"/>
              <a:ea typeface="Arial"/>
              <a:cs typeface="Arial"/>
              <a:sym typeface="Arial"/>
            </a:endParaRPr>
          </a:p>
          <a:p>
            <a:pPr indent="457200" lvl="0" marL="0" marR="0" rtl="0" algn="l">
              <a:spcBef>
                <a:spcPts val="0"/>
              </a:spcBef>
              <a:spcAft>
                <a:spcPts val="0"/>
              </a:spcAft>
              <a:buNone/>
            </a:pPr>
            <a:r>
              <a:rPr b="1" lang="en-US" sz="1800">
                <a:solidFill>
                  <a:schemeClr val="dk1"/>
                </a:solidFill>
                <a:latin typeface="Arial"/>
                <a:ea typeface="Arial"/>
                <a:cs typeface="Arial"/>
                <a:sym typeface="Arial"/>
              </a:rPr>
              <a:t>Accumulated Depreciation—Equipment 		$5,000</a:t>
            </a:r>
            <a:endParaRPr/>
          </a:p>
          <a:p>
            <a:pPr indent="457200" lvl="0" marL="0" marR="0" rtl="0" algn="l">
              <a:spcBef>
                <a:spcPts val="0"/>
              </a:spcBef>
              <a:spcAft>
                <a:spcPts val="0"/>
              </a:spcAft>
              <a:buNone/>
            </a:pPr>
            <a:r>
              <a:rPr b="1" lang="en-US" sz="1800">
                <a:solidFill>
                  <a:schemeClr val="dk1"/>
                </a:solidFill>
                <a:latin typeface="Arial"/>
                <a:ea typeface="Arial"/>
                <a:cs typeface="Arial"/>
                <a:sym typeface="Arial"/>
              </a:rPr>
              <a:t>Unearned Service Revenue 		9,200</a:t>
            </a:r>
            <a:endParaRPr b="1" sz="1800">
              <a:solidFill>
                <a:schemeClr val="dk1"/>
              </a:solidFill>
              <a:latin typeface="Arial"/>
              <a:ea typeface="Arial"/>
              <a:cs typeface="Arial"/>
              <a:sym typeface="Arial"/>
            </a:endParaRPr>
          </a:p>
          <a:p>
            <a:pPr indent="0" lvl="0" marL="0" marR="0" rtl="0" algn="l">
              <a:lnSpc>
                <a:spcPct val="120000"/>
              </a:lnSpc>
              <a:spcBef>
                <a:spcPts val="600"/>
              </a:spcBef>
              <a:spcAft>
                <a:spcPts val="0"/>
              </a:spcAft>
              <a:buNone/>
            </a:pPr>
            <a:r>
              <a:rPr b="1" lang="en-US" sz="1800">
                <a:solidFill>
                  <a:schemeClr val="dk1"/>
                </a:solidFill>
                <a:latin typeface="Arial"/>
                <a:ea typeface="Arial"/>
                <a:cs typeface="Arial"/>
                <a:sym typeface="Arial"/>
              </a:rPr>
              <a:t>Prepare the adjusting entries for the month of March.</a:t>
            </a:r>
            <a:endParaRPr b="1" sz="1700">
              <a:solidFill>
                <a:schemeClr val="dk1"/>
              </a:solidFill>
              <a:latin typeface="Arial"/>
              <a:ea typeface="Arial"/>
              <a:cs typeface="Arial"/>
              <a:sym typeface="Arial"/>
            </a:endParaRPr>
          </a:p>
          <a:p>
            <a:pPr indent="-342900" lvl="0" marL="342900" marR="0" rtl="0" algn="l">
              <a:lnSpc>
                <a:spcPct val="120000"/>
              </a:lnSpc>
              <a:spcBef>
                <a:spcPts val="1200"/>
              </a:spcBef>
              <a:spcAft>
                <a:spcPts val="0"/>
              </a:spcAft>
              <a:buClr>
                <a:schemeClr val="dk1"/>
              </a:buClr>
              <a:buSzPts val="1800"/>
              <a:buFont typeface="Comic Sans MS"/>
              <a:buAutoNum type="arabicPeriod" startAt="3"/>
            </a:pPr>
            <a:r>
              <a:rPr b="1" lang="en-US" sz="1800">
                <a:solidFill>
                  <a:schemeClr val="dk1"/>
                </a:solidFill>
                <a:latin typeface="Arial"/>
                <a:ea typeface="Arial"/>
                <a:cs typeface="Arial"/>
                <a:sym typeface="Arial"/>
              </a:rPr>
              <a:t>The equipment depreciates $200 a month.</a:t>
            </a:r>
            <a:endParaRPr b="1" sz="1800">
              <a:solidFill>
                <a:schemeClr val="dk1"/>
              </a:solidFill>
              <a:latin typeface="Arial"/>
              <a:ea typeface="Arial"/>
              <a:cs typeface="Arial"/>
              <a:sym typeface="Arial"/>
            </a:endParaRPr>
          </a:p>
          <a:p>
            <a:pPr indent="-228600" lvl="0" marL="342900" marR="0" rtl="0" algn="l">
              <a:lnSpc>
                <a:spcPct val="120000"/>
              </a:lnSpc>
              <a:spcBef>
                <a:spcPts val="600"/>
              </a:spcBef>
              <a:spcAft>
                <a:spcPts val="0"/>
              </a:spcAft>
              <a:buClr>
                <a:schemeClr val="lt1"/>
              </a:buClr>
              <a:buSzPts val="1800"/>
              <a:buFont typeface="Comic Sans MS"/>
              <a:buNone/>
            </a:pPr>
            <a:r>
              <a:t/>
            </a:r>
            <a:endParaRPr b="1" sz="1800">
              <a:solidFill>
                <a:schemeClr val="dk1"/>
              </a:solidFill>
              <a:latin typeface="Arial"/>
              <a:ea typeface="Arial"/>
              <a:cs typeface="Arial"/>
              <a:sym typeface="Arial"/>
            </a:endParaRPr>
          </a:p>
        </p:txBody>
      </p:sp>
      <p:cxnSp>
        <p:nvCxnSpPr>
          <p:cNvPr id="507" name="Google Shape;507;p38"/>
          <p:cNvCxnSpPr/>
          <p:nvPr/>
        </p:nvCxnSpPr>
        <p:spPr>
          <a:xfrm>
            <a:off x="290286" y="784324"/>
            <a:ext cx="8636000" cy="1489"/>
          </a:xfrm>
          <a:prstGeom prst="straightConnector1">
            <a:avLst/>
          </a:prstGeom>
          <a:noFill/>
          <a:ln cap="flat" cmpd="sng" w="57150">
            <a:solidFill>
              <a:srgbClr val="FF9900"/>
            </a:solidFill>
            <a:prstDash val="solid"/>
            <a:round/>
            <a:headEnd len="med" w="med" type="none"/>
            <a:tailEnd len="med" w="med" type="none"/>
          </a:ln>
        </p:spPr>
      </p:cxnSp>
      <p:pic>
        <p:nvPicPr>
          <p:cNvPr id="508" name="Google Shape;508;p38"/>
          <p:cNvPicPr preferRelativeResize="0"/>
          <p:nvPr/>
        </p:nvPicPr>
        <p:blipFill rotWithShape="1">
          <a:blip r:embed="rId3">
            <a:alphaModFix/>
          </a:blip>
          <a:srcRect b="0" l="0" r="0" t="0"/>
          <a:stretch/>
        </p:blipFill>
        <p:spPr>
          <a:xfrm>
            <a:off x="580571" y="395883"/>
            <a:ext cx="1669143" cy="604242"/>
          </a:xfrm>
          <a:prstGeom prst="rect">
            <a:avLst/>
          </a:prstGeom>
          <a:noFill/>
          <a:ln>
            <a:noFill/>
          </a:ln>
        </p:spPr>
      </p:pic>
      <p:pic>
        <p:nvPicPr>
          <p:cNvPr id="509" name="Google Shape;509;p38"/>
          <p:cNvPicPr preferRelativeResize="0"/>
          <p:nvPr/>
        </p:nvPicPr>
        <p:blipFill rotWithShape="1">
          <a:blip r:embed="rId4">
            <a:alphaModFix/>
          </a:blip>
          <a:srcRect b="0" l="0" r="0" t="0"/>
          <a:stretch/>
        </p:blipFill>
        <p:spPr>
          <a:xfrm>
            <a:off x="290286" y="357188"/>
            <a:ext cx="8636000" cy="823465"/>
          </a:xfrm>
          <a:prstGeom prst="rect">
            <a:avLst/>
          </a:prstGeom>
          <a:noFill/>
          <a:ln>
            <a:noFill/>
          </a:ln>
        </p:spPr>
      </p:pic>
      <p:pic>
        <p:nvPicPr>
          <p:cNvPr id="510" name="Google Shape;510;p38"/>
          <p:cNvPicPr preferRelativeResize="0"/>
          <p:nvPr/>
        </p:nvPicPr>
        <p:blipFill rotWithShape="1">
          <a:blip r:embed="rId5">
            <a:alphaModFix/>
          </a:blip>
          <a:srcRect b="0" l="0" r="0" t="0"/>
          <a:stretch/>
        </p:blipFill>
        <p:spPr>
          <a:xfrm>
            <a:off x="3410857" y="586815"/>
            <a:ext cx="3144567" cy="413310"/>
          </a:xfrm>
          <a:prstGeom prst="rect">
            <a:avLst/>
          </a:prstGeom>
          <a:noFill/>
          <a:ln>
            <a:noFill/>
          </a:ln>
        </p:spPr>
      </p:pic>
      <p:pic>
        <p:nvPicPr>
          <p:cNvPr id="511" name="Google Shape;511;p38"/>
          <p:cNvPicPr preferRelativeResize="0"/>
          <p:nvPr/>
        </p:nvPicPr>
        <p:blipFill rotWithShape="1">
          <a:blip r:embed="rId6">
            <a:alphaModFix/>
          </a:blip>
          <a:srcRect b="0" l="0" r="0" t="0"/>
          <a:stretch/>
        </p:blipFill>
        <p:spPr>
          <a:xfrm>
            <a:off x="2493472" y="571501"/>
            <a:ext cx="409385" cy="344759"/>
          </a:xfrm>
          <a:prstGeom prst="rect">
            <a:avLst/>
          </a:prstGeom>
          <a:noFill/>
          <a:ln>
            <a:noFill/>
          </a:ln>
        </p:spPr>
      </p:pic>
      <p:sp>
        <p:nvSpPr>
          <p:cNvPr id="512" name="Google Shape;512;p38"/>
          <p:cNvSpPr txBox="1"/>
          <p:nvPr/>
        </p:nvSpPr>
        <p:spPr>
          <a:xfrm>
            <a:off x="2467428" y="428625"/>
            <a:ext cx="435429" cy="641336"/>
          </a:xfrm>
          <a:prstGeom prst="rect">
            <a:avLst/>
          </a:prstGeom>
          <a:noFill/>
          <a:ln>
            <a:noFill/>
          </a:ln>
        </p:spPr>
        <p:txBody>
          <a:bodyPr anchorCtr="0" anchor="t" bIns="43225" lIns="86475" spcFirstLastPara="1" rIns="86475" wrap="square" tIns="43225">
            <a:spAutoFit/>
          </a:bodyPr>
          <a:lstStyle/>
          <a:p>
            <a:pPr indent="0" lvl="0" marL="0" marR="0" rtl="0" algn="l">
              <a:spcBef>
                <a:spcPts val="0"/>
              </a:spcBef>
              <a:spcAft>
                <a:spcPts val="0"/>
              </a:spcAft>
              <a:buNone/>
            </a:pPr>
            <a:r>
              <a:rPr b="1" lang="en-US" sz="3600">
                <a:solidFill>
                  <a:srgbClr val="FF9900"/>
                </a:solidFill>
                <a:latin typeface="Arial"/>
                <a:ea typeface="Arial"/>
                <a:cs typeface="Arial"/>
                <a:sym typeface="Arial"/>
              </a:rPr>
              <a:t>2</a:t>
            </a:r>
            <a:endParaRPr b="1" sz="3600">
              <a:solidFill>
                <a:srgbClr val="FF9900"/>
              </a:solidFill>
              <a:latin typeface="Arial"/>
              <a:ea typeface="Arial"/>
              <a:cs typeface="Arial"/>
              <a:sym typeface="Arial"/>
            </a:endParaRPr>
          </a:p>
        </p:txBody>
      </p:sp>
      <p:sp>
        <p:nvSpPr>
          <p:cNvPr id="513" name="Google Shape;513;p38"/>
          <p:cNvSpPr txBox="1"/>
          <p:nvPr/>
        </p:nvSpPr>
        <p:spPr>
          <a:xfrm>
            <a:off x="3338286" y="508909"/>
            <a:ext cx="5515429" cy="519373"/>
          </a:xfrm>
          <a:prstGeom prst="rect">
            <a:avLst/>
          </a:prstGeom>
          <a:noFill/>
          <a:ln>
            <a:noFill/>
          </a:ln>
        </p:spPr>
        <p:txBody>
          <a:bodyPr anchorCtr="0" anchor="t" bIns="43225" lIns="86475" spcFirstLastPara="1" rIns="86475" wrap="square" tIns="43225">
            <a:spAutoFit/>
          </a:bodyPr>
          <a:lstStyle/>
          <a:p>
            <a:pPr indent="0" lvl="0" marL="111120" marR="0" rtl="0" algn="l">
              <a:spcBef>
                <a:spcPts val="0"/>
              </a:spcBef>
              <a:spcAft>
                <a:spcPts val="0"/>
              </a:spcAft>
              <a:buNone/>
            </a:pPr>
            <a:r>
              <a:rPr b="1" lang="en-US" sz="2800">
                <a:solidFill>
                  <a:schemeClr val="lt1"/>
                </a:solidFill>
                <a:latin typeface="Arial"/>
                <a:ea typeface="Arial"/>
                <a:cs typeface="Arial"/>
                <a:sym typeface="Arial"/>
              </a:rPr>
              <a:t>Adjusting Entries for Deferrals</a:t>
            </a:r>
            <a:endParaRPr b="1" sz="2800">
              <a:solidFill>
                <a:schemeClr val="lt1"/>
              </a:solidFill>
              <a:latin typeface="Arial"/>
              <a:ea typeface="Arial"/>
              <a:cs typeface="Arial"/>
              <a:sym typeface="Arial"/>
            </a:endParaRPr>
          </a:p>
        </p:txBody>
      </p:sp>
      <p:pic>
        <p:nvPicPr>
          <p:cNvPr id="514" name="Google Shape;514;p38"/>
          <p:cNvPicPr preferRelativeResize="0"/>
          <p:nvPr/>
        </p:nvPicPr>
        <p:blipFill rotWithShape="1">
          <a:blip r:embed="rId7">
            <a:alphaModFix/>
          </a:blip>
          <a:srcRect b="0" l="0" r="0" t="0"/>
          <a:stretch/>
        </p:blipFill>
        <p:spPr>
          <a:xfrm rot="10800000">
            <a:off x="457200" y="501930"/>
            <a:ext cx="1600200" cy="564870"/>
          </a:xfrm>
          <a:prstGeom prst="rect">
            <a:avLst/>
          </a:prstGeom>
          <a:noFill/>
          <a:ln>
            <a:noFill/>
          </a:ln>
        </p:spPr>
      </p:pic>
      <p:sp>
        <p:nvSpPr>
          <p:cNvPr id="515" name="Google Shape;515;p38"/>
          <p:cNvSpPr txBox="1"/>
          <p:nvPr/>
        </p:nvSpPr>
        <p:spPr>
          <a:xfrm>
            <a:off x="304800" y="381000"/>
            <a:ext cx="2209800"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200">
                <a:solidFill>
                  <a:srgbClr val="FF9900"/>
                </a:solidFill>
                <a:latin typeface="Arial"/>
                <a:ea typeface="Arial"/>
                <a:cs typeface="Arial"/>
                <a:sym typeface="Arial"/>
              </a:rPr>
              <a:t>DO IT!</a:t>
            </a:r>
            <a:endParaRPr b="1" sz="4200">
              <a:solidFill>
                <a:srgbClr val="FF9900"/>
              </a:solidFill>
              <a:latin typeface="Arial"/>
              <a:ea typeface="Arial"/>
              <a:cs typeface="Arial"/>
              <a:sym typeface="Arial"/>
            </a:endParaRPr>
          </a:p>
        </p:txBody>
      </p:sp>
      <p:cxnSp>
        <p:nvCxnSpPr>
          <p:cNvPr id="516" name="Google Shape;516;p38"/>
          <p:cNvCxnSpPr/>
          <p:nvPr/>
        </p:nvCxnSpPr>
        <p:spPr>
          <a:xfrm>
            <a:off x="7010400" y="2496312"/>
            <a:ext cx="838200" cy="0"/>
          </a:xfrm>
          <a:prstGeom prst="straightConnector1">
            <a:avLst/>
          </a:prstGeom>
          <a:solidFill>
            <a:schemeClr val="accent1"/>
          </a:solidFill>
          <a:ln cap="sq" cmpd="sng" w="28575">
            <a:solidFill>
              <a:schemeClr val="dk1"/>
            </a:solidFill>
            <a:prstDash val="solid"/>
            <a:round/>
            <a:headEnd len="sm" w="sm" type="none"/>
            <a:tailEnd len="sm" w="sm" type="none"/>
          </a:ln>
        </p:spPr>
      </p:cxnSp>
      <p:cxnSp>
        <p:nvCxnSpPr>
          <p:cNvPr id="517" name="Google Shape;517;p38"/>
          <p:cNvCxnSpPr/>
          <p:nvPr/>
        </p:nvCxnSpPr>
        <p:spPr>
          <a:xfrm>
            <a:off x="5867400" y="2496312"/>
            <a:ext cx="838200" cy="0"/>
          </a:xfrm>
          <a:prstGeom prst="straightConnector1">
            <a:avLst/>
          </a:prstGeom>
          <a:solidFill>
            <a:schemeClr val="accent1"/>
          </a:solidFill>
          <a:ln cap="sq" cmpd="sng" w="28575">
            <a:solidFill>
              <a:schemeClr val="dk1"/>
            </a:solidFill>
            <a:prstDash val="solid"/>
            <a:round/>
            <a:headEnd len="sm" w="sm" type="none"/>
            <a:tailEnd len="sm" w="sm" type="none"/>
          </a:ln>
        </p:spPr>
      </p:cxnSp>
      <p:sp>
        <p:nvSpPr>
          <p:cNvPr id="518" name="Google Shape;518;p38"/>
          <p:cNvSpPr/>
          <p:nvPr/>
        </p:nvSpPr>
        <p:spPr>
          <a:xfrm>
            <a:off x="1219200" y="5033326"/>
            <a:ext cx="7239000" cy="834074"/>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l">
              <a:lnSpc>
                <a:spcPct val="120000"/>
              </a:lnSpc>
              <a:spcBef>
                <a:spcPts val="0"/>
              </a:spcBef>
              <a:spcAft>
                <a:spcPts val="0"/>
              </a:spcAft>
              <a:buNone/>
            </a:pPr>
            <a:r>
              <a:rPr b="1" lang="en-US" sz="1800">
                <a:solidFill>
                  <a:schemeClr val="dk1"/>
                </a:solidFill>
                <a:latin typeface="Arial"/>
                <a:ea typeface="Arial"/>
                <a:cs typeface="Arial"/>
                <a:sym typeface="Arial"/>
              </a:rPr>
              <a:t>Depreciation Expense 	200</a:t>
            </a:r>
            <a:endParaRPr b="1" sz="1800">
              <a:solidFill>
                <a:schemeClr val="dk1"/>
              </a:solidFill>
              <a:latin typeface="Arial"/>
              <a:ea typeface="Arial"/>
              <a:cs typeface="Arial"/>
              <a:sym typeface="Arial"/>
            </a:endParaRPr>
          </a:p>
          <a:p>
            <a:pPr indent="-457200" lvl="0" marL="457200" marR="0" rtl="0" algn="l">
              <a:lnSpc>
                <a:spcPct val="120000"/>
              </a:lnSpc>
              <a:spcBef>
                <a:spcPts val="600"/>
              </a:spcBef>
              <a:spcAft>
                <a:spcPts val="0"/>
              </a:spcAft>
              <a:buNone/>
            </a:pPr>
            <a:r>
              <a:rPr b="1" lang="en-US" sz="1800">
                <a:solidFill>
                  <a:schemeClr val="dk1"/>
                </a:solidFill>
                <a:latin typeface="Arial"/>
                <a:ea typeface="Arial"/>
                <a:cs typeface="Arial"/>
                <a:sym typeface="Arial"/>
              </a:rPr>
              <a:t>	Accumulated Depreciation—Equipment 		200</a:t>
            </a:r>
            <a:endParaRPr b="1" sz="1800">
              <a:solidFill>
                <a:schemeClr val="dk1"/>
              </a:solidFill>
              <a:latin typeface="Arial"/>
              <a:ea typeface="Arial"/>
              <a:cs typeface="Arial"/>
              <a:sym typeface="Arial"/>
            </a:endParaRPr>
          </a:p>
        </p:txBody>
      </p:sp>
      <p:sp>
        <p:nvSpPr>
          <p:cNvPr id="519" name="Google Shape;519;p38"/>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2</a:t>
            </a:r>
            <a:endParaRPr b="1" i="1" sz="1600">
              <a:solidFill>
                <a:schemeClr val="lt2"/>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8">
                                            <p:txEl>
                                              <p:pRg end="0" st="0"/>
                                            </p:txEl>
                                          </p:spTgt>
                                        </p:tgtEl>
                                        <p:attrNameLst>
                                          <p:attrName>style.visibility</p:attrName>
                                        </p:attrNameLst>
                                      </p:cBhvr>
                                      <p:to>
                                        <p:strVal val="visible"/>
                                      </p:to>
                                    </p:set>
                                    <p:animEffect filter="fade" transition="in">
                                      <p:cBhvr>
                                        <p:cTn dur="500"/>
                                        <p:tgtEl>
                                          <p:spTgt spid="51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8">
                                            <p:txEl>
                                              <p:pRg end="1" st="1"/>
                                            </p:txEl>
                                          </p:spTgt>
                                        </p:tgtEl>
                                        <p:attrNameLst>
                                          <p:attrName>style.visibility</p:attrName>
                                        </p:attrNameLst>
                                      </p:cBhvr>
                                      <p:to>
                                        <p:strVal val="visible"/>
                                      </p:to>
                                    </p:set>
                                    <p:animEffect filter="fade" transition="in">
                                      <p:cBhvr>
                                        <p:cTn dur="500"/>
                                        <p:tgtEl>
                                          <p:spTgt spid="518">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39"/>
          <p:cNvSpPr/>
          <p:nvPr/>
        </p:nvSpPr>
        <p:spPr>
          <a:xfrm>
            <a:off x="609600" y="1381125"/>
            <a:ext cx="8001000" cy="385644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en-US" sz="1800">
                <a:solidFill>
                  <a:schemeClr val="dk1"/>
                </a:solidFill>
                <a:latin typeface="Arial"/>
                <a:ea typeface="Arial"/>
                <a:cs typeface="Arial"/>
                <a:sym typeface="Arial"/>
              </a:rPr>
              <a:t>The ledger of Hammond Company, on March 31, 2017, includes these selected accounts before adjusting entries are prepared.</a:t>
            </a:r>
            <a:endParaRPr/>
          </a:p>
          <a:p>
            <a:pPr indent="0" lvl="0" marL="0" marR="0" rtl="0" algn="l">
              <a:lnSpc>
                <a:spcPct val="120000"/>
              </a:lnSpc>
              <a:spcBef>
                <a:spcPts val="600"/>
              </a:spcBef>
              <a:spcAft>
                <a:spcPts val="0"/>
              </a:spcAft>
              <a:buNone/>
            </a:pPr>
            <a:r>
              <a:rPr b="1" lang="en-US" sz="1800">
                <a:solidFill>
                  <a:schemeClr val="dk1"/>
                </a:solidFill>
                <a:latin typeface="Arial"/>
                <a:ea typeface="Arial"/>
                <a:cs typeface="Arial"/>
                <a:sym typeface="Arial"/>
              </a:rPr>
              <a:t>	Debit 	Credit</a:t>
            </a:r>
            <a:endParaRPr b="1" sz="1800">
              <a:solidFill>
                <a:schemeClr val="dk1"/>
              </a:solidFill>
              <a:latin typeface="Arial"/>
              <a:ea typeface="Arial"/>
              <a:cs typeface="Arial"/>
              <a:sym typeface="Arial"/>
            </a:endParaRPr>
          </a:p>
          <a:p>
            <a:pPr indent="457200" lvl="0" marL="0" marR="0" rtl="0" algn="l">
              <a:spcBef>
                <a:spcPts val="600"/>
              </a:spcBef>
              <a:spcAft>
                <a:spcPts val="0"/>
              </a:spcAft>
              <a:buNone/>
            </a:pPr>
            <a:r>
              <a:rPr b="1" lang="en-US" sz="1800">
                <a:solidFill>
                  <a:schemeClr val="dk1"/>
                </a:solidFill>
                <a:latin typeface="Arial"/>
                <a:ea typeface="Arial"/>
                <a:cs typeface="Arial"/>
                <a:sym typeface="Arial"/>
              </a:rPr>
              <a:t>Prepaid Insurance 	$ 3,600</a:t>
            </a:r>
            <a:endParaRPr/>
          </a:p>
          <a:p>
            <a:pPr indent="457200" lvl="0" marL="0" marR="0" rtl="0" algn="l">
              <a:spcBef>
                <a:spcPts val="0"/>
              </a:spcBef>
              <a:spcAft>
                <a:spcPts val="0"/>
              </a:spcAft>
              <a:buNone/>
            </a:pPr>
            <a:r>
              <a:rPr b="1" lang="en-US" sz="1800">
                <a:solidFill>
                  <a:schemeClr val="dk1"/>
                </a:solidFill>
                <a:latin typeface="Arial"/>
                <a:ea typeface="Arial"/>
                <a:cs typeface="Arial"/>
                <a:sym typeface="Arial"/>
              </a:rPr>
              <a:t>Supplies 		2,800</a:t>
            </a:r>
            <a:endParaRPr b="1" sz="1800">
              <a:solidFill>
                <a:schemeClr val="dk1"/>
              </a:solidFill>
              <a:latin typeface="Arial"/>
              <a:ea typeface="Arial"/>
              <a:cs typeface="Arial"/>
              <a:sym typeface="Arial"/>
            </a:endParaRPr>
          </a:p>
          <a:p>
            <a:pPr indent="457200" lvl="0" marL="0" marR="0" rtl="0" algn="l">
              <a:spcBef>
                <a:spcPts val="0"/>
              </a:spcBef>
              <a:spcAft>
                <a:spcPts val="0"/>
              </a:spcAft>
              <a:buNone/>
            </a:pPr>
            <a:r>
              <a:rPr b="1" lang="en-US" sz="1800">
                <a:solidFill>
                  <a:schemeClr val="dk1"/>
                </a:solidFill>
                <a:latin typeface="Arial"/>
                <a:ea typeface="Arial"/>
                <a:cs typeface="Arial"/>
                <a:sym typeface="Arial"/>
              </a:rPr>
              <a:t>Equipment 		25,000</a:t>
            </a:r>
            <a:endParaRPr b="1" sz="1800">
              <a:solidFill>
                <a:schemeClr val="dk1"/>
              </a:solidFill>
              <a:latin typeface="Arial"/>
              <a:ea typeface="Arial"/>
              <a:cs typeface="Arial"/>
              <a:sym typeface="Arial"/>
            </a:endParaRPr>
          </a:p>
          <a:p>
            <a:pPr indent="457200" lvl="0" marL="0" marR="0" rtl="0" algn="l">
              <a:spcBef>
                <a:spcPts val="0"/>
              </a:spcBef>
              <a:spcAft>
                <a:spcPts val="0"/>
              </a:spcAft>
              <a:buNone/>
            </a:pPr>
            <a:r>
              <a:rPr b="1" lang="en-US" sz="1800">
                <a:solidFill>
                  <a:schemeClr val="dk1"/>
                </a:solidFill>
                <a:latin typeface="Arial"/>
                <a:ea typeface="Arial"/>
                <a:cs typeface="Arial"/>
                <a:sym typeface="Arial"/>
              </a:rPr>
              <a:t>Accumulated Depreciation—Equipment 		$5,000</a:t>
            </a:r>
            <a:endParaRPr/>
          </a:p>
          <a:p>
            <a:pPr indent="457200" lvl="0" marL="0" marR="0" rtl="0" algn="l">
              <a:spcBef>
                <a:spcPts val="0"/>
              </a:spcBef>
              <a:spcAft>
                <a:spcPts val="0"/>
              </a:spcAft>
              <a:buNone/>
            </a:pPr>
            <a:r>
              <a:rPr b="1" lang="en-US" sz="1800">
                <a:solidFill>
                  <a:schemeClr val="dk1"/>
                </a:solidFill>
                <a:latin typeface="Arial"/>
                <a:ea typeface="Arial"/>
                <a:cs typeface="Arial"/>
                <a:sym typeface="Arial"/>
              </a:rPr>
              <a:t>Unearned Service Revenue 		9,200</a:t>
            </a:r>
            <a:endParaRPr b="1" sz="1800">
              <a:solidFill>
                <a:schemeClr val="dk1"/>
              </a:solidFill>
              <a:latin typeface="Arial"/>
              <a:ea typeface="Arial"/>
              <a:cs typeface="Arial"/>
              <a:sym typeface="Arial"/>
            </a:endParaRPr>
          </a:p>
          <a:p>
            <a:pPr indent="0" lvl="0" marL="0" marR="0" rtl="0" algn="l">
              <a:lnSpc>
                <a:spcPct val="120000"/>
              </a:lnSpc>
              <a:spcBef>
                <a:spcPts val="600"/>
              </a:spcBef>
              <a:spcAft>
                <a:spcPts val="0"/>
              </a:spcAft>
              <a:buNone/>
            </a:pPr>
            <a:r>
              <a:rPr b="1" lang="en-US" sz="1800">
                <a:solidFill>
                  <a:schemeClr val="dk1"/>
                </a:solidFill>
                <a:latin typeface="Arial"/>
                <a:ea typeface="Arial"/>
                <a:cs typeface="Arial"/>
                <a:sym typeface="Arial"/>
              </a:rPr>
              <a:t>Prepare the adjusting entries for the month of March.</a:t>
            </a:r>
            <a:endParaRPr b="1" sz="1700">
              <a:solidFill>
                <a:schemeClr val="dk1"/>
              </a:solidFill>
              <a:latin typeface="Arial"/>
              <a:ea typeface="Arial"/>
              <a:cs typeface="Arial"/>
              <a:sym typeface="Arial"/>
            </a:endParaRPr>
          </a:p>
          <a:p>
            <a:pPr indent="-342900" lvl="0" marL="342900" marR="0" rtl="0" algn="l">
              <a:lnSpc>
                <a:spcPct val="120000"/>
              </a:lnSpc>
              <a:spcBef>
                <a:spcPts val="1200"/>
              </a:spcBef>
              <a:spcAft>
                <a:spcPts val="0"/>
              </a:spcAft>
              <a:buClr>
                <a:schemeClr val="dk1"/>
              </a:buClr>
              <a:buSzPts val="1800"/>
              <a:buFont typeface="Comic Sans MS"/>
              <a:buAutoNum type="arabicPeriod" startAt="4"/>
            </a:pPr>
            <a:r>
              <a:rPr b="1" lang="en-US" sz="1800">
                <a:solidFill>
                  <a:schemeClr val="dk1"/>
                </a:solidFill>
                <a:latin typeface="Arial"/>
                <a:ea typeface="Arial"/>
                <a:cs typeface="Arial"/>
                <a:sym typeface="Arial"/>
              </a:rPr>
              <a:t>During March, services were performed for one-half of the unearned service revenue.</a:t>
            </a:r>
            <a:endParaRPr/>
          </a:p>
        </p:txBody>
      </p:sp>
      <p:cxnSp>
        <p:nvCxnSpPr>
          <p:cNvPr id="525" name="Google Shape;525;p39"/>
          <p:cNvCxnSpPr/>
          <p:nvPr/>
        </p:nvCxnSpPr>
        <p:spPr>
          <a:xfrm>
            <a:off x="290286" y="784324"/>
            <a:ext cx="8636000" cy="1489"/>
          </a:xfrm>
          <a:prstGeom prst="straightConnector1">
            <a:avLst/>
          </a:prstGeom>
          <a:noFill/>
          <a:ln cap="flat" cmpd="sng" w="57150">
            <a:solidFill>
              <a:srgbClr val="FF9900"/>
            </a:solidFill>
            <a:prstDash val="solid"/>
            <a:round/>
            <a:headEnd len="med" w="med" type="none"/>
            <a:tailEnd len="med" w="med" type="none"/>
          </a:ln>
        </p:spPr>
      </p:cxnSp>
      <p:pic>
        <p:nvPicPr>
          <p:cNvPr id="526" name="Google Shape;526;p39"/>
          <p:cNvPicPr preferRelativeResize="0"/>
          <p:nvPr/>
        </p:nvPicPr>
        <p:blipFill rotWithShape="1">
          <a:blip r:embed="rId3">
            <a:alphaModFix/>
          </a:blip>
          <a:srcRect b="0" l="0" r="0" t="0"/>
          <a:stretch/>
        </p:blipFill>
        <p:spPr>
          <a:xfrm>
            <a:off x="580571" y="395883"/>
            <a:ext cx="1669143" cy="604242"/>
          </a:xfrm>
          <a:prstGeom prst="rect">
            <a:avLst/>
          </a:prstGeom>
          <a:noFill/>
          <a:ln>
            <a:noFill/>
          </a:ln>
        </p:spPr>
      </p:pic>
      <p:pic>
        <p:nvPicPr>
          <p:cNvPr id="527" name="Google Shape;527;p39"/>
          <p:cNvPicPr preferRelativeResize="0"/>
          <p:nvPr/>
        </p:nvPicPr>
        <p:blipFill rotWithShape="1">
          <a:blip r:embed="rId4">
            <a:alphaModFix/>
          </a:blip>
          <a:srcRect b="0" l="0" r="0" t="0"/>
          <a:stretch/>
        </p:blipFill>
        <p:spPr>
          <a:xfrm>
            <a:off x="290286" y="357188"/>
            <a:ext cx="8636000" cy="823465"/>
          </a:xfrm>
          <a:prstGeom prst="rect">
            <a:avLst/>
          </a:prstGeom>
          <a:noFill/>
          <a:ln>
            <a:noFill/>
          </a:ln>
        </p:spPr>
      </p:pic>
      <p:pic>
        <p:nvPicPr>
          <p:cNvPr id="528" name="Google Shape;528;p39"/>
          <p:cNvPicPr preferRelativeResize="0"/>
          <p:nvPr/>
        </p:nvPicPr>
        <p:blipFill rotWithShape="1">
          <a:blip r:embed="rId5">
            <a:alphaModFix/>
          </a:blip>
          <a:srcRect b="0" l="0" r="0" t="0"/>
          <a:stretch/>
        </p:blipFill>
        <p:spPr>
          <a:xfrm>
            <a:off x="3410857" y="586815"/>
            <a:ext cx="3144567" cy="413310"/>
          </a:xfrm>
          <a:prstGeom prst="rect">
            <a:avLst/>
          </a:prstGeom>
          <a:noFill/>
          <a:ln>
            <a:noFill/>
          </a:ln>
        </p:spPr>
      </p:pic>
      <p:pic>
        <p:nvPicPr>
          <p:cNvPr id="529" name="Google Shape;529;p39"/>
          <p:cNvPicPr preferRelativeResize="0"/>
          <p:nvPr/>
        </p:nvPicPr>
        <p:blipFill rotWithShape="1">
          <a:blip r:embed="rId6">
            <a:alphaModFix/>
          </a:blip>
          <a:srcRect b="0" l="0" r="0" t="0"/>
          <a:stretch/>
        </p:blipFill>
        <p:spPr>
          <a:xfrm>
            <a:off x="2493472" y="571501"/>
            <a:ext cx="409385" cy="344759"/>
          </a:xfrm>
          <a:prstGeom prst="rect">
            <a:avLst/>
          </a:prstGeom>
          <a:noFill/>
          <a:ln>
            <a:noFill/>
          </a:ln>
        </p:spPr>
      </p:pic>
      <p:sp>
        <p:nvSpPr>
          <p:cNvPr id="530" name="Google Shape;530;p39"/>
          <p:cNvSpPr txBox="1"/>
          <p:nvPr/>
        </p:nvSpPr>
        <p:spPr>
          <a:xfrm>
            <a:off x="2467428" y="428625"/>
            <a:ext cx="435429" cy="641336"/>
          </a:xfrm>
          <a:prstGeom prst="rect">
            <a:avLst/>
          </a:prstGeom>
          <a:noFill/>
          <a:ln>
            <a:noFill/>
          </a:ln>
        </p:spPr>
        <p:txBody>
          <a:bodyPr anchorCtr="0" anchor="t" bIns="43225" lIns="86475" spcFirstLastPara="1" rIns="86475" wrap="square" tIns="43225">
            <a:spAutoFit/>
          </a:bodyPr>
          <a:lstStyle/>
          <a:p>
            <a:pPr indent="0" lvl="0" marL="0" marR="0" rtl="0" algn="l">
              <a:spcBef>
                <a:spcPts val="0"/>
              </a:spcBef>
              <a:spcAft>
                <a:spcPts val="0"/>
              </a:spcAft>
              <a:buNone/>
            </a:pPr>
            <a:r>
              <a:rPr b="1" lang="en-US" sz="3600">
                <a:solidFill>
                  <a:srgbClr val="FF9900"/>
                </a:solidFill>
                <a:latin typeface="Arial"/>
                <a:ea typeface="Arial"/>
                <a:cs typeface="Arial"/>
                <a:sym typeface="Arial"/>
              </a:rPr>
              <a:t>2</a:t>
            </a:r>
            <a:endParaRPr b="1" sz="3600">
              <a:solidFill>
                <a:srgbClr val="FF9900"/>
              </a:solidFill>
              <a:latin typeface="Arial"/>
              <a:ea typeface="Arial"/>
              <a:cs typeface="Arial"/>
              <a:sym typeface="Arial"/>
            </a:endParaRPr>
          </a:p>
        </p:txBody>
      </p:sp>
      <p:sp>
        <p:nvSpPr>
          <p:cNvPr id="531" name="Google Shape;531;p39"/>
          <p:cNvSpPr txBox="1"/>
          <p:nvPr/>
        </p:nvSpPr>
        <p:spPr>
          <a:xfrm>
            <a:off x="3338286" y="508909"/>
            <a:ext cx="5515429" cy="519373"/>
          </a:xfrm>
          <a:prstGeom prst="rect">
            <a:avLst/>
          </a:prstGeom>
          <a:noFill/>
          <a:ln>
            <a:noFill/>
          </a:ln>
        </p:spPr>
        <p:txBody>
          <a:bodyPr anchorCtr="0" anchor="t" bIns="43225" lIns="86475" spcFirstLastPara="1" rIns="86475" wrap="square" tIns="43225">
            <a:spAutoFit/>
          </a:bodyPr>
          <a:lstStyle/>
          <a:p>
            <a:pPr indent="0" lvl="0" marL="111120" marR="0" rtl="0" algn="l">
              <a:spcBef>
                <a:spcPts val="0"/>
              </a:spcBef>
              <a:spcAft>
                <a:spcPts val="0"/>
              </a:spcAft>
              <a:buNone/>
            </a:pPr>
            <a:r>
              <a:rPr b="1" lang="en-US" sz="2800">
                <a:solidFill>
                  <a:schemeClr val="lt1"/>
                </a:solidFill>
                <a:latin typeface="Arial"/>
                <a:ea typeface="Arial"/>
                <a:cs typeface="Arial"/>
                <a:sym typeface="Arial"/>
              </a:rPr>
              <a:t>Adjusting Entries for Deferrals</a:t>
            </a:r>
            <a:endParaRPr b="1" sz="2800">
              <a:solidFill>
                <a:schemeClr val="lt1"/>
              </a:solidFill>
              <a:latin typeface="Arial"/>
              <a:ea typeface="Arial"/>
              <a:cs typeface="Arial"/>
              <a:sym typeface="Arial"/>
            </a:endParaRPr>
          </a:p>
        </p:txBody>
      </p:sp>
      <p:pic>
        <p:nvPicPr>
          <p:cNvPr id="532" name="Google Shape;532;p39"/>
          <p:cNvPicPr preferRelativeResize="0"/>
          <p:nvPr/>
        </p:nvPicPr>
        <p:blipFill rotWithShape="1">
          <a:blip r:embed="rId7">
            <a:alphaModFix/>
          </a:blip>
          <a:srcRect b="0" l="0" r="0" t="0"/>
          <a:stretch/>
        </p:blipFill>
        <p:spPr>
          <a:xfrm rot="10800000">
            <a:off x="457200" y="501930"/>
            <a:ext cx="1600200" cy="564870"/>
          </a:xfrm>
          <a:prstGeom prst="rect">
            <a:avLst/>
          </a:prstGeom>
          <a:noFill/>
          <a:ln>
            <a:noFill/>
          </a:ln>
        </p:spPr>
      </p:pic>
      <p:sp>
        <p:nvSpPr>
          <p:cNvPr id="533" name="Google Shape;533;p39"/>
          <p:cNvSpPr txBox="1"/>
          <p:nvPr/>
        </p:nvSpPr>
        <p:spPr>
          <a:xfrm>
            <a:off x="304800" y="381000"/>
            <a:ext cx="2209800"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200">
                <a:solidFill>
                  <a:srgbClr val="FF9900"/>
                </a:solidFill>
                <a:latin typeface="Arial"/>
                <a:ea typeface="Arial"/>
                <a:cs typeface="Arial"/>
                <a:sym typeface="Arial"/>
              </a:rPr>
              <a:t>DO IT!</a:t>
            </a:r>
            <a:endParaRPr b="1" sz="4200">
              <a:solidFill>
                <a:srgbClr val="FF9900"/>
              </a:solidFill>
              <a:latin typeface="Arial"/>
              <a:ea typeface="Arial"/>
              <a:cs typeface="Arial"/>
              <a:sym typeface="Arial"/>
            </a:endParaRPr>
          </a:p>
        </p:txBody>
      </p:sp>
      <p:cxnSp>
        <p:nvCxnSpPr>
          <p:cNvPr id="534" name="Google Shape;534;p39"/>
          <p:cNvCxnSpPr/>
          <p:nvPr/>
        </p:nvCxnSpPr>
        <p:spPr>
          <a:xfrm>
            <a:off x="7010400" y="2496312"/>
            <a:ext cx="838200" cy="0"/>
          </a:xfrm>
          <a:prstGeom prst="straightConnector1">
            <a:avLst/>
          </a:prstGeom>
          <a:solidFill>
            <a:schemeClr val="accent1"/>
          </a:solidFill>
          <a:ln cap="sq" cmpd="sng" w="28575">
            <a:solidFill>
              <a:schemeClr val="dk1"/>
            </a:solidFill>
            <a:prstDash val="solid"/>
            <a:round/>
            <a:headEnd len="sm" w="sm" type="none"/>
            <a:tailEnd len="sm" w="sm" type="none"/>
          </a:ln>
        </p:spPr>
      </p:cxnSp>
      <p:cxnSp>
        <p:nvCxnSpPr>
          <p:cNvPr id="535" name="Google Shape;535;p39"/>
          <p:cNvCxnSpPr/>
          <p:nvPr/>
        </p:nvCxnSpPr>
        <p:spPr>
          <a:xfrm>
            <a:off x="5867400" y="2496312"/>
            <a:ext cx="838200" cy="0"/>
          </a:xfrm>
          <a:prstGeom prst="straightConnector1">
            <a:avLst/>
          </a:prstGeom>
          <a:solidFill>
            <a:schemeClr val="accent1"/>
          </a:solidFill>
          <a:ln cap="sq" cmpd="sng" w="28575">
            <a:solidFill>
              <a:schemeClr val="dk1"/>
            </a:solidFill>
            <a:prstDash val="solid"/>
            <a:round/>
            <a:headEnd len="sm" w="sm" type="none"/>
            <a:tailEnd len="sm" w="sm" type="none"/>
          </a:ln>
        </p:spPr>
      </p:cxnSp>
      <p:sp>
        <p:nvSpPr>
          <p:cNvPr id="536" name="Google Shape;536;p39"/>
          <p:cNvSpPr/>
          <p:nvPr/>
        </p:nvSpPr>
        <p:spPr>
          <a:xfrm>
            <a:off x="1219200" y="5338126"/>
            <a:ext cx="7239000" cy="834074"/>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l">
              <a:lnSpc>
                <a:spcPct val="120000"/>
              </a:lnSpc>
              <a:spcBef>
                <a:spcPts val="0"/>
              </a:spcBef>
              <a:spcAft>
                <a:spcPts val="0"/>
              </a:spcAft>
              <a:buNone/>
            </a:pPr>
            <a:r>
              <a:rPr b="1" lang="en-US" sz="1800">
                <a:solidFill>
                  <a:schemeClr val="dk1"/>
                </a:solidFill>
                <a:latin typeface="Arial"/>
                <a:ea typeface="Arial"/>
                <a:cs typeface="Arial"/>
                <a:sym typeface="Arial"/>
              </a:rPr>
              <a:t>Unearned Service Revenue	4,600</a:t>
            </a:r>
            <a:endParaRPr b="1" sz="1800">
              <a:solidFill>
                <a:schemeClr val="dk1"/>
              </a:solidFill>
              <a:latin typeface="Arial"/>
              <a:ea typeface="Arial"/>
              <a:cs typeface="Arial"/>
              <a:sym typeface="Arial"/>
            </a:endParaRPr>
          </a:p>
          <a:p>
            <a:pPr indent="-457200" lvl="0" marL="457200" marR="0" rtl="0" algn="l">
              <a:lnSpc>
                <a:spcPct val="120000"/>
              </a:lnSpc>
              <a:spcBef>
                <a:spcPts val="600"/>
              </a:spcBef>
              <a:spcAft>
                <a:spcPts val="0"/>
              </a:spcAft>
              <a:buNone/>
            </a:pPr>
            <a:r>
              <a:rPr b="1" lang="en-US" sz="1800">
                <a:solidFill>
                  <a:schemeClr val="dk1"/>
                </a:solidFill>
                <a:latin typeface="Arial"/>
                <a:ea typeface="Arial"/>
                <a:cs typeface="Arial"/>
                <a:sym typeface="Arial"/>
              </a:rPr>
              <a:t>	Service Revenue		4,600</a:t>
            </a:r>
            <a:endParaRPr b="1" sz="1800">
              <a:solidFill>
                <a:schemeClr val="dk1"/>
              </a:solidFill>
              <a:latin typeface="Arial"/>
              <a:ea typeface="Arial"/>
              <a:cs typeface="Arial"/>
              <a:sym typeface="Arial"/>
            </a:endParaRPr>
          </a:p>
        </p:txBody>
      </p:sp>
      <p:sp>
        <p:nvSpPr>
          <p:cNvPr id="537" name="Google Shape;537;p39"/>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2</a:t>
            </a:r>
            <a:endParaRPr b="1" i="1" sz="1600">
              <a:solidFill>
                <a:schemeClr val="lt2"/>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6">
                                            <p:txEl>
                                              <p:pRg end="0" st="0"/>
                                            </p:txEl>
                                          </p:spTgt>
                                        </p:tgtEl>
                                        <p:attrNameLst>
                                          <p:attrName>style.visibility</p:attrName>
                                        </p:attrNameLst>
                                      </p:cBhvr>
                                      <p:to>
                                        <p:strVal val="visible"/>
                                      </p:to>
                                    </p:set>
                                    <p:animEffect filter="fade" transition="in">
                                      <p:cBhvr>
                                        <p:cTn dur="500"/>
                                        <p:tgtEl>
                                          <p:spTgt spid="53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6">
                                            <p:txEl>
                                              <p:pRg end="1" st="1"/>
                                            </p:txEl>
                                          </p:spTgt>
                                        </p:tgtEl>
                                        <p:attrNameLst>
                                          <p:attrName>style.visibility</p:attrName>
                                        </p:attrNameLst>
                                      </p:cBhvr>
                                      <p:to>
                                        <p:strVal val="visible"/>
                                      </p:to>
                                    </p:set>
                                    <p:animEffect filter="fade" transition="in">
                                      <p:cBhvr>
                                        <p:cTn dur="500"/>
                                        <p:tgtEl>
                                          <p:spTgt spid="536">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40"/>
          <p:cNvSpPr txBox="1"/>
          <p:nvPr/>
        </p:nvSpPr>
        <p:spPr>
          <a:xfrm>
            <a:off x="762000" y="1520825"/>
            <a:ext cx="7772400" cy="2569934"/>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en-US" sz="2400">
                <a:solidFill>
                  <a:schemeClr val="dk1"/>
                </a:solidFill>
                <a:latin typeface="Arial"/>
                <a:ea typeface="Arial"/>
                <a:cs typeface="Arial"/>
                <a:sym typeface="Arial"/>
              </a:rPr>
              <a:t>Accruals </a:t>
            </a:r>
            <a:r>
              <a:rPr b="0" lang="en-US" sz="2400">
                <a:solidFill>
                  <a:schemeClr val="dk1"/>
                </a:solidFill>
                <a:latin typeface="Arial"/>
                <a:ea typeface="Arial"/>
                <a:cs typeface="Arial"/>
                <a:sym typeface="Arial"/>
              </a:rPr>
              <a:t>are made to record </a:t>
            </a:r>
            <a:endParaRPr/>
          </a:p>
          <a:p>
            <a:pPr indent="-457200" lvl="1" marL="685800" marR="0" rtl="0" algn="l">
              <a:lnSpc>
                <a:spcPct val="115000"/>
              </a:lnSpc>
              <a:spcBef>
                <a:spcPts val="1380"/>
              </a:spcBef>
              <a:spcAft>
                <a:spcPts val="0"/>
              </a:spcAft>
              <a:buClr>
                <a:srgbClr val="800000"/>
              </a:buClr>
              <a:buSzPts val="1840"/>
              <a:buFont typeface="Noto Sans Symbols"/>
              <a:buChar char="◆"/>
            </a:pPr>
            <a:r>
              <a:rPr b="1" i="0" lang="en-US" sz="2300" u="none" cap="none" strike="noStrike">
                <a:solidFill>
                  <a:schemeClr val="dk1"/>
                </a:solidFill>
                <a:latin typeface="Arial"/>
                <a:ea typeface="Arial"/>
                <a:cs typeface="Arial"/>
                <a:sym typeface="Arial"/>
              </a:rPr>
              <a:t>Revenues</a:t>
            </a:r>
            <a:r>
              <a:rPr b="0" i="0" lang="en-US" sz="2300" u="none" cap="none" strike="noStrike">
                <a:solidFill>
                  <a:schemeClr val="dk1"/>
                </a:solidFill>
                <a:latin typeface="Arial"/>
                <a:ea typeface="Arial"/>
                <a:cs typeface="Arial"/>
                <a:sym typeface="Arial"/>
              </a:rPr>
              <a:t> for services performed but not yet recorded at the statement date.</a:t>
            </a:r>
            <a:r>
              <a:rPr b="1" i="1" lang="en-US" sz="2300" u="none" cap="none" strike="noStrike">
                <a:solidFill>
                  <a:srgbClr val="800000"/>
                </a:solidFill>
                <a:latin typeface="Arial"/>
                <a:ea typeface="Arial"/>
                <a:cs typeface="Arial"/>
                <a:sym typeface="Arial"/>
              </a:rPr>
              <a:t> </a:t>
            </a:r>
            <a:endParaRPr b="1" i="1" sz="2300" u="none" cap="none" strike="noStrike">
              <a:solidFill>
                <a:srgbClr val="800000"/>
              </a:solidFill>
              <a:latin typeface="Arial"/>
              <a:ea typeface="Arial"/>
              <a:cs typeface="Arial"/>
              <a:sym typeface="Arial"/>
            </a:endParaRPr>
          </a:p>
          <a:p>
            <a:pPr indent="-457200" lvl="1" marL="685800" marR="0" rtl="0" algn="l">
              <a:lnSpc>
                <a:spcPct val="115000"/>
              </a:lnSpc>
              <a:spcBef>
                <a:spcPts val="1380"/>
              </a:spcBef>
              <a:spcAft>
                <a:spcPts val="0"/>
              </a:spcAft>
              <a:buClr>
                <a:srgbClr val="800000"/>
              </a:buClr>
              <a:buSzPts val="1840"/>
              <a:buFont typeface="Noto Sans Symbols"/>
              <a:buChar char="◆"/>
            </a:pPr>
            <a:r>
              <a:rPr b="1" i="0" lang="en-US" sz="2300" u="none" cap="none" strike="noStrike">
                <a:solidFill>
                  <a:schemeClr val="dk1"/>
                </a:solidFill>
                <a:latin typeface="Arial"/>
                <a:ea typeface="Arial"/>
                <a:cs typeface="Arial"/>
                <a:sym typeface="Arial"/>
              </a:rPr>
              <a:t>Expenses</a:t>
            </a:r>
            <a:r>
              <a:rPr b="0" i="0" lang="en-US" sz="2300" u="none" cap="none" strike="noStrike">
                <a:solidFill>
                  <a:schemeClr val="dk1"/>
                </a:solidFill>
                <a:latin typeface="Arial"/>
                <a:ea typeface="Arial"/>
                <a:cs typeface="Arial"/>
                <a:sym typeface="Arial"/>
              </a:rPr>
              <a:t> incurred but not yet paid or recorded at the statement date.</a:t>
            </a:r>
            <a:endParaRPr b="0" i="0" sz="2300" u="none" cap="none" strike="noStrike">
              <a:solidFill>
                <a:schemeClr val="dk1"/>
              </a:solidFill>
              <a:latin typeface="Arial"/>
              <a:ea typeface="Arial"/>
              <a:cs typeface="Arial"/>
              <a:sym typeface="Arial"/>
            </a:endParaRPr>
          </a:p>
        </p:txBody>
      </p:sp>
      <p:sp>
        <p:nvSpPr>
          <p:cNvPr id="543" name="Google Shape;543;p40"/>
          <p:cNvSpPr/>
          <p:nvPr/>
        </p:nvSpPr>
        <p:spPr>
          <a:xfrm>
            <a:off x="290286" y="405765"/>
            <a:ext cx="2249714" cy="677228"/>
          </a:xfrm>
          <a:prstGeom prst="rect">
            <a:avLst/>
          </a:prstGeom>
          <a:solidFill>
            <a:srgbClr val="D8D8D8"/>
          </a:solidFill>
          <a:ln>
            <a:noFill/>
          </a:ln>
        </p:spPr>
        <p:txBody>
          <a:bodyPr anchorCtr="0" anchor="ctr" bIns="43225" lIns="86475" spcFirstLastPara="1" rIns="86475" wrap="square" tIns="43225">
            <a:noAutofit/>
          </a:bodyPr>
          <a:lstStyle/>
          <a:p>
            <a:pPr indent="0" lvl="0" marL="0" marR="0" rtl="0" algn="l">
              <a:spcBef>
                <a:spcPts val="0"/>
              </a:spcBef>
              <a:spcAft>
                <a:spcPts val="0"/>
              </a:spcAft>
              <a:buNone/>
            </a:pPr>
            <a:r>
              <a:rPr b="1" lang="en-US" sz="1700">
                <a:solidFill>
                  <a:schemeClr val="dk1"/>
                </a:solidFill>
                <a:latin typeface="Arial"/>
                <a:ea typeface="Arial"/>
                <a:cs typeface="Arial"/>
                <a:sym typeface="Arial"/>
              </a:rPr>
              <a:t>LEARNING</a:t>
            </a:r>
            <a:endParaRPr/>
          </a:p>
          <a:p>
            <a:pPr indent="0" lvl="0" marL="0" marR="0" rtl="0" algn="l">
              <a:spcBef>
                <a:spcPts val="0"/>
              </a:spcBef>
              <a:spcAft>
                <a:spcPts val="0"/>
              </a:spcAft>
              <a:buNone/>
            </a:pPr>
            <a:r>
              <a:rPr b="1" lang="en-US" sz="1700">
                <a:solidFill>
                  <a:schemeClr val="dk1"/>
                </a:solidFill>
                <a:latin typeface="Arial"/>
                <a:ea typeface="Arial"/>
                <a:cs typeface="Arial"/>
                <a:sym typeface="Arial"/>
              </a:rPr>
              <a:t>OBJECTIVE</a:t>
            </a:r>
            <a:endParaRPr/>
          </a:p>
        </p:txBody>
      </p:sp>
      <p:sp>
        <p:nvSpPr>
          <p:cNvPr id="544" name="Google Shape;544;p40"/>
          <p:cNvSpPr/>
          <p:nvPr/>
        </p:nvSpPr>
        <p:spPr>
          <a:xfrm>
            <a:off x="2540000" y="274320"/>
            <a:ext cx="6241143" cy="928688"/>
          </a:xfrm>
          <a:prstGeom prst="rect">
            <a:avLst/>
          </a:prstGeom>
          <a:solidFill>
            <a:srgbClr val="0027A4"/>
          </a:solidFill>
          <a:ln>
            <a:noFill/>
          </a:ln>
        </p:spPr>
        <p:txBody>
          <a:bodyPr anchorCtr="0" anchor="ctr" bIns="45700" lIns="91425" spcFirstLastPara="1" rIns="91425" wrap="square" tIns="27425">
            <a:noAutofit/>
          </a:bodyPr>
          <a:lstStyle/>
          <a:p>
            <a:pPr indent="0" lvl="0" marL="117475" marR="0" rtl="0" algn="l">
              <a:spcBef>
                <a:spcPts val="0"/>
              </a:spcBef>
              <a:spcAft>
                <a:spcPts val="0"/>
              </a:spcAft>
              <a:buNone/>
            </a:pPr>
            <a:r>
              <a:rPr b="1" lang="en-US" sz="2500">
                <a:solidFill>
                  <a:schemeClr val="lt1"/>
                </a:solidFill>
                <a:latin typeface="Arial"/>
                <a:ea typeface="Arial"/>
                <a:cs typeface="Arial"/>
                <a:sym typeface="Arial"/>
              </a:rPr>
              <a:t>Prepare adjusting entries for accruals.</a:t>
            </a:r>
            <a:endParaRPr b="1" sz="2500">
              <a:solidFill>
                <a:schemeClr val="lt1"/>
              </a:solidFill>
              <a:latin typeface="Arial"/>
              <a:ea typeface="Arial"/>
              <a:cs typeface="Arial"/>
              <a:sym typeface="Arial"/>
            </a:endParaRPr>
          </a:p>
        </p:txBody>
      </p:sp>
      <p:sp>
        <p:nvSpPr>
          <p:cNvPr id="545" name="Google Shape;545;p40"/>
          <p:cNvSpPr/>
          <p:nvPr/>
        </p:nvSpPr>
        <p:spPr>
          <a:xfrm>
            <a:off x="1872343" y="485775"/>
            <a:ext cx="522514" cy="514350"/>
          </a:xfrm>
          <a:prstGeom prst="ellipse">
            <a:avLst/>
          </a:prstGeom>
          <a:solidFill>
            <a:srgbClr val="FF6600"/>
          </a:solidFill>
          <a:ln>
            <a:noFill/>
          </a:ln>
        </p:spPr>
        <p:txBody>
          <a:bodyPr anchorCtr="0" anchor="ctr" bIns="43225" lIns="86475" spcFirstLastPara="1" rIns="86475" wrap="square" tIns="0">
            <a:noAutofit/>
          </a:bodyPr>
          <a:lstStyle/>
          <a:p>
            <a:pPr indent="0" lvl="0" marL="0" marR="0" rtl="0" algn="ctr">
              <a:spcBef>
                <a:spcPts val="0"/>
              </a:spcBef>
              <a:spcAft>
                <a:spcPts val="0"/>
              </a:spcAft>
              <a:buNone/>
            </a:pPr>
            <a:r>
              <a:rPr b="1" lang="en-US" sz="2400">
                <a:solidFill>
                  <a:schemeClr val="lt1"/>
                </a:solidFill>
                <a:latin typeface="Arial"/>
                <a:ea typeface="Arial"/>
                <a:cs typeface="Arial"/>
                <a:sym typeface="Arial"/>
              </a:rPr>
              <a:t>3</a:t>
            </a:r>
            <a:endParaRPr b="1" sz="2400">
              <a:solidFill>
                <a:schemeClr val="lt1"/>
              </a:solidFill>
              <a:latin typeface="Arial"/>
              <a:ea typeface="Arial"/>
              <a:cs typeface="Arial"/>
              <a:sym typeface="Arial"/>
            </a:endParaRPr>
          </a:p>
        </p:txBody>
      </p:sp>
      <p:sp>
        <p:nvSpPr>
          <p:cNvPr id="546" name="Google Shape;546;p40"/>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3</a:t>
            </a:r>
            <a:endParaRPr/>
          </a:p>
        </p:txBody>
      </p:sp>
    </p:spTree>
  </p:cSld>
  <p:clrMapOvr>
    <a:masterClrMapping/>
  </p:clrMapOvr>
  <p:transition>
    <p:wipe dir="r"/>
  </p:transition>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41"/>
          <p:cNvSpPr txBox="1"/>
          <p:nvPr>
            <p:ph idx="4294967295" type="body"/>
          </p:nvPr>
        </p:nvSpPr>
        <p:spPr>
          <a:xfrm>
            <a:off x="457200" y="1295400"/>
            <a:ext cx="8077200" cy="914400"/>
          </a:xfrm>
          <a:prstGeom prst="rect">
            <a:avLst/>
          </a:prstGeom>
          <a:noFill/>
          <a:ln>
            <a:noFill/>
          </a:ln>
        </p:spPr>
        <p:txBody>
          <a:bodyPr anchorCtr="0" anchor="t" bIns="46025" lIns="182550" spcFirstLastPara="1" rIns="182550" wrap="square" tIns="46025">
            <a:noAutofit/>
          </a:bodyPr>
          <a:lstStyle/>
          <a:p>
            <a:pPr indent="0" lvl="0" marL="0" rtl="0" algn="l">
              <a:lnSpc>
                <a:spcPct val="110000"/>
              </a:lnSpc>
              <a:spcBef>
                <a:spcPts val="0"/>
              </a:spcBef>
              <a:spcAft>
                <a:spcPts val="0"/>
              </a:spcAft>
              <a:buClr>
                <a:srgbClr val="006666"/>
              </a:buClr>
              <a:buSzPts val="2300"/>
              <a:buFont typeface="Arial"/>
              <a:buNone/>
            </a:pPr>
            <a:r>
              <a:rPr lang="en-US" sz="2300">
                <a:latin typeface="Arial"/>
                <a:ea typeface="Arial"/>
                <a:cs typeface="Arial"/>
                <a:sym typeface="Arial"/>
              </a:rPr>
              <a:t>Revenues for services performed but not yet received in cash or recorded.</a:t>
            </a:r>
            <a:endParaRPr/>
          </a:p>
        </p:txBody>
      </p:sp>
      <p:sp>
        <p:nvSpPr>
          <p:cNvPr id="552" name="Google Shape;552;p41"/>
          <p:cNvSpPr/>
          <p:nvPr/>
        </p:nvSpPr>
        <p:spPr>
          <a:xfrm>
            <a:off x="685800" y="3951288"/>
            <a:ext cx="3048000" cy="1415772"/>
          </a:xfrm>
          <a:prstGeom prst="rect">
            <a:avLst/>
          </a:prstGeom>
          <a:noFill/>
          <a:ln>
            <a:noFill/>
          </a:ln>
        </p:spPr>
        <p:txBody>
          <a:bodyPr anchorCtr="0" anchor="t" bIns="45700" lIns="91425" spcFirstLastPara="1" rIns="91425" wrap="square" tIns="45700">
            <a:spAutoFit/>
          </a:bodyPr>
          <a:lstStyle/>
          <a:p>
            <a:pPr indent="-457200" lvl="1" marL="571500" marR="0" rtl="0" algn="l">
              <a:spcBef>
                <a:spcPts val="0"/>
              </a:spcBef>
              <a:spcAft>
                <a:spcPts val="0"/>
              </a:spcAft>
              <a:buClr>
                <a:srgbClr val="800000"/>
              </a:buClr>
              <a:buSzPts val="1760"/>
              <a:buFont typeface="Noto Sans Symbols"/>
              <a:buChar char="◆"/>
            </a:pPr>
            <a:r>
              <a:rPr b="0" i="0" lang="en-US" sz="2200" u="none" cap="none" strike="noStrike">
                <a:solidFill>
                  <a:schemeClr val="lt2"/>
                </a:solidFill>
                <a:latin typeface="Arial"/>
                <a:ea typeface="Arial"/>
                <a:cs typeface="Arial"/>
                <a:sym typeface="Arial"/>
              </a:rPr>
              <a:t>Rent</a:t>
            </a:r>
            <a:endParaRPr/>
          </a:p>
          <a:p>
            <a:pPr indent="-457200" lvl="1" marL="571500" marR="0" rtl="0" algn="l">
              <a:spcBef>
                <a:spcPts val="1200"/>
              </a:spcBef>
              <a:spcAft>
                <a:spcPts val="0"/>
              </a:spcAft>
              <a:buClr>
                <a:srgbClr val="800000"/>
              </a:buClr>
              <a:buSzPts val="1760"/>
              <a:buFont typeface="Noto Sans Symbols"/>
              <a:buChar char="◆"/>
            </a:pPr>
            <a:r>
              <a:rPr b="0" i="0" lang="en-US" sz="2200" u="none" cap="none" strike="noStrike">
                <a:solidFill>
                  <a:schemeClr val="lt2"/>
                </a:solidFill>
                <a:latin typeface="Arial"/>
                <a:ea typeface="Arial"/>
                <a:cs typeface="Arial"/>
                <a:sym typeface="Arial"/>
              </a:rPr>
              <a:t>Interest</a:t>
            </a:r>
            <a:endParaRPr/>
          </a:p>
          <a:p>
            <a:pPr indent="-457200" lvl="1" marL="571500" marR="0" rtl="0" algn="l">
              <a:spcBef>
                <a:spcPts val="1200"/>
              </a:spcBef>
              <a:spcAft>
                <a:spcPts val="0"/>
              </a:spcAft>
              <a:buClr>
                <a:srgbClr val="800000"/>
              </a:buClr>
              <a:buSzPts val="1760"/>
              <a:buFont typeface="Noto Sans Symbols"/>
              <a:buChar char="◆"/>
            </a:pPr>
            <a:r>
              <a:rPr b="0" i="0" lang="en-US" sz="2200" u="none" cap="none" strike="noStrike">
                <a:solidFill>
                  <a:schemeClr val="lt2"/>
                </a:solidFill>
                <a:latin typeface="Arial"/>
                <a:ea typeface="Arial"/>
                <a:cs typeface="Arial"/>
                <a:sym typeface="Arial"/>
              </a:rPr>
              <a:t>Services</a:t>
            </a:r>
            <a:endParaRPr b="0" i="0" sz="2200" u="none" cap="none" strike="noStrike">
              <a:solidFill>
                <a:schemeClr val="lt2"/>
              </a:solidFill>
              <a:latin typeface="Arial"/>
              <a:ea typeface="Arial"/>
              <a:cs typeface="Arial"/>
              <a:sym typeface="Arial"/>
            </a:endParaRPr>
          </a:p>
        </p:txBody>
      </p:sp>
      <p:sp>
        <p:nvSpPr>
          <p:cNvPr id="553" name="Google Shape;553;p41"/>
          <p:cNvSpPr/>
          <p:nvPr/>
        </p:nvSpPr>
        <p:spPr>
          <a:xfrm>
            <a:off x="533400" y="3429000"/>
            <a:ext cx="6324600" cy="446276"/>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None/>
            </a:pPr>
            <a:r>
              <a:rPr b="1" lang="en-US" sz="2300">
                <a:solidFill>
                  <a:schemeClr val="lt2"/>
                </a:solidFill>
                <a:latin typeface="Arial"/>
                <a:ea typeface="Arial"/>
                <a:cs typeface="Arial"/>
                <a:sym typeface="Arial"/>
              </a:rPr>
              <a:t>Accrued revenues </a:t>
            </a:r>
            <a:r>
              <a:rPr b="0" lang="en-US" sz="2300">
                <a:solidFill>
                  <a:schemeClr val="lt2"/>
                </a:solidFill>
                <a:latin typeface="Arial"/>
                <a:ea typeface="Arial"/>
                <a:cs typeface="Arial"/>
                <a:sym typeface="Arial"/>
              </a:rPr>
              <a:t>often occur in regard to:</a:t>
            </a:r>
            <a:endParaRPr/>
          </a:p>
        </p:txBody>
      </p:sp>
      <p:cxnSp>
        <p:nvCxnSpPr>
          <p:cNvPr id="554" name="Google Shape;554;p41"/>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555" name="Google Shape;555;p41"/>
          <p:cNvSpPr txBox="1"/>
          <p:nvPr/>
        </p:nvSpPr>
        <p:spPr>
          <a:xfrm>
            <a:off x="4038600" y="2505456"/>
            <a:ext cx="1447800" cy="446276"/>
          </a:xfrm>
          <a:prstGeom prst="rect">
            <a:avLst/>
          </a:prstGeom>
          <a:noFill/>
          <a:ln>
            <a:noFill/>
          </a:ln>
        </p:spPr>
        <p:txBody>
          <a:bodyPr anchorCtr="0" anchor="t" bIns="45700" lIns="91425" spcFirstLastPara="1" rIns="91425" wrap="square" tIns="45700">
            <a:spAutoFit/>
          </a:bodyPr>
          <a:lstStyle/>
          <a:p>
            <a:pPr indent="-457200" lvl="0" marL="457200" marR="0" rtl="0" algn="ctr">
              <a:spcBef>
                <a:spcPts val="0"/>
              </a:spcBef>
              <a:spcAft>
                <a:spcPts val="0"/>
              </a:spcAft>
              <a:buNone/>
            </a:pPr>
            <a:r>
              <a:rPr b="1" lang="en-US" sz="2300">
                <a:solidFill>
                  <a:srgbClr val="800000"/>
                </a:solidFill>
                <a:latin typeface="Arial"/>
                <a:ea typeface="Arial"/>
                <a:cs typeface="Arial"/>
                <a:sym typeface="Arial"/>
              </a:rPr>
              <a:t>BEFORE</a:t>
            </a:r>
            <a:endParaRPr/>
          </a:p>
        </p:txBody>
      </p:sp>
      <p:sp>
        <p:nvSpPr>
          <p:cNvPr id="556" name="Google Shape;556;p41"/>
          <p:cNvSpPr txBox="1"/>
          <p:nvPr/>
        </p:nvSpPr>
        <p:spPr>
          <a:xfrm>
            <a:off x="5562600" y="2486025"/>
            <a:ext cx="2438400" cy="492443"/>
          </a:xfrm>
          <a:prstGeom prst="rect">
            <a:avLst/>
          </a:prstGeom>
          <a:solidFill>
            <a:srgbClr val="FFFF99"/>
          </a:solidFill>
          <a:ln cap="flat" cmpd="sng" w="28575">
            <a:solidFill>
              <a:schemeClr val="dk1"/>
            </a:solidFill>
            <a:prstDash val="solid"/>
            <a:miter lim="800000"/>
            <a:headEnd len="sm" w="sm" type="none"/>
            <a:tailEnd len="sm" w="sm" type="none"/>
          </a:ln>
        </p:spPr>
        <p:txBody>
          <a:bodyPr anchorCtr="0" anchor="t" bIns="91425" lIns="91425" spcFirstLastPara="1" rIns="91425" wrap="square" tIns="45700">
            <a:spAutoFit/>
          </a:bodyPr>
          <a:lstStyle/>
          <a:p>
            <a:pPr indent="-457200" lvl="0" marL="457200" marR="0" rtl="0" algn="ctr">
              <a:spcBef>
                <a:spcPts val="0"/>
              </a:spcBef>
              <a:spcAft>
                <a:spcPts val="0"/>
              </a:spcAft>
              <a:buNone/>
            </a:pPr>
            <a:r>
              <a:rPr b="1" lang="en-US" sz="2300">
                <a:solidFill>
                  <a:schemeClr val="dk1"/>
                </a:solidFill>
                <a:latin typeface="Arial"/>
                <a:ea typeface="Arial"/>
                <a:cs typeface="Arial"/>
                <a:sym typeface="Arial"/>
              </a:rPr>
              <a:t>Cash Receipt</a:t>
            </a:r>
            <a:endParaRPr/>
          </a:p>
        </p:txBody>
      </p:sp>
      <p:sp>
        <p:nvSpPr>
          <p:cNvPr id="557" name="Google Shape;557;p41"/>
          <p:cNvSpPr txBox="1"/>
          <p:nvPr/>
        </p:nvSpPr>
        <p:spPr>
          <a:xfrm>
            <a:off x="838200" y="2486025"/>
            <a:ext cx="3135313" cy="492443"/>
          </a:xfrm>
          <a:prstGeom prst="rect">
            <a:avLst/>
          </a:prstGeom>
          <a:solidFill>
            <a:srgbClr val="FFFF99"/>
          </a:solidFill>
          <a:ln cap="flat" cmpd="sng" w="28575">
            <a:solidFill>
              <a:schemeClr val="dk1"/>
            </a:solidFill>
            <a:prstDash val="solid"/>
            <a:miter lim="800000"/>
            <a:headEnd len="sm" w="sm" type="none"/>
            <a:tailEnd len="sm" w="sm" type="none"/>
          </a:ln>
        </p:spPr>
        <p:txBody>
          <a:bodyPr anchorCtr="0" anchor="t" bIns="91425" lIns="91425" spcFirstLastPara="1" rIns="91425" wrap="square" tIns="45700">
            <a:spAutoFit/>
          </a:bodyPr>
          <a:lstStyle/>
          <a:p>
            <a:pPr indent="-457200" lvl="0" marL="457200" marR="0" rtl="0" algn="ctr">
              <a:spcBef>
                <a:spcPts val="0"/>
              </a:spcBef>
              <a:spcAft>
                <a:spcPts val="0"/>
              </a:spcAft>
              <a:buNone/>
            </a:pPr>
            <a:r>
              <a:rPr b="1" lang="en-US" sz="2300">
                <a:solidFill>
                  <a:schemeClr val="dk1"/>
                </a:solidFill>
                <a:latin typeface="Arial"/>
                <a:ea typeface="Arial"/>
                <a:cs typeface="Arial"/>
                <a:sym typeface="Arial"/>
              </a:rPr>
              <a:t>Revenue Recorded</a:t>
            </a:r>
            <a:endParaRPr/>
          </a:p>
        </p:txBody>
      </p:sp>
      <p:sp>
        <p:nvSpPr>
          <p:cNvPr id="558" name="Google Shape;558;p41"/>
          <p:cNvSpPr/>
          <p:nvPr/>
        </p:nvSpPr>
        <p:spPr>
          <a:xfrm>
            <a:off x="609600" y="304800"/>
            <a:ext cx="82296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Accrued Revenues</a:t>
            </a:r>
            <a:endParaRPr b="1" sz="3200">
              <a:solidFill>
                <a:srgbClr val="0000BF"/>
              </a:solidFill>
              <a:latin typeface="Arial"/>
              <a:ea typeface="Arial"/>
              <a:cs typeface="Arial"/>
              <a:sym typeface="Arial"/>
            </a:endParaRPr>
          </a:p>
        </p:txBody>
      </p:sp>
      <p:sp>
        <p:nvSpPr>
          <p:cNvPr id="559" name="Google Shape;559;p41"/>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3</a:t>
            </a:r>
            <a:endParaRPr/>
          </a:p>
        </p:txBody>
      </p:sp>
    </p:spTree>
  </p:cSld>
  <p:clrMapOvr>
    <a:masterClrMapping/>
  </p:clrMapOvr>
  <p:transition>
    <p:wipe dir="r"/>
  </p:transition>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42"/>
          <p:cNvSpPr txBox="1"/>
          <p:nvPr/>
        </p:nvSpPr>
        <p:spPr>
          <a:xfrm>
            <a:off x="609600" y="1295400"/>
            <a:ext cx="8001000" cy="2566280"/>
          </a:xfrm>
          <a:prstGeom prst="rect">
            <a:avLst/>
          </a:prstGeom>
          <a:noFill/>
          <a:ln>
            <a:noFill/>
          </a:ln>
        </p:spPr>
        <p:txBody>
          <a:bodyPr anchorCtr="0" anchor="t" bIns="45700" lIns="91425" spcFirstLastPara="1" rIns="91425" wrap="square" tIns="45700">
            <a:spAutoFit/>
          </a:bodyPr>
          <a:lstStyle/>
          <a:p>
            <a:pPr indent="-457200" lvl="0" marL="693738" marR="0" rtl="0" algn="l">
              <a:lnSpc>
                <a:spcPct val="120000"/>
              </a:lnSpc>
              <a:spcBef>
                <a:spcPts val="0"/>
              </a:spcBef>
              <a:spcAft>
                <a:spcPts val="0"/>
              </a:spcAft>
              <a:buClr>
                <a:srgbClr val="800000"/>
              </a:buClr>
              <a:buSzPts val="1840"/>
              <a:buFont typeface="Noto Sans Symbols"/>
              <a:buChar char="◆"/>
            </a:pPr>
            <a:r>
              <a:rPr b="0" lang="en-US" sz="2300">
                <a:solidFill>
                  <a:schemeClr val="dk1"/>
                </a:solidFill>
                <a:latin typeface="Arial"/>
                <a:ea typeface="Arial"/>
                <a:cs typeface="Arial"/>
                <a:sym typeface="Arial"/>
              </a:rPr>
              <a:t>Adjusting entry shows the </a:t>
            </a:r>
            <a:r>
              <a:rPr b="1" lang="en-US" sz="2300">
                <a:solidFill>
                  <a:schemeClr val="dk1"/>
                </a:solidFill>
                <a:latin typeface="Arial"/>
                <a:ea typeface="Arial"/>
                <a:cs typeface="Arial"/>
                <a:sym typeface="Arial"/>
              </a:rPr>
              <a:t>receivable</a:t>
            </a:r>
            <a:r>
              <a:rPr b="0" lang="en-US" sz="2300">
                <a:solidFill>
                  <a:schemeClr val="dk1"/>
                </a:solidFill>
                <a:latin typeface="Arial"/>
                <a:ea typeface="Arial"/>
                <a:cs typeface="Arial"/>
                <a:sym typeface="Arial"/>
              </a:rPr>
              <a:t> that exists and records the </a:t>
            </a:r>
            <a:r>
              <a:rPr b="1" lang="en-US" sz="2300">
                <a:solidFill>
                  <a:schemeClr val="dk1"/>
                </a:solidFill>
                <a:latin typeface="Arial"/>
                <a:ea typeface="Arial"/>
                <a:cs typeface="Arial"/>
                <a:sym typeface="Arial"/>
              </a:rPr>
              <a:t>revenues for services performed</a:t>
            </a:r>
            <a:r>
              <a:rPr b="0" lang="en-US" sz="2300">
                <a:solidFill>
                  <a:schemeClr val="dk1"/>
                </a:solidFill>
                <a:latin typeface="Arial"/>
                <a:ea typeface="Arial"/>
                <a:cs typeface="Arial"/>
                <a:sym typeface="Arial"/>
              </a:rPr>
              <a:t>.</a:t>
            </a:r>
            <a:endParaRPr/>
          </a:p>
          <a:p>
            <a:pPr indent="-457200" lvl="0" marL="693738" marR="0" rtl="0" algn="l">
              <a:lnSpc>
                <a:spcPct val="120000"/>
              </a:lnSpc>
              <a:spcBef>
                <a:spcPts val="1150"/>
              </a:spcBef>
              <a:spcAft>
                <a:spcPts val="0"/>
              </a:spcAft>
              <a:buClr>
                <a:srgbClr val="800000"/>
              </a:buClr>
              <a:buSzPts val="1840"/>
              <a:buFont typeface="Noto Sans Symbols"/>
              <a:buChar char="◆"/>
            </a:pPr>
            <a:r>
              <a:rPr b="0" lang="en-US" sz="2300">
                <a:solidFill>
                  <a:schemeClr val="dk1"/>
                </a:solidFill>
                <a:latin typeface="Arial"/>
                <a:ea typeface="Arial"/>
                <a:cs typeface="Arial"/>
                <a:sym typeface="Arial"/>
              </a:rPr>
              <a:t>Adjusting entry:</a:t>
            </a:r>
            <a:endParaRPr/>
          </a:p>
          <a:p>
            <a:pPr indent="-457200" lvl="1" marL="1430338" marR="0" rtl="0" algn="l">
              <a:lnSpc>
                <a:spcPct val="120000"/>
              </a:lnSpc>
              <a:spcBef>
                <a:spcPts val="660"/>
              </a:spcBef>
              <a:spcAft>
                <a:spcPts val="0"/>
              </a:spcAft>
              <a:buClr>
                <a:srgbClr val="800000"/>
              </a:buClr>
              <a:buSzPts val="1760"/>
              <a:buFont typeface="Arial"/>
              <a:buChar char="►"/>
            </a:pPr>
            <a:r>
              <a:rPr b="1" i="0" lang="en-US" sz="2200" u="none" cap="none" strike="noStrike">
                <a:solidFill>
                  <a:schemeClr val="dk1"/>
                </a:solidFill>
                <a:latin typeface="Arial"/>
                <a:ea typeface="Arial"/>
                <a:cs typeface="Arial"/>
                <a:sym typeface="Arial"/>
              </a:rPr>
              <a:t>Increases</a:t>
            </a:r>
            <a:r>
              <a:rPr b="0" i="0" lang="en-US" sz="2200" u="none" cap="none" strike="noStrike">
                <a:solidFill>
                  <a:schemeClr val="dk1"/>
                </a:solidFill>
                <a:latin typeface="Arial"/>
                <a:ea typeface="Arial"/>
                <a:cs typeface="Arial"/>
                <a:sym typeface="Arial"/>
              </a:rPr>
              <a:t> (debits) an </a:t>
            </a:r>
            <a:r>
              <a:rPr b="1" i="0" lang="en-US" sz="2200" u="none" cap="none" strike="noStrike">
                <a:solidFill>
                  <a:schemeClr val="dk1"/>
                </a:solidFill>
                <a:latin typeface="Arial"/>
                <a:ea typeface="Arial"/>
                <a:cs typeface="Arial"/>
                <a:sym typeface="Arial"/>
              </a:rPr>
              <a:t>asset account</a:t>
            </a:r>
            <a:r>
              <a:rPr b="0" i="0" lang="en-US" sz="2200" u="none" cap="none" strike="noStrike">
                <a:solidFill>
                  <a:schemeClr val="dk1"/>
                </a:solidFill>
                <a:latin typeface="Arial"/>
                <a:ea typeface="Arial"/>
                <a:cs typeface="Arial"/>
                <a:sym typeface="Arial"/>
              </a:rPr>
              <a:t> and </a:t>
            </a:r>
            <a:endParaRPr/>
          </a:p>
          <a:p>
            <a:pPr indent="-457200" lvl="1" marL="1430338" marR="0" rtl="0" algn="l">
              <a:lnSpc>
                <a:spcPct val="120000"/>
              </a:lnSpc>
              <a:spcBef>
                <a:spcPts val="660"/>
              </a:spcBef>
              <a:spcAft>
                <a:spcPts val="0"/>
              </a:spcAft>
              <a:buClr>
                <a:srgbClr val="800000"/>
              </a:buClr>
              <a:buSzPts val="1760"/>
              <a:buFont typeface="Arial"/>
              <a:buChar char="►"/>
            </a:pPr>
            <a:r>
              <a:rPr b="1" i="0" lang="en-US" sz="2200" u="none" cap="none" strike="noStrike">
                <a:solidFill>
                  <a:schemeClr val="dk1"/>
                </a:solidFill>
                <a:latin typeface="Arial"/>
                <a:ea typeface="Arial"/>
                <a:cs typeface="Arial"/>
                <a:sym typeface="Arial"/>
              </a:rPr>
              <a:t>Increases</a:t>
            </a:r>
            <a:r>
              <a:rPr b="0" i="0" lang="en-US" sz="2200" u="none" cap="none" strike="noStrike">
                <a:solidFill>
                  <a:schemeClr val="dk1"/>
                </a:solidFill>
                <a:latin typeface="Arial"/>
                <a:ea typeface="Arial"/>
                <a:cs typeface="Arial"/>
                <a:sym typeface="Arial"/>
              </a:rPr>
              <a:t> (credits) a </a:t>
            </a:r>
            <a:r>
              <a:rPr b="1" i="0" lang="en-US" sz="2200" u="none" cap="none" strike="noStrike">
                <a:solidFill>
                  <a:schemeClr val="dk1"/>
                </a:solidFill>
                <a:latin typeface="Arial"/>
                <a:ea typeface="Arial"/>
                <a:cs typeface="Arial"/>
                <a:sym typeface="Arial"/>
              </a:rPr>
              <a:t>revenue account</a:t>
            </a:r>
            <a:r>
              <a:rPr b="0" i="0" lang="en-US" sz="2200" u="none" cap="none" strike="noStrike">
                <a:solidFill>
                  <a:schemeClr val="dk1"/>
                </a:solidFill>
                <a:latin typeface="Arial"/>
                <a:ea typeface="Arial"/>
                <a:cs typeface="Arial"/>
                <a:sym typeface="Arial"/>
              </a:rPr>
              <a:t>.</a:t>
            </a:r>
            <a:endParaRPr/>
          </a:p>
        </p:txBody>
      </p:sp>
      <p:cxnSp>
        <p:nvCxnSpPr>
          <p:cNvPr id="565" name="Google Shape;565;p42"/>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pic>
        <p:nvPicPr>
          <p:cNvPr id="566" name="Google Shape;566;p42"/>
          <p:cNvPicPr preferRelativeResize="0"/>
          <p:nvPr/>
        </p:nvPicPr>
        <p:blipFill rotWithShape="1">
          <a:blip r:embed="rId3">
            <a:alphaModFix/>
          </a:blip>
          <a:srcRect b="0" l="0" r="0" t="0"/>
          <a:stretch/>
        </p:blipFill>
        <p:spPr>
          <a:xfrm>
            <a:off x="1206945" y="4014787"/>
            <a:ext cx="6641655" cy="2614613"/>
          </a:xfrm>
          <a:prstGeom prst="rect">
            <a:avLst/>
          </a:prstGeom>
          <a:noFill/>
          <a:ln>
            <a:noFill/>
          </a:ln>
        </p:spPr>
      </p:pic>
      <p:sp>
        <p:nvSpPr>
          <p:cNvPr id="567" name="Google Shape;567;p42"/>
          <p:cNvSpPr/>
          <p:nvPr/>
        </p:nvSpPr>
        <p:spPr>
          <a:xfrm>
            <a:off x="609600" y="304800"/>
            <a:ext cx="82296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Accrued Revenues</a:t>
            </a:r>
            <a:endParaRPr b="1" sz="3200">
              <a:solidFill>
                <a:srgbClr val="0000BF"/>
              </a:solidFill>
              <a:latin typeface="Arial"/>
              <a:ea typeface="Arial"/>
              <a:cs typeface="Arial"/>
              <a:sym typeface="Arial"/>
            </a:endParaRPr>
          </a:p>
        </p:txBody>
      </p:sp>
      <p:sp>
        <p:nvSpPr>
          <p:cNvPr id="568" name="Google Shape;568;p42"/>
          <p:cNvSpPr/>
          <p:nvPr/>
        </p:nvSpPr>
        <p:spPr>
          <a:xfrm>
            <a:off x="7162800" y="4038600"/>
            <a:ext cx="1524000" cy="27463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200">
                <a:solidFill>
                  <a:schemeClr val="dk1"/>
                </a:solidFill>
                <a:latin typeface="Arial"/>
                <a:ea typeface="Arial"/>
                <a:cs typeface="Arial"/>
                <a:sym typeface="Arial"/>
              </a:rPr>
              <a:t>Illustration 3-13</a:t>
            </a:r>
            <a:endParaRPr/>
          </a:p>
        </p:txBody>
      </p:sp>
      <p:sp>
        <p:nvSpPr>
          <p:cNvPr id="569" name="Google Shape;569;p42"/>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3</a:t>
            </a:r>
            <a:endParaRPr/>
          </a:p>
        </p:txBody>
      </p:sp>
    </p:spTree>
  </p:cSld>
  <p:clrMapOvr>
    <a:masterClrMapping/>
  </p:clrMapOvr>
  <p:transition>
    <p:wipe dir="r"/>
  </p:transition>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43"/>
          <p:cNvSpPr txBox="1"/>
          <p:nvPr/>
        </p:nvSpPr>
        <p:spPr>
          <a:xfrm>
            <a:off x="609600" y="1295400"/>
            <a:ext cx="5715000" cy="1255728"/>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en-US" sz="2100">
                <a:solidFill>
                  <a:schemeClr val="dk1"/>
                </a:solidFill>
                <a:latin typeface="Arial"/>
                <a:ea typeface="Arial"/>
                <a:cs typeface="Arial"/>
                <a:sym typeface="Arial"/>
              </a:rPr>
              <a:t>Illustration:  </a:t>
            </a:r>
            <a:r>
              <a:rPr b="0" lang="en-US" sz="2100">
                <a:solidFill>
                  <a:schemeClr val="dk1"/>
                </a:solidFill>
                <a:latin typeface="Arial"/>
                <a:ea typeface="Arial"/>
                <a:cs typeface="Arial"/>
                <a:sym typeface="Arial"/>
              </a:rPr>
              <a:t>In October Pioneer Advertising performed services worth $200 that were not billed to clients on or before October 31. </a:t>
            </a:r>
            <a:endParaRPr b="0" sz="2100">
              <a:solidFill>
                <a:schemeClr val="dk1"/>
              </a:solidFill>
              <a:latin typeface="Arial"/>
              <a:ea typeface="Arial"/>
              <a:cs typeface="Arial"/>
              <a:sym typeface="Arial"/>
            </a:endParaRPr>
          </a:p>
        </p:txBody>
      </p:sp>
      <p:sp>
        <p:nvSpPr>
          <p:cNvPr id="575" name="Google Shape;575;p43"/>
          <p:cNvSpPr txBox="1"/>
          <p:nvPr/>
        </p:nvSpPr>
        <p:spPr>
          <a:xfrm>
            <a:off x="1981200" y="5835650"/>
            <a:ext cx="3505200" cy="412750"/>
          </a:xfrm>
          <a:prstGeom prst="rect">
            <a:avLst/>
          </a:prstGeom>
          <a:noFill/>
          <a:ln>
            <a:noFill/>
          </a:ln>
        </p:spPr>
        <p:txBody>
          <a:bodyPr anchorCtr="0" anchor="t" bIns="45700" lIns="91425" spcFirstLastPara="1" rIns="91425" wrap="square" tIns="45700">
            <a:spAutoFit/>
          </a:bodyPr>
          <a:lstStyle/>
          <a:p>
            <a:pPr indent="0" lvl="0" marL="457200" marR="0" rtl="0" algn="l">
              <a:spcBef>
                <a:spcPts val="0"/>
              </a:spcBef>
              <a:spcAft>
                <a:spcPts val="0"/>
              </a:spcAft>
              <a:buNone/>
            </a:pPr>
            <a:r>
              <a:rPr b="0" lang="en-US" sz="2100">
                <a:solidFill>
                  <a:schemeClr val="dk1"/>
                </a:solidFill>
                <a:latin typeface="Arial"/>
                <a:ea typeface="Arial"/>
                <a:cs typeface="Arial"/>
                <a:sym typeface="Arial"/>
              </a:rPr>
              <a:t>Accounts Receivable</a:t>
            </a:r>
            <a:endParaRPr b="0" sz="2100">
              <a:solidFill>
                <a:schemeClr val="dk1"/>
              </a:solidFill>
              <a:latin typeface="Arial"/>
              <a:ea typeface="Arial"/>
              <a:cs typeface="Arial"/>
              <a:sym typeface="Arial"/>
            </a:endParaRPr>
          </a:p>
        </p:txBody>
      </p:sp>
      <p:sp>
        <p:nvSpPr>
          <p:cNvPr id="576" name="Google Shape;576;p43"/>
          <p:cNvSpPr txBox="1"/>
          <p:nvPr/>
        </p:nvSpPr>
        <p:spPr>
          <a:xfrm>
            <a:off x="6096000" y="5835650"/>
            <a:ext cx="1219200" cy="412750"/>
          </a:xfrm>
          <a:prstGeom prst="rect">
            <a:avLst/>
          </a:prstGeom>
          <a:noFill/>
          <a:ln>
            <a:noFill/>
          </a:ln>
        </p:spPr>
        <p:txBody>
          <a:bodyPr anchorCtr="0" anchor="t" bIns="45700" lIns="274300" spcFirstLastPara="1" rIns="0" wrap="square" tIns="45700">
            <a:spAutoFit/>
          </a:bodyPr>
          <a:lstStyle/>
          <a:p>
            <a:pPr indent="0" lvl="0" marL="0" marR="0" rtl="0" algn="r">
              <a:spcBef>
                <a:spcPts val="0"/>
              </a:spcBef>
              <a:spcAft>
                <a:spcPts val="0"/>
              </a:spcAft>
              <a:buNone/>
            </a:pPr>
            <a:r>
              <a:rPr b="0" lang="en-US" sz="2100">
                <a:solidFill>
                  <a:schemeClr val="dk1"/>
                </a:solidFill>
                <a:latin typeface="Arial"/>
                <a:ea typeface="Arial"/>
                <a:cs typeface="Arial"/>
                <a:sym typeface="Arial"/>
              </a:rPr>
              <a:t>200</a:t>
            </a:r>
            <a:endParaRPr/>
          </a:p>
        </p:txBody>
      </p:sp>
      <p:sp>
        <p:nvSpPr>
          <p:cNvPr id="577" name="Google Shape;577;p43"/>
          <p:cNvSpPr txBox="1"/>
          <p:nvPr/>
        </p:nvSpPr>
        <p:spPr>
          <a:xfrm>
            <a:off x="1981200" y="5376863"/>
            <a:ext cx="3810000" cy="4127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2100">
                <a:solidFill>
                  <a:schemeClr val="dk1"/>
                </a:solidFill>
                <a:latin typeface="Arial"/>
                <a:ea typeface="Arial"/>
                <a:cs typeface="Arial"/>
                <a:sym typeface="Arial"/>
              </a:rPr>
              <a:t>Cash</a:t>
            </a:r>
            <a:endParaRPr/>
          </a:p>
        </p:txBody>
      </p:sp>
      <p:sp>
        <p:nvSpPr>
          <p:cNvPr id="578" name="Google Shape;578;p43"/>
          <p:cNvSpPr txBox="1"/>
          <p:nvPr/>
        </p:nvSpPr>
        <p:spPr>
          <a:xfrm>
            <a:off x="5105400" y="5376863"/>
            <a:ext cx="1219200" cy="412750"/>
          </a:xfrm>
          <a:prstGeom prst="rect">
            <a:avLst/>
          </a:prstGeom>
          <a:noFill/>
          <a:ln>
            <a:noFill/>
          </a:ln>
        </p:spPr>
        <p:txBody>
          <a:bodyPr anchorCtr="0" anchor="t" bIns="45700" lIns="274300" spcFirstLastPara="1" rIns="0" wrap="square" tIns="45700">
            <a:spAutoFit/>
          </a:bodyPr>
          <a:lstStyle/>
          <a:p>
            <a:pPr indent="0" lvl="0" marL="0" marR="0" rtl="0" algn="r">
              <a:spcBef>
                <a:spcPts val="0"/>
              </a:spcBef>
              <a:spcAft>
                <a:spcPts val="0"/>
              </a:spcAft>
              <a:buNone/>
            </a:pPr>
            <a:r>
              <a:rPr b="0" lang="en-US" sz="2100">
                <a:solidFill>
                  <a:schemeClr val="dk1"/>
                </a:solidFill>
                <a:latin typeface="Arial"/>
                <a:ea typeface="Arial"/>
                <a:cs typeface="Arial"/>
                <a:sym typeface="Arial"/>
              </a:rPr>
              <a:t>200</a:t>
            </a:r>
            <a:endParaRPr/>
          </a:p>
        </p:txBody>
      </p:sp>
      <p:sp>
        <p:nvSpPr>
          <p:cNvPr id="579" name="Google Shape;579;p43"/>
          <p:cNvSpPr txBox="1"/>
          <p:nvPr/>
        </p:nvSpPr>
        <p:spPr>
          <a:xfrm>
            <a:off x="609600" y="5376863"/>
            <a:ext cx="1219200" cy="412750"/>
          </a:xfrm>
          <a:prstGeom prst="rect">
            <a:avLst/>
          </a:prstGeom>
          <a:noFill/>
          <a:ln>
            <a:noFill/>
          </a:ln>
        </p:spPr>
        <p:txBody>
          <a:bodyPr anchorCtr="0" anchor="t" bIns="45700" lIns="91425" spcFirstLastPara="1" rIns="0" wrap="square" tIns="45700">
            <a:spAutoFit/>
          </a:bodyPr>
          <a:lstStyle/>
          <a:p>
            <a:pPr indent="0" lvl="0" marL="0" marR="0" rtl="0" algn="l">
              <a:spcBef>
                <a:spcPts val="0"/>
              </a:spcBef>
              <a:spcAft>
                <a:spcPts val="0"/>
              </a:spcAft>
              <a:buNone/>
            </a:pPr>
            <a:r>
              <a:rPr b="0" lang="en-US" sz="2100">
                <a:solidFill>
                  <a:schemeClr val="dk1"/>
                </a:solidFill>
                <a:latin typeface="Arial"/>
                <a:ea typeface="Arial"/>
                <a:cs typeface="Arial"/>
                <a:sym typeface="Arial"/>
              </a:rPr>
              <a:t>Nov. 10</a:t>
            </a:r>
            <a:endParaRPr/>
          </a:p>
        </p:txBody>
      </p:sp>
      <p:cxnSp>
        <p:nvCxnSpPr>
          <p:cNvPr id="580" name="Google Shape;580;p43"/>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581" name="Google Shape;581;p43"/>
          <p:cNvSpPr txBox="1"/>
          <p:nvPr/>
        </p:nvSpPr>
        <p:spPr>
          <a:xfrm>
            <a:off x="3810000" y="3276600"/>
            <a:ext cx="1219200" cy="412750"/>
          </a:xfrm>
          <a:prstGeom prst="rect">
            <a:avLst/>
          </a:prstGeom>
          <a:noFill/>
          <a:ln>
            <a:noFill/>
          </a:ln>
        </p:spPr>
        <p:txBody>
          <a:bodyPr anchorCtr="0" anchor="t" bIns="45700" lIns="274300" spcFirstLastPara="1" rIns="0" wrap="square" tIns="45700">
            <a:spAutoFit/>
          </a:bodyPr>
          <a:lstStyle/>
          <a:p>
            <a:pPr indent="0" lvl="0" marL="0" marR="0" rtl="0" algn="r">
              <a:spcBef>
                <a:spcPts val="0"/>
              </a:spcBef>
              <a:spcAft>
                <a:spcPts val="0"/>
              </a:spcAft>
              <a:buNone/>
            </a:pPr>
            <a:r>
              <a:rPr b="0" lang="en-US" sz="2100">
                <a:solidFill>
                  <a:schemeClr val="dk1"/>
                </a:solidFill>
                <a:latin typeface="Arial"/>
                <a:ea typeface="Arial"/>
                <a:cs typeface="Arial"/>
                <a:sym typeface="Arial"/>
              </a:rPr>
              <a:t>200</a:t>
            </a:r>
            <a:endParaRPr/>
          </a:p>
        </p:txBody>
      </p:sp>
      <p:sp>
        <p:nvSpPr>
          <p:cNvPr id="582" name="Google Shape;582;p43"/>
          <p:cNvSpPr txBox="1"/>
          <p:nvPr/>
        </p:nvSpPr>
        <p:spPr>
          <a:xfrm>
            <a:off x="609600" y="3735388"/>
            <a:ext cx="4876800" cy="412750"/>
          </a:xfrm>
          <a:prstGeom prst="rect">
            <a:avLst/>
          </a:prstGeom>
          <a:noFill/>
          <a:ln>
            <a:noFill/>
          </a:ln>
        </p:spPr>
        <p:txBody>
          <a:bodyPr anchorCtr="0" anchor="t" bIns="45700" lIns="91425" spcFirstLastPara="1" rIns="91425" wrap="square" tIns="45700">
            <a:spAutoFit/>
          </a:bodyPr>
          <a:lstStyle/>
          <a:p>
            <a:pPr indent="0" lvl="0" marL="457200" marR="0" rtl="0" algn="l">
              <a:spcBef>
                <a:spcPts val="0"/>
              </a:spcBef>
              <a:spcAft>
                <a:spcPts val="0"/>
              </a:spcAft>
              <a:buNone/>
            </a:pPr>
            <a:r>
              <a:rPr b="0" lang="en-US" sz="2100">
                <a:solidFill>
                  <a:schemeClr val="dk1"/>
                </a:solidFill>
                <a:latin typeface="Arial"/>
                <a:ea typeface="Arial"/>
                <a:cs typeface="Arial"/>
                <a:sym typeface="Arial"/>
              </a:rPr>
              <a:t>Service Revenue</a:t>
            </a:r>
            <a:endParaRPr b="0" sz="2100">
              <a:solidFill>
                <a:schemeClr val="dk1"/>
              </a:solidFill>
              <a:latin typeface="Arial"/>
              <a:ea typeface="Arial"/>
              <a:cs typeface="Arial"/>
              <a:sym typeface="Arial"/>
            </a:endParaRPr>
          </a:p>
        </p:txBody>
      </p:sp>
      <p:sp>
        <p:nvSpPr>
          <p:cNvPr id="583" name="Google Shape;583;p43"/>
          <p:cNvSpPr txBox="1"/>
          <p:nvPr/>
        </p:nvSpPr>
        <p:spPr>
          <a:xfrm>
            <a:off x="4800600" y="3735388"/>
            <a:ext cx="1219200" cy="412750"/>
          </a:xfrm>
          <a:prstGeom prst="rect">
            <a:avLst/>
          </a:prstGeom>
          <a:noFill/>
          <a:ln>
            <a:noFill/>
          </a:ln>
        </p:spPr>
        <p:txBody>
          <a:bodyPr anchorCtr="0" anchor="t" bIns="45700" lIns="274300" spcFirstLastPara="1" rIns="0" wrap="square" tIns="45700">
            <a:spAutoFit/>
          </a:bodyPr>
          <a:lstStyle/>
          <a:p>
            <a:pPr indent="0" lvl="0" marL="0" marR="0" rtl="0" algn="r">
              <a:spcBef>
                <a:spcPts val="0"/>
              </a:spcBef>
              <a:spcAft>
                <a:spcPts val="0"/>
              </a:spcAft>
              <a:buNone/>
            </a:pPr>
            <a:r>
              <a:rPr b="0" lang="en-US" sz="2100">
                <a:solidFill>
                  <a:schemeClr val="dk1"/>
                </a:solidFill>
                <a:latin typeface="Arial"/>
                <a:ea typeface="Arial"/>
                <a:cs typeface="Arial"/>
                <a:sym typeface="Arial"/>
              </a:rPr>
              <a:t>200</a:t>
            </a:r>
            <a:endParaRPr/>
          </a:p>
        </p:txBody>
      </p:sp>
      <p:sp>
        <p:nvSpPr>
          <p:cNvPr id="584" name="Google Shape;584;p43"/>
          <p:cNvSpPr txBox="1"/>
          <p:nvPr/>
        </p:nvSpPr>
        <p:spPr>
          <a:xfrm>
            <a:off x="609600" y="3276600"/>
            <a:ext cx="3810000" cy="4127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2100">
                <a:solidFill>
                  <a:schemeClr val="dk1"/>
                </a:solidFill>
                <a:latin typeface="Arial"/>
                <a:ea typeface="Arial"/>
                <a:cs typeface="Arial"/>
                <a:sym typeface="Arial"/>
              </a:rPr>
              <a:t>Accounts Receivable</a:t>
            </a:r>
            <a:endParaRPr b="0" sz="2100">
              <a:solidFill>
                <a:schemeClr val="dk1"/>
              </a:solidFill>
              <a:latin typeface="Arial"/>
              <a:ea typeface="Arial"/>
              <a:cs typeface="Arial"/>
              <a:sym typeface="Arial"/>
            </a:endParaRPr>
          </a:p>
        </p:txBody>
      </p:sp>
      <p:sp>
        <p:nvSpPr>
          <p:cNvPr id="585" name="Google Shape;585;p43"/>
          <p:cNvSpPr txBox="1"/>
          <p:nvPr/>
        </p:nvSpPr>
        <p:spPr>
          <a:xfrm>
            <a:off x="609600" y="2743200"/>
            <a:ext cx="1219200" cy="412750"/>
          </a:xfrm>
          <a:prstGeom prst="rect">
            <a:avLst/>
          </a:prstGeom>
          <a:noFill/>
          <a:ln>
            <a:noFill/>
          </a:ln>
        </p:spPr>
        <p:txBody>
          <a:bodyPr anchorCtr="0" anchor="t" bIns="45700" lIns="91425" spcFirstLastPara="1" rIns="0" wrap="square" tIns="45700">
            <a:spAutoFit/>
          </a:bodyPr>
          <a:lstStyle/>
          <a:p>
            <a:pPr indent="0" lvl="0" marL="0" marR="0" rtl="0" algn="l">
              <a:spcBef>
                <a:spcPts val="0"/>
              </a:spcBef>
              <a:spcAft>
                <a:spcPts val="0"/>
              </a:spcAft>
              <a:buNone/>
            </a:pPr>
            <a:r>
              <a:rPr b="0" lang="en-US" sz="2100">
                <a:solidFill>
                  <a:schemeClr val="dk1"/>
                </a:solidFill>
                <a:latin typeface="Arial"/>
                <a:ea typeface="Arial"/>
                <a:cs typeface="Arial"/>
                <a:sym typeface="Arial"/>
              </a:rPr>
              <a:t>Oct. 31</a:t>
            </a:r>
            <a:endParaRPr/>
          </a:p>
        </p:txBody>
      </p:sp>
      <p:sp>
        <p:nvSpPr>
          <p:cNvPr id="586" name="Google Shape;586;p43"/>
          <p:cNvSpPr txBox="1"/>
          <p:nvPr/>
        </p:nvSpPr>
        <p:spPr>
          <a:xfrm>
            <a:off x="609600" y="4318000"/>
            <a:ext cx="7924800" cy="86042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0" lang="en-US" sz="2100">
                <a:solidFill>
                  <a:schemeClr val="dk1"/>
                </a:solidFill>
                <a:latin typeface="Arial"/>
                <a:ea typeface="Arial"/>
                <a:cs typeface="Arial"/>
                <a:sym typeface="Arial"/>
              </a:rPr>
              <a:t>On November 10, Pioneer receives cash of $200 for the services performed.</a:t>
            </a:r>
            <a:endParaRPr/>
          </a:p>
        </p:txBody>
      </p:sp>
      <p:pic>
        <p:nvPicPr>
          <p:cNvPr id="587" name="Google Shape;587;p43"/>
          <p:cNvPicPr preferRelativeResize="0"/>
          <p:nvPr/>
        </p:nvPicPr>
        <p:blipFill rotWithShape="1">
          <a:blip r:embed="rId3">
            <a:alphaModFix/>
          </a:blip>
          <a:srcRect b="0" l="0" r="0" t="0"/>
          <a:stretch/>
        </p:blipFill>
        <p:spPr>
          <a:xfrm>
            <a:off x="6629400" y="1447800"/>
            <a:ext cx="2106613" cy="2490788"/>
          </a:xfrm>
          <a:prstGeom prst="rect">
            <a:avLst/>
          </a:prstGeom>
          <a:noFill/>
          <a:ln>
            <a:noFill/>
          </a:ln>
        </p:spPr>
      </p:pic>
      <p:sp>
        <p:nvSpPr>
          <p:cNvPr id="588" name="Google Shape;588;p43"/>
          <p:cNvSpPr/>
          <p:nvPr/>
        </p:nvSpPr>
        <p:spPr>
          <a:xfrm>
            <a:off x="609600" y="304800"/>
            <a:ext cx="82296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Accrued Revenues</a:t>
            </a:r>
            <a:endParaRPr b="1" sz="3200">
              <a:solidFill>
                <a:srgbClr val="0000BF"/>
              </a:solidFill>
              <a:latin typeface="Arial"/>
              <a:ea typeface="Arial"/>
              <a:cs typeface="Arial"/>
              <a:sym typeface="Arial"/>
            </a:endParaRPr>
          </a:p>
        </p:txBody>
      </p:sp>
      <p:sp>
        <p:nvSpPr>
          <p:cNvPr id="589" name="Google Shape;589;p43"/>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3</a:t>
            </a:r>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4"/>
                                        </p:tgtEl>
                                        <p:attrNameLst>
                                          <p:attrName>style.visibility</p:attrName>
                                        </p:attrNameLst>
                                      </p:cBhvr>
                                      <p:to>
                                        <p:strVal val="visible"/>
                                      </p:to>
                                    </p:set>
                                    <p:animEffect filter="fade" transition="in">
                                      <p:cBhvr>
                                        <p:cTn dur="500"/>
                                        <p:tgtEl>
                                          <p:spTgt spid="58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81"/>
                                        </p:tgtEl>
                                        <p:attrNameLst>
                                          <p:attrName>style.visibility</p:attrName>
                                        </p:attrNameLst>
                                      </p:cBhvr>
                                      <p:to>
                                        <p:strVal val="visible"/>
                                      </p:to>
                                    </p:set>
                                    <p:animEffect filter="fade" transition="in">
                                      <p:cBhvr>
                                        <p:cTn dur="500"/>
                                        <p:tgtEl>
                                          <p:spTgt spid="5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2"/>
                                        </p:tgtEl>
                                        <p:attrNameLst>
                                          <p:attrName>style.visibility</p:attrName>
                                        </p:attrNameLst>
                                      </p:cBhvr>
                                      <p:to>
                                        <p:strVal val="visible"/>
                                      </p:to>
                                    </p:set>
                                    <p:animEffect filter="fade" transition="in">
                                      <p:cBhvr>
                                        <p:cTn dur="500"/>
                                        <p:tgtEl>
                                          <p:spTgt spid="58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83"/>
                                        </p:tgtEl>
                                        <p:attrNameLst>
                                          <p:attrName>style.visibility</p:attrName>
                                        </p:attrNameLst>
                                      </p:cBhvr>
                                      <p:to>
                                        <p:strVal val="visible"/>
                                      </p:to>
                                    </p:set>
                                    <p:animEffect filter="fade" transition="in">
                                      <p:cBhvr>
                                        <p:cTn dur="500"/>
                                        <p:tgtEl>
                                          <p:spTgt spid="5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7"/>
                                        </p:tgtEl>
                                        <p:attrNameLst>
                                          <p:attrName>style.visibility</p:attrName>
                                        </p:attrNameLst>
                                      </p:cBhvr>
                                      <p:to>
                                        <p:strVal val="visible"/>
                                      </p:to>
                                    </p:set>
                                    <p:animEffect filter="fade" transition="in">
                                      <p:cBhvr>
                                        <p:cTn dur="500"/>
                                        <p:tgtEl>
                                          <p:spTgt spid="57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78"/>
                                        </p:tgtEl>
                                        <p:attrNameLst>
                                          <p:attrName>style.visibility</p:attrName>
                                        </p:attrNameLst>
                                      </p:cBhvr>
                                      <p:to>
                                        <p:strVal val="visible"/>
                                      </p:to>
                                    </p:set>
                                    <p:animEffect filter="fade" transition="in">
                                      <p:cBhvr>
                                        <p:cTn dur="500"/>
                                        <p:tgtEl>
                                          <p:spTgt spid="5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5"/>
                                        </p:tgtEl>
                                        <p:attrNameLst>
                                          <p:attrName>style.visibility</p:attrName>
                                        </p:attrNameLst>
                                      </p:cBhvr>
                                      <p:to>
                                        <p:strVal val="visible"/>
                                      </p:to>
                                    </p:set>
                                    <p:animEffect filter="fade" transition="in">
                                      <p:cBhvr>
                                        <p:cTn dur="500"/>
                                        <p:tgtEl>
                                          <p:spTgt spid="57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76"/>
                                        </p:tgtEl>
                                        <p:attrNameLst>
                                          <p:attrName>style.visibility</p:attrName>
                                        </p:attrNameLst>
                                      </p:cBhvr>
                                      <p:to>
                                        <p:strVal val="visible"/>
                                      </p:to>
                                    </p:set>
                                    <p:animEffect filter="fade" transition="in">
                                      <p:cBhvr>
                                        <p:cTn dur="500"/>
                                        <p:tgtEl>
                                          <p:spTgt spid="5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44"/>
          <p:cNvSpPr txBox="1"/>
          <p:nvPr/>
        </p:nvSpPr>
        <p:spPr>
          <a:xfrm>
            <a:off x="8077200" y="64452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3</a:t>
            </a:r>
            <a:endParaRPr/>
          </a:p>
        </p:txBody>
      </p:sp>
      <p:pic>
        <p:nvPicPr>
          <p:cNvPr id="595" name="Google Shape;595;p44"/>
          <p:cNvPicPr preferRelativeResize="0"/>
          <p:nvPr/>
        </p:nvPicPr>
        <p:blipFill rotWithShape="1">
          <a:blip r:embed="rId3">
            <a:alphaModFix/>
          </a:blip>
          <a:srcRect b="0" l="0" r="0" t="0"/>
          <a:stretch/>
        </p:blipFill>
        <p:spPr>
          <a:xfrm>
            <a:off x="685800" y="1295400"/>
            <a:ext cx="7772400" cy="5164138"/>
          </a:xfrm>
          <a:prstGeom prst="rect">
            <a:avLst/>
          </a:prstGeom>
          <a:noFill/>
          <a:ln>
            <a:noFill/>
          </a:ln>
        </p:spPr>
      </p:pic>
      <p:cxnSp>
        <p:nvCxnSpPr>
          <p:cNvPr id="596" name="Google Shape;596;p44"/>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597" name="Google Shape;597;p44"/>
          <p:cNvSpPr/>
          <p:nvPr/>
        </p:nvSpPr>
        <p:spPr>
          <a:xfrm>
            <a:off x="6553200" y="1173163"/>
            <a:ext cx="1524000" cy="27463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Illustration 3-14</a:t>
            </a:r>
            <a:endParaRPr/>
          </a:p>
        </p:txBody>
      </p:sp>
      <p:sp>
        <p:nvSpPr>
          <p:cNvPr id="598" name="Google Shape;598;p44"/>
          <p:cNvSpPr/>
          <p:nvPr/>
        </p:nvSpPr>
        <p:spPr>
          <a:xfrm>
            <a:off x="609600" y="304800"/>
            <a:ext cx="82296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Accrued Revenues</a:t>
            </a:r>
            <a:endParaRPr b="1" sz="3200">
              <a:solidFill>
                <a:srgbClr val="0000BF"/>
              </a:solidFill>
              <a:latin typeface="Arial"/>
              <a:ea typeface="Arial"/>
              <a:cs typeface="Arial"/>
              <a:sym typeface="Arial"/>
            </a:endParaRPr>
          </a:p>
        </p:txBody>
      </p:sp>
    </p:spTree>
  </p:cSld>
  <p:clrMapOvr>
    <a:masterClrMapping/>
  </p:clrMapOvr>
  <p:transition>
    <p:wipe dir="r"/>
  </p:transition>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45"/>
          <p:cNvSpPr txBox="1"/>
          <p:nvPr/>
        </p:nvSpPr>
        <p:spPr>
          <a:xfrm>
            <a:off x="7543800" y="1727200"/>
            <a:ext cx="1371600" cy="27463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200">
                <a:solidFill>
                  <a:schemeClr val="dk1"/>
                </a:solidFill>
                <a:latin typeface="Arial"/>
                <a:ea typeface="Arial"/>
                <a:cs typeface="Arial"/>
                <a:sym typeface="Arial"/>
              </a:rPr>
              <a:t>Illustration 3-15</a:t>
            </a:r>
            <a:endParaRPr/>
          </a:p>
        </p:txBody>
      </p:sp>
      <p:cxnSp>
        <p:nvCxnSpPr>
          <p:cNvPr id="604" name="Google Shape;604;p45"/>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605" name="Google Shape;605;p45"/>
          <p:cNvSpPr/>
          <p:nvPr/>
        </p:nvSpPr>
        <p:spPr>
          <a:xfrm>
            <a:off x="609600" y="304800"/>
            <a:ext cx="82296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Accrued Revenues</a:t>
            </a:r>
            <a:endParaRPr b="1" sz="3200">
              <a:solidFill>
                <a:srgbClr val="0000BF"/>
              </a:solidFill>
              <a:latin typeface="Arial"/>
              <a:ea typeface="Arial"/>
              <a:cs typeface="Arial"/>
              <a:sym typeface="Arial"/>
            </a:endParaRPr>
          </a:p>
        </p:txBody>
      </p:sp>
      <p:sp>
        <p:nvSpPr>
          <p:cNvPr id="606" name="Google Shape;606;p45"/>
          <p:cNvSpPr txBox="1"/>
          <p:nvPr/>
        </p:nvSpPr>
        <p:spPr>
          <a:xfrm>
            <a:off x="609600" y="1295400"/>
            <a:ext cx="7620000" cy="499367"/>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lang="en-US" sz="2300">
                <a:solidFill>
                  <a:schemeClr val="dk1"/>
                </a:solidFill>
                <a:latin typeface="Arial"/>
                <a:ea typeface="Arial"/>
                <a:cs typeface="Arial"/>
                <a:sym typeface="Arial"/>
              </a:rPr>
              <a:t>Summary of the accounting for accrued revenues.</a:t>
            </a:r>
            <a:endParaRPr b="0" sz="2300">
              <a:solidFill>
                <a:schemeClr val="dk1"/>
              </a:solidFill>
              <a:latin typeface="Arial"/>
              <a:ea typeface="Arial"/>
              <a:cs typeface="Arial"/>
              <a:sym typeface="Arial"/>
            </a:endParaRPr>
          </a:p>
        </p:txBody>
      </p:sp>
      <p:pic>
        <p:nvPicPr>
          <p:cNvPr id="607" name="Google Shape;607;p45"/>
          <p:cNvPicPr preferRelativeResize="0"/>
          <p:nvPr/>
        </p:nvPicPr>
        <p:blipFill rotWithShape="1">
          <a:blip r:embed="rId3">
            <a:alphaModFix/>
          </a:blip>
          <a:srcRect b="0" l="0" r="0" t="0"/>
          <a:stretch/>
        </p:blipFill>
        <p:spPr>
          <a:xfrm>
            <a:off x="304800" y="2057400"/>
            <a:ext cx="8534400" cy="2212357"/>
          </a:xfrm>
          <a:prstGeom prst="rect">
            <a:avLst/>
          </a:prstGeom>
          <a:noFill/>
          <a:ln cap="sq" cmpd="sng" w="19050">
            <a:solidFill>
              <a:schemeClr val="dk1"/>
            </a:solidFill>
            <a:prstDash val="solid"/>
            <a:miter lim="800000"/>
            <a:headEnd len="sm" w="sm" type="none"/>
            <a:tailEnd len="sm" w="sm" type="none"/>
          </a:ln>
        </p:spPr>
      </p:pic>
      <p:sp>
        <p:nvSpPr>
          <p:cNvPr id="608" name="Google Shape;608;p45"/>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3</a:t>
            </a:r>
            <a:endParaRPr/>
          </a:p>
        </p:txBody>
      </p:sp>
    </p:spTree>
  </p:cSld>
  <p:clrMapOvr>
    <a:masterClrMapping/>
  </p:clrMapOvr>
  <p:transition>
    <p:wipe dir="r"/>
  </p:transition>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46"/>
          <p:cNvSpPr txBox="1"/>
          <p:nvPr>
            <p:ph idx="4294967295" type="body"/>
          </p:nvPr>
        </p:nvSpPr>
        <p:spPr>
          <a:xfrm>
            <a:off x="533400" y="1295400"/>
            <a:ext cx="8305800" cy="533400"/>
          </a:xfrm>
          <a:prstGeom prst="rect">
            <a:avLst/>
          </a:prstGeom>
          <a:noFill/>
          <a:ln>
            <a:noFill/>
          </a:ln>
        </p:spPr>
        <p:txBody>
          <a:bodyPr anchorCtr="0" anchor="t" bIns="46025" lIns="182550" spcFirstLastPara="1" rIns="182550" wrap="square" tIns="46025">
            <a:noAutofit/>
          </a:bodyPr>
          <a:lstStyle/>
          <a:p>
            <a:pPr indent="0" lvl="0" marL="0" rtl="0" algn="l">
              <a:lnSpc>
                <a:spcPct val="110000"/>
              </a:lnSpc>
              <a:spcBef>
                <a:spcPts val="0"/>
              </a:spcBef>
              <a:spcAft>
                <a:spcPts val="0"/>
              </a:spcAft>
              <a:buClr>
                <a:srgbClr val="006666"/>
              </a:buClr>
              <a:buSzPts val="2300"/>
              <a:buFont typeface="Arial"/>
              <a:buNone/>
            </a:pPr>
            <a:r>
              <a:rPr lang="en-US" sz="2300">
                <a:latin typeface="Arial"/>
                <a:ea typeface="Arial"/>
                <a:cs typeface="Arial"/>
                <a:sym typeface="Arial"/>
              </a:rPr>
              <a:t>Expenses incurred but not yet paid in cash or recorded.</a:t>
            </a:r>
            <a:endParaRPr/>
          </a:p>
        </p:txBody>
      </p:sp>
      <p:sp>
        <p:nvSpPr>
          <p:cNvPr id="614" name="Google Shape;614;p46"/>
          <p:cNvSpPr/>
          <p:nvPr/>
        </p:nvSpPr>
        <p:spPr>
          <a:xfrm>
            <a:off x="609600" y="3711575"/>
            <a:ext cx="3048000" cy="923330"/>
          </a:xfrm>
          <a:prstGeom prst="rect">
            <a:avLst/>
          </a:prstGeom>
          <a:noFill/>
          <a:ln>
            <a:noFill/>
          </a:ln>
        </p:spPr>
        <p:txBody>
          <a:bodyPr anchorCtr="0" anchor="t" bIns="45700" lIns="91425" spcFirstLastPara="1" rIns="91425" wrap="square" tIns="45700">
            <a:spAutoFit/>
          </a:bodyPr>
          <a:lstStyle/>
          <a:p>
            <a:pPr indent="-457199" lvl="1" marL="693738" marR="0" rtl="0" algn="l">
              <a:spcBef>
                <a:spcPts val="0"/>
              </a:spcBef>
              <a:spcAft>
                <a:spcPts val="0"/>
              </a:spcAft>
              <a:buClr>
                <a:srgbClr val="800000"/>
              </a:buClr>
              <a:buSzPts val="1760"/>
              <a:buFont typeface="Noto Sans Symbols"/>
              <a:buChar char="◆"/>
            </a:pPr>
            <a:r>
              <a:rPr b="0" i="0" lang="en-US" sz="2200" u="none" cap="none" strike="noStrike">
                <a:solidFill>
                  <a:schemeClr val="lt2"/>
                </a:solidFill>
                <a:latin typeface="Arial"/>
                <a:ea typeface="Arial"/>
                <a:cs typeface="Arial"/>
                <a:sym typeface="Arial"/>
              </a:rPr>
              <a:t>Rent</a:t>
            </a:r>
            <a:endParaRPr/>
          </a:p>
          <a:p>
            <a:pPr indent="-457199" lvl="1" marL="693738" marR="0" rtl="0" algn="l">
              <a:spcBef>
                <a:spcPts val="1200"/>
              </a:spcBef>
              <a:spcAft>
                <a:spcPts val="0"/>
              </a:spcAft>
              <a:buClr>
                <a:srgbClr val="800000"/>
              </a:buClr>
              <a:buSzPts val="1760"/>
              <a:buFont typeface="Noto Sans Symbols"/>
              <a:buChar char="◆"/>
            </a:pPr>
            <a:r>
              <a:rPr b="0" i="0" lang="en-US" sz="2200" u="none" cap="none" strike="noStrike">
                <a:solidFill>
                  <a:schemeClr val="lt2"/>
                </a:solidFill>
                <a:latin typeface="Arial"/>
                <a:ea typeface="Arial"/>
                <a:cs typeface="Arial"/>
                <a:sym typeface="Arial"/>
              </a:rPr>
              <a:t>Interest</a:t>
            </a:r>
            <a:endParaRPr b="0" i="0" sz="2200" u="none" cap="none" strike="noStrike">
              <a:solidFill>
                <a:schemeClr val="lt2"/>
              </a:solidFill>
              <a:latin typeface="Arial"/>
              <a:ea typeface="Arial"/>
              <a:cs typeface="Arial"/>
              <a:sym typeface="Arial"/>
            </a:endParaRPr>
          </a:p>
        </p:txBody>
      </p:sp>
      <p:sp>
        <p:nvSpPr>
          <p:cNvPr id="615" name="Google Shape;615;p46"/>
          <p:cNvSpPr/>
          <p:nvPr/>
        </p:nvSpPr>
        <p:spPr>
          <a:xfrm>
            <a:off x="3276600" y="3690938"/>
            <a:ext cx="4800600" cy="923330"/>
          </a:xfrm>
          <a:prstGeom prst="rect">
            <a:avLst/>
          </a:prstGeom>
          <a:noFill/>
          <a:ln>
            <a:noFill/>
          </a:ln>
        </p:spPr>
        <p:txBody>
          <a:bodyPr anchorCtr="0" anchor="t" bIns="45700" lIns="91425" spcFirstLastPara="1" rIns="91425" wrap="square" tIns="45700">
            <a:spAutoFit/>
          </a:bodyPr>
          <a:lstStyle/>
          <a:p>
            <a:pPr indent="-457199" lvl="1" marL="693738" marR="0" rtl="0" algn="l">
              <a:spcBef>
                <a:spcPts val="0"/>
              </a:spcBef>
              <a:spcAft>
                <a:spcPts val="0"/>
              </a:spcAft>
              <a:buClr>
                <a:srgbClr val="800000"/>
              </a:buClr>
              <a:buSzPts val="1760"/>
              <a:buFont typeface="Noto Sans Symbols"/>
              <a:buChar char="◆"/>
            </a:pPr>
            <a:r>
              <a:rPr b="0" i="0" lang="en-US" sz="2200" u="none" cap="none" strike="noStrike">
                <a:solidFill>
                  <a:schemeClr val="lt2"/>
                </a:solidFill>
                <a:latin typeface="Arial"/>
                <a:ea typeface="Arial"/>
                <a:cs typeface="Arial"/>
                <a:sym typeface="Arial"/>
              </a:rPr>
              <a:t>Taxes</a:t>
            </a:r>
            <a:endParaRPr/>
          </a:p>
          <a:p>
            <a:pPr indent="-457199" lvl="1" marL="693738" marR="0" rtl="0" algn="l">
              <a:spcBef>
                <a:spcPts val="1200"/>
              </a:spcBef>
              <a:spcAft>
                <a:spcPts val="0"/>
              </a:spcAft>
              <a:buClr>
                <a:srgbClr val="800000"/>
              </a:buClr>
              <a:buSzPts val="1760"/>
              <a:buFont typeface="Noto Sans Symbols"/>
              <a:buChar char="◆"/>
            </a:pPr>
            <a:r>
              <a:rPr b="0" i="0" lang="en-US" sz="2200" u="none" cap="none" strike="noStrike">
                <a:solidFill>
                  <a:schemeClr val="lt2"/>
                </a:solidFill>
                <a:latin typeface="Arial"/>
                <a:ea typeface="Arial"/>
                <a:cs typeface="Arial"/>
                <a:sym typeface="Arial"/>
              </a:rPr>
              <a:t>Salaries</a:t>
            </a:r>
            <a:endParaRPr/>
          </a:p>
        </p:txBody>
      </p:sp>
      <p:sp>
        <p:nvSpPr>
          <p:cNvPr id="616" name="Google Shape;616;p46"/>
          <p:cNvSpPr/>
          <p:nvPr/>
        </p:nvSpPr>
        <p:spPr>
          <a:xfrm>
            <a:off x="609600" y="3124200"/>
            <a:ext cx="6324600" cy="446276"/>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None/>
            </a:pPr>
            <a:r>
              <a:rPr b="1" lang="en-US" sz="2300">
                <a:solidFill>
                  <a:schemeClr val="lt2"/>
                </a:solidFill>
                <a:latin typeface="Arial"/>
                <a:ea typeface="Arial"/>
                <a:cs typeface="Arial"/>
                <a:sym typeface="Arial"/>
              </a:rPr>
              <a:t>Accrued expenses </a:t>
            </a:r>
            <a:r>
              <a:rPr b="0" lang="en-US" sz="2300">
                <a:solidFill>
                  <a:schemeClr val="lt2"/>
                </a:solidFill>
                <a:latin typeface="Arial"/>
                <a:ea typeface="Arial"/>
                <a:cs typeface="Arial"/>
                <a:sym typeface="Arial"/>
              </a:rPr>
              <a:t>often occur in regard to:</a:t>
            </a:r>
            <a:endParaRPr/>
          </a:p>
        </p:txBody>
      </p:sp>
      <p:cxnSp>
        <p:nvCxnSpPr>
          <p:cNvPr id="617" name="Google Shape;617;p46"/>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618" name="Google Shape;618;p46"/>
          <p:cNvSpPr txBox="1"/>
          <p:nvPr/>
        </p:nvSpPr>
        <p:spPr>
          <a:xfrm>
            <a:off x="4038600" y="2209800"/>
            <a:ext cx="1447800" cy="442913"/>
          </a:xfrm>
          <a:prstGeom prst="rect">
            <a:avLst/>
          </a:prstGeom>
          <a:noFill/>
          <a:ln>
            <a:noFill/>
          </a:ln>
        </p:spPr>
        <p:txBody>
          <a:bodyPr anchorCtr="0" anchor="t" bIns="45700" lIns="91425" spcFirstLastPara="1" rIns="91425" wrap="square" tIns="45700">
            <a:spAutoFit/>
          </a:bodyPr>
          <a:lstStyle/>
          <a:p>
            <a:pPr indent="-457200" lvl="0" marL="457200" marR="0" rtl="0" algn="ctr">
              <a:spcBef>
                <a:spcPts val="0"/>
              </a:spcBef>
              <a:spcAft>
                <a:spcPts val="0"/>
              </a:spcAft>
              <a:buNone/>
            </a:pPr>
            <a:r>
              <a:rPr b="1" lang="en-US" sz="2300">
                <a:solidFill>
                  <a:srgbClr val="800000"/>
                </a:solidFill>
                <a:latin typeface="Arial"/>
                <a:ea typeface="Arial"/>
                <a:cs typeface="Arial"/>
                <a:sym typeface="Arial"/>
              </a:rPr>
              <a:t>BEFORE</a:t>
            </a:r>
            <a:endParaRPr/>
          </a:p>
        </p:txBody>
      </p:sp>
      <p:sp>
        <p:nvSpPr>
          <p:cNvPr id="619" name="Google Shape;619;p46"/>
          <p:cNvSpPr txBox="1"/>
          <p:nvPr/>
        </p:nvSpPr>
        <p:spPr>
          <a:xfrm>
            <a:off x="5638800" y="2209800"/>
            <a:ext cx="2667000" cy="492443"/>
          </a:xfrm>
          <a:prstGeom prst="rect">
            <a:avLst/>
          </a:prstGeom>
          <a:solidFill>
            <a:srgbClr val="FFFF99"/>
          </a:solidFill>
          <a:ln cap="flat" cmpd="sng" w="28575">
            <a:solidFill>
              <a:schemeClr val="dk1"/>
            </a:solidFill>
            <a:prstDash val="solid"/>
            <a:miter lim="800000"/>
            <a:headEnd len="sm" w="sm" type="none"/>
            <a:tailEnd len="sm" w="sm" type="none"/>
          </a:ln>
        </p:spPr>
        <p:txBody>
          <a:bodyPr anchorCtr="0" anchor="t" bIns="91425" lIns="91425" spcFirstLastPara="1" rIns="91425" wrap="square" tIns="45700">
            <a:spAutoFit/>
          </a:bodyPr>
          <a:lstStyle/>
          <a:p>
            <a:pPr indent="-457200" lvl="0" marL="457200" marR="0" rtl="0" algn="ctr">
              <a:spcBef>
                <a:spcPts val="0"/>
              </a:spcBef>
              <a:spcAft>
                <a:spcPts val="0"/>
              </a:spcAft>
              <a:buNone/>
            </a:pPr>
            <a:r>
              <a:rPr b="1" lang="en-US" sz="2300">
                <a:solidFill>
                  <a:schemeClr val="dk1"/>
                </a:solidFill>
                <a:latin typeface="Arial"/>
                <a:ea typeface="Arial"/>
                <a:cs typeface="Arial"/>
                <a:sym typeface="Arial"/>
              </a:rPr>
              <a:t>Cash Payment</a:t>
            </a:r>
            <a:endParaRPr/>
          </a:p>
        </p:txBody>
      </p:sp>
      <p:sp>
        <p:nvSpPr>
          <p:cNvPr id="620" name="Google Shape;620;p46"/>
          <p:cNvSpPr txBox="1"/>
          <p:nvPr/>
        </p:nvSpPr>
        <p:spPr>
          <a:xfrm>
            <a:off x="762000" y="2209800"/>
            <a:ext cx="3135313" cy="492443"/>
          </a:xfrm>
          <a:prstGeom prst="rect">
            <a:avLst/>
          </a:prstGeom>
          <a:solidFill>
            <a:srgbClr val="FFFF99"/>
          </a:solidFill>
          <a:ln cap="flat" cmpd="sng" w="28575">
            <a:solidFill>
              <a:schemeClr val="dk1"/>
            </a:solidFill>
            <a:prstDash val="solid"/>
            <a:miter lim="800000"/>
            <a:headEnd len="sm" w="sm" type="none"/>
            <a:tailEnd len="sm" w="sm" type="none"/>
          </a:ln>
        </p:spPr>
        <p:txBody>
          <a:bodyPr anchorCtr="0" anchor="t" bIns="91425" lIns="91425" spcFirstLastPara="1" rIns="91425" wrap="square" tIns="45700">
            <a:spAutoFit/>
          </a:bodyPr>
          <a:lstStyle/>
          <a:p>
            <a:pPr indent="-457200" lvl="0" marL="457200" marR="0" rtl="0" algn="ctr">
              <a:spcBef>
                <a:spcPts val="0"/>
              </a:spcBef>
              <a:spcAft>
                <a:spcPts val="0"/>
              </a:spcAft>
              <a:buNone/>
            </a:pPr>
            <a:r>
              <a:rPr b="1" lang="en-US" sz="2300">
                <a:solidFill>
                  <a:schemeClr val="dk1"/>
                </a:solidFill>
                <a:latin typeface="Arial"/>
                <a:ea typeface="Arial"/>
                <a:cs typeface="Arial"/>
                <a:sym typeface="Arial"/>
              </a:rPr>
              <a:t>Expense Recorded</a:t>
            </a:r>
            <a:endParaRPr/>
          </a:p>
        </p:txBody>
      </p:sp>
      <p:sp>
        <p:nvSpPr>
          <p:cNvPr id="621" name="Google Shape;621;p46"/>
          <p:cNvSpPr/>
          <p:nvPr/>
        </p:nvSpPr>
        <p:spPr>
          <a:xfrm>
            <a:off x="609600" y="304800"/>
            <a:ext cx="82296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Accrued Expenses</a:t>
            </a:r>
            <a:endParaRPr b="1" sz="3200">
              <a:solidFill>
                <a:srgbClr val="0000BF"/>
              </a:solidFill>
              <a:latin typeface="Arial"/>
              <a:ea typeface="Arial"/>
              <a:cs typeface="Arial"/>
              <a:sym typeface="Arial"/>
            </a:endParaRPr>
          </a:p>
        </p:txBody>
      </p:sp>
      <p:sp>
        <p:nvSpPr>
          <p:cNvPr id="622" name="Google Shape;622;p46"/>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3</a:t>
            </a:r>
            <a:endParaRPr/>
          </a:p>
        </p:txBody>
      </p:sp>
    </p:spTree>
  </p:cSld>
  <p:clrMapOvr>
    <a:masterClrMapping/>
  </p:clrMapOvr>
  <p:transition>
    <p:wipe dir="r"/>
  </p:transition>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47"/>
          <p:cNvSpPr txBox="1"/>
          <p:nvPr/>
        </p:nvSpPr>
        <p:spPr>
          <a:xfrm>
            <a:off x="609600" y="1295400"/>
            <a:ext cx="8001000" cy="2566280"/>
          </a:xfrm>
          <a:prstGeom prst="rect">
            <a:avLst/>
          </a:prstGeom>
          <a:noFill/>
          <a:ln>
            <a:noFill/>
          </a:ln>
        </p:spPr>
        <p:txBody>
          <a:bodyPr anchorCtr="0" anchor="t" bIns="45700" lIns="91425" spcFirstLastPara="1" rIns="91425" wrap="square" tIns="45700">
            <a:spAutoFit/>
          </a:bodyPr>
          <a:lstStyle/>
          <a:p>
            <a:pPr indent="-457200" lvl="0" marL="693738" marR="0" rtl="0" algn="l">
              <a:lnSpc>
                <a:spcPct val="120000"/>
              </a:lnSpc>
              <a:spcBef>
                <a:spcPts val="0"/>
              </a:spcBef>
              <a:spcAft>
                <a:spcPts val="0"/>
              </a:spcAft>
              <a:buClr>
                <a:srgbClr val="800000"/>
              </a:buClr>
              <a:buSzPts val="1840"/>
              <a:buFont typeface="Noto Sans Symbols"/>
              <a:buChar char="◆"/>
            </a:pPr>
            <a:r>
              <a:rPr b="0" lang="en-US" sz="2300">
                <a:solidFill>
                  <a:schemeClr val="dk1"/>
                </a:solidFill>
                <a:latin typeface="Arial"/>
                <a:ea typeface="Arial"/>
                <a:cs typeface="Arial"/>
                <a:sym typeface="Arial"/>
              </a:rPr>
              <a:t>Adjusting entry records the obligation and recognizes the expense.</a:t>
            </a:r>
            <a:endParaRPr/>
          </a:p>
          <a:p>
            <a:pPr indent="-457200" lvl="0" marL="693738" marR="0" rtl="0" algn="l">
              <a:lnSpc>
                <a:spcPct val="120000"/>
              </a:lnSpc>
              <a:spcBef>
                <a:spcPts val="1150"/>
              </a:spcBef>
              <a:spcAft>
                <a:spcPts val="0"/>
              </a:spcAft>
              <a:buClr>
                <a:srgbClr val="800000"/>
              </a:buClr>
              <a:buSzPts val="1840"/>
              <a:buFont typeface="Noto Sans Symbols"/>
              <a:buChar char="◆"/>
            </a:pPr>
            <a:r>
              <a:rPr b="0" lang="en-US" sz="2300">
                <a:solidFill>
                  <a:schemeClr val="dk1"/>
                </a:solidFill>
                <a:latin typeface="Arial"/>
                <a:ea typeface="Arial"/>
                <a:cs typeface="Arial"/>
                <a:sym typeface="Arial"/>
              </a:rPr>
              <a:t>Adjusting entry: </a:t>
            </a:r>
            <a:endParaRPr/>
          </a:p>
          <a:p>
            <a:pPr indent="-457200" lvl="1" marL="1371600" marR="0" rtl="0" algn="l">
              <a:lnSpc>
                <a:spcPct val="120000"/>
              </a:lnSpc>
              <a:spcBef>
                <a:spcPts val="660"/>
              </a:spcBef>
              <a:spcAft>
                <a:spcPts val="0"/>
              </a:spcAft>
              <a:buClr>
                <a:srgbClr val="800000"/>
              </a:buClr>
              <a:buSzPts val="1760"/>
              <a:buFont typeface="Arial"/>
              <a:buChar char="►"/>
            </a:pPr>
            <a:r>
              <a:rPr b="1" i="0" lang="en-US" sz="2200" u="none" cap="none" strike="noStrike">
                <a:solidFill>
                  <a:schemeClr val="dk1"/>
                </a:solidFill>
                <a:latin typeface="Arial"/>
                <a:ea typeface="Arial"/>
                <a:cs typeface="Arial"/>
                <a:sym typeface="Arial"/>
              </a:rPr>
              <a:t>Increase</a:t>
            </a:r>
            <a:r>
              <a:rPr b="0" i="0" lang="en-US" sz="2200" u="none" cap="none" strike="noStrike">
                <a:solidFill>
                  <a:schemeClr val="dk1"/>
                </a:solidFill>
                <a:latin typeface="Arial"/>
                <a:ea typeface="Arial"/>
                <a:cs typeface="Arial"/>
                <a:sym typeface="Arial"/>
              </a:rPr>
              <a:t> (debit) an </a:t>
            </a:r>
            <a:r>
              <a:rPr b="1" i="0" lang="en-US" sz="2200" u="none" cap="none" strike="noStrike">
                <a:solidFill>
                  <a:schemeClr val="dk1"/>
                </a:solidFill>
                <a:latin typeface="Arial"/>
                <a:ea typeface="Arial"/>
                <a:cs typeface="Arial"/>
                <a:sym typeface="Arial"/>
              </a:rPr>
              <a:t>expense account</a:t>
            </a:r>
            <a:r>
              <a:rPr b="0" i="0" lang="en-US" sz="2200" u="none" cap="none" strike="noStrike">
                <a:solidFill>
                  <a:schemeClr val="dk1"/>
                </a:solidFill>
                <a:latin typeface="Arial"/>
                <a:ea typeface="Arial"/>
                <a:cs typeface="Arial"/>
                <a:sym typeface="Arial"/>
              </a:rPr>
              <a:t> and </a:t>
            </a:r>
            <a:endParaRPr/>
          </a:p>
          <a:p>
            <a:pPr indent="-457200" lvl="1" marL="1371600" marR="0" rtl="0" algn="l">
              <a:lnSpc>
                <a:spcPct val="120000"/>
              </a:lnSpc>
              <a:spcBef>
                <a:spcPts val="660"/>
              </a:spcBef>
              <a:spcAft>
                <a:spcPts val="0"/>
              </a:spcAft>
              <a:buClr>
                <a:srgbClr val="800000"/>
              </a:buClr>
              <a:buSzPts val="1760"/>
              <a:buFont typeface="Arial"/>
              <a:buChar char="►"/>
            </a:pPr>
            <a:r>
              <a:rPr b="1" i="0" lang="en-US" sz="2200" u="none" cap="none" strike="noStrike">
                <a:solidFill>
                  <a:schemeClr val="dk1"/>
                </a:solidFill>
                <a:latin typeface="Arial"/>
                <a:ea typeface="Arial"/>
                <a:cs typeface="Arial"/>
                <a:sym typeface="Arial"/>
              </a:rPr>
              <a:t>Increase</a:t>
            </a:r>
            <a:r>
              <a:rPr b="0" i="0" lang="en-US" sz="2200" u="none" cap="none" strike="noStrike">
                <a:solidFill>
                  <a:schemeClr val="dk1"/>
                </a:solidFill>
                <a:latin typeface="Arial"/>
                <a:ea typeface="Arial"/>
                <a:cs typeface="Arial"/>
                <a:sym typeface="Arial"/>
              </a:rPr>
              <a:t> (credit) a </a:t>
            </a:r>
            <a:r>
              <a:rPr b="1" i="0" lang="en-US" sz="2200" u="none" cap="none" strike="noStrike">
                <a:solidFill>
                  <a:schemeClr val="dk1"/>
                </a:solidFill>
                <a:latin typeface="Arial"/>
                <a:ea typeface="Arial"/>
                <a:cs typeface="Arial"/>
                <a:sym typeface="Arial"/>
              </a:rPr>
              <a:t>liability account</a:t>
            </a:r>
            <a:r>
              <a:rPr b="0" i="0" lang="en-US" sz="2200" u="none" cap="none" strike="noStrike">
                <a:solidFill>
                  <a:schemeClr val="dk1"/>
                </a:solidFill>
                <a:latin typeface="Arial"/>
                <a:ea typeface="Arial"/>
                <a:cs typeface="Arial"/>
                <a:sym typeface="Arial"/>
              </a:rPr>
              <a:t>.</a:t>
            </a:r>
            <a:endParaRPr/>
          </a:p>
        </p:txBody>
      </p:sp>
      <p:cxnSp>
        <p:nvCxnSpPr>
          <p:cNvPr id="628" name="Google Shape;628;p47"/>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pic>
        <p:nvPicPr>
          <p:cNvPr id="629" name="Google Shape;629;p47"/>
          <p:cNvPicPr preferRelativeResize="0"/>
          <p:nvPr/>
        </p:nvPicPr>
        <p:blipFill rotWithShape="1">
          <a:blip r:embed="rId3">
            <a:alphaModFix/>
          </a:blip>
          <a:srcRect b="0" l="0" r="0" t="0"/>
          <a:stretch/>
        </p:blipFill>
        <p:spPr>
          <a:xfrm>
            <a:off x="1447800" y="4038600"/>
            <a:ext cx="6198802" cy="2438400"/>
          </a:xfrm>
          <a:prstGeom prst="rect">
            <a:avLst/>
          </a:prstGeom>
          <a:noFill/>
          <a:ln>
            <a:noFill/>
          </a:ln>
        </p:spPr>
      </p:pic>
      <p:sp>
        <p:nvSpPr>
          <p:cNvPr id="630" name="Google Shape;630;p47"/>
          <p:cNvSpPr/>
          <p:nvPr/>
        </p:nvSpPr>
        <p:spPr>
          <a:xfrm>
            <a:off x="609600" y="304800"/>
            <a:ext cx="82296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Accrued Expenses</a:t>
            </a:r>
            <a:endParaRPr b="1" sz="3200">
              <a:solidFill>
                <a:srgbClr val="0000BF"/>
              </a:solidFill>
              <a:latin typeface="Arial"/>
              <a:ea typeface="Arial"/>
              <a:cs typeface="Arial"/>
              <a:sym typeface="Arial"/>
            </a:endParaRPr>
          </a:p>
        </p:txBody>
      </p:sp>
      <p:sp>
        <p:nvSpPr>
          <p:cNvPr id="631" name="Google Shape;631;p47"/>
          <p:cNvSpPr/>
          <p:nvPr/>
        </p:nvSpPr>
        <p:spPr>
          <a:xfrm>
            <a:off x="6934200" y="4038600"/>
            <a:ext cx="1524000" cy="274637"/>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200">
                <a:solidFill>
                  <a:schemeClr val="dk1"/>
                </a:solidFill>
                <a:latin typeface="Arial"/>
                <a:ea typeface="Arial"/>
                <a:cs typeface="Arial"/>
                <a:sym typeface="Arial"/>
              </a:rPr>
              <a:t>Illustration 3-16</a:t>
            </a:r>
            <a:endParaRPr/>
          </a:p>
        </p:txBody>
      </p:sp>
      <p:sp>
        <p:nvSpPr>
          <p:cNvPr id="632" name="Google Shape;632;p47"/>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3</a:t>
            </a:r>
            <a:endParaRPr/>
          </a:p>
        </p:txBody>
      </p:sp>
    </p:spTree>
  </p:cSld>
  <p:clrMapOvr>
    <a:masterClrMapping/>
  </p:clrMapOvr>
  <p:transition>
    <p:wipe dir="r"/>
  </p:transition>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pic>
        <p:nvPicPr>
          <p:cNvPr id="637" name="Google Shape;637;p48"/>
          <p:cNvPicPr preferRelativeResize="0"/>
          <p:nvPr/>
        </p:nvPicPr>
        <p:blipFill rotWithShape="1">
          <a:blip r:embed="rId3">
            <a:alphaModFix/>
          </a:blip>
          <a:srcRect b="0" l="0" r="0" t="0"/>
          <a:stretch/>
        </p:blipFill>
        <p:spPr>
          <a:xfrm>
            <a:off x="685800" y="3581400"/>
            <a:ext cx="7924800" cy="1316038"/>
          </a:xfrm>
          <a:prstGeom prst="rect">
            <a:avLst/>
          </a:prstGeom>
          <a:noFill/>
          <a:ln>
            <a:noFill/>
          </a:ln>
        </p:spPr>
      </p:pic>
      <p:sp>
        <p:nvSpPr>
          <p:cNvPr id="638" name="Google Shape;638;p48"/>
          <p:cNvSpPr txBox="1"/>
          <p:nvPr/>
        </p:nvSpPr>
        <p:spPr>
          <a:xfrm>
            <a:off x="609600" y="1905000"/>
            <a:ext cx="8077200" cy="1244600"/>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en-US" sz="2100">
                <a:solidFill>
                  <a:schemeClr val="dk1"/>
                </a:solidFill>
                <a:latin typeface="Arial"/>
                <a:ea typeface="Arial"/>
                <a:cs typeface="Arial"/>
                <a:sym typeface="Arial"/>
              </a:rPr>
              <a:t>Illustration:  </a:t>
            </a:r>
            <a:r>
              <a:rPr b="0" lang="en-US" sz="2100">
                <a:solidFill>
                  <a:schemeClr val="dk1"/>
                </a:solidFill>
                <a:latin typeface="Arial"/>
                <a:ea typeface="Arial"/>
                <a:cs typeface="Arial"/>
                <a:sym typeface="Arial"/>
              </a:rPr>
              <a:t>Pioneer Advertising signed a three-month note payable in the amount of $5,000 on October 1. The note requires Pioneer to pay interest at an annual rate of 12%.</a:t>
            </a:r>
            <a:endParaRPr/>
          </a:p>
        </p:txBody>
      </p:sp>
      <p:sp>
        <p:nvSpPr>
          <p:cNvPr id="639" name="Google Shape;639;p48"/>
          <p:cNvSpPr txBox="1"/>
          <p:nvPr/>
        </p:nvSpPr>
        <p:spPr>
          <a:xfrm>
            <a:off x="1981200" y="5716588"/>
            <a:ext cx="3505200" cy="412750"/>
          </a:xfrm>
          <a:prstGeom prst="rect">
            <a:avLst/>
          </a:prstGeom>
          <a:noFill/>
          <a:ln>
            <a:noFill/>
          </a:ln>
        </p:spPr>
        <p:txBody>
          <a:bodyPr anchorCtr="0" anchor="t" bIns="45700" lIns="91425" spcFirstLastPara="1" rIns="91425" wrap="square" tIns="45700">
            <a:spAutoFit/>
          </a:bodyPr>
          <a:lstStyle/>
          <a:p>
            <a:pPr indent="0" lvl="0" marL="457200" marR="0" rtl="0" algn="l">
              <a:spcBef>
                <a:spcPts val="0"/>
              </a:spcBef>
              <a:spcAft>
                <a:spcPts val="0"/>
              </a:spcAft>
              <a:buNone/>
            </a:pPr>
            <a:r>
              <a:rPr b="0" lang="en-US" sz="2100">
                <a:solidFill>
                  <a:schemeClr val="dk1"/>
                </a:solidFill>
                <a:latin typeface="Arial"/>
                <a:ea typeface="Arial"/>
                <a:cs typeface="Arial"/>
                <a:sym typeface="Arial"/>
              </a:rPr>
              <a:t>Interest payable</a:t>
            </a:r>
            <a:endParaRPr/>
          </a:p>
        </p:txBody>
      </p:sp>
      <p:sp>
        <p:nvSpPr>
          <p:cNvPr id="640" name="Google Shape;640;p48"/>
          <p:cNvSpPr txBox="1"/>
          <p:nvPr/>
        </p:nvSpPr>
        <p:spPr>
          <a:xfrm>
            <a:off x="6324600" y="5716588"/>
            <a:ext cx="1219200" cy="412750"/>
          </a:xfrm>
          <a:prstGeom prst="rect">
            <a:avLst/>
          </a:prstGeom>
          <a:noFill/>
          <a:ln>
            <a:noFill/>
          </a:ln>
        </p:spPr>
        <p:txBody>
          <a:bodyPr anchorCtr="0" anchor="t" bIns="45700" lIns="274300" spcFirstLastPara="1" rIns="0" wrap="square" tIns="45700">
            <a:spAutoFit/>
          </a:bodyPr>
          <a:lstStyle/>
          <a:p>
            <a:pPr indent="0" lvl="0" marL="0" marR="0" rtl="0" algn="r">
              <a:spcBef>
                <a:spcPts val="0"/>
              </a:spcBef>
              <a:spcAft>
                <a:spcPts val="0"/>
              </a:spcAft>
              <a:buNone/>
            </a:pPr>
            <a:r>
              <a:rPr b="0" lang="en-US" sz="2100">
                <a:solidFill>
                  <a:schemeClr val="dk1"/>
                </a:solidFill>
                <a:latin typeface="Arial"/>
                <a:ea typeface="Arial"/>
                <a:cs typeface="Arial"/>
                <a:sym typeface="Arial"/>
              </a:rPr>
              <a:t>50</a:t>
            </a:r>
            <a:endParaRPr/>
          </a:p>
        </p:txBody>
      </p:sp>
      <p:sp>
        <p:nvSpPr>
          <p:cNvPr id="641" name="Google Shape;641;p48"/>
          <p:cNvSpPr txBox="1"/>
          <p:nvPr/>
        </p:nvSpPr>
        <p:spPr>
          <a:xfrm>
            <a:off x="1981200" y="5257800"/>
            <a:ext cx="3810000" cy="4127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2100">
                <a:solidFill>
                  <a:schemeClr val="dk1"/>
                </a:solidFill>
                <a:latin typeface="Arial"/>
                <a:ea typeface="Arial"/>
                <a:cs typeface="Arial"/>
                <a:sym typeface="Arial"/>
              </a:rPr>
              <a:t>Interest expense</a:t>
            </a:r>
            <a:endParaRPr/>
          </a:p>
        </p:txBody>
      </p:sp>
      <p:sp>
        <p:nvSpPr>
          <p:cNvPr id="642" name="Google Shape;642;p48"/>
          <p:cNvSpPr txBox="1"/>
          <p:nvPr/>
        </p:nvSpPr>
        <p:spPr>
          <a:xfrm>
            <a:off x="5334000" y="5257800"/>
            <a:ext cx="1219200" cy="412750"/>
          </a:xfrm>
          <a:prstGeom prst="rect">
            <a:avLst/>
          </a:prstGeom>
          <a:noFill/>
          <a:ln>
            <a:noFill/>
          </a:ln>
        </p:spPr>
        <p:txBody>
          <a:bodyPr anchorCtr="0" anchor="t" bIns="45700" lIns="274300" spcFirstLastPara="1" rIns="0" wrap="square" tIns="45700">
            <a:spAutoFit/>
          </a:bodyPr>
          <a:lstStyle/>
          <a:p>
            <a:pPr indent="0" lvl="0" marL="0" marR="0" rtl="0" algn="r">
              <a:spcBef>
                <a:spcPts val="0"/>
              </a:spcBef>
              <a:spcAft>
                <a:spcPts val="0"/>
              </a:spcAft>
              <a:buNone/>
            </a:pPr>
            <a:r>
              <a:rPr b="0" lang="en-US" sz="2100">
                <a:solidFill>
                  <a:schemeClr val="dk1"/>
                </a:solidFill>
                <a:latin typeface="Arial"/>
                <a:ea typeface="Arial"/>
                <a:cs typeface="Arial"/>
                <a:sym typeface="Arial"/>
              </a:rPr>
              <a:t>50</a:t>
            </a:r>
            <a:endParaRPr/>
          </a:p>
        </p:txBody>
      </p:sp>
      <p:sp>
        <p:nvSpPr>
          <p:cNvPr id="643" name="Google Shape;643;p48"/>
          <p:cNvSpPr txBox="1"/>
          <p:nvPr/>
        </p:nvSpPr>
        <p:spPr>
          <a:xfrm>
            <a:off x="609600" y="5257800"/>
            <a:ext cx="1219200" cy="412750"/>
          </a:xfrm>
          <a:prstGeom prst="rect">
            <a:avLst/>
          </a:prstGeom>
          <a:noFill/>
          <a:ln>
            <a:noFill/>
          </a:ln>
        </p:spPr>
        <p:txBody>
          <a:bodyPr anchorCtr="0" anchor="t" bIns="45700" lIns="91425" spcFirstLastPara="1" rIns="0" wrap="square" tIns="45700">
            <a:spAutoFit/>
          </a:bodyPr>
          <a:lstStyle/>
          <a:p>
            <a:pPr indent="0" lvl="0" marL="0" marR="0" rtl="0" algn="l">
              <a:spcBef>
                <a:spcPts val="0"/>
              </a:spcBef>
              <a:spcAft>
                <a:spcPts val="0"/>
              </a:spcAft>
              <a:buNone/>
            </a:pPr>
            <a:r>
              <a:rPr b="0" lang="en-US" sz="2100">
                <a:solidFill>
                  <a:schemeClr val="dk1"/>
                </a:solidFill>
                <a:latin typeface="Arial"/>
                <a:ea typeface="Arial"/>
                <a:cs typeface="Arial"/>
                <a:sym typeface="Arial"/>
              </a:rPr>
              <a:t>Oct. 31</a:t>
            </a:r>
            <a:endParaRPr/>
          </a:p>
        </p:txBody>
      </p:sp>
      <p:cxnSp>
        <p:nvCxnSpPr>
          <p:cNvPr id="644" name="Google Shape;644;p48"/>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645" name="Google Shape;645;p48"/>
          <p:cNvSpPr/>
          <p:nvPr/>
        </p:nvSpPr>
        <p:spPr>
          <a:xfrm>
            <a:off x="7239000" y="3276600"/>
            <a:ext cx="1524000" cy="2746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Illustration 3-17</a:t>
            </a:r>
            <a:endParaRPr/>
          </a:p>
        </p:txBody>
      </p:sp>
      <p:sp>
        <p:nvSpPr>
          <p:cNvPr id="646" name="Google Shape;646;p48"/>
          <p:cNvSpPr/>
          <p:nvPr/>
        </p:nvSpPr>
        <p:spPr>
          <a:xfrm>
            <a:off x="609600" y="304800"/>
            <a:ext cx="82296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Accrued Expenses</a:t>
            </a:r>
            <a:endParaRPr b="1" sz="3200">
              <a:solidFill>
                <a:srgbClr val="0000BF"/>
              </a:solidFill>
              <a:latin typeface="Arial"/>
              <a:ea typeface="Arial"/>
              <a:cs typeface="Arial"/>
              <a:sym typeface="Arial"/>
            </a:endParaRPr>
          </a:p>
        </p:txBody>
      </p:sp>
      <p:sp>
        <p:nvSpPr>
          <p:cNvPr id="647" name="Google Shape;647;p48"/>
          <p:cNvSpPr txBox="1"/>
          <p:nvPr/>
        </p:nvSpPr>
        <p:spPr>
          <a:xfrm>
            <a:off x="609600" y="1295400"/>
            <a:ext cx="7620000" cy="497187"/>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en-US" sz="2500">
                <a:solidFill>
                  <a:schemeClr val="dk1"/>
                </a:solidFill>
                <a:latin typeface="Arial"/>
                <a:ea typeface="Arial"/>
                <a:cs typeface="Arial"/>
                <a:sym typeface="Arial"/>
              </a:rPr>
              <a:t>ACCRUED INTEREST</a:t>
            </a:r>
            <a:endParaRPr b="1" sz="2500">
              <a:solidFill>
                <a:schemeClr val="dk1"/>
              </a:solidFill>
              <a:latin typeface="Arial"/>
              <a:ea typeface="Arial"/>
              <a:cs typeface="Arial"/>
              <a:sym typeface="Arial"/>
            </a:endParaRPr>
          </a:p>
        </p:txBody>
      </p:sp>
      <p:sp>
        <p:nvSpPr>
          <p:cNvPr id="648" name="Google Shape;648;p48"/>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3</a:t>
            </a:r>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1"/>
                                        </p:tgtEl>
                                        <p:attrNameLst>
                                          <p:attrName>style.visibility</p:attrName>
                                        </p:attrNameLst>
                                      </p:cBhvr>
                                      <p:to>
                                        <p:strVal val="visible"/>
                                      </p:to>
                                    </p:set>
                                    <p:animEffect filter="fade" transition="in">
                                      <p:cBhvr>
                                        <p:cTn dur="500"/>
                                        <p:tgtEl>
                                          <p:spTgt spid="64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42"/>
                                        </p:tgtEl>
                                        <p:attrNameLst>
                                          <p:attrName>style.visibility</p:attrName>
                                        </p:attrNameLst>
                                      </p:cBhvr>
                                      <p:to>
                                        <p:strVal val="visible"/>
                                      </p:to>
                                    </p:set>
                                    <p:animEffect filter="fade" transition="in">
                                      <p:cBhvr>
                                        <p:cTn dur="500"/>
                                        <p:tgtEl>
                                          <p:spTgt spid="6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9"/>
                                        </p:tgtEl>
                                        <p:attrNameLst>
                                          <p:attrName>style.visibility</p:attrName>
                                        </p:attrNameLst>
                                      </p:cBhvr>
                                      <p:to>
                                        <p:strVal val="visible"/>
                                      </p:to>
                                    </p:set>
                                    <p:animEffect filter="fade" transition="in">
                                      <p:cBhvr>
                                        <p:cTn dur="500"/>
                                        <p:tgtEl>
                                          <p:spTgt spid="63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40"/>
                                        </p:tgtEl>
                                        <p:attrNameLst>
                                          <p:attrName>style.visibility</p:attrName>
                                        </p:attrNameLst>
                                      </p:cBhvr>
                                      <p:to>
                                        <p:strVal val="visible"/>
                                      </p:to>
                                    </p:set>
                                    <p:animEffect filter="fade" transition="in">
                                      <p:cBhvr>
                                        <p:cTn dur="500"/>
                                        <p:tgtEl>
                                          <p:spTgt spid="6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49"/>
          <p:cNvSpPr txBox="1"/>
          <p:nvPr/>
        </p:nvSpPr>
        <p:spPr>
          <a:xfrm>
            <a:off x="8077200" y="64452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3</a:t>
            </a:r>
            <a:endParaRPr/>
          </a:p>
        </p:txBody>
      </p:sp>
      <p:pic>
        <p:nvPicPr>
          <p:cNvPr id="654" name="Google Shape;654;p49"/>
          <p:cNvPicPr preferRelativeResize="0"/>
          <p:nvPr/>
        </p:nvPicPr>
        <p:blipFill rotWithShape="1">
          <a:blip r:embed="rId3">
            <a:alphaModFix/>
          </a:blip>
          <a:srcRect b="0" l="0" r="0" t="0"/>
          <a:stretch/>
        </p:blipFill>
        <p:spPr>
          <a:xfrm>
            <a:off x="381000" y="1323975"/>
            <a:ext cx="8382000" cy="5103813"/>
          </a:xfrm>
          <a:prstGeom prst="rect">
            <a:avLst/>
          </a:prstGeom>
          <a:noFill/>
          <a:ln>
            <a:noFill/>
          </a:ln>
        </p:spPr>
      </p:pic>
      <p:cxnSp>
        <p:nvCxnSpPr>
          <p:cNvPr id="655" name="Google Shape;655;p49"/>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656" name="Google Shape;656;p49"/>
          <p:cNvSpPr/>
          <p:nvPr/>
        </p:nvSpPr>
        <p:spPr>
          <a:xfrm>
            <a:off x="6858000" y="1219200"/>
            <a:ext cx="1524000" cy="27463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Illustration 3-18</a:t>
            </a:r>
            <a:endParaRPr/>
          </a:p>
        </p:txBody>
      </p:sp>
      <p:sp>
        <p:nvSpPr>
          <p:cNvPr id="657" name="Google Shape;657;p49"/>
          <p:cNvSpPr/>
          <p:nvPr/>
        </p:nvSpPr>
        <p:spPr>
          <a:xfrm>
            <a:off x="609600" y="304800"/>
            <a:ext cx="82296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Accrued Expenses</a:t>
            </a:r>
            <a:endParaRPr b="1" sz="3200">
              <a:solidFill>
                <a:srgbClr val="0000BF"/>
              </a:solidFill>
              <a:latin typeface="Arial"/>
              <a:ea typeface="Arial"/>
              <a:cs typeface="Arial"/>
              <a:sym typeface="Arial"/>
            </a:endParaRPr>
          </a:p>
        </p:txBody>
      </p:sp>
    </p:spTree>
  </p:cSld>
  <p:clrMapOvr>
    <a:masterClrMapping/>
  </p:clrMapOvr>
  <p:transition>
    <p:wipe dir="r"/>
  </p:transition>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pic>
        <p:nvPicPr>
          <p:cNvPr id="662" name="Google Shape;662;p50"/>
          <p:cNvPicPr preferRelativeResize="0"/>
          <p:nvPr/>
        </p:nvPicPr>
        <p:blipFill rotWithShape="1">
          <a:blip r:embed="rId3">
            <a:alphaModFix/>
          </a:blip>
          <a:srcRect b="0" l="0" r="0" t="0"/>
          <a:stretch/>
        </p:blipFill>
        <p:spPr>
          <a:xfrm>
            <a:off x="1524000" y="3786187"/>
            <a:ext cx="6096000" cy="2614613"/>
          </a:xfrm>
          <a:prstGeom prst="rect">
            <a:avLst/>
          </a:prstGeom>
          <a:noFill/>
          <a:ln>
            <a:noFill/>
          </a:ln>
        </p:spPr>
      </p:pic>
      <p:sp>
        <p:nvSpPr>
          <p:cNvPr id="663" name="Google Shape;663;p50"/>
          <p:cNvSpPr txBox="1"/>
          <p:nvPr/>
        </p:nvSpPr>
        <p:spPr>
          <a:xfrm>
            <a:off x="609600" y="1905000"/>
            <a:ext cx="8077200" cy="1643527"/>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en-US" sz="2100">
                <a:solidFill>
                  <a:schemeClr val="dk1"/>
                </a:solidFill>
                <a:latin typeface="Arial"/>
                <a:ea typeface="Arial"/>
                <a:cs typeface="Arial"/>
                <a:sym typeface="Arial"/>
              </a:rPr>
              <a:t>Illustration:  </a:t>
            </a:r>
            <a:r>
              <a:rPr b="0" lang="en-US" sz="2100">
                <a:solidFill>
                  <a:schemeClr val="dk1"/>
                </a:solidFill>
                <a:latin typeface="Arial"/>
                <a:ea typeface="Arial"/>
                <a:cs typeface="Arial"/>
                <a:sym typeface="Arial"/>
              </a:rPr>
              <a:t>Pioneer Advertising paid salaries and wages on October 26; the next payment of salaries will not occur until November 9. The employees receive total salaries of $2,000 for a five-day work week, or $400 per day. </a:t>
            </a:r>
            <a:endParaRPr/>
          </a:p>
        </p:txBody>
      </p:sp>
      <p:cxnSp>
        <p:nvCxnSpPr>
          <p:cNvPr id="664" name="Google Shape;664;p50"/>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665" name="Google Shape;665;p50"/>
          <p:cNvSpPr/>
          <p:nvPr/>
        </p:nvSpPr>
        <p:spPr>
          <a:xfrm>
            <a:off x="6248400" y="3481387"/>
            <a:ext cx="1524000" cy="27463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Illustration 3-19</a:t>
            </a:r>
            <a:endParaRPr/>
          </a:p>
        </p:txBody>
      </p:sp>
      <p:sp>
        <p:nvSpPr>
          <p:cNvPr id="666" name="Google Shape;666;p50"/>
          <p:cNvSpPr/>
          <p:nvPr/>
        </p:nvSpPr>
        <p:spPr>
          <a:xfrm>
            <a:off x="609600" y="304800"/>
            <a:ext cx="82296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Accrued Expenses</a:t>
            </a:r>
            <a:endParaRPr b="1" sz="3200">
              <a:solidFill>
                <a:srgbClr val="0000BF"/>
              </a:solidFill>
              <a:latin typeface="Arial"/>
              <a:ea typeface="Arial"/>
              <a:cs typeface="Arial"/>
              <a:sym typeface="Arial"/>
            </a:endParaRPr>
          </a:p>
        </p:txBody>
      </p:sp>
      <p:sp>
        <p:nvSpPr>
          <p:cNvPr id="667" name="Google Shape;667;p50"/>
          <p:cNvSpPr txBox="1"/>
          <p:nvPr/>
        </p:nvSpPr>
        <p:spPr>
          <a:xfrm>
            <a:off x="609600" y="1295400"/>
            <a:ext cx="7620000" cy="497187"/>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en-US" sz="2500">
                <a:solidFill>
                  <a:schemeClr val="dk1"/>
                </a:solidFill>
                <a:latin typeface="Arial"/>
                <a:ea typeface="Arial"/>
                <a:cs typeface="Arial"/>
                <a:sym typeface="Arial"/>
              </a:rPr>
              <a:t>ACCRUED INTEREST</a:t>
            </a:r>
            <a:endParaRPr b="1" sz="2500">
              <a:solidFill>
                <a:schemeClr val="dk1"/>
              </a:solidFill>
              <a:latin typeface="Arial"/>
              <a:ea typeface="Arial"/>
              <a:cs typeface="Arial"/>
              <a:sym typeface="Arial"/>
            </a:endParaRPr>
          </a:p>
        </p:txBody>
      </p:sp>
      <p:sp>
        <p:nvSpPr>
          <p:cNvPr id="668" name="Google Shape;668;p50"/>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3</a:t>
            </a:r>
            <a:endParaRPr/>
          </a:p>
        </p:txBody>
      </p:sp>
    </p:spTree>
  </p:cSld>
  <p:clrMapOvr>
    <a:masterClrMapping/>
  </p:clrMapOvr>
  <p:transition>
    <p:wipe dir="r"/>
  </p:transition>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51"/>
          <p:cNvSpPr txBox="1"/>
          <p:nvPr/>
        </p:nvSpPr>
        <p:spPr>
          <a:xfrm>
            <a:off x="8077200" y="64452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3</a:t>
            </a:r>
            <a:endParaRPr/>
          </a:p>
        </p:txBody>
      </p:sp>
      <p:pic>
        <p:nvPicPr>
          <p:cNvPr id="674" name="Google Shape;674;p51"/>
          <p:cNvPicPr preferRelativeResize="0"/>
          <p:nvPr/>
        </p:nvPicPr>
        <p:blipFill rotWithShape="1">
          <a:blip r:embed="rId3">
            <a:alphaModFix/>
          </a:blip>
          <a:srcRect b="0" l="0" r="0" t="0"/>
          <a:stretch/>
        </p:blipFill>
        <p:spPr>
          <a:xfrm>
            <a:off x="457200" y="1316038"/>
            <a:ext cx="8229600" cy="5132387"/>
          </a:xfrm>
          <a:prstGeom prst="rect">
            <a:avLst/>
          </a:prstGeom>
          <a:noFill/>
          <a:ln>
            <a:noFill/>
          </a:ln>
        </p:spPr>
      </p:pic>
      <p:cxnSp>
        <p:nvCxnSpPr>
          <p:cNvPr id="675" name="Google Shape;675;p51"/>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676" name="Google Shape;676;p51"/>
          <p:cNvSpPr/>
          <p:nvPr/>
        </p:nvSpPr>
        <p:spPr>
          <a:xfrm>
            <a:off x="6781800" y="1219200"/>
            <a:ext cx="1524000" cy="27463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Illustration 3-20</a:t>
            </a:r>
            <a:endParaRPr/>
          </a:p>
        </p:txBody>
      </p:sp>
      <p:sp>
        <p:nvSpPr>
          <p:cNvPr id="677" name="Google Shape;677;p51"/>
          <p:cNvSpPr/>
          <p:nvPr/>
        </p:nvSpPr>
        <p:spPr>
          <a:xfrm>
            <a:off x="609600" y="304800"/>
            <a:ext cx="82296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Accrued Expenses</a:t>
            </a:r>
            <a:endParaRPr b="1" sz="3200">
              <a:solidFill>
                <a:srgbClr val="0000BF"/>
              </a:solidFill>
              <a:latin typeface="Arial"/>
              <a:ea typeface="Arial"/>
              <a:cs typeface="Arial"/>
              <a:sym typeface="Arial"/>
            </a:endParaRPr>
          </a:p>
        </p:txBody>
      </p:sp>
    </p:spTree>
  </p:cSld>
  <p:clrMapOvr>
    <a:masterClrMapping/>
  </p:clrMapOvr>
  <p:transition>
    <p:wipe dir="r"/>
  </p:transition>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52"/>
          <p:cNvSpPr txBox="1"/>
          <p:nvPr/>
        </p:nvSpPr>
        <p:spPr>
          <a:xfrm>
            <a:off x="7543800" y="1863866"/>
            <a:ext cx="1371600" cy="27463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200">
                <a:solidFill>
                  <a:schemeClr val="dk1"/>
                </a:solidFill>
                <a:latin typeface="Arial"/>
                <a:ea typeface="Arial"/>
                <a:cs typeface="Arial"/>
                <a:sym typeface="Arial"/>
              </a:rPr>
              <a:t>Illustration 3-21</a:t>
            </a:r>
            <a:endParaRPr/>
          </a:p>
        </p:txBody>
      </p:sp>
      <p:cxnSp>
        <p:nvCxnSpPr>
          <p:cNvPr id="683" name="Google Shape;683;p52"/>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684" name="Google Shape;684;p52"/>
          <p:cNvSpPr/>
          <p:nvPr/>
        </p:nvSpPr>
        <p:spPr>
          <a:xfrm>
            <a:off x="609600" y="304800"/>
            <a:ext cx="82296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Accrued Expenses</a:t>
            </a:r>
            <a:endParaRPr b="1" sz="3200">
              <a:solidFill>
                <a:srgbClr val="0000BF"/>
              </a:solidFill>
              <a:latin typeface="Arial"/>
              <a:ea typeface="Arial"/>
              <a:cs typeface="Arial"/>
              <a:sym typeface="Arial"/>
            </a:endParaRPr>
          </a:p>
        </p:txBody>
      </p:sp>
      <p:pic>
        <p:nvPicPr>
          <p:cNvPr id="685" name="Google Shape;685;p52"/>
          <p:cNvPicPr preferRelativeResize="0"/>
          <p:nvPr/>
        </p:nvPicPr>
        <p:blipFill rotWithShape="1">
          <a:blip r:embed="rId3">
            <a:alphaModFix/>
          </a:blip>
          <a:srcRect b="0" l="0" r="0" t="0"/>
          <a:stretch/>
        </p:blipFill>
        <p:spPr>
          <a:xfrm>
            <a:off x="304801" y="2244866"/>
            <a:ext cx="8534400" cy="2174734"/>
          </a:xfrm>
          <a:prstGeom prst="rect">
            <a:avLst/>
          </a:prstGeom>
          <a:noFill/>
          <a:ln cap="sq" cmpd="sng" w="19050">
            <a:solidFill>
              <a:schemeClr val="dk1"/>
            </a:solidFill>
            <a:prstDash val="solid"/>
            <a:miter lim="800000"/>
            <a:headEnd len="sm" w="sm" type="none"/>
            <a:tailEnd len="sm" w="sm" type="none"/>
          </a:ln>
        </p:spPr>
      </p:pic>
      <p:sp>
        <p:nvSpPr>
          <p:cNvPr id="686" name="Google Shape;686;p52"/>
          <p:cNvSpPr txBox="1"/>
          <p:nvPr/>
        </p:nvSpPr>
        <p:spPr>
          <a:xfrm>
            <a:off x="609600" y="1295400"/>
            <a:ext cx="7620000" cy="499367"/>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lang="en-US" sz="2300">
                <a:solidFill>
                  <a:schemeClr val="dk1"/>
                </a:solidFill>
                <a:latin typeface="Arial"/>
                <a:ea typeface="Arial"/>
                <a:cs typeface="Arial"/>
                <a:sym typeface="Arial"/>
              </a:rPr>
              <a:t>Summary of the accounting for accrued expenses.</a:t>
            </a:r>
            <a:endParaRPr b="0" sz="2300">
              <a:solidFill>
                <a:schemeClr val="dk1"/>
              </a:solidFill>
              <a:latin typeface="Arial"/>
              <a:ea typeface="Arial"/>
              <a:cs typeface="Arial"/>
              <a:sym typeface="Arial"/>
            </a:endParaRPr>
          </a:p>
        </p:txBody>
      </p:sp>
      <p:sp>
        <p:nvSpPr>
          <p:cNvPr id="687" name="Google Shape;687;p52"/>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3</a:t>
            </a:r>
            <a:endParaRPr/>
          </a:p>
        </p:txBody>
      </p:sp>
    </p:spTree>
  </p:cSld>
  <p:clrMapOvr>
    <a:masterClrMapping/>
  </p:clrMapOvr>
  <p:transition>
    <p:wipe dir="r"/>
  </p:transition>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53"/>
          <p:cNvSpPr/>
          <p:nvPr/>
        </p:nvSpPr>
        <p:spPr>
          <a:xfrm>
            <a:off x="5715000" y="3962400"/>
            <a:ext cx="1828800" cy="381000"/>
          </a:xfrm>
          <a:prstGeom prst="rect">
            <a:avLst/>
          </a:prstGeom>
          <a:solidFill>
            <a:schemeClr val="lt1"/>
          </a:solid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t/>
            </a:r>
            <a:endParaRPr b="1" sz="2800">
              <a:solidFill>
                <a:schemeClr val="lt1"/>
              </a:solidFill>
              <a:latin typeface="Arial"/>
              <a:ea typeface="Arial"/>
              <a:cs typeface="Arial"/>
              <a:sym typeface="Arial"/>
            </a:endParaRPr>
          </a:p>
        </p:txBody>
      </p:sp>
      <p:pic>
        <p:nvPicPr>
          <p:cNvPr id="693" name="Google Shape;693;p53"/>
          <p:cNvPicPr preferRelativeResize="0"/>
          <p:nvPr/>
        </p:nvPicPr>
        <p:blipFill rotWithShape="1">
          <a:blip r:embed="rId3">
            <a:alphaModFix/>
          </a:blip>
          <a:srcRect b="0" l="0" r="0" t="0"/>
          <a:stretch/>
        </p:blipFill>
        <p:spPr>
          <a:xfrm>
            <a:off x="304800" y="1219200"/>
            <a:ext cx="8576931" cy="3048000"/>
          </a:xfrm>
          <a:prstGeom prst="rect">
            <a:avLst/>
          </a:prstGeom>
          <a:noFill/>
          <a:ln>
            <a:noFill/>
          </a:ln>
        </p:spPr>
      </p:pic>
      <p:sp>
        <p:nvSpPr>
          <p:cNvPr id="694" name="Google Shape;694;p53"/>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3</a:t>
            </a:r>
            <a:endParaRPr/>
          </a:p>
        </p:txBody>
      </p:sp>
    </p:spTree>
  </p:cSld>
  <p:clrMapOvr>
    <a:masterClrMapping/>
  </p:clrMapOvr>
  <p:transition>
    <p:wipe dir="r"/>
  </p:transition>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54"/>
          <p:cNvSpPr/>
          <p:nvPr/>
        </p:nvSpPr>
        <p:spPr>
          <a:xfrm>
            <a:off x="685800" y="6248400"/>
            <a:ext cx="1905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Arial"/>
              <a:ea typeface="Arial"/>
              <a:cs typeface="Arial"/>
              <a:sym typeface="Arial"/>
            </a:endParaRPr>
          </a:p>
        </p:txBody>
      </p:sp>
      <p:sp>
        <p:nvSpPr>
          <p:cNvPr id="700" name="Google Shape;700;p54"/>
          <p:cNvSpPr/>
          <p:nvPr/>
        </p:nvSpPr>
        <p:spPr>
          <a:xfrm>
            <a:off x="3124200" y="6248400"/>
            <a:ext cx="2895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Arial"/>
              <a:ea typeface="Arial"/>
              <a:cs typeface="Arial"/>
              <a:sym typeface="Arial"/>
            </a:endParaRPr>
          </a:p>
        </p:txBody>
      </p:sp>
      <p:cxnSp>
        <p:nvCxnSpPr>
          <p:cNvPr id="701" name="Google Shape;701;p54"/>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702" name="Google Shape;702;p54"/>
          <p:cNvSpPr txBox="1"/>
          <p:nvPr/>
        </p:nvSpPr>
        <p:spPr>
          <a:xfrm>
            <a:off x="7543800" y="1295400"/>
            <a:ext cx="1371600" cy="27463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200">
                <a:solidFill>
                  <a:schemeClr val="dk1"/>
                </a:solidFill>
                <a:latin typeface="Arial"/>
                <a:ea typeface="Arial"/>
                <a:cs typeface="Arial"/>
                <a:sym typeface="Arial"/>
              </a:rPr>
              <a:t>Illustration 3-22</a:t>
            </a:r>
            <a:endParaRPr/>
          </a:p>
        </p:txBody>
      </p:sp>
      <p:pic>
        <p:nvPicPr>
          <p:cNvPr id="703" name="Google Shape;703;p54"/>
          <p:cNvPicPr preferRelativeResize="0"/>
          <p:nvPr/>
        </p:nvPicPr>
        <p:blipFill rotWithShape="1">
          <a:blip r:embed="rId3">
            <a:alphaModFix/>
          </a:blip>
          <a:srcRect b="0" l="0" r="0" t="0"/>
          <a:stretch/>
        </p:blipFill>
        <p:spPr>
          <a:xfrm>
            <a:off x="304800" y="1638300"/>
            <a:ext cx="8534400" cy="3010471"/>
          </a:xfrm>
          <a:prstGeom prst="rect">
            <a:avLst/>
          </a:prstGeom>
          <a:noFill/>
          <a:ln cap="sq" cmpd="sng" w="19050">
            <a:solidFill>
              <a:schemeClr val="dk1"/>
            </a:solidFill>
            <a:prstDash val="solid"/>
            <a:miter lim="800000"/>
            <a:headEnd len="sm" w="sm" type="none"/>
            <a:tailEnd len="sm" w="sm" type="none"/>
          </a:ln>
        </p:spPr>
      </p:pic>
      <p:sp>
        <p:nvSpPr>
          <p:cNvPr id="704" name="Google Shape;704;p54"/>
          <p:cNvSpPr/>
          <p:nvPr/>
        </p:nvSpPr>
        <p:spPr>
          <a:xfrm>
            <a:off x="609600" y="304800"/>
            <a:ext cx="82296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Summary of Basic Relationships</a:t>
            </a:r>
            <a:endParaRPr b="1" sz="3200">
              <a:solidFill>
                <a:srgbClr val="0000BF"/>
              </a:solidFill>
              <a:latin typeface="Arial"/>
              <a:ea typeface="Arial"/>
              <a:cs typeface="Arial"/>
              <a:sym typeface="Arial"/>
            </a:endParaRPr>
          </a:p>
        </p:txBody>
      </p:sp>
      <p:sp>
        <p:nvSpPr>
          <p:cNvPr id="705" name="Google Shape;705;p54"/>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3</a:t>
            </a:r>
            <a:endParaRPr/>
          </a:p>
        </p:txBody>
      </p:sp>
    </p:spTree>
  </p:cSld>
  <p:clrMapOvr>
    <a:masterClrMapping/>
  </p:clrMapOvr>
  <p:transition>
    <p:wipe dir="r"/>
  </p:transition>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55"/>
          <p:cNvSpPr/>
          <p:nvPr/>
        </p:nvSpPr>
        <p:spPr>
          <a:xfrm>
            <a:off x="609600" y="1381125"/>
            <a:ext cx="8001000" cy="378565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None/>
            </a:pPr>
            <a:r>
              <a:rPr b="0" lang="en-US" sz="2000">
                <a:solidFill>
                  <a:schemeClr val="dk1"/>
                </a:solidFill>
                <a:latin typeface="Arial"/>
                <a:ea typeface="Arial"/>
                <a:cs typeface="Arial"/>
                <a:sym typeface="Arial"/>
              </a:rPr>
              <a:t>Micro Computer Services began operations on August 1, 2017. At the end of August 2017, management prepares monthly financial statements. The following information relates to August.</a:t>
            </a:r>
            <a:endParaRPr/>
          </a:p>
          <a:p>
            <a:pPr indent="-457200" lvl="0" marL="693738" marR="0" rtl="0" algn="l">
              <a:lnSpc>
                <a:spcPct val="110000"/>
              </a:lnSpc>
              <a:spcBef>
                <a:spcPts val="600"/>
              </a:spcBef>
              <a:spcAft>
                <a:spcPts val="0"/>
              </a:spcAft>
              <a:buClr>
                <a:schemeClr val="dk1"/>
              </a:buClr>
              <a:buSzPts val="2000"/>
              <a:buFont typeface="Comic Sans MS"/>
              <a:buAutoNum type="arabicPeriod"/>
            </a:pPr>
            <a:r>
              <a:rPr b="0" lang="en-US" sz="2000">
                <a:solidFill>
                  <a:schemeClr val="dk1"/>
                </a:solidFill>
                <a:latin typeface="Arial"/>
                <a:ea typeface="Arial"/>
                <a:cs typeface="Arial"/>
                <a:sym typeface="Arial"/>
              </a:rPr>
              <a:t>At August 31, the company owed its employees $800 in salaries and wages that will be paid on September 1.</a:t>
            </a:r>
            <a:endParaRPr/>
          </a:p>
          <a:p>
            <a:pPr indent="-457200" lvl="0" marL="693738" marR="0" rtl="0" algn="l">
              <a:lnSpc>
                <a:spcPct val="110000"/>
              </a:lnSpc>
              <a:spcBef>
                <a:spcPts val="600"/>
              </a:spcBef>
              <a:spcAft>
                <a:spcPts val="0"/>
              </a:spcAft>
              <a:buClr>
                <a:schemeClr val="dk1"/>
              </a:buClr>
              <a:buSzPts val="2000"/>
              <a:buFont typeface="Comic Sans MS"/>
              <a:buAutoNum type="arabicPeriod"/>
            </a:pPr>
            <a:r>
              <a:rPr b="0" lang="en-US" sz="2000">
                <a:solidFill>
                  <a:schemeClr val="dk1"/>
                </a:solidFill>
                <a:latin typeface="Arial"/>
                <a:ea typeface="Arial"/>
                <a:cs typeface="Arial"/>
                <a:sym typeface="Arial"/>
              </a:rPr>
              <a:t>On August 1, the company borrowed $30,000 from a local bank on a 15-year mortgage. The annual interest rate is 10%.</a:t>
            </a:r>
            <a:endParaRPr/>
          </a:p>
          <a:p>
            <a:pPr indent="-457200" lvl="0" marL="693738" marR="0" rtl="0" algn="l">
              <a:lnSpc>
                <a:spcPct val="110000"/>
              </a:lnSpc>
              <a:spcBef>
                <a:spcPts val="600"/>
              </a:spcBef>
              <a:spcAft>
                <a:spcPts val="0"/>
              </a:spcAft>
              <a:buClr>
                <a:schemeClr val="dk1"/>
              </a:buClr>
              <a:buSzPts val="2000"/>
              <a:buFont typeface="Comic Sans MS"/>
              <a:buAutoNum type="arabicPeriod"/>
            </a:pPr>
            <a:r>
              <a:rPr b="0" lang="en-US" sz="2000">
                <a:solidFill>
                  <a:schemeClr val="dk1"/>
                </a:solidFill>
                <a:latin typeface="Arial"/>
                <a:ea typeface="Arial"/>
                <a:cs typeface="Arial"/>
                <a:sym typeface="Arial"/>
              </a:rPr>
              <a:t>Revenue for services performed but unrecorded for August totaled $1,100.</a:t>
            </a:r>
            <a:endParaRPr/>
          </a:p>
          <a:p>
            <a:pPr indent="0" lvl="0" marL="0" marR="0" rtl="0" algn="l">
              <a:lnSpc>
                <a:spcPct val="110000"/>
              </a:lnSpc>
              <a:spcBef>
                <a:spcPts val="600"/>
              </a:spcBef>
              <a:spcAft>
                <a:spcPts val="0"/>
              </a:spcAft>
              <a:buNone/>
            </a:pPr>
            <a:r>
              <a:rPr b="0" lang="en-US" sz="2000">
                <a:solidFill>
                  <a:schemeClr val="dk1"/>
                </a:solidFill>
                <a:latin typeface="Arial"/>
                <a:ea typeface="Arial"/>
                <a:cs typeface="Arial"/>
                <a:sym typeface="Arial"/>
              </a:rPr>
              <a:t>Prepare the adjusting entries needed at August 31, 2017.</a:t>
            </a:r>
            <a:endParaRPr/>
          </a:p>
        </p:txBody>
      </p:sp>
      <p:cxnSp>
        <p:nvCxnSpPr>
          <p:cNvPr id="711" name="Google Shape;711;p55"/>
          <p:cNvCxnSpPr/>
          <p:nvPr/>
        </p:nvCxnSpPr>
        <p:spPr>
          <a:xfrm>
            <a:off x="290286" y="784324"/>
            <a:ext cx="8636000" cy="1489"/>
          </a:xfrm>
          <a:prstGeom prst="straightConnector1">
            <a:avLst/>
          </a:prstGeom>
          <a:noFill/>
          <a:ln cap="flat" cmpd="sng" w="57150">
            <a:solidFill>
              <a:srgbClr val="FF9900"/>
            </a:solidFill>
            <a:prstDash val="solid"/>
            <a:round/>
            <a:headEnd len="med" w="med" type="none"/>
            <a:tailEnd len="med" w="med" type="none"/>
          </a:ln>
        </p:spPr>
      </p:cxnSp>
      <p:pic>
        <p:nvPicPr>
          <p:cNvPr id="712" name="Google Shape;712;p55"/>
          <p:cNvPicPr preferRelativeResize="0"/>
          <p:nvPr/>
        </p:nvPicPr>
        <p:blipFill rotWithShape="1">
          <a:blip r:embed="rId3">
            <a:alphaModFix/>
          </a:blip>
          <a:srcRect b="0" l="0" r="0" t="0"/>
          <a:stretch/>
        </p:blipFill>
        <p:spPr>
          <a:xfrm>
            <a:off x="580571" y="395883"/>
            <a:ext cx="1669143" cy="604242"/>
          </a:xfrm>
          <a:prstGeom prst="rect">
            <a:avLst/>
          </a:prstGeom>
          <a:noFill/>
          <a:ln>
            <a:noFill/>
          </a:ln>
        </p:spPr>
      </p:pic>
      <p:pic>
        <p:nvPicPr>
          <p:cNvPr id="713" name="Google Shape;713;p55"/>
          <p:cNvPicPr preferRelativeResize="0"/>
          <p:nvPr/>
        </p:nvPicPr>
        <p:blipFill rotWithShape="1">
          <a:blip r:embed="rId4">
            <a:alphaModFix/>
          </a:blip>
          <a:srcRect b="0" l="0" r="0" t="0"/>
          <a:stretch/>
        </p:blipFill>
        <p:spPr>
          <a:xfrm>
            <a:off x="290286" y="357188"/>
            <a:ext cx="8636000" cy="823465"/>
          </a:xfrm>
          <a:prstGeom prst="rect">
            <a:avLst/>
          </a:prstGeom>
          <a:noFill/>
          <a:ln>
            <a:noFill/>
          </a:ln>
        </p:spPr>
      </p:pic>
      <p:pic>
        <p:nvPicPr>
          <p:cNvPr id="714" name="Google Shape;714;p55"/>
          <p:cNvPicPr preferRelativeResize="0"/>
          <p:nvPr/>
        </p:nvPicPr>
        <p:blipFill rotWithShape="1">
          <a:blip r:embed="rId5">
            <a:alphaModFix/>
          </a:blip>
          <a:srcRect b="0" l="0" r="0" t="0"/>
          <a:stretch/>
        </p:blipFill>
        <p:spPr>
          <a:xfrm>
            <a:off x="3410857" y="586815"/>
            <a:ext cx="3144567" cy="413310"/>
          </a:xfrm>
          <a:prstGeom prst="rect">
            <a:avLst/>
          </a:prstGeom>
          <a:noFill/>
          <a:ln>
            <a:noFill/>
          </a:ln>
        </p:spPr>
      </p:pic>
      <p:pic>
        <p:nvPicPr>
          <p:cNvPr id="715" name="Google Shape;715;p55"/>
          <p:cNvPicPr preferRelativeResize="0"/>
          <p:nvPr/>
        </p:nvPicPr>
        <p:blipFill rotWithShape="1">
          <a:blip r:embed="rId6">
            <a:alphaModFix/>
          </a:blip>
          <a:srcRect b="0" l="0" r="0" t="0"/>
          <a:stretch/>
        </p:blipFill>
        <p:spPr>
          <a:xfrm>
            <a:off x="2493472" y="571501"/>
            <a:ext cx="409385" cy="344759"/>
          </a:xfrm>
          <a:prstGeom prst="rect">
            <a:avLst/>
          </a:prstGeom>
          <a:noFill/>
          <a:ln>
            <a:noFill/>
          </a:ln>
        </p:spPr>
      </p:pic>
      <p:sp>
        <p:nvSpPr>
          <p:cNvPr id="716" name="Google Shape;716;p55"/>
          <p:cNvSpPr txBox="1"/>
          <p:nvPr/>
        </p:nvSpPr>
        <p:spPr>
          <a:xfrm>
            <a:off x="2467428" y="428625"/>
            <a:ext cx="435429" cy="641336"/>
          </a:xfrm>
          <a:prstGeom prst="rect">
            <a:avLst/>
          </a:prstGeom>
          <a:noFill/>
          <a:ln>
            <a:noFill/>
          </a:ln>
        </p:spPr>
        <p:txBody>
          <a:bodyPr anchorCtr="0" anchor="t" bIns="43225" lIns="86475" spcFirstLastPara="1" rIns="86475" wrap="square" tIns="43225">
            <a:spAutoFit/>
          </a:bodyPr>
          <a:lstStyle/>
          <a:p>
            <a:pPr indent="0" lvl="0" marL="0" marR="0" rtl="0" algn="l">
              <a:spcBef>
                <a:spcPts val="0"/>
              </a:spcBef>
              <a:spcAft>
                <a:spcPts val="0"/>
              </a:spcAft>
              <a:buNone/>
            </a:pPr>
            <a:r>
              <a:rPr b="1" lang="en-US" sz="3600">
                <a:solidFill>
                  <a:srgbClr val="FF9900"/>
                </a:solidFill>
                <a:latin typeface="Arial"/>
                <a:ea typeface="Arial"/>
                <a:cs typeface="Arial"/>
                <a:sym typeface="Arial"/>
              </a:rPr>
              <a:t>3</a:t>
            </a:r>
            <a:endParaRPr b="1" sz="3600">
              <a:solidFill>
                <a:srgbClr val="FF9900"/>
              </a:solidFill>
              <a:latin typeface="Arial"/>
              <a:ea typeface="Arial"/>
              <a:cs typeface="Arial"/>
              <a:sym typeface="Arial"/>
            </a:endParaRPr>
          </a:p>
        </p:txBody>
      </p:sp>
      <p:sp>
        <p:nvSpPr>
          <p:cNvPr id="717" name="Google Shape;717;p55"/>
          <p:cNvSpPr txBox="1"/>
          <p:nvPr/>
        </p:nvSpPr>
        <p:spPr>
          <a:xfrm>
            <a:off x="3338286" y="508909"/>
            <a:ext cx="5515429" cy="519373"/>
          </a:xfrm>
          <a:prstGeom prst="rect">
            <a:avLst/>
          </a:prstGeom>
          <a:noFill/>
          <a:ln>
            <a:noFill/>
          </a:ln>
        </p:spPr>
        <p:txBody>
          <a:bodyPr anchorCtr="0" anchor="t" bIns="43225" lIns="86475" spcFirstLastPara="1" rIns="86475" wrap="square" tIns="43225">
            <a:spAutoFit/>
          </a:bodyPr>
          <a:lstStyle/>
          <a:p>
            <a:pPr indent="0" lvl="0" marL="111120" marR="0" rtl="0" algn="l">
              <a:spcBef>
                <a:spcPts val="0"/>
              </a:spcBef>
              <a:spcAft>
                <a:spcPts val="0"/>
              </a:spcAft>
              <a:buNone/>
            </a:pPr>
            <a:r>
              <a:rPr b="1" lang="en-US" sz="2800">
                <a:solidFill>
                  <a:schemeClr val="lt1"/>
                </a:solidFill>
                <a:latin typeface="Arial"/>
                <a:ea typeface="Arial"/>
                <a:cs typeface="Arial"/>
                <a:sym typeface="Arial"/>
              </a:rPr>
              <a:t>Adjusting Entries for Accruals</a:t>
            </a:r>
            <a:endParaRPr b="1" sz="2800">
              <a:solidFill>
                <a:schemeClr val="lt1"/>
              </a:solidFill>
              <a:latin typeface="Arial"/>
              <a:ea typeface="Arial"/>
              <a:cs typeface="Arial"/>
              <a:sym typeface="Arial"/>
            </a:endParaRPr>
          </a:p>
        </p:txBody>
      </p:sp>
      <p:pic>
        <p:nvPicPr>
          <p:cNvPr id="718" name="Google Shape;718;p55"/>
          <p:cNvPicPr preferRelativeResize="0"/>
          <p:nvPr/>
        </p:nvPicPr>
        <p:blipFill rotWithShape="1">
          <a:blip r:embed="rId7">
            <a:alphaModFix/>
          </a:blip>
          <a:srcRect b="0" l="0" r="0" t="0"/>
          <a:stretch/>
        </p:blipFill>
        <p:spPr>
          <a:xfrm rot="10800000">
            <a:off x="457200" y="501930"/>
            <a:ext cx="1600200" cy="564870"/>
          </a:xfrm>
          <a:prstGeom prst="rect">
            <a:avLst/>
          </a:prstGeom>
          <a:noFill/>
          <a:ln>
            <a:noFill/>
          </a:ln>
        </p:spPr>
      </p:pic>
      <p:sp>
        <p:nvSpPr>
          <p:cNvPr id="719" name="Google Shape;719;p55"/>
          <p:cNvSpPr txBox="1"/>
          <p:nvPr/>
        </p:nvSpPr>
        <p:spPr>
          <a:xfrm>
            <a:off x="304800" y="381000"/>
            <a:ext cx="2209800"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200">
                <a:solidFill>
                  <a:srgbClr val="FF9900"/>
                </a:solidFill>
                <a:latin typeface="Arial"/>
                <a:ea typeface="Arial"/>
                <a:cs typeface="Arial"/>
                <a:sym typeface="Arial"/>
              </a:rPr>
              <a:t>DO IT!</a:t>
            </a:r>
            <a:endParaRPr b="1" sz="4200">
              <a:solidFill>
                <a:srgbClr val="FF9900"/>
              </a:solidFill>
              <a:latin typeface="Arial"/>
              <a:ea typeface="Arial"/>
              <a:cs typeface="Arial"/>
              <a:sym typeface="Arial"/>
            </a:endParaRPr>
          </a:p>
        </p:txBody>
      </p:sp>
      <p:sp>
        <p:nvSpPr>
          <p:cNvPr id="720" name="Google Shape;720;p55"/>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3</a:t>
            </a:r>
            <a:endParaRPr/>
          </a:p>
        </p:txBody>
      </p:sp>
    </p:spTree>
  </p:cSld>
  <p:clrMapOvr>
    <a:masterClrMapping/>
  </p:clrMapOvr>
  <p:transition>
    <p:wipe dir="r"/>
  </p:transition>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p56"/>
          <p:cNvSpPr/>
          <p:nvPr/>
        </p:nvSpPr>
        <p:spPr>
          <a:xfrm>
            <a:off x="609600" y="1381125"/>
            <a:ext cx="8001000" cy="4385816"/>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None/>
            </a:pPr>
            <a:r>
              <a:rPr b="1" lang="en-US" sz="2000">
                <a:solidFill>
                  <a:schemeClr val="dk1"/>
                </a:solidFill>
                <a:latin typeface="Arial"/>
                <a:ea typeface="Arial"/>
                <a:cs typeface="Arial"/>
                <a:sym typeface="Arial"/>
              </a:rPr>
              <a:t>Prepare the adjusting entries needed at August 31, 2017.</a:t>
            </a:r>
            <a:endParaRPr/>
          </a:p>
          <a:p>
            <a:pPr indent="-457200" lvl="0" marL="693738" marR="0" rtl="0" algn="l">
              <a:lnSpc>
                <a:spcPct val="110000"/>
              </a:lnSpc>
              <a:spcBef>
                <a:spcPts val="600"/>
              </a:spcBef>
              <a:spcAft>
                <a:spcPts val="0"/>
              </a:spcAft>
              <a:buClr>
                <a:schemeClr val="dk1"/>
              </a:buClr>
              <a:buSzPts val="2000"/>
              <a:buFont typeface="Comic Sans MS"/>
              <a:buAutoNum type="arabicPeriod"/>
            </a:pPr>
            <a:r>
              <a:rPr b="0" lang="en-US" sz="2000">
                <a:solidFill>
                  <a:schemeClr val="dk1"/>
                </a:solidFill>
                <a:latin typeface="Arial"/>
                <a:ea typeface="Arial"/>
                <a:cs typeface="Arial"/>
                <a:sym typeface="Arial"/>
              </a:rPr>
              <a:t>At August 31, the company owed its employees $800 in salaries and wages that will be paid on September 1.</a:t>
            </a:r>
            <a:endParaRPr/>
          </a:p>
          <a:p>
            <a:pPr indent="-457200" lvl="0" marL="693738" marR="0" rtl="0" algn="l">
              <a:lnSpc>
                <a:spcPct val="110000"/>
              </a:lnSpc>
              <a:spcBef>
                <a:spcPts val="7200"/>
              </a:spcBef>
              <a:spcAft>
                <a:spcPts val="0"/>
              </a:spcAft>
              <a:buClr>
                <a:schemeClr val="dk1"/>
              </a:buClr>
              <a:buSzPts val="2000"/>
              <a:buFont typeface="Comic Sans MS"/>
              <a:buAutoNum type="arabicPeriod"/>
            </a:pPr>
            <a:r>
              <a:rPr b="0" lang="en-US" sz="2000">
                <a:solidFill>
                  <a:schemeClr val="dk1"/>
                </a:solidFill>
                <a:latin typeface="Arial"/>
                <a:ea typeface="Arial"/>
                <a:cs typeface="Arial"/>
                <a:sym typeface="Arial"/>
              </a:rPr>
              <a:t>On August 1, the company borrowed $30,000 from a local bank on a 15-year mortgage. The annual interest rate is 10%.</a:t>
            </a:r>
            <a:endParaRPr/>
          </a:p>
          <a:p>
            <a:pPr indent="-457200" lvl="0" marL="693738" marR="0" rtl="0" algn="l">
              <a:lnSpc>
                <a:spcPct val="110000"/>
              </a:lnSpc>
              <a:spcBef>
                <a:spcPts val="7200"/>
              </a:spcBef>
              <a:spcAft>
                <a:spcPts val="0"/>
              </a:spcAft>
              <a:buClr>
                <a:schemeClr val="dk1"/>
              </a:buClr>
              <a:buSzPts val="2000"/>
              <a:buFont typeface="Comic Sans MS"/>
              <a:buAutoNum type="arabicPeriod"/>
            </a:pPr>
            <a:r>
              <a:rPr b="0" lang="en-US" sz="2000">
                <a:solidFill>
                  <a:schemeClr val="dk1"/>
                </a:solidFill>
                <a:latin typeface="Arial"/>
                <a:ea typeface="Arial"/>
                <a:cs typeface="Arial"/>
                <a:sym typeface="Arial"/>
              </a:rPr>
              <a:t>Revenue for services performed but unrecorded for August totaled $1,100.</a:t>
            </a:r>
            <a:endParaRPr b="0" sz="2000">
              <a:solidFill>
                <a:schemeClr val="dk1"/>
              </a:solidFill>
              <a:latin typeface="Arial"/>
              <a:ea typeface="Arial"/>
              <a:cs typeface="Arial"/>
              <a:sym typeface="Arial"/>
            </a:endParaRPr>
          </a:p>
        </p:txBody>
      </p:sp>
      <p:cxnSp>
        <p:nvCxnSpPr>
          <p:cNvPr id="726" name="Google Shape;726;p56"/>
          <p:cNvCxnSpPr/>
          <p:nvPr/>
        </p:nvCxnSpPr>
        <p:spPr>
          <a:xfrm>
            <a:off x="290286" y="784324"/>
            <a:ext cx="8636000" cy="1489"/>
          </a:xfrm>
          <a:prstGeom prst="straightConnector1">
            <a:avLst/>
          </a:prstGeom>
          <a:noFill/>
          <a:ln cap="flat" cmpd="sng" w="57150">
            <a:solidFill>
              <a:srgbClr val="FF9900"/>
            </a:solidFill>
            <a:prstDash val="solid"/>
            <a:round/>
            <a:headEnd len="med" w="med" type="none"/>
            <a:tailEnd len="med" w="med" type="none"/>
          </a:ln>
        </p:spPr>
      </p:cxnSp>
      <p:pic>
        <p:nvPicPr>
          <p:cNvPr id="727" name="Google Shape;727;p56"/>
          <p:cNvPicPr preferRelativeResize="0"/>
          <p:nvPr/>
        </p:nvPicPr>
        <p:blipFill rotWithShape="1">
          <a:blip r:embed="rId3">
            <a:alphaModFix/>
          </a:blip>
          <a:srcRect b="0" l="0" r="0" t="0"/>
          <a:stretch/>
        </p:blipFill>
        <p:spPr>
          <a:xfrm>
            <a:off x="580571" y="395883"/>
            <a:ext cx="1669143" cy="604242"/>
          </a:xfrm>
          <a:prstGeom prst="rect">
            <a:avLst/>
          </a:prstGeom>
          <a:noFill/>
          <a:ln>
            <a:noFill/>
          </a:ln>
        </p:spPr>
      </p:pic>
      <p:pic>
        <p:nvPicPr>
          <p:cNvPr id="728" name="Google Shape;728;p56"/>
          <p:cNvPicPr preferRelativeResize="0"/>
          <p:nvPr/>
        </p:nvPicPr>
        <p:blipFill rotWithShape="1">
          <a:blip r:embed="rId4">
            <a:alphaModFix/>
          </a:blip>
          <a:srcRect b="0" l="0" r="0" t="0"/>
          <a:stretch/>
        </p:blipFill>
        <p:spPr>
          <a:xfrm>
            <a:off x="290286" y="357188"/>
            <a:ext cx="8636000" cy="823465"/>
          </a:xfrm>
          <a:prstGeom prst="rect">
            <a:avLst/>
          </a:prstGeom>
          <a:noFill/>
          <a:ln>
            <a:noFill/>
          </a:ln>
        </p:spPr>
      </p:pic>
      <p:pic>
        <p:nvPicPr>
          <p:cNvPr id="729" name="Google Shape;729;p56"/>
          <p:cNvPicPr preferRelativeResize="0"/>
          <p:nvPr/>
        </p:nvPicPr>
        <p:blipFill rotWithShape="1">
          <a:blip r:embed="rId5">
            <a:alphaModFix/>
          </a:blip>
          <a:srcRect b="0" l="0" r="0" t="0"/>
          <a:stretch/>
        </p:blipFill>
        <p:spPr>
          <a:xfrm>
            <a:off x="3410857" y="586815"/>
            <a:ext cx="3144567" cy="413310"/>
          </a:xfrm>
          <a:prstGeom prst="rect">
            <a:avLst/>
          </a:prstGeom>
          <a:noFill/>
          <a:ln>
            <a:noFill/>
          </a:ln>
        </p:spPr>
      </p:pic>
      <p:pic>
        <p:nvPicPr>
          <p:cNvPr id="730" name="Google Shape;730;p56"/>
          <p:cNvPicPr preferRelativeResize="0"/>
          <p:nvPr/>
        </p:nvPicPr>
        <p:blipFill rotWithShape="1">
          <a:blip r:embed="rId6">
            <a:alphaModFix/>
          </a:blip>
          <a:srcRect b="0" l="0" r="0" t="0"/>
          <a:stretch/>
        </p:blipFill>
        <p:spPr>
          <a:xfrm>
            <a:off x="2493472" y="571501"/>
            <a:ext cx="409385" cy="344759"/>
          </a:xfrm>
          <a:prstGeom prst="rect">
            <a:avLst/>
          </a:prstGeom>
          <a:noFill/>
          <a:ln>
            <a:noFill/>
          </a:ln>
        </p:spPr>
      </p:pic>
      <p:sp>
        <p:nvSpPr>
          <p:cNvPr id="731" name="Google Shape;731;p56"/>
          <p:cNvSpPr txBox="1"/>
          <p:nvPr/>
        </p:nvSpPr>
        <p:spPr>
          <a:xfrm>
            <a:off x="2467428" y="428625"/>
            <a:ext cx="435429" cy="641336"/>
          </a:xfrm>
          <a:prstGeom prst="rect">
            <a:avLst/>
          </a:prstGeom>
          <a:noFill/>
          <a:ln>
            <a:noFill/>
          </a:ln>
        </p:spPr>
        <p:txBody>
          <a:bodyPr anchorCtr="0" anchor="t" bIns="43225" lIns="86475" spcFirstLastPara="1" rIns="86475" wrap="square" tIns="43225">
            <a:spAutoFit/>
          </a:bodyPr>
          <a:lstStyle/>
          <a:p>
            <a:pPr indent="0" lvl="0" marL="0" marR="0" rtl="0" algn="l">
              <a:spcBef>
                <a:spcPts val="0"/>
              </a:spcBef>
              <a:spcAft>
                <a:spcPts val="0"/>
              </a:spcAft>
              <a:buNone/>
            </a:pPr>
            <a:r>
              <a:rPr b="1" lang="en-US" sz="3600">
                <a:solidFill>
                  <a:srgbClr val="FF9900"/>
                </a:solidFill>
                <a:latin typeface="Arial"/>
                <a:ea typeface="Arial"/>
                <a:cs typeface="Arial"/>
                <a:sym typeface="Arial"/>
              </a:rPr>
              <a:t>3</a:t>
            </a:r>
            <a:endParaRPr b="1" sz="3600">
              <a:solidFill>
                <a:srgbClr val="FF9900"/>
              </a:solidFill>
              <a:latin typeface="Arial"/>
              <a:ea typeface="Arial"/>
              <a:cs typeface="Arial"/>
              <a:sym typeface="Arial"/>
            </a:endParaRPr>
          </a:p>
        </p:txBody>
      </p:sp>
      <p:sp>
        <p:nvSpPr>
          <p:cNvPr id="732" name="Google Shape;732;p56"/>
          <p:cNvSpPr txBox="1"/>
          <p:nvPr/>
        </p:nvSpPr>
        <p:spPr>
          <a:xfrm>
            <a:off x="3338286" y="508909"/>
            <a:ext cx="5515429" cy="519373"/>
          </a:xfrm>
          <a:prstGeom prst="rect">
            <a:avLst/>
          </a:prstGeom>
          <a:noFill/>
          <a:ln>
            <a:noFill/>
          </a:ln>
        </p:spPr>
        <p:txBody>
          <a:bodyPr anchorCtr="0" anchor="t" bIns="43225" lIns="86475" spcFirstLastPara="1" rIns="86475" wrap="square" tIns="43225">
            <a:spAutoFit/>
          </a:bodyPr>
          <a:lstStyle/>
          <a:p>
            <a:pPr indent="0" lvl="0" marL="111120" marR="0" rtl="0" algn="l">
              <a:spcBef>
                <a:spcPts val="0"/>
              </a:spcBef>
              <a:spcAft>
                <a:spcPts val="0"/>
              </a:spcAft>
              <a:buNone/>
            </a:pPr>
            <a:r>
              <a:rPr b="1" lang="en-US" sz="2800">
                <a:solidFill>
                  <a:schemeClr val="lt1"/>
                </a:solidFill>
                <a:latin typeface="Arial"/>
                <a:ea typeface="Arial"/>
                <a:cs typeface="Arial"/>
                <a:sym typeface="Arial"/>
              </a:rPr>
              <a:t>Adjusting Entries for Accruals</a:t>
            </a:r>
            <a:endParaRPr b="1" sz="2800">
              <a:solidFill>
                <a:schemeClr val="lt1"/>
              </a:solidFill>
              <a:latin typeface="Arial"/>
              <a:ea typeface="Arial"/>
              <a:cs typeface="Arial"/>
              <a:sym typeface="Arial"/>
            </a:endParaRPr>
          </a:p>
        </p:txBody>
      </p:sp>
      <p:pic>
        <p:nvPicPr>
          <p:cNvPr id="733" name="Google Shape;733;p56"/>
          <p:cNvPicPr preferRelativeResize="0"/>
          <p:nvPr/>
        </p:nvPicPr>
        <p:blipFill rotWithShape="1">
          <a:blip r:embed="rId7">
            <a:alphaModFix/>
          </a:blip>
          <a:srcRect b="0" l="0" r="0" t="0"/>
          <a:stretch/>
        </p:blipFill>
        <p:spPr>
          <a:xfrm rot="10800000">
            <a:off x="457200" y="501930"/>
            <a:ext cx="1600200" cy="564870"/>
          </a:xfrm>
          <a:prstGeom prst="rect">
            <a:avLst/>
          </a:prstGeom>
          <a:noFill/>
          <a:ln>
            <a:noFill/>
          </a:ln>
        </p:spPr>
      </p:pic>
      <p:sp>
        <p:nvSpPr>
          <p:cNvPr id="734" name="Google Shape;734;p56"/>
          <p:cNvSpPr txBox="1"/>
          <p:nvPr/>
        </p:nvSpPr>
        <p:spPr>
          <a:xfrm>
            <a:off x="304800" y="381000"/>
            <a:ext cx="2209800"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200">
                <a:solidFill>
                  <a:srgbClr val="FF9900"/>
                </a:solidFill>
                <a:latin typeface="Arial"/>
                <a:ea typeface="Arial"/>
                <a:cs typeface="Arial"/>
                <a:sym typeface="Arial"/>
              </a:rPr>
              <a:t>DO IT!</a:t>
            </a:r>
            <a:endParaRPr b="1" sz="4200">
              <a:solidFill>
                <a:srgbClr val="FF9900"/>
              </a:solidFill>
              <a:latin typeface="Arial"/>
              <a:ea typeface="Arial"/>
              <a:cs typeface="Arial"/>
              <a:sym typeface="Arial"/>
            </a:endParaRPr>
          </a:p>
        </p:txBody>
      </p:sp>
      <p:sp>
        <p:nvSpPr>
          <p:cNvPr id="735" name="Google Shape;735;p56"/>
          <p:cNvSpPr/>
          <p:nvPr/>
        </p:nvSpPr>
        <p:spPr>
          <a:xfrm>
            <a:off x="1600200" y="2590800"/>
            <a:ext cx="7239000" cy="715581"/>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None/>
            </a:pPr>
            <a:r>
              <a:rPr b="1" lang="en-US" sz="1900">
                <a:solidFill>
                  <a:schemeClr val="dk1"/>
                </a:solidFill>
                <a:latin typeface="Arial"/>
                <a:ea typeface="Arial"/>
                <a:cs typeface="Arial"/>
                <a:sym typeface="Arial"/>
              </a:rPr>
              <a:t>Salaries and Wages Expense	800</a:t>
            </a:r>
            <a:endParaRPr b="1" sz="1900">
              <a:solidFill>
                <a:schemeClr val="dk1"/>
              </a:solidFill>
              <a:latin typeface="Arial"/>
              <a:ea typeface="Arial"/>
              <a:cs typeface="Arial"/>
              <a:sym typeface="Arial"/>
            </a:endParaRPr>
          </a:p>
          <a:p>
            <a:pPr indent="-457200" lvl="0" marL="457200" marR="0" rtl="0" algn="l">
              <a:spcBef>
                <a:spcPts val="300"/>
              </a:spcBef>
              <a:spcAft>
                <a:spcPts val="0"/>
              </a:spcAft>
              <a:buNone/>
            </a:pPr>
            <a:r>
              <a:rPr b="1" lang="en-US" sz="1900">
                <a:solidFill>
                  <a:schemeClr val="dk1"/>
                </a:solidFill>
                <a:latin typeface="Arial"/>
                <a:ea typeface="Arial"/>
                <a:cs typeface="Arial"/>
                <a:sym typeface="Arial"/>
              </a:rPr>
              <a:t>	Salaries and Wages Payable		800</a:t>
            </a:r>
            <a:endParaRPr b="1" sz="1900">
              <a:solidFill>
                <a:schemeClr val="dk1"/>
              </a:solidFill>
              <a:latin typeface="Arial"/>
              <a:ea typeface="Arial"/>
              <a:cs typeface="Arial"/>
              <a:sym typeface="Arial"/>
            </a:endParaRPr>
          </a:p>
        </p:txBody>
      </p:sp>
      <p:sp>
        <p:nvSpPr>
          <p:cNvPr id="736" name="Google Shape;736;p56"/>
          <p:cNvSpPr/>
          <p:nvPr/>
        </p:nvSpPr>
        <p:spPr>
          <a:xfrm>
            <a:off x="1600200" y="4161219"/>
            <a:ext cx="7239000" cy="715581"/>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None/>
            </a:pPr>
            <a:r>
              <a:rPr b="1" lang="en-US" sz="1900">
                <a:solidFill>
                  <a:schemeClr val="dk1"/>
                </a:solidFill>
                <a:latin typeface="Arial"/>
                <a:ea typeface="Arial"/>
                <a:cs typeface="Arial"/>
                <a:sym typeface="Arial"/>
              </a:rPr>
              <a:t>Interest Expense	250</a:t>
            </a:r>
            <a:endParaRPr b="1" sz="1900">
              <a:solidFill>
                <a:schemeClr val="dk1"/>
              </a:solidFill>
              <a:latin typeface="Arial"/>
              <a:ea typeface="Arial"/>
              <a:cs typeface="Arial"/>
              <a:sym typeface="Arial"/>
            </a:endParaRPr>
          </a:p>
          <a:p>
            <a:pPr indent="-457200" lvl="0" marL="457200" marR="0" rtl="0" algn="l">
              <a:spcBef>
                <a:spcPts val="300"/>
              </a:spcBef>
              <a:spcAft>
                <a:spcPts val="0"/>
              </a:spcAft>
              <a:buNone/>
            </a:pPr>
            <a:r>
              <a:rPr b="1" lang="en-US" sz="1900">
                <a:solidFill>
                  <a:schemeClr val="dk1"/>
                </a:solidFill>
                <a:latin typeface="Arial"/>
                <a:ea typeface="Arial"/>
                <a:cs typeface="Arial"/>
                <a:sym typeface="Arial"/>
              </a:rPr>
              <a:t>	Interest Payable		250</a:t>
            </a:r>
            <a:endParaRPr b="1" sz="1900">
              <a:solidFill>
                <a:schemeClr val="dk1"/>
              </a:solidFill>
              <a:latin typeface="Arial"/>
              <a:ea typeface="Arial"/>
              <a:cs typeface="Arial"/>
              <a:sym typeface="Arial"/>
            </a:endParaRPr>
          </a:p>
        </p:txBody>
      </p:sp>
      <p:sp>
        <p:nvSpPr>
          <p:cNvPr id="737" name="Google Shape;737;p56"/>
          <p:cNvSpPr/>
          <p:nvPr/>
        </p:nvSpPr>
        <p:spPr>
          <a:xfrm>
            <a:off x="1600200" y="5761419"/>
            <a:ext cx="7239000" cy="715581"/>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None/>
            </a:pPr>
            <a:r>
              <a:rPr b="1" lang="en-US" sz="1900">
                <a:solidFill>
                  <a:schemeClr val="dk1"/>
                </a:solidFill>
                <a:latin typeface="Arial"/>
                <a:ea typeface="Arial"/>
                <a:cs typeface="Arial"/>
                <a:sym typeface="Arial"/>
              </a:rPr>
              <a:t>Accounts Receivable	1,100</a:t>
            </a:r>
            <a:endParaRPr b="1" sz="1900">
              <a:solidFill>
                <a:schemeClr val="dk1"/>
              </a:solidFill>
              <a:latin typeface="Arial"/>
              <a:ea typeface="Arial"/>
              <a:cs typeface="Arial"/>
              <a:sym typeface="Arial"/>
            </a:endParaRPr>
          </a:p>
          <a:p>
            <a:pPr indent="-457200" lvl="0" marL="457200" marR="0" rtl="0" algn="l">
              <a:spcBef>
                <a:spcPts val="300"/>
              </a:spcBef>
              <a:spcAft>
                <a:spcPts val="0"/>
              </a:spcAft>
              <a:buNone/>
            </a:pPr>
            <a:r>
              <a:rPr b="1" lang="en-US" sz="1900">
                <a:solidFill>
                  <a:schemeClr val="dk1"/>
                </a:solidFill>
                <a:latin typeface="Arial"/>
                <a:ea typeface="Arial"/>
                <a:cs typeface="Arial"/>
                <a:sym typeface="Arial"/>
              </a:rPr>
              <a:t>	Service Revenue		1,100</a:t>
            </a:r>
            <a:endParaRPr b="1" sz="1900">
              <a:solidFill>
                <a:schemeClr val="dk1"/>
              </a:solidFill>
              <a:latin typeface="Arial"/>
              <a:ea typeface="Arial"/>
              <a:cs typeface="Arial"/>
              <a:sym typeface="Arial"/>
            </a:endParaRPr>
          </a:p>
        </p:txBody>
      </p:sp>
      <p:sp>
        <p:nvSpPr>
          <p:cNvPr id="738" name="Google Shape;738;p56"/>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3</a:t>
            </a:r>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5">
                                            <p:txEl>
                                              <p:pRg end="0" st="0"/>
                                            </p:txEl>
                                          </p:spTgt>
                                        </p:tgtEl>
                                        <p:attrNameLst>
                                          <p:attrName>style.visibility</p:attrName>
                                        </p:attrNameLst>
                                      </p:cBhvr>
                                      <p:to>
                                        <p:strVal val="visible"/>
                                      </p:to>
                                    </p:set>
                                    <p:animEffect filter="fade" transition="in">
                                      <p:cBhvr>
                                        <p:cTn dur="500"/>
                                        <p:tgtEl>
                                          <p:spTgt spid="73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5">
                                            <p:txEl>
                                              <p:pRg end="1" st="1"/>
                                            </p:txEl>
                                          </p:spTgt>
                                        </p:tgtEl>
                                        <p:attrNameLst>
                                          <p:attrName>style.visibility</p:attrName>
                                        </p:attrNameLst>
                                      </p:cBhvr>
                                      <p:to>
                                        <p:strVal val="visible"/>
                                      </p:to>
                                    </p:set>
                                    <p:animEffect filter="fade" transition="in">
                                      <p:cBhvr>
                                        <p:cTn dur="500"/>
                                        <p:tgtEl>
                                          <p:spTgt spid="73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6">
                                            <p:txEl>
                                              <p:pRg end="0" st="0"/>
                                            </p:txEl>
                                          </p:spTgt>
                                        </p:tgtEl>
                                        <p:attrNameLst>
                                          <p:attrName>style.visibility</p:attrName>
                                        </p:attrNameLst>
                                      </p:cBhvr>
                                      <p:to>
                                        <p:strVal val="visible"/>
                                      </p:to>
                                    </p:set>
                                    <p:animEffect filter="fade" transition="in">
                                      <p:cBhvr>
                                        <p:cTn dur="500"/>
                                        <p:tgtEl>
                                          <p:spTgt spid="73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6">
                                            <p:txEl>
                                              <p:pRg end="1" st="1"/>
                                            </p:txEl>
                                          </p:spTgt>
                                        </p:tgtEl>
                                        <p:attrNameLst>
                                          <p:attrName>style.visibility</p:attrName>
                                        </p:attrNameLst>
                                      </p:cBhvr>
                                      <p:to>
                                        <p:strVal val="visible"/>
                                      </p:to>
                                    </p:set>
                                    <p:animEffect filter="fade" transition="in">
                                      <p:cBhvr>
                                        <p:cTn dur="500"/>
                                        <p:tgtEl>
                                          <p:spTgt spid="73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7">
                                            <p:txEl>
                                              <p:pRg end="0" st="0"/>
                                            </p:txEl>
                                          </p:spTgt>
                                        </p:tgtEl>
                                        <p:attrNameLst>
                                          <p:attrName>style.visibility</p:attrName>
                                        </p:attrNameLst>
                                      </p:cBhvr>
                                      <p:to>
                                        <p:strVal val="visible"/>
                                      </p:to>
                                    </p:set>
                                    <p:animEffect filter="fade" transition="in">
                                      <p:cBhvr>
                                        <p:cTn dur="500"/>
                                        <p:tgtEl>
                                          <p:spTgt spid="73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7">
                                            <p:txEl>
                                              <p:pRg end="1" st="1"/>
                                            </p:txEl>
                                          </p:spTgt>
                                        </p:tgtEl>
                                        <p:attrNameLst>
                                          <p:attrName>style.visibility</p:attrName>
                                        </p:attrNameLst>
                                      </p:cBhvr>
                                      <p:to>
                                        <p:strVal val="visible"/>
                                      </p:to>
                                    </p:set>
                                    <p:animEffect filter="fade" transition="in">
                                      <p:cBhvr>
                                        <p:cTn dur="500"/>
                                        <p:tgtEl>
                                          <p:spTgt spid="737">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p57"/>
          <p:cNvSpPr txBox="1"/>
          <p:nvPr/>
        </p:nvSpPr>
        <p:spPr>
          <a:xfrm>
            <a:off x="609600" y="1504950"/>
            <a:ext cx="7924800" cy="433631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en-US" sz="2800">
                <a:solidFill>
                  <a:schemeClr val="dk1"/>
                </a:solidFill>
                <a:latin typeface="Arial"/>
                <a:ea typeface="Arial"/>
                <a:cs typeface="Arial"/>
                <a:sym typeface="Arial"/>
              </a:rPr>
              <a:t>Adjusted Trial Balance</a:t>
            </a:r>
            <a:endParaRPr b="0" sz="2800">
              <a:solidFill>
                <a:schemeClr val="dk1"/>
              </a:solidFill>
              <a:latin typeface="Arial"/>
              <a:ea typeface="Arial"/>
              <a:cs typeface="Arial"/>
              <a:sym typeface="Arial"/>
            </a:endParaRPr>
          </a:p>
          <a:p>
            <a:pPr indent="-457200" lvl="1" marL="685800" marR="0" rtl="0" algn="l">
              <a:lnSpc>
                <a:spcPct val="120000"/>
              </a:lnSpc>
              <a:spcBef>
                <a:spcPts val="1540"/>
              </a:spcBef>
              <a:spcAft>
                <a:spcPts val="0"/>
              </a:spcAft>
              <a:buClr>
                <a:srgbClr val="800000"/>
              </a:buClr>
              <a:buSzPts val="1760"/>
              <a:buFont typeface="Noto Sans Symbols"/>
              <a:buChar char="◆"/>
            </a:pPr>
            <a:r>
              <a:rPr b="0" i="0" lang="en-US" sz="2200" u="none" cap="none" strike="noStrike">
                <a:solidFill>
                  <a:schemeClr val="dk1"/>
                </a:solidFill>
                <a:latin typeface="Arial"/>
                <a:ea typeface="Arial"/>
                <a:cs typeface="Arial"/>
                <a:sym typeface="Arial"/>
              </a:rPr>
              <a:t>Prepared </a:t>
            </a:r>
            <a:r>
              <a:rPr b="1" i="0" lang="en-US" sz="2200" u="none" cap="none" strike="noStrike">
                <a:solidFill>
                  <a:schemeClr val="dk1"/>
                </a:solidFill>
                <a:latin typeface="Arial"/>
                <a:ea typeface="Arial"/>
                <a:cs typeface="Arial"/>
                <a:sym typeface="Arial"/>
              </a:rPr>
              <a:t>after all adjusting entries</a:t>
            </a:r>
            <a:r>
              <a:rPr b="0" i="0" lang="en-US" sz="2200" u="none" cap="none" strike="noStrike">
                <a:solidFill>
                  <a:schemeClr val="dk1"/>
                </a:solidFill>
                <a:latin typeface="Arial"/>
                <a:ea typeface="Arial"/>
                <a:cs typeface="Arial"/>
                <a:sym typeface="Arial"/>
              </a:rPr>
              <a:t> are journalized and posted.</a:t>
            </a:r>
            <a:endParaRPr/>
          </a:p>
          <a:p>
            <a:pPr indent="-457200" lvl="1" marL="685800" marR="0" rtl="0" algn="l">
              <a:lnSpc>
                <a:spcPct val="120000"/>
              </a:lnSpc>
              <a:spcBef>
                <a:spcPts val="1540"/>
              </a:spcBef>
              <a:spcAft>
                <a:spcPts val="0"/>
              </a:spcAft>
              <a:buClr>
                <a:srgbClr val="800000"/>
              </a:buClr>
              <a:buSzPts val="1760"/>
              <a:buFont typeface="Noto Sans Symbols"/>
              <a:buChar char="◆"/>
            </a:pPr>
            <a:r>
              <a:rPr b="0" i="0" lang="en-US" sz="2200" u="none" cap="none" strike="noStrike">
                <a:solidFill>
                  <a:schemeClr val="dk1"/>
                </a:solidFill>
                <a:latin typeface="Arial"/>
                <a:ea typeface="Arial"/>
                <a:cs typeface="Arial"/>
                <a:sym typeface="Arial"/>
              </a:rPr>
              <a:t>Purpose is to </a:t>
            </a:r>
            <a:r>
              <a:rPr b="1" i="0" lang="en-US" sz="2200" u="none" cap="none" strike="noStrike">
                <a:solidFill>
                  <a:schemeClr val="dk1"/>
                </a:solidFill>
                <a:latin typeface="Arial"/>
                <a:ea typeface="Arial"/>
                <a:cs typeface="Arial"/>
                <a:sym typeface="Arial"/>
              </a:rPr>
              <a:t>prove the equality</a:t>
            </a:r>
            <a:r>
              <a:rPr b="0" i="0" lang="en-US" sz="2200" u="none" cap="none" strike="noStrike">
                <a:solidFill>
                  <a:schemeClr val="dk1"/>
                </a:solidFill>
                <a:latin typeface="Arial"/>
                <a:ea typeface="Arial"/>
                <a:cs typeface="Arial"/>
                <a:sym typeface="Arial"/>
              </a:rPr>
              <a:t> of debit balances and credit balances in the ledger. </a:t>
            </a:r>
            <a:endParaRPr/>
          </a:p>
          <a:p>
            <a:pPr indent="-457200" lvl="1" marL="685800" marR="0" rtl="0" algn="l">
              <a:lnSpc>
                <a:spcPct val="120000"/>
              </a:lnSpc>
              <a:spcBef>
                <a:spcPts val="1540"/>
              </a:spcBef>
              <a:spcAft>
                <a:spcPts val="0"/>
              </a:spcAft>
              <a:buClr>
                <a:srgbClr val="800000"/>
              </a:buClr>
              <a:buSzPts val="1760"/>
              <a:buFont typeface="Noto Sans Symbols"/>
              <a:buChar char="◆"/>
            </a:pPr>
            <a:r>
              <a:rPr b="0" i="0" lang="en-US" sz="2200" u="none" cap="none" strike="noStrike">
                <a:solidFill>
                  <a:schemeClr val="dk1"/>
                </a:solidFill>
                <a:latin typeface="Arial"/>
                <a:ea typeface="Arial"/>
                <a:cs typeface="Arial"/>
                <a:sym typeface="Arial"/>
              </a:rPr>
              <a:t>Is the </a:t>
            </a:r>
            <a:r>
              <a:rPr b="1" i="0" lang="en-US" sz="2200" u="none" cap="none" strike="noStrike">
                <a:solidFill>
                  <a:schemeClr val="dk1"/>
                </a:solidFill>
                <a:latin typeface="Arial"/>
                <a:ea typeface="Arial"/>
                <a:cs typeface="Arial"/>
                <a:sym typeface="Arial"/>
              </a:rPr>
              <a:t>primary basis for the preparation of financial statements</a:t>
            </a:r>
            <a:r>
              <a:rPr b="0" i="0" lang="en-US" sz="2200" u="none" cap="none" strike="noStrike">
                <a:solidFill>
                  <a:schemeClr val="dk1"/>
                </a:solidFill>
                <a:latin typeface="Arial"/>
                <a:ea typeface="Arial"/>
                <a:cs typeface="Arial"/>
                <a:sym typeface="Arial"/>
              </a:rPr>
              <a:t>.</a:t>
            </a:r>
            <a:endParaRPr/>
          </a:p>
          <a:p>
            <a:pPr indent="-350520" lvl="1" marL="685800" marR="0" rtl="0" algn="l">
              <a:lnSpc>
                <a:spcPct val="120000"/>
              </a:lnSpc>
              <a:spcBef>
                <a:spcPts val="1470"/>
              </a:spcBef>
              <a:spcAft>
                <a:spcPts val="0"/>
              </a:spcAft>
              <a:buClr>
                <a:srgbClr val="800000"/>
              </a:buClr>
              <a:buSzPts val="1680"/>
              <a:buFont typeface="Noto Sans Symbols"/>
              <a:buNone/>
            </a:pPr>
            <a:r>
              <a:t/>
            </a:r>
            <a:endParaRPr b="0" i="0" sz="2100" u="none" cap="none" strike="noStrike">
              <a:solidFill>
                <a:schemeClr val="dk1"/>
              </a:solidFill>
              <a:latin typeface="Arial"/>
              <a:ea typeface="Arial"/>
              <a:cs typeface="Arial"/>
              <a:sym typeface="Arial"/>
            </a:endParaRPr>
          </a:p>
        </p:txBody>
      </p:sp>
      <p:sp>
        <p:nvSpPr>
          <p:cNvPr id="744" name="Google Shape;744;p57"/>
          <p:cNvSpPr/>
          <p:nvPr/>
        </p:nvSpPr>
        <p:spPr>
          <a:xfrm>
            <a:off x="290286" y="405765"/>
            <a:ext cx="2249714" cy="677228"/>
          </a:xfrm>
          <a:prstGeom prst="rect">
            <a:avLst/>
          </a:prstGeom>
          <a:solidFill>
            <a:srgbClr val="D8D8D8"/>
          </a:solidFill>
          <a:ln>
            <a:noFill/>
          </a:ln>
        </p:spPr>
        <p:txBody>
          <a:bodyPr anchorCtr="0" anchor="ctr" bIns="43225" lIns="86475" spcFirstLastPara="1" rIns="86475" wrap="square" tIns="43225">
            <a:noAutofit/>
          </a:bodyPr>
          <a:lstStyle/>
          <a:p>
            <a:pPr indent="0" lvl="0" marL="0" marR="0" rtl="0" algn="l">
              <a:spcBef>
                <a:spcPts val="0"/>
              </a:spcBef>
              <a:spcAft>
                <a:spcPts val="0"/>
              </a:spcAft>
              <a:buNone/>
            </a:pPr>
            <a:r>
              <a:rPr b="1" lang="en-US" sz="1700">
                <a:solidFill>
                  <a:schemeClr val="dk1"/>
                </a:solidFill>
                <a:latin typeface="Arial"/>
                <a:ea typeface="Arial"/>
                <a:cs typeface="Arial"/>
                <a:sym typeface="Arial"/>
              </a:rPr>
              <a:t>LEARNING</a:t>
            </a:r>
            <a:endParaRPr/>
          </a:p>
          <a:p>
            <a:pPr indent="0" lvl="0" marL="0" marR="0" rtl="0" algn="l">
              <a:spcBef>
                <a:spcPts val="0"/>
              </a:spcBef>
              <a:spcAft>
                <a:spcPts val="0"/>
              </a:spcAft>
              <a:buNone/>
            </a:pPr>
            <a:r>
              <a:rPr b="1" lang="en-US" sz="1700">
                <a:solidFill>
                  <a:schemeClr val="dk1"/>
                </a:solidFill>
                <a:latin typeface="Arial"/>
                <a:ea typeface="Arial"/>
                <a:cs typeface="Arial"/>
                <a:sym typeface="Arial"/>
              </a:rPr>
              <a:t>OBJECTIVE</a:t>
            </a:r>
            <a:endParaRPr/>
          </a:p>
        </p:txBody>
      </p:sp>
      <p:sp>
        <p:nvSpPr>
          <p:cNvPr id="745" name="Google Shape;745;p57"/>
          <p:cNvSpPr/>
          <p:nvPr/>
        </p:nvSpPr>
        <p:spPr>
          <a:xfrm>
            <a:off x="2540000" y="274320"/>
            <a:ext cx="6241143" cy="928688"/>
          </a:xfrm>
          <a:prstGeom prst="rect">
            <a:avLst/>
          </a:prstGeom>
          <a:solidFill>
            <a:srgbClr val="0027A4"/>
          </a:solidFill>
          <a:ln>
            <a:noFill/>
          </a:ln>
        </p:spPr>
        <p:txBody>
          <a:bodyPr anchorCtr="0" anchor="ctr" bIns="45700" lIns="91425" spcFirstLastPara="1" rIns="91425" wrap="square" tIns="27425">
            <a:noAutofit/>
          </a:bodyPr>
          <a:lstStyle/>
          <a:p>
            <a:pPr indent="0" lvl="0" marL="117475" marR="0" rtl="0" algn="l">
              <a:spcBef>
                <a:spcPts val="0"/>
              </a:spcBef>
              <a:spcAft>
                <a:spcPts val="0"/>
              </a:spcAft>
              <a:buNone/>
            </a:pPr>
            <a:r>
              <a:rPr b="1" lang="en-US" sz="2400">
                <a:solidFill>
                  <a:schemeClr val="lt1"/>
                </a:solidFill>
                <a:latin typeface="Arial"/>
                <a:ea typeface="Arial"/>
                <a:cs typeface="Arial"/>
                <a:sym typeface="Arial"/>
              </a:rPr>
              <a:t>Describe the nature and purpose of an adjusted trial balance</a:t>
            </a:r>
            <a:r>
              <a:rPr b="1" lang="en-US" sz="2500">
                <a:solidFill>
                  <a:schemeClr val="lt1"/>
                </a:solidFill>
                <a:latin typeface="Arial"/>
                <a:ea typeface="Arial"/>
                <a:cs typeface="Arial"/>
                <a:sym typeface="Arial"/>
              </a:rPr>
              <a:t>.</a:t>
            </a:r>
            <a:endParaRPr b="1" sz="2500">
              <a:solidFill>
                <a:schemeClr val="lt1"/>
              </a:solidFill>
              <a:latin typeface="Arial"/>
              <a:ea typeface="Arial"/>
              <a:cs typeface="Arial"/>
              <a:sym typeface="Arial"/>
            </a:endParaRPr>
          </a:p>
        </p:txBody>
      </p:sp>
      <p:sp>
        <p:nvSpPr>
          <p:cNvPr id="746" name="Google Shape;746;p57"/>
          <p:cNvSpPr/>
          <p:nvPr/>
        </p:nvSpPr>
        <p:spPr>
          <a:xfrm>
            <a:off x="1872343" y="485775"/>
            <a:ext cx="522514" cy="514350"/>
          </a:xfrm>
          <a:prstGeom prst="ellipse">
            <a:avLst/>
          </a:prstGeom>
          <a:solidFill>
            <a:srgbClr val="FF6600"/>
          </a:solidFill>
          <a:ln>
            <a:noFill/>
          </a:ln>
        </p:spPr>
        <p:txBody>
          <a:bodyPr anchorCtr="0" anchor="ctr" bIns="43225" lIns="86475" spcFirstLastPara="1" rIns="86475" wrap="square" tIns="0">
            <a:noAutofit/>
          </a:bodyPr>
          <a:lstStyle/>
          <a:p>
            <a:pPr indent="0" lvl="0" marL="0" marR="0" rtl="0" algn="ctr">
              <a:spcBef>
                <a:spcPts val="0"/>
              </a:spcBef>
              <a:spcAft>
                <a:spcPts val="0"/>
              </a:spcAft>
              <a:buNone/>
            </a:pPr>
            <a:r>
              <a:rPr b="1" lang="en-US" sz="2400">
                <a:solidFill>
                  <a:schemeClr val="lt1"/>
                </a:solidFill>
                <a:latin typeface="Arial"/>
                <a:ea typeface="Arial"/>
                <a:cs typeface="Arial"/>
                <a:sym typeface="Arial"/>
              </a:rPr>
              <a:t>4</a:t>
            </a:r>
            <a:endParaRPr b="1" sz="2400">
              <a:solidFill>
                <a:schemeClr val="lt1"/>
              </a:solidFill>
              <a:latin typeface="Arial"/>
              <a:ea typeface="Arial"/>
              <a:cs typeface="Arial"/>
              <a:sym typeface="Arial"/>
            </a:endParaRPr>
          </a:p>
        </p:txBody>
      </p:sp>
      <p:sp>
        <p:nvSpPr>
          <p:cNvPr id="747" name="Google Shape;747;p57"/>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4</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pic>
        <p:nvPicPr>
          <p:cNvPr id="752" name="Google Shape;752;p58"/>
          <p:cNvPicPr preferRelativeResize="0"/>
          <p:nvPr/>
        </p:nvPicPr>
        <p:blipFill rotWithShape="1">
          <a:blip r:embed="rId3">
            <a:alphaModFix/>
          </a:blip>
          <a:srcRect b="0" l="0" r="0" t="0"/>
          <a:stretch/>
        </p:blipFill>
        <p:spPr>
          <a:xfrm>
            <a:off x="1143000" y="279400"/>
            <a:ext cx="6837994" cy="6350000"/>
          </a:xfrm>
          <a:prstGeom prst="rect">
            <a:avLst/>
          </a:prstGeom>
          <a:noFill/>
          <a:ln cap="sq" cmpd="sng" w="19050">
            <a:solidFill>
              <a:schemeClr val="dk1"/>
            </a:solidFill>
            <a:prstDash val="solid"/>
            <a:miter lim="800000"/>
            <a:headEnd len="sm" w="sm" type="none"/>
            <a:tailEnd len="sm" w="sm" type="none"/>
          </a:ln>
        </p:spPr>
      </p:pic>
      <p:sp>
        <p:nvSpPr>
          <p:cNvPr id="753" name="Google Shape;753;p58"/>
          <p:cNvSpPr txBox="1"/>
          <p:nvPr/>
        </p:nvSpPr>
        <p:spPr>
          <a:xfrm>
            <a:off x="6553200" y="322263"/>
            <a:ext cx="1371600" cy="287337"/>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200">
                <a:solidFill>
                  <a:schemeClr val="lt1"/>
                </a:solidFill>
                <a:latin typeface="Arial"/>
                <a:ea typeface="Arial"/>
                <a:cs typeface="Arial"/>
                <a:sym typeface="Arial"/>
              </a:rPr>
              <a:t>Illustration 3-25</a:t>
            </a:r>
            <a:endParaRPr/>
          </a:p>
        </p:txBody>
      </p:sp>
      <p:pic>
        <p:nvPicPr>
          <p:cNvPr id="754" name="Google Shape;754;p58"/>
          <p:cNvPicPr preferRelativeResize="0"/>
          <p:nvPr/>
        </p:nvPicPr>
        <p:blipFill rotWithShape="1">
          <a:blip r:embed="rId4">
            <a:alphaModFix/>
          </a:blip>
          <a:srcRect b="0" l="0" r="0" t="0"/>
          <a:stretch/>
        </p:blipFill>
        <p:spPr>
          <a:xfrm>
            <a:off x="1143000" y="304800"/>
            <a:ext cx="609600" cy="762000"/>
          </a:xfrm>
          <a:prstGeom prst="rect">
            <a:avLst/>
          </a:prstGeom>
          <a:noFill/>
          <a:ln>
            <a:noFill/>
          </a:ln>
        </p:spPr>
      </p:pic>
      <p:sp>
        <p:nvSpPr>
          <p:cNvPr id="755" name="Google Shape;755;p58"/>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4</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Google Shape;760;p59"/>
          <p:cNvSpPr/>
          <p:nvPr/>
        </p:nvSpPr>
        <p:spPr>
          <a:xfrm>
            <a:off x="533400" y="1905000"/>
            <a:ext cx="7924800" cy="4343400"/>
          </a:xfrm>
          <a:prstGeom prst="rect">
            <a:avLst/>
          </a:prstGeom>
          <a:solidFill>
            <a:schemeClr val="lt1"/>
          </a:solidFill>
          <a:ln>
            <a:noFill/>
          </a:ln>
        </p:spPr>
        <p:txBody>
          <a:bodyPr anchorCtr="0" anchor="t" bIns="46025" lIns="182550" spcFirstLastPara="1" rIns="182550" wrap="square" tIns="46025">
            <a:noAutofit/>
          </a:bodyPr>
          <a:lstStyle/>
          <a:p>
            <a:pPr indent="0" lvl="0" marL="0" marR="0" rtl="0" algn="l">
              <a:lnSpc>
                <a:spcPct val="120000"/>
              </a:lnSpc>
              <a:spcBef>
                <a:spcPts val="0"/>
              </a:spcBef>
              <a:spcAft>
                <a:spcPts val="0"/>
              </a:spcAft>
              <a:buClr>
                <a:schemeClr val="accent2"/>
              </a:buClr>
              <a:buSzPts val="1425"/>
              <a:buFont typeface="Noto Sans Symbols"/>
              <a:buNone/>
            </a:pPr>
            <a:r>
              <a:rPr b="0" lang="en-US" sz="1900">
                <a:solidFill>
                  <a:schemeClr val="dk1"/>
                </a:solidFill>
                <a:latin typeface="Arial"/>
                <a:ea typeface="Arial"/>
                <a:cs typeface="Arial"/>
                <a:sym typeface="Arial"/>
              </a:rPr>
              <a:t>Which of the following statements is </a:t>
            </a:r>
            <a:r>
              <a:rPr b="0" i="1" lang="en-US" sz="1900">
                <a:solidFill>
                  <a:schemeClr val="dk1"/>
                </a:solidFill>
                <a:latin typeface="Arial"/>
                <a:ea typeface="Arial"/>
                <a:cs typeface="Arial"/>
                <a:sym typeface="Arial"/>
              </a:rPr>
              <a:t>incorrect </a:t>
            </a:r>
            <a:r>
              <a:rPr b="0" lang="en-US" sz="1900">
                <a:solidFill>
                  <a:schemeClr val="dk1"/>
                </a:solidFill>
                <a:latin typeface="Arial"/>
                <a:ea typeface="Arial"/>
                <a:cs typeface="Arial"/>
                <a:sym typeface="Arial"/>
              </a:rPr>
              <a:t>concerning the adjusted trial balance?</a:t>
            </a:r>
            <a:endParaRPr/>
          </a:p>
          <a:p>
            <a:pPr indent="-388938" lvl="1" marL="623888" marR="0" rtl="0" algn="l">
              <a:lnSpc>
                <a:spcPct val="120000"/>
              </a:lnSpc>
              <a:spcBef>
                <a:spcPts val="570"/>
              </a:spcBef>
              <a:spcAft>
                <a:spcPts val="0"/>
              </a:spcAft>
              <a:buClr>
                <a:schemeClr val="dk1"/>
              </a:buClr>
              <a:buSzPts val="1900"/>
              <a:buFont typeface="Noto Sans Symbols"/>
              <a:buAutoNum type="alphaLcPeriod"/>
            </a:pPr>
            <a:r>
              <a:rPr b="0" i="0" lang="en-US" sz="1900" u="none" cap="none" strike="noStrike">
                <a:solidFill>
                  <a:schemeClr val="dk1"/>
                </a:solidFill>
                <a:latin typeface="Arial"/>
                <a:ea typeface="Arial"/>
                <a:cs typeface="Arial"/>
                <a:sym typeface="Arial"/>
              </a:rPr>
              <a:t>An adjusted trial balance proves the equality of the  total debit balances and the total credit balances in the ledger after all adjustments are made.</a:t>
            </a:r>
            <a:endParaRPr/>
          </a:p>
          <a:p>
            <a:pPr indent="-388938" lvl="1" marL="623888" marR="0" rtl="0" algn="l">
              <a:lnSpc>
                <a:spcPct val="120000"/>
              </a:lnSpc>
              <a:spcBef>
                <a:spcPts val="570"/>
              </a:spcBef>
              <a:spcAft>
                <a:spcPts val="0"/>
              </a:spcAft>
              <a:buClr>
                <a:schemeClr val="dk1"/>
              </a:buClr>
              <a:buSzPts val="1900"/>
              <a:buFont typeface="Noto Sans Symbols"/>
              <a:buAutoNum type="alphaLcPeriod"/>
            </a:pPr>
            <a:r>
              <a:rPr b="0" i="0" lang="en-US" sz="1900" u="none" cap="none" strike="noStrike">
                <a:solidFill>
                  <a:schemeClr val="dk1"/>
                </a:solidFill>
                <a:latin typeface="Arial"/>
                <a:ea typeface="Arial"/>
                <a:cs typeface="Arial"/>
                <a:sym typeface="Arial"/>
              </a:rPr>
              <a:t>The adjusted trial balance provides the primary basis for the preparation of financial statements. </a:t>
            </a:r>
            <a:endParaRPr/>
          </a:p>
          <a:p>
            <a:pPr indent="-388938" lvl="1" marL="623888" marR="0" rtl="0" algn="l">
              <a:lnSpc>
                <a:spcPct val="120000"/>
              </a:lnSpc>
              <a:spcBef>
                <a:spcPts val="570"/>
              </a:spcBef>
              <a:spcAft>
                <a:spcPts val="0"/>
              </a:spcAft>
              <a:buClr>
                <a:schemeClr val="dk1"/>
              </a:buClr>
              <a:buSzPts val="1900"/>
              <a:buFont typeface="Noto Sans Symbols"/>
              <a:buAutoNum type="alphaLcPeriod"/>
            </a:pPr>
            <a:r>
              <a:rPr b="0" i="0" lang="en-US" sz="1900" u="none" cap="none" strike="noStrike">
                <a:solidFill>
                  <a:schemeClr val="dk1"/>
                </a:solidFill>
                <a:latin typeface="Arial"/>
                <a:ea typeface="Arial"/>
                <a:cs typeface="Arial"/>
                <a:sym typeface="Arial"/>
              </a:rPr>
              <a:t>The adjusted trial balance lists the account balances segregated by assets and liabilities. </a:t>
            </a:r>
            <a:endParaRPr/>
          </a:p>
          <a:p>
            <a:pPr indent="-388938" lvl="1" marL="623888" marR="0" rtl="0" algn="l">
              <a:lnSpc>
                <a:spcPct val="120000"/>
              </a:lnSpc>
              <a:spcBef>
                <a:spcPts val="570"/>
              </a:spcBef>
              <a:spcAft>
                <a:spcPts val="0"/>
              </a:spcAft>
              <a:buClr>
                <a:schemeClr val="dk1"/>
              </a:buClr>
              <a:buSzPts val="1900"/>
              <a:buFont typeface="Noto Sans Symbols"/>
              <a:buAutoNum type="alphaLcPeriod"/>
            </a:pPr>
            <a:r>
              <a:rPr b="0" i="0" lang="en-US" sz="1900" u="none" cap="none" strike="noStrike">
                <a:solidFill>
                  <a:schemeClr val="dk1"/>
                </a:solidFill>
                <a:latin typeface="Arial"/>
                <a:ea typeface="Arial"/>
                <a:cs typeface="Arial"/>
                <a:sym typeface="Arial"/>
              </a:rPr>
              <a:t>The adjusted trial balance is prepared after the adjusting entries have been journalized and posted.</a:t>
            </a:r>
            <a:endParaRPr/>
          </a:p>
        </p:txBody>
      </p:sp>
      <p:cxnSp>
        <p:nvCxnSpPr>
          <p:cNvPr id="761" name="Google Shape;761;p59"/>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762" name="Google Shape;762;p59"/>
          <p:cNvSpPr/>
          <p:nvPr/>
        </p:nvSpPr>
        <p:spPr>
          <a:xfrm>
            <a:off x="609600" y="1295400"/>
            <a:ext cx="5334000" cy="5540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000">
                <a:solidFill>
                  <a:srgbClr val="800000"/>
                </a:solidFill>
                <a:latin typeface="Arial"/>
                <a:ea typeface="Arial"/>
                <a:cs typeface="Arial"/>
                <a:sym typeface="Arial"/>
              </a:rPr>
              <a:t>Question</a:t>
            </a:r>
            <a:endParaRPr/>
          </a:p>
        </p:txBody>
      </p:sp>
      <p:sp>
        <p:nvSpPr>
          <p:cNvPr id="763" name="Google Shape;763;p59"/>
          <p:cNvSpPr/>
          <p:nvPr/>
        </p:nvSpPr>
        <p:spPr>
          <a:xfrm>
            <a:off x="609600" y="304800"/>
            <a:ext cx="82296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Adjusted Trial Balance</a:t>
            </a:r>
            <a:endParaRPr b="1" sz="3200">
              <a:solidFill>
                <a:srgbClr val="0000BF"/>
              </a:solidFill>
              <a:latin typeface="Arial"/>
              <a:ea typeface="Arial"/>
              <a:cs typeface="Arial"/>
              <a:sym typeface="Arial"/>
            </a:endParaRPr>
          </a:p>
        </p:txBody>
      </p:sp>
      <p:sp>
        <p:nvSpPr>
          <p:cNvPr id="764" name="Google Shape;764;p59"/>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4</a:t>
            </a:r>
            <a:endParaRPr b="1" i="1" sz="1600">
              <a:solidFill>
                <a:schemeClr val="lt2"/>
              </a:solidFill>
              <a:latin typeface="Arial"/>
              <a:ea typeface="Arial"/>
              <a:cs typeface="Arial"/>
              <a:sym typeface="Arial"/>
            </a:endParaRPr>
          </a:p>
        </p:txBody>
      </p:sp>
      <p:sp>
        <p:nvSpPr>
          <p:cNvPr id="765" name="Google Shape;765;p59"/>
          <p:cNvSpPr/>
          <p:nvPr/>
        </p:nvSpPr>
        <p:spPr>
          <a:xfrm>
            <a:off x="228600" y="4572000"/>
            <a:ext cx="609600" cy="457200"/>
          </a:xfrm>
          <a:prstGeom prst="notchedRightArrow">
            <a:avLst>
              <a:gd fmla="val 50000" name="adj1"/>
              <a:gd fmla="val 50000" name="adj2"/>
            </a:avLst>
          </a:prstGeom>
          <a:solidFill>
            <a:srgbClr val="A50021"/>
          </a:solidFill>
          <a:ln cap="sq"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b="1" sz="2400">
              <a:solidFill>
                <a:srgbClr val="730000"/>
              </a:solidFill>
              <a:latin typeface="Comic Sans MS"/>
              <a:ea typeface="Comic Sans MS"/>
              <a:cs typeface="Comic Sans MS"/>
              <a:sym typeface="Comic Sans MS"/>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5"/>
                                        </p:tgtEl>
                                        <p:attrNameLst>
                                          <p:attrName>style.visibility</p:attrName>
                                        </p:attrNameLst>
                                      </p:cBhvr>
                                      <p:to>
                                        <p:strVal val="visible"/>
                                      </p:to>
                                    </p:set>
                                    <p:animEffect filter="fade" transition="in">
                                      <p:cBhvr>
                                        <p:cTn dur="500"/>
                                        <p:tgtEl>
                                          <p:spTgt spid="7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60"/>
          <p:cNvSpPr/>
          <p:nvPr/>
        </p:nvSpPr>
        <p:spPr>
          <a:xfrm>
            <a:off x="3657600" y="3336925"/>
            <a:ext cx="1752600" cy="1905000"/>
          </a:xfrm>
          <a:prstGeom prst="foldedCorner">
            <a:avLst>
              <a:gd fmla="val 12500" name="adj"/>
            </a:avLst>
          </a:prstGeom>
          <a:solidFill>
            <a:srgbClr val="F9EFA5"/>
          </a:solidFill>
          <a:ln cap="sq"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300">
                <a:solidFill>
                  <a:schemeClr val="dk1"/>
                </a:solidFill>
                <a:latin typeface="Arial"/>
                <a:ea typeface="Arial"/>
                <a:cs typeface="Arial"/>
                <a:sym typeface="Arial"/>
              </a:rPr>
              <a:t>Owner’s Equity Statement </a:t>
            </a:r>
            <a:endParaRPr/>
          </a:p>
        </p:txBody>
      </p:sp>
      <p:sp>
        <p:nvSpPr>
          <p:cNvPr id="771" name="Google Shape;771;p60"/>
          <p:cNvSpPr txBox="1"/>
          <p:nvPr/>
        </p:nvSpPr>
        <p:spPr>
          <a:xfrm>
            <a:off x="685800" y="1524000"/>
            <a:ext cx="7772400" cy="822325"/>
          </a:xfrm>
          <a:prstGeom prst="rect">
            <a:avLst/>
          </a:prstGeom>
          <a:solidFill>
            <a:schemeClr val="lt1"/>
          </a:solidFill>
          <a:ln cap="flat" cmpd="sng" w="28575">
            <a:solidFill>
              <a:schemeClr val="dk1"/>
            </a:solidFill>
            <a:prstDash val="solid"/>
            <a:miter lim="800000"/>
            <a:headEnd len="sm" w="sm" type="none"/>
            <a:tailEnd len="sm" w="sm" type="none"/>
          </a:ln>
          <a:effectLst>
            <a:outerShdw rotWithShape="0" algn="ctr" dir="2700000" dist="107763">
              <a:schemeClr val="lt2"/>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0" lang="en-US" sz="2300">
                <a:solidFill>
                  <a:schemeClr val="dk1"/>
                </a:solidFill>
                <a:latin typeface="Arial"/>
                <a:ea typeface="Arial"/>
                <a:cs typeface="Arial"/>
                <a:sym typeface="Arial"/>
              </a:rPr>
              <a:t>Financial Statements are prepared directly from the </a:t>
            </a:r>
            <a:r>
              <a:rPr b="1" lang="en-US" sz="2300">
                <a:solidFill>
                  <a:schemeClr val="dk1"/>
                </a:solidFill>
                <a:latin typeface="Arial"/>
                <a:ea typeface="Arial"/>
                <a:cs typeface="Arial"/>
                <a:sym typeface="Arial"/>
              </a:rPr>
              <a:t>Adjusted Trial Balance</a:t>
            </a:r>
            <a:r>
              <a:rPr b="0" lang="en-US" sz="2300">
                <a:solidFill>
                  <a:schemeClr val="dk1"/>
                </a:solidFill>
                <a:latin typeface="Arial"/>
                <a:ea typeface="Arial"/>
                <a:cs typeface="Arial"/>
                <a:sym typeface="Arial"/>
              </a:rPr>
              <a:t>.  </a:t>
            </a:r>
            <a:endParaRPr b="1" sz="2300">
              <a:solidFill>
                <a:schemeClr val="dk1"/>
              </a:solidFill>
              <a:latin typeface="Arial"/>
              <a:ea typeface="Arial"/>
              <a:cs typeface="Arial"/>
              <a:sym typeface="Arial"/>
            </a:endParaRPr>
          </a:p>
        </p:txBody>
      </p:sp>
      <p:sp>
        <p:nvSpPr>
          <p:cNvPr id="772" name="Google Shape;772;p60"/>
          <p:cNvSpPr/>
          <p:nvPr/>
        </p:nvSpPr>
        <p:spPr>
          <a:xfrm>
            <a:off x="914400" y="3336925"/>
            <a:ext cx="1752600" cy="1905000"/>
          </a:xfrm>
          <a:prstGeom prst="foldedCorner">
            <a:avLst>
              <a:gd fmla="val 12500" name="adj"/>
            </a:avLst>
          </a:prstGeom>
          <a:solidFill>
            <a:srgbClr val="F9EFA5"/>
          </a:solidFill>
          <a:ln cap="sq"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300">
                <a:solidFill>
                  <a:schemeClr val="dk1"/>
                </a:solidFill>
                <a:latin typeface="Arial"/>
                <a:ea typeface="Arial"/>
                <a:cs typeface="Arial"/>
                <a:sym typeface="Arial"/>
              </a:rPr>
              <a:t>Income Statement</a:t>
            </a:r>
            <a:endParaRPr/>
          </a:p>
        </p:txBody>
      </p:sp>
      <p:sp>
        <p:nvSpPr>
          <p:cNvPr id="773" name="Google Shape;773;p60"/>
          <p:cNvSpPr/>
          <p:nvPr/>
        </p:nvSpPr>
        <p:spPr>
          <a:xfrm>
            <a:off x="6400800" y="3336925"/>
            <a:ext cx="1752600" cy="1905000"/>
          </a:xfrm>
          <a:prstGeom prst="foldedCorner">
            <a:avLst>
              <a:gd fmla="val 12500" name="adj"/>
            </a:avLst>
          </a:prstGeom>
          <a:solidFill>
            <a:srgbClr val="F9EFA5"/>
          </a:solidFill>
          <a:ln cap="sq"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300">
                <a:solidFill>
                  <a:schemeClr val="dk1"/>
                </a:solidFill>
                <a:latin typeface="Arial"/>
                <a:ea typeface="Arial"/>
                <a:cs typeface="Arial"/>
                <a:sym typeface="Arial"/>
              </a:rPr>
              <a:t>Balance Sheet</a:t>
            </a:r>
            <a:endParaRPr/>
          </a:p>
        </p:txBody>
      </p:sp>
      <p:sp>
        <p:nvSpPr>
          <p:cNvPr id="774" name="Google Shape;774;p60"/>
          <p:cNvSpPr/>
          <p:nvPr/>
        </p:nvSpPr>
        <p:spPr>
          <a:xfrm>
            <a:off x="4419600" y="2498725"/>
            <a:ext cx="228600" cy="762000"/>
          </a:xfrm>
          <a:prstGeom prst="downArrow">
            <a:avLst>
              <a:gd fmla="val 50000" name="adj1"/>
              <a:gd fmla="val 83333" name="adj2"/>
            </a:avLst>
          </a:prstGeom>
          <a:solidFill>
            <a:schemeClr val="hlink"/>
          </a:solidFill>
          <a:ln cap="sq"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Arial"/>
              <a:ea typeface="Arial"/>
              <a:cs typeface="Arial"/>
              <a:sym typeface="Arial"/>
            </a:endParaRPr>
          </a:p>
        </p:txBody>
      </p:sp>
      <p:sp>
        <p:nvSpPr>
          <p:cNvPr id="775" name="Google Shape;775;p60"/>
          <p:cNvSpPr/>
          <p:nvPr/>
        </p:nvSpPr>
        <p:spPr>
          <a:xfrm>
            <a:off x="1676400" y="2498725"/>
            <a:ext cx="228600" cy="762000"/>
          </a:xfrm>
          <a:prstGeom prst="downArrow">
            <a:avLst>
              <a:gd fmla="val 50000" name="adj1"/>
              <a:gd fmla="val 83333" name="adj2"/>
            </a:avLst>
          </a:prstGeom>
          <a:solidFill>
            <a:schemeClr val="hlink"/>
          </a:solidFill>
          <a:ln cap="sq"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Arial"/>
              <a:ea typeface="Arial"/>
              <a:cs typeface="Arial"/>
              <a:sym typeface="Arial"/>
            </a:endParaRPr>
          </a:p>
        </p:txBody>
      </p:sp>
      <p:sp>
        <p:nvSpPr>
          <p:cNvPr id="776" name="Google Shape;776;p60"/>
          <p:cNvSpPr/>
          <p:nvPr/>
        </p:nvSpPr>
        <p:spPr>
          <a:xfrm>
            <a:off x="7162800" y="2498725"/>
            <a:ext cx="228600" cy="762000"/>
          </a:xfrm>
          <a:prstGeom prst="downArrow">
            <a:avLst>
              <a:gd fmla="val 50000" name="adj1"/>
              <a:gd fmla="val 83333" name="adj2"/>
            </a:avLst>
          </a:prstGeom>
          <a:solidFill>
            <a:schemeClr val="hlink"/>
          </a:solidFill>
          <a:ln cap="sq"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Arial"/>
              <a:ea typeface="Arial"/>
              <a:cs typeface="Arial"/>
              <a:sym typeface="Arial"/>
            </a:endParaRPr>
          </a:p>
        </p:txBody>
      </p:sp>
      <p:sp>
        <p:nvSpPr>
          <p:cNvPr id="777" name="Google Shape;777;p60"/>
          <p:cNvSpPr/>
          <p:nvPr/>
        </p:nvSpPr>
        <p:spPr>
          <a:xfrm>
            <a:off x="609600" y="304800"/>
            <a:ext cx="82296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Preparing Financial Statements</a:t>
            </a:r>
            <a:endParaRPr/>
          </a:p>
        </p:txBody>
      </p:sp>
      <p:cxnSp>
        <p:nvCxnSpPr>
          <p:cNvPr id="778" name="Google Shape;778;p60"/>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779" name="Google Shape;779;p60"/>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4</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pic>
        <p:nvPicPr>
          <p:cNvPr id="784" name="Google Shape;784;p61"/>
          <p:cNvPicPr preferRelativeResize="0"/>
          <p:nvPr/>
        </p:nvPicPr>
        <p:blipFill rotWithShape="1">
          <a:blip r:embed="rId3">
            <a:alphaModFix/>
          </a:blip>
          <a:srcRect b="0" l="0" r="0" t="0"/>
          <a:stretch/>
        </p:blipFill>
        <p:spPr>
          <a:xfrm>
            <a:off x="685800" y="304800"/>
            <a:ext cx="7856538" cy="6361972"/>
          </a:xfrm>
          <a:prstGeom prst="rect">
            <a:avLst/>
          </a:prstGeom>
          <a:noFill/>
          <a:ln>
            <a:noFill/>
          </a:ln>
        </p:spPr>
      </p:pic>
      <p:sp>
        <p:nvSpPr>
          <p:cNvPr id="785" name="Google Shape;785;p61"/>
          <p:cNvSpPr/>
          <p:nvPr/>
        </p:nvSpPr>
        <p:spPr>
          <a:xfrm>
            <a:off x="8382000" y="1905000"/>
            <a:ext cx="228600" cy="5334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Arial"/>
              <a:ea typeface="Arial"/>
              <a:cs typeface="Arial"/>
              <a:sym typeface="Arial"/>
            </a:endParaRPr>
          </a:p>
        </p:txBody>
      </p:sp>
      <p:sp>
        <p:nvSpPr>
          <p:cNvPr id="786" name="Google Shape;786;p61"/>
          <p:cNvSpPr/>
          <p:nvPr/>
        </p:nvSpPr>
        <p:spPr>
          <a:xfrm>
            <a:off x="762000" y="5913437"/>
            <a:ext cx="3733800" cy="646331"/>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3-26  </a:t>
            </a:r>
            <a:endParaRPr/>
          </a:p>
          <a:p>
            <a:pPr indent="0" lvl="0" marL="0" marR="0" rtl="0" algn="l">
              <a:spcBef>
                <a:spcPts val="0"/>
              </a:spcBef>
              <a:spcAft>
                <a:spcPts val="0"/>
              </a:spcAft>
              <a:buNone/>
            </a:pPr>
            <a:r>
              <a:rPr b="0" lang="en-US" sz="1200">
                <a:solidFill>
                  <a:schemeClr val="dk1"/>
                </a:solidFill>
                <a:latin typeface="Arial"/>
                <a:ea typeface="Arial"/>
                <a:cs typeface="Arial"/>
                <a:sym typeface="Arial"/>
              </a:rPr>
              <a:t>Preparation of the income statement and owner’s equity statement from the adjusted trial balance</a:t>
            </a:r>
            <a:endParaRPr/>
          </a:p>
        </p:txBody>
      </p:sp>
      <p:sp>
        <p:nvSpPr>
          <p:cNvPr id="787" name="Google Shape;787;p61"/>
          <p:cNvSpPr/>
          <p:nvPr/>
        </p:nvSpPr>
        <p:spPr>
          <a:xfrm>
            <a:off x="990600" y="292608"/>
            <a:ext cx="609600" cy="6096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400"/>
              <a:buFont typeface="Arial"/>
              <a:buNone/>
            </a:pPr>
            <a:r>
              <a:t/>
            </a:r>
            <a:endParaRPr b="0" i="0" sz="2400" u="none" cap="none" strike="noStrike">
              <a:solidFill>
                <a:schemeClr val="dk1"/>
              </a:solidFill>
              <a:latin typeface="Arial"/>
              <a:ea typeface="Arial"/>
              <a:cs typeface="Arial"/>
              <a:sym typeface="Arial"/>
            </a:endParaRPr>
          </a:p>
        </p:txBody>
      </p:sp>
    </p:spTree>
  </p:cSld>
  <p:clrMapOvr>
    <a:masterClrMapping/>
  </p:clrMapOvr>
  <p:transition>
    <p:wipe dir="r"/>
  </p:transition>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pic>
        <p:nvPicPr>
          <p:cNvPr id="792" name="Google Shape;792;p62"/>
          <p:cNvPicPr preferRelativeResize="0"/>
          <p:nvPr/>
        </p:nvPicPr>
        <p:blipFill rotWithShape="1">
          <a:blip r:embed="rId3">
            <a:alphaModFix/>
          </a:blip>
          <a:srcRect b="0" l="0" r="0" t="0"/>
          <a:stretch/>
        </p:blipFill>
        <p:spPr>
          <a:xfrm>
            <a:off x="533400" y="457200"/>
            <a:ext cx="8229600" cy="5644964"/>
          </a:xfrm>
          <a:prstGeom prst="rect">
            <a:avLst/>
          </a:prstGeom>
          <a:noFill/>
          <a:ln>
            <a:noFill/>
          </a:ln>
        </p:spPr>
      </p:pic>
      <p:sp>
        <p:nvSpPr>
          <p:cNvPr id="793" name="Google Shape;793;p62"/>
          <p:cNvSpPr/>
          <p:nvPr/>
        </p:nvSpPr>
        <p:spPr>
          <a:xfrm>
            <a:off x="457200" y="539496"/>
            <a:ext cx="762000" cy="609600"/>
          </a:xfrm>
          <a:prstGeom prst="rect">
            <a:avLst/>
          </a:prstGeom>
          <a:solidFill>
            <a:schemeClr val="lt1"/>
          </a:solid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t/>
            </a:r>
            <a:endParaRPr b="1" sz="2800">
              <a:solidFill>
                <a:schemeClr val="lt1"/>
              </a:solidFill>
              <a:latin typeface="Arial"/>
              <a:ea typeface="Arial"/>
              <a:cs typeface="Arial"/>
              <a:sym typeface="Arial"/>
            </a:endParaRPr>
          </a:p>
        </p:txBody>
      </p:sp>
      <p:sp>
        <p:nvSpPr>
          <p:cNvPr id="794" name="Google Shape;794;p62"/>
          <p:cNvSpPr/>
          <p:nvPr/>
        </p:nvSpPr>
        <p:spPr>
          <a:xfrm>
            <a:off x="533400" y="5678269"/>
            <a:ext cx="2971800" cy="646331"/>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3-27  </a:t>
            </a:r>
            <a:endParaRPr/>
          </a:p>
          <a:p>
            <a:pPr indent="0" lvl="0" marL="0" marR="0" rtl="0" algn="l">
              <a:spcBef>
                <a:spcPts val="0"/>
              </a:spcBef>
              <a:spcAft>
                <a:spcPts val="0"/>
              </a:spcAft>
              <a:buNone/>
            </a:pPr>
            <a:r>
              <a:rPr b="0" lang="en-US" sz="1200">
                <a:solidFill>
                  <a:schemeClr val="dk1"/>
                </a:solidFill>
                <a:latin typeface="Arial"/>
                <a:ea typeface="Arial"/>
                <a:cs typeface="Arial"/>
                <a:sym typeface="Arial"/>
              </a:rPr>
              <a:t>Preparation of the balance sheet from the adjusted trial balance</a:t>
            </a:r>
            <a:endParaRPr/>
          </a:p>
        </p:txBody>
      </p:sp>
      <p:sp>
        <p:nvSpPr>
          <p:cNvPr id="795" name="Google Shape;795;p62"/>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4</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cxnSp>
        <p:nvCxnSpPr>
          <p:cNvPr id="800" name="Google Shape;800;p63"/>
          <p:cNvCxnSpPr/>
          <p:nvPr/>
        </p:nvCxnSpPr>
        <p:spPr>
          <a:xfrm>
            <a:off x="290286" y="784324"/>
            <a:ext cx="8636000" cy="1489"/>
          </a:xfrm>
          <a:prstGeom prst="straightConnector1">
            <a:avLst/>
          </a:prstGeom>
          <a:noFill/>
          <a:ln cap="flat" cmpd="sng" w="57150">
            <a:solidFill>
              <a:srgbClr val="FF9900"/>
            </a:solidFill>
            <a:prstDash val="solid"/>
            <a:round/>
            <a:headEnd len="med" w="med" type="none"/>
            <a:tailEnd len="med" w="med" type="none"/>
          </a:ln>
        </p:spPr>
      </p:cxnSp>
      <p:pic>
        <p:nvPicPr>
          <p:cNvPr id="801" name="Google Shape;801;p63"/>
          <p:cNvPicPr preferRelativeResize="0"/>
          <p:nvPr/>
        </p:nvPicPr>
        <p:blipFill rotWithShape="1">
          <a:blip r:embed="rId3">
            <a:alphaModFix/>
          </a:blip>
          <a:srcRect b="0" l="0" r="0" t="0"/>
          <a:stretch/>
        </p:blipFill>
        <p:spPr>
          <a:xfrm>
            <a:off x="580571" y="395883"/>
            <a:ext cx="1669143" cy="604242"/>
          </a:xfrm>
          <a:prstGeom prst="rect">
            <a:avLst/>
          </a:prstGeom>
          <a:noFill/>
          <a:ln>
            <a:noFill/>
          </a:ln>
        </p:spPr>
      </p:pic>
      <p:pic>
        <p:nvPicPr>
          <p:cNvPr id="802" name="Google Shape;802;p63"/>
          <p:cNvPicPr preferRelativeResize="0"/>
          <p:nvPr/>
        </p:nvPicPr>
        <p:blipFill rotWithShape="1">
          <a:blip r:embed="rId4">
            <a:alphaModFix/>
          </a:blip>
          <a:srcRect b="0" l="0" r="0" t="0"/>
          <a:stretch/>
        </p:blipFill>
        <p:spPr>
          <a:xfrm>
            <a:off x="290286" y="357188"/>
            <a:ext cx="8636000" cy="823465"/>
          </a:xfrm>
          <a:prstGeom prst="rect">
            <a:avLst/>
          </a:prstGeom>
          <a:noFill/>
          <a:ln>
            <a:noFill/>
          </a:ln>
        </p:spPr>
      </p:pic>
      <p:pic>
        <p:nvPicPr>
          <p:cNvPr id="803" name="Google Shape;803;p63"/>
          <p:cNvPicPr preferRelativeResize="0"/>
          <p:nvPr/>
        </p:nvPicPr>
        <p:blipFill rotWithShape="1">
          <a:blip r:embed="rId5">
            <a:alphaModFix/>
          </a:blip>
          <a:srcRect b="0" l="0" r="0" t="0"/>
          <a:stretch/>
        </p:blipFill>
        <p:spPr>
          <a:xfrm>
            <a:off x="3410857" y="586815"/>
            <a:ext cx="3144567" cy="413310"/>
          </a:xfrm>
          <a:prstGeom prst="rect">
            <a:avLst/>
          </a:prstGeom>
          <a:noFill/>
          <a:ln>
            <a:noFill/>
          </a:ln>
        </p:spPr>
      </p:pic>
      <p:pic>
        <p:nvPicPr>
          <p:cNvPr id="804" name="Google Shape;804;p63"/>
          <p:cNvPicPr preferRelativeResize="0"/>
          <p:nvPr/>
        </p:nvPicPr>
        <p:blipFill rotWithShape="1">
          <a:blip r:embed="rId6">
            <a:alphaModFix/>
          </a:blip>
          <a:srcRect b="0" l="0" r="0" t="0"/>
          <a:stretch/>
        </p:blipFill>
        <p:spPr>
          <a:xfrm>
            <a:off x="2493472" y="571501"/>
            <a:ext cx="409385" cy="344759"/>
          </a:xfrm>
          <a:prstGeom prst="rect">
            <a:avLst/>
          </a:prstGeom>
          <a:noFill/>
          <a:ln>
            <a:noFill/>
          </a:ln>
        </p:spPr>
      </p:pic>
      <p:sp>
        <p:nvSpPr>
          <p:cNvPr id="805" name="Google Shape;805;p63"/>
          <p:cNvSpPr txBox="1"/>
          <p:nvPr/>
        </p:nvSpPr>
        <p:spPr>
          <a:xfrm>
            <a:off x="2467428" y="428625"/>
            <a:ext cx="435429" cy="641336"/>
          </a:xfrm>
          <a:prstGeom prst="rect">
            <a:avLst/>
          </a:prstGeom>
          <a:noFill/>
          <a:ln>
            <a:noFill/>
          </a:ln>
        </p:spPr>
        <p:txBody>
          <a:bodyPr anchorCtr="0" anchor="t" bIns="43225" lIns="86475" spcFirstLastPara="1" rIns="86475" wrap="square" tIns="43225">
            <a:spAutoFit/>
          </a:bodyPr>
          <a:lstStyle/>
          <a:p>
            <a:pPr indent="0" lvl="0" marL="0" marR="0" rtl="0" algn="l">
              <a:spcBef>
                <a:spcPts val="0"/>
              </a:spcBef>
              <a:spcAft>
                <a:spcPts val="0"/>
              </a:spcAft>
              <a:buNone/>
            </a:pPr>
            <a:r>
              <a:rPr b="1" lang="en-US" sz="3600">
                <a:solidFill>
                  <a:srgbClr val="FF9900"/>
                </a:solidFill>
                <a:latin typeface="Arial"/>
                <a:ea typeface="Arial"/>
                <a:cs typeface="Arial"/>
                <a:sym typeface="Arial"/>
              </a:rPr>
              <a:t>4</a:t>
            </a:r>
            <a:endParaRPr b="1" sz="3600">
              <a:solidFill>
                <a:srgbClr val="FF9900"/>
              </a:solidFill>
              <a:latin typeface="Arial"/>
              <a:ea typeface="Arial"/>
              <a:cs typeface="Arial"/>
              <a:sym typeface="Arial"/>
            </a:endParaRPr>
          </a:p>
        </p:txBody>
      </p:sp>
      <p:sp>
        <p:nvSpPr>
          <p:cNvPr id="806" name="Google Shape;806;p63"/>
          <p:cNvSpPr txBox="1"/>
          <p:nvPr/>
        </p:nvSpPr>
        <p:spPr>
          <a:xfrm>
            <a:off x="3338286" y="508909"/>
            <a:ext cx="5515429" cy="519373"/>
          </a:xfrm>
          <a:prstGeom prst="rect">
            <a:avLst/>
          </a:prstGeom>
          <a:noFill/>
          <a:ln>
            <a:noFill/>
          </a:ln>
        </p:spPr>
        <p:txBody>
          <a:bodyPr anchorCtr="0" anchor="t" bIns="43225" lIns="86475" spcFirstLastPara="1" rIns="86475" wrap="square" tIns="43225">
            <a:spAutoFit/>
          </a:bodyPr>
          <a:lstStyle/>
          <a:p>
            <a:pPr indent="0" lvl="0" marL="111120" marR="0" rtl="0" algn="l">
              <a:spcBef>
                <a:spcPts val="0"/>
              </a:spcBef>
              <a:spcAft>
                <a:spcPts val="0"/>
              </a:spcAft>
              <a:buNone/>
            </a:pPr>
            <a:r>
              <a:rPr b="1" lang="en-US" sz="2800">
                <a:solidFill>
                  <a:schemeClr val="lt1"/>
                </a:solidFill>
                <a:latin typeface="Arial"/>
                <a:ea typeface="Arial"/>
                <a:cs typeface="Arial"/>
                <a:sym typeface="Arial"/>
              </a:rPr>
              <a:t>Trial Balance</a:t>
            </a:r>
            <a:endParaRPr b="1" sz="2800">
              <a:solidFill>
                <a:schemeClr val="lt1"/>
              </a:solidFill>
              <a:latin typeface="Arial"/>
              <a:ea typeface="Arial"/>
              <a:cs typeface="Arial"/>
              <a:sym typeface="Arial"/>
            </a:endParaRPr>
          </a:p>
        </p:txBody>
      </p:sp>
      <p:pic>
        <p:nvPicPr>
          <p:cNvPr id="807" name="Google Shape;807;p63"/>
          <p:cNvPicPr preferRelativeResize="0"/>
          <p:nvPr/>
        </p:nvPicPr>
        <p:blipFill rotWithShape="1">
          <a:blip r:embed="rId7">
            <a:alphaModFix/>
          </a:blip>
          <a:srcRect b="0" l="0" r="0" t="0"/>
          <a:stretch/>
        </p:blipFill>
        <p:spPr>
          <a:xfrm rot="10800000">
            <a:off x="457200" y="501930"/>
            <a:ext cx="1600200" cy="564870"/>
          </a:xfrm>
          <a:prstGeom prst="rect">
            <a:avLst/>
          </a:prstGeom>
          <a:noFill/>
          <a:ln>
            <a:noFill/>
          </a:ln>
        </p:spPr>
      </p:pic>
      <p:sp>
        <p:nvSpPr>
          <p:cNvPr id="808" name="Google Shape;808;p63"/>
          <p:cNvSpPr txBox="1"/>
          <p:nvPr/>
        </p:nvSpPr>
        <p:spPr>
          <a:xfrm>
            <a:off x="304800" y="381000"/>
            <a:ext cx="2209800"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200">
                <a:solidFill>
                  <a:srgbClr val="FF9900"/>
                </a:solidFill>
                <a:latin typeface="Arial"/>
                <a:ea typeface="Arial"/>
                <a:cs typeface="Arial"/>
                <a:sym typeface="Arial"/>
              </a:rPr>
              <a:t>DO IT!</a:t>
            </a:r>
            <a:endParaRPr b="1" sz="4200">
              <a:solidFill>
                <a:srgbClr val="FF9900"/>
              </a:solidFill>
              <a:latin typeface="Arial"/>
              <a:ea typeface="Arial"/>
              <a:cs typeface="Arial"/>
              <a:sym typeface="Arial"/>
            </a:endParaRPr>
          </a:p>
        </p:txBody>
      </p:sp>
      <p:pic>
        <p:nvPicPr>
          <p:cNvPr id="809" name="Google Shape;809;p63"/>
          <p:cNvPicPr preferRelativeResize="0"/>
          <p:nvPr/>
        </p:nvPicPr>
        <p:blipFill rotWithShape="1">
          <a:blip r:embed="rId8">
            <a:alphaModFix/>
          </a:blip>
          <a:srcRect b="0" l="0" r="0" t="0"/>
          <a:stretch/>
        </p:blipFill>
        <p:spPr>
          <a:xfrm>
            <a:off x="304801" y="1259300"/>
            <a:ext cx="8621486" cy="4531900"/>
          </a:xfrm>
          <a:prstGeom prst="rect">
            <a:avLst/>
          </a:prstGeom>
          <a:noFill/>
          <a:ln>
            <a:noFill/>
          </a:ln>
        </p:spPr>
      </p:pic>
      <p:sp>
        <p:nvSpPr>
          <p:cNvPr id="810" name="Google Shape;810;p63"/>
          <p:cNvSpPr/>
          <p:nvPr/>
        </p:nvSpPr>
        <p:spPr>
          <a:xfrm>
            <a:off x="838199" y="5791200"/>
            <a:ext cx="8015515" cy="883832"/>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None/>
            </a:pPr>
            <a:r>
              <a:rPr b="0" lang="en-US" sz="1600">
                <a:solidFill>
                  <a:schemeClr val="dk1"/>
                </a:solidFill>
                <a:latin typeface="Arial"/>
                <a:ea typeface="Arial"/>
                <a:cs typeface="Arial"/>
                <a:sym typeface="Arial"/>
              </a:rPr>
              <a:t>(a) Determine the net income for the quarter April 1 to June 30.</a:t>
            </a:r>
            <a:endParaRPr/>
          </a:p>
          <a:p>
            <a:pPr indent="0" lvl="0" marL="0" marR="0" rtl="0" algn="l">
              <a:lnSpc>
                <a:spcPct val="110000"/>
              </a:lnSpc>
              <a:spcBef>
                <a:spcPts val="0"/>
              </a:spcBef>
              <a:spcAft>
                <a:spcPts val="0"/>
              </a:spcAft>
              <a:buNone/>
            </a:pPr>
            <a:r>
              <a:rPr b="0" lang="en-US" sz="1600">
                <a:solidFill>
                  <a:schemeClr val="dk1"/>
                </a:solidFill>
                <a:latin typeface="Arial"/>
                <a:ea typeface="Arial"/>
                <a:cs typeface="Arial"/>
                <a:sym typeface="Arial"/>
              </a:rPr>
              <a:t>(b) Determine the total assets and total liabilities at June 30, 2017, for Skolnick Co.</a:t>
            </a:r>
            <a:endParaRPr/>
          </a:p>
          <a:p>
            <a:pPr indent="0" lvl="0" marL="0" marR="0" rtl="0" algn="l">
              <a:lnSpc>
                <a:spcPct val="110000"/>
              </a:lnSpc>
              <a:spcBef>
                <a:spcPts val="0"/>
              </a:spcBef>
              <a:spcAft>
                <a:spcPts val="0"/>
              </a:spcAft>
              <a:buNone/>
            </a:pPr>
            <a:r>
              <a:rPr b="0" lang="en-US" sz="1600">
                <a:solidFill>
                  <a:schemeClr val="dk1"/>
                </a:solidFill>
                <a:latin typeface="Arial"/>
                <a:ea typeface="Arial"/>
                <a:cs typeface="Arial"/>
                <a:sym typeface="Arial"/>
              </a:rPr>
              <a:t>(c) Determine the amount of owner’s capital at June 30, 2017.</a:t>
            </a:r>
            <a:endParaRPr b="1" sz="1600">
              <a:solidFill>
                <a:schemeClr val="dk1"/>
              </a:solidFill>
              <a:latin typeface="Arial"/>
              <a:ea typeface="Arial"/>
              <a:cs typeface="Arial"/>
              <a:sym typeface="Arial"/>
            </a:endParaRPr>
          </a:p>
        </p:txBody>
      </p:sp>
      <p:sp>
        <p:nvSpPr>
          <p:cNvPr id="811" name="Google Shape;811;p63"/>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4</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cxnSp>
        <p:nvCxnSpPr>
          <p:cNvPr id="816" name="Google Shape;816;p64"/>
          <p:cNvCxnSpPr/>
          <p:nvPr/>
        </p:nvCxnSpPr>
        <p:spPr>
          <a:xfrm>
            <a:off x="290286" y="784324"/>
            <a:ext cx="8636000" cy="1489"/>
          </a:xfrm>
          <a:prstGeom prst="straightConnector1">
            <a:avLst/>
          </a:prstGeom>
          <a:noFill/>
          <a:ln cap="flat" cmpd="sng" w="57150">
            <a:solidFill>
              <a:srgbClr val="FF9900"/>
            </a:solidFill>
            <a:prstDash val="solid"/>
            <a:round/>
            <a:headEnd len="med" w="med" type="none"/>
            <a:tailEnd len="med" w="med" type="none"/>
          </a:ln>
        </p:spPr>
      </p:cxnSp>
      <p:pic>
        <p:nvPicPr>
          <p:cNvPr id="817" name="Google Shape;817;p64"/>
          <p:cNvPicPr preferRelativeResize="0"/>
          <p:nvPr/>
        </p:nvPicPr>
        <p:blipFill rotWithShape="1">
          <a:blip r:embed="rId3">
            <a:alphaModFix/>
          </a:blip>
          <a:srcRect b="0" l="0" r="0" t="0"/>
          <a:stretch/>
        </p:blipFill>
        <p:spPr>
          <a:xfrm>
            <a:off x="580571" y="395883"/>
            <a:ext cx="1669143" cy="604242"/>
          </a:xfrm>
          <a:prstGeom prst="rect">
            <a:avLst/>
          </a:prstGeom>
          <a:noFill/>
          <a:ln>
            <a:noFill/>
          </a:ln>
        </p:spPr>
      </p:pic>
      <p:pic>
        <p:nvPicPr>
          <p:cNvPr id="818" name="Google Shape;818;p64"/>
          <p:cNvPicPr preferRelativeResize="0"/>
          <p:nvPr/>
        </p:nvPicPr>
        <p:blipFill rotWithShape="1">
          <a:blip r:embed="rId4">
            <a:alphaModFix/>
          </a:blip>
          <a:srcRect b="0" l="0" r="0" t="0"/>
          <a:stretch/>
        </p:blipFill>
        <p:spPr>
          <a:xfrm>
            <a:off x="290286" y="357188"/>
            <a:ext cx="8636000" cy="823465"/>
          </a:xfrm>
          <a:prstGeom prst="rect">
            <a:avLst/>
          </a:prstGeom>
          <a:noFill/>
          <a:ln>
            <a:noFill/>
          </a:ln>
        </p:spPr>
      </p:pic>
      <p:pic>
        <p:nvPicPr>
          <p:cNvPr id="819" name="Google Shape;819;p64"/>
          <p:cNvPicPr preferRelativeResize="0"/>
          <p:nvPr/>
        </p:nvPicPr>
        <p:blipFill rotWithShape="1">
          <a:blip r:embed="rId5">
            <a:alphaModFix/>
          </a:blip>
          <a:srcRect b="0" l="0" r="0" t="0"/>
          <a:stretch/>
        </p:blipFill>
        <p:spPr>
          <a:xfrm>
            <a:off x="3410857" y="586815"/>
            <a:ext cx="3144567" cy="413310"/>
          </a:xfrm>
          <a:prstGeom prst="rect">
            <a:avLst/>
          </a:prstGeom>
          <a:noFill/>
          <a:ln>
            <a:noFill/>
          </a:ln>
        </p:spPr>
      </p:pic>
      <p:pic>
        <p:nvPicPr>
          <p:cNvPr id="820" name="Google Shape;820;p64"/>
          <p:cNvPicPr preferRelativeResize="0"/>
          <p:nvPr/>
        </p:nvPicPr>
        <p:blipFill rotWithShape="1">
          <a:blip r:embed="rId6">
            <a:alphaModFix/>
          </a:blip>
          <a:srcRect b="0" l="0" r="0" t="0"/>
          <a:stretch/>
        </p:blipFill>
        <p:spPr>
          <a:xfrm>
            <a:off x="2493472" y="571501"/>
            <a:ext cx="409385" cy="344759"/>
          </a:xfrm>
          <a:prstGeom prst="rect">
            <a:avLst/>
          </a:prstGeom>
          <a:noFill/>
          <a:ln>
            <a:noFill/>
          </a:ln>
        </p:spPr>
      </p:pic>
      <p:sp>
        <p:nvSpPr>
          <p:cNvPr id="821" name="Google Shape;821;p64"/>
          <p:cNvSpPr txBox="1"/>
          <p:nvPr/>
        </p:nvSpPr>
        <p:spPr>
          <a:xfrm>
            <a:off x="2467428" y="428625"/>
            <a:ext cx="435429" cy="641336"/>
          </a:xfrm>
          <a:prstGeom prst="rect">
            <a:avLst/>
          </a:prstGeom>
          <a:noFill/>
          <a:ln>
            <a:noFill/>
          </a:ln>
        </p:spPr>
        <p:txBody>
          <a:bodyPr anchorCtr="0" anchor="t" bIns="43225" lIns="86475" spcFirstLastPara="1" rIns="86475" wrap="square" tIns="43225">
            <a:spAutoFit/>
          </a:bodyPr>
          <a:lstStyle/>
          <a:p>
            <a:pPr indent="0" lvl="0" marL="0" marR="0" rtl="0" algn="l">
              <a:spcBef>
                <a:spcPts val="0"/>
              </a:spcBef>
              <a:spcAft>
                <a:spcPts val="0"/>
              </a:spcAft>
              <a:buNone/>
            </a:pPr>
            <a:r>
              <a:rPr b="1" lang="en-US" sz="3600">
                <a:solidFill>
                  <a:srgbClr val="FF9900"/>
                </a:solidFill>
                <a:latin typeface="Arial"/>
                <a:ea typeface="Arial"/>
                <a:cs typeface="Arial"/>
                <a:sym typeface="Arial"/>
              </a:rPr>
              <a:t>4</a:t>
            </a:r>
            <a:endParaRPr b="1" sz="3600">
              <a:solidFill>
                <a:srgbClr val="FF9900"/>
              </a:solidFill>
              <a:latin typeface="Arial"/>
              <a:ea typeface="Arial"/>
              <a:cs typeface="Arial"/>
              <a:sym typeface="Arial"/>
            </a:endParaRPr>
          </a:p>
        </p:txBody>
      </p:sp>
      <p:sp>
        <p:nvSpPr>
          <p:cNvPr id="822" name="Google Shape;822;p64"/>
          <p:cNvSpPr txBox="1"/>
          <p:nvPr/>
        </p:nvSpPr>
        <p:spPr>
          <a:xfrm>
            <a:off x="3338286" y="508909"/>
            <a:ext cx="5515429" cy="519373"/>
          </a:xfrm>
          <a:prstGeom prst="rect">
            <a:avLst/>
          </a:prstGeom>
          <a:noFill/>
          <a:ln>
            <a:noFill/>
          </a:ln>
        </p:spPr>
        <p:txBody>
          <a:bodyPr anchorCtr="0" anchor="t" bIns="43225" lIns="86475" spcFirstLastPara="1" rIns="86475" wrap="square" tIns="43225">
            <a:spAutoFit/>
          </a:bodyPr>
          <a:lstStyle/>
          <a:p>
            <a:pPr indent="0" lvl="0" marL="111120" marR="0" rtl="0" algn="l">
              <a:spcBef>
                <a:spcPts val="0"/>
              </a:spcBef>
              <a:spcAft>
                <a:spcPts val="0"/>
              </a:spcAft>
              <a:buNone/>
            </a:pPr>
            <a:r>
              <a:rPr b="1" lang="en-US" sz="2800">
                <a:solidFill>
                  <a:schemeClr val="lt1"/>
                </a:solidFill>
                <a:latin typeface="Arial"/>
                <a:ea typeface="Arial"/>
                <a:cs typeface="Arial"/>
                <a:sym typeface="Arial"/>
              </a:rPr>
              <a:t>Trial Balance</a:t>
            </a:r>
            <a:endParaRPr b="1" sz="2800">
              <a:solidFill>
                <a:schemeClr val="lt1"/>
              </a:solidFill>
              <a:latin typeface="Arial"/>
              <a:ea typeface="Arial"/>
              <a:cs typeface="Arial"/>
              <a:sym typeface="Arial"/>
            </a:endParaRPr>
          </a:p>
        </p:txBody>
      </p:sp>
      <p:pic>
        <p:nvPicPr>
          <p:cNvPr id="823" name="Google Shape;823;p64"/>
          <p:cNvPicPr preferRelativeResize="0"/>
          <p:nvPr/>
        </p:nvPicPr>
        <p:blipFill rotWithShape="1">
          <a:blip r:embed="rId7">
            <a:alphaModFix/>
          </a:blip>
          <a:srcRect b="0" l="0" r="0" t="0"/>
          <a:stretch/>
        </p:blipFill>
        <p:spPr>
          <a:xfrm rot="10800000">
            <a:off x="457200" y="501930"/>
            <a:ext cx="1600200" cy="564870"/>
          </a:xfrm>
          <a:prstGeom prst="rect">
            <a:avLst/>
          </a:prstGeom>
          <a:noFill/>
          <a:ln>
            <a:noFill/>
          </a:ln>
        </p:spPr>
      </p:pic>
      <p:sp>
        <p:nvSpPr>
          <p:cNvPr id="824" name="Google Shape;824;p64"/>
          <p:cNvSpPr txBox="1"/>
          <p:nvPr/>
        </p:nvSpPr>
        <p:spPr>
          <a:xfrm>
            <a:off x="304800" y="381000"/>
            <a:ext cx="2209800"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200">
                <a:solidFill>
                  <a:srgbClr val="FF9900"/>
                </a:solidFill>
                <a:latin typeface="Arial"/>
                <a:ea typeface="Arial"/>
                <a:cs typeface="Arial"/>
                <a:sym typeface="Arial"/>
              </a:rPr>
              <a:t>DO IT!</a:t>
            </a:r>
            <a:endParaRPr b="1" sz="4200">
              <a:solidFill>
                <a:srgbClr val="FF9900"/>
              </a:solidFill>
              <a:latin typeface="Arial"/>
              <a:ea typeface="Arial"/>
              <a:cs typeface="Arial"/>
              <a:sym typeface="Arial"/>
            </a:endParaRPr>
          </a:p>
        </p:txBody>
      </p:sp>
      <p:pic>
        <p:nvPicPr>
          <p:cNvPr id="825" name="Google Shape;825;p64"/>
          <p:cNvPicPr preferRelativeResize="0"/>
          <p:nvPr/>
        </p:nvPicPr>
        <p:blipFill rotWithShape="1">
          <a:blip r:embed="rId8">
            <a:alphaModFix/>
          </a:blip>
          <a:srcRect b="0" l="0" r="0" t="0"/>
          <a:stretch/>
        </p:blipFill>
        <p:spPr>
          <a:xfrm>
            <a:off x="304799" y="1371600"/>
            <a:ext cx="8575385" cy="4648200"/>
          </a:xfrm>
          <a:prstGeom prst="rect">
            <a:avLst/>
          </a:prstGeom>
          <a:noFill/>
          <a:ln>
            <a:noFill/>
          </a:ln>
        </p:spPr>
      </p:pic>
      <p:sp>
        <p:nvSpPr>
          <p:cNvPr id="826" name="Google Shape;826;p64"/>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4</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cxnSp>
        <p:nvCxnSpPr>
          <p:cNvPr id="831" name="Google Shape;831;p65"/>
          <p:cNvCxnSpPr/>
          <p:nvPr/>
        </p:nvCxnSpPr>
        <p:spPr>
          <a:xfrm>
            <a:off x="290286" y="784324"/>
            <a:ext cx="8636000" cy="1489"/>
          </a:xfrm>
          <a:prstGeom prst="straightConnector1">
            <a:avLst/>
          </a:prstGeom>
          <a:noFill/>
          <a:ln cap="flat" cmpd="sng" w="57150">
            <a:solidFill>
              <a:srgbClr val="FF9900"/>
            </a:solidFill>
            <a:prstDash val="solid"/>
            <a:round/>
            <a:headEnd len="med" w="med" type="none"/>
            <a:tailEnd len="med" w="med" type="none"/>
          </a:ln>
        </p:spPr>
      </p:cxnSp>
      <p:pic>
        <p:nvPicPr>
          <p:cNvPr id="832" name="Google Shape;832;p65"/>
          <p:cNvPicPr preferRelativeResize="0"/>
          <p:nvPr/>
        </p:nvPicPr>
        <p:blipFill rotWithShape="1">
          <a:blip r:embed="rId3">
            <a:alphaModFix/>
          </a:blip>
          <a:srcRect b="0" l="0" r="0" t="0"/>
          <a:stretch/>
        </p:blipFill>
        <p:spPr>
          <a:xfrm>
            <a:off x="580571" y="395883"/>
            <a:ext cx="1669143" cy="604242"/>
          </a:xfrm>
          <a:prstGeom prst="rect">
            <a:avLst/>
          </a:prstGeom>
          <a:noFill/>
          <a:ln>
            <a:noFill/>
          </a:ln>
        </p:spPr>
      </p:pic>
      <p:pic>
        <p:nvPicPr>
          <p:cNvPr id="833" name="Google Shape;833;p65"/>
          <p:cNvPicPr preferRelativeResize="0"/>
          <p:nvPr/>
        </p:nvPicPr>
        <p:blipFill rotWithShape="1">
          <a:blip r:embed="rId4">
            <a:alphaModFix/>
          </a:blip>
          <a:srcRect b="0" l="0" r="0" t="0"/>
          <a:stretch/>
        </p:blipFill>
        <p:spPr>
          <a:xfrm>
            <a:off x="290286" y="357188"/>
            <a:ext cx="8636000" cy="823465"/>
          </a:xfrm>
          <a:prstGeom prst="rect">
            <a:avLst/>
          </a:prstGeom>
          <a:noFill/>
          <a:ln>
            <a:noFill/>
          </a:ln>
        </p:spPr>
      </p:pic>
      <p:pic>
        <p:nvPicPr>
          <p:cNvPr id="834" name="Google Shape;834;p65"/>
          <p:cNvPicPr preferRelativeResize="0"/>
          <p:nvPr/>
        </p:nvPicPr>
        <p:blipFill rotWithShape="1">
          <a:blip r:embed="rId5">
            <a:alphaModFix/>
          </a:blip>
          <a:srcRect b="0" l="0" r="0" t="0"/>
          <a:stretch/>
        </p:blipFill>
        <p:spPr>
          <a:xfrm>
            <a:off x="3410857" y="586815"/>
            <a:ext cx="3144567" cy="413310"/>
          </a:xfrm>
          <a:prstGeom prst="rect">
            <a:avLst/>
          </a:prstGeom>
          <a:noFill/>
          <a:ln>
            <a:noFill/>
          </a:ln>
        </p:spPr>
      </p:pic>
      <p:pic>
        <p:nvPicPr>
          <p:cNvPr id="835" name="Google Shape;835;p65"/>
          <p:cNvPicPr preferRelativeResize="0"/>
          <p:nvPr/>
        </p:nvPicPr>
        <p:blipFill rotWithShape="1">
          <a:blip r:embed="rId6">
            <a:alphaModFix/>
          </a:blip>
          <a:srcRect b="0" l="0" r="0" t="0"/>
          <a:stretch/>
        </p:blipFill>
        <p:spPr>
          <a:xfrm>
            <a:off x="2493472" y="571501"/>
            <a:ext cx="409385" cy="344759"/>
          </a:xfrm>
          <a:prstGeom prst="rect">
            <a:avLst/>
          </a:prstGeom>
          <a:noFill/>
          <a:ln>
            <a:noFill/>
          </a:ln>
        </p:spPr>
      </p:pic>
      <p:sp>
        <p:nvSpPr>
          <p:cNvPr id="836" name="Google Shape;836;p65"/>
          <p:cNvSpPr txBox="1"/>
          <p:nvPr/>
        </p:nvSpPr>
        <p:spPr>
          <a:xfrm>
            <a:off x="2467428" y="428625"/>
            <a:ext cx="435429" cy="641336"/>
          </a:xfrm>
          <a:prstGeom prst="rect">
            <a:avLst/>
          </a:prstGeom>
          <a:noFill/>
          <a:ln>
            <a:noFill/>
          </a:ln>
        </p:spPr>
        <p:txBody>
          <a:bodyPr anchorCtr="0" anchor="t" bIns="43225" lIns="86475" spcFirstLastPara="1" rIns="86475" wrap="square" tIns="43225">
            <a:spAutoFit/>
          </a:bodyPr>
          <a:lstStyle/>
          <a:p>
            <a:pPr indent="0" lvl="0" marL="0" marR="0" rtl="0" algn="l">
              <a:spcBef>
                <a:spcPts val="0"/>
              </a:spcBef>
              <a:spcAft>
                <a:spcPts val="0"/>
              </a:spcAft>
              <a:buNone/>
            </a:pPr>
            <a:r>
              <a:rPr b="1" lang="en-US" sz="3600">
                <a:solidFill>
                  <a:srgbClr val="FF9900"/>
                </a:solidFill>
                <a:latin typeface="Arial"/>
                <a:ea typeface="Arial"/>
                <a:cs typeface="Arial"/>
                <a:sym typeface="Arial"/>
              </a:rPr>
              <a:t>4</a:t>
            </a:r>
            <a:endParaRPr b="1" sz="3600">
              <a:solidFill>
                <a:srgbClr val="FF9900"/>
              </a:solidFill>
              <a:latin typeface="Arial"/>
              <a:ea typeface="Arial"/>
              <a:cs typeface="Arial"/>
              <a:sym typeface="Arial"/>
            </a:endParaRPr>
          </a:p>
        </p:txBody>
      </p:sp>
      <p:sp>
        <p:nvSpPr>
          <p:cNvPr id="837" name="Google Shape;837;p65"/>
          <p:cNvSpPr txBox="1"/>
          <p:nvPr/>
        </p:nvSpPr>
        <p:spPr>
          <a:xfrm>
            <a:off x="3338286" y="508909"/>
            <a:ext cx="5515429" cy="519373"/>
          </a:xfrm>
          <a:prstGeom prst="rect">
            <a:avLst/>
          </a:prstGeom>
          <a:noFill/>
          <a:ln>
            <a:noFill/>
          </a:ln>
        </p:spPr>
        <p:txBody>
          <a:bodyPr anchorCtr="0" anchor="t" bIns="43225" lIns="86475" spcFirstLastPara="1" rIns="86475" wrap="square" tIns="43225">
            <a:spAutoFit/>
          </a:bodyPr>
          <a:lstStyle/>
          <a:p>
            <a:pPr indent="0" lvl="0" marL="111120" marR="0" rtl="0" algn="l">
              <a:spcBef>
                <a:spcPts val="0"/>
              </a:spcBef>
              <a:spcAft>
                <a:spcPts val="0"/>
              </a:spcAft>
              <a:buNone/>
            </a:pPr>
            <a:r>
              <a:rPr b="1" lang="en-US" sz="2800">
                <a:solidFill>
                  <a:schemeClr val="lt1"/>
                </a:solidFill>
                <a:latin typeface="Arial"/>
                <a:ea typeface="Arial"/>
                <a:cs typeface="Arial"/>
                <a:sym typeface="Arial"/>
              </a:rPr>
              <a:t>Trial Balance</a:t>
            </a:r>
            <a:endParaRPr b="1" sz="2800">
              <a:solidFill>
                <a:schemeClr val="lt1"/>
              </a:solidFill>
              <a:latin typeface="Arial"/>
              <a:ea typeface="Arial"/>
              <a:cs typeface="Arial"/>
              <a:sym typeface="Arial"/>
            </a:endParaRPr>
          </a:p>
        </p:txBody>
      </p:sp>
      <p:pic>
        <p:nvPicPr>
          <p:cNvPr id="838" name="Google Shape;838;p65"/>
          <p:cNvPicPr preferRelativeResize="0"/>
          <p:nvPr/>
        </p:nvPicPr>
        <p:blipFill rotWithShape="1">
          <a:blip r:embed="rId7">
            <a:alphaModFix/>
          </a:blip>
          <a:srcRect b="0" l="0" r="0" t="0"/>
          <a:stretch/>
        </p:blipFill>
        <p:spPr>
          <a:xfrm rot="10800000">
            <a:off x="457200" y="501930"/>
            <a:ext cx="1600200" cy="564870"/>
          </a:xfrm>
          <a:prstGeom prst="rect">
            <a:avLst/>
          </a:prstGeom>
          <a:noFill/>
          <a:ln>
            <a:noFill/>
          </a:ln>
        </p:spPr>
      </p:pic>
      <p:sp>
        <p:nvSpPr>
          <p:cNvPr id="839" name="Google Shape;839;p65"/>
          <p:cNvSpPr txBox="1"/>
          <p:nvPr/>
        </p:nvSpPr>
        <p:spPr>
          <a:xfrm>
            <a:off x="304800" y="381000"/>
            <a:ext cx="2209800"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200">
                <a:solidFill>
                  <a:srgbClr val="FF9900"/>
                </a:solidFill>
                <a:latin typeface="Arial"/>
                <a:ea typeface="Arial"/>
                <a:cs typeface="Arial"/>
                <a:sym typeface="Arial"/>
              </a:rPr>
              <a:t>DO IT!</a:t>
            </a:r>
            <a:endParaRPr b="1" sz="4200">
              <a:solidFill>
                <a:srgbClr val="FF9900"/>
              </a:solidFill>
              <a:latin typeface="Arial"/>
              <a:ea typeface="Arial"/>
              <a:cs typeface="Arial"/>
              <a:sym typeface="Arial"/>
            </a:endParaRPr>
          </a:p>
        </p:txBody>
      </p:sp>
      <p:pic>
        <p:nvPicPr>
          <p:cNvPr id="840" name="Google Shape;840;p65"/>
          <p:cNvPicPr preferRelativeResize="0"/>
          <p:nvPr/>
        </p:nvPicPr>
        <p:blipFill rotWithShape="1">
          <a:blip r:embed="rId8">
            <a:alphaModFix/>
          </a:blip>
          <a:srcRect b="0" l="0" r="0" t="0"/>
          <a:stretch/>
        </p:blipFill>
        <p:spPr>
          <a:xfrm>
            <a:off x="304799" y="1371600"/>
            <a:ext cx="8575385" cy="4648200"/>
          </a:xfrm>
          <a:prstGeom prst="rect">
            <a:avLst/>
          </a:prstGeom>
          <a:noFill/>
          <a:ln>
            <a:noFill/>
          </a:ln>
        </p:spPr>
      </p:pic>
      <p:sp>
        <p:nvSpPr>
          <p:cNvPr id="841" name="Google Shape;841;p65"/>
          <p:cNvSpPr/>
          <p:nvPr/>
        </p:nvSpPr>
        <p:spPr>
          <a:xfrm>
            <a:off x="457200" y="4648200"/>
            <a:ext cx="8221154" cy="16002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id="842" name="Google Shape;842;p65"/>
          <p:cNvPicPr preferRelativeResize="0"/>
          <p:nvPr/>
        </p:nvPicPr>
        <p:blipFill rotWithShape="1">
          <a:blip r:embed="rId9">
            <a:alphaModFix/>
          </a:blip>
          <a:srcRect b="0" l="0" r="0" t="0"/>
          <a:stretch/>
        </p:blipFill>
        <p:spPr>
          <a:xfrm>
            <a:off x="411480" y="1828800"/>
            <a:ext cx="8266874" cy="3278243"/>
          </a:xfrm>
          <a:prstGeom prst="rect">
            <a:avLst/>
          </a:prstGeom>
          <a:noFill/>
          <a:ln>
            <a:noFill/>
          </a:ln>
        </p:spPr>
      </p:pic>
      <p:sp>
        <p:nvSpPr>
          <p:cNvPr id="843" name="Google Shape;843;p65"/>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4</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cxnSp>
        <p:nvCxnSpPr>
          <p:cNvPr id="848" name="Google Shape;848;p66"/>
          <p:cNvCxnSpPr/>
          <p:nvPr/>
        </p:nvCxnSpPr>
        <p:spPr>
          <a:xfrm>
            <a:off x="290286" y="784324"/>
            <a:ext cx="8636000" cy="1489"/>
          </a:xfrm>
          <a:prstGeom prst="straightConnector1">
            <a:avLst/>
          </a:prstGeom>
          <a:noFill/>
          <a:ln cap="flat" cmpd="sng" w="57150">
            <a:solidFill>
              <a:srgbClr val="FF9900"/>
            </a:solidFill>
            <a:prstDash val="solid"/>
            <a:round/>
            <a:headEnd len="med" w="med" type="none"/>
            <a:tailEnd len="med" w="med" type="none"/>
          </a:ln>
        </p:spPr>
      </p:cxnSp>
      <p:pic>
        <p:nvPicPr>
          <p:cNvPr id="849" name="Google Shape;849;p66"/>
          <p:cNvPicPr preferRelativeResize="0"/>
          <p:nvPr/>
        </p:nvPicPr>
        <p:blipFill rotWithShape="1">
          <a:blip r:embed="rId3">
            <a:alphaModFix/>
          </a:blip>
          <a:srcRect b="0" l="0" r="0" t="0"/>
          <a:stretch/>
        </p:blipFill>
        <p:spPr>
          <a:xfrm>
            <a:off x="580571" y="395883"/>
            <a:ext cx="1669143" cy="604242"/>
          </a:xfrm>
          <a:prstGeom prst="rect">
            <a:avLst/>
          </a:prstGeom>
          <a:noFill/>
          <a:ln>
            <a:noFill/>
          </a:ln>
        </p:spPr>
      </p:pic>
      <p:pic>
        <p:nvPicPr>
          <p:cNvPr id="850" name="Google Shape;850;p66"/>
          <p:cNvPicPr preferRelativeResize="0"/>
          <p:nvPr/>
        </p:nvPicPr>
        <p:blipFill rotWithShape="1">
          <a:blip r:embed="rId4">
            <a:alphaModFix/>
          </a:blip>
          <a:srcRect b="0" l="0" r="0" t="0"/>
          <a:stretch/>
        </p:blipFill>
        <p:spPr>
          <a:xfrm>
            <a:off x="290286" y="357188"/>
            <a:ext cx="8636000" cy="823465"/>
          </a:xfrm>
          <a:prstGeom prst="rect">
            <a:avLst/>
          </a:prstGeom>
          <a:noFill/>
          <a:ln>
            <a:noFill/>
          </a:ln>
        </p:spPr>
      </p:pic>
      <p:pic>
        <p:nvPicPr>
          <p:cNvPr id="851" name="Google Shape;851;p66"/>
          <p:cNvPicPr preferRelativeResize="0"/>
          <p:nvPr/>
        </p:nvPicPr>
        <p:blipFill rotWithShape="1">
          <a:blip r:embed="rId5">
            <a:alphaModFix/>
          </a:blip>
          <a:srcRect b="0" l="0" r="0" t="0"/>
          <a:stretch/>
        </p:blipFill>
        <p:spPr>
          <a:xfrm>
            <a:off x="3410857" y="586815"/>
            <a:ext cx="3144567" cy="413310"/>
          </a:xfrm>
          <a:prstGeom prst="rect">
            <a:avLst/>
          </a:prstGeom>
          <a:noFill/>
          <a:ln>
            <a:noFill/>
          </a:ln>
        </p:spPr>
      </p:pic>
      <p:pic>
        <p:nvPicPr>
          <p:cNvPr id="852" name="Google Shape;852;p66"/>
          <p:cNvPicPr preferRelativeResize="0"/>
          <p:nvPr/>
        </p:nvPicPr>
        <p:blipFill rotWithShape="1">
          <a:blip r:embed="rId6">
            <a:alphaModFix/>
          </a:blip>
          <a:srcRect b="0" l="0" r="0" t="0"/>
          <a:stretch/>
        </p:blipFill>
        <p:spPr>
          <a:xfrm>
            <a:off x="2493472" y="571501"/>
            <a:ext cx="409385" cy="344759"/>
          </a:xfrm>
          <a:prstGeom prst="rect">
            <a:avLst/>
          </a:prstGeom>
          <a:noFill/>
          <a:ln>
            <a:noFill/>
          </a:ln>
        </p:spPr>
      </p:pic>
      <p:sp>
        <p:nvSpPr>
          <p:cNvPr id="853" name="Google Shape;853;p66"/>
          <p:cNvSpPr txBox="1"/>
          <p:nvPr/>
        </p:nvSpPr>
        <p:spPr>
          <a:xfrm>
            <a:off x="2467428" y="428625"/>
            <a:ext cx="435429" cy="641336"/>
          </a:xfrm>
          <a:prstGeom prst="rect">
            <a:avLst/>
          </a:prstGeom>
          <a:noFill/>
          <a:ln>
            <a:noFill/>
          </a:ln>
        </p:spPr>
        <p:txBody>
          <a:bodyPr anchorCtr="0" anchor="t" bIns="43225" lIns="86475" spcFirstLastPara="1" rIns="86475" wrap="square" tIns="43225">
            <a:spAutoFit/>
          </a:bodyPr>
          <a:lstStyle/>
          <a:p>
            <a:pPr indent="0" lvl="0" marL="0" marR="0" rtl="0" algn="l">
              <a:spcBef>
                <a:spcPts val="0"/>
              </a:spcBef>
              <a:spcAft>
                <a:spcPts val="0"/>
              </a:spcAft>
              <a:buNone/>
            </a:pPr>
            <a:r>
              <a:rPr b="1" lang="en-US" sz="3600">
                <a:solidFill>
                  <a:srgbClr val="FF9900"/>
                </a:solidFill>
                <a:latin typeface="Arial"/>
                <a:ea typeface="Arial"/>
                <a:cs typeface="Arial"/>
                <a:sym typeface="Arial"/>
              </a:rPr>
              <a:t>4</a:t>
            </a:r>
            <a:endParaRPr b="1" sz="3600">
              <a:solidFill>
                <a:srgbClr val="FF9900"/>
              </a:solidFill>
              <a:latin typeface="Arial"/>
              <a:ea typeface="Arial"/>
              <a:cs typeface="Arial"/>
              <a:sym typeface="Arial"/>
            </a:endParaRPr>
          </a:p>
        </p:txBody>
      </p:sp>
      <p:sp>
        <p:nvSpPr>
          <p:cNvPr id="854" name="Google Shape;854;p66"/>
          <p:cNvSpPr txBox="1"/>
          <p:nvPr/>
        </p:nvSpPr>
        <p:spPr>
          <a:xfrm>
            <a:off x="3338286" y="508909"/>
            <a:ext cx="5515429" cy="519373"/>
          </a:xfrm>
          <a:prstGeom prst="rect">
            <a:avLst/>
          </a:prstGeom>
          <a:noFill/>
          <a:ln>
            <a:noFill/>
          </a:ln>
        </p:spPr>
        <p:txBody>
          <a:bodyPr anchorCtr="0" anchor="t" bIns="43225" lIns="86475" spcFirstLastPara="1" rIns="86475" wrap="square" tIns="43225">
            <a:spAutoFit/>
          </a:bodyPr>
          <a:lstStyle/>
          <a:p>
            <a:pPr indent="0" lvl="0" marL="111120" marR="0" rtl="0" algn="l">
              <a:spcBef>
                <a:spcPts val="0"/>
              </a:spcBef>
              <a:spcAft>
                <a:spcPts val="0"/>
              </a:spcAft>
              <a:buNone/>
            </a:pPr>
            <a:r>
              <a:rPr b="1" lang="en-US" sz="2800">
                <a:solidFill>
                  <a:schemeClr val="lt1"/>
                </a:solidFill>
                <a:latin typeface="Arial"/>
                <a:ea typeface="Arial"/>
                <a:cs typeface="Arial"/>
                <a:sym typeface="Arial"/>
              </a:rPr>
              <a:t>Trial Balance</a:t>
            </a:r>
            <a:endParaRPr b="1" sz="2800">
              <a:solidFill>
                <a:schemeClr val="lt1"/>
              </a:solidFill>
              <a:latin typeface="Arial"/>
              <a:ea typeface="Arial"/>
              <a:cs typeface="Arial"/>
              <a:sym typeface="Arial"/>
            </a:endParaRPr>
          </a:p>
        </p:txBody>
      </p:sp>
      <p:pic>
        <p:nvPicPr>
          <p:cNvPr id="855" name="Google Shape;855;p66"/>
          <p:cNvPicPr preferRelativeResize="0"/>
          <p:nvPr/>
        </p:nvPicPr>
        <p:blipFill rotWithShape="1">
          <a:blip r:embed="rId7">
            <a:alphaModFix/>
          </a:blip>
          <a:srcRect b="0" l="0" r="0" t="0"/>
          <a:stretch/>
        </p:blipFill>
        <p:spPr>
          <a:xfrm rot="10800000">
            <a:off x="457200" y="501930"/>
            <a:ext cx="1600200" cy="564870"/>
          </a:xfrm>
          <a:prstGeom prst="rect">
            <a:avLst/>
          </a:prstGeom>
          <a:noFill/>
          <a:ln>
            <a:noFill/>
          </a:ln>
        </p:spPr>
      </p:pic>
      <p:sp>
        <p:nvSpPr>
          <p:cNvPr id="856" name="Google Shape;856;p66"/>
          <p:cNvSpPr txBox="1"/>
          <p:nvPr/>
        </p:nvSpPr>
        <p:spPr>
          <a:xfrm>
            <a:off x="304800" y="381000"/>
            <a:ext cx="2209800"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200">
                <a:solidFill>
                  <a:srgbClr val="FF9900"/>
                </a:solidFill>
                <a:latin typeface="Arial"/>
                <a:ea typeface="Arial"/>
                <a:cs typeface="Arial"/>
                <a:sym typeface="Arial"/>
              </a:rPr>
              <a:t>DO IT!</a:t>
            </a:r>
            <a:endParaRPr b="1" sz="4200">
              <a:solidFill>
                <a:srgbClr val="FF9900"/>
              </a:solidFill>
              <a:latin typeface="Arial"/>
              <a:ea typeface="Arial"/>
              <a:cs typeface="Arial"/>
              <a:sym typeface="Arial"/>
            </a:endParaRPr>
          </a:p>
        </p:txBody>
      </p:sp>
      <p:pic>
        <p:nvPicPr>
          <p:cNvPr id="857" name="Google Shape;857;p66"/>
          <p:cNvPicPr preferRelativeResize="0"/>
          <p:nvPr/>
        </p:nvPicPr>
        <p:blipFill rotWithShape="1">
          <a:blip r:embed="rId8">
            <a:alphaModFix/>
          </a:blip>
          <a:srcRect b="0" l="0" r="0" t="0"/>
          <a:stretch/>
        </p:blipFill>
        <p:spPr>
          <a:xfrm>
            <a:off x="304799" y="1371600"/>
            <a:ext cx="8575385" cy="4648200"/>
          </a:xfrm>
          <a:prstGeom prst="rect">
            <a:avLst/>
          </a:prstGeom>
          <a:noFill/>
          <a:ln>
            <a:noFill/>
          </a:ln>
        </p:spPr>
      </p:pic>
      <p:pic>
        <p:nvPicPr>
          <p:cNvPr id="858" name="Google Shape;858;p66"/>
          <p:cNvPicPr preferRelativeResize="0"/>
          <p:nvPr/>
        </p:nvPicPr>
        <p:blipFill rotWithShape="1">
          <a:blip r:embed="rId9">
            <a:alphaModFix/>
          </a:blip>
          <a:srcRect b="0" l="0" r="0" t="0"/>
          <a:stretch/>
        </p:blipFill>
        <p:spPr>
          <a:xfrm>
            <a:off x="411480" y="1828800"/>
            <a:ext cx="8266874" cy="3278243"/>
          </a:xfrm>
          <a:prstGeom prst="rect">
            <a:avLst/>
          </a:prstGeom>
          <a:noFill/>
          <a:ln>
            <a:noFill/>
          </a:ln>
        </p:spPr>
      </p:pic>
      <p:pic>
        <p:nvPicPr>
          <p:cNvPr id="859" name="Google Shape;859;p66"/>
          <p:cNvPicPr preferRelativeResize="0"/>
          <p:nvPr/>
        </p:nvPicPr>
        <p:blipFill rotWithShape="1">
          <a:blip r:embed="rId10">
            <a:alphaModFix/>
          </a:blip>
          <a:srcRect b="0" l="0" r="0" t="0"/>
          <a:stretch/>
        </p:blipFill>
        <p:spPr>
          <a:xfrm>
            <a:off x="448056" y="1810512"/>
            <a:ext cx="8221154" cy="1538292"/>
          </a:xfrm>
          <a:prstGeom prst="rect">
            <a:avLst/>
          </a:prstGeom>
          <a:noFill/>
          <a:ln>
            <a:noFill/>
          </a:ln>
        </p:spPr>
      </p:pic>
      <p:sp>
        <p:nvSpPr>
          <p:cNvPr id="860" name="Google Shape;860;p66"/>
          <p:cNvSpPr/>
          <p:nvPr/>
        </p:nvSpPr>
        <p:spPr>
          <a:xfrm>
            <a:off x="457200" y="3348804"/>
            <a:ext cx="8221154" cy="2899596"/>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861" name="Google Shape;861;p66"/>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4</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p67"/>
          <p:cNvSpPr txBox="1"/>
          <p:nvPr/>
        </p:nvSpPr>
        <p:spPr>
          <a:xfrm>
            <a:off x="609600" y="2133600"/>
            <a:ext cx="7620000" cy="1954381"/>
          </a:xfrm>
          <a:prstGeom prst="rect">
            <a:avLst/>
          </a:prstGeom>
          <a:noFill/>
          <a:ln>
            <a:noFill/>
          </a:ln>
        </p:spPr>
        <p:txBody>
          <a:bodyPr anchorCtr="0" anchor="t" bIns="45700" lIns="91425" spcFirstLastPara="1" rIns="91425" wrap="square" tIns="45700">
            <a:spAutoFit/>
          </a:bodyPr>
          <a:lstStyle/>
          <a:p>
            <a:pPr indent="-457200" lvl="0" marL="688975" marR="0" rtl="0" algn="l">
              <a:lnSpc>
                <a:spcPct val="120000"/>
              </a:lnSpc>
              <a:spcBef>
                <a:spcPts val="0"/>
              </a:spcBef>
              <a:spcAft>
                <a:spcPts val="0"/>
              </a:spcAft>
              <a:buClr>
                <a:schemeClr val="dk1"/>
              </a:buClr>
              <a:buSzPts val="2200"/>
              <a:buFont typeface="Comic Sans MS"/>
              <a:buAutoNum type="arabicPeriod"/>
            </a:pPr>
            <a:r>
              <a:rPr b="0" lang="en-US" sz="2200">
                <a:solidFill>
                  <a:schemeClr val="dk1"/>
                </a:solidFill>
                <a:latin typeface="Arial"/>
                <a:ea typeface="Arial"/>
                <a:cs typeface="Arial"/>
                <a:sym typeface="Arial"/>
              </a:rPr>
              <a:t>When a company prepays an expense, it </a:t>
            </a:r>
            <a:r>
              <a:rPr b="1" lang="en-US" sz="2200">
                <a:solidFill>
                  <a:schemeClr val="dk1"/>
                </a:solidFill>
                <a:latin typeface="Arial"/>
                <a:ea typeface="Arial"/>
                <a:cs typeface="Arial"/>
                <a:sym typeface="Arial"/>
              </a:rPr>
              <a:t>debits</a:t>
            </a:r>
            <a:r>
              <a:rPr b="0" lang="en-US" sz="2200">
                <a:solidFill>
                  <a:schemeClr val="dk1"/>
                </a:solidFill>
                <a:latin typeface="Arial"/>
                <a:ea typeface="Arial"/>
                <a:cs typeface="Arial"/>
                <a:sym typeface="Arial"/>
              </a:rPr>
              <a:t> that amount to </a:t>
            </a:r>
            <a:r>
              <a:rPr b="1" lang="en-US" sz="2200">
                <a:solidFill>
                  <a:schemeClr val="dk1"/>
                </a:solidFill>
                <a:latin typeface="Arial"/>
                <a:ea typeface="Arial"/>
                <a:cs typeface="Arial"/>
                <a:sym typeface="Arial"/>
              </a:rPr>
              <a:t>an expense account</a:t>
            </a:r>
            <a:r>
              <a:rPr b="0" lang="en-US" sz="2200">
                <a:solidFill>
                  <a:schemeClr val="dk1"/>
                </a:solidFill>
                <a:latin typeface="Arial"/>
                <a:ea typeface="Arial"/>
                <a:cs typeface="Arial"/>
                <a:sym typeface="Arial"/>
              </a:rPr>
              <a:t>.</a:t>
            </a:r>
            <a:endParaRPr/>
          </a:p>
          <a:p>
            <a:pPr indent="-457200" lvl="0" marL="688975" marR="0" rtl="0" algn="l">
              <a:lnSpc>
                <a:spcPct val="120000"/>
              </a:lnSpc>
              <a:spcBef>
                <a:spcPts val="1540"/>
              </a:spcBef>
              <a:spcAft>
                <a:spcPts val="0"/>
              </a:spcAft>
              <a:buClr>
                <a:schemeClr val="dk1"/>
              </a:buClr>
              <a:buSzPts val="2200"/>
              <a:buFont typeface="Comic Sans MS"/>
              <a:buAutoNum type="arabicPeriod"/>
            </a:pPr>
            <a:r>
              <a:rPr b="0" lang="en-US" sz="2200">
                <a:solidFill>
                  <a:schemeClr val="dk1"/>
                </a:solidFill>
                <a:latin typeface="Arial"/>
                <a:ea typeface="Arial"/>
                <a:cs typeface="Arial"/>
                <a:sym typeface="Arial"/>
              </a:rPr>
              <a:t>When it receives payment for future services, it </a:t>
            </a:r>
            <a:r>
              <a:rPr b="1" lang="en-US" sz="2200">
                <a:solidFill>
                  <a:schemeClr val="dk1"/>
                </a:solidFill>
                <a:latin typeface="Arial"/>
                <a:ea typeface="Arial"/>
                <a:cs typeface="Arial"/>
                <a:sym typeface="Arial"/>
              </a:rPr>
              <a:t>credits</a:t>
            </a:r>
            <a:r>
              <a:rPr b="0" lang="en-US" sz="2200">
                <a:solidFill>
                  <a:schemeClr val="dk1"/>
                </a:solidFill>
                <a:latin typeface="Arial"/>
                <a:ea typeface="Arial"/>
                <a:cs typeface="Arial"/>
                <a:sym typeface="Arial"/>
              </a:rPr>
              <a:t> the amount to </a:t>
            </a:r>
            <a:r>
              <a:rPr b="1" lang="en-US" sz="2200">
                <a:solidFill>
                  <a:schemeClr val="dk1"/>
                </a:solidFill>
                <a:latin typeface="Arial"/>
                <a:ea typeface="Arial"/>
                <a:cs typeface="Arial"/>
                <a:sym typeface="Arial"/>
              </a:rPr>
              <a:t>a revenue account</a:t>
            </a:r>
            <a:r>
              <a:rPr b="0" lang="en-US" sz="2200">
                <a:solidFill>
                  <a:schemeClr val="dk1"/>
                </a:solidFill>
                <a:latin typeface="Arial"/>
                <a:ea typeface="Arial"/>
                <a:cs typeface="Arial"/>
                <a:sym typeface="Arial"/>
              </a:rPr>
              <a:t>.</a:t>
            </a:r>
            <a:endParaRPr/>
          </a:p>
        </p:txBody>
      </p:sp>
      <p:sp>
        <p:nvSpPr>
          <p:cNvPr id="867" name="Google Shape;867;p67"/>
          <p:cNvSpPr/>
          <p:nvPr/>
        </p:nvSpPr>
        <p:spPr>
          <a:xfrm>
            <a:off x="290286" y="405765"/>
            <a:ext cx="2249714" cy="677228"/>
          </a:xfrm>
          <a:prstGeom prst="rect">
            <a:avLst/>
          </a:prstGeom>
          <a:solidFill>
            <a:srgbClr val="D8D8D8"/>
          </a:solidFill>
          <a:ln>
            <a:noFill/>
          </a:ln>
        </p:spPr>
        <p:txBody>
          <a:bodyPr anchorCtr="0" anchor="ctr" bIns="43225" lIns="86475" spcFirstLastPara="1" rIns="86475" wrap="square" tIns="43225">
            <a:noAutofit/>
          </a:bodyPr>
          <a:lstStyle/>
          <a:p>
            <a:pPr indent="0" lvl="0" marL="0" marR="0" rtl="0" algn="l">
              <a:spcBef>
                <a:spcPts val="0"/>
              </a:spcBef>
              <a:spcAft>
                <a:spcPts val="0"/>
              </a:spcAft>
              <a:buNone/>
            </a:pPr>
            <a:r>
              <a:rPr b="1" lang="en-US" sz="1700">
                <a:solidFill>
                  <a:schemeClr val="dk1"/>
                </a:solidFill>
                <a:latin typeface="Arial"/>
                <a:ea typeface="Arial"/>
                <a:cs typeface="Arial"/>
                <a:sym typeface="Arial"/>
              </a:rPr>
              <a:t>LEARNING</a:t>
            </a:r>
            <a:endParaRPr/>
          </a:p>
          <a:p>
            <a:pPr indent="0" lvl="0" marL="0" marR="0" rtl="0" algn="l">
              <a:spcBef>
                <a:spcPts val="0"/>
              </a:spcBef>
              <a:spcAft>
                <a:spcPts val="0"/>
              </a:spcAft>
              <a:buNone/>
            </a:pPr>
            <a:r>
              <a:rPr b="1" lang="en-US" sz="1700">
                <a:solidFill>
                  <a:schemeClr val="dk1"/>
                </a:solidFill>
                <a:latin typeface="Arial"/>
                <a:ea typeface="Arial"/>
                <a:cs typeface="Arial"/>
                <a:sym typeface="Arial"/>
              </a:rPr>
              <a:t>OBJECTIVE</a:t>
            </a:r>
            <a:endParaRPr/>
          </a:p>
        </p:txBody>
      </p:sp>
      <p:sp>
        <p:nvSpPr>
          <p:cNvPr id="868" name="Google Shape;868;p67"/>
          <p:cNvSpPr/>
          <p:nvPr/>
        </p:nvSpPr>
        <p:spPr>
          <a:xfrm>
            <a:off x="2540000" y="274320"/>
            <a:ext cx="6241143" cy="928688"/>
          </a:xfrm>
          <a:prstGeom prst="rect">
            <a:avLst/>
          </a:prstGeom>
          <a:solidFill>
            <a:srgbClr val="0027A4"/>
          </a:solidFill>
          <a:ln>
            <a:noFill/>
          </a:ln>
        </p:spPr>
        <p:txBody>
          <a:bodyPr anchorCtr="0" anchor="ctr" bIns="45700" lIns="91425" spcFirstLastPara="1" rIns="91425" wrap="square" tIns="27425">
            <a:noAutofit/>
          </a:bodyPr>
          <a:lstStyle/>
          <a:p>
            <a:pPr indent="0" lvl="0" marL="53975" marR="0" rtl="0" algn="l">
              <a:spcBef>
                <a:spcPts val="0"/>
              </a:spcBef>
              <a:spcAft>
                <a:spcPts val="0"/>
              </a:spcAft>
              <a:buNone/>
            </a:pPr>
            <a:r>
              <a:rPr b="1" lang="en-US" sz="2300">
                <a:solidFill>
                  <a:schemeClr val="lt1"/>
                </a:solidFill>
                <a:latin typeface="Arial"/>
                <a:ea typeface="Arial"/>
                <a:cs typeface="Arial"/>
                <a:sym typeface="Arial"/>
              </a:rPr>
              <a:t>APPENDIX 3A: Prepare adjusting entries for the alternative treatment of deferrals.</a:t>
            </a:r>
            <a:endParaRPr/>
          </a:p>
        </p:txBody>
      </p:sp>
      <p:sp>
        <p:nvSpPr>
          <p:cNvPr id="869" name="Google Shape;869;p67"/>
          <p:cNvSpPr/>
          <p:nvPr/>
        </p:nvSpPr>
        <p:spPr>
          <a:xfrm>
            <a:off x="1872343" y="485775"/>
            <a:ext cx="522514" cy="514350"/>
          </a:xfrm>
          <a:prstGeom prst="ellipse">
            <a:avLst/>
          </a:prstGeom>
          <a:solidFill>
            <a:srgbClr val="FF6600"/>
          </a:solidFill>
          <a:ln>
            <a:noFill/>
          </a:ln>
        </p:spPr>
        <p:txBody>
          <a:bodyPr anchorCtr="0" anchor="ctr" bIns="43225" lIns="86475" spcFirstLastPara="1" rIns="86475" wrap="square" tIns="0">
            <a:noAutofit/>
          </a:bodyPr>
          <a:lstStyle/>
          <a:p>
            <a:pPr indent="0" lvl="0" marL="0" marR="0" rtl="0" algn="ctr">
              <a:spcBef>
                <a:spcPts val="0"/>
              </a:spcBef>
              <a:spcAft>
                <a:spcPts val="0"/>
              </a:spcAft>
              <a:buNone/>
            </a:pPr>
            <a:r>
              <a:rPr b="1" lang="en-US" sz="2400">
                <a:solidFill>
                  <a:schemeClr val="lt1"/>
                </a:solidFill>
                <a:latin typeface="Arial"/>
                <a:ea typeface="Arial"/>
                <a:cs typeface="Arial"/>
                <a:sym typeface="Arial"/>
              </a:rPr>
              <a:t>5</a:t>
            </a:r>
            <a:endParaRPr b="1" sz="2400">
              <a:solidFill>
                <a:schemeClr val="lt1"/>
              </a:solidFill>
              <a:latin typeface="Arial"/>
              <a:ea typeface="Arial"/>
              <a:cs typeface="Arial"/>
              <a:sym typeface="Arial"/>
            </a:endParaRPr>
          </a:p>
        </p:txBody>
      </p:sp>
      <p:sp>
        <p:nvSpPr>
          <p:cNvPr id="870" name="Google Shape;870;p67"/>
          <p:cNvSpPr txBox="1"/>
          <p:nvPr/>
        </p:nvSpPr>
        <p:spPr>
          <a:xfrm>
            <a:off x="609600" y="1457980"/>
            <a:ext cx="784860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800000"/>
              </a:buClr>
              <a:buSzPts val="2240"/>
              <a:buFont typeface="Noto Sans Symbols"/>
              <a:buNone/>
            </a:pPr>
            <a:r>
              <a:rPr b="1" lang="en-US" sz="2800">
                <a:solidFill>
                  <a:schemeClr val="dk1"/>
                </a:solidFill>
                <a:latin typeface="Arial"/>
                <a:ea typeface="Arial"/>
                <a:cs typeface="Arial"/>
                <a:sym typeface="Arial"/>
              </a:rPr>
              <a:t>Alternate Treatment for Adjusting Entries</a:t>
            </a:r>
            <a:endParaRPr b="0" sz="2100">
              <a:solidFill>
                <a:schemeClr val="dk1"/>
              </a:solidFill>
              <a:latin typeface="Arial"/>
              <a:ea typeface="Arial"/>
              <a:cs typeface="Arial"/>
              <a:sym typeface="Arial"/>
            </a:endParaRPr>
          </a:p>
        </p:txBody>
      </p:sp>
      <p:sp>
        <p:nvSpPr>
          <p:cNvPr id="871" name="Google Shape;871;p67"/>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5</a:t>
            </a:r>
            <a:endParaRPr/>
          </a:p>
        </p:txBody>
      </p:sp>
    </p:spTree>
  </p:cSld>
  <p:clrMapOvr>
    <a:masterClrMapping/>
  </p:clrMapOvr>
  <p:transition>
    <p:wipe dir="r"/>
  </p:transition>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
        <p:nvSpPr>
          <p:cNvPr id="876" name="Google Shape;876;p68"/>
          <p:cNvSpPr txBox="1"/>
          <p:nvPr/>
        </p:nvSpPr>
        <p:spPr>
          <a:xfrm>
            <a:off x="7391400" y="2620962"/>
            <a:ext cx="1447800" cy="27463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200">
                <a:solidFill>
                  <a:schemeClr val="folHlink"/>
                </a:solidFill>
                <a:latin typeface="Arial"/>
                <a:ea typeface="Arial"/>
                <a:cs typeface="Arial"/>
                <a:sym typeface="Arial"/>
              </a:rPr>
              <a:t>Illustration 3A-2</a:t>
            </a:r>
            <a:endParaRPr/>
          </a:p>
        </p:txBody>
      </p:sp>
      <p:sp>
        <p:nvSpPr>
          <p:cNvPr id="877" name="Google Shape;877;p68"/>
          <p:cNvSpPr/>
          <p:nvPr/>
        </p:nvSpPr>
        <p:spPr>
          <a:xfrm>
            <a:off x="609600" y="1295400"/>
            <a:ext cx="8229600" cy="1304203"/>
          </a:xfrm>
          <a:prstGeom prst="rect">
            <a:avLst/>
          </a:prstGeom>
          <a:noFill/>
          <a:ln>
            <a:noFill/>
          </a:ln>
        </p:spPr>
        <p:txBody>
          <a:bodyPr anchorCtr="0" anchor="t" bIns="45700" lIns="91425" spcFirstLastPara="1" rIns="91425" wrap="square" tIns="45700">
            <a:spAutoFit/>
          </a:bodyPr>
          <a:lstStyle/>
          <a:p>
            <a:pPr indent="0" lvl="0" marL="3175" marR="0" rtl="0" algn="l">
              <a:lnSpc>
                <a:spcPct val="125000"/>
              </a:lnSpc>
              <a:spcBef>
                <a:spcPts val="0"/>
              </a:spcBef>
              <a:spcAft>
                <a:spcPts val="0"/>
              </a:spcAft>
              <a:buClr>
                <a:srgbClr val="800000"/>
              </a:buClr>
              <a:buSzPts val="1680"/>
              <a:buFont typeface="Noto Sans Symbols"/>
              <a:buNone/>
            </a:pPr>
            <a:r>
              <a:rPr b="0" lang="en-US" sz="2100">
                <a:solidFill>
                  <a:schemeClr val="dk1"/>
                </a:solidFill>
                <a:latin typeface="Arial"/>
                <a:ea typeface="Arial"/>
                <a:cs typeface="Arial"/>
                <a:sym typeface="Arial"/>
              </a:rPr>
              <a:t>Company may choose to </a:t>
            </a:r>
            <a:r>
              <a:rPr b="1" lang="en-US" sz="2100">
                <a:solidFill>
                  <a:schemeClr val="dk1"/>
                </a:solidFill>
                <a:latin typeface="Arial"/>
                <a:ea typeface="Arial"/>
                <a:cs typeface="Arial"/>
                <a:sym typeface="Arial"/>
              </a:rPr>
              <a:t>debit (increase) an expense account</a:t>
            </a:r>
            <a:r>
              <a:rPr b="0" lang="en-US" sz="2100">
                <a:solidFill>
                  <a:schemeClr val="dk1"/>
                </a:solidFill>
                <a:latin typeface="Arial"/>
                <a:ea typeface="Arial"/>
                <a:cs typeface="Arial"/>
                <a:sym typeface="Arial"/>
              </a:rPr>
              <a:t> rather than an asset account. This alternative treatment is simply more convenient.</a:t>
            </a:r>
            <a:endParaRPr/>
          </a:p>
        </p:txBody>
      </p:sp>
      <p:pic>
        <p:nvPicPr>
          <p:cNvPr id="878" name="Google Shape;878;p68"/>
          <p:cNvPicPr preferRelativeResize="0"/>
          <p:nvPr/>
        </p:nvPicPr>
        <p:blipFill rotWithShape="1">
          <a:blip r:embed="rId3">
            <a:alphaModFix/>
          </a:blip>
          <a:srcRect b="0" l="0" r="0" t="0"/>
          <a:stretch/>
        </p:blipFill>
        <p:spPr>
          <a:xfrm>
            <a:off x="381000" y="2971800"/>
            <a:ext cx="8382000" cy="2048182"/>
          </a:xfrm>
          <a:prstGeom prst="rect">
            <a:avLst/>
          </a:prstGeom>
          <a:noFill/>
          <a:ln cap="sq" cmpd="sng" w="19050">
            <a:solidFill>
              <a:schemeClr val="dk1"/>
            </a:solidFill>
            <a:prstDash val="solid"/>
            <a:miter lim="800000"/>
            <a:headEnd len="sm" w="sm" type="none"/>
            <a:tailEnd len="sm" w="sm" type="none"/>
          </a:ln>
        </p:spPr>
      </p:pic>
      <p:cxnSp>
        <p:nvCxnSpPr>
          <p:cNvPr id="879" name="Google Shape;879;p68"/>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880" name="Google Shape;880;p68"/>
          <p:cNvSpPr/>
          <p:nvPr/>
        </p:nvSpPr>
        <p:spPr>
          <a:xfrm>
            <a:off x="609600" y="304800"/>
            <a:ext cx="82296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Prepaid Expenses</a:t>
            </a:r>
            <a:endParaRPr b="1" sz="3200">
              <a:solidFill>
                <a:srgbClr val="0000BF"/>
              </a:solidFill>
              <a:latin typeface="Arial"/>
              <a:ea typeface="Arial"/>
              <a:cs typeface="Arial"/>
              <a:sym typeface="Arial"/>
            </a:endParaRPr>
          </a:p>
        </p:txBody>
      </p:sp>
      <p:sp>
        <p:nvSpPr>
          <p:cNvPr id="881" name="Google Shape;881;p68"/>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5</a:t>
            </a:r>
            <a:endParaRPr/>
          </a:p>
        </p:txBody>
      </p:sp>
    </p:spTree>
  </p:cSld>
  <p:clrMapOvr>
    <a:masterClrMapping/>
  </p:clrMapOvr>
  <p:transition>
    <p:wipe dir="r"/>
  </p:transition>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p69"/>
          <p:cNvSpPr txBox="1"/>
          <p:nvPr/>
        </p:nvSpPr>
        <p:spPr>
          <a:xfrm>
            <a:off x="7391400" y="2163763"/>
            <a:ext cx="1447800" cy="27463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200">
                <a:solidFill>
                  <a:schemeClr val="folHlink"/>
                </a:solidFill>
                <a:latin typeface="Arial"/>
                <a:ea typeface="Arial"/>
                <a:cs typeface="Arial"/>
                <a:sym typeface="Arial"/>
              </a:rPr>
              <a:t>Illustration 3A-5</a:t>
            </a:r>
            <a:endParaRPr/>
          </a:p>
        </p:txBody>
      </p:sp>
      <p:sp>
        <p:nvSpPr>
          <p:cNvPr id="887" name="Google Shape;887;p69"/>
          <p:cNvSpPr/>
          <p:nvPr/>
        </p:nvSpPr>
        <p:spPr>
          <a:xfrm>
            <a:off x="609600" y="1295400"/>
            <a:ext cx="8229600" cy="900246"/>
          </a:xfrm>
          <a:prstGeom prst="rect">
            <a:avLst/>
          </a:prstGeom>
          <a:noFill/>
          <a:ln>
            <a:noFill/>
          </a:ln>
        </p:spPr>
        <p:txBody>
          <a:bodyPr anchorCtr="0" anchor="t" bIns="45700" lIns="91425" spcFirstLastPara="1" rIns="91425" wrap="square" tIns="45700">
            <a:spAutoFit/>
          </a:bodyPr>
          <a:lstStyle/>
          <a:p>
            <a:pPr indent="0" lvl="0" marL="3175" marR="0" rtl="0" algn="l">
              <a:lnSpc>
                <a:spcPct val="125000"/>
              </a:lnSpc>
              <a:spcBef>
                <a:spcPts val="0"/>
              </a:spcBef>
              <a:spcAft>
                <a:spcPts val="0"/>
              </a:spcAft>
              <a:buClr>
                <a:srgbClr val="800000"/>
              </a:buClr>
              <a:buSzPts val="1680"/>
              <a:buFont typeface="Noto Sans Symbols"/>
              <a:buNone/>
            </a:pPr>
            <a:r>
              <a:rPr b="0" lang="en-US" sz="2100">
                <a:solidFill>
                  <a:schemeClr val="dk1"/>
                </a:solidFill>
                <a:latin typeface="Arial"/>
                <a:ea typeface="Arial"/>
                <a:cs typeface="Arial"/>
                <a:sym typeface="Arial"/>
              </a:rPr>
              <a:t>Company may </a:t>
            </a:r>
            <a:r>
              <a:rPr b="1" lang="en-US" sz="2100">
                <a:solidFill>
                  <a:schemeClr val="dk1"/>
                </a:solidFill>
                <a:latin typeface="Arial"/>
                <a:ea typeface="Arial"/>
                <a:cs typeface="Arial"/>
                <a:sym typeface="Arial"/>
              </a:rPr>
              <a:t>credit (increase) a revenue account </a:t>
            </a:r>
            <a:r>
              <a:rPr b="0" lang="en-US" sz="2100">
                <a:solidFill>
                  <a:schemeClr val="dk1"/>
                </a:solidFill>
                <a:latin typeface="Arial"/>
                <a:ea typeface="Arial"/>
                <a:cs typeface="Arial"/>
                <a:sym typeface="Arial"/>
              </a:rPr>
              <a:t>when they receive cash for future services.</a:t>
            </a:r>
            <a:endParaRPr/>
          </a:p>
        </p:txBody>
      </p:sp>
      <p:pic>
        <p:nvPicPr>
          <p:cNvPr id="888" name="Google Shape;888;p69"/>
          <p:cNvPicPr preferRelativeResize="0"/>
          <p:nvPr/>
        </p:nvPicPr>
        <p:blipFill rotWithShape="1">
          <a:blip r:embed="rId3">
            <a:alphaModFix/>
          </a:blip>
          <a:srcRect b="0" l="0" r="0" t="0"/>
          <a:stretch/>
        </p:blipFill>
        <p:spPr>
          <a:xfrm>
            <a:off x="381000" y="2514600"/>
            <a:ext cx="8400143" cy="2845763"/>
          </a:xfrm>
          <a:prstGeom prst="rect">
            <a:avLst/>
          </a:prstGeom>
          <a:noFill/>
          <a:ln cap="sq" cmpd="sng" w="19050">
            <a:solidFill>
              <a:schemeClr val="dk1"/>
            </a:solidFill>
            <a:prstDash val="solid"/>
            <a:miter lim="800000"/>
            <a:headEnd len="sm" w="sm" type="none"/>
            <a:tailEnd len="sm" w="sm" type="none"/>
          </a:ln>
        </p:spPr>
      </p:pic>
      <p:cxnSp>
        <p:nvCxnSpPr>
          <p:cNvPr id="889" name="Google Shape;889;p69"/>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890" name="Google Shape;890;p69"/>
          <p:cNvSpPr/>
          <p:nvPr/>
        </p:nvSpPr>
        <p:spPr>
          <a:xfrm>
            <a:off x="609600" y="304800"/>
            <a:ext cx="82296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Unearned Revenues</a:t>
            </a:r>
            <a:endParaRPr b="1" sz="3200">
              <a:solidFill>
                <a:srgbClr val="0000BF"/>
              </a:solidFill>
              <a:latin typeface="Arial"/>
              <a:ea typeface="Arial"/>
              <a:cs typeface="Arial"/>
              <a:sym typeface="Arial"/>
            </a:endParaRPr>
          </a:p>
        </p:txBody>
      </p:sp>
      <p:sp>
        <p:nvSpPr>
          <p:cNvPr id="891" name="Google Shape;891;p69"/>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5</a:t>
            </a:r>
            <a:endParaRPr/>
          </a:p>
        </p:txBody>
      </p:sp>
    </p:spTree>
  </p:cSld>
  <p:clrMapOvr>
    <a:masterClrMapping/>
  </p:clrMapOvr>
  <p:transition>
    <p:wipe dir="r"/>
  </p:transition>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sp>
        <p:nvSpPr>
          <p:cNvPr id="896" name="Google Shape;896;p70"/>
          <p:cNvSpPr txBox="1"/>
          <p:nvPr/>
        </p:nvSpPr>
        <p:spPr>
          <a:xfrm>
            <a:off x="7391400" y="1828800"/>
            <a:ext cx="1447800" cy="27463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200">
                <a:solidFill>
                  <a:schemeClr val="dk1"/>
                </a:solidFill>
                <a:latin typeface="Arial"/>
                <a:ea typeface="Arial"/>
                <a:cs typeface="Arial"/>
                <a:sym typeface="Arial"/>
              </a:rPr>
              <a:t>Illustration 3A-7</a:t>
            </a:r>
            <a:endParaRPr/>
          </a:p>
        </p:txBody>
      </p:sp>
      <p:pic>
        <p:nvPicPr>
          <p:cNvPr id="897" name="Google Shape;897;p70"/>
          <p:cNvPicPr preferRelativeResize="0"/>
          <p:nvPr/>
        </p:nvPicPr>
        <p:blipFill rotWithShape="1">
          <a:blip r:embed="rId3">
            <a:alphaModFix/>
          </a:blip>
          <a:srcRect b="0" l="0" r="0" t="0"/>
          <a:stretch/>
        </p:blipFill>
        <p:spPr>
          <a:xfrm>
            <a:off x="381000" y="2179637"/>
            <a:ext cx="8400143" cy="2648387"/>
          </a:xfrm>
          <a:prstGeom prst="rect">
            <a:avLst/>
          </a:prstGeom>
          <a:noFill/>
          <a:ln cap="sq" cmpd="sng" w="19050">
            <a:solidFill>
              <a:schemeClr val="dk1"/>
            </a:solidFill>
            <a:prstDash val="solid"/>
            <a:miter lim="800000"/>
            <a:headEnd len="sm" w="sm" type="none"/>
            <a:tailEnd len="sm" w="sm" type="none"/>
          </a:ln>
        </p:spPr>
      </p:pic>
      <p:cxnSp>
        <p:nvCxnSpPr>
          <p:cNvPr id="898" name="Google Shape;898;p70"/>
          <p:cNvCxnSpPr/>
          <p:nvPr/>
        </p:nvCxnSpPr>
        <p:spPr>
          <a:xfrm>
            <a:off x="304800" y="1524000"/>
            <a:ext cx="8534400" cy="0"/>
          </a:xfrm>
          <a:prstGeom prst="straightConnector1">
            <a:avLst/>
          </a:prstGeom>
          <a:noFill/>
          <a:ln cap="sq" cmpd="sng" w="57150">
            <a:solidFill>
              <a:schemeClr val="dk1"/>
            </a:solidFill>
            <a:prstDash val="solid"/>
            <a:round/>
            <a:headEnd len="sm" w="sm" type="none"/>
            <a:tailEnd len="sm" w="sm" type="none"/>
          </a:ln>
        </p:spPr>
      </p:cxnSp>
      <p:sp>
        <p:nvSpPr>
          <p:cNvPr id="899" name="Google Shape;899;p70"/>
          <p:cNvSpPr/>
          <p:nvPr/>
        </p:nvSpPr>
        <p:spPr>
          <a:xfrm>
            <a:off x="609600" y="304800"/>
            <a:ext cx="82296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Summary of Additional Adjustments Relationships</a:t>
            </a:r>
            <a:endParaRPr b="1" sz="3200">
              <a:solidFill>
                <a:srgbClr val="0000BF"/>
              </a:solidFill>
              <a:latin typeface="Arial"/>
              <a:ea typeface="Arial"/>
              <a:cs typeface="Arial"/>
              <a:sym typeface="Arial"/>
            </a:endParaRPr>
          </a:p>
        </p:txBody>
      </p:sp>
      <p:sp>
        <p:nvSpPr>
          <p:cNvPr id="900" name="Google Shape;900;p70"/>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5</a:t>
            </a:r>
            <a:endParaRPr/>
          </a:p>
        </p:txBody>
      </p:sp>
    </p:spTree>
  </p:cSld>
  <p:clrMapOvr>
    <a:masterClrMapping/>
  </p:clrMapOvr>
  <p:transition>
    <p:wipe dir="r"/>
  </p:transition>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4" name="Shape 904"/>
        <p:cNvGrpSpPr/>
        <p:nvPr/>
      </p:nvGrpSpPr>
      <p:grpSpPr>
        <a:xfrm>
          <a:off x="0" y="0"/>
          <a:ext cx="0" cy="0"/>
          <a:chOff x="0" y="0"/>
          <a:chExt cx="0" cy="0"/>
        </a:xfrm>
      </p:grpSpPr>
      <p:sp>
        <p:nvSpPr>
          <p:cNvPr id="905" name="Google Shape;905;p71"/>
          <p:cNvSpPr/>
          <p:nvPr/>
        </p:nvSpPr>
        <p:spPr>
          <a:xfrm>
            <a:off x="609600" y="2057400"/>
            <a:ext cx="8153400" cy="3939540"/>
          </a:xfrm>
          <a:prstGeom prst="rect">
            <a:avLst/>
          </a:prstGeom>
          <a:no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None/>
            </a:pPr>
            <a:r>
              <a:rPr b="0" lang="en-US" sz="2100">
                <a:solidFill>
                  <a:schemeClr val="dk1"/>
                </a:solidFill>
                <a:latin typeface="Arial"/>
                <a:ea typeface="Arial"/>
                <a:cs typeface="Arial"/>
                <a:sym typeface="Arial"/>
              </a:rPr>
              <a:t>Two fundamental qualities, </a:t>
            </a:r>
            <a:r>
              <a:rPr b="1" lang="en-US" sz="2100">
                <a:solidFill>
                  <a:schemeClr val="dk1"/>
                </a:solidFill>
                <a:latin typeface="Arial"/>
                <a:ea typeface="Arial"/>
                <a:cs typeface="Arial"/>
                <a:sym typeface="Arial"/>
              </a:rPr>
              <a:t>relevance</a:t>
            </a:r>
            <a:r>
              <a:rPr b="0" lang="en-US" sz="2100">
                <a:solidFill>
                  <a:schemeClr val="dk1"/>
                </a:solidFill>
                <a:latin typeface="Arial"/>
                <a:ea typeface="Arial"/>
                <a:cs typeface="Arial"/>
                <a:sym typeface="Arial"/>
              </a:rPr>
              <a:t> and </a:t>
            </a:r>
            <a:r>
              <a:rPr b="1" lang="en-US" sz="2100">
                <a:solidFill>
                  <a:schemeClr val="dk1"/>
                </a:solidFill>
                <a:latin typeface="Arial"/>
                <a:ea typeface="Arial"/>
                <a:cs typeface="Arial"/>
                <a:sym typeface="Arial"/>
              </a:rPr>
              <a:t>faithful representation</a:t>
            </a:r>
            <a:r>
              <a:rPr b="0" lang="en-US" sz="2100">
                <a:solidFill>
                  <a:schemeClr val="dk1"/>
                </a:solidFill>
                <a:latin typeface="Arial"/>
                <a:ea typeface="Arial"/>
                <a:cs typeface="Arial"/>
                <a:sym typeface="Arial"/>
              </a:rPr>
              <a:t>.</a:t>
            </a:r>
            <a:endParaRPr/>
          </a:p>
          <a:p>
            <a:pPr indent="0" lvl="1" marL="0" marR="0" rtl="0" algn="l">
              <a:lnSpc>
                <a:spcPct val="125000"/>
              </a:lnSpc>
              <a:spcBef>
                <a:spcPts val="1200"/>
              </a:spcBef>
              <a:spcAft>
                <a:spcPts val="0"/>
              </a:spcAft>
              <a:buNone/>
            </a:pPr>
            <a:r>
              <a:rPr b="1" i="0" lang="en-US" sz="2100" u="none" cap="none" strike="noStrike">
                <a:solidFill>
                  <a:schemeClr val="dk1"/>
                </a:solidFill>
                <a:latin typeface="Arial"/>
                <a:ea typeface="Arial"/>
                <a:cs typeface="Arial"/>
                <a:sym typeface="Arial"/>
              </a:rPr>
              <a:t>Relevance  </a:t>
            </a:r>
            <a:endParaRPr b="1" i="0" sz="2100" u="none" cap="none" strike="noStrike">
              <a:solidFill>
                <a:schemeClr val="dk1"/>
              </a:solidFill>
              <a:latin typeface="Arial"/>
              <a:ea typeface="Arial"/>
              <a:cs typeface="Arial"/>
              <a:sym typeface="Arial"/>
            </a:endParaRPr>
          </a:p>
          <a:p>
            <a:pPr indent="-461963" lvl="1" marL="690563" marR="0" rtl="0" algn="l">
              <a:lnSpc>
                <a:spcPct val="125000"/>
              </a:lnSpc>
              <a:spcBef>
                <a:spcPts val="1200"/>
              </a:spcBef>
              <a:spcAft>
                <a:spcPts val="0"/>
              </a:spcAft>
              <a:buClr>
                <a:srgbClr val="800000"/>
              </a:buClr>
              <a:buSzPts val="1600"/>
              <a:buFont typeface="Noto Sans Symbols"/>
              <a:buChar char="◆"/>
            </a:pPr>
            <a:r>
              <a:rPr b="0" i="0" lang="en-US" sz="2000" u="none" cap="none" strike="noStrike">
                <a:solidFill>
                  <a:schemeClr val="dk1"/>
                </a:solidFill>
                <a:latin typeface="Arial"/>
                <a:ea typeface="Arial"/>
                <a:cs typeface="Arial"/>
                <a:sym typeface="Arial"/>
              </a:rPr>
              <a:t>Make a difference in a business decision. </a:t>
            </a:r>
            <a:endParaRPr b="0" i="0" sz="2000" u="none" cap="none" strike="noStrike">
              <a:solidFill>
                <a:schemeClr val="dk1"/>
              </a:solidFill>
              <a:latin typeface="Arial"/>
              <a:ea typeface="Arial"/>
              <a:cs typeface="Arial"/>
              <a:sym typeface="Arial"/>
            </a:endParaRPr>
          </a:p>
          <a:p>
            <a:pPr indent="-461963" lvl="1" marL="690563" marR="0" rtl="0" algn="l">
              <a:lnSpc>
                <a:spcPct val="125000"/>
              </a:lnSpc>
              <a:spcBef>
                <a:spcPts val="1200"/>
              </a:spcBef>
              <a:spcAft>
                <a:spcPts val="0"/>
              </a:spcAft>
              <a:buClr>
                <a:srgbClr val="800000"/>
              </a:buClr>
              <a:buSzPts val="1600"/>
              <a:buFont typeface="Noto Sans Symbols"/>
              <a:buChar char="◆"/>
            </a:pPr>
            <a:r>
              <a:rPr b="0" i="0" lang="en-US" sz="2000" u="none" cap="none" strike="noStrike">
                <a:solidFill>
                  <a:schemeClr val="dk1"/>
                </a:solidFill>
                <a:latin typeface="Arial"/>
                <a:ea typeface="Arial"/>
                <a:cs typeface="Arial"/>
                <a:sym typeface="Arial"/>
              </a:rPr>
              <a:t>Provides information that has </a:t>
            </a:r>
            <a:r>
              <a:rPr b="1" i="0" lang="en-US" sz="2000" u="none" cap="none" strike="noStrike">
                <a:solidFill>
                  <a:schemeClr val="dk1"/>
                </a:solidFill>
                <a:latin typeface="Arial"/>
                <a:ea typeface="Arial"/>
                <a:cs typeface="Arial"/>
                <a:sym typeface="Arial"/>
              </a:rPr>
              <a:t>predictive value </a:t>
            </a:r>
            <a:r>
              <a:rPr b="0" i="0" lang="en-US" sz="2000" u="none" cap="none" strike="noStrike">
                <a:solidFill>
                  <a:schemeClr val="dk1"/>
                </a:solidFill>
                <a:latin typeface="Arial"/>
                <a:ea typeface="Arial"/>
                <a:cs typeface="Arial"/>
                <a:sym typeface="Arial"/>
              </a:rPr>
              <a:t>and</a:t>
            </a:r>
            <a:r>
              <a:rPr b="1" i="0" lang="en-US" sz="2000" u="none" cap="none" strike="noStrike">
                <a:solidFill>
                  <a:schemeClr val="dk1"/>
                </a:solidFill>
                <a:latin typeface="Arial"/>
                <a:ea typeface="Arial"/>
                <a:cs typeface="Arial"/>
                <a:sym typeface="Arial"/>
              </a:rPr>
              <a:t> confirmatory value</a:t>
            </a:r>
            <a:r>
              <a:rPr b="0" i="0" lang="en-US" sz="2000" u="none" cap="none" strike="noStrike">
                <a:solidFill>
                  <a:schemeClr val="dk1"/>
                </a:solidFill>
                <a:latin typeface="Arial"/>
                <a:ea typeface="Arial"/>
                <a:cs typeface="Arial"/>
                <a:sym typeface="Arial"/>
              </a:rPr>
              <a:t>. </a:t>
            </a:r>
            <a:endParaRPr/>
          </a:p>
          <a:p>
            <a:pPr indent="-461963" lvl="1" marL="690563" marR="0" rtl="0" algn="l">
              <a:lnSpc>
                <a:spcPct val="125000"/>
              </a:lnSpc>
              <a:spcBef>
                <a:spcPts val="1200"/>
              </a:spcBef>
              <a:spcAft>
                <a:spcPts val="0"/>
              </a:spcAft>
              <a:buClr>
                <a:srgbClr val="800000"/>
              </a:buClr>
              <a:buSzPts val="1600"/>
              <a:buFont typeface="Noto Sans Symbols"/>
              <a:buChar char="◆"/>
            </a:pPr>
            <a:r>
              <a:rPr b="1" i="0" lang="en-US" sz="2000" u="none" cap="none" strike="noStrike">
                <a:solidFill>
                  <a:srgbClr val="0000BF"/>
                </a:solidFill>
                <a:latin typeface="Arial"/>
                <a:ea typeface="Arial"/>
                <a:cs typeface="Arial"/>
                <a:sym typeface="Arial"/>
              </a:rPr>
              <a:t>Materiality</a:t>
            </a:r>
            <a:r>
              <a:rPr b="1" i="0" lang="en-US" sz="2000" u="none" cap="none" strike="noStrike">
                <a:solidFill>
                  <a:schemeClr val="dk1"/>
                </a:solidFill>
                <a:latin typeface="Arial"/>
                <a:ea typeface="Arial"/>
                <a:cs typeface="Arial"/>
                <a:sym typeface="Arial"/>
              </a:rPr>
              <a:t> </a:t>
            </a:r>
            <a:r>
              <a:rPr b="0" i="0" lang="en-US" sz="2000" u="none" cap="none" strike="noStrike">
                <a:solidFill>
                  <a:schemeClr val="dk1"/>
                </a:solidFill>
                <a:latin typeface="Arial"/>
                <a:ea typeface="Arial"/>
                <a:cs typeface="Arial"/>
                <a:sym typeface="Arial"/>
              </a:rPr>
              <a:t>is a company-specific aspect of relevance. </a:t>
            </a:r>
            <a:endParaRPr b="0" i="0" sz="2000" u="none" cap="none" strike="noStrike">
              <a:solidFill>
                <a:schemeClr val="dk1"/>
              </a:solidFill>
              <a:latin typeface="Arial"/>
              <a:ea typeface="Arial"/>
              <a:cs typeface="Arial"/>
              <a:sym typeface="Arial"/>
            </a:endParaRPr>
          </a:p>
          <a:p>
            <a:pPr indent="-342900" lvl="2" marL="1257300" marR="0" rtl="0" algn="l">
              <a:lnSpc>
                <a:spcPct val="125000"/>
              </a:lnSpc>
              <a:spcBef>
                <a:spcPts val="1200"/>
              </a:spcBef>
              <a:spcAft>
                <a:spcPts val="0"/>
              </a:spcAft>
              <a:buClr>
                <a:srgbClr val="800000"/>
              </a:buClr>
              <a:buSzPts val="1520"/>
              <a:buFont typeface="Arial"/>
              <a:buChar char="►"/>
            </a:pPr>
            <a:r>
              <a:rPr b="0" i="0" lang="en-US" sz="1900" u="none" cap="none" strike="noStrike">
                <a:solidFill>
                  <a:schemeClr val="dk1"/>
                </a:solidFill>
                <a:latin typeface="Arial"/>
                <a:ea typeface="Arial"/>
                <a:cs typeface="Arial"/>
                <a:sym typeface="Arial"/>
              </a:rPr>
              <a:t>An item is material when its </a:t>
            </a:r>
            <a:r>
              <a:rPr b="1" i="0" lang="en-US" sz="1900" u="none" cap="none" strike="noStrike">
                <a:solidFill>
                  <a:schemeClr val="dk1"/>
                </a:solidFill>
                <a:latin typeface="Arial"/>
                <a:ea typeface="Arial"/>
                <a:cs typeface="Arial"/>
                <a:sym typeface="Arial"/>
              </a:rPr>
              <a:t>size </a:t>
            </a:r>
            <a:r>
              <a:rPr b="0" i="0" lang="en-US" sz="1900" u="none" cap="none" strike="noStrike">
                <a:solidFill>
                  <a:schemeClr val="dk1"/>
                </a:solidFill>
                <a:latin typeface="Arial"/>
                <a:ea typeface="Arial"/>
                <a:cs typeface="Arial"/>
                <a:sym typeface="Arial"/>
              </a:rPr>
              <a:t>makes it likely to influence the decision of an investor or creditor.</a:t>
            </a:r>
            <a:endParaRPr/>
          </a:p>
        </p:txBody>
      </p:sp>
      <p:sp>
        <p:nvSpPr>
          <p:cNvPr id="906" name="Google Shape;906;p71"/>
          <p:cNvSpPr/>
          <p:nvPr/>
        </p:nvSpPr>
        <p:spPr>
          <a:xfrm>
            <a:off x="290286" y="405765"/>
            <a:ext cx="2249714" cy="677228"/>
          </a:xfrm>
          <a:prstGeom prst="rect">
            <a:avLst/>
          </a:prstGeom>
          <a:solidFill>
            <a:srgbClr val="D8D8D8"/>
          </a:solidFill>
          <a:ln>
            <a:noFill/>
          </a:ln>
        </p:spPr>
        <p:txBody>
          <a:bodyPr anchorCtr="0" anchor="ctr" bIns="43225" lIns="86475" spcFirstLastPara="1" rIns="86475" wrap="square" tIns="43225">
            <a:noAutofit/>
          </a:bodyPr>
          <a:lstStyle/>
          <a:p>
            <a:pPr indent="0" lvl="0" marL="0" marR="0" rtl="0" algn="l">
              <a:spcBef>
                <a:spcPts val="0"/>
              </a:spcBef>
              <a:spcAft>
                <a:spcPts val="0"/>
              </a:spcAft>
              <a:buNone/>
            </a:pPr>
            <a:r>
              <a:rPr b="1" lang="en-US" sz="1700">
                <a:solidFill>
                  <a:schemeClr val="dk1"/>
                </a:solidFill>
                <a:latin typeface="Arial"/>
                <a:ea typeface="Arial"/>
                <a:cs typeface="Arial"/>
                <a:sym typeface="Arial"/>
              </a:rPr>
              <a:t>LEARNING</a:t>
            </a:r>
            <a:endParaRPr/>
          </a:p>
          <a:p>
            <a:pPr indent="0" lvl="0" marL="0" marR="0" rtl="0" algn="l">
              <a:spcBef>
                <a:spcPts val="0"/>
              </a:spcBef>
              <a:spcAft>
                <a:spcPts val="0"/>
              </a:spcAft>
              <a:buNone/>
            </a:pPr>
            <a:r>
              <a:rPr b="1" lang="en-US" sz="1700">
                <a:solidFill>
                  <a:schemeClr val="dk1"/>
                </a:solidFill>
                <a:latin typeface="Arial"/>
                <a:ea typeface="Arial"/>
                <a:cs typeface="Arial"/>
                <a:sym typeface="Arial"/>
              </a:rPr>
              <a:t>OBJECTIVE</a:t>
            </a:r>
            <a:endParaRPr/>
          </a:p>
        </p:txBody>
      </p:sp>
      <p:sp>
        <p:nvSpPr>
          <p:cNvPr id="907" name="Google Shape;907;p71"/>
          <p:cNvSpPr/>
          <p:nvPr/>
        </p:nvSpPr>
        <p:spPr>
          <a:xfrm>
            <a:off x="2540000" y="274320"/>
            <a:ext cx="6241143" cy="928688"/>
          </a:xfrm>
          <a:prstGeom prst="rect">
            <a:avLst/>
          </a:prstGeom>
          <a:solidFill>
            <a:srgbClr val="0027A4"/>
          </a:solidFill>
          <a:ln>
            <a:noFill/>
          </a:ln>
        </p:spPr>
        <p:txBody>
          <a:bodyPr anchorCtr="0" anchor="ctr" bIns="45700" lIns="91425" spcFirstLastPara="1" rIns="91425" wrap="square" tIns="27425">
            <a:noAutofit/>
          </a:bodyPr>
          <a:lstStyle/>
          <a:p>
            <a:pPr indent="0" lvl="0" marL="53975" marR="0" rtl="0" algn="l">
              <a:spcBef>
                <a:spcPts val="0"/>
              </a:spcBef>
              <a:spcAft>
                <a:spcPts val="0"/>
              </a:spcAft>
              <a:buNone/>
            </a:pPr>
            <a:r>
              <a:rPr b="1" lang="en-US" sz="2300">
                <a:solidFill>
                  <a:schemeClr val="lt1"/>
                </a:solidFill>
                <a:latin typeface="Arial"/>
                <a:ea typeface="Arial"/>
                <a:cs typeface="Arial"/>
                <a:sym typeface="Arial"/>
              </a:rPr>
              <a:t>APPENDIX 3B: Discuss financial reporting concepts.</a:t>
            </a:r>
            <a:endParaRPr b="1" sz="2300">
              <a:solidFill>
                <a:schemeClr val="lt1"/>
              </a:solidFill>
              <a:latin typeface="Arial"/>
              <a:ea typeface="Arial"/>
              <a:cs typeface="Arial"/>
              <a:sym typeface="Arial"/>
            </a:endParaRPr>
          </a:p>
        </p:txBody>
      </p:sp>
      <p:sp>
        <p:nvSpPr>
          <p:cNvPr id="908" name="Google Shape;908;p71"/>
          <p:cNvSpPr/>
          <p:nvPr/>
        </p:nvSpPr>
        <p:spPr>
          <a:xfrm>
            <a:off x="1872343" y="485775"/>
            <a:ext cx="522514" cy="514350"/>
          </a:xfrm>
          <a:prstGeom prst="ellipse">
            <a:avLst/>
          </a:prstGeom>
          <a:solidFill>
            <a:srgbClr val="FF6600"/>
          </a:solidFill>
          <a:ln>
            <a:noFill/>
          </a:ln>
        </p:spPr>
        <p:txBody>
          <a:bodyPr anchorCtr="0" anchor="ctr" bIns="43225" lIns="86475" spcFirstLastPara="1" rIns="86475" wrap="square" tIns="0">
            <a:noAutofit/>
          </a:bodyPr>
          <a:lstStyle/>
          <a:p>
            <a:pPr indent="0" lvl="0" marL="0" marR="0" rtl="0" algn="ctr">
              <a:spcBef>
                <a:spcPts val="0"/>
              </a:spcBef>
              <a:spcAft>
                <a:spcPts val="0"/>
              </a:spcAft>
              <a:buNone/>
            </a:pPr>
            <a:r>
              <a:rPr b="1" lang="en-US" sz="2400">
                <a:solidFill>
                  <a:schemeClr val="lt1"/>
                </a:solidFill>
                <a:latin typeface="Arial"/>
                <a:ea typeface="Arial"/>
                <a:cs typeface="Arial"/>
                <a:sym typeface="Arial"/>
              </a:rPr>
              <a:t>6</a:t>
            </a:r>
            <a:endParaRPr b="1" sz="2400">
              <a:solidFill>
                <a:schemeClr val="lt1"/>
              </a:solidFill>
              <a:latin typeface="Arial"/>
              <a:ea typeface="Arial"/>
              <a:cs typeface="Arial"/>
              <a:sym typeface="Arial"/>
            </a:endParaRPr>
          </a:p>
        </p:txBody>
      </p:sp>
      <p:sp>
        <p:nvSpPr>
          <p:cNvPr id="909" name="Google Shape;909;p71"/>
          <p:cNvSpPr/>
          <p:nvPr/>
        </p:nvSpPr>
        <p:spPr>
          <a:xfrm>
            <a:off x="609600" y="1447800"/>
            <a:ext cx="815340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800000"/>
              </a:buClr>
              <a:buSzPts val="2240"/>
              <a:buFont typeface="Noto Sans Symbols"/>
              <a:buNone/>
            </a:pPr>
            <a:r>
              <a:rPr b="1" lang="en-US" sz="2800">
                <a:solidFill>
                  <a:srgbClr val="0000BF"/>
                </a:solidFill>
                <a:latin typeface="Arial"/>
                <a:ea typeface="Arial"/>
                <a:cs typeface="Arial"/>
                <a:sym typeface="Arial"/>
              </a:rPr>
              <a:t>Qualities of Useful Information</a:t>
            </a:r>
            <a:endParaRPr b="1" sz="2800">
              <a:solidFill>
                <a:srgbClr val="0000BF"/>
              </a:solidFill>
              <a:latin typeface="Arial"/>
              <a:ea typeface="Arial"/>
              <a:cs typeface="Arial"/>
              <a:sym typeface="Arial"/>
            </a:endParaRPr>
          </a:p>
        </p:txBody>
      </p:sp>
      <p:sp>
        <p:nvSpPr>
          <p:cNvPr id="910" name="Google Shape;910;p71"/>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6</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p72"/>
          <p:cNvSpPr/>
          <p:nvPr/>
        </p:nvSpPr>
        <p:spPr>
          <a:xfrm>
            <a:off x="609600" y="1295400"/>
            <a:ext cx="8153400" cy="3653564"/>
          </a:xfrm>
          <a:prstGeom prst="rect">
            <a:avLst/>
          </a:prstGeom>
          <a:no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None/>
            </a:pPr>
            <a:r>
              <a:rPr b="0" lang="en-US" sz="2100">
                <a:solidFill>
                  <a:schemeClr val="dk1"/>
                </a:solidFill>
                <a:latin typeface="Arial"/>
                <a:ea typeface="Arial"/>
                <a:cs typeface="Arial"/>
                <a:sym typeface="Arial"/>
              </a:rPr>
              <a:t>Two fundamental qualities, </a:t>
            </a:r>
            <a:r>
              <a:rPr b="1" lang="en-US" sz="2100">
                <a:solidFill>
                  <a:schemeClr val="dk1"/>
                </a:solidFill>
                <a:latin typeface="Arial"/>
                <a:ea typeface="Arial"/>
                <a:cs typeface="Arial"/>
                <a:sym typeface="Arial"/>
              </a:rPr>
              <a:t>relevance</a:t>
            </a:r>
            <a:r>
              <a:rPr b="0" lang="en-US" sz="2100">
                <a:solidFill>
                  <a:schemeClr val="dk1"/>
                </a:solidFill>
                <a:latin typeface="Arial"/>
                <a:ea typeface="Arial"/>
                <a:cs typeface="Arial"/>
                <a:sym typeface="Arial"/>
              </a:rPr>
              <a:t> and </a:t>
            </a:r>
            <a:r>
              <a:rPr b="1" lang="en-US" sz="2100">
                <a:solidFill>
                  <a:schemeClr val="dk1"/>
                </a:solidFill>
                <a:latin typeface="Arial"/>
                <a:ea typeface="Arial"/>
                <a:cs typeface="Arial"/>
                <a:sym typeface="Arial"/>
              </a:rPr>
              <a:t>faithful representation</a:t>
            </a:r>
            <a:r>
              <a:rPr b="0" lang="en-US" sz="2100">
                <a:solidFill>
                  <a:schemeClr val="dk1"/>
                </a:solidFill>
                <a:latin typeface="Arial"/>
                <a:ea typeface="Arial"/>
                <a:cs typeface="Arial"/>
                <a:sym typeface="Arial"/>
              </a:rPr>
              <a:t>.</a:t>
            </a:r>
            <a:endParaRPr/>
          </a:p>
          <a:p>
            <a:pPr indent="0" lvl="1" marL="0" marR="0" rtl="0" algn="l">
              <a:lnSpc>
                <a:spcPct val="125000"/>
              </a:lnSpc>
              <a:spcBef>
                <a:spcPts val="1200"/>
              </a:spcBef>
              <a:spcAft>
                <a:spcPts val="0"/>
              </a:spcAft>
              <a:buNone/>
            </a:pPr>
            <a:r>
              <a:rPr b="1" i="0" lang="en-US" sz="2100" u="none" cap="none" strike="noStrike">
                <a:solidFill>
                  <a:schemeClr val="dk1"/>
                </a:solidFill>
                <a:latin typeface="Arial"/>
                <a:ea typeface="Arial"/>
                <a:cs typeface="Arial"/>
                <a:sym typeface="Arial"/>
              </a:rPr>
              <a:t>Faithful Representation  </a:t>
            </a:r>
            <a:endParaRPr/>
          </a:p>
          <a:p>
            <a:pPr indent="-461963" lvl="1" marL="690563" marR="0" rtl="0" algn="l">
              <a:lnSpc>
                <a:spcPct val="125000"/>
              </a:lnSpc>
              <a:spcBef>
                <a:spcPts val="1200"/>
              </a:spcBef>
              <a:spcAft>
                <a:spcPts val="0"/>
              </a:spcAft>
              <a:buClr>
                <a:srgbClr val="800000"/>
              </a:buClr>
              <a:buSzPts val="1600"/>
              <a:buFont typeface="Noto Sans Symbols"/>
              <a:buChar char="◆"/>
            </a:pPr>
            <a:r>
              <a:rPr b="0" i="0" lang="en-US" sz="2000" u="none" cap="none" strike="noStrike">
                <a:solidFill>
                  <a:schemeClr val="dk1"/>
                </a:solidFill>
                <a:latin typeface="Arial"/>
                <a:ea typeface="Arial"/>
                <a:cs typeface="Arial"/>
                <a:sym typeface="Arial"/>
              </a:rPr>
              <a:t>Information accurately depicts what really happened. </a:t>
            </a:r>
            <a:endParaRPr/>
          </a:p>
          <a:p>
            <a:pPr indent="-461963" lvl="1" marL="690563" marR="0" rtl="0" algn="l">
              <a:lnSpc>
                <a:spcPct val="125000"/>
              </a:lnSpc>
              <a:spcBef>
                <a:spcPts val="1200"/>
              </a:spcBef>
              <a:spcAft>
                <a:spcPts val="0"/>
              </a:spcAft>
              <a:buClr>
                <a:srgbClr val="800000"/>
              </a:buClr>
              <a:buSzPts val="1600"/>
              <a:buFont typeface="Noto Sans Symbols"/>
              <a:buChar char="◆"/>
            </a:pPr>
            <a:r>
              <a:rPr b="0" i="0" lang="en-US" sz="2000" u="none" cap="none" strike="noStrike">
                <a:solidFill>
                  <a:schemeClr val="dk1"/>
                </a:solidFill>
                <a:latin typeface="Arial"/>
                <a:ea typeface="Arial"/>
                <a:cs typeface="Arial"/>
                <a:sym typeface="Arial"/>
              </a:rPr>
              <a:t>Information must be </a:t>
            </a:r>
            <a:endParaRPr/>
          </a:p>
          <a:p>
            <a:pPr indent="-342900" lvl="2" marL="1257300" marR="0" rtl="0" algn="l">
              <a:lnSpc>
                <a:spcPct val="125000"/>
              </a:lnSpc>
              <a:spcBef>
                <a:spcPts val="1200"/>
              </a:spcBef>
              <a:spcAft>
                <a:spcPts val="0"/>
              </a:spcAft>
              <a:buClr>
                <a:srgbClr val="800000"/>
              </a:buClr>
              <a:buSzPts val="1520"/>
              <a:buFont typeface="Arial"/>
              <a:buChar char="►"/>
            </a:pPr>
            <a:r>
              <a:rPr b="1" i="0" lang="en-US" sz="1900" u="none" cap="none" strike="noStrike">
                <a:solidFill>
                  <a:schemeClr val="dk1"/>
                </a:solidFill>
                <a:latin typeface="Arial"/>
                <a:ea typeface="Arial"/>
                <a:cs typeface="Arial"/>
                <a:sym typeface="Arial"/>
              </a:rPr>
              <a:t>complete</a:t>
            </a:r>
            <a:r>
              <a:rPr b="0" i="0" lang="en-US" sz="1900" u="none" cap="none" strike="noStrike">
                <a:solidFill>
                  <a:schemeClr val="dk1"/>
                </a:solidFill>
                <a:latin typeface="Arial"/>
                <a:ea typeface="Arial"/>
                <a:cs typeface="Arial"/>
                <a:sym typeface="Arial"/>
              </a:rPr>
              <a:t> (nothing important has been omitted), </a:t>
            </a:r>
            <a:endParaRPr b="0" i="0" sz="1900" u="none" cap="none" strike="noStrike">
              <a:solidFill>
                <a:schemeClr val="dk1"/>
              </a:solidFill>
              <a:latin typeface="Arial"/>
              <a:ea typeface="Arial"/>
              <a:cs typeface="Arial"/>
              <a:sym typeface="Arial"/>
            </a:endParaRPr>
          </a:p>
          <a:p>
            <a:pPr indent="-342900" lvl="2" marL="1257300" marR="0" rtl="0" algn="l">
              <a:lnSpc>
                <a:spcPct val="125000"/>
              </a:lnSpc>
              <a:spcBef>
                <a:spcPts val="1200"/>
              </a:spcBef>
              <a:spcAft>
                <a:spcPts val="0"/>
              </a:spcAft>
              <a:buClr>
                <a:srgbClr val="800000"/>
              </a:buClr>
              <a:buSzPts val="1520"/>
              <a:buFont typeface="Arial"/>
              <a:buChar char="►"/>
            </a:pPr>
            <a:r>
              <a:rPr b="1" i="0" lang="en-US" sz="1900" u="none" cap="none" strike="noStrike">
                <a:solidFill>
                  <a:schemeClr val="dk1"/>
                </a:solidFill>
                <a:latin typeface="Arial"/>
                <a:ea typeface="Arial"/>
                <a:cs typeface="Arial"/>
                <a:sym typeface="Arial"/>
              </a:rPr>
              <a:t>neutral</a:t>
            </a:r>
            <a:r>
              <a:rPr b="0" i="0" lang="en-US" sz="1900" u="none" cap="none" strike="noStrike">
                <a:solidFill>
                  <a:schemeClr val="dk1"/>
                </a:solidFill>
                <a:latin typeface="Arial"/>
                <a:ea typeface="Arial"/>
                <a:cs typeface="Arial"/>
                <a:sym typeface="Arial"/>
              </a:rPr>
              <a:t> (is not biased toward one position or another), and </a:t>
            </a:r>
            <a:endParaRPr b="0" i="0" sz="1900" u="none" cap="none" strike="noStrike">
              <a:solidFill>
                <a:schemeClr val="dk1"/>
              </a:solidFill>
              <a:latin typeface="Arial"/>
              <a:ea typeface="Arial"/>
              <a:cs typeface="Arial"/>
              <a:sym typeface="Arial"/>
            </a:endParaRPr>
          </a:p>
          <a:p>
            <a:pPr indent="-342900" lvl="2" marL="1257300" marR="0" rtl="0" algn="l">
              <a:lnSpc>
                <a:spcPct val="125000"/>
              </a:lnSpc>
              <a:spcBef>
                <a:spcPts val="1200"/>
              </a:spcBef>
              <a:spcAft>
                <a:spcPts val="0"/>
              </a:spcAft>
              <a:buClr>
                <a:srgbClr val="800000"/>
              </a:buClr>
              <a:buSzPts val="1520"/>
              <a:buFont typeface="Arial"/>
              <a:buChar char="►"/>
            </a:pPr>
            <a:r>
              <a:rPr b="1" i="0" lang="en-US" sz="1900" u="none" cap="none" strike="noStrike">
                <a:solidFill>
                  <a:schemeClr val="dk1"/>
                </a:solidFill>
                <a:latin typeface="Arial"/>
                <a:ea typeface="Arial"/>
                <a:cs typeface="Arial"/>
                <a:sym typeface="Arial"/>
              </a:rPr>
              <a:t>free</a:t>
            </a:r>
            <a:r>
              <a:rPr b="0" i="0" lang="en-US" sz="1900" u="none" cap="none" strike="noStrike">
                <a:solidFill>
                  <a:schemeClr val="dk1"/>
                </a:solidFill>
                <a:latin typeface="Arial"/>
                <a:ea typeface="Arial"/>
                <a:cs typeface="Arial"/>
                <a:sym typeface="Arial"/>
              </a:rPr>
              <a:t> </a:t>
            </a:r>
            <a:r>
              <a:rPr b="1" i="0" lang="en-US" sz="1900" u="none" cap="none" strike="noStrike">
                <a:solidFill>
                  <a:schemeClr val="dk1"/>
                </a:solidFill>
                <a:latin typeface="Arial"/>
                <a:ea typeface="Arial"/>
                <a:cs typeface="Arial"/>
                <a:sym typeface="Arial"/>
              </a:rPr>
              <a:t>from</a:t>
            </a:r>
            <a:r>
              <a:rPr b="0" i="0" lang="en-US" sz="1900" u="none" cap="none" strike="noStrike">
                <a:solidFill>
                  <a:schemeClr val="dk1"/>
                </a:solidFill>
                <a:latin typeface="Arial"/>
                <a:ea typeface="Arial"/>
                <a:cs typeface="Arial"/>
                <a:sym typeface="Arial"/>
              </a:rPr>
              <a:t> </a:t>
            </a:r>
            <a:r>
              <a:rPr b="1" i="0" lang="en-US" sz="1900" u="none" cap="none" strike="noStrike">
                <a:solidFill>
                  <a:schemeClr val="dk1"/>
                </a:solidFill>
                <a:latin typeface="Arial"/>
                <a:ea typeface="Arial"/>
                <a:cs typeface="Arial"/>
                <a:sym typeface="Arial"/>
              </a:rPr>
              <a:t>error</a:t>
            </a:r>
            <a:r>
              <a:rPr b="0" i="0" lang="en-US" sz="1900" u="none" cap="none" strike="noStrike">
                <a:solidFill>
                  <a:schemeClr val="dk1"/>
                </a:solidFill>
                <a:latin typeface="Arial"/>
                <a:ea typeface="Arial"/>
                <a:cs typeface="Arial"/>
                <a:sym typeface="Arial"/>
              </a:rPr>
              <a:t>.</a:t>
            </a:r>
            <a:endParaRPr b="0" i="0" sz="1900" u="none" cap="none" strike="noStrike">
              <a:solidFill>
                <a:schemeClr val="dk1"/>
              </a:solidFill>
              <a:latin typeface="Arial"/>
              <a:ea typeface="Arial"/>
              <a:cs typeface="Arial"/>
              <a:sym typeface="Arial"/>
            </a:endParaRPr>
          </a:p>
        </p:txBody>
      </p:sp>
      <p:cxnSp>
        <p:nvCxnSpPr>
          <p:cNvPr id="916" name="Google Shape;916;p72"/>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917" name="Google Shape;917;p72"/>
          <p:cNvSpPr/>
          <p:nvPr/>
        </p:nvSpPr>
        <p:spPr>
          <a:xfrm>
            <a:off x="609600" y="304800"/>
            <a:ext cx="82296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Qualities of Useful Information</a:t>
            </a:r>
            <a:endParaRPr b="1" sz="3200">
              <a:solidFill>
                <a:srgbClr val="0000BF"/>
              </a:solidFill>
              <a:latin typeface="Arial"/>
              <a:ea typeface="Arial"/>
              <a:cs typeface="Arial"/>
              <a:sym typeface="Arial"/>
            </a:endParaRPr>
          </a:p>
        </p:txBody>
      </p:sp>
      <p:sp>
        <p:nvSpPr>
          <p:cNvPr id="918" name="Google Shape;918;p72"/>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6</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2" name="Shape 922"/>
        <p:cNvGrpSpPr/>
        <p:nvPr/>
      </p:nvGrpSpPr>
      <p:grpSpPr>
        <a:xfrm>
          <a:off x="0" y="0"/>
          <a:ext cx="0" cy="0"/>
          <a:chOff x="0" y="0"/>
          <a:chExt cx="0" cy="0"/>
        </a:xfrm>
      </p:grpSpPr>
      <p:sp>
        <p:nvSpPr>
          <p:cNvPr id="923" name="Google Shape;923;p73"/>
          <p:cNvSpPr/>
          <p:nvPr/>
        </p:nvSpPr>
        <p:spPr>
          <a:xfrm>
            <a:off x="609600" y="1295400"/>
            <a:ext cx="560070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700">
                <a:solidFill>
                  <a:schemeClr val="dk1"/>
                </a:solidFill>
                <a:latin typeface="Arial"/>
                <a:ea typeface="Arial"/>
                <a:cs typeface="Arial"/>
                <a:sym typeface="Arial"/>
              </a:rPr>
              <a:t>ENHANCING QUALITIES</a:t>
            </a:r>
            <a:endParaRPr/>
          </a:p>
        </p:txBody>
      </p:sp>
      <p:sp>
        <p:nvSpPr>
          <p:cNvPr id="924" name="Google Shape;924;p73"/>
          <p:cNvSpPr/>
          <p:nvPr/>
        </p:nvSpPr>
        <p:spPr>
          <a:xfrm>
            <a:off x="381000" y="2133600"/>
            <a:ext cx="2590800" cy="1646605"/>
          </a:xfrm>
          <a:prstGeom prst="rect">
            <a:avLst/>
          </a:prstGeom>
          <a:solidFill>
            <a:schemeClr val="lt1"/>
          </a:solidFill>
          <a:ln cap="sq" cmpd="sng" w="28575">
            <a:solidFill>
              <a:schemeClr val="dk1"/>
            </a:solidFill>
            <a:prstDash val="solid"/>
            <a:miter lim="800000"/>
            <a:headEnd len="sm" w="sm" type="none"/>
            <a:tailEnd len="sm" w="sm" type="none"/>
          </a:ln>
        </p:spPr>
        <p:txBody>
          <a:bodyPr anchorCtr="0" anchor="t" bIns="91425" lIns="137150" spcFirstLastPara="1" rIns="137150" wrap="square" tIns="91425">
            <a:spAutoFit/>
          </a:bodyPr>
          <a:lstStyle/>
          <a:p>
            <a:pPr indent="0" lvl="0" marL="0" marR="0" rtl="0" algn="ctr">
              <a:spcBef>
                <a:spcPts val="0"/>
              </a:spcBef>
              <a:spcAft>
                <a:spcPts val="0"/>
              </a:spcAft>
              <a:buNone/>
            </a:pPr>
            <a:r>
              <a:rPr b="1" lang="en-US" sz="1900">
                <a:solidFill>
                  <a:srgbClr val="0000BF"/>
                </a:solidFill>
                <a:latin typeface="Arial"/>
                <a:ea typeface="Arial"/>
                <a:cs typeface="Arial"/>
                <a:sym typeface="Arial"/>
              </a:rPr>
              <a:t>Comparability</a:t>
            </a:r>
            <a:r>
              <a:rPr b="1" lang="en-US" sz="1900">
                <a:solidFill>
                  <a:schemeClr val="dk1"/>
                </a:solidFill>
                <a:latin typeface="Arial"/>
                <a:ea typeface="Arial"/>
                <a:cs typeface="Arial"/>
                <a:sym typeface="Arial"/>
              </a:rPr>
              <a:t> </a:t>
            </a:r>
            <a:r>
              <a:rPr b="0" lang="en-US" sz="1900">
                <a:solidFill>
                  <a:schemeClr val="dk1"/>
                </a:solidFill>
                <a:latin typeface="Arial"/>
                <a:ea typeface="Arial"/>
                <a:cs typeface="Arial"/>
                <a:sym typeface="Arial"/>
              </a:rPr>
              <a:t>results when different companies use the same accounting principles.</a:t>
            </a:r>
            <a:endParaRPr/>
          </a:p>
        </p:txBody>
      </p:sp>
      <p:sp>
        <p:nvSpPr>
          <p:cNvPr id="925" name="Google Shape;925;p73"/>
          <p:cNvSpPr/>
          <p:nvPr/>
        </p:nvSpPr>
        <p:spPr>
          <a:xfrm>
            <a:off x="1333500" y="4267200"/>
            <a:ext cx="2895600" cy="1646605"/>
          </a:xfrm>
          <a:prstGeom prst="rect">
            <a:avLst/>
          </a:prstGeom>
          <a:solidFill>
            <a:schemeClr val="lt1"/>
          </a:solidFill>
          <a:ln cap="sq" cmpd="sng" w="28575">
            <a:solidFill>
              <a:schemeClr val="dk1"/>
            </a:solidFill>
            <a:prstDash val="solid"/>
            <a:miter lim="800000"/>
            <a:headEnd len="sm" w="sm" type="none"/>
            <a:tailEnd len="sm" w="sm" type="none"/>
          </a:ln>
        </p:spPr>
        <p:txBody>
          <a:bodyPr anchorCtr="0" anchor="t" bIns="91425" lIns="137150" spcFirstLastPara="1" rIns="137150" wrap="square" tIns="91425">
            <a:spAutoFit/>
          </a:bodyPr>
          <a:lstStyle/>
          <a:p>
            <a:pPr indent="0" lvl="0" marL="0" marR="0" rtl="0" algn="ctr">
              <a:spcBef>
                <a:spcPts val="0"/>
              </a:spcBef>
              <a:spcAft>
                <a:spcPts val="0"/>
              </a:spcAft>
              <a:buNone/>
            </a:pPr>
            <a:r>
              <a:rPr b="1" lang="en-US" sz="1900">
                <a:solidFill>
                  <a:srgbClr val="0000BF"/>
                </a:solidFill>
                <a:latin typeface="Arial"/>
                <a:ea typeface="Arial"/>
                <a:cs typeface="Arial"/>
                <a:sym typeface="Arial"/>
              </a:rPr>
              <a:t>Consistency</a:t>
            </a:r>
            <a:r>
              <a:rPr b="0" lang="en-US" sz="1900">
                <a:solidFill>
                  <a:schemeClr val="dk1"/>
                </a:solidFill>
                <a:latin typeface="Arial"/>
                <a:ea typeface="Arial"/>
                <a:cs typeface="Arial"/>
                <a:sym typeface="Arial"/>
              </a:rPr>
              <a:t> means that a company uses the same accounting</a:t>
            </a:r>
            <a:endParaRPr/>
          </a:p>
          <a:p>
            <a:pPr indent="0" lvl="0" marL="0" marR="0" rtl="0" algn="ctr">
              <a:spcBef>
                <a:spcPts val="0"/>
              </a:spcBef>
              <a:spcAft>
                <a:spcPts val="0"/>
              </a:spcAft>
              <a:buNone/>
            </a:pPr>
            <a:r>
              <a:rPr b="0" lang="en-US" sz="1900">
                <a:solidFill>
                  <a:schemeClr val="dk1"/>
                </a:solidFill>
                <a:latin typeface="Arial"/>
                <a:ea typeface="Arial"/>
                <a:cs typeface="Arial"/>
                <a:sym typeface="Arial"/>
              </a:rPr>
              <a:t>principles and methods from year to year.</a:t>
            </a:r>
            <a:endParaRPr/>
          </a:p>
        </p:txBody>
      </p:sp>
      <p:sp>
        <p:nvSpPr>
          <p:cNvPr id="926" name="Google Shape;926;p73"/>
          <p:cNvSpPr/>
          <p:nvPr/>
        </p:nvSpPr>
        <p:spPr>
          <a:xfrm>
            <a:off x="3200400" y="2133600"/>
            <a:ext cx="2743200" cy="1938992"/>
          </a:xfrm>
          <a:prstGeom prst="rect">
            <a:avLst/>
          </a:prstGeom>
          <a:solidFill>
            <a:schemeClr val="lt1"/>
          </a:solidFill>
          <a:ln cap="sq" cmpd="sng" w="28575">
            <a:solidFill>
              <a:schemeClr val="dk1"/>
            </a:solidFill>
            <a:prstDash val="solid"/>
            <a:miter lim="800000"/>
            <a:headEnd len="sm" w="sm" type="none"/>
            <a:tailEnd len="sm" w="sm" type="none"/>
          </a:ln>
        </p:spPr>
        <p:txBody>
          <a:bodyPr anchorCtr="0" anchor="t" bIns="91425" lIns="137150" spcFirstLastPara="1" rIns="137150" wrap="square" tIns="91425">
            <a:spAutoFit/>
          </a:bodyPr>
          <a:lstStyle/>
          <a:p>
            <a:pPr indent="0" lvl="0" marL="0" marR="0" rtl="0" algn="ctr">
              <a:spcBef>
                <a:spcPts val="0"/>
              </a:spcBef>
              <a:spcAft>
                <a:spcPts val="0"/>
              </a:spcAft>
              <a:buNone/>
            </a:pPr>
            <a:r>
              <a:rPr b="0" lang="en-US" sz="1900">
                <a:solidFill>
                  <a:schemeClr val="dk1"/>
                </a:solidFill>
                <a:latin typeface="Arial"/>
                <a:ea typeface="Arial"/>
                <a:cs typeface="Arial"/>
                <a:sym typeface="Arial"/>
              </a:rPr>
              <a:t>Information is </a:t>
            </a:r>
            <a:r>
              <a:rPr b="1" lang="en-US" sz="1900">
                <a:solidFill>
                  <a:srgbClr val="0000BF"/>
                </a:solidFill>
                <a:latin typeface="Arial"/>
                <a:ea typeface="Arial"/>
                <a:cs typeface="Arial"/>
                <a:sym typeface="Arial"/>
              </a:rPr>
              <a:t>verifiable</a:t>
            </a:r>
            <a:r>
              <a:rPr b="0" lang="en-US" sz="1900">
                <a:solidFill>
                  <a:schemeClr val="dk1"/>
                </a:solidFill>
                <a:latin typeface="Arial"/>
                <a:ea typeface="Arial"/>
                <a:cs typeface="Arial"/>
                <a:sym typeface="Arial"/>
              </a:rPr>
              <a:t> if independent</a:t>
            </a:r>
            <a:endParaRPr/>
          </a:p>
          <a:p>
            <a:pPr indent="0" lvl="0" marL="0" marR="0" rtl="0" algn="ctr">
              <a:spcBef>
                <a:spcPts val="0"/>
              </a:spcBef>
              <a:spcAft>
                <a:spcPts val="0"/>
              </a:spcAft>
              <a:buNone/>
            </a:pPr>
            <a:r>
              <a:rPr b="0" lang="en-US" sz="1900">
                <a:solidFill>
                  <a:schemeClr val="dk1"/>
                </a:solidFill>
                <a:latin typeface="Arial"/>
                <a:ea typeface="Arial"/>
                <a:cs typeface="Arial"/>
                <a:sym typeface="Arial"/>
              </a:rPr>
              <a:t>observers, using the same methods, obtain similar results.</a:t>
            </a:r>
            <a:endParaRPr/>
          </a:p>
        </p:txBody>
      </p:sp>
      <p:sp>
        <p:nvSpPr>
          <p:cNvPr id="927" name="Google Shape;927;p73"/>
          <p:cNvSpPr/>
          <p:nvPr/>
        </p:nvSpPr>
        <p:spPr>
          <a:xfrm>
            <a:off x="4533900" y="4495800"/>
            <a:ext cx="3162300" cy="1061829"/>
          </a:xfrm>
          <a:prstGeom prst="rect">
            <a:avLst/>
          </a:prstGeom>
          <a:solidFill>
            <a:schemeClr val="lt1"/>
          </a:solidFill>
          <a:ln cap="sq" cmpd="sng" w="28575">
            <a:solidFill>
              <a:schemeClr val="dk1"/>
            </a:solidFill>
            <a:prstDash val="solid"/>
            <a:miter lim="800000"/>
            <a:headEnd len="sm" w="sm" type="none"/>
            <a:tailEnd len="sm" w="sm" type="none"/>
          </a:ln>
        </p:spPr>
        <p:txBody>
          <a:bodyPr anchorCtr="0" anchor="t" bIns="91425" lIns="137150" spcFirstLastPara="1" rIns="137150" wrap="square" tIns="91425">
            <a:spAutoFit/>
          </a:bodyPr>
          <a:lstStyle/>
          <a:p>
            <a:pPr indent="0" lvl="0" marL="0" marR="0" rtl="0" algn="ctr">
              <a:spcBef>
                <a:spcPts val="0"/>
              </a:spcBef>
              <a:spcAft>
                <a:spcPts val="0"/>
              </a:spcAft>
              <a:buNone/>
            </a:pPr>
            <a:r>
              <a:rPr b="0" lang="en-US" sz="1900">
                <a:solidFill>
                  <a:schemeClr val="dk1"/>
                </a:solidFill>
                <a:latin typeface="Arial"/>
                <a:ea typeface="Arial"/>
                <a:cs typeface="Arial"/>
                <a:sym typeface="Arial"/>
              </a:rPr>
              <a:t>For accounting information to have relevance, it must be </a:t>
            </a:r>
            <a:r>
              <a:rPr b="1" lang="en-US" sz="1900">
                <a:solidFill>
                  <a:srgbClr val="0000BF"/>
                </a:solidFill>
                <a:latin typeface="Arial"/>
                <a:ea typeface="Arial"/>
                <a:cs typeface="Arial"/>
                <a:sym typeface="Arial"/>
              </a:rPr>
              <a:t>timely</a:t>
            </a:r>
            <a:r>
              <a:rPr b="0" lang="en-US" sz="1900">
                <a:solidFill>
                  <a:schemeClr val="dk1"/>
                </a:solidFill>
                <a:latin typeface="Arial"/>
                <a:ea typeface="Arial"/>
                <a:cs typeface="Arial"/>
                <a:sym typeface="Arial"/>
              </a:rPr>
              <a:t>.</a:t>
            </a:r>
            <a:endParaRPr/>
          </a:p>
        </p:txBody>
      </p:sp>
      <p:sp>
        <p:nvSpPr>
          <p:cNvPr id="928" name="Google Shape;928;p73"/>
          <p:cNvSpPr/>
          <p:nvPr/>
        </p:nvSpPr>
        <p:spPr>
          <a:xfrm>
            <a:off x="6172200" y="2133600"/>
            <a:ext cx="2667000" cy="1938992"/>
          </a:xfrm>
          <a:prstGeom prst="rect">
            <a:avLst/>
          </a:prstGeom>
          <a:solidFill>
            <a:schemeClr val="lt1"/>
          </a:solidFill>
          <a:ln cap="sq" cmpd="sng" w="28575">
            <a:solidFill>
              <a:schemeClr val="dk1"/>
            </a:solidFill>
            <a:prstDash val="solid"/>
            <a:miter lim="800000"/>
            <a:headEnd len="sm" w="sm" type="none"/>
            <a:tailEnd len="sm" w="sm" type="none"/>
          </a:ln>
        </p:spPr>
        <p:txBody>
          <a:bodyPr anchorCtr="0" anchor="t" bIns="91425" lIns="137150" spcFirstLastPara="1" rIns="137150" wrap="square" tIns="91425">
            <a:spAutoFit/>
          </a:bodyPr>
          <a:lstStyle/>
          <a:p>
            <a:pPr indent="0" lvl="0" marL="0" marR="0" rtl="0" algn="ctr">
              <a:spcBef>
                <a:spcPts val="0"/>
              </a:spcBef>
              <a:spcAft>
                <a:spcPts val="0"/>
              </a:spcAft>
              <a:buNone/>
            </a:pPr>
            <a:r>
              <a:rPr b="0" lang="en-US" sz="1900">
                <a:solidFill>
                  <a:schemeClr val="dk1"/>
                </a:solidFill>
                <a:latin typeface="Arial"/>
                <a:ea typeface="Arial"/>
                <a:cs typeface="Arial"/>
                <a:sym typeface="Arial"/>
              </a:rPr>
              <a:t>Information has the quality of </a:t>
            </a:r>
            <a:r>
              <a:rPr b="1" lang="en-US" sz="1900">
                <a:solidFill>
                  <a:srgbClr val="0000BF"/>
                </a:solidFill>
                <a:latin typeface="Arial"/>
                <a:ea typeface="Arial"/>
                <a:cs typeface="Arial"/>
                <a:sym typeface="Arial"/>
              </a:rPr>
              <a:t>understandability</a:t>
            </a:r>
            <a:endParaRPr/>
          </a:p>
          <a:p>
            <a:pPr indent="0" lvl="0" marL="0" marR="0" rtl="0" algn="ctr">
              <a:spcBef>
                <a:spcPts val="0"/>
              </a:spcBef>
              <a:spcAft>
                <a:spcPts val="0"/>
              </a:spcAft>
              <a:buNone/>
            </a:pPr>
            <a:r>
              <a:rPr b="0" lang="en-US" sz="1900">
                <a:solidFill>
                  <a:schemeClr val="dk1"/>
                </a:solidFill>
                <a:latin typeface="Arial"/>
                <a:ea typeface="Arial"/>
                <a:cs typeface="Arial"/>
                <a:sym typeface="Arial"/>
              </a:rPr>
              <a:t>if it is presented in a clear and concise fashion.</a:t>
            </a:r>
            <a:endParaRPr/>
          </a:p>
        </p:txBody>
      </p:sp>
      <p:cxnSp>
        <p:nvCxnSpPr>
          <p:cNvPr id="929" name="Google Shape;929;p73"/>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930" name="Google Shape;930;p73"/>
          <p:cNvSpPr/>
          <p:nvPr/>
        </p:nvSpPr>
        <p:spPr>
          <a:xfrm>
            <a:off x="609600" y="304800"/>
            <a:ext cx="82296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Qualities of Useful Information</a:t>
            </a:r>
            <a:endParaRPr b="1" sz="3200">
              <a:solidFill>
                <a:srgbClr val="0000BF"/>
              </a:solidFill>
              <a:latin typeface="Arial"/>
              <a:ea typeface="Arial"/>
              <a:cs typeface="Arial"/>
              <a:sym typeface="Arial"/>
            </a:endParaRPr>
          </a:p>
        </p:txBody>
      </p:sp>
      <p:sp>
        <p:nvSpPr>
          <p:cNvPr id="931" name="Google Shape;931;p73"/>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6</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5" name="Shape 935"/>
        <p:cNvGrpSpPr/>
        <p:nvPr/>
      </p:nvGrpSpPr>
      <p:grpSpPr>
        <a:xfrm>
          <a:off x="0" y="0"/>
          <a:ext cx="0" cy="0"/>
          <a:chOff x="0" y="0"/>
          <a:chExt cx="0" cy="0"/>
        </a:xfrm>
      </p:grpSpPr>
      <p:pic>
        <p:nvPicPr>
          <p:cNvPr id="936" name="Google Shape;936;p74"/>
          <p:cNvPicPr preferRelativeResize="0"/>
          <p:nvPr/>
        </p:nvPicPr>
        <p:blipFill rotWithShape="1">
          <a:blip r:embed="rId3">
            <a:alphaModFix/>
          </a:blip>
          <a:srcRect b="0" l="0" r="0" t="0"/>
          <a:stretch/>
        </p:blipFill>
        <p:spPr>
          <a:xfrm>
            <a:off x="5029200" y="1692275"/>
            <a:ext cx="2743200" cy="1812925"/>
          </a:xfrm>
          <a:prstGeom prst="rect">
            <a:avLst/>
          </a:prstGeom>
          <a:noFill/>
          <a:ln cap="sq" cmpd="sng" w="19050">
            <a:solidFill>
              <a:schemeClr val="dk1"/>
            </a:solidFill>
            <a:prstDash val="solid"/>
            <a:miter lim="800000"/>
            <a:headEnd len="sm" w="sm" type="none"/>
            <a:tailEnd len="sm" w="sm" type="none"/>
          </a:ln>
        </p:spPr>
      </p:pic>
      <p:sp>
        <p:nvSpPr>
          <p:cNvPr id="937" name="Google Shape;937;p74"/>
          <p:cNvSpPr/>
          <p:nvPr/>
        </p:nvSpPr>
        <p:spPr>
          <a:xfrm>
            <a:off x="1371600" y="3962400"/>
            <a:ext cx="2514600" cy="41549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100">
                <a:solidFill>
                  <a:srgbClr val="0000BF"/>
                </a:solidFill>
                <a:latin typeface="Arial"/>
                <a:ea typeface="Arial"/>
                <a:cs typeface="Arial"/>
                <a:sym typeface="Arial"/>
              </a:rPr>
              <a:t>Monetary Unit</a:t>
            </a:r>
            <a:endParaRPr/>
          </a:p>
        </p:txBody>
      </p:sp>
      <p:sp>
        <p:nvSpPr>
          <p:cNvPr id="938" name="Google Shape;938;p74"/>
          <p:cNvSpPr/>
          <p:nvPr/>
        </p:nvSpPr>
        <p:spPr>
          <a:xfrm rot="10800000">
            <a:off x="2514600" y="3581400"/>
            <a:ext cx="152400" cy="304800"/>
          </a:xfrm>
          <a:prstGeom prst="upArrow">
            <a:avLst>
              <a:gd fmla="val 50000" name="adj1"/>
              <a:gd fmla="val 50000" name="adj2"/>
            </a:avLst>
          </a:prstGeom>
          <a:solidFill>
            <a:srgbClr val="800000"/>
          </a:solidFill>
          <a:ln cap="sq"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2800">
              <a:solidFill>
                <a:schemeClr val="lt1"/>
              </a:solidFill>
              <a:latin typeface="Arial"/>
              <a:ea typeface="Arial"/>
              <a:cs typeface="Arial"/>
              <a:sym typeface="Arial"/>
            </a:endParaRPr>
          </a:p>
        </p:txBody>
      </p:sp>
      <p:sp>
        <p:nvSpPr>
          <p:cNvPr id="939" name="Google Shape;939;p74"/>
          <p:cNvSpPr/>
          <p:nvPr/>
        </p:nvSpPr>
        <p:spPr>
          <a:xfrm>
            <a:off x="5105400" y="3962400"/>
            <a:ext cx="2514600" cy="41549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100">
                <a:solidFill>
                  <a:srgbClr val="0000BF"/>
                </a:solidFill>
                <a:latin typeface="Arial"/>
                <a:ea typeface="Arial"/>
                <a:cs typeface="Arial"/>
                <a:sym typeface="Arial"/>
              </a:rPr>
              <a:t>Economic Entity</a:t>
            </a:r>
            <a:endParaRPr/>
          </a:p>
        </p:txBody>
      </p:sp>
      <p:sp>
        <p:nvSpPr>
          <p:cNvPr id="940" name="Google Shape;940;p74"/>
          <p:cNvSpPr txBox="1"/>
          <p:nvPr/>
        </p:nvSpPr>
        <p:spPr>
          <a:xfrm>
            <a:off x="7239000" y="1249362"/>
            <a:ext cx="1447800" cy="274638"/>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200">
                <a:solidFill>
                  <a:schemeClr val="dk1"/>
                </a:solidFill>
                <a:latin typeface="Arial"/>
                <a:ea typeface="Arial"/>
                <a:cs typeface="Arial"/>
                <a:sym typeface="Arial"/>
              </a:rPr>
              <a:t>Illustration 3B-2</a:t>
            </a:r>
            <a:endParaRPr/>
          </a:p>
        </p:txBody>
      </p:sp>
      <p:sp>
        <p:nvSpPr>
          <p:cNvPr id="941" name="Google Shape;941;p74"/>
          <p:cNvSpPr/>
          <p:nvPr/>
        </p:nvSpPr>
        <p:spPr>
          <a:xfrm>
            <a:off x="914400" y="4359275"/>
            <a:ext cx="3352800" cy="1355725"/>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None/>
            </a:pPr>
            <a:r>
              <a:rPr b="0" lang="en-US" sz="1800">
                <a:solidFill>
                  <a:schemeClr val="dk1"/>
                </a:solidFill>
                <a:latin typeface="Arial"/>
                <a:ea typeface="Arial"/>
                <a:cs typeface="Arial"/>
                <a:sym typeface="Arial"/>
              </a:rPr>
              <a:t>Requires that only those things that can be expressed in money are included in the accounting records.</a:t>
            </a:r>
            <a:endParaRPr/>
          </a:p>
        </p:txBody>
      </p:sp>
      <p:sp>
        <p:nvSpPr>
          <p:cNvPr id="942" name="Google Shape;942;p74"/>
          <p:cNvSpPr/>
          <p:nvPr/>
        </p:nvSpPr>
        <p:spPr>
          <a:xfrm>
            <a:off x="4800600" y="4352862"/>
            <a:ext cx="3276600" cy="1039812"/>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None/>
            </a:pPr>
            <a:r>
              <a:rPr b="0" lang="en-US" sz="1800">
                <a:solidFill>
                  <a:schemeClr val="dk1"/>
                </a:solidFill>
                <a:latin typeface="Arial"/>
                <a:ea typeface="Arial"/>
                <a:cs typeface="Arial"/>
                <a:sym typeface="Arial"/>
              </a:rPr>
              <a:t>States that every economic entity can be separately identified and accounted for.</a:t>
            </a:r>
            <a:endParaRPr/>
          </a:p>
        </p:txBody>
      </p:sp>
      <p:pic>
        <p:nvPicPr>
          <p:cNvPr id="943" name="Google Shape;943;p74"/>
          <p:cNvPicPr preferRelativeResize="0"/>
          <p:nvPr/>
        </p:nvPicPr>
        <p:blipFill rotWithShape="1">
          <a:blip r:embed="rId4">
            <a:alphaModFix/>
          </a:blip>
          <a:srcRect b="0" l="0" r="0" t="0"/>
          <a:stretch/>
        </p:blipFill>
        <p:spPr>
          <a:xfrm>
            <a:off x="1219200" y="1785938"/>
            <a:ext cx="2743200" cy="1719262"/>
          </a:xfrm>
          <a:prstGeom prst="rect">
            <a:avLst/>
          </a:prstGeom>
          <a:noFill/>
          <a:ln cap="sq" cmpd="sng" w="19050">
            <a:solidFill>
              <a:schemeClr val="dk1"/>
            </a:solidFill>
            <a:prstDash val="solid"/>
            <a:miter lim="800000"/>
            <a:headEnd len="sm" w="sm" type="none"/>
            <a:tailEnd len="sm" w="sm" type="none"/>
          </a:ln>
        </p:spPr>
      </p:pic>
      <p:sp>
        <p:nvSpPr>
          <p:cNvPr id="944" name="Google Shape;944;p74"/>
          <p:cNvSpPr/>
          <p:nvPr/>
        </p:nvSpPr>
        <p:spPr>
          <a:xfrm rot="10800000">
            <a:off x="6324600" y="3581400"/>
            <a:ext cx="152400" cy="304800"/>
          </a:xfrm>
          <a:prstGeom prst="upArrow">
            <a:avLst>
              <a:gd fmla="val 50000" name="adj1"/>
              <a:gd fmla="val 50000" name="adj2"/>
            </a:avLst>
          </a:prstGeom>
          <a:solidFill>
            <a:srgbClr val="800000"/>
          </a:solidFill>
          <a:ln cap="sq"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2800">
              <a:solidFill>
                <a:schemeClr val="lt1"/>
              </a:solidFill>
              <a:latin typeface="Arial"/>
              <a:ea typeface="Arial"/>
              <a:cs typeface="Arial"/>
              <a:sym typeface="Arial"/>
            </a:endParaRPr>
          </a:p>
        </p:txBody>
      </p:sp>
      <p:cxnSp>
        <p:nvCxnSpPr>
          <p:cNvPr id="945" name="Google Shape;945;p74"/>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946" name="Google Shape;946;p74"/>
          <p:cNvSpPr/>
          <p:nvPr/>
        </p:nvSpPr>
        <p:spPr>
          <a:xfrm>
            <a:off x="609600" y="304800"/>
            <a:ext cx="82296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Assumptions in Financial Reporting</a:t>
            </a:r>
            <a:endParaRPr b="1" sz="3200">
              <a:solidFill>
                <a:srgbClr val="0000BF"/>
              </a:solidFill>
              <a:latin typeface="Arial"/>
              <a:ea typeface="Arial"/>
              <a:cs typeface="Arial"/>
              <a:sym typeface="Arial"/>
            </a:endParaRPr>
          </a:p>
        </p:txBody>
      </p:sp>
      <p:sp>
        <p:nvSpPr>
          <p:cNvPr id="947" name="Google Shape;947;p74"/>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6</a:t>
            </a:r>
            <a:endParaRPr b="1" i="1" sz="1600">
              <a:solidFill>
                <a:schemeClr val="lt2"/>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1"/>
                                        </p:tgtEl>
                                        <p:attrNameLst>
                                          <p:attrName>style.visibility</p:attrName>
                                        </p:attrNameLst>
                                      </p:cBhvr>
                                      <p:to>
                                        <p:strVal val="visible"/>
                                      </p:to>
                                    </p:set>
                                    <p:animEffect filter="fade" transition="in">
                                      <p:cBhvr>
                                        <p:cTn dur="500"/>
                                        <p:tgtEl>
                                          <p:spTgt spid="9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2"/>
                                        </p:tgtEl>
                                        <p:attrNameLst>
                                          <p:attrName>style.visibility</p:attrName>
                                        </p:attrNameLst>
                                      </p:cBhvr>
                                      <p:to>
                                        <p:strVal val="visible"/>
                                      </p:to>
                                    </p:set>
                                    <p:animEffect filter="fade" transition="in">
                                      <p:cBhvr>
                                        <p:cTn dur="500"/>
                                        <p:tgtEl>
                                          <p:spTgt spid="9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75"/>
          <p:cNvSpPr/>
          <p:nvPr/>
        </p:nvSpPr>
        <p:spPr>
          <a:xfrm rot="10800000">
            <a:off x="2514600" y="3352800"/>
            <a:ext cx="152400" cy="304800"/>
          </a:xfrm>
          <a:prstGeom prst="upArrow">
            <a:avLst>
              <a:gd fmla="val 50000" name="adj1"/>
              <a:gd fmla="val 50000" name="adj2"/>
            </a:avLst>
          </a:prstGeom>
          <a:solidFill>
            <a:srgbClr val="800000"/>
          </a:solidFill>
          <a:ln cap="sq"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2800">
              <a:solidFill>
                <a:schemeClr val="lt1"/>
              </a:solidFill>
              <a:latin typeface="Arial"/>
              <a:ea typeface="Arial"/>
              <a:cs typeface="Arial"/>
              <a:sym typeface="Arial"/>
            </a:endParaRPr>
          </a:p>
        </p:txBody>
      </p:sp>
      <p:sp>
        <p:nvSpPr>
          <p:cNvPr id="953" name="Google Shape;953;p75"/>
          <p:cNvSpPr/>
          <p:nvPr/>
        </p:nvSpPr>
        <p:spPr>
          <a:xfrm rot="10800000">
            <a:off x="6324600" y="3352800"/>
            <a:ext cx="152400" cy="304800"/>
          </a:xfrm>
          <a:prstGeom prst="upArrow">
            <a:avLst>
              <a:gd fmla="val 50000" name="adj1"/>
              <a:gd fmla="val 50000" name="adj2"/>
            </a:avLst>
          </a:prstGeom>
          <a:solidFill>
            <a:srgbClr val="800000"/>
          </a:solidFill>
          <a:ln cap="sq"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2800">
              <a:solidFill>
                <a:schemeClr val="lt1"/>
              </a:solidFill>
              <a:latin typeface="Arial"/>
              <a:ea typeface="Arial"/>
              <a:cs typeface="Arial"/>
              <a:sym typeface="Arial"/>
            </a:endParaRPr>
          </a:p>
        </p:txBody>
      </p:sp>
      <p:pic>
        <p:nvPicPr>
          <p:cNvPr id="954" name="Google Shape;954;p75"/>
          <p:cNvPicPr preferRelativeResize="0"/>
          <p:nvPr/>
        </p:nvPicPr>
        <p:blipFill rotWithShape="1">
          <a:blip r:embed="rId3">
            <a:alphaModFix/>
          </a:blip>
          <a:srcRect b="0" l="0" r="0" t="0"/>
          <a:stretch/>
        </p:blipFill>
        <p:spPr>
          <a:xfrm>
            <a:off x="5029200" y="1746250"/>
            <a:ext cx="2743200" cy="1454150"/>
          </a:xfrm>
          <a:prstGeom prst="rect">
            <a:avLst/>
          </a:prstGeom>
          <a:noFill/>
          <a:ln cap="sq" cmpd="sng" w="19050">
            <a:solidFill>
              <a:schemeClr val="dk1"/>
            </a:solidFill>
            <a:prstDash val="solid"/>
            <a:miter lim="800000"/>
            <a:headEnd len="sm" w="sm" type="none"/>
            <a:tailEnd len="sm" w="sm" type="none"/>
          </a:ln>
        </p:spPr>
      </p:pic>
      <p:sp>
        <p:nvSpPr>
          <p:cNvPr id="955" name="Google Shape;955;p75"/>
          <p:cNvSpPr/>
          <p:nvPr/>
        </p:nvSpPr>
        <p:spPr>
          <a:xfrm>
            <a:off x="4876800" y="3683000"/>
            <a:ext cx="3048000" cy="41549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100">
                <a:solidFill>
                  <a:srgbClr val="0000BF"/>
                </a:solidFill>
                <a:latin typeface="Arial"/>
                <a:ea typeface="Arial"/>
                <a:cs typeface="Arial"/>
                <a:sym typeface="Arial"/>
              </a:rPr>
              <a:t>Going Concern</a:t>
            </a:r>
            <a:endParaRPr/>
          </a:p>
        </p:txBody>
      </p:sp>
      <p:sp>
        <p:nvSpPr>
          <p:cNvPr id="956" name="Google Shape;956;p75"/>
          <p:cNvSpPr/>
          <p:nvPr/>
        </p:nvSpPr>
        <p:spPr>
          <a:xfrm>
            <a:off x="4953000" y="4067175"/>
            <a:ext cx="2971800" cy="1039813"/>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None/>
            </a:pPr>
            <a:r>
              <a:rPr b="0" lang="en-US" sz="1800">
                <a:solidFill>
                  <a:schemeClr val="dk1"/>
                </a:solidFill>
                <a:latin typeface="Arial"/>
                <a:ea typeface="Arial"/>
                <a:cs typeface="Arial"/>
                <a:sym typeface="Arial"/>
              </a:rPr>
              <a:t>The business will remain in operation for the foreseeable future.</a:t>
            </a:r>
            <a:endParaRPr/>
          </a:p>
        </p:txBody>
      </p:sp>
      <p:sp>
        <p:nvSpPr>
          <p:cNvPr id="957" name="Google Shape;957;p75"/>
          <p:cNvSpPr/>
          <p:nvPr/>
        </p:nvSpPr>
        <p:spPr>
          <a:xfrm>
            <a:off x="1371600" y="3698875"/>
            <a:ext cx="2514600" cy="41549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100">
                <a:solidFill>
                  <a:srgbClr val="0000BF"/>
                </a:solidFill>
                <a:latin typeface="Arial"/>
                <a:ea typeface="Arial"/>
                <a:cs typeface="Arial"/>
                <a:sym typeface="Arial"/>
              </a:rPr>
              <a:t>Time Period</a:t>
            </a:r>
            <a:endParaRPr/>
          </a:p>
        </p:txBody>
      </p:sp>
      <p:sp>
        <p:nvSpPr>
          <p:cNvPr id="958" name="Google Shape;958;p75"/>
          <p:cNvSpPr/>
          <p:nvPr/>
        </p:nvSpPr>
        <p:spPr>
          <a:xfrm>
            <a:off x="990600" y="4114800"/>
            <a:ext cx="3276600" cy="1039813"/>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None/>
            </a:pPr>
            <a:r>
              <a:rPr b="0" lang="en-US" sz="1800">
                <a:solidFill>
                  <a:schemeClr val="dk1"/>
                </a:solidFill>
                <a:latin typeface="Arial"/>
                <a:ea typeface="Arial"/>
                <a:cs typeface="Arial"/>
                <a:sym typeface="Arial"/>
              </a:rPr>
              <a:t>States that the life of a business can be divided into artificial time periods.</a:t>
            </a:r>
            <a:endParaRPr/>
          </a:p>
        </p:txBody>
      </p:sp>
      <p:pic>
        <p:nvPicPr>
          <p:cNvPr id="959" name="Google Shape;959;p75"/>
          <p:cNvPicPr preferRelativeResize="0"/>
          <p:nvPr/>
        </p:nvPicPr>
        <p:blipFill rotWithShape="1">
          <a:blip r:embed="rId4">
            <a:alphaModFix/>
          </a:blip>
          <a:srcRect b="0" l="0" r="0" t="0"/>
          <a:stretch/>
        </p:blipFill>
        <p:spPr>
          <a:xfrm>
            <a:off x="1219200" y="1676400"/>
            <a:ext cx="2743200" cy="1520825"/>
          </a:xfrm>
          <a:prstGeom prst="rect">
            <a:avLst/>
          </a:prstGeom>
          <a:noFill/>
          <a:ln cap="sq" cmpd="sng" w="19050">
            <a:solidFill>
              <a:schemeClr val="dk1"/>
            </a:solidFill>
            <a:prstDash val="solid"/>
            <a:miter lim="800000"/>
            <a:headEnd len="sm" w="sm" type="none"/>
            <a:tailEnd len="sm" w="sm" type="none"/>
          </a:ln>
        </p:spPr>
      </p:pic>
      <p:cxnSp>
        <p:nvCxnSpPr>
          <p:cNvPr id="960" name="Google Shape;960;p75"/>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961" name="Google Shape;961;p75"/>
          <p:cNvSpPr/>
          <p:nvPr/>
        </p:nvSpPr>
        <p:spPr>
          <a:xfrm>
            <a:off x="609600" y="304800"/>
            <a:ext cx="82296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Assumptions in Financial Reporting</a:t>
            </a:r>
            <a:endParaRPr b="1" sz="3200">
              <a:solidFill>
                <a:srgbClr val="0000BF"/>
              </a:solidFill>
              <a:latin typeface="Arial"/>
              <a:ea typeface="Arial"/>
              <a:cs typeface="Arial"/>
              <a:sym typeface="Arial"/>
            </a:endParaRPr>
          </a:p>
        </p:txBody>
      </p:sp>
      <p:sp>
        <p:nvSpPr>
          <p:cNvPr id="962" name="Google Shape;962;p75"/>
          <p:cNvSpPr txBox="1"/>
          <p:nvPr/>
        </p:nvSpPr>
        <p:spPr>
          <a:xfrm>
            <a:off x="7239000" y="1249362"/>
            <a:ext cx="1447800" cy="274638"/>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200">
                <a:solidFill>
                  <a:schemeClr val="dk1"/>
                </a:solidFill>
                <a:latin typeface="Arial"/>
                <a:ea typeface="Arial"/>
                <a:cs typeface="Arial"/>
                <a:sym typeface="Arial"/>
              </a:rPr>
              <a:t>Illustration 3B-2</a:t>
            </a:r>
            <a:endParaRPr/>
          </a:p>
        </p:txBody>
      </p:sp>
      <p:sp>
        <p:nvSpPr>
          <p:cNvPr id="963" name="Google Shape;963;p75"/>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6</a:t>
            </a:r>
            <a:endParaRPr b="1" i="1" sz="1600">
              <a:solidFill>
                <a:schemeClr val="lt2"/>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8"/>
                                        </p:tgtEl>
                                        <p:attrNameLst>
                                          <p:attrName>style.visibility</p:attrName>
                                        </p:attrNameLst>
                                      </p:cBhvr>
                                      <p:to>
                                        <p:strVal val="visible"/>
                                      </p:to>
                                    </p:set>
                                    <p:animEffect filter="fade" transition="in">
                                      <p:cBhvr>
                                        <p:cTn dur="500"/>
                                        <p:tgtEl>
                                          <p:spTgt spid="9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6"/>
                                        </p:tgtEl>
                                        <p:attrNameLst>
                                          <p:attrName>style.visibility</p:attrName>
                                        </p:attrNameLst>
                                      </p:cBhvr>
                                      <p:to>
                                        <p:strVal val="visible"/>
                                      </p:to>
                                    </p:set>
                                    <p:animEffect filter="fade" transition="in">
                                      <p:cBhvr>
                                        <p:cTn dur="500"/>
                                        <p:tgtEl>
                                          <p:spTgt spid="9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sp>
        <p:nvSpPr>
          <p:cNvPr id="968" name="Google Shape;968;p76"/>
          <p:cNvSpPr/>
          <p:nvPr/>
        </p:nvSpPr>
        <p:spPr>
          <a:xfrm>
            <a:off x="1066800" y="1295400"/>
            <a:ext cx="4343400" cy="4270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200">
                <a:solidFill>
                  <a:schemeClr val="dk1"/>
                </a:solidFill>
                <a:latin typeface="Arial"/>
                <a:ea typeface="Arial"/>
                <a:cs typeface="Arial"/>
                <a:sym typeface="Arial"/>
              </a:rPr>
              <a:t>MEASUREMENT PRINCIPLES</a:t>
            </a:r>
            <a:endParaRPr/>
          </a:p>
        </p:txBody>
      </p:sp>
      <p:sp>
        <p:nvSpPr>
          <p:cNvPr id="969" name="Google Shape;969;p76"/>
          <p:cNvSpPr/>
          <p:nvPr/>
        </p:nvSpPr>
        <p:spPr>
          <a:xfrm>
            <a:off x="685800" y="2043113"/>
            <a:ext cx="2362200" cy="446276"/>
          </a:xfrm>
          <a:prstGeom prst="rect">
            <a:avLst/>
          </a:prstGeom>
          <a:solidFill>
            <a:srgbClr val="F0DCDC"/>
          </a:solidFill>
          <a:ln cap="sq"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None/>
            </a:pPr>
            <a:r>
              <a:rPr b="1" lang="en-US" sz="2100">
                <a:solidFill>
                  <a:srgbClr val="0000BF"/>
                </a:solidFill>
                <a:latin typeface="Arial"/>
                <a:ea typeface="Arial"/>
                <a:cs typeface="Arial"/>
                <a:sym typeface="Arial"/>
              </a:rPr>
              <a:t>Historical Cost</a:t>
            </a:r>
            <a:endParaRPr b="0" sz="2100">
              <a:solidFill>
                <a:srgbClr val="0000BF"/>
              </a:solidFill>
              <a:latin typeface="Arial"/>
              <a:ea typeface="Arial"/>
              <a:cs typeface="Arial"/>
              <a:sym typeface="Arial"/>
            </a:endParaRPr>
          </a:p>
        </p:txBody>
      </p:sp>
      <p:sp>
        <p:nvSpPr>
          <p:cNvPr id="970" name="Google Shape;970;p76"/>
          <p:cNvSpPr/>
          <p:nvPr/>
        </p:nvSpPr>
        <p:spPr>
          <a:xfrm>
            <a:off x="3429000" y="2043113"/>
            <a:ext cx="2362200" cy="463973"/>
          </a:xfrm>
          <a:prstGeom prst="rect">
            <a:avLst/>
          </a:prstGeom>
          <a:solidFill>
            <a:srgbClr val="F0DCDC"/>
          </a:solidFill>
          <a:ln cap="sq"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None/>
            </a:pPr>
            <a:r>
              <a:rPr b="1" lang="en-US" sz="2100">
                <a:solidFill>
                  <a:srgbClr val="0000BF"/>
                </a:solidFill>
                <a:latin typeface="Arial"/>
                <a:ea typeface="Arial"/>
                <a:cs typeface="Arial"/>
                <a:sym typeface="Arial"/>
              </a:rPr>
              <a:t>Fair Value</a:t>
            </a:r>
            <a:endParaRPr b="1" sz="2100">
              <a:solidFill>
                <a:srgbClr val="0000BF"/>
              </a:solidFill>
              <a:latin typeface="Arial"/>
              <a:ea typeface="Arial"/>
              <a:cs typeface="Arial"/>
              <a:sym typeface="Arial"/>
            </a:endParaRPr>
          </a:p>
        </p:txBody>
      </p:sp>
      <p:sp>
        <p:nvSpPr>
          <p:cNvPr id="971" name="Google Shape;971;p76"/>
          <p:cNvSpPr/>
          <p:nvPr/>
        </p:nvSpPr>
        <p:spPr>
          <a:xfrm>
            <a:off x="685800" y="2514600"/>
            <a:ext cx="2362200" cy="1846263"/>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None/>
            </a:pPr>
            <a:r>
              <a:rPr b="0" lang="en-US" sz="2000">
                <a:solidFill>
                  <a:schemeClr val="dk1"/>
                </a:solidFill>
                <a:latin typeface="Arial"/>
                <a:ea typeface="Arial"/>
                <a:cs typeface="Arial"/>
                <a:sym typeface="Arial"/>
              </a:rPr>
              <a:t>Or cost principle, dictates that companies record assets at their cost.</a:t>
            </a:r>
            <a:endParaRPr/>
          </a:p>
        </p:txBody>
      </p:sp>
      <p:sp>
        <p:nvSpPr>
          <p:cNvPr id="972" name="Google Shape;972;p76"/>
          <p:cNvSpPr/>
          <p:nvPr/>
        </p:nvSpPr>
        <p:spPr>
          <a:xfrm>
            <a:off x="3429000" y="2514600"/>
            <a:ext cx="2362200" cy="2898775"/>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None/>
            </a:pPr>
            <a:r>
              <a:rPr b="0" lang="en-US" sz="2000">
                <a:solidFill>
                  <a:schemeClr val="dk1"/>
                </a:solidFill>
                <a:latin typeface="Arial"/>
                <a:ea typeface="Arial"/>
                <a:cs typeface="Arial"/>
                <a:sym typeface="Arial"/>
              </a:rPr>
              <a:t>Indicates that assets and liabilities should be reported at fair value (the price received to sell an asset or settle</a:t>
            </a:r>
            <a:endParaRPr/>
          </a:p>
          <a:p>
            <a:pPr indent="0" lvl="0" marL="0" marR="0" rtl="0" algn="ctr">
              <a:lnSpc>
                <a:spcPct val="115000"/>
              </a:lnSpc>
              <a:spcBef>
                <a:spcPts val="0"/>
              </a:spcBef>
              <a:spcAft>
                <a:spcPts val="0"/>
              </a:spcAft>
              <a:buNone/>
            </a:pPr>
            <a:r>
              <a:rPr b="0" lang="en-US" sz="2000">
                <a:solidFill>
                  <a:schemeClr val="dk1"/>
                </a:solidFill>
                <a:latin typeface="Arial"/>
                <a:ea typeface="Arial"/>
                <a:cs typeface="Arial"/>
                <a:sym typeface="Arial"/>
              </a:rPr>
              <a:t>a liability). </a:t>
            </a:r>
            <a:endParaRPr/>
          </a:p>
        </p:txBody>
      </p:sp>
      <p:sp>
        <p:nvSpPr>
          <p:cNvPr id="973" name="Google Shape;973;p76"/>
          <p:cNvSpPr/>
          <p:nvPr/>
        </p:nvSpPr>
        <p:spPr>
          <a:xfrm>
            <a:off x="609600" y="1981200"/>
            <a:ext cx="2514600" cy="3505200"/>
          </a:xfrm>
          <a:prstGeom prst="rect">
            <a:avLst/>
          </a:prstGeom>
          <a:noFill/>
          <a:ln cap="sq"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2800">
              <a:solidFill>
                <a:schemeClr val="lt1"/>
              </a:solidFill>
              <a:latin typeface="Arial"/>
              <a:ea typeface="Arial"/>
              <a:cs typeface="Arial"/>
              <a:sym typeface="Arial"/>
            </a:endParaRPr>
          </a:p>
        </p:txBody>
      </p:sp>
      <p:sp>
        <p:nvSpPr>
          <p:cNvPr id="974" name="Google Shape;974;p76"/>
          <p:cNvSpPr/>
          <p:nvPr/>
        </p:nvSpPr>
        <p:spPr>
          <a:xfrm>
            <a:off x="3352800" y="1981200"/>
            <a:ext cx="2514600" cy="3505200"/>
          </a:xfrm>
          <a:prstGeom prst="rect">
            <a:avLst/>
          </a:prstGeom>
          <a:noFill/>
          <a:ln cap="sq"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2800">
              <a:solidFill>
                <a:schemeClr val="lt1"/>
              </a:solidFill>
              <a:latin typeface="Arial"/>
              <a:ea typeface="Arial"/>
              <a:cs typeface="Arial"/>
              <a:sym typeface="Arial"/>
            </a:endParaRPr>
          </a:p>
        </p:txBody>
      </p:sp>
      <p:cxnSp>
        <p:nvCxnSpPr>
          <p:cNvPr id="975" name="Google Shape;975;p76"/>
          <p:cNvCxnSpPr/>
          <p:nvPr/>
        </p:nvCxnSpPr>
        <p:spPr>
          <a:xfrm>
            <a:off x="609600" y="1814513"/>
            <a:ext cx="5257800" cy="0"/>
          </a:xfrm>
          <a:prstGeom prst="straightConnector1">
            <a:avLst/>
          </a:prstGeom>
          <a:noFill/>
          <a:ln cap="sq" cmpd="sng" w="28575">
            <a:solidFill>
              <a:schemeClr val="dk1"/>
            </a:solidFill>
            <a:prstDash val="solid"/>
            <a:round/>
            <a:headEnd len="sm" w="sm" type="none"/>
            <a:tailEnd len="sm" w="sm" type="none"/>
          </a:ln>
        </p:spPr>
      </p:cxnSp>
      <p:cxnSp>
        <p:nvCxnSpPr>
          <p:cNvPr id="976" name="Google Shape;976;p76"/>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977" name="Google Shape;977;p76"/>
          <p:cNvSpPr/>
          <p:nvPr/>
        </p:nvSpPr>
        <p:spPr>
          <a:xfrm>
            <a:off x="609600" y="304800"/>
            <a:ext cx="82296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Principles of Financial Reporting</a:t>
            </a:r>
            <a:endParaRPr b="1" sz="3200">
              <a:solidFill>
                <a:srgbClr val="0000BF"/>
              </a:solidFill>
              <a:latin typeface="Arial"/>
              <a:ea typeface="Arial"/>
              <a:cs typeface="Arial"/>
              <a:sym typeface="Arial"/>
            </a:endParaRPr>
          </a:p>
        </p:txBody>
      </p:sp>
      <p:sp>
        <p:nvSpPr>
          <p:cNvPr id="978" name="Google Shape;978;p76"/>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6</a:t>
            </a:r>
            <a:endParaRPr b="1" i="1" sz="1600">
              <a:solidFill>
                <a:schemeClr val="lt2"/>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1"/>
                                        </p:tgtEl>
                                        <p:attrNameLst>
                                          <p:attrName>style.visibility</p:attrName>
                                        </p:attrNameLst>
                                      </p:cBhvr>
                                      <p:to>
                                        <p:strVal val="visible"/>
                                      </p:to>
                                    </p:set>
                                    <p:animEffect filter="fade" transition="in">
                                      <p:cBhvr>
                                        <p:cTn dur="500"/>
                                        <p:tgtEl>
                                          <p:spTgt spid="9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2"/>
                                        </p:tgtEl>
                                        <p:attrNameLst>
                                          <p:attrName>style.visibility</p:attrName>
                                        </p:attrNameLst>
                                      </p:cBhvr>
                                      <p:to>
                                        <p:strVal val="visible"/>
                                      </p:to>
                                    </p:set>
                                    <p:animEffect filter="fade" transition="in">
                                      <p:cBhvr>
                                        <p:cTn dur="500"/>
                                        <p:tgtEl>
                                          <p:spTgt spid="9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p77"/>
          <p:cNvSpPr/>
          <p:nvPr/>
        </p:nvSpPr>
        <p:spPr>
          <a:xfrm>
            <a:off x="685800" y="1524000"/>
            <a:ext cx="2362200" cy="1207254"/>
          </a:xfrm>
          <a:prstGeom prst="rect">
            <a:avLst/>
          </a:prstGeom>
          <a:solidFill>
            <a:srgbClr val="F0DCDC"/>
          </a:solidFill>
          <a:ln cap="sq"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None/>
            </a:pPr>
            <a:r>
              <a:rPr b="1" lang="en-US" sz="2100">
                <a:solidFill>
                  <a:srgbClr val="0000BF"/>
                </a:solidFill>
                <a:latin typeface="Arial"/>
                <a:ea typeface="Arial"/>
                <a:cs typeface="Arial"/>
                <a:sym typeface="Arial"/>
              </a:rPr>
              <a:t>Revenue Recognition Principle</a:t>
            </a:r>
            <a:endParaRPr b="1" sz="2100">
              <a:solidFill>
                <a:srgbClr val="0000BF"/>
              </a:solidFill>
              <a:latin typeface="Arial"/>
              <a:ea typeface="Arial"/>
              <a:cs typeface="Arial"/>
              <a:sym typeface="Arial"/>
            </a:endParaRPr>
          </a:p>
        </p:txBody>
      </p:sp>
      <p:sp>
        <p:nvSpPr>
          <p:cNvPr id="984" name="Google Shape;984;p77"/>
          <p:cNvSpPr/>
          <p:nvPr/>
        </p:nvSpPr>
        <p:spPr>
          <a:xfrm>
            <a:off x="685800" y="2801937"/>
            <a:ext cx="2362200" cy="2898775"/>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None/>
            </a:pPr>
            <a:r>
              <a:rPr b="0" lang="en-US" sz="2000">
                <a:solidFill>
                  <a:schemeClr val="dk1"/>
                </a:solidFill>
                <a:latin typeface="Arial"/>
                <a:ea typeface="Arial"/>
                <a:cs typeface="Arial"/>
                <a:sym typeface="Arial"/>
              </a:rPr>
              <a:t>Requires that companies recognize revenue in the accounting period in which the performance obligation is satisfied.</a:t>
            </a:r>
            <a:endParaRPr/>
          </a:p>
        </p:txBody>
      </p:sp>
      <p:sp>
        <p:nvSpPr>
          <p:cNvPr id="985" name="Google Shape;985;p77"/>
          <p:cNvSpPr/>
          <p:nvPr/>
        </p:nvSpPr>
        <p:spPr>
          <a:xfrm>
            <a:off x="3429000" y="2816225"/>
            <a:ext cx="2362200" cy="21971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None/>
            </a:pPr>
            <a:r>
              <a:rPr b="0" lang="en-US" sz="2000">
                <a:solidFill>
                  <a:schemeClr val="dk1"/>
                </a:solidFill>
                <a:latin typeface="Arial"/>
                <a:ea typeface="Arial"/>
                <a:cs typeface="Arial"/>
                <a:sym typeface="Arial"/>
              </a:rPr>
              <a:t>Dictates that efforts (expenses) be matched with results (revenues). Thus, expenses follow revenues.</a:t>
            </a:r>
            <a:endParaRPr/>
          </a:p>
        </p:txBody>
      </p:sp>
      <p:sp>
        <p:nvSpPr>
          <p:cNvPr id="986" name="Google Shape;986;p77"/>
          <p:cNvSpPr/>
          <p:nvPr/>
        </p:nvSpPr>
        <p:spPr>
          <a:xfrm>
            <a:off x="6172200" y="2816225"/>
            <a:ext cx="2438400" cy="2898775"/>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None/>
            </a:pPr>
            <a:r>
              <a:rPr b="0" lang="en-US" sz="2000">
                <a:solidFill>
                  <a:schemeClr val="dk1"/>
                </a:solidFill>
                <a:latin typeface="Arial"/>
                <a:ea typeface="Arial"/>
                <a:cs typeface="Arial"/>
                <a:sym typeface="Arial"/>
              </a:rPr>
              <a:t>Requires that companies disclose all circumstances</a:t>
            </a:r>
            <a:endParaRPr/>
          </a:p>
          <a:p>
            <a:pPr indent="0" lvl="0" marL="0" marR="0" rtl="0" algn="ctr">
              <a:lnSpc>
                <a:spcPct val="115000"/>
              </a:lnSpc>
              <a:spcBef>
                <a:spcPts val="0"/>
              </a:spcBef>
              <a:spcAft>
                <a:spcPts val="0"/>
              </a:spcAft>
              <a:buNone/>
            </a:pPr>
            <a:r>
              <a:rPr b="0" lang="en-US" sz="2000">
                <a:solidFill>
                  <a:schemeClr val="dk1"/>
                </a:solidFill>
                <a:latin typeface="Arial"/>
                <a:ea typeface="Arial"/>
                <a:cs typeface="Arial"/>
                <a:sym typeface="Arial"/>
              </a:rPr>
              <a:t>and events that would make a difference to financial statement users.</a:t>
            </a:r>
            <a:endParaRPr/>
          </a:p>
        </p:txBody>
      </p:sp>
      <p:sp>
        <p:nvSpPr>
          <p:cNvPr id="987" name="Google Shape;987;p77"/>
          <p:cNvSpPr/>
          <p:nvPr/>
        </p:nvSpPr>
        <p:spPr>
          <a:xfrm>
            <a:off x="609600" y="1447800"/>
            <a:ext cx="2514600" cy="4267200"/>
          </a:xfrm>
          <a:prstGeom prst="rect">
            <a:avLst/>
          </a:prstGeom>
          <a:noFill/>
          <a:ln cap="sq"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2800">
              <a:solidFill>
                <a:schemeClr val="lt1"/>
              </a:solidFill>
              <a:latin typeface="Arial"/>
              <a:ea typeface="Arial"/>
              <a:cs typeface="Arial"/>
              <a:sym typeface="Arial"/>
            </a:endParaRPr>
          </a:p>
        </p:txBody>
      </p:sp>
      <p:sp>
        <p:nvSpPr>
          <p:cNvPr id="988" name="Google Shape;988;p77"/>
          <p:cNvSpPr/>
          <p:nvPr/>
        </p:nvSpPr>
        <p:spPr>
          <a:xfrm>
            <a:off x="3352800" y="1447800"/>
            <a:ext cx="2514600" cy="4267200"/>
          </a:xfrm>
          <a:prstGeom prst="rect">
            <a:avLst/>
          </a:prstGeom>
          <a:noFill/>
          <a:ln cap="sq"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2800">
              <a:solidFill>
                <a:schemeClr val="lt1"/>
              </a:solidFill>
              <a:latin typeface="Arial"/>
              <a:ea typeface="Arial"/>
              <a:cs typeface="Arial"/>
              <a:sym typeface="Arial"/>
            </a:endParaRPr>
          </a:p>
        </p:txBody>
      </p:sp>
      <p:sp>
        <p:nvSpPr>
          <p:cNvPr id="989" name="Google Shape;989;p77"/>
          <p:cNvSpPr/>
          <p:nvPr/>
        </p:nvSpPr>
        <p:spPr>
          <a:xfrm>
            <a:off x="6096000" y="1447800"/>
            <a:ext cx="2590800" cy="4267200"/>
          </a:xfrm>
          <a:prstGeom prst="rect">
            <a:avLst/>
          </a:prstGeom>
          <a:noFill/>
          <a:ln cap="sq"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2800">
              <a:solidFill>
                <a:schemeClr val="lt1"/>
              </a:solidFill>
              <a:latin typeface="Arial"/>
              <a:ea typeface="Arial"/>
              <a:cs typeface="Arial"/>
              <a:sym typeface="Arial"/>
            </a:endParaRPr>
          </a:p>
        </p:txBody>
      </p:sp>
      <p:sp>
        <p:nvSpPr>
          <p:cNvPr id="990" name="Google Shape;990;p77"/>
          <p:cNvSpPr/>
          <p:nvPr/>
        </p:nvSpPr>
        <p:spPr>
          <a:xfrm>
            <a:off x="3429000" y="1524000"/>
            <a:ext cx="2362200" cy="1207254"/>
          </a:xfrm>
          <a:prstGeom prst="rect">
            <a:avLst/>
          </a:prstGeom>
          <a:solidFill>
            <a:srgbClr val="F0DCDC"/>
          </a:solidFill>
          <a:ln cap="sq"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rPr b="1" lang="en-US" sz="2100">
                <a:solidFill>
                  <a:srgbClr val="0000BF"/>
                </a:solidFill>
                <a:latin typeface="Arial"/>
                <a:ea typeface="Arial"/>
                <a:cs typeface="Arial"/>
                <a:sym typeface="Arial"/>
              </a:rPr>
              <a:t>Expense Recognition Principle</a:t>
            </a:r>
            <a:endParaRPr/>
          </a:p>
        </p:txBody>
      </p:sp>
      <p:sp>
        <p:nvSpPr>
          <p:cNvPr id="991" name="Google Shape;991;p77"/>
          <p:cNvSpPr/>
          <p:nvPr/>
        </p:nvSpPr>
        <p:spPr>
          <a:xfrm>
            <a:off x="6172200" y="1524000"/>
            <a:ext cx="2438400" cy="1207254"/>
          </a:xfrm>
          <a:prstGeom prst="rect">
            <a:avLst/>
          </a:prstGeom>
          <a:solidFill>
            <a:srgbClr val="F0DCDC"/>
          </a:solidFill>
          <a:ln cap="sq"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rPr b="1" lang="en-US" sz="2100">
                <a:solidFill>
                  <a:srgbClr val="0000BF"/>
                </a:solidFill>
                <a:latin typeface="Arial"/>
                <a:ea typeface="Arial"/>
                <a:cs typeface="Arial"/>
                <a:sym typeface="Arial"/>
              </a:rPr>
              <a:t>Full Disclosure Principle</a:t>
            </a:r>
            <a:endParaRPr b="1" sz="2100">
              <a:solidFill>
                <a:srgbClr val="0000BF"/>
              </a:solidFill>
              <a:latin typeface="Arial"/>
              <a:ea typeface="Arial"/>
              <a:cs typeface="Arial"/>
              <a:sym typeface="Arial"/>
            </a:endParaRPr>
          </a:p>
        </p:txBody>
      </p:sp>
      <p:cxnSp>
        <p:nvCxnSpPr>
          <p:cNvPr id="992" name="Google Shape;992;p77"/>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993" name="Google Shape;993;p77"/>
          <p:cNvSpPr/>
          <p:nvPr/>
        </p:nvSpPr>
        <p:spPr>
          <a:xfrm>
            <a:off x="609600" y="304800"/>
            <a:ext cx="82296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Principles of Financial Reporting</a:t>
            </a:r>
            <a:endParaRPr b="1" sz="3200">
              <a:solidFill>
                <a:srgbClr val="0000BF"/>
              </a:solidFill>
              <a:latin typeface="Arial"/>
              <a:ea typeface="Arial"/>
              <a:cs typeface="Arial"/>
              <a:sym typeface="Arial"/>
            </a:endParaRPr>
          </a:p>
        </p:txBody>
      </p:sp>
      <p:sp>
        <p:nvSpPr>
          <p:cNvPr id="994" name="Google Shape;994;p77"/>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6</a:t>
            </a:r>
            <a:endParaRPr b="1" i="1" sz="1600">
              <a:solidFill>
                <a:schemeClr val="lt2"/>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4"/>
                                        </p:tgtEl>
                                        <p:attrNameLst>
                                          <p:attrName>style.visibility</p:attrName>
                                        </p:attrNameLst>
                                      </p:cBhvr>
                                      <p:to>
                                        <p:strVal val="visible"/>
                                      </p:to>
                                    </p:set>
                                    <p:animEffect filter="fade" transition="in">
                                      <p:cBhvr>
                                        <p:cTn dur="500"/>
                                        <p:tgtEl>
                                          <p:spTgt spid="9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5"/>
                                        </p:tgtEl>
                                        <p:attrNameLst>
                                          <p:attrName>style.visibility</p:attrName>
                                        </p:attrNameLst>
                                      </p:cBhvr>
                                      <p:to>
                                        <p:strVal val="visible"/>
                                      </p:to>
                                    </p:set>
                                    <p:animEffect filter="fade" transition="in">
                                      <p:cBhvr>
                                        <p:cTn dur="500"/>
                                        <p:tgtEl>
                                          <p:spTgt spid="9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6"/>
                                        </p:tgtEl>
                                        <p:attrNameLst>
                                          <p:attrName>style.visibility</p:attrName>
                                        </p:attrNameLst>
                                      </p:cBhvr>
                                      <p:to>
                                        <p:strVal val="visible"/>
                                      </p:to>
                                    </p:set>
                                    <p:animEffect filter="fade" transition="in">
                                      <p:cBhvr>
                                        <p:cTn dur="500"/>
                                        <p:tgtEl>
                                          <p:spTgt spid="9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8" name="Shape 998"/>
        <p:cNvGrpSpPr/>
        <p:nvPr/>
      </p:nvGrpSpPr>
      <p:grpSpPr>
        <a:xfrm>
          <a:off x="0" y="0"/>
          <a:ext cx="0" cy="0"/>
          <a:chOff x="0" y="0"/>
          <a:chExt cx="0" cy="0"/>
        </a:xfrm>
      </p:grpSpPr>
      <p:sp>
        <p:nvSpPr>
          <p:cNvPr id="999" name="Google Shape;999;p78"/>
          <p:cNvSpPr/>
          <p:nvPr/>
        </p:nvSpPr>
        <p:spPr>
          <a:xfrm>
            <a:off x="3429000" y="2209800"/>
            <a:ext cx="5105400" cy="17526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2800">
              <a:solidFill>
                <a:schemeClr val="lt1"/>
              </a:solidFill>
              <a:latin typeface="Arial"/>
              <a:ea typeface="Arial"/>
              <a:cs typeface="Arial"/>
              <a:sym typeface="Arial"/>
            </a:endParaRPr>
          </a:p>
        </p:txBody>
      </p:sp>
      <p:sp>
        <p:nvSpPr>
          <p:cNvPr id="1000" name="Google Shape;1000;p78"/>
          <p:cNvSpPr/>
          <p:nvPr/>
        </p:nvSpPr>
        <p:spPr>
          <a:xfrm>
            <a:off x="3429000" y="4267200"/>
            <a:ext cx="5105400" cy="1828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2800">
              <a:solidFill>
                <a:schemeClr val="lt1"/>
              </a:solidFill>
              <a:latin typeface="Arial"/>
              <a:ea typeface="Arial"/>
              <a:cs typeface="Arial"/>
              <a:sym typeface="Arial"/>
            </a:endParaRPr>
          </a:p>
        </p:txBody>
      </p:sp>
      <p:sp>
        <p:nvSpPr>
          <p:cNvPr id="1001" name="Google Shape;1001;p78"/>
          <p:cNvSpPr/>
          <p:nvPr/>
        </p:nvSpPr>
        <p:spPr>
          <a:xfrm>
            <a:off x="4724400" y="1447800"/>
            <a:ext cx="304800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rgbClr val="0000BF"/>
                </a:solidFill>
                <a:latin typeface="Arial"/>
                <a:ea typeface="Arial"/>
                <a:cs typeface="Arial"/>
                <a:sym typeface="Arial"/>
              </a:rPr>
              <a:t>Cost Constraint</a:t>
            </a:r>
            <a:endParaRPr/>
          </a:p>
        </p:txBody>
      </p:sp>
      <p:sp>
        <p:nvSpPr>
          <p:cNvPr id="1002" name="Google Shape;1002;p78"/>
          <p:cNvSpPr/>
          <p:nvPr/>
        </p:nvSpPr>
        <p:spPr>
          <a:xfrm>
            <a:off x="4038600" y="1981200"/>
            <a:ext cx="4419600" cy="2301875"/>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None/>
            </a:pPr>
            <a:r>
              <a:rPr b="0" lang="en-US" sz="2100">
                <a:solidFill>
                  <a:schemeClr val="dk1"/>
                </a:solidFill>
                <a:latin typeface="Arial"/>
                <a:ea typeface="Arial"/>
                <a:cs typeface="Arial"/>
                <a:sym typeface="Arial"/>
              </a:rPr>
              <a:t>Accounting standard-setters weigh the cost that companies will incur to provide the information against the benefit that financial statement users will gain from having the information available.</a:t>
            </a:r>
            <a:endParaRPr/>
          </a:p>
        </p:txBody>
      </p:sp>
      <p:pic>
        <p:nvPicPr>
          <p:cNvPr id="1003" name="Google Shape;1003;p78"/>
          <p:cNvPicPr preferRelativeResize="0"/>
          <p:nvPr/>
        </p:nvPicPr>
        <p:blipFill rotWithShape="1">
          <a:blip r:embed="rId3">
            <a:alphaModFix/>
          </a:blip>
          <a:srcRect b="0" l="0" r="0" t="0"/>
          <a:stretch/>
        </p:blipFill>
        <p:spPr>
          <a:xfrm>
            <a:off x="762000" y="1600200"/>
            <a:ext cx="2971800" cy="1909763"/>
          </a:xfrm>
          <a:prstGeom prst="rect">
            <a:avLst/>
          </a:prstGeom>
          <a:noFill/>
          <a:ln>
            <a:noFill/>
          </a:ln>
        </p:spPr>
      </p:pic>
      <p:cxnSp>
        <p:nvCxnSpPr>
          <p:cNvPr id="1004" name="Google Shape;1004;p78"/>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1005" name="Google Shape;1005;p78"/>
          <p:cNvSpPr/>
          <p:nvPr/>
        </p:nvSpPr>
        <p:spPr>
          <a:xfrm>
            <a:off x="609600" y="304800"/>
            <a:ext cx="82296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Cost Constraint</a:t>
            </a:r>
            <a:endParaRPr b="1" sz="3200">
              <a:solidFill>
                <a:srgbClr val="0000BF"/>
              </a:solidFill>
              <a:latin typeface="Arial"/>
              <a:ea typeface="Arial"/>
              <a:cs typeface="Arial"/>
              <a:sym typeface="Arial"/>
            </a:endParaRPr>
          </a:p>
        </p:txBody>
      </p:sp>
      <p:sp>
        <p:nvSpPr>
          <p:cNvPr id="1006" name="Google Shape;1006;p78"/>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6</a:t>
            </a:r>
            <a:endParaRPr b="1" i="1" sz="1600">
              <a:solidFill>
                <a:schemeClr val="lt2"/>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2"/>
                                        </p:tgtEl>
                                        <p:attrNameLst>
                                          <p:attrName>style.visibility</p:attrName>
                                        </p:attrNameLst>
                                      </p:cBhvr>
                                      <p:to>
                                        <p:strVal val="visible"/>
                                      </p:to>
                                    </p:set>
                                    <p:animEffect filter="fade" transition="in">
                                      <p:cBhvr>
                                        <p:cTn dur="500"/>
                                        <p:tgtEl>
                                          <p:spTgt spid="10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sp>
        <p:nvSpPr>
          <p:cNvPr id="1011" name="Google Shape;1011;p79"/>
          <p:cNvSpPr/>
          <p:nvPr/>
        </p:nvSpPr>
        <p:spPr>
          <a:xfrm>
            <a:off x="290286" y="1503045"/>
            <a:ext cx="2249714" cy="677228"/>
          </a:xfrm>
          <a:prstGeom prst="rect">
            <a:avLst/>
          </a:prstGeom>
          <a:solidFill>
            <a:srgbClr val="D8D8D8"/>
          </a:solidFill>
          <a:ln>
            <a:noFill/>
          </a:ln>
        </p:spPr>
        <p:txBody>
          <a:bodyPr anchorCtr="0" anchor="ctr" bIns="43225" lIns="86475" spcFirstLastPara="1" rIns="86475" wrap="square" tIns="43225">
            <a:noAutofit/>
          </a:bodyPr>
          <a:lstStyle/>
          <a:p>
            <a:pPr indent="0" lvl="0" marL="0" marR="0" rtl="0" algn="l">
              <a:spcBef>
                <a:spcPts val="0"/>
              </a:spcBef>
              <a:spcAft>
                <a:spcPts val="0"/>
              </a:spcAft>
              <a:buNone/>
            </a:pPr>
            <a:r>
              <a:rPr b="1" lang="en-US" sz="1700">
                <a:solidFill>
                  <a:schemeClr val="dk1"/>
                </a:solidFill>
                <a:latin typeface="Arial"/>
                <a:ea typeface="Arial"/>
                <a:cs typeface="Arial"/>
                <a:sym typeface="Arial"/>
              </a:rPr>
              <a:t>LEARNING</a:t>
            </a:r>
            <a:endParaRPr/>
          </a:p>
          <a:p>
            <a:pPr indent="0" lvl="0" marL="0" marR="0" rtl="0" algn="l">
              <a:spcBef>
                <a:spcPts val="0"/>
              </a:spcBef>
              <a:spcAft>
                <a:spcPts val="0"/>
              </a:spcAft>
              <a:buNone/>
            </a:pPr>
            <a:r>
              <a:rPr b="1" lang="en-US" sz="1700">
                <a:solidFill>
                  <a:schemeClr val="dk1"/>
                </a:solidFill>
                <a:latin typeface="Arial"/>
                <a:ea typeface="Arial"/>
                <a:cs typeface="Arial"/>
                <a:sym typeface="Arial"/>
              </a:rPr>
              <a:t>OBJECTIVE</a:t>
            </a:r>
            <a:endParaRPr/>
          </a:p>
        </p:txBody>
      </p:sp>
      <p:sp>
        <p:nvSpPr>
          <p:cNvPr id="1012" name="Google Shape;1012;p79"/>
          <p:cNvSpPr/>
          <p:nvPr/>
        </p:nvSpPr>
        <p:spPr>
          <a:xfrm>
            <a:off x="533400" y="2438400"/>
            <a:ext cx="2590800" cy="462307"/>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b="1" lang="en-US" sz="2400">
                <a:solidFill>
                  <a:srgbClr val="A50021"/>
                </a:solidFill>
                <a:latin typeface="Arial"/>
                <a:ea typeface="Arial"/>
                <a:cs typeface="Arial"/>
                <a:sym typeface="Arial"/>
              </a:rPr>
              <a:t>Key Points</a:t>
            </a:r>
            <a:endParaRPr/>
          </a:p>
        </p:txBody>
      </p:sp>
      <p:sp>
        <p:nvSpPr>
          <p:cNvPr id="1013" name="Google Shape;1013;p79"/>
          <p:cNvSpPr/>
          <p:nvPr/>
        </p:nvSpPr>
        <p:spPr>
          <a:xfrm>
            <a:off x="533400" y="2941637"/>
            <a:ext cx="8153400" cy="3589957"/>
          </a:xfrm>
          <a:prstGeom prst="rect">
            <a:avLst/>
          </a:prstGeom>
          <a:noFill/>
          <a:ln>
            <a:noFill/>
          </a:ln>
        </p:spPr>
        <p:txBody>
          <a:bodyPr anchorCtr="0" anchor="t" bIns="44450" lIns="90475" spcFirstLastPara="1" rIns="90475" wrap="square" tIns="44450">
            <a:spAutoFit/>
          </a:bodyPr>
          <a:lstStyle/>
          <a:p>
            <a:pPr indent="0" lvl="1" marL="0" marR="0" rtl="0" algn="l">
              <a:lnSpc>
                <a:spcPct val="115000"/>
              </a:lnSpc>
              <a:spcBef>
                <a:spcPts val="0"/>
              </a:spcBef>
              <a:spcAft>
                <a:spcPts val="0"/>
              </a:spcAft>
              <a:buNone/>
            </a:pPr>
            <a:r>
              <a:rPr b="1" i="0" lang="en-US" sz="2100" u="none" cap="none" strike="noStrike">
                <a:solidFill>
                  <a:schemeClr val="dk1"/>
                </a:solidFill>
                <a:latin typeface="Arial"/>
                <a:ea typeface="Arial"/>
                <a:cs typeface="Arial"/>
                <a:sym typeface="Arial"/>
              </a:rPr>
              <a:t>Similarities</a:t>
            </a:r>
            <a:endParaRPr/>
          </a:p>
          <a:p>
            <a:pPr indent="-457200" lvl="1" marL="685800" marR="0" rtl="0" algn="l">
              <a:lnSpc>
                <a:spcPct val="115000"/>
              </a:lnSpc>
              <a:spcBef>
                <a:spcPts val="950"/>
              </a:spcBef>
              <a:spcAft>
                <a:spcPts val="0"/>
              </a:spcAft>
              <a:buClr>
                <a:srgbClr val="800000"/>
              </a:buClr>
              <a:buSzPts val="1520"/>
              <a:buFont typeface="Noto Sans Symbols"/>
              <a:buChar char="◆"/>
            </a:pPr>
            <a:r>
              <a:rPr b="0" i="0" lang="en-US" sz="1900" u="none" cap="none" strike="noStrike">
                <a:solidFill>
                  <a:schemeClr val="dk1"/>
                </a:solidFill>
                <a:latin typeface="Arial"/>
                <a:ea typeface="Arial"/>
                <a:cs typeface="Arial"/>
                <a:sym typeface="Arial"/>
              </a:rPr>
              <a:t>Companies applying </a:t>
            </a:r>
            <a:r>
              <a:rPr b="1" i="0" lang="en-US" sz="1900" u="none" cap="none" strike="noStrike">
                <a:solidFill>
                  <a:schemeClr val="dk1"/>
                </a:solidFill>
                <a:latin typeface="Arial"/>
                <a:ea typeface="Arial"/>
                <a:cs typeface="Arial"/>
                <a:sym typeface="Arial"/>
              </a:rPr>
              <a:t>IFRS</a:t>
            </a:r>
            <a:r>
              <a:rPr b="0" i="0" lang="en-US" sz="1900" u="none" cap="none" strike="noStrike">
                <a:solidFill>
                  <a:schemeClr val="dk1"/>
                </a:solidFill>
                <a:latin typeface="Arial"/>
                <a:ea typeface="Arial"/>
                <a:cs typeface="Arial"/>
                <a:sym typeface="Arial"/>
              </a:rPr>
              <a:t> also use accrual-basis accounting to ensure that they record transactions that change a company’s financial statements in the period in which events occur.</a:t>
            </a:r>
            <a:endParaRPr/>
          </a:p>
          <a:p>
            <a:pPr indent="-457200" lvl="1" marL="685800" marR="0" rtl="0" algn="l">
              <a:lnSpc>
                <a:spcPct val="115000"/>
              </a:lnSpc>
              <a:spcBef>
                <a:spcPts val="950"/>
              </a:spcBef>
              <a:spcAft>
                <a:spcPts val="0"/>
              </a:spcAft>
              <a:buClr>
                <a:srgbClr val="800000"/>
              </a:buClr>
              <a:buSzPts val="1520"/>
              <a:buFont typeface="Noto Sans Symbols"/>
              <a:buChar char="◆"/>
            </a:pPr>
            <a:r>
              <a:rPr b="0" i="0" lang="en-US" sz="1900" u="none" cap="none" strike="noStrike">
                <a:solidFill>
                  <a:schemeClr val="dk1"/>
                </a:solidFill>
                <a:latin typeface="Arial"/>
                <a:ea typeface="Arial"/>
                <a:cs typeface="Arial"/>
                <a:sym typeface="Arial"/>
              </a:rPr>
              <a:t>Similar to </a:t>
            </a:r>
            <a:r>
              <a:rPr b="1" i="0" lang="en-US" sz="1900" u="none" cap="none" strike="noStrike">
                <a:solidFill>
                  <a:schemeClr val="dk1"/>
                </a:solidFill>
                <a:latin typeface="Arial"/>
                <a:ea typeface="Arial"/>
                <a:cs typeface="Arial"/>
                <a:sym typeface="Arial"/>
              </a:rPr>
              <a:t>GAAP</a:t>
            </a:r>
            <a:r>
              <a:rPr b="0" i="0" lang="en-US" sz="1900" u="none" cap="none" strike="noStrike">
                <a:solidFill>
                  <a:schemeClr val="dk1"/>
                </a:solidFill>
                <a:latin typeface="Arial"/>
                <a:ea typeface="Arial"/>
                <a:cs typeface="Arial"/>
                <a:sym typeface="Arial"/>
              </a:rPr>
              <a:t>, cash-basis accounting is not in accordance with </a:t>
            </a:r>
            <a:r>
              <a:rPr b="1" i="0" lang="en-US" sz="1900" u="none" cap="none" strike="noStrike">
                <a:solidFill>
                  <a:schemeClr val="dk1"/>
                </a:solidFill>
                <a:latin typeface="Arial"/>
                <a:ea typeface="Arial"/>
                <a:cs typeface="Arial"/>
                <a:sym typeface="Arial"/>
              </a:rPr>
              <a:t>IFRS</a:t>
            </a:r>
            <a:r>
              <a:rPr b="0" i="0" lang="en-US" sz="1900" u="none" cap="none" strike="noStrike">
                <a:solidFill>
                  <a:schemeClr val="dk1"/>
                </a:solidFill>
                <a:latin typeface="Arial"/>
                <a:ea typeface="Arial"/>
                <a:cs typeface="Arial"/>
                <a:sym typeface="Arial"/>
              </a:rPr>
              <a:t>.</a:t>
            </a:r>
            <a:endParaRPr/>
          </a:p>
          <a:p>
            <a:pPr indent="-457200" lvl="1" marL="685800" marR="0" rtl="0" algn="l">
              <a:lnSpc>
                <a:spcPct val="115000"/>
              </a:lnSpc>
              <a:spcBef>
                <a:spcPts val="950"/>
              </a:spcBef>
              <a:spcAft>
                <a:spcPts val="0"/>
              </a:spcAft>
              <a:buClr>
                <a:srgbClr val="800000"/>
              </a:buClr>
              <a:buSzPts val="1520"/>
              <a:buFont typeface="Noto Sans Symbols"/>
              <a:buChar char="◆"/>
            </a:pPr>
            <a:r>
              <a:rPr b="1" i="0" lang="en-US" sz="1900" u="none" cap="none" strike="noStrike">
                <a:solidFill>
                  <a:schemeClr val="dk1"/>
                </a:solidFill>
                <a:latin typeface="Arial"/>
                <a:ea typeface="Arial"/>
                <a:cs typeface="Arial"/>
                <a:sym typeface="Arial"/>
              </a:rPr>
              <a:t>IFRS</a:t>
            </a:r>
            <a:r>
              <a:rPr b="0" i="0" lang="en-US" sz="1900" u="none" cap="none" strike="noStrike">
                <a:solidFill>
                  <a:schemeClr val="dk1"/>
                </a:solidFill>
                <a:latin typeface="Arial"/>
                <a:ea typeface="Arial"/>
                <a:cs typeface="Arial"/>
                <a:sym typeface="Arial"/>
              </a:rPr>
              <a:t> also divides the economic life of companies into artificial time periods. Under both </a:t>
            </a:r>
            <a:r>
              <a:rPr b="1" i="0" lang="en-US" sz="1900" u="none" cap="none" strike="noStrike">
                <a:solidFill>
                  <a:schemeClr val="dk1"/>
                </a:solidFill>
                <a:latin typeface="Arial"/>
                <a:ea typeface="Arial"/>
                <a:cs typeface="Arial"/>
                <a:sym typeface="Arial"/>
              </a:rPr>
              <a:t>GAAP</a:t>
            </a:r>
            <a:r>
              <a:rPr b="0" i="0" lang="en-US" sz="1900" u="none" cap="none" strike="noStrike">
                <a:solidFill>
                  <a:schemeClr val="dk1"/>
                </a:solidFill>
                <a:latin typeface="Arial"/>
                <a:ea typeface="Arial"/>
                <a:cs typeface="Arial"/>
                <a:sym typeface="Arial"/>
              </a:rPr>
              <a:t> and </a:t>
            </a:r>
            <a:r>
              <a:rPr b="1" i="0" lang="en-US" sz="1900" u="none" cap="none" strike="noStrike">
                <a:solidFill>
                  <a:schemeClr val="dk1"/>
                </a:solidFill>
                <a:latin typeface="Arial"/>
                <a:ea typeface="Arial"/>
                <a:cs typeface="Arial"/>
                <a:sym typeface="Arial"/>
              </a:rPr>
              <a:t>IFRS</a:t>
            </a:r>
            <a:r>
              <a:rPr b="0" i="0" lang="en-US" sz="1900" u="none" cap="none" strike="noStrike">
                <a:solidFill>
                  <a:schemeClr val="dk1"/>
                </a:solidFill>
                <a:latin typeface="Arial"/>
                <a:ea typeface="Arial"/>
                <a:cs typeface="Arial"/>
                <a:sym typeface="Arial"/>
              </a:rPr>
              <a:t>, this is referred to as the </a:t>
            </a:r>
            <a:r>
              <a:rPr b="1" i="0" lang="en-US" sz="1900" u="none" cap="none" strike="noStrike">
                <a:solidFill>
                  <a:schemeClr val="dk1"/>
                </a:solidFill>
                <a:latin typeface="Arial"/>
                <a:ea typeface="Arial"/>
                <a:cs typeface="Arial"/>
                <a:sym typeface="Arial"/>
              </a:rPr>
              <a:t>time period assumption</a:t>
            </a:r>
            <a:r>
              <a:rPr b="0" i="0" lang="en-US" sz="1900" u="none" cap="none" strike="noStrike">
                <a:solidFill>
                  <a:schemeClr val="dk1"/>
                </a:solidFill>
                <a:latin typeface="Arial"/>
                <a:ea typeface="Arial"/>
                <a:cs typeface="Arial"/>
                <a:sym typeface="Arial"/>
              </a:rPr>
              <a:t>.</a:t>
            </a:r>
            <a:endParaRPr b="0" i="0" sz="1900" u="none" cap="none" strike="noStrike">
              <a:solidFill>
                <a:schemeClr val="dk1"/>
              </a:solidFill>
              <a:latin typeface="Arial"/>
              <a:ea typeface="Arial"/>
              <a:cs typeface="Arial"/>
              <a:sym typeface="Arial"/>
            </a:endParaRPr>
          </a:p>
        </p:txBody>
      </p:sp>
      <p:sp>
        <p:nvSpPr>
          <p:cNvPr id="1014" name="Google Shape;1014;p79"/>
          <p:cNvSpPr/>
          <p:nvPr/>
        </p:nvSpPr>
        <p:spPr>
          <a:xfrm>
            <a:off x="0" y="411163"/>
            <a:ext cx="9140825" cy="639762"/>
          </a:xfrm>
          <a:prstGeom prst="rect">
            <a:avLst/>
          </a:prstGeom>
          <a:solidFill>
            <a:srgbClr val="A50021"/>
          </a:solidFill>
          <a:ln cap="sq" cmpd="sng" w="12700">
            <a:solidFill>
              <a:srgbClr val="A5002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2800">
              <a:solidFill>
                <a:schemeClr val="lt1"/>
              </a:solidFill>
              <a:latin typeface="Arial"/>
              <a:ea typeface="Arial"/>
              <a:cs typeface="Arial"/>
              <a:sym typeface="Arial"/>
            </a:endParaRPr>
          </a:p>
        </p:txBody>
      </p:sp>
      <p:sp>
        <p:nvSpPr>
          <p:cNvPr id="1015" name="Google Shape;1015;p79"/>
          <p:cNvSpPr/>
          <p:nvPr/>
        </p:nvSpPr>
        <p:spPr>
          <a:xfrm>
            <a:off x="0" y="1016000"/>
            <a:ext cx="9144000" cy="128588"/>
          </a:xfrm>
          <a:prstGeom prst="rect">
            <a:avLst/>
          </a:prstGeom>
          <a:solidFill>
            <a:srgbClr val="ADADA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2800">
              <a:solidFill>
                <a:schemeClr val="lt1"/>
              </a:solidFill>
              <a:latin typeface="Arial"/>
              <a:ea typeface="Arial"/>
              <a:cs typeface="Arial"/>
              <a:sym typeface="Arial"/>
            </a:endParaRPr>
          </a:p>
        </p:txBody>
      </p:sp>
      <p:pic>
        <p:nvPicPr>
          <p:cNvPr id="1016" name="Google Shape;1016;p79"/>
          <p:cNvPicPr preferRelativeResize="0"/>
          <p:nvPr/>
        </p:nvPicPr>
        <p:blipFill rotWithShape="1">
          <a:blip r:embed="rId3">
            <a:alphaModFix/>
          </a:blip>
          <a:srcRect b="0" l="0" r="0" t="0"/>
          <a:stretch/>
        </p:blipFill>
        <p:spPr>
          <a:xfrm>
            <a:off x="838200" y="304800"/>
            <a:ext cx="895350" cy="895350"/>
          </a:xfrm>
          <a:prstGeom prst="rect">
            <a:avLst/>
          </a:prstGeom>
          <a:noFill/>
          <a:ln>
            <a:noFill/>
          </a:ln>
        </p:spPr>
      </p:pic>
      <p:sp>
        <p:nvSpPr>
          <p:cNvPr id="1017" name="Google Shape;1017;p79"/>
          <p:cNvSpPr txBox="1"/>
          <p:nvPr/>
        </p:nvSpPr>
        <p:spPr>
          <a:xfrm>
            <a:off x="1905000" y="414338"/>
            <a:ext cx="4114800" cy="582211"/>
          </a:xfrm>
          <a:prstGeom prst="rect">
            <a:avLst/>
          </a:prstGeom>
          <a:noFill/>
          <a:ln>
            <a:noFill/>
          </a:ln>
        </p:spPr>
        <p:txBody>
          <a:bodyPr anchorCtr="0" anchor="t" bIns="44450" lIns="90475" spcFirstLastPara="1" rIns="90475" wrap="square" tIns="44450">
            <a:spAutoFit/>
          </a:bodyPr>
          <a:lstStyle/>
          <a:p>
            <a:pPr indent="0" lvl="0" marL="114300" marR="0" rtl="0" algn="l">
              <a:spcBef>
                <a:spcPts val="0"/>
              </a:spcBef>
              <a:spcAft>
                <a:spcPts val="0"/>
              </a:spcAft>
              <a:buNone/>
            </a:pPr>
            <a:r>
              <a:rPr b="1" lang="en-US" sz="3200">
                <a:solidFill>
                  <a:schemeClr val="lt1"/>
                </a:solidFill>
                <a:latin typeface="Arial"/>
                <a:ea typeface="Arial"/>
                <a:cs typeface="Arial"/>
                <a:sym typeface="Arial"/>
              </a:rPr>
              <a:t>A Look at IFRS</a:t>
            </a:r>
            <a:endParaRPr/>
          </a:p>
        </p:txBody>
      </p:sp>
      <p:sp>
        <p:nvSpPr>
          <p:cNvPr id="1018" name="Google Shape;1018;p79"/>
          <p:cNvSpPr/>
          <p:nvPr/>
        </p:nvSpPr>
        <p:spPr>
          <a:xfrm>
            <a:off x="2540000" y="1371600"/>
            <a:ext cx="6241143" cy="928688"/>
          </a:xfrm>
          <a:prstGeom prst="rect">
            <a:avLst/>
          </a:prstGeom>
          <a:solidFill>
            <a:srgbClr val="0027A4"/>
          </a:solidFill>
          <a:ln>
            <a:noFill/>
          </a:ln>
        </p:spPr>
        <p:txBody>
          <a:bodyPr anchorCtr="0" anchor="ctr" bIns="45700" lIns="91425" spcFirstLastPara="1" rIns="91425" wrap="square" tIns="27425">
            <a:noAutofit/>
          </a:bodyPr>
          <a:lstStyle/>
          <a:p>
            <a:pPr indent="0" lvl="0" marL="53975" marR="0" rtl="0" algn="l">
              <a:spcBef>
                <a:spcPts val="0"/>
              </a:spcBef>
              <a:spcAft>
                <a:spcPts val="0"/>
              </a:spcAft>
              <a:buNone/>
            </a:pPr>
            <a:r>
              <a:rPr b="1" lang="en-US" sz="2300">
                <a:solidFill>
                  <a:schemeClr val="lt1"/>
                </a:solidFill>
                <a:latin typeface="Arial"/>
                <a:ea typeface="Arial"/>
                <a:cs typeface="Arial"/>
                <a:sym typeface="Arial"/>
              </a:rPr>
              <a:t>Compare the procedures for adjusting entries under GAAP and IFRS.</a:t>
            </a:r>
            <a:endParaRPr b="1" sz="2300">
              <a:solidFill>
                <a:schemeClr val="lt1"/>
              </a:solidFill>
              <a:latin typeface="Arial"/>
              <a:ea typeface="Arial"/>
              <a:cs typeface="Arial"/>
              <a:sym typeface="Arial"/>
            </a:endParaRPr>
          </a:p>
        </p:txBody>
      </p:sp>
      <p:sp>
        <p:nvSpPr>
          <p:cNvPr id="1019" name="Google Shape;1019;p79"/>
          <p:cNvSpPr/>
          <p:nvPr/>
        </p:nvSpPr>
        <p:spPr>
          <a:xfrm>
            <a:off x="1872343" y="1583055"/>
            <a:ext cx="522514" cy="514350"/>
          </a:xfrm>
          <a:prstGeom prst="ellipse">
            <a:avLst/>
          </a:prstGeom>
          <a:solidFill>
            <a:srgbClr val="FF6600"/>
          </a:solidFill>
          <a:ln>
            <a:noFill/>
          </a:ln>
        </p:spPr>
        <p:txBody>
          <a:bodyPr anchorCtr="0" anchor="ctr" bIns="43225" lIns="86475" spcFirstLastPara="1" rIns="86475" wrap="square" tIns="0">
            <a:noAutofit/>
          </a:bodyPr>
          <a:lstStyle/>
          <a:p>
            <a:pPr indent="0" lvl="0" marL="0" marR="0" rtl="0" algn="ctr">
              <a:spcBef>
                <a:spcPts val="0"/>
              </a:spcBef>
              <a:spcAft>
                <a:spcPts val="0"/>
              </a:spcAft>
              <a:buNone/>
            </a:pPr>
            <a:r>
              <a:rPr b="1" lang="en-US" sz="2400">
                <a:solidFill>
                  <a:schemeClr val="lt1"/>
                </a:solidFill>
                <a:latin typeface="Arial"/>
                <a:ea typeface="Arial"/>
                <a:cs typeface="Arial"/>
                <a:sym typeface="Arial"/>
              </a:rPr>
              <a:t>7</a:t>
            </a:r>
            <a:endParaRPr b="1" sz="2400">
              <a:solidFill>
                <a:schemeClr val="lt1"/>
              </a:solidFill>
              <a:latin typeface="Arial"/>
              <a:ea typeface="Arial"/>
              <a:cs typeface="Arial"/>
              <a:sym typeface="Arial"/>
            </a:endParaRPr>
          </a:p>
        </p:txBody>
      </p:sp>
      <p:sp>
        <p:nvSpPr>
          <p:cNvPr id="1020" name="Google Shape;1020;p79"/>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7</a:t>
            </a:r>
            <a:endParaRPr/>
          </a:p>
        </p:txBody>
      </p:sp>
    </p:spTree>
  </p:cSld>
  <p:clrMapOvr>
    <a:masterClrMapping/>
  </p:clrMapOvr>
  <p:transition>
    <p:wipe dir="r"/>
  </p:transition>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sp>
        <p:nvSpPr>
          <p:cNvPr id="1025" name="Google Shape;1025;p80"/>
          <p:cNvSpPr/>
          <p:nvPr/>
        </p:nvSpPr>
        <p:spPr>
          <a:xfrm>
            <a:off x="533400" y="1979613"/>
            <a:ext cx="8153400" cy="3089820"/>
          </a:xfrm>
          <a:prstGeom prst="rect">
            <a:avLst/>
          </a:prstGeom>
          <a:noFill/>
          <a:ln>
            <a:noFill/>
          </a:ln>
        </p:spPr>
        <p:txBody>
          <a:bodyPr anchorCtr="0" anchor="t" bIns="44450" lIns="90475" spcFirstLastPara="1" rIns="90475" wrap="square" tIns="44450">
            <a:spAutoFit/>
          </a:bodyPr>
          <a:lstStyle/>
          <a:p>
            <a:pPr indent="0" lvl="1" marL="0" marR="0" rtl="0" algn="l">
              <a:lnSpc>
                <a:spcPct val="115000"/>
              </a:lnSpc>
              <a:spcBef>
                <a:spcPts val="0"/>
              </a:spcBef>
              <a:spcAft>
                <a:spcPts val="0"/>
              </a:spcAft>
              <a:buNone/>
            </a:pPr>
            <a:r>
              <a:rPr b="1" i="0" lang="en-US" sz="2100" u="none" cap="none" strike="noStrike">
                <a:solidFill>
                  <a:schemeClr val="dk1"/>
                </a:solidFill>
                <a:latin typeface="Arial"/>
                <a:ea typeface="Arial"/>
                <a:cs typeface="Arial"/>
                <a:sym typeface="Arial"/>
              </a:rPr>
              <a:t>Similarities</a:t>
            </a:r>
            <a:endParaRPr b="1" i="0" sz="2100" u="none" cap="none" strike="noStrike">
              <a:solidFill>
                <a:schemeClr val="dk1"/>
              </a:solidFill>
              <a:latin typeface="Arial"/>
              <a:ea typeface="Arial"/>
              <a:cs typeface="Arial"/>
              <a:sym typeface="Arial"/>
            </a:endParaRPr>
          </a:p>
          <a:p>
            <a:pPr indent="-457200" lvl="1" marL="685800" marR="0" rtl="0" algn="l">
              <a:lnSpc>
                <a:spcPct val="115000"/>
              </a:lnSpc>
              <a:spcBef>
                <a:spcPts val="950"/>
              </a:spcBef>
              <a:spcAft>
                <a:spcPts val="0"/>
              </a:spcAft>
              <a:buClr>
                <a:srgbClr val="800000"/>
              </a:buClr>
              <a:buSzPts val="1520"/>
              <a:buFont typeface="Noto Sans Symbols"/>
              <a:buChar char="◆"/>
            </a:pPr>
            <a:r>
              <a:rPr b="0" i="0" lang="en-US" sz="1900" u="none" cap="none" strike="noStrike">
                <a:solidFill>
                  <a:schemeClr val="dk1"/>
                </a:solidFill>
                <a:latin typeface="Arial"/>
                <a:ea typeface="Arial"/>
                <a:cs typeface="Arial"/>
                <a:sym typeface="Arial"/>
              </a:rPr>
              <a:t>The general revenue recognition principle required by </a:t>
            </a:r>
            <a:r>
              <a:rPr b="1" i="0" lang="en-US" sz="1900" u="none" cap="none" strike="noStrike">
                <a:solidFill>
                  <a:schemeClr val="dk1"/>
                </a:solidFill>
                <a:latin typeface="Arial"/>
                <a:ea typeface="Arial"/>
                <a:cs typeface="Arial"/>
                <a:sym typeface="Arial"/>
              </a:rPr>
              <a:t>GAAP</a:t>
            </a:r>
            <a:r>
              <a:rPr b="0" i="0" lang="en-US" sz="1900" u="none" cap="none" strike="noStrike">
                <a:solidFill>
                  <a:schemeClr val="dk1"/>
                </a:solidFill>
                <a:latin typeface="Arial"/>
                <a:ea typeface="Arial"/>
                <a:cs typeface="Arial"/>
                <a:sym typeface="Arial"/>
              </a:rPr>
              <a:t> that is used in this textbook is similar to that used under </a:t>
            </a:r>
            <a:r>
              <a:rPr b="1" i="0" lang="en-US" sz="1900" u="none" cap="none" strike="noStrike">
                <a:solidFill>
                  <a:schemeClr val="dk1"/>
                </a:solidFill>
                <a:latin typeface="Arial"/>
                <a:ea typeface="Arial"/>
                <a:cs typeface="Arial"/>
                <a:sym typeface="Arial"/>
              </a:rPr>
              <a:t>IFRS</a:t>
            </a:r>
            <a:r>
              <a:rPr b="0" i="0" lang="en-US" sz="1900" u="none" cap="none" strike="noStrike">
                <a:solidFill>
                  <a:schemeClr val="dk1"/>
                </a:solidFill>
                <a:latin typeface="Arial"/>
                <a:ea typeface="Arial"/>
                <a:cs typeface="Arial"/>
                <a:sym typeface="Arial"/>
              </a:rPr>
              <a:t>.</a:t>
            </a:r>
            <a:endParaRPr/>
          </a:p>
          <a:p>
            <a:pPr indent="-457200" lvl="1" marL="685800" marR="0" rtl="0" algn="l">
              <a:lnSpc>
                <a:spcPct val="115000"/>
              </a:lnSpc>
              <a:spcBef>
                <a:spcPts val="950"/>
              </a:spcBef>
              <a:spcAft>
                <a:spcPts val="0"/>
              </a:spcAft>
              <a:buClr>
                <a:srgbClr val="800000"/>
              </a:buClr>
              <a:buSzPts val="1520"/>
              <a:buFont typeface="Noto Sans Symbols"/>
              <a:buChar char="◆"/>
            </a:pPr>
            <a:r>
              <a:rPr b="0" i="0" lang="en-US" sz="1900" u="none" cap="none" strike="noStrike">
                <a:solidFill>
                  <a:schemeClr val="dk1"/>
                </a:solidFill>
                <a:latin typeface="Arial"/>
                <a:ea typeface="Arial"/>
                <a:cs typeface="Arial"/>
                <a:sym typeface="Arial"/>
              </a:rPr>
              <a:t>Revenue recognition fraud is a major issue in U.S. financial reporting. The same situation occurs in other countries, as evidenced by revenue recognition breakdowns at Dutch software company Baan NV, Japanese electronics giant NEC, and Dutch grocer Ahold NV.</a:t>
            </a:r>
            <a:endParaRPr b="0" i="0" sz="1900" u="none" cap="none" strike="noStrike">
              <a:solidFill>
                <a:schemeClr val="dk1"/>
              </a:solidFill>
              <a:latin typeface="Arial"/>
              <a:ea typeface="Arial"/>
              <a:cs typeface="Arial"/>
              <a:sym typeface="Arial"/>
            </a:endParaRPr>
          </a:p>
        </p:txBody>
      </p:sp>
      <p:sp>
        <p:nvSpPr>
          <p:cNvPr id="1026" name="Google Shape;1026;p80"/>
          <p:cNvSpPr/>
          <p:nvPr/>
        </p:nvSpPr>
        <p:spPr>
          <a:xfrm>
            <a:off x="533400" y="1447800"/>
            <a:ext cx="2590800" cy="462307"/>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b="1" lang="en-US" sz="2400">
                <a:solidFill>
                  <a:srgbClr val="A50021"/>
                </a:solidFill>
                <a:latin typeface="Arial"/>
                <a:ea typeface="Arial"/>
                <a:cs typeface="Arial"/>
                <a:sym typeface="Arial"/>
              </a:rPr>
              <a:t>Key Points</a:t>
            </a:r>
            <a:endParaRPr/>
          </a:p>
        </p:txBody>
      </p:sp>
      <p:sp>
        <p:nvSpPr>
          <p:cNvPr id="1027" name="Google Shape;1027;p80"/>
          <p:cNvSpPr/>
          <p:nvPr/>
        </p:nvSpPr>
        <p:spPr>
          <a:xfrm>
            <a:off x="0" y="411163"/>
            <a:ext cx="9140825" cy="639762"/>
          </a:xfrm>
          <a:prstGeom prst="rect">
            <a:avLst/>
          </a:prstGeom>
          <a:solidFill>
            <a:srgbClr val="A50021"/>
          </a:solidFill>
          <a:ln cap="sq" cmpd="sng" w="12700">
            <a:solidFill>
              <a:srgbClr val="A5002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2800">
              <a:solidFill>
                <a:schemeClr val="lt1"/>
              </a:solidFill>
              <a:latin typeface="Arial"/>
              <a:ea typeface="Arial"/>
              <a:cs typeface="Arial"/>
              <a:sym typeface="Arial"/>
            </a:endParaRPr>
          </a:p>
        </p:txBody>
      </p:sp>
      <p:sp>
        <p:nvSpPr>
          <p:cNvPr id="1028" name="Google Shape;1028;p80"/>
          <p:cNvSpPr/>
          <p:nvPr/>
        </p:nvSpPr>
        <p:spPr>
          <a:xfrm>
            <a:off x="0" y="1016000"/>
            <a:ext cx="9144000" cy="128588"/>
          </a:xfrm>
          <a:prstGeom prst="rect">
            <a:avLst/>
          </a:prstGeom>
          <a:solidFill>
            <a:srgbClr val="ADADA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2800">
              <a:solidFill>
                <a:schemeClr val="lt1"/>
              </a:solidFill>
              <a:latin typeface="Arial"/>
              <a:ea typeface="Arial"/>
              <a:cs typeface="Arial"/>
              <a:sym typeface="Arial"/>
            </a:endParaRPr>
          </a:p>
        </p:txBody>
      </p:sp>
      <p:pic>
        <p:nvPicPr>
          <p:cNvPr id="1029" name="Google Shape;1029;p80"/>
          <p:cNvPicPr preferRelativeResize="0"/>
          <p:nvPr/>
        </p:nvPicPr>
        <p:blipFill rotWithShape="1">
          <a:blip r:embed="rId3">
            <a:alphaModFix/>
          </a:blip>
          <a:srcRect b="0" l="0" r="0" t="0"/>
          <a:stretch/>
        </p:blipFill>
        <p:spPr>
          <a:xfrm>
            <a:off x="838200" y="304800"/>
            <a:ext cx="895350" cy="895350"/>
          </a:xfrm>
          <a:prstGeom prst="rect">
            <a:avLst/>
          </a:prstGeom>
          <a:noFill/>
          <a:ln>
            <a:noFill/>
          </a:ln>
        </p:spPr>
      </p:pic>
      <p:sp>
        <p:nvSpPr>
          <p:cNvPr id="1030" name="Google Shape;1030;p80"/>
          <p:cNvSpPr txBox="1"/>
          <p:nvPr/>
        </p:nvSpPr>
        <p:spPr>
          <a:xfrm>
            <a:off x="1905000" y="414338"/>
            <a:ext cx="4114800" cy="582211"/>
          </a:xfrm>
          <a:prstGeom prst="rect">
            <a:avLst/>
          </a:prstGeom>
          <a:noFill/>
          <a:ln>
            <a:noFill/>
          </a:ln>
        </p:spPr>
        <p:txBody>
          <a:bodyPr anchorCtr="0" anchor="t" bIns="44450" lIns="90475" spcFirstLastPara="1" rIns="90475" wrap="square" tIns="44450">
            <a:spAutoFit/>
          </a:bodyPr>
          <a:lstStyle/>
          <a:p>
            <a:pPr indent="0" lvl="0" marL="114300" marR="0" rtl="0" algn="l">
              <a:spcBef>
                <a:spcPts val="0"/>
              </a:spcBef>
              <a:spcAft>
                <a:spcPts val="0"/>
              </a:spcAft>
              <a:buNone/>
            </a:pPr>
            <a:r>
              <a:rPr b="1" lang="en-US" sz="3200">
                <a:solidFill>
                  <a:schemeClr val="lt1"/>
                </a:solidFill>
                <a:latin typeface="Arial"/>
                <a:ea typeface="Arial"/>
                <a:cs typeface="Arial"/>
                <a:sym typeface="Arial"/>
              </a:rPr>
              <a:t>A Look at IFRS</a:t>
            </a:r>
            <a:endParaRPr/>
          </a:p>
        </p:txBody>
      </p:sp>
      <p:sp>
        <p:nvSpPr>
          <p:cNvPr id="1031" name="Google Shape;1031;p80"/>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7</a:t>
            </a:r>
            <a:endParaRPr/>
          </a:p>
        </p:txBody>
      </p:sp>
    </p:spTree>
  </p:cSld>
  <p:clrMapOvr>
    <a:masterClrMapping/>
  </p:clrMapOvr>
  <p:transition>
    <p:wipe dir="r"/>
  </p:transition>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5" name="Shape 1035"/>
        <p:cNvGrpSpPr/>
        <p:nvPr/>
      </p:nvGrpSpPr>
      <p:grpSpPr>
        <a:xfrm>
          <a:off x="0" y="0"/>
          <a:ext cx="0" cy="0"/>
          <a:chOff x="0" y="0"/>
          <a:chExt cx="0" cy="0"/>
        </a:xfrm>
      </p:grpSpPr>
      <p:sp>
        <p:nvSpPr>
          <p:cNvPr id="1036" name="Google Shape;1036;p81"/>
          <p:cNvSpPr/>
          <p:nvPr/>
        </p:nvSpPr>
        <p:spPr>
          <a:xfrm>
            <a:off x="533400" y="1979613"/>
            <a:ext cx="8153400" cy="4116255"/>
          </a:xfrm>
          <a:prstGeom prst="rect">
            <a:avLst/>
          </a:prstGeom>
          <a:noFill/>
          <a:ln>
            <a:noFill/>
          </a:ln>
        </p:spPr>
        <p:txBody>
          <a:bodyPr anchorCtr="0" anchor="t" bIns="44450" lIns="90475" spcFirstLastPara="1" rIns="90475" wrap="square" tIns="44450">
            <a:spAutoFit/>
          </a:bodyPr>
          <a:lstStyle/>
          <a:p>
            <a:pPr indent="0" lvl="1" marL="0" marR="0" rtl="0" algn="l">
              <a:lnSpc>
                <a:spcPct val="115000"/>
              </a:lnSpc>
              <a:spcBef>
                <a:spcPts val="0"/>
              </a:spcBef>
              <a:spcAft>
                <a:spcPts val="0"/>
              </a:spcAft>
              <a:buNone/>
            </a:pPr>
            <a:r>
              <a:rPr b="1" i="0" lang="en-US" sz="2100" u="none" cap="none" strike="noStrike">
                <a:solidFill>
                  <a:schemeClr val="dk1"/>
                </a:solidFill>
                <a:latin typeface="Arial"/>
                <a:ea typeface="Arial"/>
                <a:cs typeface="Arial"/>
                <a:sym typeface="Arial"/>
              </a:rPr>
              <a:t>Differences</a:t>
            </a:r>
            <a:endParaRPr/>
          </a:p>
          <a:p>
            <a:pPr indent="-457200" lvl="1" marL="685800" marR="0" rtl="0" algn="l">
              <a:lnSpc>
                <a:spcPct val="115000"/>
              </a:lnSpc>
              <a:spcBef>
                <a:spcPts val="950"/>
              </a:spcBef>
              <a:spcAft>
                <a:spcPts val="0"/>
              </a:spcAft>
              <a:buClr>
                <a:srgbClr val="800000"/>
              </a:buClr>
              <a:buSzPts val="1520"/>
              <a:buFont typeface="Noto Sans Symbols"/>
              <a:buChar char="◆"/>
            </a:pPr>
            <a:r>
              <a:rPr b="0" i="0" lang="en-US" sz="1900" u="none" cap="none" strike="noStrike">
                <a:solidFill>
                  <a:schemeClr val="dk1"/>
                </a:solidFill>
                <a:latin typeface="Arial"/>
                <a:ea typeface="Arial"/>
                <a:cs typeface="Arial"/>
                <a:sym typeface="Arial"/>
              </a:rPr>
              <a:t>Under IFRS, revaluation (using fair value) of items such as land and buildings is permitted. IFRS allows depreciation based on revaluation of assets, which is not permitted under GAAP.</a:t>
            </a:r>
            <a:endParaRPr/>
          </a:p>
          <a:p>
            <a:pPr indent="-457200" lvl="1" marL="685800" marR="0" rtl="0" algn="l">
              <a:lnSpc>
                <a:spcPct val="115000"/>
              </a:lnSpc>
              <a:spcBef>
                <a:spcPts val="950"/>
              </a:spcBef>
              <a:spcAft>
                <a:spcPts val="0"/>
              </a:spcAft>
              <a:buClr>
                <a:srgbClr val="800000"/>
              </a:buClr>
              <a:buSzPts val="1520"/>
              <a:buFont typeface="Noto Sans Symbols"/>
              <a:buChar char="◆"/>
            </a:pPr>
            <a:r>
              <a:rPr b="0" i="0" lang="en-US" sz="1900" u="none" cap="none" strike="noStrike">
                <a:solidFill>
                  <a:schemeClr val="dk1"/>
                </a:solidFill>
                <a:latin typeface="Arial"/>
                <a:ea typeface="Arial"/>
                <a:cs typeface="Arial"/>
                <a:sym typeface="Arial"/>
              </a:rPr>
              <a:t>The terminology used for revenues and gains, and expenses and losses, differs somewhat between IFRS and GAAP. For example, income includes both revenues, which arise during the normal course of operating activities, and gains, which arise from activities outside of the normal sales of goods and services. The term income is not used this way under GAAP. Instead, under GAAP income refers to the net difference between revenues and expenses.</a:t>
            </a:r>
            <a:endParaRPr/>
          </a:p>
        </p:txBody>
      </p:sp>
      <p:sp>
        <p:nvSpPr>
          <p:cNvPr id="1037" name="Google Shape;1037;p81"/>
          <p:cNvSpPr/>
          <p:nvPr/>
        </p:nvSpPr>
        <p:spPr>
          <a:xfrm>
            <a:off x="533400" y="1447800"/>
            <a:ext cx="2590800" cy="462307"/>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b="1" lang="en-US" sz="2400">
                <a:solidFill>
                  <a:srgbClr val="A50021"/>
                </a:solidFill>
                <a:latin typeface="Arial"/>
                <a:ea typeface="Arial"/>
                <a:cs typeface="Arial"/>
                <a:sym typeface="Arial"/>
              </a:rPr>
              <a:t>Key Points</a:t>
            </a:r>
            <a:endParaRPr/>
          </a:p>
        </p:txBody>
      </p:sp>
      <p:sp>
        <p:nvSpPr>
          <p:cNvPr id="1038" name="Google Shape;1038;p81"/>
          <p:cNvSpPr/>
          <p:nvPr/>
        </p:nvSpPr>
        <p:spPr>
          <a:xfrm>
            <a:off x="0" y="411163"/>
            <a:ext cx="9140825" cy="639762"/>
          </a:xfrm>
          <a:prstGeom prst="rect">
            <a:avLst/>
          </a:prstGeom>
          <a:solidFill>
            <a:srgbClr val="A50021"/>
          </a:solidFill>
          <a:ln cap="sq" cmpd="sng" w="12700">
            <a:solidFill>
              <a:srgbClr val="A5002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2800">
              <a:solidFill>
                <a:schemeClr val="lt1"/>
              </a:solidFill>
              <a:latin typeface="Arial"/>
              <a:ea typeface="Arial"/>
              <a:cs typeface="Arial"/>
              <a:sym typeface="Arial"/>
            </a:endParaRPr>
          </a:p>
        </p:txBody>
      </p:sp>
      <p:sp>
        <p:nvSpPr>
          <p:cNvPr id="1039" name="Google Shape;1039;p81"/>
          <p:cNvSpPr/>
          <p:nvPr/>
        </p:nvSpPr>
        <p:spPr>
          <a:xfrm>
            <a:off x="0" y="1016000"/>
            <a:ext cx="9144000" cy="128588"/>
          </a:xfrm>
          <a:prstGeom prst="rect">
            <a:avLst/>
          </a:prstGeom>
          <a:solidFill>
            <a:srgbClr val="ADADA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2800">
              <a:solidFill>
                <a:schemeClr val="lt1"/>
              </a:solidFill>
              <a:latin typeface="Arial"/>
              <a:ea typeface="Arial"/>
              <a:cs typeface="Arial"/>
              <a:sym typeface="Arial"/>
            </a:endParaRPr>
          </a:p>
        </p:txBody>
      </p:sp>
      <p:pic>
        <p:nvPicPr>
          <p:cNvPr id="1040" name="Google Shape;1040;p81"/>
          <p:cNvPicPr preferRelativeResize="0"/>
          <p:nvPr/>
        </p:nvPicPr>
        <p:blipFill rotWithShape="1">
          <a:blip r:embed="rId3">
            <a:alphaModFix/>
          </a:blip>
          <a:srcRect b="0" l="0" r="0" t="0"/>
          <a:stretch/>
        </p:blipFill>
        <p:spPr>
          <a:xfrm>
            <a:off x="838200" y="304800"/>
            <a:ext cx="895350" cy="895350"/>
          </a:xfrm>
          <a:prstGeom prst="rect">
            <a:avLst/>
          </a:prstGeom>
          <a:noFill/>
          <a:ln>
            <a:noFill/>
          </a:ln>
        </p:spPr>
      </p:pic>
      <p:sp>
        <p:nvSpPr>
          <p:cNvPr id="1041" name="Google Shape;1041;p81"/>
          <p:cNvSpPr txBox="1"/>
          <p:nvPr/>
        </p:nvSpPr>
        <p:spPr>
          <a:xfrm>
            <a:off x="1905000" y="414338"/>
            <a:ext cx="4114800" cy="582211"/>
          </a:xfrm>
          <a:prstGeom prst="rect">
            <a:avLst/>
          </a:prstGeom>
          <a:noFill/>
          <a:ln>
            <a:noFill/>
          </a:ln>
        </p:spPr>
        <p:txBody>
          <a:bodyPr anchorCtr="0" anchor="t" bIns="44450" lIns="90475" spcFirstLastPara="1" rIns="90475" wrap="square" tIns="44450">
            <a:spAutoFit/>
          </a:bodyPr>
          <a:lstStyle/>
          <a:p>
            <a:pPr indent="0" lvl="0" marL="114300" marR="0" rtl="0" algn="l">
              <a:spcBef>
                <a:spcPts val="0"/>
              </a:spcBef>
              <a:spcAft>
                <a:spcPts val="0"/>
              </a:spcAft>
              <a:buNone/>
            </a:pPr>
            <a:r>
              <a:rPr b="1" lang="en-US" sz="3200">
                <a:solidFill>
                  <a:schemeClr val="lt1"/>
                </a:solidFill>
                <a:latin typeface="Arial"/>
                <a:ea typeface="Arial"/>
                <a:cs typeface="Arial"/>
                <a:sym typeface="Arial"/>
              </a:rPr>
              <a:t>A Look at IFRS</a:t>
            </a:r>
            <a:endParaRPr/>
          </a:p>
        </p:txBody>
      </p:sp>
      <p:sp>
        <p:nvSpPr>
          <p:cNvPr id="1042" name="Google Shape;1042;p81"/>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7</a:t>
            </a:r>
            <a:endParaRPr/>
          </a:p>
        </p:txBody>
      </p:sp>
    </p:spTree>
  </p:cSld>
  <p:clrMapOvr>
    <a:masterClrMapping/>
  </p:clrMapOvr>
  <p:transition>
    <p:wipe dir="r"/>
  </p:transition>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p82"/>
          <p:cNvSpPr/>
          <p:nvPr/>
        </p:nvSpPr>
        <p:spPr>
          <a:xfrm>
            <a:off x="533400" y="1979613"/>
            <a:ext cx="8153400" cy="1952586"/>
          </a:xfrm>
          <a:prstGeom prst="rect">
            <a:avLst/>
          </a:prstGeom>
          <a:noFill/>
          <a:ln>
            <a:noFill/>
          </a:ln>
        </p:spPr>
        <p:txBody>
          <a:bodyPr anchorCtr="0" anchor="t" bIns="44450" lIns="90475" spcFirstLastPara="1" rIns="90475" wrap="square" tIns="44450">
            <a:spAutoFit/>
          </a:bodyPr>
          <a:lstStyle/>
          <a:p>
            <a:pPr indent="0" lvl="1" marL="0" marR="0" rtl="0" algn="l">
              <a:lnSpc>
                <a:spcPct val="115000"/>
              </a:lnSpc>
              <a:spcBef>
                <a:spcPts val="0"/>
              </a:spcBef>
              <a:spcAft>
                <a:spcPts val="0"/>
              </a:spcAft>
              <a:buNone/>
            </a:pPr>
            <a:r>
              <a:rPr b="1" i="0" lang="en-US" sz="2100" u="none" cap="none" strike="noStrike">
                <a:solidFill>
                  <a:schemeClr val="dk1"/>
                </a:solidFill>
                <a:latin typeface="Arial"/>
                <a:ea typeface="Arial"/>
                <a:cs typeface="Arial"/>
                <a:sym typeface="Arial"/>
              </a:rPr>
              <a:t>Differences</a:t>
            </a:r>
            <a:endParaRPr/>
          </a:p>
          <a:p>
            <a:pPr indent="-457200" lvl="1" marL="685800" marR="0" rtl="0" algn="l">
              <a:lnSpc>
                <a:spcPct val="115000"/>
              </a:lnSpc>
              <a:spcBef>
                <a:spcPts val="950"/>
              </a:spcBef>
              <a:spcAft>
                <a:spcPts val="0"/>
              </a:spcAft>
              <a:buClr>
                <a:srgbClr val="800000"/>
              </a:buClr>
              <a:buSzPts val="1520"/>
              <a:buFont typeface="Noto Sans Symbols"/>
              <a:buChar char="◆"/>
            </a:pPr>
            <a:r>
              <a:rPr b="0" i="0" lang="en-US" sz="1900" u="none" cap="none" strike="noStrike">
                <a:solidFill>
                  <a:schemeClr val="dk1"/>
                </a:solidFill>
                <a:latin typeface="Arial"/>
                <a:ea typeface="Arial"/>
                <a:cs typeface="Arial"/>
                <a:sym typeface="Arial"/>
              </a:rPr>
              <a:t>Under IFRS, expenses include both those costs incurred in the normal course of operations as well as losses that are not part of normal operations. This is in contrast to GAAP, which defines each separately.</a:t>
            </a:r>
            <a:endParaRPr b="0" i="0" sz="1900" u="none" cap="none" strike="noStrike">
              <a:solidFill>
                <a:schemeClr val="dk1"/>
              </a:solidFill>
              <a:latin typeface="Arial"/>
              <a:ea typeface="Arial"/>
              <a:cs typeface="Arial"/>
              <a:sym typeface="Arial"/>
            </a:endParaRPr>
          </a:p>
        </p:txBody>
      </p:sp>
      <p:sp>
        <p:nvSpPr>
          <p:cNvPr id="1048" name="Google Shape;1048;p82"/>
          <p:cNvSpPr/>
          <p:nvPr/>
        </p:nvSpPr>
        <p:spPr>
          <a:xfrm>
            <a:off x="533400" y="1447800"/>
            <a:ext cx="2590800" cy="462307"/>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b="1" lang="en-US" sz="2400">
                <a:solidFill>
                  <a:srgbClr val="A50021"/>
                </a:solidFill>
                <a:latin typeface="Arial"/>
                <a:ea typeface="Arial"/>
                <a:cs typeface="Arial"/>
                <a:sym typeface="Arial"/>
              </a:rPr>
              <a:t>Key Points</a:t>
            </a:r>
            <a:endParaRPr/>
          </a:p>
        </p:txBody>
      </p:sp>
      <p:sp>
        <p:nvSpPr>
          <p:cNvPr id="1049" name="Google Shape;1049;p82"/>
          <p:cNvSpPr/>
          <p:nvPr/>
        </p:nvSpPr>
        <p:spPr>
          <a:xfrm>
            <a:off x="0" y="411163"/>
            <a:ext cx="9140825" cy="639762"/>
          </a:xfrm>
          <a:prstGeom prst="rect">
            <a:avLst/>
          </a:prstGeom>
          <a:solidFill>
            <a:srgbClr val="A50021"/>
          </a:solidFill>
          <a:ln cap="sq" cmpd="sng" w="12700">
            <a:solidFill>
              <a:srgbClr val="A5002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2800">
              <a:solidFill>
                <a:schemeClr val="lt1"/>
              </a:solidFill>
              <a:latin typeface="Arial"/>
              <a:ea typeface="Arial"/>
              <a:cs typeface="Arial"/>
              <a:sym typeface="Arial"/>
            </a:endParaRPr>
          </a:p>
        </p:txBody>
      </p:sp>
      <p:sp>
        <p:nvSpPr>
          <p:cNvPr id="1050" name="Google Shape;1050;p82"/>
          <p:cNvSpPr/>
          <p:nvPr/>
        </p:nvSpPr>
        <p:spPr>
          <a:xfrm>
            <a:off x="0" y="1016000"/>
            <a:ext cx="9144000" cy="128588"/>
          </a:xfrm>
          <a:prstGeom prst="rect">
            <a:avLst/>
          </a:prstGeom>
          <a:solidFill>
            <a:srgbClr val="ADADA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2800">
              <a:solidFill>
                <a:schemeClr val="lt1"/>
              </a:solidFill>
              <a:latin typeface="Arial"/>
              <a:ea typeface="Arial"/>
              <a:cs typeface="Arial"/>
              <a:sym typeface="Arial"/>
            </a:endParaRPr>
          </a:p>
        </p:txBody>
      </p:sp>
      <p:pic>
        <p:nvPicPr>
          <p:cNvPr id="1051" name="Google Shape;1051;p82"/>
          <p:cNvPicPr preferRelativeResize="0"/>
          <p:nvPr/>
        </p:nvPicPr>
        <p:blipFill rotWithShape="1">
          <a:blip r:embed="rId3">
            <a:alphaModFix/>
          </a:blip>
          <a:srcRect b="0" l="0" r="0" t="0"/>
          <a:stretch/>
        </p:blipFill>
        <p:spPr>
          <a:xfrm>
            <a:off x="838200" y="304800"/>
            <a:ext cx="895350" cy="895350"/>
          </a:xfrm>
          <a:prstGeom prst="rect">
            <a:avLst/>
          </a:prstGeom>
          <a:noFill/>
          <a:ln>
            <a:noFill/>
          </a:ln>
        </p:spPr>
      </p:pic>
      <p:sp>
        <p:nvSpPr>
          <p:cNvPr id="1052" name="Google Shape;1052;p82"/>
          <p:cNvSpPr txBox="1"/>
          <p:nvPr/>
        </p:nvSpPr>
        <p:spPr>
          <a:xfrm>
            <a:off x="1905000" y="414338"/>
            <a:ext cx="4114800" cy="582211"/>
          </a:xfrm>
          <a:prstGeom prst="rect">
            <a:avLst/>
          </a:prstGeom>
          <a:noFill/>
          <a:ln>
            <a:noFill/>
          </a:ln>
        </p:spPr>
        <p:txBody>
          <a:bodyPr anchorCtr="0" anchor="t" bIns="44450" lIns="90475" spcFirstLastPara="1" rIns="90475" wrap="square" tIns="44450">
            <a:spAutoFit/>
          </a:bodyPr>
          <a:lstStyle/>
          <a:p>
            <a:pPr indent="0" lvl="0" marL="114300" marR="0" rtl="0" algn="l">
              <a:spcBef>
                <a:spcPts val="0"/>
              </a:spcBef>
              <a:spcAft>
                <a:spcPts val="0"/>
              </a:spcAft>
              <a:buNone/>
            </a:pPr>
            <a:r>
              <a:rPr b="1" lang="en-US" sz="3200">
                <a:solidFill>
                  <a:schemeClr val="lt1"/>
                </a:solidFill>
                <a:latin typeface="Arial"/>
                <a:ea typeface="Arial"/>
                <a:cs typeface="Arial"/>
                <a:sym typeface="Arial"/>
              </a:rPr>
              <a:t>A Look at IFRS</a:t>
            </a:r>
            <a:endParaRPr/>
          </a:p>
        </p:txBody>
      </p:sp>
      <p:sp>
        <p:nvSpPr>
          <p:cNvPr id="1053" name="Google Shape;1053;p82"/>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7</a:t>
            </a:r>
            <a:endParaRPr/>
          </a:p>
        </p:txBody>
      </p:sp>
    </p:spTree>
  </p:cSld>
  <p:clrMapOvr>
    <a:masterClrMapping/>
  </p:clrMapOvr>
  <p:transition>
    <p:wipe dir="r"/>
  </p:transition>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p83"/>
          <p:cNvSpPr/>
          <p:nvPr/>
        </p:nvSpPr>
        <p:spPr>
          <a:xfrm>
            <a:off x="533400" y="1979613"/>
            <a:ext cx="7772400" cy="1770998"/>
          </a:xfrm>
          <a:prstGeom prst="rect">
            <a:avLst/>
          </a:prstGeom>
          <a:noFill/>
          <a:ln>
            <a:noFill/>
          </a:ln>
        </p:spPr>
        <p:txBody>
          <a:bodyPr anchorCtr="0" anchor="t" bIns="44450" lIns="90475" spcFirstLastPara="1" rIns="90475" wrap="square" tIns="44450">
            <a:spAutoFit/>
          </a:bodyPr>
          <a:lstStyle/>
          <a:p>
            <a:pPr indent="0" lvl="0" marL="0" marR="0" rtl="0" algn="l">
              <a:lnSpc>
                <a:spcPct val="115000"/>
              </a:lnSpc>
              <a:spcBef>
                <a:spcPts val="0"/>
              </a:spcBef>
              <a:spcAft>
                <a:spcPts val="0"/>
              </a:spcAft>
              <a:buClr>
                <a:srgbClr val="800000"/>
              </a:buClr>
              <a:buSzPts val="1520"/>
              <a:buFont typeface="Noto Sans Symbols"/>
              <a:buNone/>
            </a:pPr>
            <a:r>
              <a:rPr b="0" lang="en-US" sz="1900">
                <a:solidFill>
                  <a:schemeClr val="dk1"/>
                </a:solidFill>
                <a:latin typeface="Arial"/>
                <a:ea typeface="Arial"/>
                <a:cs typeface="Arial"/>
                <a:sym typeface="Arial"/>
              </a:rPr>
              <a:t>The IASB and FASB are completing a joint project on revenue recognition. The purpose of this project is to develop comprehensive guidance on when to recognize revenue. It is hoped that this approach will lead to more consistent accounting in this area. For more on this topic, see www.fasb.org/project/revenue_recognition.shtml.</a:t>
            </a:r>
            <a:endParaRPr/>
          </a:p>
        </p:txBody>
      </p:sp>
      <p:sp>
        <p:nvSpPr>
          <p:cNvPr id="1059" name="Google Shape;1059;p83"/>
          <p:cNvSpPr/>
          <p:nvPr/>
        </p:nvSpPr>
        <p:spPr>
          <a:xfrm>
            <a:off x="533400" y="1447800"/>
            <a:ext cx="4648200" cy="462307"/>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b="1" lang="en-US" sz="2400">
                <a:solidFill>
                  <a:srgbClr val="A50021"/>
                </a:solidFill>
                <a:latin typeface="Arial"/>
                <a:ea typeface="Arial"/>
                <a:cs typeface="Arial"/>
                <a:sym typeface="Arial"/>
              </a:rPr>
              <a:t>Looking into the Future</a:t>
            </a:r>
            <a:endParaRPr/>
          </a:p>
        </p:txBody>
      </p:sp>
      <p:sp>
        <p:nvSpPr>
          <p:cNvPr id="1060" name="Google Shape;1060;p83"/>
          <p:cNvSpPr/>
          <p:nvPr/>
        </p:nvSpPr>
        <p:spPr>
          <a:xfrm>
            <a:off x="0" y="411163"/>
            <a:ext cx="9140825" cy="639762"/>
          </a:xfrm>
          <a:prstGeom prst="rect">
            <a:avLst/>
          </a:prstGeom>
          <a:solidFill>
            <a:srgbClr val="A50021"/>
          </a:solidFill>
          <a:ln cap="sq" cmpd="sng" w="12700">
            <a:solidFill>
              <a:srgbClr val="A5002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2800">
              <a:solidFill>
                <a:schemeClr val="lt1"/>
              </a:solidFill>
              <a:latin typeface="Arial"/>
              <a:ea typeface="Arial"/>
              <a:cs typeface="Arial"/>
              <a:sym typeface="Arial"/>
            </a:endParaRPr>
          </a:p>
        </p:txBody>
      </p:sp>
      <p:sp>
        <p:nvSpPr>
          <p:cNvPr id="1061" name="Google Shape;1061;p83"/>
          <p:cNvSpPr/>
          <p:nvPr/>
        </p:nvSpPr>
        <p:spPr>
          <a:xfrm>
            <a:off x="0" y="1016000"/>
            <a:ext cx="9144000" cy="128588"/>
          </a:xfrm>
          <a:prstGeom prst="rect">
            <a:avLst/>
          </a:prstGeom>
          <a:solidFill>
            <a:srgbClr val="ADADA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2800">
              <a:solidFill>
                <a:schemeClr val="lt1"/>
              </a:solidFill>
              <a:latin typeface="Arial"/>
              <a:ea typeface="Arial"/>
              <a:cs typeface="Arial"/>
              <a:sym typeface="Arial"/>
            </a:endParaRPr>
          </a:p>
        </p:txBody>
      </p:sp>
      <p:pic>
        <p:nvPicPr>
          <p:cNvPr id="1062" name="Google Shape;1062;p83"/>
          <p:cNvPicPr preferRelativeResize="0"/>
          <p:nvPr/>
        </p:nvPicPr>
        <p:blipFill rotWithShape="1">
          <a:blip r:embed="rId3">
            <a:alphaModFix/>
          </a:blip>
          <a:srcRect b="0" l="0" r="0" t="0"/>
          <a:stretch/>
        </p:blipFill>
        <p:spPr>
          <a:xfrm>
            <a:off x="838200" y="304800"/>
            <a:ext cx="895350" cy="895350"/>
          </a:xfrm>
          <a:prstGeom prst="rect">
            <a:avLst/>
          </a:prstGeom>
          <a:noFill/>
          <a:ln>
            <a:noFill/>
          </a:ln>
        </p:spPr>
      </p:pic>
      <p:sp>
        <p:nvSpPr>
          <p:cNvPr id="1063" name="Google Shape;1063;p83"/>
          <p:cNvSpPr txBox="1"/>
          <p:nvPr/>
        </p:nvSpPr>
        <p:spPr>
          <a:xfrm>
            <a:off x="1905000" y="414338"/>
            <a:ext cx="4114800" cy="582211"/>
          </a:xfrm>
          <a:prstGeom prst="rect">
            <a:avLst/>
          </a:prstGeom>
          <a:noFill/>
          <a:ln>
            <a:noFill/>
          </a:ln>
        </p:spPr>
        <p:txBody>
          <a:bodyPr anchorCtr="0" anchor="t" bIns="44450" lIns="90475" spcFirstLastPara="1" rIns="90475" wrap="square" tIns="44450">
            <a:spAutoFit/>
          </a:bodyPr>
          <a:lstStyle/>
          <a:p>
            <a:pPr indent="0" lvl="0" marL="114300" marR="0" rtl="0" algn="l">
              <a:spcBef>
                <a:spcPts val="0"/>
              </a:spcBef>
              <a:spcAft>
                <a:spcPts val="0"/>
              </a:spcAft>
              <a:buNone/>
            </a:pPr>
            <a:r>
              <a:rPr b="1" lang="en-US" sz="3200">
                <a:solidFill>
                  <a:schemeClr val="lt1"/>
                </a:solidFill>
                <a:latin typeface="Arial"/>
                <a:ea typeface="Arial"/>
                <a:cs typeface="Arial"/>
                <a:sym typeface="Arial"/>
              </a:rPr>
              <a:t>A Look at IFRS</a:t>
            </a:r>
            <a:endParaRPr/>
          </a:p>
        </p:txBody>
      </p:sp>
      <p:sp>
        <p:nvSpPr>
          <p:cNvPr id="1064" name="Google Shape;1064;p83"/>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7</a:t>
            </a:r>
            <a:endParaRPr/>
          </a:p>
        </p:txBody>
      </p:sp>
    </p:spTree>
  </p:cSld>
  <p:clrMapOvr>
    <a:masterClrMapping/>
  </p:clrMapOvr>
  <p:transition>
    <p:wipe dir="r"/>
  </p:transition>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8" name="Shape 1068"/>
        <p:cNvGrpSpPr/>
        <p:nvPr/>
      </p:nvGrpSpPr>
      <p:grpSpPr>
        <a:xfrm>
          <a:off x="0" y="0"/>
          <a:ext cx="0" cy="0"/>
          <a:chOff x="0" y="0"/>
          <a:chExt cx="0" cy="0"/>
        </a:xfrm>
      </p:grpSpPr>
      <p:sp>
        <p:nvSpPr>
          <p:cNvPr id="1069" name="Google Shape;1069;p84"/>
          <p:cNvSpPr/>
          <p:nvPr/>
        </p:nvSpPr>
        <p:spPr>
          <a:xfrm>
            <a:off x="533400" y="2003425"/>
            <a:ext cx="7848600" cy="3046988"/>
          </a:xfrm>
          <a:prstGeom prst="rect">
            <a:avLst/>
          </a:prstGeom>
          <a:noFill/>
          <a:ln>
            <a:noFill/>
          </a:ln>
        </p:spPr>
        <p:txBody>
          <a:bodyPr anchorCtr="0" anchor="t" bIns="45700" lIns="91425" spcFirstLastPara="1" rIns="91425" wrap="square" tIns="45700">
            <a:spAutoFit/>
          </a:bodyPr>
          <a:lstStyle/>
          <a:p>
            <a:pPr indent="-457200" lvl="0" marL="457200" marR="0" rtl="0" algn="l">
              <a:lnSpc>
                <a:spcPct val="120000"/>
              </a:lnSpc>
              <a:spcBef>
                <a:spcPts val="0"/>
              </a:spcBef>
              <a:spcAft>
                <a:spcPts val="0"/>
              </a:spcAft>
              <a:buNone/>
            </a:pPr>
            <a:r>
              <a:rPr b="1" lang="en-US" sz="2000">
                <a:solidFill>
                  <a:schemeClr val="dk1"/>
                </a:solidFill>
                <a:latin typeface="Arial"/>
                <a:ea typeface="Arial"/>
                <a:cs typeface="Arial"/>
                <a:sym typeface="Arial"/>
              </a:rPr>
              <a:t>IFRS</a:t>
            </a:r>
            <a:r>
              <a:rPr b="0" lang="en-US" sz="2000">
                <a:solidFill>
                  <a:schemeClr val="dk1"/>
                </a:solidFill>
                <a:latin typeface="Arial"/>
                <a:ea typeface="Arial"/>
                <a:cs typeface="Arial"/>
                <a:sym typeface="Arial"/>
              </a:rPr>
              <a:t>:</a:t>
            </a:r>
            <a:endParaRPr/>
          </a:p>
          <a:p>
            <a:pPr indent="-457200" lvl="1" marL="685800" marR="0" rtl="0" algn="l">
              <a:lnSpc>
                <a:spcPct val="120000"/>
              </a:lnSpc>
              <a:spcBef>
                <a:spcPts val="600"/>
              </a:spcBef>
              <a:spcAft>
                <a:spcPts val="0"/>
              </a:spcAft>
              <a:buClr>
                <a:schemeClr val="dk1"/>
              </a:buClr>
              <a:buSzPts val="2000"/>
              <a:buFont typeface="Arial"/>
              <a:buAutoNum type="alphaLcPeriod"/>
            </a:pPr>
            <a:r>
              <a:rPr b="0" i="0" lang="en-US" sz="2000" u="none" cap="none" strike="noStrike">
                <a:solidFill>
                  <a:schemeClr val="dk1"/>
                </a:solidFill>
                <a:latin typeface="Arial"/>
                <a:ea typeface="Arial"/>
                <a:cs typeface="Arial"/>
                <a:sym typeface="Arial"/>
              </a:rPr>
              <a:t>uses accrual accounting.</a:t>
            </a:r>
            <a:endParaRPr/>
          </a:p>
          <a:p>
            <a:pPr indent="-457200" lvl="1" marL="685800" marR="0" rtl="0" algn="l">
              <a:lnSpc>
                <a:spcPct val="120000"/>
              </a:lnSpc>
              <a:spcBef>
                <a:spcPts val="600"/>
              </a:spcBef>
              <a:spcAft>
                <a:spcPts val="0"/>
              </a:spcAft>
              <a:buClr>
                <a:schemeClr val="dk1"/>
              </a:buClr>
              <a:buSzPts val="2000"/>
              <a:buFont typeface="Arial"/>
              <a:buAutoNum type="alphaLcPeriod"/>
            </a:pPr>
            <a:r>
              <a:rPr b="0" i="0" lang="en-US" sz="2000" u="none" cap="none" strike="noStrike">
                <a:solidFill>
                  <a:schemeClr val="dk1"/>
                </a:solidFill>
                <a:latin typeface="Arial"/>
                <a:ea typeface="Arial"/>
                <a:cs typeface="Arial"/>
                <a:sym typeface="Arial"/>
              </a:rPr>
              <a:t>uses cash-basis accounting.</a:t>
            </a:r>
            <a:endParaRPr/>
          </a:p>
          <a:p>
            <a:pPr indent="-457200" lvl="1" marL="685800" marR="0" rtl="0" algn="l">
              <a:lnSpc>
                <a:spcPct val="120000"/>
              </a:lnSpc>
              <a:spcBef>
                <a:spcPts val="600"/>
              </a:spcBef>
              <a:spcAft>
                <a:spcPts val="0"/>
              </a:spcAft>
              <a:buClr>
                <a:schemeClr val="dk1"/>
              </a:buClr>
              <a:buSzPts val="2000"/>
              <a:buFont typeface="Arial"/>
              <a:buAutoNum type="alphaLcPeriod"/>
            </a:pPr>
            <a:r>
              <a:rPr b="0" i="0" lang="en-US" sz="2000" u="none" cap="none" strike="noStrike">
                <a:solidFill>
                  <a:schemeClr val="dk1"/>
                </a:solidFill>
                <a:latin typeface="Arial"/>
                <a:ea typeface="Arial"/>
                <a:cs typeface="Arial"/>
                <a:sym typeface="Arial"/>
              </a:rPr>
              <a:t>allows revenue to be recognized when a customer makes an order.</a:t>
            </a:r>
            <a:endParaRPr/>
          </a:p>
          <a:p>
            <a:pPr indent="-457200" lvl="1" marL="685800" marR="0" rtl="0" algn="l">
              <a:lnSpc>
                <a:spcPct val="120000"/>
              </a:lnSpc>
              <a:spcBef>
                <a:spcPts val="600"/>
              </a:spcBef>
              <a:spcAft>
                <a:spcPts val="0"/>
              </a:spcAft>
              <a:buClr>
                <a:schemeClr val="dk1"/>
              </a:buClr>
              <a:buSzPts val="2000"/>
              <a:buFont typeface="Arial"/>
              <a:buAutoNum type="alphaLcPeriod"/>
            </a:pPr>
            <a:r>
              <a:rPr b="0" i="0" lang="en-US" sz="2000" u="none" cap="none" strike="noStrike">
                <a:solidFill>
                  <a:schemeClr val="dk1"/>
                </a:solidFill>
                <a:latin typeface="Arial"/>
                <a:ea typeface="Arial"/>
                <a:cs typeface="Arial"/>
                <a:sym typeface="Arial"/>
              </a:rPr>
              <a:t>requires that revenue not be recognized until cash is received.</a:t>
            </a:r>
            <a:endParaRPr/>
          </a:p>
        </p:txBody>
      </p:sp>
      <p:sp>
        <p:nvSpPr>
          <p:cNvPr id="1070" name="Google Shape;1070;p84"/>
          <p:cNvSpPr/>
          <p:nvPr/>
        </p:nvSpPr>
        <p:spPr>
          <a:xfrm>
            <a:off x="0" y="411163"/>
            <a:ext cx="9140825" cy="639762"/>
          </a:xfrm>
          <a:prstGeom prst="rect">
            <a:avLst/>
          </a:prstGeom>
          <a:solidFill>
            <a:srgbClr val="A50021"/>
          </a:solidFill>
          <a:ln cap="sq" cmpd="sng" w="12700">
            <a:solidFill>
              <a:srgbClr val="A5002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2800">
              <a:solidFill>
                <a:schemeClr val="lt1"/>
              </a:solidFill>
              <a:latin typeface="Arial"/>
              <a:ea typeface="Arial"/>
              <a:cs typeface="Arial"/>
              <a:sym typeface="Arial"/>
            </a:endParaRPr>
          </a:p>
        </p:txBody>
      </p:sp>
      <p:sp>
        <p:nvSpPr>
          <p:cNvPr id="1071" name="Google Shape;1071;p84"/>
          <p:cNvSpPr/>
          <p:nvPr/>
        </p:nvSpPr>
        <p:spPr>
          <a:xfrm>
            <a:off x="0" y="1016000"/>
            <a:ext cx="9144000" cy="128588"/>
          </a:xfrm>
          <a:prstGeom prst="rect">
            <a:avLst/>
          </a:prstGeom>
          <a:solidFill>
            <a:srgbClr val="ADADA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2800">
              <a:solidFill>
                <a:schemeClr val="lt1"/>
              </a:solidFill>
              <a:latin typeface="Arial"/>
              <a:ea typeface="Arial"/>
              <a:cs typeface="Arial"/>
              <a:sym typeface="Arial"/>
            </a:endParaRPr>
          </a:p>
        </p:txBody>
      </p:sp>
      <p:pic>
        <p:nvPicPr>
          <p:cNvPr id="1072" name="Google Shape;1072;p84"/>
          <p:cNvPicPr preferRelativeResize="0"/>
          <p:nvPr/>
        </p:nvPicPr>
        <p:blipFill rotWithShape="1">
          <a:blip r:embed="rId3">
            <a:alphaModFix/>
          </a:blip>
          <a:srcRect b="0" l="0" r="0" t="0"/>
          <a:stretch/>
        </p:blipFill>
        <p:spPr>
          <a:xfrm>
            <a:off x="838200" y="304800"/>
            <a:ext cx="895350" cy="895350"/>
          </a:xfrm>
          <a:prstGeom prst="rect">
            <a:avLst/>
          </a:prstGeom>
          <a:noFill/>
          <a:ln>
            <a:noFill/>
          </a:ln>
        </p:spPr>
      </p:pic>
      <p:sp>
        <p:nvSpPr>
          <p:cNvPr id="1073" name="Google Shape;1073;p84"/>
          <p:cNvSpPr txBox="1"/>
          <p:nvPr/>
        </p:nvSpPr>
        <p:spPr>
          <a:xfrm>
            <a:off x="1905000" y="414338"/>
            <a:ext cx="4114800" cy="582211"/>
          </a:xfrm>
          <a:prstGeom prst="rect">
            <a:avLst/>
          </a:prstGeom>
          <a:noFill/>
          <a:ln>
            <a:noFill/>
          </a:ln>
        </p:spPr>
        <p:txBody>
          <a:bodyPr anchorCtr="0" anchor="t" bIns="44450" lIns="90475" spcFirstLastPara="1" rIns="90475" wrap="square" tIns="44450">
            <a:spAutoFit/>
          </a:bodyPr>
          <a:lstStyle/>
          <a:p>
            <a:pPr indent="0" lvl="0" marL="114300" marR="0" rtl="0" algn="l">
              <a:spcBef>
                <a:spcPts val="0"/>
              </a:spcBef>
              <a:spcAft>
                <a:spcPts val="0"/>
              </a:spcAft>
              <a:buNone/>
            </a:pPr>
            <a:r>
              <a:rPr b="1" lang="en-US" sz="3200">
                <a:solidFill>
                  <a:schemeClr val="lt1"/>
                </a:solidFill>
                <a:latin typeface="Arial"/>
                <a:ea typeface="Arial"/>
                <a:cs typeface="Arial"/>
                <a:sym typeface="Arial"/>
              </a:rPr>
              <a:t>A Look at IFRS</a:t>
            </a:r>
            <a:endParaRPr/>
          </a:p>
        </p:txBody>
      </p:sp>
      <p:sp>
        <p:nvSpPr>
          <p:cNvPr id="1074" name="Google Shape;1074;p84"/>
          <p:cNvSpPr/>
          <p:nvPr/>
        </p:nvSpPr>
        <p:spPr>
          <a:xfrm>
            <a:off x="533400" y="1447800"/>
            <a:ext cx="4648200" cy="462307"/>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b="1" lang="en-US" sz="2400">
                <a:solidFill>
                  <a:schemeClr val="dk1"/>
                </a:solidFill>
                <a:latin typeface="Arial"/>
                <a:ea typeface="Arial"/>
                <a:cs typeface="Arial"/>
                <a:sym typeface="Arial"/>
              </a:rPr>
              <a:t>IFRS Practice</a:t>
            </a:r>
            <a:endParaRPr/>
          </a:p>
        </p:txBody>
      </p:sp>
      <p:sp>
        <p:nvSpPr>
          <p:cNvPr id="1075" name="Google Shape;1075;p84"/>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7</a:t>
            </a:r>
            <a:endParaRPr/>
          </a:p>
        </p:txBody>
      </p:sp>
      <p:sp>
        <p:nvSpPr>
          <p:cNvPr id="1076" name="Google Shape;1076;p84"/>
          <p:cNvSpPr/>
          <p:nvPr/>
        </p:nvSpPr>
        <p:spPr>
          <a:xfrm>
            <a:off x="152400" y="2496312"/>
            <a:ext cx="609600" cy="457200"/>
          </a:xfrm>
          <a:prstGeom prst="notchedRightArrow">
            <a:avLst>
              <a:gd fmla="val 50000" name="adj1"/>
              <a:gd fmla="val 50000" name="adj2"/>
            </a:avLst>
          </a:prstGeom>
          <a:solidFill>
            <a:srgbClr val="A50021"/>
          </a:solidFill>
          <a:ln cap="sq"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2400">
              <a:solidFill>
                <a:srgbClr val="730000"/>
              </a:solidFill>
              <a:latin typeface="Times New Roman"/>
              <a:ea typeface="Times New Roman"/>
              <a:cs typeface="Times New Roman"/>
              <a:sym typeface="Times New Roman"/>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6"/>
                                        </p:tgtEl>
                                        <p:attrNameLst>
                                          <p:attrName>style.visibility</p:attrName>
                                        </p:attrNameLst>
                                      </p:cBhvr>
                                      <p:to>
                                        <p:strVal val="visible"/>
                                      </p:to>
                                    </p:set>
                                    <p:animEffect filter="fade" transition="in">
                                      <p:cBhvr>
                                        <p:cTn dur="500"/>
                                        <p:tgtEl>
                                          <p:spTgt spid="10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0" name="Shape 1080"/>
        <p:cNvGrpSpPr/>
        <p:nvPr/>
      </p:nvGrpSpPr>
      <p:grpSpPr>
        <a:xfrm>
          <a:off x="0" y="0"/>
          <a:ext cx="0" cy="0"/>
          <a:chOff x="0" y="0"/>
          <a:chExt cx="0" cy="0"/>
        </a:xfrm>
      </p:grpSpPr>
      <p:sp>
        <p:nvSpPr>
          <p:cNvPr id="1081" name="Google Shape;1081;p85"/>
          <p:cNvSpPr/>
          <p:nvPr/>
        </p:nvSpPr>
        <p:spPr>
          <a:xfrm>
            <a:off x="533400" y="1984375"/>
            <a:ext cx="7848600" cy="2923877"/>
          </a:xfrm>
          <a:prstGeom prst="rect">
            <a:avLst/>
          </a:prstGeom>
          <a:noFill/>
          <a:ln>
            <a:noFill/>
          </a:ln>
        </p:spPr>
        <p:txBody>
          <a:bodyPr anchorCtr="0" anchor="t" bIns="45700" lIns="91425" spcFirstLastPara="1" rIns="91425" wrap="square" tIns="45700">
            <a:spAutoFit/>
          </a:bodyPr>
          <a:lstStyle/>
          <a:p>
            <a:pPr indent="-457200" lvl="0" marL="457200" marR="0" rtl="0" algn="l">
              <a:lnSpc>
                <a:spcPct val="120000"/>
              </a:lnSpc>
              <a:spcBef>
                <a:spcPts val="0"/>
              </a:spcBef>
              <a:spcAft>
                <a:spcPts val="0"/>
              </a:spcAft>
              <a:buNone/>
            </a:pPr>
            <a:r>
              <a:rPr b="0" lang="en-US" sz="2000">
                <a:solidFill>
                  <a:schemeClr val="dk1"/>
                </a:solidFill>
                <a:latin typeface="Arial"/>
                <a:ea typeface="Arial"/>
                <a:cs typeface="Arial"/>
                <a:sym typeface="Arial"/>
              </a:rPr>
              <a:t>Which of the following statements is </a:t>
            </a:r>
            <a:r>
              <a:rPr b="1" lang="en-US" sz="2000">
                <a:solidFill>
                  <a:schemeClr val="dk1"/>
                </a:solidFill>
                <a:latin typeface="Arial"/>
                <a:ea typeface="Arial"/>
                <a:cs typeface="Arial"/>
                <a:sym typeface="Arial"/>
              </a:rPr>
              <a:t>false</a:t>
            </a:r>
            <a:r>
              <a:rPr b="0" lang="en-US" sz="2000">
                <a:solidFill>
                  <a:schemeClr val="dk1"/>
                </a:solidFill>
                <a:latin typeface="Arial"/>
                <a:ea typeface="Arial"/>
                <a:cs typeface="Arial"/>
                <a:sym typeface="Arial"/>
              </a:rPr>
              <a:t>?</a:t>
            </a:r>
            <a:endParaRPr/>
          </a:p>
          <a:p>
            <a:pPr indent="-457200" lvl="1" marL="685800" marR="0" rtl="0" algn="l">
              <a:lnSpc>
                <a:spcPct val="120000"/>
              </a:lnSpc>
              <a:spcBef>
                <a:spcPts val="1000"/>
              </a:spcBef>
              <a:spcAft>
                <a:spcPts val="0"/>
              </a:spcAft>
              <a:buClr>
                <a:schemeClr val="dk1"/>
              </a:buClr>
              <a:buSzPts val="2000"/>
              <a:buFont typeface="Arial"/>
              <a:buAutoNum type="alphaLcPeriod"/>
            </a:pPr>
            <a:r>
              <a:rPr b="1" i="0" lang="en-US" sz="2000" u="none" cap="none" strike="noStrike">
                <a:solidFill>
                  <a:schemeClr val="dk1"/>
                </a:solidFill>
                <a:latin typeface="Arial"/>
                <a:ea typeface="Arial"/>
                <a:cs typeface="Arial"/>
                <a:sym typeface="Arial"/>
              </a:rPr>
              <a:t>IFRS</a:t>
            </a:r>
            <a:r>
              <a:rPr b="0" i="0" lang="en-US" sz="2000" u="none" cap="none" strike="noStrike">
                <a:solidFill>
                  <a:schemeClr val="dk1"/>
                </a:solidFill>
                <a:latin typeface="Arial"/>
                <a:ea typeface="Arial"/>
                <a:cs typeface="Arial"/>
                <a:sym typeface="Arial"/>
              </a:rPr>
              <a:t> employs the periodicity assumption.</a:t>
            </a:r>
            <a:endParaRPr/>
          </a:p>
          <a:p>
            <a:pPr indent="-457200" lvl="1" marL="685800" marR="0" rtl="0" algn="l">
              <a:lnSpc>
                <a:spcPct val="120000"/>
              </a:lnSpc>
              <a:spcBef>
                <a:spcPts val="1000"/>
              </a:spcBef>
              <a:spcAft>
                <a:spcPts val="0"/>
              </a:spcAft>
              <a:buClr>
                <a:schemeClr val="dk1"/>
              </a:buClr>
              <a:buSzPts val="2000"/>
              <a:buFont typeface="Arial"/>
              <a:buAutoNum type="alphaLcPeriod"/>
            </a:pPr>
            <a:r>
              <a:rPr b="1" i="0" lang="en-US" sz="2000" u="none" cap="none" strike="noStrike">
                <a:solidFill>
                  <a:schemeClr val="dk1"/>
                </a:solidFill>
                <a:latin typeface="Arial"/>
                <a:ea typeface="Arial"/>
                <a:cs typeface="Arial"/>
                <a:sym typeface="Arial"/>
              </a:rPr>
              <a:t>IFRS</a:t>
            </a:r>
            <a:r>
              <a:rPr b="0" i="0" lang="en-US" sz="2000" u="none" cap="none" strike="noStrike">
                <a:solidFill>
                  <a:schemeClr val="dk1"/>
                </a:solidFill>
                <a:latin typeface="Arial"/>
                <a:ea typeface="Arial"/>
                <a:cs typeface="Arial"/>
                <a:sym typeface="Arial"/>
              </a:rPr>
              <a:t> employs accrual accounting.</a:t>
            </a:r>
            <a:endParaRPr/>
          </a:p>
          <a:p>
            <a:pPr indent="-457200" lvl="1" marL="685800" marR="0" rtl="0" algn="l">
              <a:lnSpc>
                <a:spcPct val="120000"/>
              </a:lnSpc>
              <a:spcBef>
                <a:spcPts val="1000"/>
              </a:spcBef>
              <a:spcAft>
                <a:spcPts val="0"/>
              </a:spcAft>
              <a:buClr>
                <a:schemeClr val="dk1"/>
              </a:buClr>
              <a:buSzPts val="2000"/>
              <a:buFont typeface="Arial"/>
              <a:buAutoNum type="alphaLcPeriod"/>
            </a:pPr>
            <a:r>
              <a:rPr b="1" i="0" lang="en-US" sz="2000" u="none" cap="none" strike="noStrike">
                <a:solidFill>
                  <a:schemeClr val="dk1"/>
                </a:solidFill>
                <a:latin typeface="Arial"/>
                <a:ea typeface="Arial"/>
                <a:cs typeface="Arial"/>
                <a:sym typeface="Arial"/>
              </a:rPr>
              <a:t>IFRS</a:t>
            </a:r>
            <a:r>
              <a:rPr b="0" i="0" lang="en-US" sz="2000" u="none" cap="none" strike="noStrike">
                <a:solidFill>
                  <a:schemeClr val="dk1"/>
                </a:solidFill>
                <a:latin typeface="Arial"/>
                <a:ea typeface="Arial"/>
                <a:cs typeface="Arial"/>
                <a:sym typeface="Arial"/>
              </a:rPr>
              <a:t> requires that revenues and costs must be capable of being measured reliably.</a:t>
            </a:r>
            <a:endParaRPr/>
          </a:p>
          <a:p>
            <a:pPr indent="-457200" lvl="1" marL="685800" marR="0" rtl="0" algn="l">
              <a:lnSpc>
                <a:spcPct val="120000"/>
              </a:lnSpc>
              <a:spcBef>
                <a:spcPts val="1000"/>
              </a:spcBef>
              <a:spcAft>
                <a:spcPts val="0"/>
              </a:spcAft>
              <a:buClr>
                <a:schemeClr val="dk1"/>
              </a:buClr>
              <a:buSzPts val="2000"/>
              <a:buFont typeface="Arial"/>
              <a:buAutoNum type="alphaLcPeriod"/>
            </a:pPr>
            <a:r>
              <a:rPr b="1" i="0" lang="en-US" sz="2000" u="none" cap="none" strike="noStrike">
                <a:solidFill>
                  <a:schemeClr val="dk1"/>
                </a:solidFill>
                <a:latin typeface="Arial"/>
                <a:ea typeface="Arial"/>
                <a:cs typeface="Arial"/>
                <a:sym typeface="Arial"/>
              </a:rPr>
              <a:t>IFRS</a:t>
            </a:r>
            <a:r>
              <a:rPr b="0" i="0" lang="en-US" sz="2000" u="none" cap="none" strike="noStrike">
                <a:solidFill>
                  <a:schemeClr val="dk1"/>
                </a:solidFill>
                <a:latin typeface="Arial"/>
                <a:ea typeface="Arial"/>
                <a:cs typeface="Arial"/>
                <a:sym typeface="Arial"/>
              </a:rPr>
              <a:t> uses the cash basis of accounting.</a:t>
            </a:r>
            <a:endParaRPr/>
          </a:p>
        </p:txBody>
      </p:sp>
      <p:sp>
        <p:nvSpPr>
          <p:cNvPr id="1082" name="Google Shape;1082;p85"/>
          <p:cNvSpPr/>
          <p:nvPr/>
        </p:nvSpPr>
        <p:spPr>
          <a:xfrm>
            <a:off x="0" y="411163"/>
            <a:ext cx="9140825" cy="639762"/>
          </a:xfrm>
          <a:prstGeom prst="rect">
            <a:avLst/>
          </a:prstGeom>
          <a:solidFill>
            <a:srgbClr val="A50021"/>
          </a:solidFill>
          <a:ln cap="sq" cmpd="sng" w="12700">
            <a:solidFill>
              <a:srgbClr val="A5002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2800">
              <a:solidFill>
                <a:schemeClr val="lt1"/>
              </a:solidFill>
              <a:latin typeface="Arial"/>
              <a:ea typeface="Arial"/>
              <a:cs typeface="Arial"/>
              <a:sym typeface="Arial"/>
            </a:endParaRPr>
          </a:p>
        </p:txBody>
      </p:sp>
      <p:sp>
        <p:nvSpPr>
          <p:cNvPr id="1083" name="Google Shape;1083;p85"/>
          <p:cNvSpPr/>
          <p:nvPr/>
        </p:nvSpPr>
        <p:spPr>
          <a:xfrm>
            <a:off x="0" y="1016000"/>
            <a:ext cx="9144000" cy="128588"/>
          </a:xfrm>
          <a:prstGeom prst="rect">
            <a:avLst/>
          </a:prstGeom>
          <a:solidFill>
            <a:srgbClr val="ADADA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2800">
              <a:solidFill>
                <a:schemeClr val="lt1"/>
              </a:solidFill>
              <a:latin typeface="Arial"/>
              <a:ea typeface="Arial"/>
              <a:cs typeface="Arial"/>
              <a:sym typeface="Arial"/>
            </a:endParaRPr>
          </a:p>
        </p:txBody>
      </p:sp>
      <p:pic>
        <p:nvPicPr>
          <p:cNvPr id="1084" name="Google Shape;1084;p85"/>
          <p:cNvPicPr preferRelativeResize="0"/>
          <p:nvPr/>
        </p:nvPicPr>
        <p:blipFill rotWithShape="1">
          <a:blip r:embed="rId3">
            <a:alphaModFix/>
          </a:blip>
          <a:srcRect b="0" l="0" r="0" t="0"/>
          <a:stretch/>
        </p:blipFill>
        <p:spPr>
          <a:xfrm>
            <a:off x="838200" y="304800"/>
            <a:ext cx="895350" cy="895350"/>
          </a:xfrm>
          <a:prstGeom prst="rect">
            <a:avLst/>
          </a:prstGeom>
          <a:noFill/>
          <a:ln>
            <a:noFill/>
          </a:ln>
        </p:spPr>
      </p:pic>
      <p:sp>
        <p:nvSpPr>
          <p:cNvPr id="1085" name="Google Shape;1085;p85"/>
          <p:cNvSpPr txBox="1"/>
          <p:nvPr/>
        </p:nvSpPr>
        <p:spPr>
          <a:xfrm>
            <a:off x="1905000" y="414338"/>
            <a:ext cx="4114800" cy="582211"/>
          </a:xfrm>
          <a:prstGeom prst="rect">
            <a:avLst/>
          </a:prstGeom>
          <a:noFill/>
          <a:ln>
            <a:noFill/>
          </a:ln>
        </p:spPr>
        <p:txBody>
          <a:bodyPr anchorCtr="0" anchor="t" bIns="44450" lIns="90475" spcFirstLastPara="1" rIns="90475" wrap="square" tIns="44450">
            <a:spAutoFit/>
          </a:bodyPr>
          <a:lstStyle/>
          <a:p>
            <a:pPr indent="0" lvl="0" marL="114300" marR="0" rtl="0" algn="l">
              <a:spcBef>
                <a:spcPts val="0"/>
              </a:spcBef>
              <a:spcAft>
                <a:spcPts val="0"/>
              </a:spcAft>
              <a:buNone/>
            </a:pPr>
            <a:r>
              <a:rPr b="1" lang="en-US" sz="3200">
                <a:solidFill>
                  <a:schemeClr val="lt1"/>
                </a:solidFill>
                <a:latin typeface="Arial"/>
                <a:ea typeface="Arial"/>
                <a:cs typeface="Arial"/>
                <a:sym typeface="Arial"/>
              </a:rPr>
              <a:t>A Look at IFRS</a:t>
            </a:r>
            <a:endParaRPr/>
          </a:p>
        </p:txBody>
      </p:sp>
      <p:sp>
        <p:nvSpPr>
          <p:cNvPr id="1086" name="Google Shape;1086;p85"/>
          <p:cNvSpPr/>
          <p:nvPr/>
        </p:nvSpPr>
        <p:spPr>
          <a:xfrm>
            <a:off x="533400" y="1447800"/>
            <a:ext cx="4648200" cy="462307"/>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b="1" lang="en-US" sz="2400">
                <a:solidFill>
                  <a:schemeClr val="dk1"/>
                </a:solidFill>
                <a:latin typeface="Arial"/>
                <a:ea typeface="Arial"/>
                <a:cs typeface="Arial"/>
                <a:sym typeface="Arial"/>
              </a:rPr>
              <a:t>IFRS Practice</a:t>
            </a:r>
            <a:endParaRPr/>
          </a:p>
        </p:txBody>
      </p:sp>
      <p:sp>
        <p:nvSpPr>
          <p:cNvPr id="1087" name="Google Shape;1087;p85"/>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7</a:t>
            </a:r>
            <a:endParaRPr/>
          </a:p>
        </p:txBody>
      </p:sp>
      <p:sp>
        <p:nvSpPr>
          <p:cNvPr id="1088" name="Google Shape;1088;p85"/>
          <p:cNvSpPr/>
          <p:nvPr/>
        </p:nvSpPr>
        <p:spPr>
          <a:xfrm>
            <a:off x="152400" y="4419600"/>
            <a:ext cx="609600" cy="457200"/>
          </a:xfrm>
          <a:prstGeom prst="notchedRightArrow">
            <a:avLst>
              <a:gd fmla="val 50000" name="adj1"/>
              <a:gd fmla="val 50000" name="adj2"/>
            </a:avLst>
          </a:prstGeom>
          <a:solidFill>
            <a:srgbClr val="A50021"/>
          </a:solidFill>
          <a:ln cap="sq"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2400">
              <a:solidFill>
                <a:srgbClr val="730000"/>
              </a:solidFill>
              <a:latin typeface="Times New Roman"/>
              <a:ea typeface="Times New Roman"/>
              <a:cs typeface="Times New Roman"/>
              <a:sym typeface="Times New Roman"/>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8"/>
                                        </p:tgtEl>
                                        <p:attrNameLst>
                                          <p:attrName>style.visibility</p:attrName>
                                        </p:attrNameLst>
                                      </p:cBhvr>
                                      <p:to>
                                        <p:strVal val="visible"/>
                                      </p:to>
                                    </p:set>
                                    <p:animEffect filter="fade" transition="in">
                                      <p:cBhvr>
                                        <p:cTn dur="500"/>
                                        <p:tgtEl>
                                          <p:spTgt spid="10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p86"/>
          <p:cNvSpPr/>
          <p:nvPr/>
        </p:nvSpPr>
        <p:spPr>
          <a:xfrm>
            <a:off x="533400" y="1971675"/>
            <a:ext cx="7848600" cy="440120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0" lang="en-US" sz="2000">
                <a:solidFill>
                  <a:schemeClr val="dk1"/>
                </a:solidFill>
                <a:latin typeface="Arial"/>
                <a:ea typeface="Arial"/>
                <a:cs typeface="Arial"/>
                <a:sym typeface="Arial"/>
              </a:rPr>
              <a:t>As a result of the revenue recognition project being undertaken by the </a:t>
            </a:r>
            <a:r>
              <a:rPr b="1" lang="en-US" sz="2000">
                <a:solidFill>
                  <a:schemeClr val="dk1"/>
                </a:solidFill>
                <a:latin typeface="Arial"/>
                <a:ea typeface="Arial"/>
                <a:cs typeface="Arial"/>
                <a:sym typeface="Arial"/>
              </a:rPr>
              <a:t>FASB</a:t>
            </a:r>
            <a:r>
              <a:rPr b="0" lang="en-US" sz="2000">
                <a:solidFill>
                  <a:schemeClr val="dk1"/>
                </a:solidFill>
                <a:latin typeface="Arial"/>
                <a:ea typeface="Arial"/>
                <a:cs typeface="Arial"/>
                <a:sym typeface="Arial"/>
              </a:rPr>
              <a:t> and </a:t>
            </a:r>
            <a:r>
              <a:rPr b="1" lang="en-US" sz="2000">
                <a:solidFill>
                  <a:schemeClr val="dk1"/>
                </a:solidFill>
                <a:latin typeface="Arial"/>
                <a:ea typeface="Arial"/>
                <a:cs typeface="Arial"/>
                <a:sym typeface="Arial"/>
              </a:rPr>
              <a:t>IASB</a:t>
            </a:r>
            <a:r>
              <a:rPr b="0" lang="en-US" sz="2000">
                <a:solidFill>
                  <a:schemeClr val="dk1"/>
                </a:solidFill>
                <a:latin typeface="Arial"/>
                <a:ea typeface="Arial"/>
                <a:cs typeface="Arial"/>
                <a:sym typeface="Arial"/>
              </a:rPr>
              <a:t>:</a:t>
            </a:r>
            <a:endParaRPr/>
          </a:p>
          <a:p>
            <a:pPr indent="-457200" lvl="1" marL="685800" marR="0" rtl="0" algn="l">
              <a:lnSpc>
                <a:spcPct val="120000"/>
              </a:lnSpc>
              <a:spcBef>
                <a:spcPts val="1000"/>
              </a:spcBef>
              <a:spcAft>
                <a:spcPts val="0"/>
              </a:spcAft>
              <a:buClr>
                <a:schemeClr val="dk1"/>
              </a:buClr>
              <a:buSzPts val="2000"/>
              <a:buFont typeface="Arial"/>
              <a:buAutoNum type="alphaLcPeriod"/>
            </a:pPr>
            <a:r>
              <a:rPr b="0" i="0" lang="en-US" sz="2000" u="none" cap="none" strike="noStrike">
                <a:solidFill>
                  <a:schemeClr val="dk1"/>
                </a:solidFill>
                <a:latin typeface="Arial"/>
                <a:ea typeface="Arial"/>
                <a:cs typeface="Arial"/>
                <a:sym typeface="Arial"/>
              </a:rPr>
              <a:t>revenue recognition places more emphasis on when the performance obligation is satisfied.</a:t>
            </a:r>
            <a:endParaRPr/>
          </a:p>
          <a:p>
            <a:pPr indent="-457200" lvl="1" marL="685800" marR="0" rtl="0" algn="l">
              <a:lnSpc>
                <a:spcPct val="120000"/>
              </a:lnSpc>
              <a:spcBef>
                <a:spcPts val="1000"/>
              </a:spcBef>
              <a:spcAft>
                <a:spcPts val="0"/>
              </a:spcAft>
              <a:buClr>
                <a:schemeClr val="dk1"/>
              </a:buClr>
              <a:buSzPts val="2000"/>
              <a:buFont typeface="Arial"/>
              <a:buAutoNum type="alphaLcPeriod"/>
            </a:pPr>
            <a:r>
              <a:rPr b="0" i="0" lang="en-US" sz="2000" u="none" cap="none" strike="noStrike">
                <a:solidFill>
                  <a:schemeClr val="dk1"/>
                </a:solidFill>
                <a:latin typeface="Arial"/>
                <a:ea typeface="Arial"/>
                <a:cs typeface="Arial"/>
                <a:sym typeface="Arial"/>
              </a:rPr>
              <a:t>revenue recognition places more emphasis on when revenue is realized.</a:t>
            </a:r>
            <a:endParaRPr/>
          </a:p>
          <a:p>
            <a:pPr indent="-457200" lvl="1" marL="685800" marR="0" rtl="0" algn="l">
              <a:lnSpc>
                <a:spcPct val="120000"/>
              </a:lnSpc>
              <a:spcBef>
                <a:spcPts val="1000"/>
              </a:spcBef>
              <a:spcAft>
                <a:spcPts val="0"/>
              </a:spcAft>
              <a:buClr>
                <a:schemeClr val="dk1"/>
              </a:buClr>
              <a:buSzPts val="2000"/>
              <a:buFont typeface="Arial"/>
              <a:buAutoNum type="alphaLcPeriod"/>
            </a:pPr>
            <a:r>
              <a:rPr b="0" i="0" lang="en-US" sz="2000" u="none" cap="none" strike="noStrike">
                <a:solidFill>
                  <a:schemeClr val="dk1"/>
                </a:solidFill>
                <a:latin typeface="Arial"/>
                <a:ea typeface="Arial"/>
                <a:cs typeface="Arial"/>
                <a:sym typeface="Arial"/>
              </a:rPr>
              <a:t>revenue recognition places more emphasis on when expenses are incurred.</a:t>
            </a:r>
            <a:endParaRPr/>
          </a:p>
          <a:p>
            <a:pPr indent="-457200" lvl="1" marL="685800" marR="0" rtl="0" algn="l">
              <a:lnSpc>
                <a:spcPct val="120000"/>
              </a:lnSpc>
              <a:spcBef>
                <a:spcPts val="1000"/>
              </a:spcBef>
              <a:spcAft>
                <a:spcPts val="0"/>
              </a:spcAft>
              <a:buClr>
                <a:schemeClr val="dk1"/>
              </a:buClr>
              <a:buSzPts val="2000"/>
              <a:buFont typeface="Arial"/>
              <a:buAutoNum type="alphaLcPeriod"/>
            </a:pPr>
            <a:r>
              <a:rPr b="0" i="0" lang="en-US" sz="2000" u="none" cap="none" strike="noStrike">
                <a:solidFill>
                  <a:schemeClr val="dk1"/>
                </a:solidFill>
                <a:latin typeface="Arial"/>
                <a:ea typeface="Arial"/>
                <a:cs typeface="Arial"/>
                <a:sym typeface="Arial"/>
              </a:rPr>
              <a:t>revenue is no longer recorded unless cash has been received.</a:t>
            </a:r>
            <a:endParaRPr/>
          </a:p>
        </p:txBody>
      </p:sp>
      <p:sp>
        <p:nvSpPr>
          <p:cNvPr id="1094" name="Google Shape;1094;p86"/>
          <p:cNvSpPr/>
          <p:nvPr/>
        </p:nvSpPr>
        <p:spPr>
          <a:xfrm>
            <a:off x="0" y="411163"/>
            <a:ext cx="9140825" cy="639762"/>
          </a:xfrm>
          <a:prstGeom prst="rect">
            <a:avLst/>
          </a:prstGeom>
          <a:solidFill>
            <a:srgbClr val="A50021"/>
          </a:solidFill>
          <a:ln cap="sq" cmpd="sng" w="12700">
            <a:solidFill>
              <a:srgbClr val="A5002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2800">
              <a:solidFill>
                <a:schemeClr val="lt1"/>
              </a:solidFill>
              <a:latin typeface="Arial"/>
              <a:ea typeface="Arial"/>
              <a:cs typeface="Arial"/>
              <a:sym typeface="Arial"/>
            </a:endParaRPr>
          </a:p>
        </p:txBody>
      </p:sp>
      <p:sp>
        <p:nvSpPr>
          <p:cNvPr id="1095" name="Google Shape;1095;p86"/>
          <p:cNvSpPr/>
          <p:nvPr/>
        </p:nvSpPr>
        <p:spPr>
          <a:xfrm>
            <a:off x="0" y="1016000"/>
            <a:ext cx="9144000" cy="128588"/>
          </a:xfrm>
          <a:prstGeom prst="rect">
            <a:avLst/>
          </a:prstGeom>
          <a:solidFill>
            <a:srgbClr val="ADADA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2800">
              <a:solidFill>
                <a:schemeClr val="lt1"/>
              </a:solidFill>
              <a:latin typeface="Arial"/>
              <a:ea typeface="Arial"/>
              <a:cs typeface="Arial"/>
              <a:sym typeface="Arial"/>
            </a:endParaRPr>
          </a:p>
        </p:txBody>
      </p:sp>
      <p:pic>
        <p:nvPicPr>
          <p:cNvPr id="1096" name="Google Shape;1096;p86"/>
          <p:cNvPicPr preferRelativeResize="0"/>
          <p:nvPr/>
        </p:nvPicPr>
        <p:blipFill rotWithShape="1">
          <a:blip r:embed="rId3">
            <a:alphaModFix/>
          </a:blip>
          <a:srcRect b="0" l="0" r="0" t="0"/>
          <a:stretch/>
        </p:blipFill>
        <p:spPr>
          <a:xfrm>
            <a:off x="838200" y="304800"/>
            <a:ext cx="895350" cy="895350"/>
          </a:xfrm>
          <a:prstGeom prst="rect">
            <a:avLst/>
          </a:prstGeom>
          <a:noFill/>
          <a:ln>
            <a:noFill/>
          </a:ln>
        </p:spPr>
      </p:pic>
      <p:sp>
        <p:nvSpPr>
          <p:cNvPr id="1097" name="Google Shape;1097;p86"/>
          <p:cNvSpPr txBox="1"/>
          <p:nvPr/>
        </p:nvSpPr>
        <p:spPr>
          <a:xfrm>
            <a:off x="1905000" y="414338"/>
            <a:ext cx="4114800" cy="582211"/>
          </a:xfrm>
          <a:prstGeom prst="rect">
            <a:avLst/>
          </a:prstGeom>
          <a:noFill/>
          <a:ln>
            <a:noFill/>
          </a:ln>
        </p:spPr>
        <p:txBody>
          <a:bodyPr anchorCtr="0" anchor="t" bIns="44450" lIns="90475" spcFirstLastPara="1" rIns="90475" wrap="square" tIns="44450">
            <a:spAutoFit/>
          </a:bodyPr>
          <a:lstStyle/>
          <a:p>
            <a:pPr indent="0" lvl="0" marL="114300" marR="0" rtl="0" algn="l">
              <a:spcBef>
                <a:spcPts val="0"/>
              </a:spcBef>
              <a:spcAft>
                <a:spcPts val="0"/>
              </a:spcAft>
              <a:buNone/>
            </a:pPr>
            <a:r>
              <a:rPr b="1" lang="en-US" sz="3200">
                <a:solidFill>
                  <a:schemeClr val="lt1"/>
                </a:solidFill>
                <a:latin typeface="Arial"/>
                <a:ea typeface="Arial"/>
                <a:cs typeface="Arial"/>
                <a:sym typeface="Arial"/>
              </a:rPr>
              <a:t>A Look at IFRS</a:t>
            </a:r>
            <a:endParaRPr/>
          </a:p>
        </p:txBody>
      </p:sp>
      <p:sp>
        <p:nvSpPr>
          <p:cNvPr id="1098" name="Google Shape;1098;p86"/>
          <p:cNvSpPr/>
          <p:nvPr/>
        </p:nvSpPr>
        <p:spPr>
          <a:xfrm>
            <a:off x="533400" y="1447800"/>
            <a:ext cx="4648200" cy="462307"/>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b="1" lang="en-US" sz="2400">
                <a:solidFill>
                  <a:schemeClr val="dk1"/>
                </a:solidFill>
                <a:latin typeface="Arial"/>
                <a:ea typeface="Arial"/>
                <a:cs typeface="Arial"/>
                <a:sym typeface="Arial"/>
              </a:rPr>
              <a:t>IFRS Practice</a:t>
            </a:r>
            <a:endParaRPr/>
          </a:p>
        </p:txBody>
      </p:sp>
      <p:sp>
        <p:nvSpPr>
          <p:cNvPr id="1099" name="Google Shape;1099;p86"/>
          <p:cNvSpPr txBox="1"/>
          <p:nvPr/>
        </p:nvSpPr>
        <p:spPr>
          <a:xfrm>
            <a:off x="8077200" y="636905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lt2"/>
                </a:solidFill>
                <a:latin typeface="Arial"/>
                <a:ea typeface="Arial"/>
                <a:cs typeface="Arial"/>
                <a:sym typeface="Arial"/>
              </a:rPr>
              <a:t>LO 7</a:t>
            </a:r>
            <a:endParaRPr/>
          </a:p>
        </p:txBody>
      </p:sp>
      <p:sp>
        <p:nvSpPr>
          <p:cNvPr id="1100" name="Google Shape;1100;p86"/>
          <p:cNvSpPr/>
          <p:nvPr/>
        </p:nvSpPr>
        <p:spPr>
          <a:xfrm>
            <a:off x="152400" y="2895600"/>
            <a:ext cx="609600" cy="457200"/>
          </a:xfrm>
          <a:prstGeom prst="notchedRightArrow">
            <a:avLst>
              <a:gd fmla="val 50000" name="adj1"/>
              <a:gd fmla="val 50000" name="adj2"/>
            </a:avLst>
          </a:prstGeom>
          <a:solidFill>
            <a:srgbClr val="A50021"/>
          </a:solidFill>
          <a:ln cap="sq"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2400">
              <a:solidFill>
                <a:srgbClr val="730000"/>
              </a:solidFill>
              <a:latin typeface="Times New Roman"/>
              <a:ea typeface="Times New Roman"/>
              <a:cs typeface="Times New Roman"/>
              <a:sym typeface="Times New Roman"/>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0"/>
                                        </p:tgtEl>
                                        <p:attrNameLst>
                                          <p:attrName>style.visibility</p:attrName>
                                        </p:attrNameLst>
                                      </p:cBhvr>
                                      <p:to>
                                        <p:strVal val="visible"/>
                                      </p:to>
                                    </p:set>
                                    <p:animEffect filter="fade" transition="in">
                                      <p:cBhvr>
                                        <p:cTn dur="500"/>
                                        <p:tgtEl>
                                          <p:spTgt spid="11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4" name="Shape 1104"/>
        <p:cNvGrpSpPr/>
        <p:nvPr/>
      </p:nvGrpSpPr>
      <p:grpSpPr>
        <a:xfrm>
          <a:off x="0" y="0"/>
          <a:ext cx="0" cy="0"/>
          <a:chOff x="0" y="0"/>
          <a:chExt cx="0" cy="0"/>
        </a:xfrm>
      </p:grpSpPr>
      <p:sp>
        <p:nvSpPr>
          <p:cNvPr id="1105" name="Google Shape;1105;p87"/>
          <p:cNvSpPr/>
          <p:nvPr/>
        </p:nvSpPr>
        <p:spPr>
          <a:xfrm>
            <a:off x="838200" y="1295400"/>
            <a:ext cx="7772400" cy="4060825"/>
          </a:xfrm>
          <a:prstGeom prst="rect">
            <a:avLst/>
          </a:prstGeom>
          <a:noFill/>
          <a:ln>
            <a:noFill/>
          </a:ln>
        </p:spPr>
        <p:txBody>
          <a:bodyPr anchorCtr="0" anchor="t" bIns="46025" lIns="92075" spcFirstLastPara="1" rIns="92075" wrap="square" tIns="46025">
            <a:spAutoFit/>
          </a:bodyPr>
          <a:lstStyle/>
          <a:p>
            <a:pPr indent="0" lvl="0" marL="0" marR="0" rtl="0" algn="l">
              <a:lnSpc>
                <a:spcPct val="130000"/>
              </a:lnSpc>
              <a:spcBef>
                <a:spcPts val="0"/>
              </a:spcBef>
              <a:spcAft>
                <a:spcPts val="0"/>
              </a:spcAft>
              <a:buNone/>
            </a:pPr>
            <a:r>
              <a:rPr b="0" lang="en-US" sz="2000">
                <a:solidFill>
                  <a:schemeClr val="dk1"/>
                </a:solidFill>
                <a:latin typeface="Arial"/>
                <a:ea typeface="Arial"/>
                <a:cs typeface="Arial"/>
                <a:sym typeface="Arial"/>
              </a:rPr>
              <a:t>“Copyright © 2015 John Wiley &amp; Sons, Inc. All rights reserved. Reproduction or translation of this work beyond that permitted in Section 117 of the 1976 United States Copyright Act without the express written permission of the copyright owner is unlawful. Request for further information should be addressed to the Permissions Department, John Wiley &amp; Sons, Inc. The purchaser may make back-up copies for his/her own use only and not for distribution or resale. The Publisher assumes no responsibility for errors, omissions, or damages, caused by the use of these programs or from the use of the information contained herein.”</a:t>
            </a:r>
            <a:endParaRPr/>
          </a:p>
        </p:txBody>
      </p:sp>
      <p:sp>
        <p:nvSpPr>
          <p:cNvPr id="1106" name="Google Shape;1106;p87"/>
          <p:cNvSpPr/>
          <p:nvPr/>
        </p:nvSpPr>
        <p:spPr>
          <a:xfrm>
            <a:off x="457200" y="381000"/>
            <a:ext cx="8229600" cy="560388"/>
          </a:xfrm>
          <a:prstGeom prst="rect">
            <a:avLst/>
          </a:prstGeom>
          <a:noFill/>
          <a:ln>
            <a:noFill/>
          </a:ln>
        </p:spPr>
        <p:txBody>
          <a:bodyPr anchorCtr="0" anchor="t" bIns="44450" lIns="90475" spcFirstLastPara="1" rIns="90475" wrap="square" tIns="44450">
            <a:noAutofit/>
          </a:bodyPr>
          <a:lstStyle/>
          <a:p>
            <a:pPr indent="0" lvl="0" marL="0" marR="0" rtl="0" algn="ctr">
              <a:spcBef>
                <a:spcPts val="0"/>
              </a:spcBef>
              <a:spcAft>
                <a:spcPts val="0"/>
              </a:spcAft>
              <a:buNone/>
            </a:pPr>
            <a:r>
              <a:rPr b="1" lang="en-US" sz="3000">
                <a:solidFill>
                  <a:srgbClr val="0000BF"/>
                </a:solidFill>
                <a:latin typeface="Arial"/>
                <a:ea typeface="Arial"/>
                <a:cs typeface="Arial"/>
                <a:sym typeface="Arial"/>
              </a:rPr>
              <a:t>Copyright</a:t>
            </a:r>
            <a:endParaRPr/>
          </a:p>
        </p:txBody>
      </p:sp>
      <p:cxnSp>
        <p:nvCxnSpPr>
          <p:cNvPr id="1107" name="Google Shape;1107;p87"/>
          <p:cNvCxnSpPr/>
          <p:nvPr/>
        </p:nvCxnSpPr>
        <p:spPr>
          <a:xfrm>
            <a:off x="304800" y="990600"/>
            <a:ext cx="8534400" cy="0"/>
          </a:xfrm>
          <a:prstGeom prst="straightConnector1">
            <a:avLst/>
          </a:prstGeom>
          <a:noFill/>
          <a:ln cap="sq" cmpd="sng" w="57150">
            <a:solidFill>
              <a:srgbClr val="800000"/>
            </a:solidFill>
            <a:prstDash val="solid"/>
            <a:round/>
            <a:headEnd len="sm" w="sm" type="none"/>
            <a:tailEnd len="sm" w="sm" type="none"/>
          </a:ln>
        </p:spPr>
      </p:cxnSp>
    </p:spTree>
  </p:cSld>
  <p:clrMapOvr>
    <a:masterClrMapping/>
  </p:clrMapOvr>
  <p:transition>
    <p:wipe dir="r"/>
  </p:transition>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vnglnc">
  <a:themeElements>
    <a:clrScheme name="">
      <a:dk1>
        <a:srgbClr val="000000"/>
      </a:dk1>
      <a:lt1>
        <a:srgbClr val="FFFFFF"/>
      </a:lt1>
      <a:dk2>
        <a:srgbClr val="0000FF"/>
      </a:dk2>
      <a:lt2>
        <a:srgbClr val="000000"/>
      </a:lt2>
      <a:accent1>
        <a:srgbClr val="00FFFF"/>
      </a:accent1>
      <a:accent2>
        <a:srgbClr val="FF0000"/>
      </a:accent2>
      <a:accent3>
        <a:srgbClr val="FFFFFF"/>
      </a:accent3>
      <a:accent4>
        <a:srgbClr val="000000"/>
      </a:accent4>
      <a:accent5>
        <a:srgbClr val="AAFFFF"/>
      </a:accent5>
      <a:accent6>
        <a:srgbClr val="E70000"/>
      </a:accent6>
      <a:hlink>
        <a:srgbClr val="000099"/>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ovnglnc">
  <a:themeElements>
    <a:clrScheme name="">
      <a:dk1>
        <a:srgbClr val="000000"/>
      </a:dk1>
      <a:lt1>
        <a:srgbClr val="FFFFFF"/>
      </a:lt1>
      <a:dk2>
        <a:srgbClr val="0000FF"/>
      </a:dk2>
      <a:lt2>
        <a:srgbClr val="000000"/>
      </a:lt2>
      <a:accent1>
        <a:srgbClr val="000000"/>
      </a:accent1>
      <a:accent2>
        <a:srgbClr val="FF0000"/>
      </a:accent2>
      <a:accent3>
        <a:srgbClr val="FFFFFF"/>
      </a:accent3>
      <a:accent4>
        <a:srgbClr val="000000"/>
      </a:accent4>
      <a:accent5>
        <a:srgbClr val="AAAAAA"/>
      </a:accent5>
      <a:accent6>
        <a:srgbClr val="E70000"/>
      </a:accent6>
      <a:hlink>
        <a:srgbClr val="00FF00"/>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1997-03-28T18:03:02Z</dcterms:created>
  <dc:creator>Coby Harmon</dc:creator>
</cp:coreProperties>
</file>