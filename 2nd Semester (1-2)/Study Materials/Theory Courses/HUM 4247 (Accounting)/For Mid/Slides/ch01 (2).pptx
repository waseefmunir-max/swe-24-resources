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Lst>
  <p:sldSz cy="6858000" cx="9144000"/>
  <p:notesSz cx="7004050" cy="929005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2D200454-40CA-4A62-9FC3-DE9A4176ACB9}">
      <p15:notesGuideLst>
        <p15:guide id="1" orient="horz" pos="2925">
          <p15:clr>
            <a:srgbClr val="A4A3A4"/>
          </p15:clr>
        </p15:guide>
        <p15:guide id="2" pos="2206">
          <p15:clr>
            <a:srgbClr val="A4A3A4"/>
          </p15:clr>
        </p15:guide>
      </p15:notesGuideLst>
    </p:ext>
    <p:ext uri="GoogleSlidesCustomDataVersion2">
      <go:slidesCustomData xmlns:go="http://customooxmlschemas.google.com/" r:id="rId77" roundtripDataSignature="AMtx7mgcl5twEH8xh1PCtuZ0PaaHhSWI3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925" orient="horz"/>
        <p:guide pos="2206"/>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customschemas.google.com/relationships/presentationmetadata" Target="metadata"/><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lvl1pPr indent="-228600" lvl="0" marL="457200" marR="0" rtl="0" algn="l">
              <a:spcBef>
                <a:spcPts val="420"/>
              </a:spcBef>
              <a:spcAft>
                <a:spcPts val="0"/>
              </a:spcAft>
              <a:buSzPts val="1400"/>
              <a:buNone/>
              <a:defRPr b="0" i="0" sz="1400" u="none" cap="none" strike="noStrike">
                <a:solidFill>
                  <a:schemeClr val="dk1"/>
                </a:solidFill>
                <a:latin typeface="Arial"/>
                <a:ea typeface="Arial"/>
                <a:cs typeface="Arial"/>
                <a:sym typeface="Arial"/>
              </a:defRPr>
            </a:lvl1pPr>
            <a:lvl2pPr indent="-228600" lvl="1" marL="914400" marR="0" rtl="0" algn="l">
              <a:spcBef>
                <a:spcPts val="420"/>
              </a:spcBef>
              <a:spcAft>
                <a:spcPts val="0"/>
              </a:spcAft>
              <a:buSzPts val="1400"/>
              <a:buNone/>
              <a:defRPr b="0" i="0" sz="1400" u="none" cap="none" strike="noStrike">
                <a:solidFill>
                  <a:schemeClr val="dk1"/>
                </a:solidFill>
                <a:latin typeface="Arial"/>
                <a:ea typeface="Arial"/>
                <a:cs typeface="Arial"/>
                <a:sym typeface="Arial"/>
              </a:defRPr>
            </a:lvl2pPr>
            <a:lvl3pPr indent="-228600" lvl="2" marL="1371600" marR="0" rtl="0" algn="l">
              <a:spcBef>
                <a:spcPts val="420"/>
              </a:spcBef>
              <a:spcAft>
                <a:spcPts val="0"/>
              </a:spcAft>
              <a:buSzPts val="1400"/>
              <a:buNone/>
              <a:defRPr b="0" i="0" sz="1400" u="none" cap="none" strike="noStrike">
                <a:solidFill>
                  <a:schemeClr val="dk1"/>
                </a:solidFill>
                <a:latin typeface="Arial"/>
                <a:ea typeface="Arial"/>
                <a:cs typeface="Arial"/>
                <a:sym typeface="Arial"/>
              </a:defRPr>
            </a:lvl3pPr>
            <a:lvl4pPr indent="-228600" lvl="3" marL="1828800" marR="0" rtl="0" algn="l">
              <a:spcBef>
                <a:spcPts val="420"/>
              </a:spcBef>
              <a:spcAft>
                <a:spcPts val="0"/>
              </a:spcAft>
              <a:buSzPts val="1400"/>
              <a:buNone/>
              <a:defRPr b="0" i="0" sz="1400" u="none" cap="none" strike="noStrike">
                <a:solidFill>
                  <a:schemeClr val="dk1"/>
                </a:solidFill>
                <a:latin typeface="Arial"/>
                <a:ea typeface="Arial"/>
                <a:cs typeface="Arial"/>
                <a:sym typeface="Arial"/>
              </a:defRPr>
            </a:lvl4pPr>
            <a:lvl5pPr indent="-228600" lvl="4" marL="2286000" marR="0" rtl="0" algn="l">
              <a:spcBef>
                <a:spcPts val="420"/>
              </a:spcBef>
              <a:spcAft>
                <a:spcPts val="0"/>
              </a:spcAft>
              <a:buSzPts val="1400"/>
              <a:buNone/>
              <a:defRPr b="0" i="0" sz="14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4" name="Google Shape;4;n"/>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cap="flat" cmpd="sng" w="12700">
            <a:solidFill>
              <a:schemeClr val="dk1"/>
            </a:solidFill>
            <a:prstDash val="solid"/>
            <a:miter lim="800000"/>
            <a:headEnd len="sm" w="sm" type="none"/>
            <a:tailEnd len="sm" w="sm" type="none"/>
          </a:ln>
        </p:spPr>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1:notes"/>
          <p:cNvSpPr/>
          <p:nvPr>
            <p:ph idx="2" type="sldImg"/>
          </p:nvPr>
        </p:nvSpPr>
        <p:spPr>
          <a:xfrm>
            <a:off x="1190625" y="704850"/>
            <a:ext cx="4624388" cy="3468688"/>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 name="Google Shape;51;p1:notes"/>
          <p:cNvSpPr txBox="1"/>
          <p:nvPr>
            <p:ph idx="1" type="body"/>
          </p:nvPr>
        </p:nvSpPr>
        <p:spPr>
          <a:xfrm>
            <a:off x="389114" y="4413020"/>
            <a:ext cx="6303645" cy="4179379"/>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2: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 name="Google Shape;75;p2: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3: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 name="Google Shape;84;p3: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4:notes"/>
          <p:cNvSpPr/>
          <p:nvPr>
            <p:ph idx="2" type="sldImg"/>
          </p:nvPr>
        </p:nvSpPr>
        <p:spPr>
          <a:xfrm>
            <a:off x="1190625" y="703263"/>
            <a:ext cx="4627563"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 name="Google Shape;97;p4: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p:nvPr>
            <p:ph idx="2" type="sldImg"/>
          </p:nvPr>
        </p:nvSpPr>
        <p:spPr>
          <a:xfrm>
            <a:off x="1190625" y="703263"/>
            <a:ext cx="4627563"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p5: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6:notes"/>
          <p:cNvSpPr/>
          <p:nvPr>
            <p:ph idx="2" type="sldImg"/>
          </p:nvPr>
        </p:nvSpPr>
        <p:spPr>
          <a:xfrm>
            <a:off x="1190625" y="704850"/>
            <a:ext cx="4624388" cy="346868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 name="Google Shape;122;p6:notes"/>
          <p:cNvSpPr txBox="1"/>
          <p:nvPr>
            <p:ph idx="1" type="body"/>
          </p:nvPr>
        </p:nvSpPr>
        <p:spPr>
          <a:xfrm>
            <a:off x="389114" y="4413020"/>
            <a:ext cx="6303645" cy="4179379"/>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7: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9" name="Google Shape;139;p7: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8: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 name="Google Shape;149;p8: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9: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2" name="Google Shape;162;p9: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0: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p10: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1: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8" name="Google Shape;178;p11: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2:notes"/>
          <p:cNvSpPr/>
          <p:nvPr>
            <p:ph idx="2" type="sldImg"/>
          </p:nvPr>
        </p:nvSpPr>
        <p:spPr>
          <a:xfrm>
            <a:off x="1189038" y="703263"/>
            <a:ext cx="4625975"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3" name="Google Shape;193;p12: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3:notes"/>
          <p:cNvSpPr/>
          <p:nvPr>
            <p:ph idx="2" type="sldImg"/>
          </p:nvPr>
        </p:nvSpPr>
        <p:spPr>
          <a:xfrm>
            <a:off x="1189038" y="703263"/>
            <a:ext cx="4625975"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p13: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4:notes"/>
          <p:cNvSpPr/>
          <p:nvPr>
            <p:ph idx="2" type="sldImg"/>
          </p:nvPr>
        </p:nvSpPr>
        <p:spPr>
          <a:xfrm>
            <a:off x="1189038" y="703263"/>
            <a:ext cx="4625975"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3" name="Google Shape;213;p14: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5:notes"/>
          <p:cNvSpPr/>
          <p:nvPr>
            <p:ph idx="2" type="sldImg"/>
          </p:nvPr>
        </p:nvSpPr>
        <p:spPr>
          <a:xfrm>
            <a:off x="1190625" y="703263"/>
            <a:ext cx="4625975"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3" name="Google Shape;223;p15: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6: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6" name="Google Shape;236;p16: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7: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6" name="Google Shape;246;p17: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8:notes"/>
          <p:cNvSpPr/>
          <p:nvPr>
            <p:ph idx="2" type="sldImg"/>
          </p:nvPr>
        </p:nvSpPr>
        <p:spPr>
          <a:xfrm>
            <a:off x="1190625" y="703263"/>
            <a:ext cx="4625975"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6" name="Google Shape;256;p18: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9:notes"/>
          <p:cNvSpPr/>
          <p:nvPr>
            <p:ph idx="2" type="sldImg"/>
          </p:nvPr>
        </p:nvSpPr>
        <p:spPr>
          <a:xfrm>
            <a:off x="1190625" y="703263"/>
            <a:ext cx="4625975"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0" name="Google Shape;270;p19: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0:notes"/>
          <p:cNvSpPr/>
          <p:nvPr>
            <p:ph idx="2" type="sldImg"/>
          </p:nvPr>
        </p:nvSpPr>
        <p:spPr>
          <a:xfrm>
            <a:off x="1182688" y="698500"/>
            <a:ext cx="4640262" cy="3479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3" name="Google Shape;283;p20:notes"/>
          <p:cNvSpPr txBox="1"/>
          <p:nvPr>
            <p:ph idx="1" type="body"/>
          </p:nvPr>
        </p:nvSpPr>
        <p:spPr>
          <a:xfrm>
            <a:off x="933450" y="4413250"/>
            <a:ext cx="5137150" cy="4179888"/>
          </a:xfrm>
          <a:prstGeom prst="rect">
            <a:avLst/>
          </a:prstGeom>
          <a:noFill/>
          <a:ln>
            <a:noFill/>
          </a:ln>
        </p:spPr>
        <p:txBody>
          <a:bodyPr anchorCtr="0" anchor="t" bIns="46875" lIns="93750" spcFirstLastPara="1" rIns="93750" wrap="square" tIns="4687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1:notes"/>
          <p:cNvSpPr/>
          <p:nvPr>
            <p:ph idx="2" type="sldImg"/>
          </p:nvPr>
        </p:nvSpPr>
        <p:spPr>
          <a:xfrm>
            <a:off x="1182688" y="698500"/>
            <a:ext cx="4640262" cy="3479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9" name="Google Shape;299;p21:notes"/>
          <p:cNvSpPr txBox="1"/>
          <p:nvPr>
            <p:ph idx="1" type="body"/>
          </p:nvPr>
        </p:nvSpPr>
        <p:spPr>
          <a:xfrm>
            <a:off x="933450" y="4413250"/>
            <a:ext cx="5137150" cy="4179888"/>
          </a:xfrm>
          <a:prstGeom prst="rect">
            <a:avLst/>
          </a:prstGeom>
          <a:noFill/>
          <a:ln>
            <a:noFill/>
          </a:ln>
        </p:spPr>
        <p:txBody>
          <a:bodyPr anchorCtr="0" anchor="t" bIns="46875" lIns="93750" spcFirstLastPara="1" rIns="93750" wrap="square" tIns="4687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2:notes"/>
          <p:cNvSpPr/>
          <p:nvPr>
            <p:ph idx="2" type="sldImg"/>
          </p:nvPr>
        </p:nvSpPr>
        <p:spPr>
          <a:xfrm>
            <a:off x="1182688" y="698500"/>
            <a:ext cx="4640262" cy="3479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4" name="Google Shape;314;p22:notes"/>
          <p:cNvSpPr txBox="1"/>
          <p:nvPr>
            <p:ph idx="1" type="body"/>
          </p:nvPr>
        </p:nvSpPr>
        <p:spPr>
          <a:xfrm>
            <a:off x="933450" y="4413250"/>
            <a:ext cx="5137150" cy="4179888"/>
          </a:xfrm>
          <a:prstGeom prst="rect">
            <a:avLst/>
          </a:prstGeom>
          <a:noFill/>
          <a:ln>
            <a:noFill/>
          </a:ln>
        </p:spPr>
        <p:txBody>
          <a:bodyPr anchorCtr="0" anchor="t" bIns="46875" lIns="93750" spcFirstLastPara="1" rIns="93750" wrap="square" tIns="4687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3:notes"/>
          <p:cNvSpPr/>
          <p:nvPr>
            <p:ph idx="2" type="sldImg"/>
          </p:nvPr>
        </p:nvSpPr>
        <p:spPr>
          <a:xfrm>
            <a:off x="1182688" y="698500"/>
            <a:ext cx="4640262" cy="3479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9" name="Google Shape;329;p23:notes"/>
          <p:cNvSpPr txBox="1"/>
          <p:nvPr>
            <p:ph idx="1" type="body"/>
          </p:nvPr>
        </p:nvSpPr>
        <p:spPr>
          <a:xfrm>
            <a:off x="933450" y="4413250"/>
            <a:ext cx="5137150" cy="4179888"/>
          </a:xfrm>
          <a:prstGeom prst="rect">
            <a:avLst/>
          </a:prstGeom>
          <a:noFill/>
          <a:ln>
            <a:noFill/>
          </a:ln>
        </p:spPr>
        <p:txBody>
          <a:bodyPr anchorCtr="0" anchor="t" bIns="46875" lIns="93750" spcFirstLastPara="1" rIns="93750" wrap="square" tIns="4687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24: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4" name="Google Shape;344;p24: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25: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5" name="Google Shape;355;p25: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26:notes"/>
          <p:cNvSpPr/>
          <p:nvPr>
            <p:ph idx="2" type="sldImg"/>
          </p:nvPr>
        </p:nvSpPr>
        <p:spPr>
          <a:xfrm>
            <a:off x="1190625" y="703263"/>
            <a:ext cx="4625975"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6" name="Google Shape;366;p26: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27: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7" name="Google Shape;397;p27: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28: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6" name="Google Shape;406;p28: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29: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1" name="Google Shape;431;p29: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30: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1" name="Google Shape;471;p30: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31: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4" name="Google Shape;564;p31: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32: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7" name="Google Shape;657;p32: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33: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0" name="Google Shape;750;p33: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p34: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3" name="Google Shape;843;p34: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p35: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6" name="Google Shape;936;p35: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p36: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9" name="Google Shape;1029;p36: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0" name="Shape 1120"/>
        <p:cNvGrpSpPr/>
        <p:nvPr/>
      </p:nvGrpSpPr>
      <p:grpSpPr>
        <a:xfrm>
          <a:off x="0" y="0"/>
          <a:ext cx="0" cy="0"/>
          <a:chOff x="0" y="0"/>
          <a:chExt cx="0" cy="0"/>
        </a:xfrm>
      </p:grpSpPr>
      <p:sp>
        <p:nvSpPr>
          <p:cNvPr id="1121" name="Google Shape;1121;p37: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2" name="Google Shape;1122;p37: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3" name="Shape 1213"/>
        <p:cNvGrpSpPr/>
        <p:nvPr/>
      </p:nvGrpSpPr>
      <p:grpSpPr>
        <a:xfrm>
          <a:off x="0" y="0"/>
          <a:ext cx="0" cy="0"/>
          <a:chOff x="0" y="0"/>
          <a:chExt cx="0" cy="0"/>
        </a:xfrm>
      </p:grpSpPr>
      <p:sp>
        <p:nvSpPr>
          <p:cNvPr id="1214" name="Google Shape;1214;p38: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5" name="Google Shape;1215;p38: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9" name="Shape 1309"/>
        <p:cNvGrpSpPr/>
        <p:nvPr/>
      </p:nvGrpSpPr>
      <p:grpSpPr>
        <a:xfrm>
          <a:off x="0" y="0"/>
          <a:ext cx="0" cy="0"/>
          <a:chOff x="0" y="0"/>
          <a:chExt cx="0" cy="0"/>
        </a:xfrm>
      </p:grpSpPr>
      <p:sp>
        <p:nvSpPr>
          <p:cNvPr id="1310" name="Google Shape;1310;p39: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1" name="Google Shape;1311;p39: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7" name="Shape 1317"/>
        <p:cNvGrpSpPr/>
        <p:nvPr/>
      </p:nvGrpSpPr>
      <p:grpSpPr>
        <a:xfrm>
          <a:off x="0" y="0"/>
          <a:ext cx="0" cy="0"/>
          <a:chOff x="0" y="0"/>
          <a:chExt cx="0" cy="0"/>
        </a:xfrm>
      </p:grpSpPr>
      <p:sp>
        <p:nvSpPr>
          <p:cNvPr id="1318" name="Google Shape;1318;p40:notes"/>
          <p:cNvSpPr/>
          <p:nvPr>
            <p:ph idx="2" type="sldImg"/>
          </p:nvPr>
        </p:nvSpPr>
        <p:spPr>
          <a:xfrm>
            <a:off x="1190625" y="703263"/>
            <a:ext cx="4625975"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9" name="Google Shape;1319;p40: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7" name="Shape 1327"/>
        <p:cNvGrpSpPr/>
        <p:nvPr/>
      </p:nvGrpSpPr>
      <p:grpSpPr>
        <a:xfrm>
          <a:off x="0" y="0"/>
          <a:ext cx="0" cy="0"/>
          <a:chOff x="0" y="0"/>
          <a:chExt cx="0" cy="0"/>
        </a:xfrm>
      </p:grpSpPr>
      <p:sp>
        <p:nvSpPr>
          <p:cNvPr id="1328" name="Google Shape;1328;p41: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29" name="Google Shape;1329;p41: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3" name="Shape 1403"/>
        <p:cNvGrpSpPr/>
        <p:nvPr/>
      </p:nvGrpSpPr>
      <p:grpSpPr>
        <a:xfrm>
          <a:off x="0" y="0"/>
          <a:ext cx="0" cy="0"/>
          <a:chOff x="0" y="0"/>
          <a:chExt cx="0" cy="0"/>
        </a:xfrm>
      </p:grpSpPr>
      <p:sp>
        <p:nvSpPr>
          <p:cNvPr id="1404" name="Google Shape;1404;p42: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05" name="Google Shape;1405;p42: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9" name="Shape 1479"/>
        <p:cNvGrpSpPr/>
        <p:nvPr/>
      </p:nvGrpSpPr>
      <p:grpSpPr>
        <a:xfrm>
          <a:off x="0" y="0"/>
          <a:ext cx="0" cy="0"/>
          <a:chOff x="0" y="0"/>
          <a:chExt cx="0" cy="0"/>
        </a:xfrm>
      </p:grpSpPr>
      <p:sp>
        <p:nvSpPr>
          <p:cNvPr id="1480" name="Google Shape;1480;p43: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81" name="Google Shape;1481;p43: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4" name="Shape 1554"/>
        <p:cNvGrpSpPr/>
        <p:nvPr/>
      </p:nvGrpSpPr>
      <p:grpSpPr>
        <a:xfrm>
          <a:off x="0" y="0"/>
          <a:ext cx="0" cy="0"/>
          <a:chOff x="0" y="0"/>
          <a:chExt cx="0" cy="0"/>
        </a:xfrm>
      </p:grpSpPr>
      <p:sp>
        <p:nvSpPr>
          <p:cNvPr id="1555" name="Google Shape;1555;p44: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6" name="Google Shape;1556;p44: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0" name="Shape 1630"/>
        <p:cNvGrpSpPr/>
        <p:nvPr/>
      </p:nvGrpSpPr>
      <p:grpSpPr>
        <a:xfrm>
          <a:off x="0" y="0"/>
          <a:ext cx="0" cy="0"/>
          <a:chOff x="0" y="0"/>
          <a:chExt cx="0" cy="0"/>
        </a:xfrm>
      </p:grpSpPr>
      <p:sp>
        <p:nvSpPr>
          <p:cNvPr id="1631" name="Google Shape;1631;p45: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2" name="Google Shape;1632;p45: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2" name="Shape 1702"/>
        <p:cNvGrpSpPr/>
        <p:nvPr/>
      </p:nvGrpSpPr>
      <p:grpSpPr>
        <a:xfrm>
          <a:off x="0" y="0"/>
          <a:ext cx="0" cy="0"/>
          <a:chOff x="0" y="0"/>
          <a:chExt cx="0" cy="0"/>
        </a:xfrm>
      </p:grpSpPr>
      <p:sp>
        <p:nvSpPr>
          <p:cNvPr id="1703" name="Google Shape;1703;p46: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04" name="Google Shape;1704;p46: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9" name="Shape 1719"/>
        <p:cNvGrpSpPr/>
        <p:nvPr/>
      </p:nvGrpSpPr>
      <p:grpSpPr>
        <a:xfrm>
          <a:off x="0" y="0"/>
          <a:ext cx="0" cy="0"/>
          <a:chOff x="0" y="0"/>
          <a:chExt cx="0" cy="0"/>
        </a:xfrm>
      </p:grpSpPr>
      <p:sp>
        <p:nvSpPr>
          <p:cNvPr id="1720" name="Google Shape;1720;p47: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1" name="Google Shape;1721;p47: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9" name="Shape 1729"/>
        <p:cNvGrpSpPr/>
        <p:nvPr/>
      </p:nvGrpSpPr>
      <p:grpSpPr>
        <a:xfrm>
          <a:off x="0" y="0"/>
          <a:ext cx="0" cy="0"/>
          <a:chOff x="0" y="0"/>
          <a:chExt cx="0" cy="0"/>
        </a:xfrm>
      </p:grpSpPr>
      <p:sp>
        <p:nvSpPr>
          <p:cNvPr id="1730" name="Google Shape;1730;p48: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1" name="Google Shape;1731;p48: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3" name="Shape 1743"/>
        <p:cNvGrpSpPr/>
        <p:nvPr/>
      </p:nvGrpSpPr>
      <p:grpSpPr>
        <a:xfrm>
          <a:off x="0" y="0"/>
          <a:ext cx="0" cy="0"/>
          <a:chOff x="0" y="0"/>
          <a:chExt cx="0" cy="0"/>
        </a:xfrm>
      </p:grpSpPr>
      <p:sp>
        <p:nvSpPr>
          <p:cNvPr id="1744" name="Google Shape;1744;p49: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45" name="Google Shape;1745;p49: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3" name="Shape 1753"/>
        <p:cNvGrpSpPr/>
        <p:nvPr/>
      </p:nvGrpSpPr>
      <p:grpSpPr>
        <a:xfrm>
          <a:off x="0" y="0"/>
          <a:ext cx="0" cy="0"/>
          <a:chOff x="0" y="0"/>
          <a:chExt cx="0" cy="0"/>
        </a:xfrm>
      </p:grpSpPr>
      <p:sp>
        <p:nvSpPr>
          <p:cNvPr id="1754" name="Google Shape;1754;p50: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55" name="Google Shape;1755;p50: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5" name="Shape 1765"/>
        <p:cNvGrpSpPr/>
        <p:nvPr/>
      </p:nvGrpSpPr>
      <p:grpSpPr>
        <a:xfrm>
          <a:off x="0" y="0"/>
          <a:ext cx="0" cy="0"/>
          <a:chOff x="0" y="0"/>
          <a:chExt cx="0" cy="0"/>
        </a:xfrm>
      </p:grpSpPr>
      <p:sp>
        <p:nvSpPr>
          <p:cNvPr id="1766" name="Google Shape;1766;p51: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67" name="Google Shape;1767;p51: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5" name="Shape 1775"/>
        <p:cNvGrpSpPr/>
        <p:nvPr/>
      </p:nvGrpSpPr>
      <p:grpSpPr>
        <a:xfrm>
          <a:off x="0" y="0"/>
          <a:ext cx="0" cy="0"/>
          <a:chOff x="0" y="0"/>
          <a:chExt cx="0" cy="0"/>
        </a:xfrm>
      </p:grpSpPr>
      <p:sp>
        <p:nvSpPr>
          <p:cNvPr id="1776" name="Google Shape;1776;p52: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77" name="Google Shape;1777;p52: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3" name="Shape 1783"/>
        <p:cNvGrpSpPr/>
        <p:nvPr/>
      </p:nvGrpSpPr>
      <p:grpSpPr>
        <a:xfrm>
          <a:off x="0" y="0"/>
          <a:ext cx="0" cy="0"/>
          <a:chOff x="0" y="0"/>
          <a:chExt cx="0" cy="0"/>
        </a:xfrm>
      </p:grpSpPr>
      <p:sp>
        <p:nvSpPr>
          <p:cNvPr id="1784" name="Google Shape;1784;p53: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85" name="Google Shape;1785;p53: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1" name="Shape 1791"/>
        <p:cNvGrpSpPr/>
        <p:nvPr/>
      </p:nvGrpSpPr>
      <p:grpSpPr>
        <a:xfrm>
          <a:off x="0" y="0"/>
          <a:ext cx="0" cy="0"/>
          <a:chOff x="0" y="0"/>
          <a:chExt cx="0" cy="0"/>
        </a:xfrm>
      </p:grpSpPr>
      <p:sp>
        <p:nvSpPr>
          <p:cNvPr id="1792" name="Google Shape;1792;p54: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3" name="Google Shape;1793;p54: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9" name="Shape 1799"/>
        <p:cNvGrpSpPr/>
        <p:nvPr/>
      </p:nvGrpSpPr>
      <p:grpSpPr>
        <a:xfrm>
          <a:off x="0" y="0"/>
          <a:ext cx="0" cy="0"/>
          <a:chOff x="0" y="0"/>
          <a:chExt cx="0" cy="0"/>
        </a:xfrm>
      </p:grpSpPr>
      <p:sp>
        <p:nvSpPr>
          <p:cNvPr id="1800" name="Google Shape;1800;p55: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01" name="Google Shape;1801;p55: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9" name="Shape 1809"/>
        <p:cNvGrpSpPr/>
        <p:nvPr/>
      </p:nvGrpSpPr>
      <p:grpSpPr>
        <a:xfrm>
          <a:off x="0" y="0"/>
          <a:ext cx="0" cy="0"/>
          <a:chOff x="0" y="0"/>
          <a:chExt cx="0" cy="0"/>
        </a:xfrm>
      </p:grpSpPr>
      <p:sp>
        <p:nvSpPr>
          <p:cNvPr id="1810" name="Google Shape;1810;p56: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11" name="Google Shape;1811;p56: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5" name="Shape 1815"/>
        <p:cNvGrpSpPr/>
        <p:nvPr/>
      </p:nvGrpSpPr>
      <p:grpSpPr>
        <a:xfrm>
          <a:off x="0" y="0"/>
          <a:ext cx="0" cy="0"/>
          <a:chOff x="0" y="0"/>
          <a:chExt cx="0" cy="0"/>
        </a:xfrm>
      </p:grpSpPr>
      <p:sp>
        <p:nvSpPr>
          <p:cNvPr id="1816" name="Google Shape;1816;p57:notes"/>
          <p:cNvSpPr/>
          <p:nvPr>
            <p:ph idx="2" type="sldImg"/>
          </p:nvPr>
        </p:nvSpPr>
        <p:spPr>
          <a:xfrm>
            <a:off x="1190625" y="703263"/>
            <a:ext cx="4625975"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17" name="Google Shape;1817;p57: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6" name="Shape 1826"/>
        <p:cNvGrpSpPr/>
        <p:nvPr/>
      </p:nvGrpSpPr>
      <p:grpSpPr>
        <a:xfrm>
          <a:off x="0" y="0"/>
          <a:ext cx="0" cy="0"/>
          <a:chOff x="0" y="0"/>
          <a:chExt cx="0" cy="0"/>
        </a:xfrm>
      </p:grpSpPr>
      <p:sp>
        <p:nvSpPr>
          <p:cNvPr id="1827" name="Google Shape;1827;p58:notes"/>
          <p:cNvSpPr/>
          <p:nvPr>
            <p:ph idx="2" type="sldImg"/>
          </p:nvPr>
        </p:nvSpPr>
        <p:spPr>
          <a:xfrm>
            <a:off x="1190625" y="703263"/>
            <a:ext cx="4625975"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28" name="Google Shape;1828;p58: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8" name="Shape 1838"/>
        <p:cNvGrpSpPr/>
        <p:nvPr/>
      </p:nvGrpSpPr>
      <p:grpSpPr>
        <a:xfrm>
          <a:off x="0" y="0"/>
          <a:ext cx="0" cy="0"/>
          <a:chOff x="0" y="0"/>
          <a:chExt cx="0" cy="0"/>
        </a:xfrm>
      </p:grpSpPr>
      <p:sp>
        <p:nvSpPr>
          <p:cNvPr id="1839" name="Google Shape;1839;p59:notes"/>
          <p:cNvSpPr/>
          <p:nvPr>
            <p:ph idx="2" type="sldImg"/>
          </p:nvPr>
        </p:nvSpPr>
        <p:spPr>
          <a:xfrm>
            <a:off x="1190625" y="703263"/>
            <a:ext cx="4625975"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40" name="Google Shape;1840;p59: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0" name="Shape 1850"/>
        <p:cNvGrpSpPr/>
        <p:nvPr/>
      </p:nvGrpSpPr>
      <p:grpSpPr>
        <a:xfrm>
          <a:off x="0" y="0"/>
          <a:ext cx="0" cy="0"/>
          <a:chOff x="0" y="0"/>
          <a:chExt cx="0" cy="0"/>
        </a:xfrm>
      </p:grpSpPr>
      <p:sp>
        <p:nvSpPr>
          <p:cNvPr id="1851" name="Google Shape;1851;p60:notes"/>
          <p:cNvSpPr/>
          <p:nvPr>
            <p:ph idx="2" type="sldImg"/>
          </p:nvPr>
        </p:nvSpPr>
        <p:spPr>
          <a:xfrm>
            <a:off x="1190625" y="703263"/>
            <a:ext cx="4625975"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52" name="Google Shape;1852;p60: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2" name="Shape 1862"/>
        <p:cNvGrpSpPr/>
        <p:nvPr/>
      </p:nvGrpSpPr>
      <p:grpSpPr>
        <a:xfrm>
          <a:off x="0" y="0"/>
          <a:ext cx="0" cy="0"/>
          <a:chOff x="0" y="0"/>
          <a:chExt cx="0" cy="0"/>
        </a:xfrm>
      </p:grpSpPr>
      <p:sp>
        <p:nvSpPr>
          <p:cNvPr id="1863" name="Google Shape;1863;p61: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64" name="Google Shape;1864;p61: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4" name="Shape 1874"/>
        <p:cNvGrpSpPr/>
        <p:nvPr/>
      </p:nvGrpSpPr>
      <p:grpSpPr>
        <a:xfrm>
          <a:off x="0" y="0"/>
          <a:ext cx="0" cy="0"/>
          <a:chOff x="0" y="0"/>
          <a:chExt cx="0" cy="0"/>
        </a:xfrm>
      </p:grpSpPr>
      <p:sp>
        <p:nvSpPr>
          <p:cNvPr id="1875" name="Google Shape;1875;p62: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76" name="Google Shape;1876;p62: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7" name="Shape 1887"/>
        <p:cNvGrpSpPr/>
        <p:nvPr/>
      </p:nvGrpSpPr>
      <p:grpSpPr>
        <a:xfrm>
          <a:off x="0" y="0"/>
          <a:ext cx="0" cy="0"/>
          <a:chOff x="0" y="0"/>
          <a:chExt cx="0" cy="0"/>
        </a:xfrm>
      </p:grpSpPr>
      <p:sp>
        <p:nvSpPr>
          <p:cNvPr id="1888" name="Google Shape;1888;p63: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89" name="Google Shape;1889;p63: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8" name="Shape 1898"/>
        <p:cNvGrpSpPr/>
        <p:nvPr/>
      </p:nvGrpSpPr>
      <p:grpSpPr>
        <a:xfrm>
          <a:off x="0" y="0"/>
          <a:ext cx="0" cy="0"/>
          <a:chOff x="0" y="0"/>
          <a:chExt cx="0" cy="0"/>
        </a:xfrm>
      </p:grpSpPr>
      <p:sp>
        <p:nvSpPr>
          <p:cNvPr id="1899" name="Google Shape;1899;p64: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0" name="Google Shape;1900;p64: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6" name="Shape 1906"/>
        <p:cNvGrpSpPr/>
        <p:nvPr/>
      </p:nvGrpSpPr>
      <p:grpSpPr>
        <a:xfrm>
          <a:off x="0" y="0"/>
          <a:ext cx="0" cy="0"/>
          <a:chOff x="0" y="0"/>
          <a:chExt cx="0" cy="0"/>
        </a:xfrm>
      </p:grpSpPr>
      <p:sp>
        <p:nvSpPr>
          <p:cNvPr id="1907" name="Google Shape;1907;p65: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8" name="Google Shape;1908;p65: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4" name="Shape 1914"/>
        <p:cNvGrpSpPr/>
        <p:nvPr/>
      </p:nvGrpSpPr>
      <p:grpSpPr>
        <a:xfrm>
          <a:off x="0" y="0"/>
          <a:ext cx="0" cy="0"/>
          <a:chOff x="0" y="0"/>
          <a:chExt cx="0" cy="0"/>
        </a:xfrm>
      </p:grpSpPr>
      <p:sp>
        <p:nvSpPr>
          <p:cNvPr id="1915" name="Google Shape;1915;p66: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16" name="Google Shape;1916;p66: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2" name="Shape 1922"/>
        <p:cNvGrpSpPr/>
        <p:nvPr/>
      </p:nvGrpSpPr>
      <p:grpSpPr>
        <a:xfrm>
          <a:off x="0" y="0"/>
          <a:ext cx="0" cy="0"/>
          <a:chOff x="0" y="0"/>
          <a:chExt cx="0" cy="0"/>
        </a:xfrm>
      </p:grpSpPr>
      <p:sp>
        <p:nvSpPr>
          <p:cNvPr id="1923" name="Google Shape;1923;p67: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24" name="Google Shape;1924;p67: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2" name="Shape 1932"/>
        <p:cNvGrpSpPr/>
        <p:nvPr/>
      </p:nvGrpSpPr>
      <p:grpSpPr>
        <a:xfrm>
          <a:off x="0" y="0"/>
          <a:ext cx="0" cy="0"/>
          <a:chOff x="0" y="0"/>
          <a:chExt cx="0" cy="0"/>
        </a:xfrm>
      </p:grpSpPr>
      <p:sp>
        <p:nvSpPr>
          <p:cNvPr id="1933" name="Google Shape;1933;p68: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34" name="Google Shape;1934;p68: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2" name="Shape 1942"/>
        <p:cNvGrpSpPr/>
        <p:nvPr/>
      </p:nvGrpSpPr>
      <p:grpSpPr>
        <a:xfrm>
          <a:off x="0" y="0"/>
          <a:ext cx="0" cy="0"/>
          <a:chOff x="0" y="0"/>
          <a:chExt cx="0" cy="0"/>
        </a:xfrm>
      </p:grpSpPr>
      <p:sp>
        <p:nvSpPr>
          <p:cNvPr id="1943" name="Google Shape;1943;p69: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44" name="Google Shape;1944;p69: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2" name="Shape 1952"/>
        <p:cNvGrpSpPr/>
        <p:nvPr/>
      </p:nvGrpSpPr>
      <p:grpSpPr>
        <a:xfrm>
          <a:off x="0" y="0"/>
          <a:ext cx="0" cy="0"/>
          <a:chOff x="0" y="0"/>
          <a:chExt cx="0" cy="0"/>
        </a:xfrm>
      </p:grpSpPr>
      <p:sp>
        <p:nvSpPr>
          <p:cNvPr id="1953" name="Google Shape;1953;p70:notes"/>
          <p:cNvSpPr/>
          <p:nvPr>
            <p:ph idx="2" type="sldImg"/>
          </p:nvPr>
        </p:nvSpPr>
        <p:spPr>
          <a:xfrm>
            <a:off x="1182688" y="698500"/>
            <a:ext cx="4638675" cy="34798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954" name="Google Shape;1954;p70:notes"/>
          <p:cNvSpPr txBox="1"/>
          <p:nvPr>
            <p:ph idx="1" type="body"/>
          </p:nvPr>
        </p:nvSpPr>
        <p:spPr>
          <a:xfrm>
            <a:off x="933450" y="4413250"/>
            <a:ext cx="5137150" cy="4179888"/>
          </a:xfrm>
          <a:prstGeom prst="rect">
            <a:avLst/>
          </a:prstGeom>
          <a:noFill/>
          <a:ln>
            <a:noFill/>
          </a:ln>
        </p:spPr>
        <p:txBody>
          <a:bodyPr anchorCtr="0" anchor="t" bIns="46725" lIns="93475" spcFirstLastPara="1" rIns="93475" wrap="square" tIns="467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9" name="Shape 1959"/>
        <p:cNvGrpSpPr/>
        <p:nvPr/>
      </p:nvGrpSpPr>
      <p:grpSpPr>
        <a:xfrm>
          <a:off x="0" y="0"/>
          <a:ext cx="0" cy="0"/>
          <a:chOff x="0" y="0"/>
          <a:chExt cx="0" cy="0"/>
        </a:xfrm>
      </p:grpSpPr>
      <p:sp>
        <p:nvSpPr>
          <p:cNvPr id="1960" name="Google Shape;1960;g2b079975d1a_0_0:notes"/>
          <p:cNvSpPr txBox="1"/>
          <p:nvPr>
            <p:ph idx="1" type="body"/>
          </p:nvPr>
        </p:nvSpPr>
        <p:spPr>
          <a:xfrm>
            <a:off x="388938" y="4413250"/>
            <a:ext cx="6303900" cy="4179900"/>
          </a:xfrm>
          <a:prstGeom prst="rect">
            <a:avLst/>
          </a:prstGeom>
        </p:spPr>
        <p:txBody>
          <a:bodyPr anchorCtr="0" anchor="t" bIns="45125" lIns="91850" spcFirstLastPara="1" rIns="91850" wrap="square" tIns="45125">
            <a:noAutofit/>
          </a:bodyPr>
          <a:lstStyle/>
          <a:p>
            <a:pPr indent="0" lvl="0" marL="0" rtl="0" algn="l">
              <a:spcBef>
                <a:spcPts val="420"/>
              </a:spcBef>
              <a:spcAft>
                <a:spcPts val="0"/>
              </a:spcAft>
              <a:buNone/>
            </a:pPr>
            <a:r>
              <a:t/>
            </a:r>
            <a:endParaRPr/>
          </a:p>
        </p:txBody>
      </p:sp>
      <p:sp>
        <p:nvSpPr>
          <p:cNvPr id="1961" name="Google Shape;1961;g2b079975d1a_0_0:notes"/>
          <p:cNvSpPr/>
          <p:nvPr>
            <p:ph idx="2" type="sldImg"/>
          </p:nvPr>
        </p:nvSpPr>
        <p:spPr>
          <a:xfrm>
            <a:off x="1189038" y="703263"/>
            <a:ext cx="4627500" cy="3470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 name="Shape 9"/>
        <p:cNvGrpSpPr/>
        <p:nvPr/>
      </p:nvGrpSpPr>
      <p:grpSpPr>
        <a:xfrm>
          <a:off x="0" y="0"/>
          <a:ext cx="0" cy="0"/>
          <a:chOff x="0" y="0"/>
          <a:chExt cx="0" cy="0"/>
        </a:xfrm>
      </p:grpSpPr>
      <p:sp>
        <p:nvSpPr>
          <p:cNvPr id="10" name="Google Shape;10;p72"/>
          <p:cNvSpPr txBox="1"/>
          <p:nvPr>
            <p:ph type="title"/>
          </p:nvPr>
        </p:nvSpPr>
        <p:spPr>
          <a:xfrm>
            <a:off x="1149350" y="354013"/>
            <a:ext cx="7607300" cy="560387"/>
          </a:xfrm>
          <a:prstGeom prst="rect">
            <a:avLst/>
          </a:prstGeom>
          <a:solidFill>
            <a:srgbClr val="003399"/>
          </a:solidFill>
          <a:ln cap="flat" cmpd="sng" w="63500">
            <a:solidFill>
              <a:srgbClr val="54385C"/>
            </a:solidFill>
            <a:prstDash val="solid"/>
            <a:miter lim="800000"/>
            <a:headEnd len="sm" w="sm" type="none"/>
            <a:tailEnd len="sm" w="sm" type="none"/>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 name="Google Shape;11;p72"/>
          <p:cNvSpPr txBox="1"/>
          <p:nvPr>
            <p:ph idx="1" type="body"/>
          </p:nvPr>
        </p:nvSpPr>
        <p:spPr>
          <a:xfrm>
            <a:off x="381000" y="1143000"/>
            <a:ext cx="8382000" cy="4800600"/>
          </a:xfrm>
          <a:prstGeom prst="rect">
            <a:avLst/>
          </a:prstGeom>
          <a:noFill/>
          <a:ln>
            <a:noFill/>
          </a:ln>
        </p:spPr>
        <p:txBody>
          <a:bodyPr anchorCtr="0" anchor="t" bIns="46025" lIns="182550" spcFirstLastPara="1" rIns="182550" wrap="square" tIns="46025">
            <a:noAutofit/>
          </a:bodyPr>
          <a:lstStyle>
            <a:lvl1pPr indent="-314325" lvl="0" marL="457200" algn="l">
              <a:spcBef>
                <a:spcPts val="360"/>
              </a:spcBef>
              <a:spcAft>
                <a:spcPts val="0"/>
              </a:spcAft>
              <a:buSzPts val="1350"/>
              <a:buChar char="●"/>
              <a:defRPr/>
            </a:lvl1pPr>
            <a:lvl2pPr indent="-314325" lvl="1" marL="914400" algn="l">
              <a:spcBef>
                <a:spcPts val="360"/>
              </a:spcBef>
              <a:spcAft>
                <a:spcPts val="0"/>
              </a:spcAft>
              <a:buSzPts val="1350"/>
              <a:buChar char="●"/>
              <a:defRPr/>
            </a:lvl2pPr>
            <a:lvl3pPr indent="-314325" lvl="2" marL="1371600" algn="l">
              <a:spcBef>
                <a:spcPts val="360"/>
              </a:spcBef>
              <a:spcAft>
                <a:spcPts val="0"/>
              </a:spcAft>
              <a:buSzPts val="1350"/>
              <a:buChar char="●"/>
              <a:defRPr/>
            </a:lvl3pPr>
            <a:lvl4pPr indent="-314325" lvl="3" marL="1828800" algn="l">
              <a:spcBef>
                <a:spcPts val="360"/>
              </a:spcBef>
              <a:spcAft>
                <a:spcPts val="0"/>
              </a:spcAft>
              <a:buSzPts val="1350"/>
              <a:buChar char="●"/>
              <a:defRPr/>
            </a:lvl4pPr>
            <a:lvl5pPr indent="-314325" lvl="4" marL="2286000" algn="l">
              <a:spcBef>
                <a:spcPts val="360"/>
              </a:spcBef>
              <a:spcAft>
                <a:spcPts val="0"/>
              </a:spcAft>
              <a:buSzPts val="1350"/>
              <a:buChar char="●"/>
              <a:defRPr/>
            </a:lvl5pPr>
            <a:lvl6pPr indent="-314325" lvl="5" marL="2743200" algn="l">
              <a:spcBef>
                <a:spcPts val="360"/>
              </a:spcBef>
              <a:spcAft>
                <a:spcPts val="0"/>
              </a:spcAft>
              <a:buSzPts val="1350"/>
              <a:buChar char="●"/>
              <a:defRPr/>
            </a:lvl6pPr>
            <a:lvl7pPr indent="-314325" lvl="6" marL="3200400" algn="l">
              <a:spcBef>
                <a:spcPts val="360"/>
              </a:spcBef>
              <a:spcAft>
                <a:spcPts val="0"/>
              </a:spcAft>
              <a:buSzPts val="1350"/>
              <a:buChar char="●"/>
              <a:defRPr/>
            </a:lvl7pPr>
            <a:lvl8pPr indent="-314325" lvl="7" marL="3657600" algn="l">
              <a:spcBef>
                <a:spcPts val="360"/>
              </a:spcBef>
              <a:spcAft>
                <a:spcPts val="0"/>
              </a:spcAft>
              <a:buSzPts val="1350"/>
              <a:buChar char="●"/>
              <a:defRPr/>
            </a:lvl8pPr>
            <a:lvl9pPr indent="-314325" lvl="8" marL="4114800" algn="l">
              <a:spcBef>
                <a:spcPts val="360"/>
              </a:spcBef>
              <a:spcAft>
                <a:spcPts val="0"/>
              </a:spcAft>
              <a:buSzPts val="1350"/>
              <a:buChar char="●"/>
              <a:defRPr/>
            </a:lvl9pPr>
          </a:lstStyle>
          <a:p/>
        </p:txBody>
      </p:sp>
    </p:spTree>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 name="Shape 12"/>
        <p:cNvGrpSpPr/>
        <p:nvPr/>
      </p:nvGrpSpPr>
      <p:grpSpPr>
        <a:xfrm>
          <a:off x="0" y="0"/>
          <a:ext cx="0" cy="0"/>
          <a:chOff x="0" y="0"/>
          <a:chExt cx="0" cy="0"/>
        </a:xfrm>
      </p:grpSpPr>
    </p:spTree>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13" name="Shape 13"/>
        <p:cNvGrpSpPr/>
        <p:nvPr/>
      </p:nvGrpSpPr>
      <p:grpSpPr>
        <a:xfrm>
          <a:off x="0" y="0"/>
          <a:ext cx="0" cy="0"/>
          <a:chOff x="0" y="0"/>
          <a:chExt cx="0" cy="0"/>
        </a:xfrm>
      </p:grpSpPr>
      <p:sp>
        <p:nvSpPr>
          <p:cNvPr id="14" name="Google Shape;14;p74"/>
          <p:cNvSpPr txBox="1"/>
          <p:nvPr>
            <p:ph type="title"/>
          </p:nvPr>
        </p:nvSpPr>
        <p:spPr>
          <a:xfrm>
            <a:off x="1149350" y="354013"/>
            <a:ext cx="7607300" cy="560387"/>
          </a:xfrm>
          <a:prstGeom prst="rect">
            <a:avLst/>
          </a:prstGeom>
          <a:solidFill>
            <a:srgbClr val="003399"/>
          </a:solidFill>
          <a:ln cap="flat" cmpd="sng" w="63500">
            <a:solidFill>
              <a:srgbClr val="54385C"/>
            </a:solidFill>
            <a:prstDash val="solid"/>
            <a:miter lim="800000"/>
            <a:headEnd len="sm" w="sm" type="none"/>
            <a:tailEnd len="sm" w="sm" type="none"/>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 name="Google Shape;15;p74"/>
          <p:cNvSpPr txBox="1"/>
          <p:nvPr>
            <p:ph idx="1" type="body"/>
          </p:nvPr>
        </p:nvSpPr>
        <p:spPr>
          <a:xfrm>
            <a:off x="381000" y="1143000"/>
            <a:ext cx="4114800" cy="4800600"/>
          </a:xfrm>
          <a:prstGeom prst="rect">
            <a:avLst/>
          </a:prstGeom>
          <a:noFill/>
          <a:ln>
            <a:noFill/>
          </a:ln>
        </p:spPr>
        <p:txBody>
          <a:bodyPr anchorCtr="0" anchor="t" bIns="46025" lIns="182550" spcFirstLastPara="1" rIns="182550" wrap="square" tIns="46025">
            <a:noAutofit/>
          </a:bodyPr>
          <a:lstStyle>
            <a:lvl1pPr indent="-314325" lvl="0" marL="457200" algn="l">
              <a:spcBef>
                <a:spcPts val="360"/>
              </a:spcBef>
              <a:spcAft>
                <a:spcPts val="0"/>
              </a:spcAft>
              <a:buSzPts val="1350"/>
              <a:buChar char="●"/>
              <a:defRPr/>
            </a:lvl1pPr>
            <a:lvl2pPr indent="-314325" lvl="1" marL="914400" algn="l">
              <a:spcBef>
                <a:spcPts val="360"/>
              </a:spcBef>
              <a:spcAft>
                <a:spcPts val="0"/>
              </a:spcAft>
              <a:buSzPts val="1350"/>
              <a:buChar char="●"/>
              <a:defRPr/>
            </a:lvl2pPr>
            <a:lvl3pPr indent="-314325" lvl="2" marL="1371600" algn="l">
              <a:spcBef>
                <a:spcPts val="360"/>
              </a:spcBef>
              <a:spcAft>
                <a:spcPts val="0"/>
              </a:spcAft>
              <a:buSzPts val="1350"/>
              <a:buChar char="●"/>
              <a:defRPr/>
            </a:lvl3pPr>
            <a:lvl4pPr indent="-314325" lvl="3" marL="1828800" algn="l">
              <a:spcBef>
                <a:spcPts val="360"/>
              </a:spcBef>
              <a:spcAft>
                <a:spcPts val="0"/>
              </a:spcAft>
              <a:buSzPts val="1350"/>
              <a:buChar char="●"/>
              <a:defRPr/>
            </a:lvl4pPr>
            <a:lvl5pPr indent="-314325" lvl="4" marL="2286000" algn="l">
              <a:spcBef>
                <a:spcPts val="360"/>
              </a:spcBef>
              <a:spcAft>
                <a:spcPts val="0"/>
              </a:spcAft>
              <a:buSzPts val="1350"/>
              <a:buChar char="●"/>
              <a:defRPr/>
            </a:lvl5pPr>
            <a:lvl6pPr indent="-314325" lvl="5" marL="2743200" algn="l">
              <a:spcBef>
                <a:spcPts val="360"/>
              </a:spcBef>
              <a:spcAft>
                <a:spcPts val="0"/>
              </a:spcAft>
              <a:buSzPts val="1350"/>
              <a:buChar char="●"/>
              <a:defRPr/>
            </a:lvl6pPr>
            <a:lvl7pPr indent="-314325" lvl="6" marL="3200400" algn="l">
              <a:spcBef>
                <a:spcPts val="360"/>
              </a:spcBef>
              <a:spcAft>
                <a:spcPts val="0"/>
              </a:spcAft>
              <a:buSzPts val="1350"/>
              <a:buChar char="●"/>
              <a:defRPr/>
            </a:lvl7pPr>
            <a:lvl8pPr indent="-314325" lvl="7" marL="3657600" algn="l">
              <a:spcBef>
                <a:spcPts val="360"/>
              </a:spcBef>
              <a:spcAft>
                <a:spcPts val="0"/>
              </a:spcAft>
              <a:buSzPts val="1350"/>
              <a:buChar char="●"/>
              <a:defRPr/>
            </a:lvl8pPr>
            <a:lvl9pPr indent="-314325" lvl="8" marL="4114800" algn="l">
              <a:spcBef>
                <a:spcPts val="360"/>
              </a:spcBef>
              <a:spcAft>
                <a:spcPts val="0"/>
              </a:spcAft>
              <a:buSzPts val="1350"/>
              <a:buChar char="●"/>
              <a:defRPr/>
            </a:lvl9pPr>
          </a:lstStyle>
          <a:p/>
        </p:txBody>
      </p:sp>
      <p:sp>
        <p:nvSpPr>
          <p:cNvPr id="16" name="Google Shape;16;p74"/>
          <p:cNvSpPr txBox="1"/>
          <p:nvPr>
            <p:ph idx="2" type="body"/>
          </p:nvPr>
        </p:nvSpPr>
        <p:spPr>
          <a:xfrm>
            <a:off x="4648200" y="1143000"/>
            <a:ext cx="4114800" cy="4800600"/>
          </a:xfrm>
          <a:prstGeom prst="rect">
            <a:avLst/>
          </a:prstGeom>
          <a:noFill/>
          <a:ln>
            <a:noFill/>
          </a:ln>
        </p:spPr>
        <p:txBody>
          <a:bodyPr anchorCtr="0" anchor="t" bIns="46025" lIns="182550" spcFirstLastPara="1" rIns="182550" wrap="square" tIns="46025">
            <a:noAutofit/>
          </a:bodyPr>
          <a:lstStyle>
            <a:lvl1pPr indent="-314325" lvl="0" marL="457200" algn="l">
              <a:spcBef>
                <a:spcPts val="360"/>
              </a:spcBef>
              <a:spcAft>
                <a:spcPts val="0"/>
              </a:spcAft>
              <a:buSzPts val="1350"/>
              <a:buChar char="●"/>
              <a:defRPr/>
            </a:lvl1pPr>
            <a:lvl2pPr indent="-314325" lvl="1" marL="914400" algn="l">
              <a:spcBef>
                <a:spcPts val="360"/>
              </a:spcBef>
              <a:spcAft>
                <a:spcPts val="0"/>
              </a:spcAft>
              <a:buSzPts val="1350"/>
              <a:buChar char="●"/>
              <a:defRPr/>
            </a:lvl2pPr>
            <a:lvl3pPr indent="-314325" lvl="2" marL="1371600" algn="l">
              <a:spcBef>
                <a:spcPts val="360"/>
              </a:spcBef>
              <a:spcAft>
                <a:spcPts val="0"/>
              </a:spcAft>
              <a:buSzPts val="1350"/>
              <a:buChar char="●"/>
              <a:defRPr/>
            </a:lvl3pPr>
            <a:lvl4pPr indent="-314325" lvl="3" marL="1828800" algn="l">
              <a:spcBef>
                <a:spcPts val="360"/>
              </a:spcBef>
              <a:spcAft>
                <a:spcPts val="0"/>
              </a:spcAft>
              <a:buSzPts val="1350"/>
              <a:buChar char="●"/>
              <a:defRPr/>
            </a:lvl4pPr>
            <a:lvl5pPr indent="-314325" lvl="4" marL="2286000" algn="l">
              <a:spcBef>
                <a:spcPts val="360"/>
              </a:spcBef>
              <a:spcAft>
                <a:spcPts val="0"/>
              </a:spcAft>
              <a:buSzPts val="1350"/>
              <a:buChar char="●"/>
              <a:defRPr/>
            </a:lvl5pPr>
            <a:lvl6pPr indent="-314325" lvl="5" marL="2743200" algn="l">
              <a:spcBef>
                <a:spcPts val="360"/>
              </a:spcBef>
              <a:spcAft>
                <a:spcPts val="0"/>
              </a:spcAft>
              <a:buSzPts val="1350"/>
              <a:buChar char="●"/>
              <a:defRPr/>
            </a:lvl6pPr>
            <a:lvl7pPr indent="-314325" lvl="6" marL="3200400" algn="l">
              <a:spcBef>
                <a:spcPts val="360"/>
              </a:spcBef>
              <a:spcAft>
                <a:spcPts val="0"/>
              </a:spcAft>
              <a:buSzPts val="1350"/>
              <a:buChar char="●"/>
              <a:defRPr/>
            </a:lvl7pPr>
            <a:lvl8pPr indent="-314325" lvl="7" marL="3657600" algn="l">
              <a:spcBef>
                <a:spcPts val="360"/>
              </a:spcBef>
              <a:spcAft>
                <a:spcPts val="0"/>
              </a:spcAft>
              <a:buSzPts val="1350"/>
              <a:buChar char="●"/>
              <a:defRPr/>
            </a:lvl8pPr>
            <a:lvl9pPr indent="-314325" lvl="8" marL="4114800" algn="l">
              <a:spcBef>
                <a:spcPts val="360"/>
              </a:spcBef>
              <a:spcAft>
                <a:spcPts val="0"/>
              </a:spcAft>
              <a:buSzPts val="1350"/>
              <a:buChar char="●"/>
              <a:defRPr/>
            </a:lvl9pPr>
          </a:lstStyle>
          <a:p/>
        </p:txBody>
      </p:sp>
    </p:spTree>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 name="Shape 17"/>
        <p:cNvGrpSpPr/>
        <p:nvPr/>
      </p:nvGrpSpPr>
      <p:grpSpPr>
        <a:xfrm>
          <a:off x="0" y="0"/>
          <a:ext cx="0" cy="0"/>
          <a:chOff x="0" y="0"/>
          <a:chExt cx="0" cy="0"/>
        </a:xfrm>
      </p:grpSpPr>
      <p:sp>
        <p:nvSpPr>
          <p:cNvPr id="18" name="Google Shape;18;p75"/>
          <p:cNvSpPr txBox="1"/>
          <p:nvPr>
            <p:ph type="title"/>
          </p:nvPr>
        </p:nvSpPr>
        <p:spPr>
          <a:xfrm>
            <a:off x="1149350" y="354013"/>
            <a:ext cx="7607300" cy="560387"/>
          </a:xfrm>
          <a:prstGeom prst="rect">
            <a:avLst/>
          </a:prstGeom>
          <a:solidFill>
            <a:srgbClr val="003399"/>
          </a:solidFill>
          <a:ln cap="flat" cmpd="sng" w="63500">
            <a:solidFill>
              <a:srgbClr val="54385C"/>
            </a:solidFill>
            <a:prstDash val="solid"/>
            <a:miter lim="800000"/>
            <a:headEnd len="sm" w="sm" type="none"/>
            <a:tailEnd len="sm" w="sm" type="none"/>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76"/>
          <p:cNvSpPr txBox="1"/>
          <p:nvPr>
            <p:ph type="ctrTitle"/>
          </p:nvPr>
        </p:nvSpPr>
        <p:spPr>
          <a:xfrm>
            <a:off x="685800" y="2130425"/>
            <a:ext cx="7772400" cy="1470025"/>
          </a:xfrm>
          <a:prstGeom prst="rect">
            <a:avLst/>
          </a:prstGeom>
          <a:solidFill>
            <a:srgbClr val="003399"/>
          </a:solidFill>
          <a:ln cap="flat" cmpd="sng" w="63500">
            <a:solidFill>
              <a:srgbClr val="54385C"/>
            </a:solidFill>
            <a:prstDash val="solid"/>
            <a:miter lim="800000"/>
            <a:headEnd len="sm" w="sm" type="none"/>
            <a:tailEnd len="sm" w="sm" type="none"/>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1" name="Google Shape;21;p76"/>
          <p:cNvSpPr txBox="1"/>
          <p:nvPr>
            <p:ph idx="1" type="subTitle"/>
          </p:nvPr>
        </p:nvSpPr>
        <p:spPr>
          <a:xfrm>
            <a:off x="1371600" y="3886200"/>
            <a:ext cx="6400800" cy="1752600"/>
          </a:xfrm>
          <a:prstGeom prst="rect">
            <a:avLst/>
          </a:prstGeom>
          <a:noFill/>
          <a:ln>
            <a:noFill/>
          </a:ln>
        </p:spPr>
        <p:txBody>
          <a:bodyPr anchorCtr="0" anchor="t" bIns="46025" lIns="182550" spcFirstLastPara="1" rIns="182550" wrap="square" tIns="46025">
            <a:noAutofit/>
          </a:bodyPr>
          <a:lstStyle>
            <a:lvl1pPr lvl="0" algn="ctr">
              <a:spcBef>
                <a:spcPts val="560"/>
              </a:spcBef>
              <a:spcAft>
                <a:spcPts val="0"/>
              </a:spcAft>
              <a:buSzPts val="2100"/>
              <a:buNone/>
              <a:defRPr/>
            </a:lvl1pPr>
            <a:lvl2pPr lvl="1" algn="ctr">
              <a:spcBef>
                <a:spcPts val="480"/>
              </a:spcBef>
              <a:spcAft>
                <a:spcPts val="0"/>
              </a:spcAft>
              <a:buSzPts val="1800"/>
              <a:buNone/>
              <a:defRPr/>
            </a:lvl2pPr>
            <a:lvl3pPr lvl="2" algn="ctr">
              <a:spcBef>
                <a:spcPts val="400"/>
              </a:spcBef>
              <a:spcAft>
                <a:spcPts val="0"/>
              </a:spcAft>
              <a:buSzPts val="1500"/>
              <a:buNone/>
              <a:defRPr/>
            </a:lvl3pPr>
            <a:lvl4pPr lvl="3" algn="ctr">
              <a:spcBef>
                <a:spcPts val="400"/>
              </a:spcBef>
              <a:spcAft>
                <a:spcPts val="0"/>
              </a:spcAft>
              <a:buSzPts val="1500"/>
              <a:buNone/>
              <a:defRPr/>
            </a:lvl4pPr>
            <a:lvl5pPr lvl="4" algn="ctr">
              <a:spcBef>
                <a:spcPts val="400"/>
              </a:spcBef>
              <a:spcAft>
                <a:spcPts val="0"/>
              </a:spcAft>
              <a:buSzPts val="1500"/>
              <a:buNone/>
              <a:defRPr/>
            </a:lvl5pPr>
            <a:lvl6pPr lvl="5" algn="ctr">
              <a:spcBef>
                <a:spcPts val="400"/>
              </a:spcBef>
              <a:spcAft>
                <a:spcPts val="0"/>
              </a:spcAft>
              <a:buSzPts val="1500"/>
              <a:buNone/>
              <a:defRPr/>
            </a:lvl6pPr>
            <a:lvl7pPr lvl="6" algn="ctr">
              <a:spcBef>
                <a:spcPts val="400"/>
              </a:spcBef>
              <a:spcAft>
                <a:spcPts val="0"/>
              </a:spcAft>
              <a:buSzPts val="1500"/>
              <a:buNone/>
              <a:defRPr/>
            </a:lvl7pPr>
            <a:lvl8pPr lvl="7" algn="ctr">
              <a:spcBef>
                <a:spcPts val="400"/>
              </a:spcBef>
              <a:spcAft>
                <a:spcPts val="0"/>
              </a:spcAft>
              <a:buSzPts val="1500"/>
              <a:buNone/>
              <a:defRPr/>
            </a:lvl8pPr>
            <a:lvl9pPr lvl="8" algn="ctr">
              <a:spcBef>
                <a:spcPts val="400"/>
              </a:spcBef>
              <a:spcAft>
                <a:spcPts val="0"/>
              </a:spcAft>
              <a:buSzPts val="1500"/>
              <a:buNone/>
              <a:defRPr/>
            </a:lvl9pPr>
          </a:lstStyle>
          <a:p/>
        </p:txBody>
      </p:sp>
    </p:spTree>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 name="Shape 22"/>
        <p:cNvGrpSpPr/>
        <p:nvPr/>
      </p:nvGrpSpPr>
      <p:grpSpPr>
        <a:xfrm>
          <a:off x="0" y="0"/>
          <a:ext cx="0" cy="0"/>
          <a:chOff x="0" y="0"/>
          <a:chExt cx="0" cy="0"/>
        </a:xfrm>
      </p:grpSpPr>
      <p:sp>
        <p:nvSpPr>
          <p:cNvPr id="23" name="Google Shape;23;p77"/>
          <p:cNvSpPr txBox="1"/>
          <p:nvPr>
            <p:ph type="title"/>
          </p:nvPr>
        </p:nvSpPr>
        <p:spPr>
          <a:xfrm>
            <a:off x="722313" y="4406900"/>
            <a:ext cx="7772400" cy="1362075"/>
          </a:xfrm>
          <a:prstGeom prst="rect">
            <a:avLst/>
          </a:prstGeom>
          <a:solidFill>
            <a:srgbClr val="003399"/>
          </a:solidFill>
          <a:ln cap="flat" cmpd="sng" w="63500">
            <a:solidFill>
              <a:srgbClr val="54385C"/>
            </a:solidFill>
            <a:prstDash val="solid"/>
            <a:miter lim="800000"/>
            <a:headEnd len="sm" w="sm" type="none"/>
            <a:tailEnd len="sm" w="sm" type="none"/>
          </a:ln>
        </p:spPr>
        <p:txBody>
          <a:bodyPr anchorCtr="0" anchor="t" bIns="46025" lIns="92075" spcFirstLastPara="1" rIns="92075" wrap="square" tIns="46025">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4" name="Google Shape;24;p77"/>
          <p:cNvSpPr txBox="1"/>
          <p:nvPr>
            <p:ph idx="1" type="body"/>
          </p:nvPr>
        </p:nvSpPr>
        <p:spPr>
          <a:xfrm>
            <a:off x="722313" y="2906713"/>
            <a:ext cx="7772400" cy="1500187"/>
          </a:xfrm>
          <a:prstGeom prst="rect">
            <a:avLst/>
          </a:prstGeom>
          <a:noFill/>
          <a:ln>
            <a:noFill/>
          </a:ln>
        </p:spPr>
        <p:txBody>
          <a:bodyPr anchorCtr="0" anchor="b" bIns="46025" lIns="182550" spcFirstLastPara="1" rIns="182550" wrap="square" tIns="46025">
            <a:noAutofit/>
          </a:bodyPr>
          <a:lstStyle>
            <a:lvl1pPr indent="-228600" lvl="0" marL="457200" algn="l">
              <a:spcBef>
                <a:spcPts val="400"/>
              </a:spcBef>
              <a:spcAft>
                <a:spcPts val="0"/>
              </a:spcAft>
              <a:buSzPts val="1500"/>
              <a:buNone/>
              <a:defRPr sz="2000"/>
            </a:lvl1pPr>
            <a:lvl2pPr indent="-228600" lvl="1" marL="914400" algn="l">
              <a:spcBef>
                <a:spcPts val="360"/>
              </a:spcBef>
              <a:spcAft>
                <a:spcPts val="0"/>
              </a:spcAft>
              <a:buSzPts val="1350"/>
              <a:buNone/>
              <a:defRPr sz="1800"/>
            </a:lvl2pPr>
            <a:lvl3pPr indent="-228600" lvl="2" marL="1371600" algn="l">
              <a:spcBef>
                <a:spcPts val="320"/>
              </a:spcBef>
              <a:spcAft>
                <a:spcPts val="0"/>
              </a:spcAft>
              <a:buSzPts val="1200"/>
              <a:buNone/>
              <a:defRPr sz="1600"/>
            </a:lvl3pPr>
            <a:lvl4pPr indent="-228600" lvl="3" marL="1828800" algn="l">
              <a:spcBef>
                <a:spcPts val="280"/>
              </a:spcBef>
              <a:spcAft>
                <a:spcPts val="0"/>
              </a:spcAft>
              <a:buSzPts val="1050"/>
              <a:buNone/>
              <a:defRPr sz="1400"/>
            </a:lvl4pPr>
            <a:lvl5pPr indent="-228600" lvl="4" marL="2286000" algn="l">
              <a:spcBef>
                <a:spcPts val="280"/>
              </a:spcBef>
              <a:spcAft>
                <a:spcPts val="0"/>
              </a:spcAft>
              <a:buSzPts val="1050"/>
              <a:buNone/>
              <a:defRPr sz="1400"/>
            </a:lvl5pPr>
            <a:lvl6pPr indent="-228600" lvl="5" marL="2743200" algn="l">
              <a:spcBef>
                <a:spcPts val="280"/>
              </a:spcBef>
              <a:spcAft>
                <a:spcPts val="0"/>
              </a:spcAft>
              <a:buSzPts val="1050"/>
              <a:buNone/>
              <a:defRPr sz="1400"/>
            </a:lvl6pPr>
            <a:lvl7pPr indent="-228600" lvl="6" marL="3200400" algn="l">
              <a:spcBef>
                <a:spcPts val="280"/>
              </a:spcBef>
              <a:spcAft>
                <a:spcPts val="0"/>
              </a:spcAft>
              <a:buSzPts val="1050"/>
              <a:buNone/>
              <a:defRPr sz="1400"/>
            </a:lvl7pPr>
            <a:lvl8pPr indent="-228600" lvl="7" marL="3657600" algn="l">
              <a:spcBef>
                <a:spcPts val="280"/>
              </a:spcBef>
              <a:spcAft>
                <a:spcPts val="0"/>
              </a:spcAft>
              <a:buSzPts val="1050"/>
              <a:buNone/>
              <a:defRPr sz="1400"/>
            </a:lvl8pPr>
            <a:lvl9pPr indent="-228600" lvl="8" marL="4114800" algn="l">
              <a:spcBef>
                <a:spcPts val="280"/>
              </a:spcBef>
              <a:spcAft>
                <a:spcPts val="0"/>
              </a:spcAft>
              <a:buSzPts val="1050"/>
              <a:buNone/>
              <a:defRPr sz="1400"/>
            </a:lvl9pPr>
          </a:lstStyle>
          <a:p/>
        </p:txBody>
      </p:sp>
    </p:spTree>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5" name="Shape 25"/>
        <p:cNvGrpSpPr/>
        <p:nvPr/>
      </p:nvGrpSpPr>
      <p:grpSpPr>
        <a:xfrm>
          <a:off x="0" y="0"/>
          <a:ext cx="0" cy="0"/>
          <a:chOff x="0" y="0"/>
          <a:chExt cx="0" cy="0"/>
        </a:xfrm>
      </p:grpSpPr>
      <p:sp>
        <p:nvSpPr>
          <p:cNvPr id="26" name="Google Shape;26;p78"/>
          <p:cNvSpPr txBox="1"/>
          <p:nvPr>
            <p:ph type="title"/>
          </p:nvPr>
        </p:nvSpPr>
        <p:spPr>
          <a:xfrm>
            <a:off x="1149350" y="354013"/>
            <a:ext cx="7607300" cy="560387"/>
          </a:xfrm>
          <a:prstGeom prst="rect">
            <a:avLst/>
          </a:prstGeom>
          <a:solidFill>
            <a:srgbClr val="003399"/>
          </a:solidFill>
          <a:ln cap="flat" cmpd="sng" w="63500">
            <a:solidFill>
              <a:srgbClr val="54385C"/>
            </a:solidFill>
            <a:prstDash val="solid"/>
            <a:miter lim="800000"/>
            <a:headEnd len="sm" w="sm" type="none"/>
            <a:tailEnd len="sm" w="sm" type="none"/>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7" name="Google Shape;27;p78"/>
          <p:cNvSpPr txBox="1"/>
          <p:nvPr>
            <p:ph idx="1" type="body"/>
          </p:nvPr>
        </p:nvSpPr>
        <p:spPr>
          <a:xfrm>
            <a:off x="381000" y="1143000"/>
            <a:ext cx="4114800" cy="4800600"/>
          </a:xfrm>
          <a:prstGeom prst="rect">
            <a:avLst/>
          </a:prstGeom>
          <a:noFill/>
          <a:ln>
            <a:noFill/>
          </a:ln>
        </p:spPr>
        <p:txBody>
          <a:bodyPr anchorCtr="0" anchor="t" bIns="46025" lIns="182550" spcFirstLastPara="1" rIns="182550" wrap="square" tIns="46025">
            <a:noAutofit/>
          </a:bodyPr>
          <a:lstStyle>
            <a:lvl1pPr indent="-361950" lvl="0" marL="457200" algn="l">
              <a:spcBef>
                <a:spcPts val="560"/>
              </a:spcBef>
              <a:spcAft>
                <a:spcPts val="0"/>
              </a:spcAft>
              <a:buSzPts val="2100"/>
              <a:buChar char="●"/>
              <a:defRPr sz="2800"/>
            </a:lvl1pPr>
            <a:lvl2pPr indent="-342900" lvl="1" marL="914400" algn="l">
              <a:spcBef>
                <a:spcPts val="480"/>
              </a:spcBef>
              <a:spcAft>
                <a:spcPts val="0"/>
              </a:spcAft>
              <a:buSzPts val="1800"/>
              <a:buChar char="●"/>
              <a:defRPr sz="2400"/>
            </a:lvl2pPr>
            <a:lvl3pPr indent="-323850" lvl="2" marL="1371600" algn="l">
              <a:spcBef>
                <a:spcPts val="400"/>
              </a:spcBef>
              <a:spcAft>
                <a:spcPts val="0"/>
              </a:spcAft>
              <a:buSzPts val="1500"/>
              <a:buChar char="●"/>
              <a:defRPr sz="2000"/>
            </a:lvl3pPr>
            <a:lvl4pPr indent="-314325" lvl="3" marL="1828800" algn="l">
              <a:spcBef>
                <a:spcPts val="360"/>
              </a:spcBef>
              <a:spcAft>
                <a:spcPts val="0"/>
              </a:spcAft>
              <a:buSzPts val="1350"/>
              <a:buChar char="●"/>
              <a:defRPr sz="1800"/>
            </a:lvl4pPr>
            <a:lvl5pPr indent="-314325" lvl="4" marL="2286000" algn="l">
              <a:spcBef>
                <a:spcPts val="360"/>
              </a:spcBef>
              <a:spcAft>
                <a:spcPts val="0"/>
              </a:spcAft>
              <a:buSzPts val="1350"/>
              <a:buChar char="●"/>
              <a:defRPr sz="1800"/>
            </a:lvl5pPr>
            <a:lvl6pPr indent="-314325" lvl="5" marL="2743200" algn="l">
              <a:spcBef>
                <a:spcPts val="360"/>
              </a:spcBef>
              <a:spcAft>
                <a:spcPts val="0"/>
              </a:spcAft>
              <a:buSzPts val="1350"/>
              <a:buChar char="●"/>
              <a:defRPr sz="1800"/>
            </a:lvl6pPr>
            <a:lvl7pPr indent="-314325" lvl="6" marL="3200400" algn="l">
              <a:spcBef>
                <a:spcPts val="360"/>
              </a:spcBef>
              <a:spcAft>
                <a:spcPts val="0"/>
              </a:spcAft>
              <a:buSzPts val="1350"/>
              <a:buChar char="●"/>
              <a:defRPr sz="1800"/>
            </a:lvl7pPr>
            <a:lvl8pPr indent="-314325" lvl="7" marL="3657600" algn="l">
              <a:spcBef>
                <a:spcPts val="360"/>
              </a:spcBef>
              <a:spcAft>
                <a:spcPts val="0"/>
              </a:spcAft>
              <a:buSzPts val="1350"/>
              <a:buChar char="●"/>
              <a:defRPr sz="1800"/>
            </a:lvl8pPr>
            <a:lvl9pPr indent="-314325" lvl="8" marL="4114800" algn="l">
              <a:spcBef>
                <a:spcPts val="360"/>
              </a:spcBef>
              <a:spcAft>
                <a:spcPts val="0"/>
              </a:spcAft>
              <a:buSzPts val="1350"/>
              <a:buChar char="●"/>
              <a:defRPr sz="1800"/>
            </a:lvl9pPr>
          </a:lstStyle>
          <a:p/>
        </p:txBody>
      </p:sp>
      <p:sp>
        <p:nvSpPr>
          <p:cNvPr id="28" name="Google Shape;28;p78"/>
          <p:cNvSpPr txBox="1"/>
          <p:nvPr>
            <p:ph idx="2" type="body"/>
          </p:nvPr>
        </p:nvSpPr>
        <p:spPr>
          <a:xfrm>
            <a:off x="4648200" y="1143000"/>
            <a:ext cx="4114800" cy="4800600"/>
          </a:xfrm>
          <a:prstGeom prst="rect">
            <a:avLst/>
          </a:prstGeom>
          <a:noFill/>
          <a:ln>
            <a:noFill/>
          </a:ln>
        </p:spPr>
        <p:txBody>
          <a:bodyPr anchorCtr="0" anchor="t" bIns="46025" lIns="182550" spcFirstLastPara="1" rIns="182550" wrap="square" tIns="46025">
            <a:noAutofit/>
          </a:bodyPr>
          <a:lstStyle>
            <a:lvl1pPr indent="-361950" lvl="0" marL="457200" algn="l">
              <a:spcBef>
                <a:spcPts val="560"/>
              </a:spcBef>
              <a:spcAft>
                <a:spcPts val="0"/>
              </a:spcAft>
              <a:buSzPts val="2100"/>
              <a:buChar char="●"/>
              <a:defRPr sz="2800"/>
            </a:lvl1pPr>
            <a:lvl2pPr indent="-342900" lvl="1" marL="914400" algn="l">
              <a:spcBef>
                <a:spcPts val="480"/>
              </a:spcBef>
              <a:spcAft>
                <a:spcPts val="0"/>
              </a:spcAft>
              <a:buSzPts val="1800"/>
              <a:buChar char="●"/>
              <a:defRPr sz="2400"/>
            </a:lvl2pPr>
            <a:lvl3pPr indent="-323850" lvl="2" marL="1371600" algn="l">
              <a:spcBef>
                <a:spcPts val="400"/>
              </a:spcBef>
              <a:spcAft>
                <a:spcPts val="0"/>
              </a:spcAft>
              <a:buSzPts val="1500"/>
              <a:buChar char="●"/>
              <a:defRPr sz="2000"/>
            </a:lvl3pPr>
            <a:lvl4pPr indent="-314325" lvl="3" marL="1828800" algn="l">
              <a:spcBef>
                <a:spcPts val="360"/>
              </a:spcBef>
              <a:spcAft>
                <a:spcPts val="0"/>
              </a:spcAft>
              <a:buSzPts val="1350"/>
              <a:buChar char="●"/>
              <a:defRPr sz="1800"/>
            </a:lvl4pPr>
            <a:lvl5pPr indent="-314325" lvl="4" marL="2286000" algn="l">
              <a:spcBef>
                <a:spcPts val="360"/>
              </a:spcBef>
              <a:spcAft>
                <a:spcPts val="0"/>
              </a:spcAft>
              <a:buSzPts val="1350"/>
              <a:buChar char="●"/>
              <a:defRPr sz="1800"/>
            </a:lvl5pPr>
            <a:lvl6pPr indent="-314325" lvl="5" marL="2743200" algn="l">
              <a:spcBef>
                <a:spcPts val="360"/>
              </a:spcBef>
              <a:spcAft>
                <a:spcPts val="0"/>
              </a:spcAft>
              <a:buSzPts val="1350"/>
              <a:buChar char="●"/>
              <a:defRPr sz="1800"/>
            </a:lvl6pPr>
            <a:lvl7pPr indent="-314325" lvl="6" marL="3200400" algn="l">
              <a:spcBef>
                <a:spcPts val="360"/>
              </a:spcBef>
              <a:spcAft>
                <a:spcPts val="0"/>
              </a:spcAft>
              <a:buSzPts val="1350"/>
              <a:buChar char="●"/>
              <a:defRPr sz="1800"/>
            </a:lvl7pPr>
            <a:lvl8pPr indent="-314325" lvl="7" marL="3657600" algn="l">
              <a:spcBef>
                <a:spcPts val="360"/>
              </a:spcBef>
              <a:spcAft>
                <a:spcPts val="0"/>
              </a:spcAft>
              <a:buSzPts val="1350"/>
              <a:buChar char="●"/>
              <a:defRPr sz="1800"/>
            </a:lvl8pPr>
            <a:lvl9pPr indent="-314325" lvl="8" marL="4114800" algn="l">
              <a:spcBef>
                <a:spcPts val="360"/>
              </a:spcBef>
              <a:spcAft>
                <a:spcPts val="0"/>
              </a:spcAft>
              <a:buSzPts val="1350"/>
              <a:buChar char="●"/>
              <a:defRPr sz="1800"/>
            </a:lvl9pPr>
          </a:lstStyle>
          <a:p/>
        </p:txBody>
      </p:sp>
    </p:spTree>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9" name="Shape 29"/>
        <p:cNvGrpSpPr/>
        <p:nvPr/>
      </p:nvGrpSpPr>
      <p:grpSpPr>
        <a:xfrm>
          <a:off x="0" y="0"/>
          <a:ext cx="0" cy="0"/>
          <a:chOff x="0" y="0"/>
          <a:chExt cx="0" cy="0"/>
        </a:xfrm>
      </p:grpSpPr>
      <p:sp>
        <p:nvSpPr>
          <p:cNvPr id="30" name="Google Shape;30;p79"/>
          <p:cNvSpPr txBox="1"/>
          <p:nvPr>
            <p:ph type="title"/>
          </p:nvPr>
        </p:nvSpPr>
        <p:spPr>
          <a:xfrm>
            <a:off x="457200" y="274638"/>
            <a:ext cx="8229600" cy="1143000"/>
          </a:xfrm>
          <a:prstGeom prst="rect">
            <a:avLst/>
          </a:prstGeom>
          <a:solidFill>
            <a:srgbClr val="003399"/>
          </a:solidFill>
          <a:ln cap="flat" cmpd="sng" w="63500">
            <a:solidFill>
              <a:srgbClr val="54385C"/>
            </a:solidFill>
            <a:prstDash val="solid"/>
            <a:miter lim="800000"/>
            <a:headEnd len="sm" w="sm" type="none"/>
            <a:tailEnd len="sm" w="sm" type="none"/>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1" name="Google Shape;31;p79"/>
          <p:cNvSpPr txBox="1"/>
          <p:nvPr>
            <p:ph idx="1" type="body"/>
          </p:nvPr>
        </p:nvSpPr>
        <p:spPr>
          <a:xfrm>
            <a:off x="457200" y="1535113"/>
            <a:ext cx="4040188" cy="639762"/>
          </a:xfrm>
          <a:prstGeom prst="rect">
            <a:avLst/>
          </a:prstGeom>
          <a:noFill/>
          <a:ln>
            <a:noFill/>
          </a:ln>
        </p:spPr>
        <p:txBody>
          <a:bodyPr anchorCtr="0" anchor="b" bIns="46025" lIns="182550" spcFirstLastPara="1" rIns="182550" wrap="square" tIns="46025">
            <a:noAutofit/>
          </a:bodyPr>
          <a:lstStyle>
            <a:lvl1pPr indent="-228600" lvl="0" marL="457200" algn="l">
              <a:spcBef>
                <a:spcPts val="480"/>
              </a:spcBef>
              <a:spcAft>
                <a:spcPts val="0"/>
              </a:spcAft>
              <a:buSzPts val="1800"/>
              <a:buNone/>
              <a:defRPr b="1" sz="2400"/>
            </a:lvl1pPr>
            <a:lvl2pPr indent="-228600" lvl="1" marL="914400" algn="l">
              <a:spcBef>
                <a:spcPts val="400"/>
              </a:spcBef>
              <a:spcAft>
                <a:spcPts val="0"/>
              </a:spcAft>
              <a:buSzPts val="1500"/>
              <a:buNone/>
              <a:defRPr b="1" sz="2000"/>
            </a:lvl2pPr>
            <a:lvl3pPr indent="-228600" lvl="2" marL="1371600" algn="l">
              <a:spcBef>
                <a:spcPts val="360"/>
              </a:spcBef>
              <a:spcAft>
                <a:spcPts val="0"/>
              </a:spcAft>
              <a:buSzPts val="1350"/>
              <a:buNone/>
              <a:defRPr b="1" sz="1800"/>
            </a:lvl3pPr>
            <a:lvl4pPr indent="-228600" lvl="3" marL="1828800" algn="l">
              <a:spcBef>
                <a:spcPts val="320"/>
              </a:spcBef>
              <a:spcAft>
                <a:spcPts val="0"/>
              </a:spcAft>
              <a:buSzPts val="1200"/>
              <a:buNone/>
              <a:defRPr b="1" sz="1600"/>
            </a:lvl4pPr>
            <a:lvl5pPr indent="-228600" lvl="4" marL="2286000" algn="l">
              <a:spcBef>
                <a:spcPts val="320"/>
              </a:spcBef>
              <a:spcAft>
                <a:spcPts val="0"/>
              </a:spcAft>
              <a:buSzPts val="1200"/>
              <a:buNone/>
              <a:defRPr b="1" sz="1600"/>
            </a:lvl5pPr>
            <a:lvl6pPr indent="-228600" lvl="5" marL="2743200" algn="l">
              <a:spcBef>
                <a:spcPts val="320"/>
              </a:spcBef>
              <a:spcAft>
                <a:spcPts val="0"/>
              </a:spcAft>
              <a:buSzPts val="1200"/>
              <a:buNone/>
              <a:defRPr b="1" sz="1600"/>
            </a:lvl6pPr>
            <a:lvl7pPr indent="-228600" lvl="6" marL="3200400" algn="l">
              <a:spcBef>
                <a:spcPts val="320"/>
              </a:spcBef>
              <a:spcAft>
                <a:spcPts val="0"/>
              </a:spcAft>
              <a:buSzPts val="1200"/>
              <a:buNone/>
              <a:defRPr b="1" sz="1600"/>
            </a:lvl7pPr>
            <a:lvl8pPr indent="-228600" lvl="7" marL="3657600" algn="l">
              <a:spcBef>
                <a:spcPts val="320"/>
              </a:spcBef>
              <a:spcAft>
                <a:spcPts val="0"/>
              </a:spcAft>
              <a:buSzPts val="1200"/>
              <a:buNone/>
              <a:defRPr b="1" sz="1600"/>
            </a:lvl8pPr>
            <a:lvl9pPr indent="-228600" lvl="8" marL="4114800" algn="l">
              <a:spcBef>
                <a:spcPts val="320"/>
              </a:spcBef>
              <a:spcAft>
                <a:spcPts val="0"/>
              </a:spcAft>
              <a:buSzPts val="1200"/>
              <a:buNone/>
              <a:defRPr b="1" sz="1600"/>
            </a:lvl9pPr>
          </a:lstStyle>
          <a:p/>
        </p:txBody>
      </p:sp>
      <p:sp>
        <p:nvSpPr>
          <p:cNvPr id="32" name="Google Shape;32;p79"/>
          <p:cNvSpPr txBox="1"/>
          <p:nvPr>
            <p:ph idx="2" type="body"/>
          </p:nvPr>
        </p:nvSpPr>
        <p:spPr>
          <a:xfrm>
            <a:off x="457200" y="2174875"/>
            <a:ext cx="4040188" cy="3951288"/>
          </a:xfrm>
          <a:prstGeom prst="rect">
            <a:avLst/>
          </a:prstGeom>
          <a:noFill/>
          <a:ln>
            <a:noFill/>
          </a:ln>
        </p:spPr>
        <p:txBody>
          <a:bodyPr anchorCtr="0" anchor="t" bIns="46025" lIns="182550" spcFirstLastPara="1" rIns="182550" wrap="square" tIns="46025">
            <a:noAutofit/>
          </a:bodyPr>
          <a:lstStyle>
            <a:lvl1pPr indent="-342900" lvl="0" marL="457200" algn="l">
              <a:spcBef>
                <a:spcPts val="480"/>
              </a:spcBef>
              <a:spcAft>
                <a:spcPts val="0"/>
              </a:spcAft>
              <a:buSzPts val="1800"/>
              <a:buChar char="●"/>
              <a:defRPr sz="2400"/>
            </a:lvl1pPr>
            <a:lvl2pPr indent="-323850" lvl="1" marL="914400" algn="l">
              <a:spcBef>
                <a:spcPts val="400"/>
              </a:spcBef>
              <a:spcAft>
                <a:spcPts val="0"/>
              </a:spcAft>
              <a:buSzPts val="1500"/>
              <a:buChar char="●"/>
              <a:defRPr sz="2000"/>
            </a:lvl2pPr>
            <a:lvl3pPr indent="-314325" lvl="2" marL="1371600" algn="l">
              <a:spcBef>
                <a:spcPts val="360"/>
              </a:spcBef>
              <a:spcAft>
                <a:spcPts val="0"/>
              </a:spcAft>
              <a:buSzPts val="1350"/>
              <a:buChar char="●"/>
              <a:defRPr sz="1800"/>
            </a:lvl3pPr>
            <a:lvl4pPr indent="-304800" lvl="3" marL="1828800" algn="l">
              <a:spcBef>
                <a:spcPts val="320"/>
              </a:spcBef>
              <a:spcAft>
                <a:spcPts val="0"/>
              </a:spcAft>
              <a:buSzPts val="1200"/>
              <a:buChar char="●"/>
              <a:defRPr sz="1600"/>
            </a:lvl4pPr>
            <a:lvl5pPr indent="-304800" lvl="4" marL="2286000" algn="l">
              <a:spcBef>
                <a:spcPts val="320"/>
              </a:spcBef>
              <a:spcAft>
                <a:spcPts val="0"/>
              </a:spcAft>
              <a:buSzPts val="1200"/>
              <a:buChar char="●"/>
              <a:defRPr sz="1600"/>
            </a:lvl5pPr>
            <a:lvl6pPr indent="-304800" lvl="5" marL="2743200" algn="l">
              <a:spcBef>
                <a:spcPts val="320"/>
              </a:spcBef>
              <a:spcAft>
                <a:spcPts val="0"/>
              </a:spcAft>
              <a:buSzPts val="1200"/>
              <a:buChar char="●"/>
              <a:defRPr sz="1600"/>
            </a:lvl6pPr>
            <a:lvl7pPr indent="-304800" lvl="6" marL="3200400" algn="l">
              <a:spcBef>
                <a:spcPts val="320"/>
              </a:spcBef>
              <a:spcAft>
                <a:spcPts val="0"/>
              </a:spcAft>
              <a:buSzPts val="1200"/>
              <a:buChar char="●"/>
              <a:defRPr sz="1600"/>
            </a:lvl7pPr>
            <a:lvl8pPr indent="-304800" lvl="7" marL="3657600" algn="l">
              <a:spcBef>
                <a:spcPts val="320"/>
              </a:spcBef>
              <a:spcAft>
                <a:spcPts val="0"/>
              </a:spcAft>
              <a:buSzPts val="1200"/>
              <a:buChar char="●"/>
              <a:defRPr sz="1600"/>
            </a:lvl8pPr>
            <a:lvl9pPr indent="-304800" lvl="8" marL="4114800" algn="l">
              <a:spcBef>
                <a:spcPts val="320"/>
              </a:spcBef>
              <a:spcAft>
                <a:spcPts val="0"/>
              </a:spcAft>
              <a:buSzPts val="1200"/>
              <a:buChar char="●"/>
              <a:defRPr sz="1600"/>
            </a:lvl9pPr>
          </a:lstStyle>
          <a:p/>
        </p:txBody>
      </p:sp>
      <p:sp>
        <p:nvSpPr>
          <p:cNvPr id="33" name="Google Shape;33;p79"/>
          <p:cNvSpPr txBox="1"/>
          <p:nvPr>
            <p:ph idx="3" type="body"/>
          </p:nvPr>
        </p:nvSpPr>
        <p:spPr>
          <a:xfrm>
            <a:off x="4645025" y="1535113"/>
            <a:ext cx="4041775" cy="639762"/>
          </a:xfrm>
          <a:prstGeom prst="rect">
            <a:avLst/>
          </a:prstGeom>
          <a:noFill/>
          <a:ln>
            <a:noFill/>
          </a:ln>
        </p:spPr>
        <p:txBody>
          <a:bodyPr anchorCtr="0" anchor="b" bIns="46025" lIns="182550" spcFirstLastPara="1" rIns="182550" wrap="square" tIns="46025">
            <a:noAutofit/>
          </a:bodyPr>
          <a:lstStyle>
            <a:lvl1pPr indent="-228600" lvl="0" marL="457200" algn="l">
              <a:spcBef>
                <a:spcPts val="480"/>
              </a:spcBef>
              <a:spcAft>
                <a:spcPts val="0"/>
              </a:spcAft>
              <a:buSzPts val="1800"/>
              <a:buNone/>
              <a:defRPr b="1" sz="2400"/>
            </a:lvl1pPr>
            <a:lvl2pPr indent="-228600" lvl="1" marL="914400" algn="l">
              <a:spcBef>
                <a:spcPts val="400"/>
              </a:spcBef>
              <a:spcAft>
                <a:spcPts val="0"/>
              </a:spcAft>
              <a:buSzPts val="1500"/>
              <a:buNone/>
              <a:defRPr b="1" sz="2000"/>
            </a:lvl2pPr>
            <a:lvl3pPr indent="-228600" lvl="2" marL="1371600" algn="l">
              <a:spcBef>
                <a:spcPts val="360"/>
              </a:spcBef>
              <a:spcAft>
                <a:spcPts val="0"/>
              </a:spcAft>
              <a:buSzPts val="1350"/>
              <a:buNone/>
              <a:defRPr b="1" sz="1800"/>
            </a:lvl3pPr>
            <a:lvl4pPr indent="-228600" lvl="3" marL="1828800" algn="l">
              <a:spcBef>
                <a:spcPts val="320"/>
              </a:spcBef>
              <a:spcAft>
                <a:spcPts val="0"/>
              </a:spcAft>
              <a:buSzPts val="1200"/>
              <a:buNone/>
              <a:defRPr b="1" sz="1600"/>
            </a:lvl4pPr>
            <a:lvl5pPr indent="-228600" lvl="4" marL="2286000" algn="l">
              <a:spcBef>
                <a:spcPts val="320"/>
              </a:spcBef>
              <a:spcAft>
                <a:spcPts val="0"/>
              </a:spcAft>
              <a:buSzPts val="1200"/>
              <a:buNone/>
              <a:defRPr b="1" sz="1600"/>
            </a:lvl5pPr>
            <a:lvl6pPr indent="-228600" lvl="5" marL="2743200" algn="l">
              <a:spcBef>
                <a:spcPts val="320"/>
              </a:spcBef>
              <a:spcAft>
                <a:spcPts val="0"/>
              </a:spcAft>
              <a:buSzPts val="1200"/>
              <a:buNone/>
              <a:defRPr b="1" sz="1600"/>
            </a:lvl6pPr>
            <a:lvl7pPr indent="-228600" lvl="6" marL="3200400" algn="l">
              <a:spcBef>
                <a:spcPts val="320"/>
              </a:spcBef>
              <a:spcAft>
                <a:spcPts val="0"/>
              </a:spcAft>
              <a:buSzPts val="1200"/>
              <a:buNone/>
              <a:defRPr b="1" sz="1600"/>
            </a:lvl7pPr>
            <a:lvl8pPr indent="-228600" lvl="7" marL="3657600" algn="l">
              <a:spcBef>
                <a:spcPts val="320"/>
              </a:spcBef>
              <a:spcAft>
                <a:spcPts val="0"/>
              </a:spcAft>
              <a:buSzPts val="1200"/>
              <a:buNone/>
              <a:defRPr b="1" sz="1600"/>
            </a:lvl8pPr>
            <a:lvl9pPr indent="-228600" lvl="8" marL="4114800" algn="l">
              <a:spcBef>
                <a:spcPts val="320"/>
              </a:spcBef>
              <a:spcAft>
                <a:spcPts val="0"/>
              </a:spcAft>
              <a:buSzPts val="1200"/>
              <a:buNone/>
              <a:defRPr b="1" sz="1600"/>
            </a:lvl9pPr>
          </a:lstStyle>
          <a:p/>
        </p:txBody>
      </p:sp>
      <p:sp>
        <p:nvSpPr>
          <p:cNvPr id="34" name="Google Shape;34;p79"/>
          <p:cNvSpPr txBox="1"/>
          <p:nvPr>
            <p:ph idx="4" type="body"/>
          </p:nvPr>
        </p:nvSpPr>
        <p:spPr>
          <a:xfrm>
            <a:off x="4645025" y="2174875"/>
            <a:ext cx="4041775" cy="3951288"/>
          </a:xfrm>
          <a:prstGeom prst="rect">
            <a:avLst/>
          </a:prstGeom>
          <a:noFill/>
          <a:ln>
            <a:noFill/>
          </a:ln>
        </p:spPr>
        <p:txBody>
          <a:bodyPr anchorCtr="0" anchor="t" bIns="46025" lIns="182550" spcFirstLastPara="1" rIns="182550" wrap="square" tIns="46025">
            <a:noAutofit/>
          </a:bodyPr>
          <a:lstStyle>
            <a:lvl1pPr indent="-342900" lvl="0" marL="457200" algn="l">
              <a:spcBef>
                <a:spcPts val="480"/>
              </a:spcBef>
              <a:spcAft>
                <a:spcPts val="0"/>
              </a:spcAft>
              <a:buSzPts val="1800"/>
              <a:buChar char="●"/>
              <a:defRPr sz="2400"/>
            </a:lvl1pPr>
            <a:lvl2pPr indent="-323850" lvl="1" marL="914400" algn="l">
              <a:spcBef>
                <a:spcPts val="400"/>
              </a:spcBef>
              <a:spcAft>
                <a:spcPts val="0"/>
              </a:spcAft>
              <a:buSzPts val="1500"/>
              <a:buChar char="●"/>
              <a:defRPr sz="2000"/>
            </a:lvl2pPr>
            <a:lvl3pPr indent="-314325" lvl="2" marL="1371600" algn="l">
              <a:spcBef>
                <a:spcPts val="360"/>
              </a:spcBef>
              <a:spcAft>
                <a:spcPts val="0"/>
              </a:spcAft>
              <a:buSzPts val="1350"/>
              <a:buChar char="●"/>
              <a:defRPr sz="1800"/>
            </a:lvl3pPr>
            <a:lvl4pPr indent="-304800" lvl="3" marL="1828800" algn="l">
              <a:spcBef>
                <a:spcPts val="320"/>
              </a:spcBef>
              <a:spcAft>
                <a:spcPts val="0"/>
              </a:spcAft>
              <a:buSzPts val="1200"/>
              <a:buChar char="●"/>
              <a:defRPr sz="1600"/>
            </a:lvl4pPr>
            <a:lvl5pPr indent="-304800" lvl="4" marL="2286000" algn="l">
              <a:spcBef>
                <a:spcPts val="320"/>
              </a:spcBef>
              <a:spcAft>
                <a:spcPts val="0"/>
              </a:spcAft>
              <a:buSzPts val="1200"/>
              <a:buChar char="●"/>
              <a:defRPr sz="1600"/>
            </a:lvl5pPr>
            <a:lvl6pPr indent="-304800" lvl="5" marL="2743200" algn="l">
              <a:spcBef>
                <a:spcPts val="320"/>
              </a:spcBef>
              <a:spcAft>
                <a:spcPts val="0"/>
              </a:spcAft>
              <a:buSzPts val="1200"/>
              <a:buChar char="●"/>
              <a:defRPr sz="1600"/>
            </a:lvl6pPr>
            <a:lvl7pPr indent="-304800" lvl="6" marL="3200400" algn="l">
              <a:spcBef>
                <a:spcPts val="320"/>
              </a:spcBef>
              <a:spcAft>
                <a:spcPts val="0"/>
              </a:spcAft>
              <a:buSzPts val="1200"/>
              <a:buChar char="●"/>
              <a:defRPr sz="1600"/>
            </a:lvl7pPr>
            <a:lvl8pPr indent="-304800" lvl="7" marL="3657600" algn="l">
              <a:spcBef>
                <a:spcPts val="320"/>
              </a:spcBef>
              <a:spcAft>
                <a:spcPts val="0"/>
              </a:spcAft>
              <a:buSzPts val="1200"/>
              <a:buChar char="●"/>
              <a:defRPr sz="1600"/>
            </a:lvl8pPr>
            <a:lvl9pPr indent="-304800" lvl="8" marL="4114800" algn="l">
              <a:spcBef>
                <a:spcPts val="320"/>
              </a:spcBef>
              <a:spcAft>
                <a:spcPts val="0"/>
              </a:spcAft>
              <a:buSzPts val="1200"/>
              <a:buChar char="●"/>
              <a:defRPr sz="1600"/>
            </a:lvl9pPr>
          </a:lstStyle>
          <a:p/>
        </p:txBody>
      </p:sp>
    </p:spTree>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5" name="Shape 35"/>
        <p:cNvGrpSpPr/>
        <p:nvPr/>
      </p:nvGrpSpPr>
      <p:grpSpPr>
        <a:xfrm>
          <a:off x="0" y="0"/>
          <a:ext cx="0" cy="0"/>
          <a:chOff x="0" y="0"/>
          <a:chExt cx="0" cy="0"/>
        </a:xfrm>
      </p:grpSpPr>
      <p:sp>
        <p:nvSpPr>
          <p:cNvPr id="36" name="Google Shape;36;p80"/>
          <p:cNvSpPr txBox="1"/>
          <p:nvPr>
            <p:ph type="title"/>
          </p:nvPr>
        </p:nvSpPr>
        <p:spPr>
          <a:xfrm>
            <a:off x="457200" y="273050"/>
            <a:ext cx="3008313" cy="1162050"/>
          </a:xfrm>
          <a:prstGeom prst="rect">
            <a:avLst/>
          </a:prstGeom>
          <a:solidFill>
            <a:srgbClr val="003399"/>
          </a:solidFill>
          <a:ln cap="flat" cmpd="sng" w="63500">
            <a:solidFill>
              <a:srgbClr val="54385C"/>
            </a:solidFill>
            <a:prstDash val="solid"/>
            <a:miter lim="800000"/>
            <a:headEnd len="sm" w="sm" type="none"/>
            <a:tailEnd len="sm" w="sm" type="none"/>
          </a:ln>
        </p:spPr>
        <p:txBody>
          <a:bodyPr anchorCtr="0" anchor="b" bIns="46025" lIns="92075" spcFirstLastPara="1" rIns="92075" wrap="square" tIns="46025">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7" name="Google Shape;37;p80"/>
          <p:cNvSpPr txBox="1"/>
          <p:nvPr>
            <p:ph idx="1" type="body"/>
          </p:nvPr>
        </p:nvSpPr>
        <p:spPr>
          <a:xfrm>
            <a:off x="3575050" y="273050"/>
            <a:ext cx="5111750" cy="5853113"/>
          </a:xfrm>
          <a:prstGeom prst="rect">
            <a:avLst/>
          </a:prstGeom>
          <a:noFill/>
          <a:ln>
            <a:noFill/>
          </a:ln>
        </p:spPr>
        <p:txBody>
          <a:bodyPr anchorCtr="0" anchor="t" bIns="46025" lIns="182550" spcFirstLastPara="1" rIns="182550" wrap="square" tIns="46025">
            <a:noAutofit/>
          </a:bodyPr>
          <a:lstStyle>
            <a:lvl1pPr indent="-381000" lvl="0" marL="457200" algn="l">
              <a:spcBef>
                <a:spcPts val="640"/>
              </a:spcBef>
              <a:spcAft>
                <a:spcPts val="0"/>
              </a:spcAft>
              <a:buSzPts val="2400"/>
              <a:buChar char="●"/>
              <a:defRPr sz="3200"/>
            </a:lvl1pPr>
            <a:lvl2pPr indent="-361950" lvl="1" marL="914400" algn="l">
              <a:spcBef>
                <a:spcPts val="560"/>
              </a:spcBef>
              <a:spcAft>
                <a:spcPts val="0"/>
              </a:spcAft>
              <a:buSzPts val="2100"/>
              <a:buChar char="●"/>
              <a:defRPr sz="2800"/>
            </a:lvl2pPr>
            <a:lvl3pPr indent="-342900" lvl="2" marL="1371600" algn="l">
              <a:spcBef>
                <a:spcPts val="480"/>
              </a:spcBef>
              <a:spcAft>
                <a:spcPts val="0"/>
              </a:spcAft>
              <a:buSzPts val="1800"/>
              <a:buChar char="●"/>
              <a:defRPr sz="2400"/>
            </a:lvl3pPr>
            <a:lvl4pPr indent="-323850" lvl="3" marL="1828800" algn="l">
              <a:spcBef>
                <a:spcPts val="400"/>
              </a:spcBef>
              <a:spcAft>
                <a:spcPts val="0"/>
              </a:spcAft>
              <a:buSzPts val="1500"/>
              <a:buChar char="●"/>
              <a:defRPr sz="2000"/>
            </a:lvl4pPr>
            <a:lvl5pPr indent="-323850" lvl="4" marL="2286000" algn="l">
              <a:spcBef>
                <a:spcPts val="400"/>
              </a:spcBef>
              <a:spcAft>
                <a:spcPts val="0"/>
              </a:spcAft>
              <a:buSzPts val="1500"/>
              <a:buChar char="●"/>
              <a:defRPr sz="2000"/>
            </a:lvl5pPr>
            <a:lvl6pPr indent="-323850" lvl="5" marL="2743200" algn="l">
              <a:spcBef>
                <a:spcPts val="400"/>
              </a:spcBef>
              <a:spcAft>
                <a:spcPts val="0"/>
              </a:spcAft>
              <a:buSzPts val="1500"/>
              <a:buChar char="●"/>
              <a:defRPr sz="2000"/>
            </a:lvl6pPr>
            <a:lvl7pPr indent="-323850" lvl="6" marL="3200400" algn="l">
              <a:spcBef>
                <a:spcPts val="400"/>
              </a:spcBef>
              <a:spcAft>
                <a:spcPts val="0"/>
              </a:spcAft>
              <a:buSzPts val="1500"/>
              <a:buChar char="●"/>
              <a:defRPr sz="2000"/>
            </a:lvl7pPr>
            <a:lvl8pPr indent="-323850" lvl="7" marL="3657600" algn="l">
              <a:spcBef>
                <a:spcPts val="400"/>
              </a:spcBef>
              <a:spcAft>
                <a:spcPts val="0"/>
              </a:spcAft>
              <a:buSzPts val="1500"/>
              <a:buChar char="●"/>
              <a:defRPr sz="2000"/>
            </a:lvl8pPr>
            <a:lvl9pPr indent="-323850" lvl="8" marL="4114800" algn="l">
              <a:spcBef>
                <a:spcPts val="400"/>
              </a:spcBef>
              <a:spcAft>
                <a:spcPts val="0"/>
              </a:spcAft>
              <a:buSzPts val="1500"/>
              <a:buChar char="●"/>
              <a:defRPr sz="2000"/>
            </a:lvl9pPr>
          </a:lstStyle>
          <a:p/>
        </p:txBody>
      </p:sp>
      <p:sp>
        <p:nvSpPr>
          <p:cNvPr id="38" name="Google Shape;38;p80"/>
          <p:cNvSpPr txBox="1"/>
          <p:nvPr>
            <p:ph idx="2" type="body"/>
          </p:nvPr>
        </p:nvSpPr>
        <p:spPr>
          <a:xfrm>
            <a:off x="457200" y="1435100"/>
            <a:ext cx="3008313" cy="4691063"/>
          </a:xfrm>
          <a:prstGeom prst="rect">
            <a:avLst/>
          </a:prstGeom>
          <a:noFill/>
          <a:ln>
            <a:noFill/>
          </a:ln>
        </p:spPr>
        <p:txBody>
          <a:bodyPr anchorCtr="0" anchor="t" bIns="46025" lIns="182550" spcFirstLastPara="1" rIns="182550" wrap="square" tIns="46025">
            <a:noAutofit/>
          </a:bodyPr>
          <a:lstStyle>
            <a:lvl1pPr indent="-228600" lvl="0" marL="457200" algn="l">
              <a:spcBef>
                <a:spcPts val="280"/>
              </a:spcBef>
              <a:spcAft>
                <a:spcPts val="0"/>
              </a:spcAft>
              <a:buSzPts val="1050"/>
              <a:buNone/>
              <a:defRPr sz="1400"/>
            </a:lvl1pPr>
            <a:lvl2pPr indent="-228600" lvl="1" marL="914400" algn="l">
              <a:spcBef>
                <a:spcPts val="240"/>
              </a:spcBef>
              <a:spcAft>
                <a:spcPts val="0"/>
              </a:spcAft>
              <a:buSzPts val="900"/>
              <a:buNone/>
              <a:defRPr sz="1200"/>
            </a:lvl2pPr>
            <a:lvl3pPr indent="-228600" lvl="2" marL="1371600" algn="l">
              <a:spcBef>
                <a:spcPts val="200"/>
              </a:spcBef>
              <a:spcAft>
                <a:spcPts val="0"/>
              </a:spcAft>
              <a:buSzPts val="750"/>
              <a:buNone/>
              <a:defRPr sz="1000"/>
            </a:lvl3pPr>
            <a:lvl4pPr indent="-228600" lvl="3" marL="1828800" algn="l">
              <a:spcBef>
                <a:spcPts val="180"/>
              </a:spcBef>
              <a:spcAft>
                <a:spcPts val="0"/>
              </a:spcAft>
              <a:buSzPts val="675"/>
              <a:buNone/>
              <a:defRPr sz="900"/>
            </a:lvl4pPr>
            <a:lvl5pPr indent="-228600" lvl="4" marL="2286000" algn="l">
              <a:spcBef>
                <a:spcPts val="180"/>
              </a:spcBef>
              <a:spcAft>
                <a:spcPts val="0"/>
              </a:spcAft>
              <a:buSzPts val="675"/>
              <a:buNone/>
              <a:defRPr sz="900"/>
            </a:lvl5pPr>
            <a:lvl6pPr indent="-228600" lvl="5" marL="2743200" algn="l">
              <a:spcBef>
                <a:spcPts val="180"/>
              </a:spcBef>
              <a:spcAft>
                <a:spcPts val="0"/>
              </a:spcAft>
              <a:buSzPts val="675"/>
              <a:buNone/>
              <a:defRPr sz="900"/>
            </a:lvl6pPr>
            <a:lvl7pPr indent="-228600" lvl="6" marL="3200400" algn="l">
              <a:spcBef>
                <a:spcPts val="180"/>
              </a:spcBef>
              <a:spcAft>
                <a:spcPts val="0"/>
              </a:spcAft>
              <a:buSzPts val="675"/>
              <a:buNone/>
              <a:defRPr sz="900"/>
            </a:lvl7pPr>
            <a:lvl8pPr indent="-228600" lvl="7" marL="3657600" algn="l">
              <a:spcBef>
                <a:spcPts val="180"/>
              </a:spcBef>
              <a:spcAft>
                <a:spcPts val="0"/>
              </a:spcAft>
              <a:buSzPts val="675"/>
              <a:buNone/>
              <a:defRPr sz="900"/>
            </a:lvl8pPr>
            <a:lvl9pPr indent="-228600" lvl="8" marL="4114800" algn="l">
              <a:spcBef>
                <a:spcPts val="180"/>
              </a:spcBef>
              <a:spcAft>
                <a:spcPts val="0"/>
              </a:spcAft>
              <a:buSzPts val="675"/>
              <a:buNone/>
              <a:defRPr sz="900"/>
            </a:lvl9pPr>
          </a:lstStyle>
          <a:p/>
        </p:txBody>
      </p:sp>
    </p:spTree>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9" name="Shape 39"/>
        <p:cNvGrpSpPr/>
        <p:nvPr/>
      </p:nvGrpSpPr>
      <p:grpSpPr>
        <a:xfrm>
          <a:off x="0" y="0"/>
          <a:ext cx="0" cy="0"/>
          <a:chOff x="0" y="0"/>
          <a:chExt cx="0" cy="0"/>
        </a:xfrm>
      </p:grpSpPr>
      <p:sp>
        <p:nvSpPr>
          <p:cNvPr id="40" name="Google Shape;40;p81"/>
          <p:cNvSpPr txBox="1"/>
          <p:nvPr>
            <p:ph type="title"/>
          </p:nvPr>
        </p:nvSpPr>
        <p:spPr>
          <a:xfrm>
            <a:off x="1792288" y="4800600"/>
            <a:ext cx="5486400" cy="566738"/>
          </a:xfrm>
          <a:prstGeom prst="rect">
            <a:avLst/>
          </a:prstGeom>
          <a:solidFill>
            <a:srgbClr val="003399"/>
          </a:solidFill>
          <a:ln cap="flat" cmpd="sng" w="63500">
            <a:solidFill>
              <a:srgbClr val="54385C"/>
            </a:solidFill>
            <a:prstDash val="solid"/>
            <a:miter lim="800000"/>
            <a:headEnd len="sm" w="sm" type="none"/>
            <a:tailEnd len="sm" w="sm" type="none"/>
          </a:ln>
        </p:spPr>
        <p:txBody>
          <a:bodyPr anchorCtr="0" anchor="b" bIns="46025" lIns="92075" spcFirstLastPara="1" rIns="92075" wrap="square" tIns="46025">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1" name="Google Shape;41;p81"/>
          <p:cNvSpPr/>
          <p:nvPr>
            <p:ph idx="2" type="pic"/>
          </p:nvPr>
        </p:nvSpPr>
        <p:spPr>
          <a:xfrm>
            <a:off x="1792288" y="612775"/>
            <a:ext cx="5486400" cy="4114800"/>
          </a:xfrm>
          <a:prstGeom prst="rect">
            <a:avLst/>
          </a:prstGeom>
          <a:noFill/>
          <a:ln>
            <a:noFill/>
          </a:ln>
        </p:spPr>
      </p:sp>
      <p:sp>
        <p:nvSpPr>
          <p:cNvPr id="42" name="Google Shape;42;p81"/>
          <p:cNvSpPr txBox="1"/>
          <p:nvPr>
            <p:ph idx="1" type="body"/>
          </p:nvPr>
        </p:nvSpPr>
        <p:spPr>
          <a:xfrm>
            <a:off x="1792288" y="5367338"/>
            <a:ext cx="5486400" cy="804862"/>
          </a:xfrm>
          <a:prstGeom prst="rect">
            <a:avLst/>
          </a:prstGeom>
          <a:noFill/>
          <a:ln>
            <a:noFill/>
          </a:ln>
        </p:spPr>
        <p:txBody>
          <a:bodyPr anchorCtr="0" anchor="t" bIns="46025" lIns="182550" spcFirstLastPara="1" rIns="182550" wrap="square" tIns="46025">
            <a:noAutofit/>
          </a:bodyPr>
          <a:lstStyle>
            <a:lvl1pPr indent="-228600" lvl="0" marL="457200" algn="l">
              <a:spcBef>
                <a:spcPts val="280"/>
              </a:spcBef>
              <a:spcAft>
                <a:spcPts val="0"/>
              </a:spcAft>
              <a:buSzPts val="1050"/>
              <a:buNone/>
              <a:defRPr sz="1400"/>
            </a:lvl1pPr>
            <a:lvl2pPr indent="-228600" lvl="1" marL="914400" algn="l">
              <a:spcBef>
                <a:spcPts val="240"/>
              </a:spcBef>
              <a:spcAft>
                <a:spcPts val="0"/>
              </a:spcAft>
              <a:buSzPts val="900"/>
              <a:buNone/>
              <a:defRPr sz="1200"/>
            </a:lvl2pPr>
            <a:lvl3pPr indent="-228600" lvl="2" marL="1371600" algn="l">
              <a:spcBef>
                <a:spcPts val="200"/>
              </a:spcBef>
              <a:spcAft>
                <a:spcPts val="0"/>
              </a:spcAft>
              <a:buSzPts val="750"/>
              <a:buNone/>
              <a:defRPr sz="1000"/>
            </a:lvl3pPr>
            <a:lvl4pPr indent="-228600" lvl="3" marL="1828800" algn="l">
              <a:spcBef>
                <a:spcPts val="180"/>
              </a:spcBef>
              <a:spcAft>
                <a:spcPts val="0"/>
              </a:spcAft>
              <a:buSzPts val="675"/>
              <a:buNone/>
              <a:defRPr sz="900"/>
            </a:lvl4pPr>
            <a:lvl5pPr indent="-228600" lvl="4" marL="2286000" algn="l">
              <a:spcBef>
                <a:spcPts val="180"/>
              </a:spcBef>
              <a:spcAft>
                <a:spcPts val="0"/>
              </a:spcAft>
              <a:buSzPts val="675"/>
              <a:buNone/>
              <a:defRPr sz="900"/>
            </a:lvl5pPr>
            <a:lvl6pPr indent="-228600" lvl="5" marL="2743200" algn="l">
              <a:spcBef>
                <a:spcPts val="180"/>
              </a:spcBef>
              <a:spcAft>
                <a:spcPts val="0"/>
              </a:spcAft>
              <a:buSzPts val="675"/>
              <a:buNone/>
              <a:defRPr sz="900"/>
            </a:lvl6pPr>
            <a:lvl7pPr indent="-228600" lvl="6" marL="3200400" algn="l">
              <a:spcBef>
                <a:spcPts val="180"/>
              </a:spcBef>
              <a:spcAft>
                <a:spcPts val="0"/>
              </a:spcAft>
              <a:buSzPts val="675"/>
              <a:buNone/>
              <a:defRPr sz="900"/>
            </a:lvl7pPr>
            <a:lvl8pPr indent="-228600" lvl="7" marL="3657600" algn="l">
              <a:spcBef>
                <a:spcPts val="180"/>
              </a:spcBef>
              <a:spcAft>
                <a:spcPts val="0"/>
              </a:spcAft>
              <a:buSzPts val="675"/>
              <a:buNone/>
              <a:defRPr sz="900"/>
            </a:lvl8pPr>
            <a:lvl9pPr indent="-228600" lvl="8" marL="4114800" algn="l">
              <a:spcBef>
                <a:spcPts val="180"/>
              </a:spcBef>
              <a:spcAft>
                <a:spcPts val="0"/>
              </a:spcAft>
              <a:buSzPts val="675"/>
              <a:buNone/>
              <a:defRPr sz="900"/>
            </a:lvl9pPr>
          </a:lstStyle>
          <a:p/>
        </p:txBody>
      </p:sp>
    </p:spTree>
  </p:cSld>
  <p:clrMapOvr>
    <a:masterClrMapping/>
  </p:clrMapOvr>
  <p:transition>
    <p:wipe dir="r"/>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3" name="Shape 43"/>
        <p:cNvGrpSpPr/>
        <p:nvPr/>
      </p:nvGrpSpPr>
      <p:grpSpPr>
        <a:xfrm>
          <a:off x="0" y="0"/>
          <a:ext cx="0" cy="0"/>
          <a:chOff x="0" y="0"/>
          <a:chExt cx="0" cy="0"/>
        </a:xfrm>
      </p:grpSpPr>
      <p:sp>
        <p:nvSpPr>
          <p:cNvPr id="44" name="Google Shape;44;p82"/>
          <p:cNvSpPr txBox="1"/>
          <p:nvPr>
            <p:ph type="title"/>
          </p:nvPr>
        </p:nvSpPr>
        <p:spPr>
          <a:xfrm>
            <a:off x="1149350" y="354013"/>
            <a:ext cx="7607300" cy="560387"/>
          </a:xfrm>
          <a:prstGeom prst="rect">
            <a:avLst/>
          </a:prstGeom>
          <a:solidFill>
            <a:srgbClr val="003399"/>
          </a:solidFill>
          <a:ln cap="flat" cmpd="sng" w="63500">
            <a:solidFill>
              <a:srgbClr val="54385C"/>
            </a:solidFill>
            <a:prstDash val="solid"/>
            <a:miter lim="800000"/>
            <a:headEnd len="sm" w="sm" type="none"/>
            <a:tailEnd len="sm" w="sm" type="none"/>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5" name="Google Shape;45;p82"/>
          <p:cNvSpPr txBox="1"/>
          <p:nvPr>
            <p:ph idx="1" type="body"/>
          </p:nvPr>
        </p:nvSpPr>
        <p:spPr>
          <a:xfrm rot="5400000">
            <a:off x="2171700" y="-647700"/>
            <a:ext cx="4800600" cy="8382000"/>
          </a:xfrm>
          <a:prstGeom prst="rect">
            <a:avLst/>
          </a:prstGeom>
          <a:noFill/>
          <a:ln>
            <a:noFill/>
          </a:ln>
        </p:spPr>
        <p:txBody>
          <a:bodyPr anchorCtr="0" anchor="t" bIns="46025" lIns="182550" spcFirstLastPara="1" rIns="182550" wrap="square" tIns="46025">
            <a:noAutofit/>
          </a:bodyPr>
          <a:lstStyle>
            <a:lvl1pPr indent="-314325" lvl="0" marL="457200" algn="l">
              <a:spcBef>
                <a:spcPts val="360"/>
              </a:spcBef>
              <a:spcAft>
                <a:spcPts val="0"/>
              </a:spcAft>
              <a:buSzPts val="1350"/>
              <a:buChar char="●"/>
              <a:defRPr/>
            </a:lvl1pPr>
            <a:lvl2pPr indent="-314325" lvl="1" marL="914400" algn="l">
              <a:spcBef>
                <a:spcPts val="360"/>
              </a:spcBef>
              <a:spcAft>
                <a:spcPts val="0"/>
              </a:spcAft>
              <a:buSzPts val="1350"/>
              <a:buChar char="●"/>
              <a:defRPr/>
            </a:lvl2pPr>
            <a:lvl3pPr indent="-314325" lvl="2" marL="1371600" algn="l">
              <a:spcBef>
                <a:spcPts val="360"/>
              </a:spcBef>
              <a:spcAft>
                <a:spcPts val="0"/>
              </a:spcAft>
              <a:buSzPts val="1350"/>
              <a:buChar char="●"/>
              <a:defRPr/>
            </a:lvl3pPr>
            <a:lvl4pPr indent="-314325" lvl="3" marL="1828800" algn="l">
              <a:spcBef>
                <a:spcPts val="360"/>
              </a:spcBef>
              <a:spcAft>
                <a:spcPts val="0"/>
              </a:spcAft>
              <a:buSzPts val="1350"/>
              <a:buChar char="●"/>
              <a:defRPr/>
            </a:lvl4pPr>
            <a:lvl5pPr indent="-314325" lvl="4" marL="2286000" algn="l">
              <a:spcBef>
                <a:spcPts val="360"/>
              </a:spcBef>
              <a:spcAft>
                <a:spcPts val="0"/>
              </a:spcAft>
              <a:buSzPts val="1350"/>
              <a:buChar char="●"/>
              <a:defRPr/>
            </a:lvl5pPr>
            <a:lvl6pPr indent="-314325" lvl="5" marL="2743200" algn="l">
              <a:spcBef>
                <a:spcPts val="360"/>
              </a:spcBef>
              <a:spcAft>
                <a:spcPts val="0"/>
              </a:spcAft>
              <a:buSzPts val="1350"/>
              <a:buChar char="●"/>
              <a:defRPr/>
            </a:lvl6pPr>
            <a:lvl7pPr indent="-314325" lvl="6" marL="3200400" algn="l">
              <a:spcBef>
                <a:spcPts val="360"/>
              </a:spcBef>
              <a:spcAft>
                <a:spcPts val="0"/>
              </a:spcAft>
              <a:buSzPts val="1350"/>
              <a:buChar char="●"/>
              <a:defRPr/>
            </a:lvl7pPr>
            <a:lvl8pPr indent="-314325" lvl="7" marL="3657600" algn="l">
              <a:spcBef>
                <a:spcPts val="360"/>
              </a:spcBef>
              <a:spcAft>
                <a:spcPts val="0"/>
              </a:spcAft>
              <a:buSzPts val="1350"/>
              <a:buChar char="●"/>
              <a:defRPr/>
            </a:lvl8pPr>
            <a:lvl9pPr indent="-314325" lvl="8" marL="4114800" algn="l">
              <a:spcBef>
                <a:spcPts val="360"/>
              </a:spcBef>
              <a:spcAft>
                <a:spcPts val="0"/>
              </a:spcAft>
              <a:buSzPts val="1350"/>
              <a:buChar char="●"/>
              <a:defRPr/>
            </a:lvl9pPr>
          </a:lstStyle>
          <a:p/>
        </p:txBody>
      </p:sp>
    </p:spTree>
  </p:cSld>
  <p:clrMapOvr>
    <a:masterClrMapping/>
  </p:clrMapOvr>
  <p:transition>
    <p:wipe dir="r"/>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6" name="Shape 46"/>
        <p:cNvGrpSpPr/>
        <p:nvPr/>
      </p:nvGrpSpPr>
      <p:grpSpPr>
        <a:xfrm>
          <a:off x="0" y="0"/>
          <a:ext cx="0" cy="0"/>
          <a:chOff x="0" y="0"/>
          <a:chExt cx="0" cy="0"/>
        </a:xfrm>
      </p:grpSpPr>
      <p:sp>
        <p:nvSpPr>
          <p:cNvPr id="47" name="Google Shape;47;p83"/>
          <p:cNvSpPr txBox="1"/>
          <p:nvPr>
            <p:ph type="title"/>
          </p:nvPr>
        </p:nvSpPr>
        <p:spPr>
          <a:xfrm rot="5400000">
            <a:off x="4920457" y="2101057"/>
            <a:ext cx="5589587" cy="2095500"/>
          </a:xfrm>
          <a:prstGeom prst="rect">
            <a:avLst/>
          </a:prstGeom>
          <a:solidFill>
            <a:srgbClr val="003399"/>
          </a:solidFill>
          <a:ln cap="flat" cmpd="sng" w="63500">
            <a:solidFill>
              <a:srgbClr val="54385C"/>
            </a:solidFill>
            <a:prstDash val="solid"/>
            <a:miter lim="800000"/>
            <a:headEnd len="sm" w="sm" type="none"/>
            <a:tailEnd len="sm" w="sm" type="none"/>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8" name="Google Shape;48;p83"/>
          <p:cNvSpPr txBox="1"/>
          <p:nvPr>
            <p:ph idx="1" type="body"/>
          </p:nvPr>
        </p:nvSpPr>
        <p:spPr>
          <a:xfrm rot="5400000">
            <a:off x="653256" y="81756"/>
            <a:ext cx="5589587" cy="6134100"/>
          </a:xfrm>
          <a:prstGeom prst="rect">
            <a:avLst/>
          </a:prstGeom>
          <a:noFill/>
          <a:ln>
            <a:noFill/>
          </a:ln>
        </p:spPr>
        <p:txBody>
          <a:bodyPr anchorCtr="0" anchor="t" bIns="46025" lIns="182550" spcFirstLastPara="1" rIns="182550" wrap="square" tIns="46025">
            <a:noAutofit/>
          </a:bodyPr>
          <a:lstStyle>
            <a:lvl1pPr indent="-314325" lvl="0" marL="457200" algn="l">
              <a:spcBef>
                <a:spcPts val="360"/>
              </a:spcBef>
              <a:spcAft>
                <a:spcPts val="0"/>
              </a:spcAft>
              <a:buSzPts val="1350"/>
              <a:buChar char="●"/>
              <a:defRPr/>
            </a:lvl1pPr>
            <a:lvl2pPr indent="-314325" lvl="1" marL="914400" algn="l">
              <a:spcBef>
                <a:spcPts val="360"/>
              </a:spcBef>
              <a:spcAft>
                <a:spcPts val="0"/>
              </a:spcAft>
              <a:buSzPts val="1350"/>
              <a:buChar char="●"/>
              <a:defRPr/>
            </a:lvl2pPr>
            <a:lvl3pPr indent="-314325" lvl="2" marL="1371600" algn="l">
              <a:spcBef>
                <a:spcPts val="360"/>
              </a:spcBef>
              <a:spcAft>
                <a:spcPts val="0"/>
              </a:spcAft>
              <a:buSzPts val="1350"/>
              <a:buChar char="●"/>
              <a:defRPr/>
            </a:lvl3pPr>
            <a:lvl4pPr indent="-314325" lvl="3" marL="1828800" algn="l">
              <a:spcBef>
                <a:spcPts val="360"/>
              </a:spcBef>
              <a:spcAft>
                <a:spcPts val="0"/>
              </a:spcAft>
              <a:buSzPts val="1350"/>
              <a:buChar char="●"/>
              <a:defRPr/>
            </a:lvl4pPr>
            <a:lvl5pPr indent="-314325" lvl="4" marL="2286000" algn="l">
              <a:spcBef>
                <a:spcPts val="360"/>
              </a:spcBef>
              <a:spcAft>
                <a:spcPts val="0"/>
              </a:spcAft>
              <a:buSzPts val="1350"/>
              <a:buChar char="●"/>
              <a:defRPr/>
            </a:lvl5pPr>
            <a:lvl6pPr indent="-314325" lvl="5" marL="2743200" algn="l">
              <a:spcBef>
                <a:spcPts val="360"/>
              </a:spcBef>
              <a:spcAft>
                <a:spcPts val="0"/>
              </a:spcAft>
              <a:buSzPts val="1350"/>
              <a:buChar char="●"/>
              <a:defRPr/>
            </a:lvl6pPr>
            <a:lvl7pPr indent="-314325" lvl="6" marL="3200400" algn="l">
              <a:spcBef>
                <a:spcPts val="360"/>
              </a:spcBef>
              <a:spcAft>
                <a:spcPts val="0"/>
              </a:spcAft>
              <a:buSzPts val="1350"/>
              <a:buChar char="●"/>
              <a:defRPr/>
            </a:lvl7pPr>
            <a:lvl8pPr indent="-314325" lvl="7" marL="3657600" algn="l">
              <a:spcBef>
                <a:spcPts val="360"/>
              </a:spcBef>
              <a:spcAft>
                <a:spcPts val="0"/>
              </a:spcAft>
              <a:buSzPts val="1350"/>
              <a:buChar char="●"/>
              <a:defRPr/>
            </a:lvl8pPr>
            <a:lvl9pPr indent="-314325" lvl="8" marL="4114800" algn="l">
              <a:spcBef>
                <a:spcPts val="360"/>
              </a:spcBef>
              <a:spcAft>
                <a:spcPts val="0"/>
              </a:spcAft>
              <a:buSzPts val="1350"/>
              <a:buChar char="●"/>
              <a:defRPr/>
            </a:lvl9pPr>
          </a:lstStyle>
          <a:p/>
        </p:txBody>
      </p:sp>
    </p:spTree>
  </p:cSld>
  <p:clrMapOvr>
    <a:masterClrMapping/>
  </p:clrMapOvr>
  <p:transition>
    <p:wipe dir="r"/>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71"/>
          <p:cNvSpPr txBox="1"/>
          <p:nvPr>
            <p:ph type="title"/>
          </p:nvPr>
        </p:nvSpPr>
        <p:spPr>
          <a:xfrm>
            <a:off x="1149350" y="354013"/>
            <a:ext cx="7607300" cy="560387"/>
          </a:xfrm>
          <a:prstGeom prst="rect">
            <a:avLst/>
          </a:prstGeom>
          <a:solidFill>
            <a:srgbClr val="003399"/>
          </a:solidFill>
          <a:ln cap="flat" cmpd="sng" w="63500">
            <a:solidFill>
              <a:srgbClr val="54385C"/>
            </a:solidFill>
            <a:prstDash val="solid"/>
            <a:miter lim="800000"/>
            <a:headEnd len="sm" w="sm" type="none"/>
            <a:tailEnd len="sm" w="sm" type="none"/>
          </a:ln>
        </p:spPr>
        <p:txBody>
          <a:bodyPr anchorCtr="0" anchor="ctr" bIns="46025" lIns="92075" spcFirstLastPara="1" rIns="92075" wrap="square" tIns="46025">
            <a:noAutofit/>
          </a:bodyPr>
          <a:lstStyle>
            <a:lvl1pPr lvl="0"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1pPr>
            <a:lvl2pPr lvl="1"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2pPr>
            <a:lvl3pPr lvl="2"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3pPr>
            <a:lvl4pPr lvl="3"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4pPr>
            <a:lvl5pPr lvl="4"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5pPr>
            <a:lvl6pPr lvl="5"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6pPr>
            <a:lvl7pPr lvl="6"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7pPr>
            <a:lvl8pPr lvl="7"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8pPr>
            <a:lvl9pPr lvl="8" marR="0" rtl="0" algn="ctr">
              <a:spcBef>
                <a:spcPts val="0"/>
              </a:spcBef>
              <a:spcAft>
                <a:spcPts val="0"/>
              </a:spcAft>
              <a:buSzPts val="1400"/>
              <a:buNone/>
              <a:defRPr b="1" i="1" sz="3000" u="none" cap="none" strike="noStrike">
                <a:solidFill>
                  <a:schemeClr val="dk1"/>
                </a:solidFill>
                <a:latin typeface="Comic Sans MS"/>
                <a:ea typeface="Comic Sans MS"/>
                <a:cs typeface="Comic Sans MS"/>
                <a:sym typeface="Comic Sans MS"/>
              </a:defRPr>
            </a:lvl9pPr>
          </a:lstStyle>
          <a:p/>
        </p:txBody>
      </p:sp>
      <p:sp>
        <p:nvSpPr>
          <p:cNvPr id="7" name="Google Shape;7;p71"/>
          <p:cNvSpPr txBox="1"/>
          <p:nvPr>
            <p:ph idx="1" type="body"/>
          </p:nvPr>
        </p:nvSpPr>
        <p:spPr>
          <a:xfrm>
            <a:off x="381000" y="1143000"/>
            <a:ext cx="8382000" cy="4800600"/>
          </a:xfrm>
          <a:prstGeom prst="rect">
            <a:avLst/>
          </a:prstGeom>
          <a:noFill/>
          <a:ln>
            <a:noFill/>
          </a:ln>
        </p:spPr>
        <p:txBody>
          <a:bodyPr anchorCtr="0" anchor="t" bIns="46025" lIns="182550" spcFirstLastPara="1" rIns="182550" wrap="square" tIns="46025">
            <a:noAutofit/>
          </a:bodyPr>
          <a:lstStyle>
            <a:lvl1pPr indent="-361950" lvl="0" marL="457200" marR="0" rtl="0" algn="l">
              <a:spcBef>
                <a:spcPts val="560"/>
              </a:spcBef>
              <a:spcAft>
                <a:spcPts val="0"/>
              </a:spcAft>
              <a:buClr>
                <a:schemeClr val="accent2"/>
              </a:buClr>
              <a:buSzPts val="2100"/>
              <a:buFont typeface="Noto Sans Symbols"/>
              <a:buChar char="●"/>
              <a:defRPr b="1" i="0" sz="2800" u="none" cap="none" strike="noStrike">
                <a:solidFill>
                  <a:schemeClr val="lt2"/>
                </a:solidFill>
                <a:latin typeface="Arial"/>
                <a:ea typeface="Arial"/>
                <a:cs typeface="Arial"/>
                <a:sym typeface="Arial"/>
              </a:defRPr>
            </a:lvl1pPr>
            <a:lvl2pPr indent="-342900" lvl="1" marL="914400" marR="0" rtl="0" algn="l">
              <a:spcBef>
                <a:spcPts val="480"/>
              </a:spcBef>
              <a:spcAft>
                <a:spcPts val="0"/>
              </a:spcAft>
              <a:buClr>
                <a:schemeClr val="accent2"/>
              </a:buClr>
              <a:buSzPts val="1800"/>
              <a:buFont typeface="Noto Sans Symbols"/>
              <a:buChar char="●"/>
              <a:defRPr b="1" i="0" sz="2400" u="none" cap="none" strike="noStrike">
                <a:solidFill>
                  <a:schemeClr val="lt2"/>
                </a:solidFill>
                <a:latin typeface="Arial"/>
                <a:ea typeface="Arial"/>
                <a:cs typeface="Arial"/>
                <a:sym typeface="Arial"/>
              </a:defRPr>
            </a:lvl2pPr>
            <a:lvl3pPr indent="-323850" lvl="2" marL="13716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3pPr>
            <a:lvl4pPr indent="-323850" lvl="3" marL="18288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4pPr>
            <a:lvl5pPr indent="-323850" lvl="4" marL="22860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5pPr>
            <a:lvl6pPr indent="-323850" lvl="5" marL="27432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6pPr>
            <a:lvl7pPr indent="-323850" lvl="6" marL="32004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7pPr>
            <a:lvl8pPr indent="-323850" lvl="7" marL="36576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8pPr>
            <a:lvl9pPr indent="-323850" lvl="8" marL="41148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9pPr>
          </a:lstStyle>
          <a:p/>
        </p:txBody>
      </p:sp>
      <p:sp>
        <p:nvSpPr>
          <p:cNvPr id="8" name="Google Shape;8;p71"/>
          <p:cNvSpPr txBox="1"/>
          <p:nvPr/>
        </p:nvSpPr>
        <p:spPr>
          <a:xfrm>
            <a:off x="76200" y="6400800"/>
            <a:ext cx="685800" cy="2746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200" u="none" cap="none" strike="noStrike">
                <a:solidFill>
                  <a:schemeClr val="dk1"/>
                </a:solidFill>
                <a:latin typeface="Arial"/>
                <a:ea typeface="Arial"/>
                <a:cs typeface="Arial"/>
                <a:sym typeface="Arial"/>
              </a:rPr>
              <a:t>1-</a:t>
            </a: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wipe dir="r"/>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1.png"/><Relationship Id="rId6"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4.png"/><Relationship Id="rId5" Type="http://schemas.openxmlformats.org/officeDocument/2006/relationships/image" Target="../media/image30.png"/><Relationship Id="rId6"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4.png"/><Relationship Id="rId4" Type="http://schemas.openxmlformats.org/officeDocument/2006/relationships/image" Target="../media/image8.png"/><Relationship Id="rId5"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6.png"/><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1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2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2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2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3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2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1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1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12.png"/><Relationship Id="rId4" Type="http://schemas.openxmlformats.org/officeDocument/2006/relationships/image" Target="../media/image2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12.png"/><Relationship Id="rId4" Type="http://schemas.openxmlformats.org/officeDocument/2006/relationships/image" Target="../media/image2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31.png"/><Relationship Id="rId4" Type="http://schemas.openxmlformats.org/officeDocument/2006/relationships/image" Target="../media/image3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3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3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35.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35.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35.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3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3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 Id="rId3" Type="http://schemas.openxmlformats.org/officeDocument/2006/relationships/hyperlink" Target="https://drive.google.com/file/d/1-5fS_FGcPnReN_iG9dNzehtO3ONFO58F/view?usp=drivesdk"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1"/>
          <p:cNvSpPr/>
          <p:nvPr/>
        </p:nvSpPr>
        <p:spPr>
          <a:xfrm>
            <a:off x="0" y="3352800"/>
            <a:ext cx="1378857" cy="677228"/>
          </a:xfrm>
          <a:prstGeom prst="rect">
            <a:avLst/>
          </a:prstGeom>
          <a:solidFill>
            <a:srgbClr val="BFBFBF"/>
          </a:solidFill>
          <a:ln>
            <a:noFill/>
          </a:ln>
        </p:spPr>
        <p:txBody>
          <a:bodyPr anchorCtr="0" anchor="ctr" bIns="43225" lIns="86475" spcFirstLastPara="1" rIns="86475" wrap="square" tIns="43225">
            <a:noAutofit/>
          </a:bodyPr>
          <a:lstStyle/>
          <a:p>
            <a:pPr indent="0" lvl="0" marL="0" marR="0" rtl="0" algn="ctr">
              <a:spcBef>
                <a:spcPts val="0"/>
              </a:spcBef>
              <a:spcAft>
                <a:spcPts val="0"/>
              </a:spcAft>
              <a:buNone/>
            </a:pPr>
            <a:r>
              <a:t/>
            </a:r>
            <a:endParaRPr b="0" i="0" sz="2400" u="none" cap="none" strike="noStrike">
              <a:solidFill>
                <a:schemeClr val="dk1"/>
              </a:solidFill>
              <a:latin typeface="Arial"/>
              <a:ea typeface="Arial"/>
              <a:cs typeface="Arial"/>
              <a:sym typeface="Arial"/>
            </a:endParaRPr>
          </a:p>
        </p:txBody>
      </p:sp>
      <p:sp>
        <p:nvSpPr>
          <p:cNvPr id="54" name="Google Shape;54;p1"/>
          <p:cNvSpPr/>
          <p:nvPr/>
        </p:nvSpPr>
        <p:spPr>
          <a:xfrm>
            <a:off x="0" y="2590800"/>
            <a:ext cx="1378857" cy="677228"/>
          </a:xfrm>
          <a:prstGeom prst="rect">
            <a:avLst/>
          </a:prstGeom>
          <a:solidFill>
            <a:srgbClr val="BFBFBF"/>
          </a:solidFill>
          <a:ln>
            <a:noFill/>
          </a:ln>
        </p:spPr>
        <p:txBody>
          <a:bodyPr anchorCtr="0" anchor="ctr" bIns="43225" lIns="86475" spcFirstLastPara="1" rIns="86475" wrap="square" tIns="43225">
            <a:noAutofit/>
          </a:bodyPr>
          <a:lstStyle/>
          <a:p>
            <a:pPr indent="0" lvl="0" marL="0" marR="0" rtl="0" algn="ctr">
              <a:spcBef>
                <a:spcPts val="0"/>
              </a:spcBef>
              <a:spcAft>
                <a:spcPts val="0"/>
              </a:spcAft>
              <a:buNone/>
            </a:pPr>
            <a:r>
              <a:t/>
            </a:r>
            <a:endParaRPr b="0" i="0" sz="2400" u="none" cap="none" strike="noStrike">
              <a:solidFill>
                <a:schemeClr val="dk1"/>
              </a:solidFill>
              <a:latin typeface="Arial"/>
              <a:ea typeface="Arial"/>
              <a:cs typeface="Arial"/>
              <a:sym typeface="Arial"/>
            </a:endParaRPr>
          </a:p>
        </p:txBody>
      </p:sp>
      <p:sp>
        <p:nvSpPr>
          <p:cNvPr id="55" name="Google Shape;55;p1"/>
          <p:cNvSpPr/>
          <p:nvPr/>
        </p:nvSpPr>
        <p:spPr>
          <a:xfrm>
            <a:off x="435429" y="1981200"/>
            <a:ext cx="4209143" cy="506621"/>
          </a:xfrm>
          <a:prstGeom prst="rect">
            <a:avLst/>
          </a:prstGeom>
          <a:noFill/>
          <a:ln>
            <a:noFill/>
          </a:ln>
        </p:spPr>
        <p:txBody>
          <a:bodyPr anchorCtr="0" anchor="t" bIns="43225" lIns="86475" spcFirstLastPara="1" rIns="86475" wrap="square" tIns="43225">
            <a:spAutoFit/>
          </a:bodyPr>
          <a:lstStyle/>
          <a:p>
            <a:pPr indent="0" lvl="0" marL="0" marR="0" rtl="0" algn="l">
              <a:lnSpc>
                <a:spcPct val="120000"/>
              </a:lnSpc>
              <a:spcBef>
                <a:spcPts val="0"/>
              </a:spcBef>
              <a:spcAft>
                <a:spcPts val="0"/>
              </a:spcAft>
              <a:buNone/>
            </a:pPr>
            <a:r>
              <a:rPr b="1" i="0" lang="en-US" sz="2500" u="none" cap="none" strike="noStrike">
                <a:solidFill>
                  <a:schemeClr val="dk1"/>
                </a:solidFill>
                <a:latin typeface="Arial"/>
                <a:ea typeface="Arial"/>
                <a:cs typeface="Arial"/>
                <a:sym typeface="Arial"/>
              </a:rPr>
              <a:t>Learning Objectives</a:t>
            </a:r>
            <a:endParaRPr/>
          </a:p>
        </p:txBody>
      </p:sp>
      <p:sp>
        <p:nvSpPr>
          <p:cNvPr id="56" name="Google Shape;56;p1"/>
          <p:cNvSpPr/>
          <p:nvPr/>
        </p:nvSpPr>
        <p:spPr>
          <a:xfrm>
            <a:off x="1378857" y="2590800"/>
            <a:ext cx="7765143" cy="677228"/>
          </a:xfrm>
          <a:prstGeom prst="rect">
            <a:avLst/>
          </a:prstGeom>
          <a:solidFill>
            <a:srgbClr val="0027A4"/>
          </a:solidFill>
          <a:ln>
            <a:noFill/>
          </a:ln>
        </p:spPr>
        <p:txBody>
          <a:bodyPr anchorCtr="0" anchor="ctr" bIns="45700" lIns="91425" spcFirstLastPara="1" rIns="91425" wrap="square" tIns="27425">
            <a:noAutofit/>
          </a:bodyPr>
          <a:lstStyle/>
          <a:p>
            <a:pPr indent="0" lvl="0" marL="117475" marR="0" rtl="0" algn="l">
              <a:spcBef>
                <a:spcPts val="0"/>
              </a:spcBef>
              <a:spcAft>
                <a:spcPts val="0"/>
              </a:spcAft>
              <a:buNone/>
            </a:pPr>
            <a:r>
              <a:rPr b="1" i="0" lang="en-US" sz="1800" u="none" cap="none" strike="noStrike">
                <a:solidFill>
                  <a:schemeClr val="lt1"/>
                </a:solidFill>
                <a:latin typeface="Arial"/>
                <a:ea typeface="Arial"/>
                <a:cs typeface="Arial"/>
                <a:sym typeface="Arial"/>
              </a:rPr>
              <a:t>Identify the activities and users associated with accounting.</a:t>
            </a:r>
            <a:endParaRPr/>
          </a:p>
        </p:txBody>
      </p:sp>
      <p:sp>
        <p:nvSpPr>
          <p:cNvPr id="57" name="Google Shape;57;p1"/>
          <p:cNvSpPr/>
          <p:nvPr/>
        </p:nvSpPr>
        <p:spPr>
          <a:xfrm>
            <a:off x="1378857" y="3352800"/>
            <a:ext cx="7765143" cy="677228"/>
          </a:xfrm>
          <a:prstGeom prst="rect">
            <a:avLst/>
          </a:prstGeom>
          <a:solidFill>
            <a:srgbClr val="0027A4"/>
          </a:solidFill>
          <a:ln>
            <a:noFill/>
          </a:ln>
        </p:spPr>
        <p:txBody>
          <a:bodyPr anchorCtr="0" anchor="ctr" bIns="45700" lIns="91425" spcFirstLastPara="1" rIns="91425" wrap="square" tIns="27425">
            <a:noAutofit/>
          </a:bodyPr>
          <a:lstStyle/>
          <a:p>
            <a:pPr indent="0" lvl="0" marL="117475" marR="0" rtl="0" algn="l">
              <a:spcBef>
                <a:spcPts val="0"/>
              </a:spcBef>
              <a:spcAft>
                <a:spcPts val="0"/>
              </a:spcAft>
              <a:buNone/>
            </a:pPr>
            <a:r>
              <a:rPr b="1" i="0" lang="en-US" sz="1800" u="none" cap="none" strike="noStrike">
                <a:solidFill>
                  <a:schemeClr val="lt1"/>
                </a:solidFill>
                <a:latin typeface="Arial"/>
                <a:ea typeface="Arial"/>
                <a:cs typeface="Arial"/>
                <a:sym typeface="Arial"/>
              </a:rPr>
              <a:t>Explain the building blocks of accounting: ethics, principles, and assumptions.</a:t>
            </a:r>
            <a:endParaRPr/>
          </a:p>
        </p:txBody>
      </p:sp>
      <p:sp>
        <p:nvSpPr>
          <p:cNvPr id="58" name="Google Shape;58;p1"/>
          <p:cNvSpPr/>
          <p:nvPr/>
        </p:nvSpPr>
        <p:spPr>
          <a:xfrm>
            <a:off x="0" y="4114800"/>
            <a:ext cx="1378857" cy="677228"/>
          </a:xfrm>
          <a:prstGeom prst="rect">
            <a:avLst/>
          </a:prstGeom>
          <a:solidFill>
            <a:srgbClr val="BFBFBF"/>
          </a:solidFill>
          <a:ln>
            <a:noFill/>
          </a:ln>
        </p:spPr>
        <p:txBody>
          <a:bodyPr anchorCtr="0" anchor="ctr" bIns="43225" lIns="86475" spcFirstLastPara="1" rIns="86475" wrap="square" tIns="43225">
            <a:noAutofit/>
          </a:bodyPr>
          <a:lstStyle/>
          <a:p>
            <a:pPr indent="0" lvl="0" marL="0" marR="0" rtl="0" algn="ctr">
              <a:spcBef>
                <a:spcPts val="0"/>
              </a:spcBef>
              <a:spcAft>
                <a:spcPts val="0"/>
              </a:spcAft>
              <a:buNone/>
            </a:pPr>
            <a:r>
              <a:t/>
            </a:r>
            <a:endParaRPr b="0" i="0" sz="2400" u="none" cap="none" strike="noStrike">
              <a:solidFill>
                <a:schemeClr val="dk1"/>
              </a:solidFill>
              <a:latin typeface="Arial"/>
              <a:ea typeface="Arial"/>
              <a:cs typeface="Arial"/>
              <a:sym typeface="Arial"/>
            </a:endParaRPr>
          </a:p>
        </p:txBody>
      </p:sp>
      <p:sp>
        <p:nvSpPr>
          <p:cNvPr id="59" name="Google Shape;59;p1"/>
          <p:cNvSpPr/>
          <p:nvPr/>
        </p:nvSpPr>
        <p:spPr>
          <a:xfrm>
            <a:off x="1378857" y="4114800"/>
            <a:ext cx="7765143" cy="677228"/>
          </a:xfrm>
          <a:prstGeom prst="rect">
            <a:avLst/>
          </a:prstGeom>
          <a:solidFill>
            <a:srgbClr val="0027A4"/>
          </a:solidFill>
          <a:ln>
            <a:noFill/>
          </a:ln>
        </p:spPr>
        <p:txBody>
          <a:bodyPr anchorCtr="0" anchor="ctr" bIns="45700" lIns="91425" spcFirstLastPara="1" rIns="91425" wrap="square" tIns="27425">
            <a:noAutofit/>
          </a:bodyPr>
          <a:lstStyle/>
          <a:p>
            <a:pPr indent="0" lvl="0" marL="117475" marR="0" rtl="0" algn="l">
              <a:spcBef>
                <a:spcPts val="0"/>
              </a:spcBef>
              <a:spcAft>
                <a:spcPts val="0"/>
              </a:spcAft>
              <a:buNone/>
            </a:pPr>
            <a:r>
              <a:rPr b="1" i="0" lang="en-US" sz="1800" u="none" cap="none" strike="noStrike">
                <a:solidFill>
                  <a:schemeClr val="lt1"/>
                </a:solidFill>
                <a:latin typeface="Arial"/>
                <a:ea typeface="Arial"/>
                <a:cs typeface="Arial"/>
                <a:sym typeface="Arial"/>
              </a:rPr>
              <a:t>State the accounting equation, and define its components.</a:t>
            </a:r>
            <a:endParaRPr/>
          </a:p>
        </p:txBody>
      </p:sp>
      <p:sp>
        <p:nvSpPr>
          <p:cNvPr id="60" name="Google Shape;60;p1"/>
          <p:cNvSpPr/>
          <p:nvPr/>
        </p:nvSpPr>
        <p:spPr>
          <a:xfrm>
            <a:off x="653143" y="4194810"/>
            <a:ext cx="522514" cy="514350"/>
          </a:xfrm>
          <a:prstGeom prst="ellipse">
            <a:avLst/>
          </a:prstGeom>
          <a:solidFill>
            <a:srgbClr val="FF6600"/>
          </a:solidFill>
          <a:ln>
            <a:noFill/>
          </a:ln>
        </p:spPr>
        <p:txBody>
          <a:bodyPr anchorCtr="0" anchor="ctr" bIns="45700" lIns="91425" spcFirstLastPara="1" rIns="91425" wrap="square" tIns="0">
            <a:noAutofit/>
          </a:bodyPr>
          <a:lstStyle/>
          <a:p>
            <a:pPr indent="0" lvl="0" marL="0" marR="0" rtl="0" algn="ctr">
              <a:spcBef>
                <a:spcPts val="0"/>
              </a:spcBef>
              <a:spcAft>
                <a:spcPts val="0"/>
              </a:spcAft>
              <a:buNone/>
            </a:pPr>
            <a:r>
              <a:rPr b="1" i="0" lang="en-US" sz="2500" u="none" cap="none" strike="noStrike">
                <a:solidFill>
                  <a:schemeClr val="lt1"/>
                </a:solidFill>
                <a:latin typeface="Arial"/>
                <a:ea typeface="Arial"/>
                <a:cs typeface="Arial"/>
                <a:sym typeface="Arial"/>
              </a:rPr>
              <a:t>3</a:t>
            </a:r>
            <a:endParaRPr/>
          </a:p>
        </p:txBody>
      </p:sp>
      <p:sp>
        <p:nvSpPr>
          <p:cNvPr id="61" name="Google Shape;61;p1"/>
          <p:cNvSpPr/>
          <p:nvPr/>
        </p:nvSpPr>
        <p:spPr>
          <a:xfrm>
            <a:off x="1378857" y="4876800"/>
            <a:ext cx="7765143" cy="677228"/>
          </a:xfrm>
          <a:prstGeom prst="rect">
            <a:avLst/>
          </a:prstGeom>
          <a:solidFill>
            <a:srgbClr val="0027A4"/>
          </a:solidFill>
          <a:ln>
            <a:noFill/>
          </a:ln>
        </p:spPr>
        <p:txBody>
          <a:bodyPr anchorCtr="0" anchor="ctr" bIns="45700" lIns="91425" spcFirstLastPara="1" rIns="91425" wrap="square" tIns="27425">
            <a:noAutofit/>
          </a:bodyPr>
          <a:lstStyle/>
          <a:p>
            <a:pPr indent="0" lvl="0" marL="117475" marR="0" rtl="0" algn="l">
              <a:spcBef>
                <a:spcPts val="0"/>
              </a:spcBef>
              <a:spcAft>
                <a:spcPts val="0"/>
              </a:spcAft>
              <a:buNone/>
            </a:pPr>
            <a:r>
              <a:rPr b="1" lang="en-US" sz="1800">
                <a:solidFill>
                  <a:schemeClr val="lt1"/>
                </a:solidFill>
                <a:latin typeface="Arial"/>
                <a:ea typeface="Arial"/>
                <a:cs typeface="Arial"/>
                <a:sym typeface="Arial"/>
              </a:rPr>
              <a:t>Analyze the effects of business transactions on the accounting equation.</a:t>
            </a:r>
            <a:endParaRPr/>
          </a:p>
        </p:txBody>
      </p:sp>
      <p:sp>
        <p:nvSpPr>
          <p:cNvPr id="62" name="Google Shape;62;p1"/>
          <p:cNvSpPr/>
          <p:nvPr/>
        </p:nvSpPr>
        <p:spPr>
          <a:xfrm>
            <a:off x="653143" y="3444241"/>
            <a:ext cx="522514" cy="514350"/>
          </a:xfrm>
          <a:prstGeom prst="ellipse">
            <a:avLst/>
          </a:prstGeom>
          <a:solidFill>
            <a:srgbClr val="FF6600"/>
          </a:solidFill>
          <a:ln>
            <a:noFill/>
          </a:ln>
        </p:spPr>
        <p:txBody>
          <a:bodyPr anchorCtr="0" anchor="ctr" bIns="45700" lIns="91425" spcFirstLastPara="1" rIns="91425" wrap="square" tIns="0">
            <a:noAutofit/>
          </a:bodyPr>
          <a:lstStyle/>
          <a:p>
            <a:pPr indent="0" lvl="0" marL="0" marR="0" rtl="0" algn="ctr">
              <a:spcBef>
                <a:spcPts val="0"/>
              </a:spcBef>
              <a:spcAft>
                <a:spcPts val="0"/>
              </a:spcAft>
              <a:buNone/>
            </a:pPr>
            <a:r>
              <a:rPr b="1" lang="en-US" sz="2500">
                <a:solidFill>
                  <a:schemeClr val="lt1"/>
                </a:solidFill>
                <a:latin typeface="Arial"/>
                <a:ea typeface="Arial"/>
                <a:cs typeface="Arial"/>
                <a:sym typeface="Arial"/>
              </a:rPr>
              <a:t>2</a:t>
            </a:r>
            <a:endParaRPr/>
          </a:p>
        </p:txBody>
      </p:sp>
      <p:sp>
        <p:nvSpPr>
          <p:cNvPr id="63" name="Google Shape;63;p1"/>
          <p:cNvSpPr/>
          <p:nvPr/>
        </p:nvSpPr>
        <p:spPr>
          <a:xfrm>
            <a:off x="653143" y="2655570"/>
            <a:ext cx="522514" cy="514350"/>
          </a:xfrm>
          <a:prstGeom prst="ellipse">
            <a:avLst/>
          </a:prstGeom>
          <a:solidFill>
            <a:srgbClr val="FF6600"/>
          </a:solidFill>
          <a:ln>
            <a:noFill/>
          </a:ln>
        </p:spPr>
        <p:txBody>
          <a:bodyPr anchorCtr="0" anchor="ctr" bIns="45700" lIns="91425" spcFirstLastPara="1" rIns="91425" wrap="square" tIns="0">
            <a:noAutofit/>
          </a:bodyPr>
          <a:lstStyle/>
          <a:p>
            <a:pPr indent="0" lvl="0" marL="0" marR="0" rtl="0" algn="ctr">
              <a:spcBef>
                <a:spcPts val="0"/>
              </a:spcBef>
              <a:spcAft>
                <a:spcPts val="0"/>
              </a:spcAft>
              <a:buNone/>
            </a:pPr>
            <a:r>
              <a:rPr b="1" lang="en-US" sz="2500">
                <a:solidFill>
                  <a:schemeClr val="lt1"/>
                </a:solidFill>
                <a:latin typeface="Arial"/>
                <a:ea typeface="Arial"/>
                <a:cs typeface="Arial"/>
                <a:sym typeface="Arial"/>
              </a:rPr>
              <a:t>1</a:t>
            </a:r>
            <a:endParaRPr/>
          </a:p>
        </p:txBody>
      </p:sp>
      <p:sp>
        <p:nvSpPr>
          <p:cNvPr id="64" name="Google Shape;64;p1"/>
          <p:cNvSpPr/>
          <p:nvPr/>
        </p:nvSpPr>
        <p:spPr>
          <a:xfrm>
            <a:off x="0" y="4876800"/>
            <a:ext cx="1378857" cy="677228"/>
          </a:xfrm>
          <a:prstGeom prst="rect">
            <a:avLst/>
          </a:prstGeom>
          <a:solidFill>
            <a:srgbClr val="BFBFBF"/>
          </a:solidFill>
          <a:ln>
            <a:noFill/>
          </a:ln>
        </p:spPr>
        <p:txBody>
          <a:bodyPr anchorCtr="0" anchor="ctr" bIns="43225" lIns="86475" spcFirstLastPara="1" rIns="86475" wrap="square" tIns="43225">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65" name="Google Shape;65;p1"/>
          <p:cNvSpPr/>
          <p:nvPr/>
        </p:nvSpPr>
        <p:spPr>
          <a:xfrm>
            <a:off x="653143" y="4968241"/>
            <a:ext cx="522514" cy="514350"/>
          </a:xfrm>
          <a:prstGeom prst="ellipse">
            <a:avLst/>
          </a:prstGeom>
          <a:solidFill>
            <a:srgbClr val="FF6600"/>
          </a:solidFill>
          <a:ln>
            <a:noFill/>
          </a:ln>
        </p:spPr>
        <p:txBody>
          <a:bodyPr anchorCtr="0" anchor="ctr" bIns="45700" lIns="91425" spcFirstLastPara="1" rIns="91425" wrap="square" tIns="0">
            <a:noAutofit/>
          </a:bodyPr>
          <a:lstStyle/>
          <a:p>
            <a:pPr indent="0" lvl="0" marL="0" marR="0" rtl="0" algn="ctr">
              <a:spcBef>
                <a:spcPts val="0"/>
              </a:spcBef>
              <a:spcAft>
                <a:spcPts val="0"/>
              </a:spcAft>
              <a:buNone/>
            </a:pPr>
            <a:r>
              <a:rPr b="1" lang="en-US" sz="2500">
                <a:solidFill>
                  <a:schemeClr val="lt1"/>
                </a:solidFill>
                <a:latin typeface="Arial"/>
                <a:ea typeface="Arial"/>
                <a:cs typeface="Arial"/>
                <a:sym typeface="Arial"/>
              </a:rPr>
              <a:t>4</a:t>
            </a:r>
            <a:endParaRPr/>
          </a:p>
        </p:txBody>
      </p:sp>
      <p:sp>
        <p:nvSpPr>
          <p:cNvPr id="66" name="Google Shape;66;p1"/>
          <p:cNvSpPr/>
          <p:nvPr/>
        </p:nvSpPr>
        <p:spPr>
          <a:xfrm>
            <a:off x="1380744" y="5647372"/>
            <a:ext cx="7765143" cy="677228"/>
          </a:xfrm>
          <a:prstGeom prst="rect">
            <a:avLst/>
          </a:prstGeom>
          <a:solidFill>
            <a:srgbClr val="0027A4"/>
          </a:solidFill>
          <a:ln>
            <a:noFill/>
          </a:ln>
        </p:spPr>
        <p:txBody>
          <a:bodyPr anchorCtr="0" anchor="ctr" bIns="45700" lIns="91425" spcFirstLastPara="1" rIns="91425" wrap="square" tIns="27425">
            <a:noAutofit/>
          </a:bodyPr>
          <a:lstStyle/>
          <a:p>
            <a:pPr indent="0" lvl="0" marL="117475" marR="0" rtl="0" algn="l">
              <a:spcBef>
                <a:spcPts val="0"/>
              </a:spcBef>
              <a:spcAft>
                <a:spcPts val="0"/>
              </a:spcAft>
              <a:buNone/>
            </a:pPr>
            <a:r>
              <a:rPr b="1" lang="en-US" sz="1800">
                <a:solidFill>
                  <a:schemeClr val="lt1"/>
                </a:solidFill>
                <a:latin typeface="Arial"/>
                <a:ea typeface="Arial"/>
                <a:cs typeface="Arial"/>
                <a:sym typeface="Arial"/>
              </a:rPr>
              <a:t>Describe the four financial statements and how they are</a:t>
            </a:r>
            <a:endParaRPr/>
          </a:p>
          <a:p>
            <a:pPr indent="0" lvl="0" marL="117475" marR="0" rtl="0" algn="l">
              <a:spcBef>
                <a:spcPts val="0"/>
              </a:spcBef>
              <a:spcAft>
                <a:spcPts val="0"/>
              </a:spcAft>
              <a:buNone/>
            </a:pPr>
            <a:r>
              <a:rPr b="1" lang="en-US" sz="1800">
                <a:solidFill>
                  <a:schemeClr val="lt1"/>
                </a:solidFill>
                <a:latin typeface="Arial"/>
                <a:ea typeface="Arial"/>
                <a:cs typeface="Arial"/>
                <a:sym typeface="Arial"/>
              </a:rPr>
              <a:t>prepared.</a:t>
            </a:r>
            <a:endParaRPr/>
          </a:p>
        </p:txBody>
      </p:sp>
      <p:sp>
        <p:nvSpPr>
          <p:cNvPr id="67" name="Google Shape;67;p1"/>
          <p:cNvSpPr/>
          <p:nvPr/>
        </p:nvSpPr>
        <p:spPr>
          <a:xfrm>
            <a:off x="4064" y="5647372"/>
            <a:ext cx="1378857" cy="677228"/>
          </a:xfrm>
          <a:prstGeom prst="rect">
            <a:avLst/>
          </a:prstGeom>
          <a:solidFill>
            <a:srgbClr val="BFBFBF"/>
          </a:solidFill>
          <a:ln>
            <a:noFill/>
          </a:ln>
        </p:spPr>
        <p:txBody>
          <a:bodyPr anchorCtr="0" anchor="ctr" bIns="43225" lIns="86475" spcFirstLastPara="1" rIns="86475" wrap="square" tIns="43225">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68" name="Google Shape;68;p1"/>
          <p:cNvSpPr/>
          <p:nvPr/>
        </p:nvSpPr>
        <p:spPr>
          <a:xfrm>
            <a:off x="658368" y="5738813"/>
            <a:ext cx="522514" cy="514350"/>
          </a:xfrm>
          <a:prstGeom prst="ellipse">
            <a:avLst/>
          </a:prstGeom>
          <a:solidFill>
            <a:srgbClr val="FF6600"/>
          </a:solidFill>
          <a:ln>
            <a:noFill/>
          </a:ln>
        </p:spPr>
        <p:txBody>
          <a:bodyPr anchorCtr="0" anchor="ctr" bIns="45700" lIns="91425" spcFirstLastPara="1" rIns="91425" wrap="square" tIns="0">
            <a:noAutofit/>
          </a:bodyPr>
          <a:lstStyle/>
          <a:p>
            <a:pPr indent="0" lvl="0" marL="0" marR="0" rtl="0" algn="ctr">
              <a:spcBef>
                <a:spcPts val="0"/>
              </a:spcBef>
              <a:spcAft>
                <a:spcPts val="0"/>
              </a:spcAft>
              <a:buNone/>
            </a:pPr>
            <a:r>
              <a:rPr b="1" lang="en-US" sz="2500">
                <a:solidFill>
                  <a:schemeClr val="lt1"/>
                </a:solidFill>
                <a:latin typeface="Arial"/>
                <a:ea typeface="Arial"/>
                <a:cs typeface="Arial"/>
                <a:sym typeface="Arial"/>
              </a:rPr>
              <a:t>5</a:t>
            </a:r>
            <a:endParaRPr/>
          </a:p>
        </p:txBody>
      </p:sp>
      <p:sp>
        <p:nvSpPr>
          <p:cNvPr id="69" name="Google Shape;69;p1"/>
          <p:cNvSpPr/>
          <p:nvPr/>
        </p:nvSpPr>
        <p:spPr>
          <a:xfrm>
            <a:off x="0" y="228600"/>
            <a:ext cx="9144000" cy="1752600"/>
          </a:xfrm>
          <a:prstGeom prst="rect">
            <a:avLst/>
          </a:prstGeom>
          <a:solidFill>
            <a:srgbClr val="C5C5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70" name="Google Shape;70;p1"/>
          <p:cNvSpPr/>
          <p:nvPr/>
        </p:nvSpPr>
        <p:spPr>
          <a:xfrm>
            <a:off x="0" y="685800"/>
            <a:ext cx="2514600" cy="914400"/>
          </a:xfrm>
          <a:prstGeom prst="rect">
            <a:avLst/>
          </a:pr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71" name="Google Shape;71;p1"/>
          <p:cNvSpPr txBox="1"/>
          <p:nvPr/>
        </p:nvSpPr>
        <p:spPr>
          <a:xfrm>
            <a:off x="2514600" y="533400"/>
            <a:ext cx="5943600" cy="1200329"/>
          </a:xfrm>
          <a:prstGeom prst="rect">
            <a:avLst/>
          </a:prstGeom>
          <a:solidFill>
            <a:schemeClr val="lt1"/>
          </a:solidFill>
          <a:ln cap="flat" cmpd="sng" w="28575">
            <a:solidFill>
              <a:srgbClr val="A5A5A5"/>
            </a:solidFill>
            <a:prstDash val="solid"/>
            <a:miter lim="800000"/>
            <a:headEnd len="sm" w="sm" type="none"/>
            <a:tailEnd len="sm" w="sm" type="none"/>
          </a:ln>
        </p:spPr>
        <p:txBody>
          <a:bodyPr anchorCtr="0" anchor="ctr" bIns="45700" lIns="91425" spcFirstLastPara="1" rIns="91425" wrap="square" tIns="45700">
            <a:noAutofit/>
          </a:bodyPr>
          <a:lstStyle/>
          <a:p>
            <a:pPr indent="0" lvl="0" marL="58738" marR="0" rtl="0" algn="l">
              <a:spcBef>
                <a:spcPts val="0"/>
              </a:spcBef>
              <a:spcAft>
                <a:spcPts val="0"/>
              </a:spcAft>
              <a:buClr>
                <a:schemeClr val="accent2"/>
              </a:buClr>
              <a:buSzPts val="3800"/>
              <a:buFont typeface="Noto Sans Symbols"/>
              <a:buNone/>
            </a:pPr>
            <a:r>
              <a:rPr b="1" lang="en-US" sz="3800" u="none">
                <a:solidFill>
                  <a:srgbClr val="CC0000"/>
                </a:solidFill>
                <a:latin typeface="Arial"/>
                <a:ea typeface="Arial"/>
                <a:cs typeface="Arial"/>
                <a:sym typeface="Arial"/>
              </a:rPr>
              <a:t>Accounting in Action</a:t>
            </a:r>
            <a:endParaRPr b="1" sz="3800" u="none">
              <a:solidFill>
                <a:srgbClr val="CC0000"/>
              </a:solidFill>
              <a:latin typeface="Arial"/>
              <a:ea typeface="Arial"/>
              <a:cs typeface="Arial"/>
              <a:sym typeface="Arial"/>
            </a:endParaRPr>
          </a:p>
        </p:txBody>
      </p:sp>
      <p:sp>
        <p:nvSpPr>
          <p:cNvPr id="72" name="Google Shape;72;p1"/>
          <p:cNvSpPr/>
          <p:nvPr/>
        </p:nvSpPr>
        <p:spPr>
          <a:xfrm>
            <a:off x="762000" y="381000"/>
            <a:ext cx="1447800" cy="1447800"/>
          </a:xfrm>
          <a:prstGeom prst="ellipse">
            <a:avLst/>
          </a:prstGeom>
          <a:solidFill>
            <a:srgbClr val="0027A4"/>
          </a:solidFill>
          <a:ln>
            <a:noFill/>
          </a:ln>
        </p:spPr>
        <p:txBody>
          <a:bodyPr anchorCtr="0" anchor="ctr" bIns="45700" lIns="91425" spcFirstLastPara="1" rIns="91425" wrap="square" tIns="0">
            <a:noAutofit/>
          </a:bodyPr>
          <a:lstStyle/>
          <a:p>
            <a:pPr indent="0" lvl="0" marL="0" marR="0" rtl="0" algn="ctr">
              <a:spcBef>
                <a:spcPts val="0"/>
              </a:spcBef>
              <a:spcAft>
                <a:spcPts val="0"/>
              </a:spcAft>
              <a:buNone/>
            </a:pPr>
            <a:r>
              <a:rPr lang="en-US" sz="10000">
                <a:solidFill>
                  <a:schemeClr val="lt1"/>
                </a:solidFill>
                <a:latin typeface="Arial"/>
                <a:ea typeface="Arial"/>
                <a:cs typeface="Arial"/>
                <a:sym typeface="Arial"/>
              </a:rPr>
              <a:t>1</a:t>
            </a:r>
            <a:endParaRPr sz="10000">
              <a:solidFill>
                <a:schemeClr val="lt1"/>
              </a:solidFill>
              <a:latin typeface="Arial"/>
              <a:ea typeface="Arial"/>
              <a:cs typeface="Arial"/>
              <a:sym typeface="Arial"/>
            </a:endParaRPr>
          </a:p>
        </p:txBody>
      </p:sp>
    </p:spTree>
  </p:cSld>
  <p:clrMapOvr>
    <a:masterClrMapping/>
  </p:clrMapOvr>
  <p:transition>
    <p:wipe dir="r"/>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2"/>
          <p:cNvSpPr/>
          <p:nvPr/>
        </p:nvSpPr>
        <p:spPr>
          <a:xfrm>
            <a:off x="533400" y="1487487"/>
            <a:ext cx="8153400" cy="3008313"/>
          </a:xfrm>
          <a:prstGeom prst="rect">
            <a:avLst/>
          </a:prstGeom>
          <a:noFill/>
          <a:ln>
            <a:noFill/>
          </a:ln>
        </p:spPr>
        <p:txBody>
          <a:bodyPr anchorCtr="0" anchor="t" bIns="44450" lIns="90475" spcFirstLastPara="1" rIns="90475" wrap="square" tIns="44450">
            <a:noAutofit/>
          </a:bodyPr>
          <a:lstStyle/>
          <a:p>
            <a:pPr indent="-457200" lvl="0" marL="457200" marR="0" rtl="0" algn="l">
              <a:lnSpc>
                <a:spcPct val="120000"/>
              </a:lnSpc>
              <a:spcBef>
                <a:spcPts val="0"/>
              </a:spcBef>
              <a:spcAft>
                <a:spcPts val="0"/>
              </a:spcAft>
              <a:buClr>
                <a:schemeClr val="hlink"/>
              </a:buClr>
              <a:buSzPts val="2375"/>
              <a:buFont typeface="Noto Sans Symbols"/>
              <a:buNone/>
            </a:pPr>
            <a:r>
              <a:rPr b="1" lang="en-US" sz="2500">
                <a:solidFill>
                  <a:schemeClr val="hlink"/>
                </a:solidFill>
                <a:latin typeface="Arial"/>
                <a:ea typeface="Arial"/>
                <a:cs typeface="Arial"/>
                <a:sym typeface="Arial"/>
              </a:rPr>
              <a:t>Accounting</a:t>
            </a:r>
            <a:r>
              <a:rPr b="1" lang="en-US" sz="2300">
                <a:solidFill>
                  <a:schemeClr val="hlink"/>
                </a:solidFill>
                <a:latin typeface="Arial"/>
                <a:ea typeface="Arial"/>
                <a:cs typeface="Arial"/>
                <a:sym typeface="Arial"/>
              </a:rPr>
              <a:t> </a:t>
            </a:r>
            <a:r>
              <a:rPr b="0" lang="en-US" sz="2300">
                <a:solidFill>
                  <a:schemeClr val="dk1"/>
                </a:solidFill>
                <a:latin typeface="Arial"/>
                <a:ea typeface="Arial"/>
                <a:cs typeface="Arial"/>
                <a:sym typeface="Arial"/>
              </a:rPr>
              <a:t>consists of three basic activities—it</a:t>
            </a:r>
            <a:endParaRPr/>
          </a:p>
          <a:p>
            <a:pPr indent="-457200" lvl="1" marL="685800" marR="0" rtl="0" algn="l">
              <a:lnSpc>
                <a:spcPct val="120000"/>
              </a:lnSpc>
              <a:spcBef>
                <a:spcPts val="1540"/>
              </a:spcBef>
              <a:spcAft>
                <a:spcPts val="0"/>
              </a:spcAft>
              <a:buClr>
                <a:srgbClr val="800000"/>
              </a:buClr>
              <a:buSzPts val="1760"/>
              <a:buFont typeface="Noto Sans Symbols"/>
              <a:buChar char="◆"/>
            </a:pPr>
            <a:r>
              <a:rPr b="1" i="0" lang="en-US" sz="2200" u="none" cap="none" strike="noStrike">
                <a:solidFill>
                  <a:schemeClr val="dk1"/>
                </a:solidFill>
                <a:latin typeface="Arial"/>
                <a:ea typeface="Arial"/>
                <a:cs typeface="Arial"/>
                <a:sym typeface="Arial"/>
              </a:rPr>
              <a:t>identifies</a:t>
            </a:r>
            <a:r>
              <a:rPr b="0" i="0" lang="en-US" sz="2200" u="none" cap="none" strike="noStrike">
                <a:solidFill>
                  <a:schemeClr val="dk1"/>
                </a:solidFill>
                <a:latin typeface="Arial"/>
                <a:ea typeface="Arial"/>
                <a:cs typeface="Arial"/>
                <a:sym typeface="Arial"/>
              </a:rPr>
              <a:t>, </a:t>
            </a:r>
            <a:endParaRPr/>
          </a:p>
          <a:p>
            <a:pPr indent="-457200" lvl="1" marL="685800" marR="0" rtl="0" algn="l">
              <a:lnSpc>
                <a:spcPct val="120000"/>
              </a:lnSpc>
              <a:spcBef>
                <a:spcPts val="1540"/>
              </a:spcBef>
              <a:spcAft>
                <a:spcPts val="0"/>
              </a:spcAft>
              <a:buClr>
                <a:srgbClr val="800000"/>
              </a:buClr>
              <a:buSzPts val="1760"/>
              <a:buFont typeface="Noto Sans Symbols"/>
              <a:buChar char="◆"/>
            </a:pPr>
            <a:r>
              <a:rPr b="1" i="0" lang="en-US" sz="2200" u="none" cap="none" strike="noStrike">
                <a:solidFill>
                  <a:schemeClr val="dk1"/>
                </a:solidFill>
                <a:latin typeface="Arial"/>
                <a:ea typeface="Arial"/>
                <a:cs typeface="Arial"/>
                <a:sym typeface="Arial"/>
              </a:rPr>
              <a:t>records</a:t>
            </a:r>
            <a:r>
              <a:rPr b="0" i="0" lang="en-US" sz="2200" u="none" cap="none" strike="noStrike">
                <a:solidFill>
                  <a:schemeClr val="dk1"/>
                </a:solidFill>
                <a:latin typeface="Arial"/>
                <a:ea typeface="Arial"/>
                <a:cs typeface="Arial"/>
                <a:sym typeface="Arial"/>
              </a:rPr>
              <a:t>, and </a:t>
            </a:r>
            <a:endParaRPr/>
          </a:p>
          <a:p>
            <a:pPr indent="-457200" lvl="1" marL="685800" marR="0" rtl="0" algn="l">
              <a:lnSpc>
                <a:spcPct val="120000"/>
              </a:lnSpc>
              <a:spcBef>
                <a:spcPts val="1540"/>
              </a:spcBef>
              <a:spcAft>
                <a:spcPts val="0"/>
              </a:spcAft>
              <a:buClr>
                <a:srgbClr val="800000"/>
              </a:buClr>
              <a:buSzPts val="1760"/>
              <a:buFont typeface="Noto Sans Symbols"/>
              <a:buChar char="◆"/>
            </a:pPr>
            <a:r>
              <a:rPr b="1" i="0" lang="en-US" sz="2200" u="none" cap="none" strike="noStrike">
                <a:solidFill>
                  <a:schemeClr val="dk1"/>
                </a:solidFill>
                <a:latin typeface="Arial"/>
                <a:ea typeface="Arial"/>
                <a:cs typeface="Arial"/>
                <a:sym typeface="Arial"/>
              </a:rPr>
              <a:t>communicates</a:t>
            </a:r>
            <a:r>
              <a:rPr b="0" i="0" lang="en-US" sz="2200" u="none" cap="none" strike="noStrike">
                <a:solidFill>
                  <a:schemeClr val="dk1"/>
                </a:solidFill>
                <a:latin typeface="Arial"/>
                <a:ea typeface="Arial"/>
                <a:cs typeface="Arial"/>
                <a:sym typeface="Arial"/>
              </a:rPr>
              <a:t> </a:t>
            </a:r>
            <a:endParaRPr/>
          </a:p>
          <a:p>
            <a:pPr indent="-457200" lvl="1" marL="685800" marR="0" rtl="0" algn="l">
              <a:lnSpc>
                <a:spcPct val="120000"/>
              </a:lnSpc>
              <a:spcBef>
                <a:spcPts val="1540"/>
              </a:spcBef>
              <a:spcAft>
                <a:spcPts val="0"/>
              </a:spcAft>
              <a:buClr>
                <a:srgbClr val="800000"/>
              </a:buClr>
              <a:buSzPts val="1760"/>
              <a:buFont typeface="Noto Sans Symbols"/>
              <a:buNone/>
            </a:pPr>
            <a:r>
              <a:rPr b="0" i="0" lang="en-US" sz="2200" u="none" cap="none" strike="noStrike">
                <a:solidFill>
                  <a:schemeClr val="dk1"/>
                </a:solidFill>
                <a:latin typeface="Arial"/>
                <a:ea typeface="Arial"/>
                <a:cs typeface="Arial"/>
                <a:sym typeface="Arial"/>
              </a:rPr>
              <a:t>the economic events of an organization to interested users.	</a:t>
            </a:r>
            <a:endParaRPr/>
          </a:p>
        </p:txBody>
      </p:sp>
      <p:sp>
        <p:nvSpPr>
          <p:cNvPr id="78" name="Google Shape;78;p2"/>
          <p:cNvSpPr/>
          <p:nvPr/>
        </p:nvSpPr>
        <p:spPr>
          <a:xfrm>
            <a:off x="0" y="405765"/>
            <a:ext cx="2540000" cy="677228"/>
          </a:xfrm>
          <a:prstGeom prst="rect">
            <a:avLst/>
          </a:prstGeom>
          <a:solidFill>
            <a:srgbClr val="D8D8D8"/>
          </a:solidFill>
          <a:ln>
            <a:noFill/>
          </a:ln>
        </p:spPr>
        <p:txBody>
          <a:bodyPr anchorCtr="0" anchor="ctr" bIns="43225" lIns="86475" spcFirstLastPara="1" rIns="86475" wrap="square" tIns="43225">
            <a:noAutofit/>
          </a:bodyPr>
          <a:lstStyle/>
          <a:p>
            <a:pPr indent="0" lvl="0" marL="231775" marR="0" rtl="0" algn="l">
              <a:spcBef>
                <a:spcPts val="0"/>
              </a:spcBef>
              <a:spcAft>
                <a:spcPts val="0"/>
              </a:spcAft>
              <a:buNone/>
            </a:pPr>
            <a:r>
              <a:rPr b="1" lang="en-US" sz="1700">
                <a:solidFill>
                  <a:schemeClr val="dk1"/>
                </a:solidFill>
                <a:latin typeface="Arial"/>
                <a:ea typeface="Arial"/>
                <a:cs typeface="Arial"/>
                <a:sym typeface="Arial"/>
              </a:rPr>
              <a:t>LEARNING</a:t>
            </a:r>
            <a:endParaRPr/>
          </a:p>
          <a:p>
            <a:pPr indent="0" lvl="0" marL="231775" marR="0" rtl="0" algn="l">
              <a:spcBef>
                <a:spcPts val="0"/>
              </a:spcBef>
              <a:spcAft>
                <a:spcPts val="0"/>
              </a:spcAft>
              <a:buNone/>
            </a:pPr>
            <a:r>
              <a:rPr b="1" lang="en-US" sz="1700">
                <a:solidFill>
                  <a:schemeClr val="dk1"/>
                </a:solidFill>
                <a:latin typeface="Arial"/>
                <a:ea typeface="Arial"/>
                <a:cs typeface="Arial"/>
                <a:sym typeface="Arial"/>
              </a:rPr>
              <a:t>OBJECTIVE</a:t>
            </a:r>
            <a:endParaRPr/>
          </a:p>
        </p:txBody>
      </p:sp>
      <p:sp>
        <p:nvSpPr>
          <p:cNvPr id="79" name="Google Shape;79;p2"/>
          <p:cNvSpPr/>
          <p:nvPr/>
        </p:nvSpPr>
        <p:spPr>
          <a:xfrm>
            <a:off x="2540000" y="274320"/>
            <a:ext cx="6604000" cy="928688"/>
          </a:xfrm>
          <a:prstGeom prst="rect">
            <a:avLst/>
          </a:prstGeom>
          <a:solidFill>
            <a:srgbClr val="0027A4"/>
          </a:solidFill>
          <a:ln>
            <a:noFill/>
          </a:ln>
        </p:spPr>
        <p:txBody>
          <a:bodyPr anchorCtr="0" anchor="ctr" bIns="45700" lIns="91425" spcFirstLastPara="1" rIns="91425" wrap="square" tIns="27425">
            <a:noAutofit/>
          </a:bodyPr>
          <a:lstStyle/>
          <a:p>
            <a:pPr indent="0" lvl="0" marL="117475" marR="0" rtl="0" algn="l">
              <a:spcBef>
                <a:spcPts val="0"/>
              </a:spcBef>
              <a:spcAft>
                <a:spcPts val="0"/>
              </a:spcAft>
              <a:buNone/>
            </a:pPr>
            <a:r>
              <a:rPr b="1" lang="en-US" sz="2300">
                <a:solidFill>
                  <a:schemeClr val="lt1"/>
                </a:solidFill>
                <a:latin typeface="Arial"/>
                <a:ea typeface="Arial"/>
                <a:cs typeface="Arial"/>
                <a:sym typeface="Arial"/>
              </a:rPr>
              <a:t>Identify the activities and users </a:t>
            </a:r>
            <a:endParaRPr/>
          </a:p>
          <a:p>
            <a:pPr indent="0" lvl="0" marL="117475" marR="0" rtl="0" algn="l">
              <a:spcBef>
                <a:spcPts val="0"/>
              </a:spcBef>
              <a:spcAft>
                <a:spcPts val="0"/>
              </a:spcAft>
              <a:buNone/>
            </a:pPr>
            <a:r>
              <a:rPr b="1" lang="en-US" sz="2300">
                <a:solidFill>
                  <a:schemeClr val="lt1"/>
                </a:solidFill>
                <a:latin typeface="Arial"/>
                <a:ea typeface="Arial"/>
                <a:cs typeface="Arial"/>
                <a:sym typeface="Arial"/>
              </a:rPr>
              <a:t>associated with accounting.</a:t>
            </a:r>
            <a:endParaRPr/>
          </a:p>
        </p:txBody>
      </p:sp>
      <p:sp>
        <p:nvSpPr>
          <p:cNvPr id="80" name="Google Shape;80;p2"/>
          <p:cNvSpPr/>
          <p:nvPr/>
        </p:nvSpPr>
        <p:spPr>
          <a:xfrm>
            <a:off x="1872343" y="485775"/>
            <a:ext cx="522514" cy="514350"/>
          </a:xfrm>
          <a:prstGeom prst="ellipse">
            <a:avLst/>
          </a:prstGeom>
          <a:solidFill>
            <a:srgbClr val="FF6600"/>
          </a:solidFill>
          <a:ln>
            <a:noFill/>
          </a:ln>
        </p:spPr>
        <p:txBody>
          <a:bodyPr anchorCtr="0" anchor="ctr" bIns="43225" lIns="86475" spcFirstLastPara="1" rIns="86475" wrap="square" tIns="0">
            <a:noAutofit/>
          </a:bodyPr>
          <a:lstStyle/>
          <a:p>
            <a:pPr indent="0" lvl="0" marL="0" marR="0" rtl="0" algn="ctr">
              <a:spcBef>
                <a:spcPts val="0"/>
              </a:spcBef>
              <a:spcAft>
                <a:spcPts val="0"/>
              </a:spcAft>
              <a:buNone/>
            </a:pPr>
            <a:r>
              <a:rPr b="1" lang="en-US" sz="2500">
                <a:solidFill>
                  <a:schemeClr val="lt1"/>
                </a:solidFill>
                <a:latin typeface="Arial"/>
                <a:ea typeface="Arial"/>
                <a:cs typeface="Arial"/>
                <a:sym typeface="Arial"/>
              </a:rPr>
              <a:t>1</a:t>
            </a:r>
            <a:endParaRPr/>
          </a:p>
        </p:txBody>
      </p:sp>
      <p:sp>
        <p:nvSpPr>
          <p:cNvPr id="81" name="Google Shape;81;p2"/>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1</a:t>
            </a:r>
            <a:endParaRPr/>
          </a:p>
        </p:txBody>
      </p:sp>
    </p:spTree>
  </p:cSld>
  <p:clrMapOvr>
    <a:masterClrMapping/>
  </p:clrMapOvr>
  <p:transition>
    <p:wipe dir="r"/>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3"/>
          <p:cNvSpPr txBox="1"/>
          <p:nvPr/>
        </p:nvSpPr>
        <p:spPr>
          <a:xfrm>
            <a:off x="533400" y="1334869"/>
            <a:ext cx="29718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Noto Sans Symbols"/>
              <a:buNone/>
            </a:pPr>
            <a:r>
              <a:rPr b="1" lang="en-US" sz="1200">
                <a:solidFill>
                  <a:schemeClr val="dk1"/>
                </a:solidFill>
                <a:latin typeface="Arial"/>
                <a:ea typeface="Arial"/>
                <a:cs typeface="Arial"/>
                <a:sym typeface="Arial"/>
              </a:rPr>
              <a:t>Illustration 1-1</a:t>
            </a:r>
            <a:endParaRPr/>
          </a:p>
          <a:p>
            <a:pPr indent="0" lvl="0" marL="0" marR="0" rtl="0" algn="l">
              <a:spcBef>
                <a:spcPts val="0"/>
              </a:spcBef>
              <a:spcAft>
                <a:spcPts val="0"/>
              </a:spcAft>
              <a:buClr>
                <a:schemeClr val="dk1"/>
              </a:buClr>
              <a:buSzPts val="1200"/>
              <a:buFont typeface="Noto Sans Symbols"/>
              <a:buNone/>
            </a:pPr>
            <a:r>
              <a:rPr b="0" lang="en-US" sz="1200">
                <a:solidFill>
                  <a:schemeClr val="dk1"/>
                </a:solidFill>
                <a:latin typeface="Arial"/>
                <a:ea typeface="Arial"/>
                <a:cs typeface="Arial"/>
                <a:sym typeface="Arial"/>
              </a:rPr>
              <a:t>The activities of the accounting process</a:t>
            </a:r>
            <a:endParaRPr/>
          </a:p>
        </p:txBody>
      </p:sp>
      <p:sp>
        <p:nvSpPr>
          <p:cNvPr id="87" name="Google Shape;87;p3"/>
          <p:cNvSpPr/>
          <p:nvPr/>
        </p:nvSpPr>
        <p:spPr>
          <a:xfrm>
            <a:off x="914400" y="4876800"/>
            <a:ext cx="4648200" cy="1219200"/>
          </a:xfrm>
          <a:prstGeom prst="bevel">
            <a:avLst>
              <a:gd fmla="val 12500" name="adj"/>
            </a:avLst>
          </a:prstGeom>
          <a:solidFill>
            <a:srgbClr val="FFFFCC"/>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0">
            <a:noAutofit/>
          </a:bodyPr>
          <a:lstStyle/>
          <a:p>
            <a:pPr indent="0" lvl="0" marL="0" marR="0" rtl="0" algn="ctr">
              <a:spcBef>
                <a:spcPts val="0"/>
              </a:spcBef>
              <a:spcAft>
                <a:spcPts val="0"/>
              </a:spcAft>
              <a:buClr>
                <a:schemeClr val="dk1"/>
              </a:buClr>
              <a:buSzPts val="2000"/>
              <a:buFont typeface="Noto Sans Symbols"/>
              <a:buNone/>
            </a:pPr>
            <a:r>
              <a:rPr b="0" lang="en-US" sz="2000">
                <a:solidFill>
                  <a:schemeClr val="dk1"/>
                </a:solidFill>
                <a:latin typeface="Arial"/>
                <a:ea typeface="Arial"/>
                <a:cs typeface="Arial"/>
                <a:sym typeface="Arial"/>
              </a:rPr>
              <a:t>The accounting process includes</a:t>
            </a:r>
            <a:r>
              <a:rPr b="1" lang="en-US" sz="2000">
                <a:solidFill>
                  <a:schemeClr val="dk1"/>
                </a:solidFill>
                <a:latin typeface="Arial"/>
                <a:ea typeface="Arial"/>
                <a:cs typeface="Arial"/>
                <a:sym typeface="Arial"/>
              </a:rPr>
              <a:t> </a:t>
            </a:r>
            <a:endParaRPr/>
          </a:p>
          <a:p>
            <a:pPr indent="0" lvl="0" marL="0" marR="0" rtl="0" algn="ctr">
              <a:spcBef>
                <a:spcPts val="100"/>
              </a:spcBef>
              <a:spcAft>
                <a:spcPts val="0"/>
              </a:spcAft>
              <a:buClr>
                <a:schemeClr val="dk1"/>
              </a:buClr>
              <a:buSzPts val="2000"/>
              <a:buFont typeface="Noto Sans Symbols"/>
              <a:buNone/>
            </a:pPr>
            <a:r>
              <a:rPr b="0" lang="en-US" sz="2000">
                <a:solidFill>
                  <a:schemeClr val="dk1"/>
                </a:solidFill>
                <a:latin typeface="Arial"/>
                <a:ea typeface="Arial"/>
                <a:cs typeface="Arial"/>
                <a:sym typeface="Arial"/>
              </a:rPr>
              <a:t>the </a:t>
            </a:r>
            <a:r>
              <a:rPr b="1" lang="en-US" sz="2000">
                <a:solidFill>
                  <a:schemeClr val="hlink"/>
                </a:solidFill>
                <a:latin typeface="Arial"/>
                <a:ea typeface="Arial"/>
                <a:cs typeface="Arial"/>
                <a:sym typeface="Arial"/>
              </a:rPr>
              <a:t>bookkeeping</a:t>
            </a:r>
            <a:r>
              <a:rPr b="0" lang="en-US" sz="2000">
                <a:solidFill>
                  <a:schemeClr val="dk1"/>
                </a:solidFill>
                <a:latin typeface="Arial"/>
                <a:ea typeface="Arial"/>
                <a:cs typeface="Arial"/>
                <a:sym typeface="Arial"/>
              </a:rPr>
              <a:t> function.</a:t>
            </a:r>
            <a:endParaRPr/>
          </a:p>
        </p:txBody>
      </p:sp>
      <p:sp>
        <p:nvSpPr>
          <p:cNvPr id="88" name="Google Shape;88;p3"/>
          <p:cNvSpPr/>
          <p:nvPr/>
        </p:nvSpPr>
        <p:spPr>
          <a:xfrm>
            <a:off x="533400" y="304800"/>
            <a:ext cx="76200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Three Activities</a:t>
            </a:r>
            <a:endParaRPr/>
          </a:p>
        </p:txBody>
      </p:sp>
      <p:cxnSp>
        <p:nvCxnSpPr>
          <p:cNvPr id="89" name="Google Shape;89;p3"/>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90" name="Google Shape;90;p3"/>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1</a:t>
            </a:r>
            <a:endParaRPr/>
          </a:p>
        </p:txBody>
      </p:sp>
      <p:pic>
        <p:nvPicPr>
          <p:cNvPr id="91" name="Google Shape;91;p3"/>
          <p:cNvPicPr preferRelativeResize="0"/>
          <p:nvPr/>
        </p:nvPicPr>
        <p:blipFill rotWithShape="1">
          <a:blip r:embed="rId3">
            <a:alphaModFix/>
          </a:blip>
          <a:srcRect b="0" l="0" r="0" t="0"/>
          <a:stretch/>
        </p:blipFill>
        <p:spPr>
          <a:xfrm>
            <a:off x="346763" y="2397125"/>
            <a:ext cx="3006037" cy="2251075"/>
          </a:xfrm>
          <a:prstGeom prst="rect">
            <a:avLst/>
          </a:prstGeom>
          <a:noFill/>
          <a:ln>
            <a:noFill/>
          </a:ln>
        </p:spPr>
      </p:pic>
      <p:pic>
        <p:nvPicPr>
          <p:cNvPr id="92" name="Google Shape;92;p3"/>
          <p:cNvPicPr preferRelativeResize="0"/>
          <p:nvPr/>
        </p:nvPicPr>
        <p:blipFill rotWithShape="1">
          <a:blip r:embed="rId4">
            <a:alphaModFix/>
          </a:blip>
          <a:srcRect b="0" l="0" r="0" t="0"/>
          <a:stretch/>
        </p:blipFill>
        <p:spPr>
          <a:xfrm>
            <a:off x="3048000" y="2024918"/>
            <a:ext cx="2790825" cy="2166082"/>
          </a:xfrm>
          <a:prstGeom prst="rect">
            <a:avLst/>
          </a:prstGeom>
          <a:noFill/>
          <a:ln>
            <a:noFill/>
          </a:ln>
        </p:spPr>
      </p:pic>
      <p:pic>
        <p:nvPicPr>
          <p:cNvPr id="93" name="Google Shape;93;p3"/>
          <p:cNvPicPr preferRelativeResize="0"/>
          <p:nvPr/>
        </p:nvPicPr>
        <p:blipFill rotWithShape="1">
          <a:blip r:embed="rId5">
            <a:alphaModFix/>
          </a:blip>
          <a:srcRect b="0" l="0" r="0" t="0"/>
          <a:stretch/>
        </p:blipFill>
        <p:spPr>
          <a:xfrm>
            <a:off x="5681662" y="1295400"/>
            <a:ext cx="3081338" cy="2153518"/>
          </a:xfrm>
          <a:prstGeom prst="rect">
            <a:avLst/>
          </a:prstGeom>
          <a:noFill/>
          <a:ln>
            <a:noFill/>
          </a:ln>
        </p:spPr>
      </p:pic>
      <p:pic>
        <p:nvPicPr>
          <p:cNvPr id="94" name="Google Shape;94;p3"/>
          <p:cNvPicPr preferRelativeResize="0"/>
          <p:nvPr/>
        </p:nvPicPr>
        <p:blipFill rotWithShape="1">
          <a:blip r:embed="rId6">
            <a:alphaModFix/>
          </a:blip>
          <a:srcRect b="0" l="0" r="0" t="0"/>
          <a:stretch/>
        </p:blipFill>
        <p:spPr>
          <a:xfrm>
            <a:off x="6172200" y="3866960"/>
            <a:ext cx="2669967" cy="2076640"/>
          </a:xfrm>
          <a:prstGeom prst="rect">
            <a:avLst/>
          </a:prstGeom>
          <a:noFill/>
          <a:ln>
            <a:noFill/>
          </a:ln>
        </p:spPr>
      </p:pic>
    </p:spTree>
  </p:cSld>
  <p:clrMapOvr>
    <a:masterClrMapping/>
  </p:clrMapOvr>
  <p:transition>
    <p:wipe dir="r"/>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id="99" name="Google Shape;99;p4"/>
          <p:cNvPicPr preferRelativeResize="0"/>
          <p:nvPr/>
        </p:nvPicPr>
        <p:blipFill rotWithShape="1">
          <a:blip r:embed="rId3">
            <a:alphaModFix/>
          </a:blip>
          <a:srcRect b="0" l="0" r="0" t="0"/>
          <a:stretch/>
        </p:blipFill>
        <p:spPr>
          <a:xfrm>
            <a:off x="1044575" y="3848100"/>
            <a:ext cx="2003425" cy="2476500"/>
          </a:xfrm>
          <a:prstGeom prst="rect">
            <a:avLst/>
          </a:prstGeom>
          <a:noFill/>
          <a:ln>
            <a:noFill/>
          </a:ln>
        </p:spPr>
      </p:pic>
      <p:pic>
        <p:nvPicPr>
          <p:cNvPr id="100" name="Google Shape;100;p4"/>
          <p:cNvPicPr preferRelativeResize="0"/>
          <p:nvPr/>
        </p:nvPicPr>
        <p:blipFill rotWithShape="1">
          <a:blip r:embed="rId4">
            <a:alphaModFix/>
          </a:blip>
          <a:srcRect b="0" l="0" r="0" t="0"/>
          <a:stretch/>
        </p:blipFill>
        <p:spPr>
          <a:xfrm>
            <a:off x="2514600" y="1352550"/>
            <a:ext cx="2709863" cy="2457450"/>
          </a:xfrm>
          <a:prstGeom prst="rect">
            <a:avLst/>
          </a:prstGeom>
          <a:noFill/>
          <a:ln>
            <a:noFill/>
          </a:ln>
        </p:spPr>
      </p:pic>
      <p:pic>
        <p:nvPicPr>
          <p:cNvPr id="101" name="Google Shape;101;p4"/>
          <p:cNvPicPr preferRelativeResize="0"/>
          <p:nvPr/>
        </p:nvPicPr>
        <p:blipFill rotWithShape="1">
          <a:blip r:embed="rId5">
            <a:alphaModFix/>
          </a:blip>
          <a:srcRect b="0" l="0" r="0" t="0"/>
          <a:stretch/>
        </p:blipFill>
        <p:spPr>
          <a:xfrm>
            <a:off x="3824288" y="3890963"/>
            <a:ext cx="2576512" cy="2433637"/>
          </a:xfrm>
          <a:prstGeom prst="rect">
            <a:avLst/>
          </a:prstGeom>
          <a:noFill/>
          <a:ln>
            <a:noFill/>
          </a:ln>
        </p:spPr>
      </p:pic>
      <p:pic>
        <p:nvPicPr>
          <p:cNvPr id="102" name="Google Shape;102;p4"/>
          <p:cNvPicPr preferRelativeResize="0"/>
          <p:nvPr/>
        </p:nvPicPr>
        <p:blipFill rotWithShape="1">
          <a:blip r:embed="rId6">
            <a:alphaModFix/>
          </a:blip>
          <a:srcRect b="0" l="0" r="0" t="0"/>
          <a:stretch/>
        </p:blipFill>
        <p:spPr>
          <a:xfrm>
            <a:off x="6019800" y="1304925"/>
            <a:ext cx="2667000" cy="2505075"/>
          </a:xfrm>
          <a:prstGeom prst="rect">
            <a:avLst/>
          </a:prstGeom>
          <a:noFill/>
          <a:ln>
            <a:noFill/>
          </a:ln>
        </p:spPr>
      </p:pic>
      <p:sp>
        <p:nvSpPr>
          <p:cNvPr id="103" name="Google Shape;103;p4"/>
          <p:cNvSpPr txBox="1"/>
          <p:nvPr/>
        </p:nvSpPr>
        <p:spPr>
          <a:xfrm>
            <a:off x="533400" y="1447800"/>
            <a:ext cx="1981200"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2600"/>
              <a:buFont typeface="Noto Sans Symbols"/>
              <a:buNone/>
            </a:pPr>
            <a:r>
              <a:rPr b="1" lang="en-US" sz="2600">
                <a:solidFill>
                  <a:schemeClr val="dk1"/>
                </a:solidFill>
                <a:latin typeface="Arial"/>
                <a:ea typeface="Arial"/>
                <a:cs typeface="Arial"/>
                <a:sym typeface="Arial"/>
              </a:rPr>
              <a:t>INTERNAL USERS</a:t>
            </a:r>
            <a:endParaRPr b="1" sz="2600">
              <a:solidFill>
                <a:schemeClr val="dk1"/>
              </a:solidFill>
              <a:latin typeface="Arial"/>
              <a:ea typeface="Arial"/>
              <a:cs typeface="Arial"/>
              <a:sym typeface="Arial"/>
            </a:endParaRPr>
          </a:p>
        </p:txBody>
      </p:sp>
      <p:sp>
        <p:nvSpPr>
          <p:cNvPr id="104" name="Google Shape;104;p4"/>
          <p:cNvSpPr/>
          <p:nvPr/>
        </p:nvSpPr>
        <p:spPr>
          <a:xfrm>
            <a:off x="6858000" y="5181600"/>
            <a:ext cx="1752600" cy="646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Noto Sans Symbols"/>
              <a:buNone/>
            </a:pPr>
            <a:r>
              <a:rPr b="1" lang="en-US" sz="1200">
                <a:solidFill>
                  <a:schemeClr val="dk1"/>
                </a:solidFill>
                <a:latin typeface="Arial"/>
                <a:ea typeface="Arial"/>
                <a:cs typeface="Arial"/>
                <a:sym typeface="Arial"/>
              </a:rPr>
              <a:t>Illustration 1-2 </a:t>
            </a:r>
            <a:endParaRPr/>
          </a:p>
          <a:p>
            <a:pPr indent="0" lvl="0" marL="0" marR="0" rtl="0" algn="l">
              <a:spcBef>
                <a:spcPts val="0"/>
              </a:spcBef>
              <a:spcAft>
                <a:spcPts val="0"/>
              </a:spcAft>
              <a:buClr>
                <a:schemeClr val="dk1"/>
              </a:buClr>
              <a:buSzPts val="1200"/>
              <a:buFont typeface="Noto Sans Symbols"/>
              <a:buNone/>
            </a:pPr>
            <a:r>
              <a:rPr b="0" lang="en-US" sz="1200">
                <a:solidFill>
                  <a:schemeClr val="dk1"/>
                </a:solidFill>
                <a:latin typeface="Arial"/>
                <a:ea typeface="Arial"/>
                <a:cs typeface="Arial"/>
                <a:sym typeface="Arial"/>
              </a:rPr>
              <a:t>Questions that internal users ask</a:t>
            </a:r>
            <a:endParaRPr/>
          </a:p>
        </p:txBody>
      </p:sp>
      <p:sp>
        <p:nvSpPr>
          <p:cNvPr id="105" name="Google Shape;105;p4"/>
          <p:cNvSpPr/>
          <p:nvPr/>
        </p:nvSpPr>
        <p:spPr>
          <a:xfrm>
            <a:off x="533400" y="304800"/>
            <a:ext cx="76200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Who Uses Accounting Data</a:t>
            </a:r>
            <a:endParaRPr/>
          </a:p>
        </p:txBody>
      </p:sp>
      <p:cxnSp>
        <p:nvCxnSpPr>
          <p:cNvPr id="106" name="Google Shape;106;p4"/>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07" name="Google Shape;107;p4"/>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1</a:t>
            </a:r>
            <a:endParaRPr/>
          </a:p>
        </p:txBody>
      </p:sp>
    </p:spTree>
  </p:cSld>
  <p:clrMapOvr>
    <a:masterClrMapping/>
  </p:clrMapOvr>
  <p:transition>
    <p:wipe dir="r"/>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5"/>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1 </a:t>
            </a:r>
            <a:endParaRPr b="1" i="1" sz="1600">
              <a:solidFill>
                <a:schemeClr val="lt2"/>
              </a:solidFill>
              <a:latin typeface="Arial"/>
              <a:ea typeface="Arial"/>
              <a:cs typeface="Arial"/>
              <a:sym typeface="Arial"/>
            </a:endParaRPr>
          </a:p>
        </p:txBody>
      </p:sp>
      <p:sp>
        <p:nvSpPr>
          <p:cNvPr id="113" name="Google Shape;113;p5"/>
          <p:cNvSpPr/>
          <p:nvPr/>
        </p:nvSpPr>
        <p:spPr>
          <a:xfrm>
            <a:off x="1600200" y="5867400"/>
            <a:ext cx="1981200" cy="646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Noto Sans Symbols"/>
              <a:buNone/>
            </a:pPr>
            <a:r>
              <a:rPr b="1" lang="en-US" sz="1200">
                <a:solidFill>
                  <a:schemeClr val="dk1"/>
                </a:solidFill>
                <a:latin typeface="Arial"/>
                <a:ea typeface="Arial"/>
                <a:cs typeface="Arial"/>
                <a:sym typeface="Arial"/>
              </a:rPr>
              <a:t>Illustration 1-3</a:t>
            </a:r>
            <a:endParaRPr/>
          </a:p>
          <a:p>
            <a:pPr indent="0" lvl="0" marL="0" marR="0" rtl="0" algn="l">
              <a:spcBef>
                <a:spcPts val="0"/>
              </a:spcBef>
              <a:spcAft>
                <a:spcPts val="0"/>
              </a:spcAft>
              <a:buClr>
                <a:schemeClr val="dk1"/>
              </a:buClr>
              <a:buSzPts val="1200"/>
              <a:buFont typeface="Noto Sans Symbols"/>
              <a:buNone/>
            </a:pPr>
            <a:r>
              <a:rPr b="0" lang="en-US" sz="1200">
                <a:solidFill>
                  <a:schemeClr val="dk1"/>
                </a:solidFill>
                <a:latin typeface="Arial"/>
                <a:ea typeface="Arial"/>
                <a:cs typeface="Arial"/>
                <a:sym typeface="Arial"/>
              </a:rPr>
              <a:t>Questions that external users ask</a:t>
            </a:r>
            <a:endParaRPr/>
          </a:p>
        </p:txBody>
      </p:sp>
      <p:pic>
        <p:nvPicPr>
          <p:cNvPr id="114" name="Google Shape;114;p5"/>
          <p:cNvPicPr preferRelativeResize="0"/>
          <p:nvPr/>
        </p:nvPicPr>
        <p:blipFill rotWithShape="1">
          <a:blip r:embed="rId3">
            <a:alphaModFix/>
          </a:blip>
          <a:srcRect b="0" l="0" r="0" t="0"/>
          <a:stretch/>
        </p:blipFill>
        <p:spPr>
          <a:xfrm>
            <a:off x="3505200" y="1373188"/>
            <a:ext cx="4038600" cy="2284412"/>
          </a:xfrm>
          <a:prstGeom prst="rect">
            <a:avLst/>
          </a:prstGeom>
          <a:noFill/>
          <a:ln>
            <a:noFill/>
          </a:ln>
        </p:spPr>
      </p:pic>
      <p:pic>
        <p:nvPicPr>
          <p:cNvPr id="115" name="Google Shape;115;p5"/>
          <p:cNvPicPr preferRelativeResize="0"/>
          <p:nvPr/>
        </p:nvPicPr>
        <p:blipFill rotWithShape="1">
          <a:blip r:embed="rId4">
            <a:alphaModFix/>
          </a:blip>
          <a:srcRect b="0" l="0" r="0" t="0"/>
          <a:stretch/>
        </p:blipFill>
        <p:spPr>
          <a:xfrm>
            <a:off x="4522788" y="3956050"/>
            <a:ext cx="3630612" cy="2368550"/>
          </a:xfrm>
          <a:prstGeom prst="rect">
            <a:avLst/>
          </a:prstGeom>
          <a:noFill/>
          <a:ln>
            <a:noFill/>
          </a:ln>
        </p:spPr>
      </p:pic>
      <p:pic>
        <p:nvPicPr>
          <p:cNvPr id="116" name="Google Shape;116;p5"/>
          <p:cNvPicPr preferRelativeResize="0"/>
          <p:nvPr/>
        </p:nvPicPr>
        <p:blipFill rotWithShape="1">
          <a:blip r:embed="rId5">
            <a:alphaModFix/>
          </a:blip>
          <a:srcRect b="0" l="0" r="0" t="0"/>
          <a:stretch/>
        </p:blipFill>
        <p:spPr>
          <a:xfrm>
            <a:off x="649288" y="3124200"/>
            <a:ext cx="2551112" cy="2400300"/>
          </a:xfrm>
          <a:prstGeom prst="rect">
            <a:avLst/>
          </a:prstGeom>
          <a:noFill/>
          <a:ln>
            <a:noFill/>
          </a:ln>
        </p:spPr>
      </p:pic>
      <p:sp>
        <p:nvSpPr>
          <p:cNvPr id="117" name="Google Shape;117;p5"/>
          <p:cNvSpPr/>
          <p:nvPr/>
        </p:nvSpPr>
        <p:spPr>
          <a:xfrm>
            <a:off x="533400" y="304800"/>
            <a:ext cx="76200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Who Uses Accounting Data</a:t>
            </a:r>
            <a:endParaRPr/>
          </a:p>
        </p:txBody>
      </p:sp>
      <p:cxnSp>
        <p:nvCxnSpPr>
          <p:cNvPr id="118" name="Google Shape;118;p5"/>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19" name="Google Shape;119;p5"/>
          <p:cNvSpPr txBox="1"/>
          <p:nvPr/>
        </p:nvSpPr>
        <p:spPr>
          <a:xfrm>
            <a:off x="533400" y="1447800"/>
            <a:ext cx="1981200"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2600"/>
              <a:buFont typeface="Noto Sans Symbols"/>
              <a:buNone/>
            </a:pPr>
            <a:r>
              <a:rPr b="1" lang="en-US" sz="2600">
                <a:solidFill>
                  <a:schemeClr val="dk1"/>
                </a:solidFill>
                <a:latin typeface="Arial"/>
                <a:ea typeface="Arial"/>
                <a:cs typeface="Arial"/>
                <a:sym typeface="Arial"/>
              </a:rPr>
              <a:t>EXTERNAL USERS</a:t>
            </a:r>
            <a:endParaRPr b="1" sz="2600">
              <a:solidFill>
                <a:schemeClr val="dk1"/>
              </a:solidFill>
              <a:latin typeface="Arial"/>
              <a:ea typeface="Arial"/>
              <a:cs typeface="Arial"/>
              <a:sym typeface="Arial"/>
            </a:endParaRPr>
          </a:p>
        </p:txBody>
      </p:sp>
    </p:spTree>
  </p:cSld>
  <p:clrMapOvr>
    <a:masterClrMapping/>
  </p:clrMapOvr>
  <p:transition>
    <p:wipe dir="r"/>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6"/>
          <p:cNvSpPr txBox="1"/>
          <p:nvPr/>
        </p:nvSpPr>
        <p:spPr>
          <a:xfrm>
            <a:off x="2467428" y="428625"/>
            <a:ext cx="435429" cy="641336"/>
          </a:xfrm>
          <a:prstGeom prst="rect">
            <a:avLst/>
          </a:prstGeom>
          <a:noFill/>
          <a:ln>
            <a:noFill/>
          </a:ln>
        </p:spPr>
        <p:txBody>
          <a:bodyPr anchorCtr="0" anchor="t" bIns="43225" lIns="86475" spcFirstLastPara="1" rIns="86475" wrap="square" tIns="43225">
            <a:spAutoFit/>
          </a:bodyPr>
          <a:lstStyle/>
          <a:p>
            <a:pPr indent="0" lvl="0" marL="0" marR="0" rtl="0" algn="ctr">
              <a:spcBef>
                <a:spcPts val="0"/>
              </a:spcBef>
              <a:spcAft>
                <a:spcPts val="0"/>
              </a:spcAft>
              <a:buNone/>
            </a:pPr>
            <a:r>
              <a:rPr b="1" lang="en-US" sz="3600">
                <a:solidFill>
                  <a:srgbClr val="FF9900"/>
                </a:solidFill>
                <a:latin typeface="Arial"/>
                <a:ea typeface="Arial"/>
                <a:cs typeface="Arial"/>
                <a:sym typeface="Arial"/>
              </a:rPr>
              <a:t>1</a:t>
            </a:r>
            <a:endParaRPr/>
          </a:p>
        </p:txBody>
      </p:sp>
      <p:sp>
        <p:nvSpPr>
          <p:cNvPr id="125" name="Google Shape;125;p6"/>
          <p:cNvSpPr txBox="1"/>
          <p:nvPr/>
        </p:nvSpPr>
        <p:spPr>
          <a:xfrm>
            <a:off x="0" y="428624"/>
            <a:ext cx="3276600" cy="691039"/>
          </a:xfrm>
          <a:prstGeom prst="rect">
            <a:avLst/>
          </a:prstGeom>
          <a:solidFill>
            <a:srgbClr val="D8D8D8"/>
          </a:solidFill>
          <a:ln>
            <a:noFill/>
          </a:ln>
        </p:spPr>
        <p:txBody>
          <a:bodyPr anchorCtr="0" anchor="t" bIns="45700" lIns="0" spcFirstLastPara="1" rIns="91425" wrap="square" tIns="0">
            <a:noAutofit/>
          </a:bodyPr>
          <a:lstStyle/>
          <a:p>
            <a:pPr indent="0" lvl="0" marL="519113" marR="0" rtl="0" algn="l">
              <a:spcBef>
                <a:spcPts val="0"/>
              </a:spcBef>
              <a:spcAft>
                <a:spcPts val="0"/>
              </a:spcAft>
              <a:buNone/>
            </a:pPr>
            <a:r>
              <a:rPr b="1" lang="en-US" sz="4200">
                <a:solidFill>
                  <a:srgbClr val="FF9900"/>
                </a:solidFill>
                <a:latin typeface="Arial"/>
                <a:ea typeface="Arial"/>
                <a:cs typeface="Arial"/>
                <a:sym typeface="Arial"/>
              </a:rPr>
              <a:t>DO IT!</a:t>
            </a:r>
            <a:endParaRPr b="1" sz="4200">
              <a:solidFill>
                <a:srgbClr val="FF9900"/>
              </a:solidFill>
              <a:latin typeface="Arial"/>
              <a:ea typeface="Arial"/>
              <a:cs typeface="Arial"/>
              <a:sym typeface="Arial"/>
            </a:endParaRPr>
          </a:p>
        </p:txBody>
      </p:sp>
      <p:sp>
        <p:nvSpPr>
          <p:cNvPr id="126" name="Google Shape;126;p6"/>
          <p:cNvSpPr/>
          <p:nvPr/>
        </p:nvSpPr>
        <p:spPr>
          <a:xfrm>
            <a:off x="2286000" y="428626"/>
            <a:ext cx="762000" cy="691038"/>
          </a:xfrm>
          <a:prstGeom prst="ellipse">
            <a:avLst/>
          </a:prstGeom>
          <a:solidFill>
            <a:schemeClr val="accent3"/>
          </a:solidFill>
          <a:ln cap="sq" cmpd="sng" w="12700">
            <a:solidFill>
              <a:srgbClr val="7F7F7F"/>
            </a:solidFill>
            <a:prstDash val="dash"/>
            <a:round/>
            <a:headEnd len="sm" w="sm" type="none"/>
            <a:tailEnd len="sm" w="sm" type="none"/>
          </a:ln>
        </p:spPr>
        <p:txBody>
          <a:bodyPr anchorCtr="0" anchor="ctr" bIns="45700" lIns="91425" spcFirstLastPara="1" rIns="91425" wrap="square" tIns="0">
            <a:noAutofit/>
          </a:bodyPr>
          <a:lstStyle/>
          <a:p>
            <a:pPr indent="0" lvl="0" marL="0" marR="0" rtl="0" algn="ctr">
              <a:lnSpc>
                <a:spcPct val="100000"/>
              </a:lnSpc>
              <a:spcBef>
                <a:spcPts val="0"/>
              </a:spcBef>
              <a:spcAft>
                <a:spcPts val="0"/>
              </a:spcAft>
              <a:buClr>
                <a:srgbClr val="FF9900"/>
              </a:buClr>
              <a:buSzPts val="3200"/>
              <a:buFont typeface="Arial"/>
              <a:buNone/>
            </a:pPr>
            <a:r>
              <a:rPr b="1" i="0" lang="en-US" sz="3200" u="none" cap="none" strike="noStrike">
                <a:solidFill>
                  <a:srgbClr val="FF9900"/>
                </a:solidFill>
                <a:latin typeface="Arial"/>
                <a:ea typeface="Arial"/>
                <a:cs typeface="Arial"/>
                <a:sym typeface="Arial"/>
              </a:rPr>
              <a:t>1</a:t>
            </a:r>
            <a:endParaRPr/>
          </a:p>
        </p:txBody>
      </p:sp>
      <p:sp>
        <p:nvSpPr>
          <p:cNvPr id="127" name="Google Shape;127;p6"/>
          <p:cNvSpPr/>
          <p:nvPr/>
        </p:nvSpPr>
        <p:spPr>
          <a:xfrm>
            <a:off x="362857" y="5640586"/>
            <a:ext cx="8628743" cy="415249"/>
          </a:xfrm>
          <a:prstGeom prst="rect">
            <a:avLst/>
          </a:prstGeom>
          <a:noFill/>
          <a:ln>
            <a:noFill/>
          </a:ln>
        </p:spPr>
        <p:txBody>
          <a:bodyPr anchorCtr="0" anchor="t" bIns="43225" lIns="45700" spcFirstLastPara="1" rIns="0" wrap="square" tIns="43225">
            <a:spAutoFit/>
          </a:bodyPr>
          <a:lstStyle/>
          <a:p>
            <a:pPr indent="0" lvl="0" marL="0" marR="0" rtl="0" algn="l">
              <a:lnSpc>
                <a:spcPct val="110000"/>
              </a:lnSpc>
              <a:spcBef>
                <a:spcPts val="0"/>
              </a:spcBef>
              <a:spcAft>
                <a:spcPts val="0"/>
              </a:spcAft>
              <a:buNone/>
            </a:pPr>
            <a:r>
              <a:rPr b="1" lang="en-US" sz="2100">
                <a:solidFill>
                  <a:srgbClr val="800000"/>
                </a:solidFill>
                <a:latin typeface="Arial"/>
                <a:ea typeface="Arial"/>
                <a:cs typeface="Arial"/>
                <a:sym typeface="Arial"/>
              </a:rPr>
              <a:t> Solution:	</a:t>
            </a:r>
            <a:r>
              <a:rPr b="1" lang="en-US" sz="2100">
                <a:solidFill>
                  <a:schemeClr val="dk1"/>
                </a:solidFill>
                <a:latin typeface="Arial"/>
                <a:ea typeface="Arial"/>
                <a:cs typeface="Arial"/>
                <a:sym typeface="Arial"/>
              </a:rPr>
              <a:t>1.	2.	3.	4.	5.</a:t>
            </a:r>
            <a:endParaRPr b="1" sz="2100">
              <a:solidFill>
                <a:schemeClr val="dk1"/>
              </a:solidFill>
              <a:latin typeface="Arial"/>
              <a:ea typeface="Arial"/>
              <a:cs typeface="Arial"/>
              <a:sym typeface="Arial"/>
            </a:endParaRPr>
          </a:p>
        </p:txBody>
      </p:sp>
      <p:sp>
        <p:nvSpPr>
          <p:cNvPr id="128" name="Google Shape;128;p6"/>
          <p:cNvSpPr/>
          <p:nvPr/>
        </p:nvSpPr>
        <p:spPr>
          <a:xfrm>
            <a:off x="435429" y="1379709"/>
            <a:ext cx="8345714" cy="3896779"/>
          </a:xfrm>
          <a:prstGeom prst="rect">
            <a:avLst/>
          </a:prstGeom>
          <a:noFill/>
          <a:ln>
            <a:noFill/>
          </a:ln>
        </p:spPr>
        <p:txBody>
          <a:bodyPr anchorCtr="0" anchor="t" bIns="43225" lIns="86475" spcFirstLastPara="1" rIns="86475" wrap="square" tIns="43225">
            <a:spAutoFit/>
          </a:bodyPr>
          <a:lstStyle/>
          <a:p>
            <a:pPr indent="-461963" lvl="0" marL="461963" marR="0" rtl="0" algn="l">
              <a:lnSpc>
                <a:spcPct val="125000"/>
              </a:lnSpc>
              <a:spcBef>
                <a:spcPts val="0"/>
              </a:spcBef>
              <a:spcAft>
                <a:spcPts val="0"/>
              </a:spcAft>
              <a:buNone/>
            </a:pPr>
            <a:r>
              <a:rPr lang="en-US" sz="2000">
                <a:solidFill>
                  <a:schemeClr val="dk1"/>
                </a:solidFill>
                <a:latin typeface="Arial"/>
                <a:ea typeface="Arial"/>
                <a:cs typeface="Arial"/>
                <a:sym typeface="Arial"/>
              </a:rPr>
              <a:t>Indicate whether the following statements are </a:t>
            </a:r>
            <a:r>
              <a:rPr b="1" lang="en-US" sz="2000">
                <a:solidFill>
                  <a:schemeClr val="dk1"/>
                </a:solidFill>
                <a:latin typeface="Arial"/>
                <a:ea typeface="Arial"/>
                <a:cs typeface="Arial"/>
                <a:sym typeface="Arial"/>
              </a:rPr>
              <a:t>true</a:t>
            </a:r>
            <a:r>
              <a:rPr lang="en-US" sz="2000">
                <a:solidFill>
                  <a:schemeClr val="dk1"/>
                </a:solidFill>
                <a:latin typeface="Arial"/>
                <a:ea typeface="Arial"/>
                <a:cs typeface="Arial"/>
                <a:sym typeface="Arial"/>
              </a:rPr>
              <a:t> </a:t>
            </a:r>
            <a:r>
              <a:rPr b="1" lang="en-US" sz="2000">
                <a:solidFill>
                  <a:schemeClr val="dk1"/>
                </a:solidFill>
                <a:latin typeface="Arial"/>
                <a:ea typeface="Arial"/>
                <a:cs typeface="Arial"/>
                <a:sym typeface="Arial"/>
              </a:rPr>
              <a:t>or</a:t>
            </a:r>
            <a:r>
              <a:rPr lang="en-US" sz="2000">
                <a:solidFill>
                  <a:schemeClr val="dk1"/>
                </a:solidFill>
                <a:latin typeface="Arial"/>
                <a:ea typeface="Arial"/>
                <a:cs typeface="Arial"/>
                <a:sym typeface="Arial"/>
              </a:rPr>
              <a:t> </a:t>
            </a:r>
            <a:r>
              <a:rPr b="1" lang="en-US" sz="2000">
                <a:solidFill>
                  <a:schemeClr val="dk1"/>
                </a:solidFill>
                <a:latin typeface="Arial"/>
                <a:ea typeface="Arial"/>
                <a:cs typeface="Arial"/>
                <a:sym typeface="Arial"/>
              </a:rPr>
              <a:t>false</a:t>
            </a:r>
            <a:r>
              <a:rPr lang="en-US" sz="2000">
                <a:solidFill>
                  <a:schemeClr val="dk1"/>
                </a:solidFill>
                <a:latin typeface="Arial"/>
                <a:ea typeface="Arial"/>
                <a:cs typeface="Arial"/>
                <a:sym typeface="Arial"/>
              </a:rPr>
              <a:t>.</a:t>
            </a:r>
            <a:endParaRPr/>
          </a:p>
          <a:p>
            <a:pPr indent="-461963" lvl="0" marL="461963" marR="0" rtl="0" algn="l">
              <a:lnSpc>
                <a:spcPct val="125000"/>
              </a:lnSpc>
              <a:spcBef>
                <a:spcPts val="1200"/>
              </a:spcBef>
              <a:spcAft>
                <a:spcPts val="0"/>
              </a:spcAft>
              <a:buClr>
                <a:schemeClr val="dk1"/>
              </a:buClr>
              <a:buSzPts val="2000"/>
              <a:buFont typeface="Arial"/>
              <a:buAutoNum type="arabicPeriod"/>
            </a:pPr>
            <a:r>
              <a:rPr lang="en-US" sz="2000">
                <a:solidFill>
                  <a:schemeClr val="dk1"/>
                </a:solidFill>
                <a:latin typeface="Arial"/>
                <a:ea typeface="Arial"/>
                <a:cs typeface="Arial"/>
                <a:sym typeface="Arial"/>
              </a:rPr>
              <a:t>The three steps in the accounting process are identification, recording, and communication.</a:t>
            </a:r>
            <a:endParaRPr/>
          </a:p>
          <a:p>
            <a:pPr indent="-461963" lvl="0" marL="461963" marR="0" rtl="0" algn="l">
              <a:lnSpc>
                <a:spcPct val="125000"/>
              </a:lnSpc>
              <a:spcBef>
                <a:spcPts val="1200"/>
              </a:spcBef>
              <a:spcAft>
                <a:spcPts val="0"/>
              </a:spcAft>
              <a:buClr>
                <a:schemeClr val="dk1"/>
              </a:buClr>
              <a:buSzPts val="2000"/>
              <a:buFont typeface="Arial"/>
              <a:buAutoNum type="arabicPeriod"/>
            </a:pPr>
            <a:r>
              <a:rPr lang="en-US" sz="2000">
                <a:solidFill>
                  <a:schemeClr val="dk1"/>
                </a:solidFill>
                <a:latin typeface="Arial"/>
                <a:ea typeface="Arial"/>
                <a:cs typeface="Arial"/>
                <a:sym typeface="Arial"/>
              </a:rPr>
              <a:t>Bookkeeping encompasses all steps in the accounting process.</a:t>
            </a:r>
            <a:endParaRPr/>
          </a:p>
          <a:p>
            <a:pPr indent="-461963" lvl="0" marL="461963" marR="0" rtl="0" algn="l">
              <a:lnSpc>
                <a:spcPct val="125000"/>
              </a:lnSpc>
              <a:spcBef>
                <a:spcPts val="1200"/>
              </a:spcBef>
              <a:spcAft>
                <a:spcPts val="0"/>
              </a:spcAft>
              <a:buClr>
                <a:schemeClr val="dk1"/>
              </a:buClr>
              <a:buSzPts val="2000"/>
              <a:buFont typeface="Arial"/>
              <a:buAutoNum type="arabicPeriod"/>
            </a:pPr>
            <a:r>
              <a:rPr lang="en-US" sz="2000">
                <a:solidFill>
                  <a:schemeClr val="dk1"/>
                </a:solidFill>
                <a:latin typeface="Arial"/>
                <a:ea typeface="Arial"/>
                <a:cs typeface="Arial"/>
                <a:sym typeface="Arial"/>
              </a:rPr>
              <a:t>Accountants prepare, but do not interpret, financial reports.</a:t>
            </a:r>
            <a:endParaRPr/>
          </a:p>
          <a:p>
            <a:pPr indent="-461963" lvl="0" marL="461963" marR="0" rtl="0" algn="l">
              <a:lnSpc>
                <a:spcPct val="125000"/>
              </a:lnSpc>
              <a:spcBef>
                <a:spcPts val="1200"/>
              </a:spcBef>
              <a:spcAft>
                <a:spcPts val="0"/>
              </a:spcAft>
              <a:buClr>
                <a:schemeClr val="dk1"/>
              </a:buClr>
              <a:buSzPts val="2000"/>
              <a:buFont typeface="Arial"/>
              <a:buAutoNum type="arabicPeriod"/>
            </a:pPr>
            <a:r>
              <a:rPr lang="en-US" sz="2000">
                <a:solidFill>
                  <a:schemeClr val="dk1"/>
                </a:solidFill>
                <a:latin typeface="Arial"/>
                <a:ea typeface="Arial"/>
                <a:cs typeface="Arial"/>
                <a:sym typeface="Arial"/>
              </a:rPr>
              <a:t>The two most common types of external users are investors and company officers.</a:t>
            </a:r>
            <a:endParaRPr/>
          </a:p>
          <a:p>
            <a:pPr indent="-461963" lvl="0" marL="461963" marR="0" rtl="0" algn="l">
              <a:lnSpc>
                <a:spcPct val="125000"/>
              </a:lnSpc>
              <a:spcBef>
                <a:spcPts val="1200"/>
              </a:spcBef>
              <a:spcAft>
                <a:spcPts val="0"/>
              </a:spcAft>
              <a:buClr>
                <a:schemeClr val="dk1"/>
              </a:buClr>
              <a:buSzPts val="2000"/>
              <a:buFont typeface="Arial"/>
              <a:buAutoNum type="arabicPeriod"/>
            </a:pPr>
            <a:r>
              <a:rPr lang="en-US" sz="2000">
                <a:solidFill>
                  <a:schemeClr val="dk1"/>
                </a:solidFill>
                <a:latin typeface="Arial"/>
                <a:ea typeface="Arial"/>
                <a:cs typeface="Arial"/>
                <a:sym typeface="Arial"/>
              </a:rPr>
              <a:t>Managerial accounting activities focus on reports for internal users.</a:t>
            </a:r>
            <a:endParaRPr sz="2000">
              <a:solidFill>
                <a:schemeClr val="dk1"/>
              </a:solidFill>
              <a:latin typeface="Arial"/>
              <a:ea typeface="Arial"/>
              <a:cs typeface="Arial"/>
              <a:sym typeface="Arial"/>
            </a:endParaRPr>
          </a:p>
        </p:txBody>
      </p:sp>
      <p:sp>
        <p:nvSpPr>
          <p:cNvPr id="129" name="Google Shape;129;p6"/>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1</a:t>
            </a:r>
            <a:endParaRPr/>
          </a:p>
        </p:txBody>
      </p:sp>
      <p:sp>
        <p:nvSpPr>
          <p:cNvPr id="130" name="Google Shape;130;p6"/>
          <p:cNvSpPr/>
          <p:nvPr/>
        </p:nvSpPr>
        <p:spPr>
          <a:xfrm>
            <a:off x="2115457" y="5638800"/>
            <a:ext cx="1008743" cy="442821"/>
          </a:xfrm>
          <a:prstGeom prst="rect">
            <a:avLst/>
          </a:prstGeom>
          <a:noFill/>
          <a:ln>
            <a:noFill/>
          </a:ln>
        </p:spPr>
        <p:txBody>
          <a:bodyPr anchorCtr="0" anchor="t" bIns="43225" lIns="45700" spcFirstLastPara="1" rIns="0" wrap="square" tIns="43225">
            <a:spAutoFit/>
          </a:bodyPr>
          <a:lstStyle/>
          <a:p>
            <a:pPr indent="0" lvl="0" marL="0" marR="0" rtl="0" algn="l">
              <a:lnSpc>
                <a:spcPct val="110000"/>
              </a:lnSpc>
              <a:spcBef>
                <a:spcPts val="0"/>
              </a:spcBef>
              <a:spcAft>
                <a:spcPts val="0"/>
              </a:spcAft>
              <a:buNone/>
            </a:pPr>
            <a:r>
              <a:rPr b="1" lang="en-US" sz="2100">
                <a:solidFill>
                  <a:schemeClr val="dk1"/>
                </a:solidFill>
                <a:latin typeface="Arial"/>
                <a:ea typeface="Arial"/>
                <a:cs typeface="Arial"/>
                <a:sym typeface="Arial"/>
              </a:rPr>
              <a:t> True</a:t>
            </a:r>
            <a:endParaRPr b="1" sz="2100">
              <a:solidFill>
                <a:schemeClr val="dk1"/>
              </a:solidFill>
              <a:latin typeface="Arial"/>
              <a:ea typeface="Arial"/>
              <a:cs typeface="Arial"/>
              <a:sym typeface="Arial"/>
            </a:endParaRPr>
          </a:p>
        </p:txBody>
      </p:sp>
      <p:sp>
        <p:nvSpPr>
          <p:cNvPr id="131" name="Google Shape;131;p6"/>
          <p:cNvSpPr/>
          <p:nvPr/>
        </p:nvSpPr>
        <p:spPr>
          <a:xfrm>
            <a:off x="3410857" y="5638800"/>
            <a:ext cx="1008743" cy="415249"/>
          </a:xfrm>
          <a:prstGeom prst="rect">
            <a:avLst/>
          </a:prstGeom>
          <a:noFill/>
          <a:ln>
            <a:noFill/>
          </a:ln>
        </p:spPr>
        <p:txBody>
          <a:bodyPr anchorCtr="0" anchor="t" bIns="43225" lIns="45700" spcFirstLastPara="1" rIns="0" wrap="square" tIns="43225">
            <a:spAutoFit/>
          </a:bodyPr>
          <a:lstStyle/>
          <a:p>
            <a:pPr indent="0" lvl="0" marL="0" marR="0" rtl="0" algn="l">
              <a:lnSpc>
                <a:spcPct val="110000"/>
              </a:lnSpc>
              <a:spcBef>
                <a:spcPts val="0"/>
              </a:spcBef>
              <a:spcAft>
                <a:spcPts val="0"/>
              </a:spcAft>
              <a:buNone/>
            </a:pPr>
            <a:r>
              <a:rPr b="1" lang="en-US" sz="2100">
                <a:solidFill>
                  <a:schemeClr val="dk1"/>
                </a:solidFill>
                <a:latin typeface="Arial"/>
                <a:ea typeface="Arial"/>
                <a:cs typeface="Arial"/>
                <a:sym typeface="Arial"/>
              </a:rPr>
              <a:t> False</a:t>
            </a:r>
            <a:endParaRPr b="1" sz="2100">
              <a:solidFill>
                <a:schemeClr val="dk1"/>
              </a:solidFill>
              <a:latin typeface="Arial"/>
              <a:ea typeface="Arial"/>
              <a:cs typeface="Arial"/>
              <a:sym typeface="Arial"/>
            </a:endParaRPr>
          </a:p>
        </p:txBody>
      </p:sp>
      <p:sp>
        <p:nvSpPr>
          <p:cNvPr id="132" name="Google Shape;132;p6"/>
          <p:cNvSpPr/>
          <p:nvPr/>
        </p:nvSpPr>
        <p:spPr>
          <a:xfrm>
            <a:off x="4782457" y="5638800"/>
            <a:ext cx="1008743" cy="415249"/>
          </a:xfrm>
          <a:prstGeom prst="rect">
            <a:avLst/>
          </a:prstGeom>
          <a:noFill/>
          <a:ln>
            <a:noFill/>
          </a:ln>
        </p:spPr>
        <p:txBody>
          <a:bodyPr anchorCtr="0" anchor="t" bIns="43225" lIns="45700" spcFirstLastPara="1" rIns="0" wrap="square" tIns="43225">
            <a:spAutoFit/>
          </a:bodyPr>
          <a:lstStyle/>
          <a:p>
            <a:pPr indent="0" lvl="0" marL="0" marR="0" rtl="0" algn="l">
              <a:lnSpc>
                <a:spcPct val="110000"/>
              </a:lnSpc>
              <a:spcBef>
                <a:spcPts val="0"/>
              </a:spcBef>
              <a:spcAft>
                <a:spcPts val="0"/>
              </a:spcAft>
              <a:buNone/>
            </a:pPr>
            <a:r>
              <a:rPr b="1" lang="en-US" sz="2100">
                <a:solidFill>
                  <a:schemeClr val="dk1"/>
                </a:solidFill>
                <a:latin typeface="Arial"/>
                <a:ea typeface="Arial"/>
                <a:cs typeface="Arial"/>
                <a:sym typeface="Arial"/>
              </a:rPr>
              <a:t> False</a:t>
            </a:r>
            <a:endParaRPr b="1" sz="2100">
              <a:solidFill>
                <a:schemeClr val="dk1"/>
              </a:solidFill>
              <a:latin typeface="Arial"/>
              <a:ea typeface="Arial"/>
              <a:cs typeface="Arial"/>
              <a:sym typeface="Arial"/>
            </a:endParaRPr>
          </a:p>
        </p:txBody>
      </p:sp>
      <p:sp>
        <p:nvSpPr>
          <p:cNvPr id="133" name="Google Shape;133;p6"/>
          <p:cNvSpPr/>
          <p:nvPr/>
        </p:nvSpPr>
        <p:spPr>
          <a:xfrm>
            <a:off x="6154057" y="5638800"/>
            <a:ext cx="1008743" cy="415249"/>
          </a:xfrm>
          <a:prstGeom prst="rect">
            <a:avLst/>
          </a:prstGeom>
          <a:noFill/>
          <a:ln>
            <a:noFill/>
          </a:ln>
        </p:spPr>
        <p:txBody>
          <a:bodyPr anchorCtr="0" anchor="t" bIns="43225" lIns="45700" spcFirstLastPara="1" rIns="0" wrap="square" tIns="43225">
            <a:spAutoFit/>
          </a:bodyPr>
          <a:lstStyle/>
          <a:p>
            <a:pPr indent="0" lvl="0" marL="0" marR="0" rtl="0" algn="l">
              <a:lnSpc>
                <a:spcPct val="110000"/>
              </a:lnSpc>
              <a:spcBef>
                <a:spcPts val="0"/>
              </a:spcBef>
              <a:spcAft>
                <a:spcPts val="0"/>
              </a:spcAft>
              <a:buNone/>
            </a:pPr>
            <a:r>
              <a:rPr b="1" lang="en-US" sz="2100">
                <a:solidFill>
                  <a:schemeClr val="dk1"/>
                </a:solidFill>
                <a:latin typeface="Arial"/>
                <a:ea typeface="Arial"/>
                <a:cs typeface="Arial"/>
                <a:sym typeface="Arial"/>
              </a:rPr>
              <a:t> False</a:t>
            </a:r>
            <a:endParaRPr b="1" sz="2100">
              <a:solidFill>
                <a:schemeClr val="dk1"/>
              </a:solidFill>
              <a:latin typeface="Arial"/>
              <a:ea typeface="Arial"/>
              <a:cs typeface="Arial"/>
              <a:sym typeface="Arial"/>
            </a:endParaRPr>
          </a:p>
        </p:txBody>
      </p:sp>
      <p:sp>
        <p:nvSpPr>
          <p:cNvPr id="134" name="Google Shape;134;p6"/>
          <p:cNvSpPr/>
          <p:nvPr/>
        </p:nvSpPr>
        <p:spPr>
          <a:xfrm>
            <a:off x="7525657" y="5638800"/>
            <a:ext cx="1008743" cy="415249"/>
          </a:xfrm>
          <a:prstGeom prst="rect">
            <a:avLst/>
          </a:prstGeom>
          <a:noFill/>
          <a:ln>
            <a:noFill/>
          </a:ln>
        </p:spPr>
        <p:txBody>
          <a:bodyPr anchorCtr="0" anchor="t" bIns="43225" lIns="45700" spcFirstLastPara="1" rIns="0" wrap="square" tIns="43225">
            <a:spAutoFit/>
          </a:bodyPr>
          <a:lstStyle/>
          <a:p>
            <a:pPr indent="0" lvl="0" marL="0" marR="0" rtl="0" algn="l">
              <a:lnSpc>
                <a:spcPct val="110000"/>
              </a:lnSpc>
              <a:spcBef>
                <a:spcPts val="0"/>
              </a:spcBef>
              <a:spcAft>
                <a:spcPts val="0"/>
              </a:spcAft>
              <a:buNone/>
            </a:pPr>
            <a:r>
              <a:rPr b="1" lang="en-US" sz="2100">
                <a:solidFill>
                  <a:schemeClr val="dk1"/>
                </a:solidFill>
                <a:latin typeface="Arial"/>
                <a:ea typeface="Arial"/>
                <a:cs typeface="Arial"/>
                <a:sym typeface="Arial"/>
              </a:rPr>
              <a:t> True</a:t>
            </a:r>
            <a:endParaRPr b="1" sz="2100">
              <a:solidFill>
                <a:schemeClr val="dk1"/>
              </a:solidFill>
              <a:latin typeface="Arial"/>
              <a:ea typeface="Arial"/>
              <a:cs typeface="Arial"/>
              <a:sym typeface="Arial"/>
            </a:endParaRPr>
          </a:p>
        </p:txBody>
      </p:sp>
      <p:pic>
        <p:nvPicPr>
          <p:cNvPr id="135" name="Google Shape;135;p6"/>
          <p:cNvPicPr preferRelativeResize="0"/>
          <p:nvPr/>
        </p:nvPicPr>
        <p:blipFill rotWithShape="1">
          <a:blip r:embed="rId3">
            <a:alphaModFix/>
          </a:blip>
          <a:srcRect b="0" l="0" r="0" t="0"/>
          <a:stretch/>
        </p:blipFill>
        <p:spPr>
          <a:xfrm>
            <a:off x="3410857" y="586815"/>
            <a:ext cx="3144567" cy="413310"/>
          </a:xfrm>
          <a:prstGeom prst="rect">
            <a:avLst/>
          </a:prstGeom>
          <a:noFill/>
          <a:ln>
            <a:noFill/>
          </a:ln>
        </p:spPr>
      </p:pic>
      <p:sp>
        <p:nvSpPr>
          <p:cNvPr id="136" name="Google Shape;136;p6"/>
          <p:cNvSpPr txBox="1"/>
          <p:nvPr/>
        </p:nvSpPr>
        <p:spPr>
          <a:xfrm>
            <a:off x="3276600" y="501929"/>
            <a:ext cx="5867400" cy="566928"/>
          </a:xfrm>
          <a:prstGeom prst="rect">
            <a:avLst/>
          </a:prstGeom>
          <a:solidFill>
            <a:srgbClr val="0027A4"/>
          </a:solidFill>
          <a:ln>
            <a:noFill/>
          </a:ln>
        </p:spPr>
        <p:txBody>
          <a:bodyPr anchorCtr="0" anchor="t" bIns="43225" lIns="86475" spcFirstLastPara="1" rIns="86475" wrap="square" tIns="43225">
            <a:noAutofit/>
          </a:bodyPr>
          <a:lstStyle/>
          <a:p>
            <a:pPr indent="0" lvl="0" marL="111120" marR="0" rtl="0" algn="l">
              <a:spcBef>
                <a:spcPts val="0"/>
              </a:spcBef>
              <a:spcAft>
                <a:spcPts val="0"/>
              </a:spcAft>
              <a:buNone/>
            </a:pPr>
            <a:r>
              <a:rPr b="1" lang="en-US" sz="2800">
                <a:solidFill>
                  <a:schemeClr val="lt1"/>
                </a:solidFill>
                <a:latin typeface="Arial"/>
                <a:ea typeface="Arial"/>
                <a:cs typeface="Arial"/>
                <a:sym typeface="Arial"/>
              </a:rPr>
              <a:t>Basic Concepts</a:t>
            </a:r>
            <a:endParaRPr b="1" sz="2800">
              <a:solidFill>
                <a:schemeClr val="lt1"/>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500"/>
                                        <p:tgtEl>
                                          <p:spTgt spid="1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500"/>
                                        <p:tgtEl>
                                          <p:spTgt spid="1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500"/>
                                        <p:tgtEl>
                                          <p:spTgt spid="1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500"/>
                                        <p:tgtEl>
                                          <p:spTgt spid="1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gtEl>
                                        <p:attrNameLst>
                                          <p:attrName>style.visibility</p:attrName>
                                        </p:attrNameLst>
                                      </p:cBhvr>
                                      <p:to>
                                        <p:strVal val="visible"/>
                                      </p:to>
                                    </p:set>
                                    <p:animEffect filter="fade" transition="in">
                                      <p:cBhvr>
                                        <p:cTn dur="500"/>
                                        <p:tgtEl>
                                          <p:spTgt spid="1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7"/>
          <p:cNvSpPr txBox="1"/>
          <p:nvPr/>
        </p:nvSpPr>
        <p:spPr>
          <a:xfrm>
            <a:off x="533400" y="1474788"/>
            <a:ext cx="7772400" cy="520655"/>
          </a:xfrm>
          <a:prstGeom prst="rect">
            <a:avLst/>
          </a:prstGeom>
          <a:noFill/>
          <a:ln>
            <a:noFill/>
          </a:ln>
        </p:spPr>
        <p:txBody>
          <a:bodyPr anchorCtr="0" anchor="t" bIns="44450" lIns="90475" spcFirstLastPara="1" rIns="90475" wrap="square" tIns="44450">
            <a:spAutoFit/>
          </a:bodyPr>
          <a:lstStyle/>
          <a:p>
            <a:pPr indent="0" lvl="0" marL="0" marR="0" rtl="0" algn="l">
              <a:spcBef>
                <a:spcPts val="0"/>
              </a:spcBef>
              <a:spcAft>
                <a:spcPts val="0"/>
              </a:spcAft>
              <a:buClr>
                <a:srgbClr val="0000BF"/>
              </a:buClr>
              <a:buSzPts val="2800"/>
              <a:buFont typeface="Noto Sans Symbols"/>
              <a:buNone/>
            </a:pPr>
            <a:r>
              <a:rPr b="1" lang="en-US" sz="2800">
                <a:solidFill>
                  <a:srgbClr val="0000BF"/>
                </a:solidFill>
                <a:latin typeface="Arial"/>
                <a:ea typeface="Arial"/>
                <a:cs typeface="Arial"/>
                <a:sym typeface="Arial"/>
              </a:rPr>
              <a:t>Ethics in Financial Reporting</a:t>
            </a:r>
            <a:endParaRPr/>
          </a:p>
        </p:txBody>
      </p:sp>
      <p:sp>
        <p:nvSpPr>
          <p:cNvPr id="142" name="Google Shape;142;p7"/>
          <p:cNvSpPr txBox="1"/>
          <p:nvPr/>
        </p:nvSpPr>
        <p:spPr>
          <a:xfrm>
            <a:off x="533400" y="2057400"/>
            <a:ext cx="7772400" cy="3695627"/>
          </a:xfrm>
          <a:prstGeom prst="rect">
            <a:avLst/>
          </a:prstGeom>
          <a:noFill/>
          <a:ln>
            <a:noFill/>
          </a:ln>
        </p:spPr>
        <p:txBody>
          <a:bodyPr anchorCtr="0" anchor="t" bIns="45700" lIns="91425" spcFirstLastPara="1" rIns="91425" wrap="square" tIns="45700">
            <a:spAutoFit/>
          </a:bodyPr>
          <a:lstStyle/>
          <a:p>
            <a:pPr indent="-460375" lvl="1" marL="690563" marR="0" rtl="0" algn="l">
              <a:lnSpc>
                <a:spcPct val="125000"/>
              </a:lnSpc>
              <a:spcBef>
                <a:spcPts val="0"/>
              </a:spcBef>
              <a:spcAft>
                <a:spcPts val="0"/>
              </a:spcAft>
              <a:buClr>
                <a:srgbClr val="800000"/>
              </a:buClr>
              <a:buSzPts val="1600"/>
              <a:buFont typeface="Noto Sans Symbols"/>
              <a:buChar char="◆"/>
            </a:pPr>
            <a:r>
              <a:rPr b="0" i="0" lang="en-US" sz="2000" u="none" cap="none" strike="noStrike">
                <a:solidFill>
                  <a:srgbClr val="000000"/>
                </a:solidFill>
                <a:latin typeface="Arial"/>
                <a:ea typeface="Arial"/>
                <a:cs typeface="Arial"/>
                <a:sym typeface="Arial"/>
              </a:rPr>
              <a:t>Recent financial scandals include:  </a:t>
            </a:r>
            <a:r>
              <a:rPr b="1" i="0" lang="en-US" sz="2000" u="none" cap="none" strike="noStrike">
                <a:solidFill>
                  <a:srgbClr val="800000"/>
                </a:solidFill>
                <a:latin typeface="Arial"/>
                <a:ea typeface="Arial"/>
                <a:cs typeface="Arial"/>
                <a:sym typeface="Arial"/>
              </a:rPr>
              <a:t>Enron</a:t>
            </a:r>
            <a:r>
              <a:rPr b="0" i="0" lang="en-US" sz="2000" u="none" cap="none" strike="noStrike">
                <a:solidFill>
                  <a:srgbClr val="000000"/>
                </a:solidFill>
                <a:latin typeface="Arial"/>
                <a:ea typeface="Arial"/>
                <a:cs typeface="Arial"/>
                <a:sym typeface="Arial"/>
              </a:rPr>
              <a:t>, </a:t>
            </a:r>
            <a:r>
              <a:rPr b="1" i="0" lang="en-US" sz="2000" u="none" cap="none" strike="noStrike">
                <a:solidFill>
                  <a:srgbClr val="800000"/>
                </a:solidFill>
                <a:latin typeface="Arial"/>
                <a:ea typeface="Arial"/>
                <a:cs typeface="Arial"/>
                <a:sym typeface="Arial"/>
              </a:rPr>
              <a:t>WorldCom</a:t>
            </a:r>
            <a:r>
              <a:rPr b="0" i="0" lang="en-US" sz="2000" u="none" cap="none" strike="noStrike">
                <a:solidFill>
                  <a:srgbClr val="000000"/>
                </a:solidFill>
                <a:latin typeface="Arial"/>
                <a:ea typeface="Arial"/>
                <a:cs typeface="Arial"/>
                <a:sym typeface="Arial"/>
              </a:rPr>
              <a:t>, </a:t>
            </a:r>
            <a:r>
              <a:rPr b="1" i="0" lang="en-US" sz="2000" u="none" cap="none" strike="noStrike">
                <a:solidFill>
                  <a:srgbClr val="800000"/>
                </a:solidFill>
                <a:latin typeface="Arial"/>
                <a:ea typeface="Arial"/>
                <a:cs typeface="Arial"/>
                <a:sym typeface="Arial"/>
              </a:rPr>
              <a:t>HealthSouth</a:t>
            </a:r>
            <a:r>
              <a:rPr b="0" i="0" lang="en-US" sz="2000" u="none" cap="none" strike="noStrike">
                <a:solidFill>
                  <a:srgbClr val="000000"/>
                </a:solidFill>
                <a:latin typeface="Arial"/>
                <a:ea typeface="Arial"/>
                <a:cs typeface="Arial"/>
                <a:sym typeface="Arial"/>
              </a:rPr>
              <a:t>, </a:t>
            </a:r>
            <a:r>
              <a:rPr b="1" i="0" lang="en-US" sz="2000" u="none" cap="none" strike="noStrike">
                <a:solidFill>
                  <a:srgbClr val="800000"/>
                </a:solidFill>
                <a:latin typeface="Arial"/>
                <a:ea typeface="Arial"/>
                <a:cs typeface="Arial"/>
                <a:sym typeface="Arial"/>
              </a:rPr>
              <a:t>AIG</a:t>
            </a:r>
            <a:r>
              <a:rPr b="0" i="0" lang="en-US" sz="2000" u="none" cap="none" strike="noStrike">
                <a:solidFill>
                  <a:srgbClr val="000000"/>
                </a:solidFill>
                <a:latin typeface="Arial"/>
                <a:ea typeface="Arial"/>
                <a:cs typeface="Arial"/>
                <a:sym typeface="Arial"/>
              </a:rPr>
              <a:t>, and other companies.</a:t>
            </a:r>
            <a:endParaRPr/>
          </a:p>
          <a:p>
            <a:pPr indent="-460375" lvl="1" marL="690563" marR="0" rtl="0" algn="l">
              <a:lnSpc>
                <a:spcPct val="125000"/>
              </a:lnSpc>
              <a:spcBef>
                <a:spcPts val="1200"/>
              </a:spcBef>
              <a:spcAft>
                <a:spcPts val="0"/>
              </a:spcAft>
              <a:buClr>
                <a:srgbClr val="800000"/>
              </a:buClr>
              <a:buSzPts val="1600"/>
              <a:buFont typeface="Noto Sans Symbols"/>
              <a:buChar char="◆"/>
            </a:pPr>
            <a:r>
              <a:rPr b="0" i="0" lang="en-US" sz="2000" u="none" cap="none" strike="noStrike">
                <a:solidFill>
                  <a:srgbClr val="000000"/>
                </a:solidFill>
                <a:latin typeface="Arial"/>
                <a:ea typeface="Arial"/>
                <a:cs typeface="Arial"/>
                <a:sym typeface="Arial"/>
              </a:rPr>
              <a:t>Regulators and lawmakers concerned that economy would suffer if investors lost confidence in corporate accounting.  In response,</a:t>
            </a:r>
            <a:endParaRPr b="0" i="0" sz="1900" u="none" cap="none" strike="noStrike">
              <a:solidFill>
                <a:srgbClr val="000000"/>
              </a:solidFill>
              <a:latin typeface="Arial"/>
              <a:ea typeface="Arial"/>
              <a:cs typeface="Arial"/>
              <a:sym typeface="Arial"/>
            </a:endParaRPr>
          </a:p>
          <a:p>
            <a:pPr indent="-463550" lvl="2" marL="1377950" marR="0" rtl="0" algn="l">
              <a:lnSpc>
                <a:spcPct val="125000"/>
              </a:lnSpc>
              <a:spcBef>
                <a:spcPts val="1140"/>
              </a:spcBef>
              <a:spcAft>
                <a:spcPts val="0"/>
              </a:spcAft>
              <a:buClr>
                <a:srgbClr val="800000"/>
              </a:buClr>
              <a:buSzPts val="1520"/>
              <a:buFont typeface="Arial"/>
              <a:buChar char="►"/>
            </a:pPr>
            <a:r>
              <a:rPr b="0" i="0" lang="en-US" sz="1900" u="none" cap="none" strike="noStrike">
                <a:solidFill>
                  <a:srgbClr val="000000"/>
                </a:solidFill>
                <a:latin typeface="Arial"/>
                <a:ea typeface="Arial"/>
                <a:cs typeface="Arial"/>
                <a:sym typeface="Arial"/>
              </a:rPr>
              <a:t>Congress passed </a:t>
            </a:r>
            <a:r>
              <a:rPr b="1" i="0" lang="en-US" sz="1900" u="none" cap="none" strike="noStrike">
                <a:solidFill>
                  <a:srgbClr val="0000CC"/>
                </a:solidFill>
                <a:latin typeface="Arial"/>
                <a:ea typeface="Arial"/>
                <a:cs typeface="Arial"/>
                <a:sym typeface="Arial"/>
              </a:rPr>
              <a:t>Sarbanes-Oxley Act  (SOX)</a:t>
            </a:r>
            <a:r>
              <a:rPr b="0" i="0" lang="en-US" sz="1900" u="none" cap="none" strike="noStrike">
                <a:solidFill>
                  <a:srgbClr val="000000"/>
                </a:solidFill>
                <a:latin typeface="Arial"/>
                <a:ea typeface="Arial"/>
                <a:cs typeface="Arial"/>
                <a:sym typeface="Arial"/>
              </a:rPr>
              <a:t>. </a:t>
            </a:r>
            <a:endParaRPr b="0" i="0" sz="1900" u="none" cap="none" strike="noStrike">
              <a:solidFill>
                <a:srgbClr val="000000"/>
              </a:solidFill>
              <a:latin typeface="Arial"/>
              <a:ea typeface="Arial"/>
              <a:cs typeface="Arial"/>
              <a:sym typeface="Arial"/>
            </a:endParaRPr>
          </a:p>
          <a:p>
            <a:pPr indent="-450850" lvl="2" marL="682625" marR="0" rtl="0" algn="l">
              <a:lnSpc>
                <a:spcPct val="125000"/>
              </a:lnSpc>
              <a:spcBef>
                <a:spcPts val="1200"/>
              </a:spcBef>
              <a:spcAft>
                <a:spcPts val="0"/>
              </a:spcAft>
              <a:buClr>
                <a:srgbClr val="800000"/>
              </a:buClr>
              <a:buSzPts val="1600"/>
              <a:buFont typeface="Noto Sans Symbols"/>
              <a:buChar char="◆"/>
            </a:pPr>
            <a:r>
              <a:rPr b="0" i="0" lang="en-US" sz="2000" u="none" cap="none" strike="noStrike">
                <a:solidFill>
                  <a:srgbClr val="000000"/>
                </a:solidFill>
                <a:latin typeface="Arial"/>
                <a:ea typeface="Arial"/>
                <a:cs typeface="Arial"/>
                <a:sym typeface="Arial"/>
              </a:rPr>
              <a:t>Effective financial reporting depends on sound ethical behavior.</a:t>
            </a:r>
            <a:endParaRPr/>
          </a:p>
        </p:txBody>
      </p:sp>
      <p:sp>
        <p:nvSpPr>
          <p:cNvPr id="143" name="Google Shape;143;p7"/>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2 </a:t>
            </a:r>
            <a:endParaRPr b="1" i="1" sz="1600">
              <a:solidFill>
                <a:schemeClr val="lt2"/>
              </a:solidFill>
              <a:latin typeface="Arial"/>
              <a:ea typeface="Arial"/>
              <a:cs typeface="Arial"/>
              <a:sym typeface="Arial"/>
            </a:endParaRPr>
          </a:p>
        </p:txBody>
      </p:sp>
      <p:sp>
        <p:nvSpPr>
          <p:cNvPr id="144" name="Google Shape;144;p7"/>
          <p:cNvSpPr/>
          <p:nvPr/>
        </p:nvSpPr>
        <p:spPr>
          <a:xfrm>
            <a:off x="0" y="405765"/>
            <a:ext cx="2540000" cy="677228"/>
          </a:xfrm>
          <a:prstGeom prst="rect">
            <a:avLst/>
          </a:prstGeom>
          <a:solidFill>
            <a:srgbClr val="D8D8D8"/>
          </a:solidFill>
          <a:ln>
            <a:noFill/>
          </a:ln>
        </p:spPr>
        <p:txBody>
          <a:bodyPr anchorCtr="0" anchor="ctr" bIns="43225" lIns="86475" spcFirstLastPara="1" rIns="86475" wrap="square" tIns="43225">
            <a:noAutofit/>
          </a:bodyPr>
          <a:lstStyle/>
          <a:p>
            <a:pPr indent="0" lvl="0" marL="231775" marR="0" rtl="0" algn="l">
              <a:spcBef>
                <a:spcPts val="0"/>
              </a:spcBef>
              <a:spcAft>
                <a:spcPts val="0"/>
              </a:spcAft>
              <a:buNone/>
            </a:pPr>
            <a:r>
              <a:rPr b="1" lang="en-US" sz="1700">
                <a:solidFill>
                  <a:schemeClr val="dk1"/>
                </a:solidFill>
                <a:latin typeface="Arial"/>
                <a:ea typeface="Arial"/>
                <a:cs typeface="Arial"/>
                <a:sym typeface="Arial"/>
              </a:rPr>
              <a:t>LEARNING</a:t>
            </a:r>
            <a:endParaRPr/>
          </a:p>
          <a:p>
            <a:pPr indent="0" lvl="0" marL="231775" marR="0" rtl="0" algn="l">
              <a:spcBef>
                <a:spcPts val="0"/>
              </a:spcBef>
              <a:spcAft>
                <a:spcPts val="0"/>
              </a:spcAft>
              <a:buNone/>
            </a:pPr>
            <a:r>
              <a:rPr b="1" lang="en-US" sz="1700">
                <a:solidFill>
                  <a:schemeClr val="dk1"/>
                </a:solidFill>
                <a:latin typeface="Arial"/>
                <a:ea typeface="Arial"/>
                <a:cs typeface="Arial"/>
                <a:sym typeface="Arial"/>
              </a:rPr>
              <a:t>OBJECTIVE</a:t>
            </a:r>
            <a:endParaRPr/>
          </a:p>
        </p:txBody>
      </p:sp>
      <p:sp>
        <p:nvSpPr>
          <p:cNvPr id="145" name="Google Shape;145;p7"/>
          <p:cNvSpPr/>
          <p:nvPr/>
        </p:nvSpPr>
        <p:spPr>
          <a:xfrm>
            <a:off x="2540000" y="274320"/>
            <a:ext cx="6604000" cy="928688"/>
          </a:xfrm>
          <a:prstGeom prst="rect">
            <a:avLst/>
          </a:prstGeom>
          <a:solidFill>
            <a:srgbClr val="0027A4"/>
          </a:solidFill>
          <a:ln>
            <a:noFill/>
          </a:ln>
        </p:spPr>
        <p:txBody>
          <a:bodyPr anchorCtr="0" anchor="ctr" bIns="43225" lIns="86475" spcFirstLastPara="1" rIns="86475" wrap="square" tIns="34575">
            <a:noAutofit/>
          </a:bodyPr>
          <a:lstStyle/>
          <a:p>
            <a:pPr indent="0" lvl="0" marL="111120" marR="0" rtl="0" algn="l">
              <a:spcBef>
                <a:spcPts val="0"/>
              </a:spcBef>
              <a:spcAft>
                <a:spcPts val="0"/>
              </a:spcAft>
              <a:buNone/>
            </a:pPr>
            <a:r>
              <a:rPr b="1" lang="en-US" sz="2300">
                <a:solidFill>
                  <a:schemeClr val="lt1"/>
                </a:solidFill>
                <a:latin typeface="Arial"/>
                <a:ea typeface="Arial"/>
                <a:cs typeface="Arial"/>
                <a:sym typeface="Arial"/>
              </a:rPr>
              <a:t>Explain the building blocks of accounting: ethics, principles, and assumptions.</a:t>
            </a:r>
            <a:endParaRPr/>
          </a:p>
        </p:txBody>
      </p:sp>
      <p:sp>
        <p:nvSpPr>
          <p:cNvPr id="146" name="Google Shape;146;p7"/>
          <p:cNvSpPr/>
          <p:nvPr/>
        </p:nvSpPr>
        <p:spPr>
          <a:xfrm>
            <a:off x="1828800" y="485775"/>
            <a:ext cx="522514" cy="514350"/>
          </a:xfrm>
          <a:prstGeom prst="ellipse">
            <a:avLst/>
          </a:prstGeom>
          <a:solidFill>
            <a:srgbClr val="FF9900"/>
          </a:solidFill>
          <a:ln>
            <a:noFill/>
          </a:ln>
        </p:spPr>
        <p:txBody>
          <a:bodyPr anchorCtr="0" anchor="ctr" bIns="43225" lIns="86475" spcFirstLastPara="1" rIns="86475" wrap="square" tIns="0">
            <a:noAutofit/>
          </a:bodyPr>
          <a:lstStyle/>
          <a:p>
            <a:pPr indent="0" lvl="0" marL="0" marR="0" rtl="0" algn="ctr">
              <a:spcBef>
                <a:spcPts val="0"/>
              </a:spcBef>
              <a:spcAft>
                <a:spcPts val="0"/>
              </a:spcAft>
              <a:buNone/>
            </a:pPr>
            <a:r>
              <a:rPr b="1" lang="en-US" sz="2500">
                <a:solidFill>
                  <a:schemeClr val="lt1"/>
                </a:solidFill>
                <a:latin typeface="Arial"/>
                <a:ea typeface="Arial"/>
                <a:cs typeface="Arial"/>
                <a:sym typeface="Arial"/>
              </a:rPr>
              <a:t>2</a:t>
            </a:r>
            <a:endParaRPr b="1" sz="2500">
              <a:solidFill>
                <a:schemeClr val="lt1"/>
              </a:solidFill>
              <a:latin typeface="Arial"/>
              <a:ea typeface="Arial"/>
              <a:cs typeface="Arial"/>
              <a:sym typeface="Arial"/>
            </a:endParaRPr>
          </a:p>
        </p:txBody>
      </p:sp>
    </p:spTree>
  </p:cSld>
  <p:clrMapOvr>
    <a:masterClrMapping/>
  </p:clrMapOvr>
  <p:transition>
    <p:wipe dir="r"/>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8"/>
          <p:cNvSpPr/>
          <p:nvPr/>
        </p:nvSpPr>
        <p:spPr>
          <a:xfrm>
            <a:off x="2971800" y="3124200"/>
            <a:ext cx="228600" cy="76200"/>
          </a:xfrm>
          <a:prstGeom prst="rect">
            <a:avLst/>
          </a:prstGeom>
          <a:solidFill>
            <a:schemeClr val="lt1"/>
          </a:solidFill>
          <a:ln>
            <a:noFill/>
          </a:ln>
        </p:spPr>
        <p:txBody>
          <a:bodyPr anchorCtr="0" anchor="ctr" bIns="44450" lIns="90475" spcFirstLastPara="1" rIns="90475" wrap="square" tIns="44450">
            <a:noAutofit/>
          </a:bodyPr>
          <a:lstStyle/>
          <a:p>
            <a:pPr indent="0" lvl="0" marL="0" marR="0" rtl="0" algn="ctr">
              <a:spcBef>
                <a:spcPts val="0"/>
              </a:spcBef>
              <a:spcAft>
                <a:spcPts val="0"/>
              </a:spcAft>
              <a:buClr>
                <a:schemeClr val="lt2"/>
              </a:buClr>
              <a:buSzPts val="2400"/>
              <a:buFont typeface="Noto Sans Symbols"/>
              <a:buNone/>
            </a:pPr>
            <a:r>
              <a:t/>
            </a:r>
            <a:endParaRPr b="0" sz="2400">
              <a:solidFill>
                <a:schemeClr val="dk1"/>
              </a:solidFill>
              <a:latin typeface="Arial"/>
              <a:ea typeface="Arial"/>
              <a:cs typeface="Arial"/>
              <a:sym typeface="Arial"/>
            </a:endParaRPr>
          </a:p>
        </p:txBody>
      </p:sp>
      <p:sp>
        <p:nvSpPr>
          <p:cNvPr id="152" name="Google Shape;152;p8"/>
          <p:cNvSpPr/>
          <p:nvPr/>
        </p:nvSpPr>
        <p:spPr>
          <a:xfrm>
            <a:off x="2971800" y="3352800"/>
            <a:ext cx="228600" cy="76200"/>
          </a:xfrm>
          <a:prstGeom prst="rect">
            <a:avLst/>
          </a:prstGeom>
          <a:solidFill>
            <a:schemeClr val="lt1"/>
          </a:solidFill>
          <a:ln>
            <a:noFill/>
          </a:ln>
        </p:spPr>
        <p:txBody>
          <a:bodyPr anchorCtr="0" anchor="ctr" bIns="44450" lIns="90475" spcFirstLastPara="1" rIns="90475" wrap="square" tIns="44450">
            <a:noAutofit/>
          </a:bodyPr>
          <a:lstStyle/>
          <a:p>
            <a:pPr indent="0" lvl="0" marL="0" marR="0" rtl="0" algn="ctr">
              <a:spcBef>
                <a:spcPts val="0"/>
              </a:spcBef>
              <a:spcAft>
                <a:spcPts val="0"/>
              </a:spcAft>
              <a:buClr>
                <a:schemeClr val="lt2"/>
              </a:buClr>
              <a:buSzPts val="2400"/>
              <a:buFont typeface="Noto Sans Symbols"/>
              <a:buNone/>
            </a:pPr>
            <a:r>
              <a:t/>
            </a:r>
            <a:endParaRPr b="0" sz="2400">
              <a:solidFill>
                <a:schemeClr val="dk1"/>
              </a:solidFill>
              <a:latin typeface="Arial"/>
              <a:ea typeface="Arial"/>
              <a:cs typeface="Arial"/>
              <a:sym typeface="Arial"/>
            </a:endParaRPr>
          </a:p>
        </p:txBody>
      </p:sp>
      <p:sp>
        <p:nvSpPr>
          <p:cNvPr id="153" name="Google Shape;153;p8"/>
          <p:cNvSpPr/>
          <p:nvPr/>
        </p:nvSpPr>
        <p:spPr>
          <a:xfrm rot="-5400000">
            <a:off x="2895600" y="3200400"/>
            <a:ext cx="228600" cy="76200"/>
          </a:xfrm>
          <a:prstGeom prst="rect">
            <a:avLst/>
          </a:prstGeom>
          <a:solidFill>
            <a:schemeClr val="lt1"/>
          </a:solidFill>
          <a:ln>
            <a:noFill/>
          </a:ln>
        </p:spPr>
        <p:txBody>
          <a:bodyPr anchorCtr="0" anchor="ctr" bIns="44450" lIns="90475" spcFirstLastPara="1" rIns="90475" wrap="square" tIns="44450">
            <a:noAutofit/>
          </a:bodyPr>
          <a:lstStyle/>
          <a:p>
            <a:pPr indent="0" lvl="0" marL="0" marR="0" rtl="0" algn="ctr">
              <a:spcBef>
                <a:spcPts val="0"/>
              </a:spcBef>
              <a:spcAft>
                <a:spcPts val="0"/>
              </a:spcAft>
              <a:buClr>
                <a:schemeClr val="lt2"/>
              </a:buClr>
              <a:buSzPts val="2400"/>
              <a:buFont typeface="Noto Sans Symbols"/>
              <a:buNone/>
            </a:pPr>
            <a:r>
              <a:t/>
            </a:r>
            <a:endParaRPr b="0" sz="2400">
              <a:solidFill>
                <a:schemeClr val="dk1"/>
              </a:solidFill>
              <a:latin typeface="Arial"/>
              <a:ea typeface="Arial"/>
              <a:cs typeface="Arial"/>
              <a:sym typeface="Arial"/>
            </a:endParaRPr>
          </a:p>
        </p:txBody>
      </p:sp>
      <p:sp>
        <p:nvSpPr>
          <p:cNvPr id="154" name="Google Shape;154;p8"/>
          <p:cNvSpPr/>
          <p:nvPr/>
        </p:nvSpPr>
        <p:spPr>
          <a:xfrm>
            <a:off x="4419600" y="5791200"/>
            <a:ext cx="2362200" cy="644525"/>
          </a:xfrm>
          <a:prstGeom prst="rect">
            <a:avLst/>
          </a:prstGeom>
          <a:noFill/>
          <a:ln>
            <a:noFill/>
          </a:ln>
        </p:spPr>
        <p:txBody>
          <a:bodyPr anchorCtr="0" anchor="t" bIns="44450" lIns="90475" spcFirstLastPara="1" rIns="90475" wrap="square" tIns="44450">
            <a:spAutoFit/>
          </a:bodyPr>
          <a:lstStyle/>
          <a:p>
            <a:pPr indent="0" lvl="0" marL="0" marR="0" rtl="0" algn="l">
              <a:spcBef>
                <a:spcPts val="0"/>
              </a:spcBef>
              <a:spcAft>
                <a:spcPts val="0"/>
              </a:spcAft>
              <a:buClr>
                <a:schemeClr val="dk1"/>
              </a:buClr>
              <a:buSzPts val="1200"/>
              <a:buFont typeface="Noto Sans Symbols"/>
              <a:buNone/>
            </a:pPr>
            <a:r>
              <a:rPr b="1" lang="en-US" sz="1200">
                <a:solidFill>
                  <a:schemeClr val="dk1"/>
                </a:solidFill>
                <a:latin typeface="Arial"/>
                <a:ea typeface="Arial"/>
                <a:cs typeface="Arial"/>
                <a:sym typeface="Arial"/>
              </a:rPr>
              <a:t>Illustration 1-4</a:t>
            </a:r>
            <a:endParaRPr/>
          </a:p>
          <a:p>
            <a:pPr indent="0" lvl="0" marL="0" marR="0" rtl="0" algn="l">
              <a:spcBef>
                <a:spcPts val="0"/>
              </a:spcBef>
              <a:spcAft>
                <a:spcPts val="0"/>
              </a:spcAft>
              <a:buClr>
                <a:schemeClr val="dk1"/>
              </a:buClr>
              <a:buSzPts val="1200"/>
              <a:buFont typeface="Noto Sans Symbols"/>
              <a:buNone/>
            </a:pPr>
            <a:r>
              <a:rPr b="0" lang="en-US" sz="1200">
                <a:solidFill>
                  <a:schemeClr val="dk1"/>
                </a:solidFill>
                <a:latin typeface="Arial"/>
                <a:ea typeface="Arial"/>
                <a:cs typeface="Arial"/>
                <a:sym typeface="Arial"/>
              </a:rPr>
              <a:t>Steps in analyzing ethics cases and situations</a:t>
            </a:r>
            <a:endParaRPr/>
          </a:p>
        </p:txBody>
      </p:sp>
      <p:pic>
        <p:nvPicPr>
          <p:cNvPr id="155" name="Google Shape;155;p8"/>
          <p:cNvPicPr preferRelativeResize="0"/>
          <p:nvPr/>
        </p:nvPicPr>
        <p:blipFill rotWithShape="1">
          <a:blip r:embed="rId3">
            <a:alphaModFix/>
          </a:blip>
          <a:srcRect b="0" l="0" r="0" t="0"/>
          <a:stretch/>
        </p:blipFill>
        <p:spPr>
          <a:xfrm>
            <a:off x="381000" y="1295400"/>
            <a:ext cx="8610600" cy="3146425"/>
          </a:xfrm>
          <a:prstGeom prst="rect">
            <a:avLst/>
          </a:prstGeom>
          <a:noFill/>
          <a:ln>
            <a:noFill/>
          </a:ln>
        </p:spPr>
      </p:pic>
      <p:cxnSp>
        <p:nvCxnSpPr>
          <p:cNvPr id="156" name="Google Shape;156;p8"/>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57" name="Google Shape;157;p8"/>
          <p:cNvSpPr/>
          <p:nvPr/>
        </p:nvSpPr>
        <p:spPr>
          <a:xfrm>
            <a:off x="533400" y="304800"/>
            <a:ext cx="76200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Ethics in Financial Reporting</a:t>
            </a:r>
            <a:endParaRPr/>
          </a:p>
        </p:txBody>
      </p:sp>
      <p:sp>
        <p:nvSpPr>
          <p:cNvPr id="158" name="Google Shape;158;p8"/>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2 </a:t>
            </a:r>
            <a:endParaRPr b="1" i="1" sz="1600">
              <a:solidFill>
                <a:schemeClr val="lt2"/>
              </a:solidFill>
              <a:latin typeface="Arial"/>
              <a:ea typeface="Arial"/>
              <a:cs typeface="Arial"/>
              <a:sym typeface="Arial"/>
            </a:endParaRPr>
          </a:p>
        </p:txBody>
      </p:sp>
      <p:pic>
        <p:nvPicPr>
          <p:cNvPr id="159" name="Google Shape;159;p8"/>
          <p:cNvPicPr preferRelativeResize="0"/>
          <p:nvPr/>
        </p:nvPicPr>
        <p:blipFill rotWithShape="1">
          <a:blip r:embed="rId4">
            <a:alphaModFix/>
          </a:blip>
          <a:srcRect b="0" l="0" r="0" t="0"/>
          <a:stretch/>
        </p:blipFill>
        <p:spPr>
          <a:xfrm>
            <a:off x="1219200" y="3962400"/>
            <a:ext cx="2667000" cy="2504095"/>
          </a:xfrm>
          <a:prstGeom prst="rect">
            <a:avLst/>
          </a:prstGeom>
          <a:noFill/>
          <a:ln>
            <a:noFill/>
          </a:ln>
        </p:spPr>
      </p:pic>
    </p:spTree>
  </p:cSld>
  <p:clrMapOvr>
    <a:masterClrMapping/>
  </p:clrMapOvr>
  <p:transition>
    <p:wipe dir="r"/>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9"/>
          <p:cNvSpPr/>
          <p:nvPr/>
        </p:nvSpPr>
        <p:spPr>
          <a:xfrm>
            <a:off x="457200" y="1905000"/>
            <a:ext cx="8153400" cy="3505200"/>
          </a:xfrm>
          <a:prstGeom prst="rect">
            <a:avLst/>
          </a:prstGeom>
          <a:solidFill>
            <a:schemeClr val="lt1"/>
          </a:solidFill>
          <a:ln>
            <a:noFill/>
          </a:ln>
        </p:spPr>
        <p:txBody>
          <a:bodyPr anchorCtr="0" anchor="t" bIns="46025" lIns="182550" spcFirstLastPara="1" rIns="182550" wrap="square" tIns="46025">
            <a:noAutofit/>
          </a:bodyPr>
          <a:lstStyle/>
          <a:p>
            <a:pPr indent="0" lvl="0" marL="0" marR="0" rtl="0" algn="l">
              <a:lnSpc>
                <a:spcPct val="120000"/>
              </a:lnSpc>
              <a:spcBef>
                <a:spcPts val="0"/>
              </a:spcBef>
              <a:spcAft>
                <a:spcPts val="0"/>
              </a:spcAft>
              <a:buClr>
                <a:schemeClr val="dk1"/>
              </a:buClr>
              <a:buSzPts val="2300"/>
              <a:buFont typeface="Noto Sans Symbols"/>
              <a:buNone/>
            </a:pPr>
            <a:r>
              <a:rPr b="0" lang="en-US" sz="2300">
                <a:solidFill>
                  <a:schemeClr val="dk1"/>
                </a:solidFill>
                <a:latin typeface="Arial"/>
                <a:ea typeface="Arial"/>
                <a:cs typeface="Arial"/>
                <a:sym typeface="Arial"/>
              </a:rPr>
              <a:t>Ethics are the standards of conduct by which one's actions are judged as:  </a:t>
            </a:r>
            <a:endParaRPr/>
          </a:p>
          <a:p>
            <a:pPr indent="-455613" lvl="1" marL="685800" marR="0" rtl="0" algn="l">
              <a:lnSpc>
                <a:spcPct val="120000"/>
              </a:lnSpc>
              <a:spcBef>
                <a:spcPts val="1150"/>
              </a:spcBef>
              <a:spcAft>
                <a:spcPts val="0"/>
              </a:spcAft>
              <a:buClr>
                <a:schemeClr val="dk1"/>
              </a:buClr>
              <a:buSzPts val="2300"/>
              <a:buFont typeface="Noto Sans Symbols"/>
              <a:buAutoNum type="alphaLcPeriod"/>
            </a:pPr>
            <a:r>
              <a:rPr b="0" i="0" lang="en-US" sz="2300" u="none" cap="none" strike="noStrike">
                <a:solidFill>
                  <a:schemeClr val="dk1"/>
                </a:solidFill>
                <a:latin typeface="Arial"/>
                <a:ea typeface="Arial"/>
                <a:cs typeface="Arial"/>
                <a:sym typeface="Arial"/>
              </a:rPr>
              <a:t>right or wrong. </a:t>
            </a:r>
            <a:endParaRPr/>
          </a:p>
          <a:p>
            <a:pPr indent="-455613" lvl="1" marL="685800" marR="0" rtl="0" algn="l">
              <a:lnSpc>
                <a:spcPct val="120000"/>
              </a:lnSpc>
              <a:spcBef>
                <a:spcPts val="1150"/>
              </a:spcBef>
              <a:spcAft>
                <a:spcPts val="0"/>
              </a:spcAft>
              <a:buClr>
                <a:schemeClr val="dk1"/>
              </a:buClr>
              <a:buSzPts val="2300"/>
              <a:buFont typeface="Noto Sans Symbols"/>
              <a:buAutoNum type="alphaLcPeriod"/>
            </a:pPr>
            <a:r>
              <a:rPr b="0" i="0" lang="en-US" sz="2300" u="none" cap="none" strike="noStrike">
                <a:solidFill>
                  <a:schemeClr val="dk1"/>
                </a:solidFill>
                <a:latin typeface="Arial"/>
                <a:ea typeface="Arial"/>
                <a:cs typeface="Arial"/>
                <a:sym typeface="Arial"/>
              </a:rPr>
              <a:t>honest or dishonest.  </a:t>
            </a:r>
            <a:endParaRPr/>
          </a:p>
          <a:p>
            <a:pPr indent="-455613" lvl="1" marL="685800" marR="0" rtl="0" algn="l">
              <a:lnSpc>
                <a:spcPct val="120000"/>
              </a:lnSpc>
              <a:spcBef>
                <a:spcPts val="1150"/>
              </a:spcBef>
              <a:spcAft>
                <a:spcPts val="0"/>
              </a:spcAft>
              <a:buClr>
                <a:schemeClr val="dk1"/>
              </a:buClr>
              <a:buSzPts val="2300"/>
              <a:buFont typeface="Noto Sans Symbols"/>
              <a:buAutoNum type="alphaLcPeriod"/>
            </a:pPr>
            <a:r>
              <a:rPr b="0" i="0" lang="en-US" sz="2300" u="none" cap="none" strike="noStrike">
                <a:solidFill>
                  <a:schemeClr val="dk1"/>
                </a:solidFill>
                <a:latin typeface="Arial"/>
                <a:ea typeface="Arial"/>
                <a:cs typeface="Arial"/>
                <a:sym typeface="Arial"/>
              </a:rPr>
              <a:t>fair or not fair. </a:t>
            </a:r>
            <a:endParaRPr/>
          </a:p>
          <a:p>
            <a:pPr indent="-455613" lvl="1" marL="685800" marR="0" rtl="0" algn="l">
              <a:lnSpc>
                <a:spcPct val="120000"/>
              </a:lnSpc>
              <a:spcBef>
                <a:spcPts val="1150"/>
              </a:spcBef>
              <a:spcAft>
                <a:spcPts val="0"/>
              </a:spcAft>
              <a:buClr>
                <a:schemeClr val="dk1"/>
              </a:buClr>
              <a:buSzPts val="2300"/>
              <a:buFont typeface="Noto Sans Symbols"/>
              <a:buAutoNum type="alphaLcPeriod"/>
            </a:pPr>
            <a:r>
              <a:rPr b="0" i="0" lang="en-US" sz="2300" u="none" cap="none" strike="noStrike">
                <a:solidFill>
                  <a:schemeClr val="dk1"/>
                </a:solidFill>
                <a:latin typeface="Arial"/>
                <a:ea typeface="Arial"/>
                <a:cs typeface="Arial"/>
                <a:sym typeface="Arial"/>
              </a:rPr>
              <a:t>all of these options.</a:t>
            </a:r>
            <a:endParaRPr/>
          </a:p>
        </p:txBody>
      </p:sp>
      <p:sp>
        <p:nvSpPr>
          <p:cNvPr id="165" name="Google Shape;165;p9"/>
          <p:cNvSpPr/>
          <p:nvPr/>
        </p:nvSpPr>
        <p:spPr>
          <a:xfrm>
            <a:off x="533400" y="1295400"/>
            <a:ext cx="5334000" cy="551433"/>
          </a:xfrm>
          <a:prstGeom prst="rect">
            <a:avLst/>
          </a:prstGeom>
          <a:noFill/>
          <a:ln>
            <a:noFill/>
          </a:ln>
        </p:spPr>
        <p:txBody>
          <a:bodyPr anchorCtr="0" anchor="t" bIns="44450" lIns="90475" spcFirstLastPara="1" rIns="90475" wrap="square" tIns="44450">
            <a:spAutoFit/>
          </a:bodyPr>
          <a:lstStyle/>
          <a:p>
            <a:pPr indent="0" lvl="0" marL="0" marR="0" rtl="0" algn="l">
              <a:spcBef>
                <a:spcPts val="0"/>
              </a:spcBef>
              <a:spcAft>
                <a:spcPts val="0"/>
              </a:spcAft>
              <a:buClr>
                <a:schemeClr val="dk1"/>
              </a:buClr>
              <a:buSzPts val="3000"/>
              <a:buFont typeface="Noto Sans Symbols"/>
              <a:buNone/>
            </a:pPr>
            <a:r>
              <a:rPr b="1" lang="en-US" sz="3000">
                <a:solidFill>
                  <a:schemeClr val="dk1"/>
                </a:solidFill>
                <a:latin typeface="Arial"/>
                <a:ea typeface="Arial"/>
                <a:cs typeface="Arial"/>
                <a:sym typeface="Arial"/>
              </a:rPr>
              <a:t>Question</a:t>
            </a:r>
            <a:endParaRPr/>
          </a:p>
        </p:txBody>
      </p:sp>
      <p:cxnSp>
        <p:nvCxnSpPr>
          <p:cNvPr id="166" name="Google Shape;166;p9"/>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67" name="Google Shape;167;p9"/>
          <p:cNvSpPr/>
          <p:nvPr/>
        </p:nvSpPr>
        <p:spPr>
          <a:xfrm>
            <a:off x="533400" y="304800"/>
            <a:ext cx="76200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Ethics in Financial Reporting</a:t>
            </a:r>
            <a:endParaRPr/>
          </a:p>
        </p:txBody>
      </p:sp>
      <p:sp>
        <p:nvSpPr>
          <p:cNvPr id="168" name="Google Shape;168;p9"/>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2 </a:t>
            </a:r>
            <a:endParaRPr b="1" i="1" sz="1600">
              <a:solidFill>
                <a:schemeClr val="lt2"/>
              </a:solidFill>
              <a:latin typeface="Arial"/>
              <a:ea typeface="Arial"/>
              <a:cs typeface="Arial"/>
              <a:sym typeface="Arial"/>
            </a:endParaRPr>
          </a:p>
        </p:txBody>
      </p:sp>
      <p:sp>
        <p:nvSpPr>
          <p:cNvPr id="169" name="Google Shape;169;p9"/>
          <p:cNvSpPr/>
          <p:nvPr/>
        </p:nvSpPr>
        <p:spPr>
          <a:xfrm>
            <a:off x="152400" y="4724400"/>
            <a:ext cx="609600" cy="457200"/>
          </a:xfrm>
          <a:prstGeom prst="notchedRightArrow">
            <a:avLst>
              <a:gd fmla="val 50000" name="adj1"/>
              <a:gd fmla="val 50000" name="adj2"/>
            </a:avLst>
          </a:prstGeom>
          <a:solidFill>
            <a:srgbClr val="0000BF"/>
          </a:solidFill>
          <a:ln cap="sq"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500"/>
                                        <p:tgtEl>
                                          <p:spTgt spid="1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0"/>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2 </a:t>
            </a:r>
            <a:endParaRPr b="1" i="1" sz="1600">
              <a:solidFill>
                <a:schemeClr val="lt2"/>
              </a:solidFill>
              <a:latin typeface="Arial"/>
              <a:ea typeface="Arial"/>
              <a:cs typeface="Arial"/>
              <a:sym typeface="Arial"/>
            </a:endParaRPr>
          </a:p>
        </p:txBody>
      </p:sp>
      <p:pic>
        <p:nvPicPr>
          <p:cNvPr id="175" name="Google Shape;175;p10"/>
          <p:cNvPicPr preferRelativeResize="0"/>
          <p:nvPr/>
        </p:nvPicPr>
        <p:blipFill rotWithShape="1">
          <a:blip r:embed="rId3">
            <a:alphaModFix/>
          </a:blip>
          <a:srcRect b="0" l="0" r="0" t="0"/>
          <a:stretch/>
        </p:blipFill>
        <p:spPr>
          <a:xfrm>
            <a:off x="304801" y="1109664"/>
            <a:ext cx="8610599" cy="3457018"/>
          </a:xfrm>
          <a:prstGeom prst="rect">
            <a:avLst/>
          </a:prstGeom>
          <a:noFill/>
          <a:ln>
            <a:noFill/>
          </a:ln>
        </p:spPr>
      </p:pic>
    </p:spTree>
  </p:cSld>
  <p:clrMapOvr>
    <a:masterClrMapping/>
  </p:clrMapOvr>
  <p:transition>
    <p:wipe dir="r"/>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1"/>
          <p:cNvSpPr txBox="1"/>
          <p:nvPr/>
        </p:nvSpPr>
        <p:spPr>
          <a:xfrm>
            <a:off x="838200" y="1752600"/>
            <a:ext cx="2362200" cy="1125538"/>
          </a:xfrm>
          <a:prstGeom prst="rect">
            <a:avLst/>
          </a:prstGeom>
          <a:solidFill>
            <a:srgbClr val="FFFFFF"/>
          </a:solidFill>
          <a:ln cap="sq" cmpd="sng" w="28575">
            <a:solidFill>
              <a:schemeClr val="dk1"/>
            </a:solidFill>
            <a:prstDash val="solid"/>
            <a:miter lim="800000"/>
            <a:headEnd len="sm" w="sm" type="none"/>
            <a:tailEnd len="sm" w="sm" type="none"/>
          </a:ln>
          <a:effectLst>
            <a:outerShdw rotWithShape="0" algn="ctr" dir="2700000" dist="35921">
              <a:schemeClr val="lt2"/>
            </a:outerShdw>
          </a:effectLst>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2200"/>
              <a:buFont typeface="Noto Sans Symbols"/>
              <a:buNone/>
            </a:pPr>
            <a:r>
              <a:rPr b="0" lang="en-US" sz="2200">
                <a:solidFill>
                  <a:schemeClr val="dk1"/>
                </a:solidFill>
                <a:latin typeface="Arial"/>
                <a:ea typeface="Arial"/>
                <a:cs typeface="Arial"/>
                <a:sym typeface="Arial"/>
              </a:rPr>
              <a:t>Various users need financial information</a:t>
            </a:r>
            <a:endParaRPr/>
          </a:p>
        </p:txBody>
      </p:sp>
      <p:sp>
        <p:nvSpPr>
          <p:cNvPr id="181" name="Google Shape;181;p11"/>
          <p:cNvSpPr txBox="1"/>
          <p:nvPr/>
        </p:nvSpPr>
        <p:spPr>
          <a:xfrm>
            <a:off x="228600" y="3997607"/>
            <a:ext cx="3657600" cy="1717393"/>
          </a:xfrm>
          <a:prstGeom prst="rect">
            <a:avLst/>
          </a:prstGeom>
          <a:noFill/>
          <a:ln>
            <a:noFill/>
          </a:ln>
        </p:spPr>
        <p:txBody>
          <a:bodyPr anchorCtr="0" anchor="t" bIns="45700" lIns="91425" spcFirstLastPara="1" rIns="91425" wrap="square" tIns="45700">
            <a:spAutoFit/>
          </a:bodyPr>
          <a:lstStyle/>
          <a:p>
            <a:pPr indent="0" lvl="0" marL="0" marR="0" rtl="0" algn="ctr">
              <a:lnSpc>
                <a:spcPct val="120000"/>
              </a:lnSpc>
              <a:spcBef>
                <a:spcPts val="0"/>
              </a:spcBef>
              <a:spcAft>
                <a:spcPts val="0"/>
              </a:spcAft>
              <a:buClr>
                <a:schemeClr val="dk1"/>
              </a:buClr>
              <a:buSzPts val="2200"/>
              <a:buFont typeface="Noto Sans Symbols"/>
              <a:buNone/>
            </a:pPr>
            <a:r>
              <a:rPr b="0" lang="en-US" sz="2200">
                <a:solidFill>
                  <a:schemeClr val="dk1"/>
                </a:solidFill>
                <a:latin typeface="Arial"/>
                <a:ea typeface="Arial"/>
                <a:cs typeface="Arial"/>
                <a:sym typeface="Arial"/>
              </a:rPr>
              <a:t>The accounting profession has developed standards that are generally accepted and universally practiced.</a:t>
            </a:r>
            <a:endParaRPr/>
          </a:p>
        </p:txBody>
      </p:sp>
      <p:sp>
        <p:nvSpPr>
          <p:cNvPr id="182" name="Google Shape;182;p11"/>
          <p:cNvSpPr/>
          <p:nvPr/>
        </p:nvSpPr>
        <p:spPr>
          <a:xfrm>
            <a:off x="3733800" y="2209800"/>
            <a:ext cx="838200" cy="304800"/>
          </a:xfrm>
          <a:custGeom>
            <a:rect b="b" l="l" r="r" t="t"/>
            <a:pathLst>
              <a:path extrusionOk="0" h="21600" w="21600">
                <a:moveTo>
                  <a:pt x="16200" y="0"/>
                </a:moveTo>
                <a:lnTo>
                  <a:pt x="16200" y="5400"/>
                </a:lnTo>
                <a:lnTo>
                  <a:pt x="3375" y="5400"/>
                </a:lnTo>
                <a:lnTo>
                  <a:pt x="3375" y="16200"/>
                </a:lnTo>
                <a:lnTo>
                  <a:pt x="16200" y="16200"/>
                </a:lnTo>
                <a:lnTo>
                  <a:pt x="16200" y="21600"/>
                </a:lnTo>
                <a:lnTo>
                  <a:pt x="21600" y="10800"/>
                </a:lnTo>
                <a:lnTo>
                  <a:pt x="16200" y="0"/>
                </a:lnTo>
                <a:close/>
              </a:path>
              <a:path extrusionOk="0" h="21600" w="21600">
                <a:moveTo>
                  <a:pt x="1350" y="5400"/>
                </a:moveTo>
                <a:lnTo>
                  <a:pt x="1350" y="16200"/>
                </a:lnTo>
                <a:lnTo>
                  <a:pt x="2700" y="16200"/>
                </a:lnTo>
                <a:lnTo>
                  <a:pt x="2700" y="5400"/>
                </a:lnTo>
                <a:lnTo>
                  <a:pt x="1350" y="5400"/>
                </a:lnTo>
                <a:close/>
              </a:path>
              <a:path extrusionOk="0" h="21600" w="21600">
                <a:moveTo>
                  <a:pt x="0" y="5400"/>
                </a:moveTo>
                <a:lnTo>
                  <a:pt x="0" y="16200"/>
                </a:lnTo>
                <a:lnTo>
                  <a:pt x="675" y="16200"/>
                </a:lnTo>
                <a:lnTo>
                  <a:pt x="675" y="5400"/>
                </a:lnTo>
                <a:lnTo>
                  <a:pt x="0" y="5400"/>
                </a:lnTo>
                <a:close/>
              </a:path>
            </a:pathLst>
          </a:custGeom>
          <a:solidFill>
            <a:srgbClr val="990033"/>
          </a:solidFill>
          <a:ln cap="sq"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183" name="Google Shape;183;p11"/>
          <p:cNvSpPr txBox="1"/>
          <p:nvPr/>
        </p:nvSpPr>
        <p:spPr>
          <a:xfrm>
            <a:off x="4953000" y="1524000"/>
            <a:ext cx="3505200" cy="1689100"/>
          </a:xfrm>
          <a:prstGeom prst="rect">
            <a:avLst/>
          </a:prstGeom>
          <a:solidFill>
            <a:srgbClr val="FFFFFF"/>
          </a:solidFill>
          <a:ln cap="sq" cmpd="sng" w="28575">
            <a:solidFill>
              <a:schemeClr val="dk1"/>
            </a:solidFill>
            <a:prstDash val="solid"/>
            <a:miter lim="800000"/>
            <a:headEnd len="sm" w="sm" type="none"/>
            <a:tailEnd len="sm" w="sm" type="none"/>
          </a:ln>
          <a:effectLst>
            <a:outerShdw rotWithShape="0" algn="ctr" dir="2700000" dist="35921">
              <a:schemeClr val="lt2"/>
            </a:outerShdw>
          </a:effectLst>
        </p:spPr>
        <p:txBody>
          <a:bodyPr anchorCtr="0" anchor="t" bIns="45700" lIns="91425" spcFirstLastPara="1" rIns="91425" wrap="square" tIns="45700">
            <a:spAutoFit/>
          </a:bodyPr>
          <a:lstStyle/>
          <a:p>
            <a:pPr indent="-3175" lvl="0" marL="57150" marR="0" rtl="0" algn="l">
              <a:spcBef>
                <a:spcPts val="0"/>
              </a:spcBef>
              <a:spcAft>
                <a:spcPts val="0"/>
              </a:spcAft>
              <a:buClr>
                <a:schemeClr val="dk1"/>
              </a:buClr>
              <a:buSzPts val="2200"/>
              <a:buFont typeface="Noto Sans Symbols"/>
              <a:buNone/>
            </a:pPr>
            <a:r>
              <a:rPr b="0" lang="en-US" sz="2200">
                <a:solidFill>
                  <a:schemeClr val="dk1"/>
                </a:solidFill>
                <a:latin typeface="Arial"/>
                <a:ea typeface="Arial"/>
                <a:cs typeface="Arial"/>
                <a:sym typeface="Arial"/>
              </a:rPr>
              <a:t>Financial Statements</a:t>
            </a:r>
            <a:endParaRPr/>
          </a:p>
          <a:p>
            <a:pPr indent="-285750" lvl="1" marL="514350" marR="0" rtl="0" algn="l">
              <a:lnSpc>
                <a:spcPct val="105000"/>
              </a:lnSpc>
              <a:spcBef>
                <a:spcPts val="280"/>
              </a:spcBef>
              <a:spcAft>
                <a:spcPts val="0"/>
              </a:spcAft>
              <a:buClr>
                <a:srgbClr val="800000"/>
              </a:buClr>
              <a:buSzPts val="1120"/>
              <a:buFont typeface="Noto Sans Symbols"/>
              <a:buChar char="◆"/>
            </a:pPr>
            <a:r>
              <a:rPr b="0" i="0" lang="en-US" sz="1400" u="none" cap="none" strike="noStrike">
                <a:solidFill>
                  <a:schemeClr val="dk1"/>
                </a:solidFill>
                <a:latin typeface="Arial"/>
                <a:ea typeface="Arial"/>
                <a:cs typeface="Arial"/>
                <a:sym typeface="Arial"/>
              </a:rPr>
              <a:t>Balance Sheet</a:t>
            </a:r>
            <a:endParaRPr/>
          </a:p>
          <a:p>
            <a:pPr indent="-285750" lvl="1" marL="514350" marR="0" rtl="0" algn="l">
              <a:lnSpc>
                <a:spcPct val="105000"/>
              </a:lnSpc>
              <a:spcBef>
                <a:spcPts val="0"/>
              </a:spcBef>
              <a:spcAft>
                <a:spcPts val="0"/>
              </a:spcAft>
              <a:buClr>
                <a:srgbClr val="800000"/>
              </a:buClr>
              <a:buSzPts val="1120"/>
              <a:buFont typeface="Noto Sans Symbols"/>
              <a:buChar char="◆"/>
            </a:pPr>
            <a:r>
              <a:rPr b="0" i="0" lang="en-US" sz="1400" u="none" cap="none" strike="noStrike">
                <a:solidFill>
                  <a:schemeClr val="dk1"/>
                </a:solidFill>
                <a:latin typeface="Arial"/>
                <a:ea typeface="Arial"/>
                <a:cs typeface="Arial"/>
                <a:sym typeface="Arial"/>
              </a:rPr>
              <a:t>Income Statement</a:t>
            </a:r>
            <a:endParaRPr/>
          </a:p>
          <a:p>
            <a:pPr indent="-285750" lvl="1" marL="514350" marR="0" rtl="0" algn="l">
              <a:lnSpc>
                <a:spcPct val="105000"/>
              </a:lnSpc>
              <a:spcBef>
                <a:spcPts val="0"/>
              </a:spcBef>
              <a:spcAft>
                <a:spcPts val="0"/>
              </a:spcAft>
              <a:buClr>
                <a:srgbClr val="800000"/>
              </a:buClr>
              <a:buSzPts val="1120"/>
              <a:buFont typeface="Noto Sans Symbols"/>
              <a:buChar char="◆"/>
            </a:pPr>
            <a:r>
              <a:rPr b="0" i="0" lang="en-US" sz="1400" u="none" cap="none" strike="noStrike">
                <a:solidFill>
                  <a:schemeClr val="dk1"/>
                </a:solidFill>
                <a:latin typeface="Arial"/>
                <a:ea typeface="Arial"/>
                <a:cs typeface="Arial"/>
                <a:sym typeface="Arial"/>
              </a:rPr>
              <a:t>Statement of Owner's Equity</a:t>
            </a:r>
            <a:endParaRPr b="0" i="0" sz="1400" u="none" cap="none" strike="noStrike">
              <a:solidFill>
                <a:schemeClr val="dk1"/>
              </a:solidFill>
              <a:latin typeface="Arial"/>
              <a:ea typeface="Arial"/>
              <a:cs typeface="Arial"/>
              <a:sym typeface="Arial"/>
            </a:endParaRPr>
          </a:p>
          <a:p>
            <a:pPr indent="-285750" lvl="1" marL="514350" marR="0" rtl="0" algn="l">
              <a:lnSpc>
                <a:spcPct val="105000"/>
              </a:lnSpc>
              <a:spcBef>
                <a:spcPts val="0"/>
              </a:spcBef>
              <a:spcAft>
                <a:spcPts val="0"/>
              </a:spcAft>
              <a:buClr>
                <a:srgbClr val="800000"/>
              </a:buClr>
              <a:buSzPts val="1120"/>
              <a:buFont typeface="Noto Sans Symbols"/>
              <a:buChar char="◆"/>
            </a:pPr>
            <a:r>
              <a:rPr b="0" i="0" lang="en-US" sz="1400" u="none" cap="none" strike="noStrike">
                <a:solidFill>
                  <a:schemeClr val="dk1"/>
                </a:solidFill>
                <a:latin typeface="Arial"/>
                <a:ea typeface="Arial"/>
                <a:cs typeface="Arial"/>
                <a:sym typeface="Arial"/>
              </a:rPr>
              <a:t>Statement of Cash Flows</a:t>
            </a:r>
            <a:endParaRPr/>
          </a:p>
          <a:p>
            <a:pPr indent="-285750" lvl="1" marL="514350" marR="0" rtl="0" algn="l">
              <a:lnSpc>
                <a:spcPct val="105000"/>
              </a:lnSpc>
              <a:spcBef>
                <a:spcPts val="0"/>
              </a:spcBef>
              <a:spcAft>
                <a:spcPts val="0"/>
              </a:spcAft>
              <a:buClr>
                <a:srgbClr val="800000"/>
              </a:buClr>
              <a:buSzPts val="1120"/>
              <a:buFont typeface="Noto Sans Symbols"/>
              <a:buChar char="◆"/>
            </a:pPr>
            <a:r>
              <a:rPr b="0" i="0" lang="en-US" sz="1400" u="none" cap="none" strike="noStrike">
                <a:solidFill>
                  <a:schemeClr val="dk1"/>
                </a:solidFill>
                <a:latin typeface="Arial"/>
                <a:ea typeface="Arial"/>
                <a:cs typeface="Arial"/>
                <a:sym typeface="Arial"/>
              </a:rPr>
              <a:t>Note Disclosure</a:t>
            </a:r>
            <a:endParaRPr/>
          </a:p>
          <a:p>
            <a:pPr indent="-280670" lvl="1" marL="514350" marR="0" rtl="0" algn="l">
              <a:lnSpc>
                <a:spcPct val="105000"/>
              </a:lnSpc>
              <a:spcBef>
                <a:spcPts val="350"/>
              </a:spcBef>
              <a:spcAft>
                <a:spcPts val="0"/>
              </a:spcAft>
              <a:buClr>
                <a:srgbClr val="800000"/>
              </a:buClr>
              <a:buFont typeface="Noto Sans Symbols"/>
              <a:buNone/>
            </a:pPr>
            <a:r>
              <a:t/>
            </a:r>
            <a:endParaRPr b="0" i="0" sz="100" u="none" cap="none" strike="noStrike">
              <a:solidFill>
                <a:schemeClr val="dk1"/>
              </a:solidFill>
              <a:latin typeface="Arial"/>
              <a:ea typeface="Arial"/>
              <a:cs typeface="Arial"/>
              <a:sym typeface="Arial"/>
            </a:endParaRPr>
          </a:p>
        </p:txBody>
      </p:sp>
      <p:sp>
        <p:nvSpPr>
          <p:cNvPr id="184" name="Google Shape;184;p11"/>
          <p:cNvSpPr/>
          <p:nvPr/>
        </p:nvSpPr>
        <p:spPr>
          <a:xfrm>
            <a:off x="5105400" y="4114800"/>
            <a:ext cx="3200400" cy="1600200"/>
          </a:xfrm>
          <a:prstGeom prst="rect">
            <a:avLst/>
          </a:prstGeom>
          <a:solidFill>
            <a:srgbClr val="0000CC"/>
          </a:solidFill>
          <a:ln cap="sq" cmpd="sng" w="38100">
            <a:solidFill>
              <a:schemeClr val="dk1"/>
            </a:solidFill>
            <a:prstDash val="solid"/>
            <a:miter lim="800000"/>
            <a:headEnd len="sm" w="sm" type="none"/>
            <a:tailEnd len="sm" w="sm" type="none"/>
          </a:ln>
          <a:effectLst>
            <a:outerShdw rotWithShape="0" algn="ctr" dir="2700000" dist="35921">
              <a:schemeClr val="lt2"/>
            </a:outerShdw>
          </a:effectLst>
        </p:spPr>
        <p:txBody>
          <a:bodyPr anchorCtr="0" anchor="ctr" bIns="45700" lIns="91425" spcFirstLastPara="1" rIns="91425" wrap="square" tIns="0">
            <a:noAutofit/>
          </a:bodyPr>
          <a:lstStyle/>
          <a:p>
            <a:pPr indent="0" lvl="0" marL="0" marR="0" rtl="0" algn="ctr">
              <a:spcBef>
                <a:spcPts val="0"/>
              </a:spcBef>
              <a:spcAft>
                <a:spcPts val="0"/>
              </a:spcAft>
              <a:buNone/>
            </a:pPr>
            <a:r>
              <a:rPr b="1" lang="en-US" sz="2400">
                <a:solidFill>
                  <a:schemeClr val="lt1"/>
                </a:solidFill>
                <a:latin typeface="Arial"/>
                <a:ea typeface="Arial"/>
                <a:cs typeface="Arial"/>
                <a:sym typeface="Arial"/>
              </a:rPr>
              <a:t>Generally Accepted Accounting Principles (GAAP)</a:t>
            </a:r>
            <a:endParaRPr/>
          </a:p>
        </p:txBody>
      </p:sp>
      <p:sp>
        <p:nvSpPr>
          <p:cNvPr id="185" name="Google Shape;185;p11"/>
          <p:cNvSpPr/>
          <p:nvPr/>
        </p:nvSpPr>
        <p:spPr>
          <a:xfrm>
            <a:off x="4038600" y="4724400"/>
            <a:ext cx="762000" cy="228600"/>
          </a:xfrm>
          <a:custGeom>
            <a:rect b="b" l="l" r="r" t="t"/>
            <a:pathLst>
              <a:path extrusionOk="0" h="21600" w="21600">
                <a:moveTo>
                  <a:pt x="16200" y="0"/>
                </a:moveTo>
                <a:lnTo>
                  <a:pt x="16200" y="5400"/>
                </a:lnTo>
                <a:lnTo>
                  <a:pt x="3375" y="5400"/>
                </a:lnTo>
                <a:lnTo>
                  <a:pt x="3375" y="16200"/>
                </a:lnTo>
                <a:lnTo>
                  <a:pt x="16200" y="16200"/>
                </a:lnTo>
                <a:lnTo>
                  <a:pt x="16200" y="21600"/>
                </a:lnTo>
                <a:lnTo>
                  <a:pt x="21600" y="10800"/>
                </a:lnTo>
                <a:lnTo>
                  <a:pt x="16200" y="0"/>
                </a:lnTo>
                <a:close/>
              </a:path>
              <a:path extrusionOk="0" h="21600" w="21600">
                <a:moveTo>
                  <a:pt x="1350" y="5400"/>
                </a:moveTo>
                <a:lnTo>
                  <a:pt x="1350" y="16200"/>
                </a:lnTo>
                <a:lnTo>
                  <a:pt x="2700" y="16200"/>
                </a:lnTo>
                <a:lnTo>
                  <a:pt x="2700" y="5400"/>
                </a:lnTo>
                <a:lnTo>
                  <a:pt x="1350" y="5400"/>
                </a:lnTo>
                <a:close/>
              </a:path>
              <a:path extrusionOk="0" h="21600" w="21600">
                <a:moveTo>
                  <a:pt x="0" y="5400"/>
                </a:moveTo>
                <a:lnTo>
                  <a:pt x="0" y="16200"/>
                </a:lnTo>
                <a:lnTo>
                  <a:pt x="675" y="16200"/>
                </a:lnTo>
                <a:lnTo>
                  <a:pt x="675" y="5400"/>
                </a:lnTo>
                <a:lnTo>
                  <a:pt x="0" y="5400"/>
                </a:lnTo>
                <a:close/>
              </a:path>
            </a:pathLst>
          </a:custGeom>
          <a:solidFill>
            <a:srgbClr val="990033"/>
          </a:solidFill>
          <a:ln cap="sq"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186" name="Google Shape;186;p11"/>
          <p:cNvSpPr/>
          <p:nvPr/>
        </p:nvSpPr>
        <p:spPr>
          <a:xfrm rot="-5400000">
            <a:off x="6400800" y="3505200"/>
            <a:ext cx="533400" cy="228600"/>
          </a:xfrm>
          <a:custGeom>
            <a:rect b="b" l="l" r="r" t="t"/>
            <a:pathLst>
              <a:path extrusionOk="0" h="21600" w="21600">
                <a:moveTo>
                  <a:pt x="16200" y="0"/>
                </a:moveTo>
                <a:lnTo>
                  <a:pt x="16200" y="5400"/>
                </a:lnTo>
                <a:lnTo>
                  <a:pt x="3375" y="5400"/>
                </a:lnTo>
                <a:lnTo>
                  <a:pt x="3375" y="16200"/>
                </a:lnTo>
                <a:lnTo>
                  <a:pt x="16200" y="16200"/>
                </a:lnTo>
                <a:lnTo>
                  <a:pt x="16200" y="21600"/>
                </a:lnTo>
                <a:lnTo>
                  <a:pt x="21600" y="10800"/>
                </a:lnTo>
                <a:lnTo>
                  <a:pt x="16200" y="0"/>
                </a:lnTo>
                <a:close/>
              </a:path>
              <a:path extrusionOk="0" h="21600" w="21600">
                <a:moveTo>
                  <a:pt x="1350" y="5400"/>
                </a:moveTo>
                <a:lnTo>
                  <a:pt x="1350" y="16200"/>
                </a:lnTo>
                <a:lnTo>
                  <a:pt x="2700" y="16200"/>
                </a:lnTo>
                <a:lnTo>
                  <a:pt x="2700" y="5400"/>
                </a:lnTo>
                <a:lnTo>
                  <a:pt x="1350" y="5400"/>
                </a:lnTo>
                <a:close/>
              </a:path>
              <a:path extrusionOk="0" h="21600" w="21600">
                <a:moveTo>
                  <a:pt x="0" y="5400"/>
                </a:moveTo>
                <a:lnTo>
                  <a:pt x="0" y="16200"/>
                </a:lnTo>
                <a:lnTo>
                  <a:pt x="675" y="16200"/>
                </a:lnTo>
                <a:lnTo>
                  <a:pt x="675" y="5400"/>
                </a:lnTo>
                <a:lnTo>
                  <a:pt x="0" y="5400"/>
                </a:lnTo>
                <a:close/>
              </a:path>
            </a:pathLst>
          </a:custGeom>
          <a:solidFill>
            <a:srgbClr val="990033"/>
          </a:solidFill>
          <a:ln cap="sq" cmpd="sng" w="1270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txBox="1"/>
          <p:nvPr/>
        </p:nvSpPr>
        <p:spPr>
          <a:xfrm>
            <a:off x="6553200" y="3352800"/>
            <a:ext cx="228600" cy="533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cxnSp>
        <p:nvCxnSpPr>
          <p:cNvPr id="188" name="Google Shape;188;p11"/>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89" name="Google Shape;189;p11"/>
          <p:cNvSpPr/>
          <p:nvPr/>
        </p:nvSpPr>
        <p:spPr>
          <a:xfrm>
            <a:off x="457200" y="304800"/>
            <a:ext cx="84582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Clr>
                <a:srgbClr val="0000BF"/>
              </a:buClr>
              <a:buSzPts val="3200"/>
              <a:buFont typeface="Noto Sans Symbols"/>
              <a:buNone/>
            </a:pPr>
            <a:r>
              <a:rPr b="1" lang="en-US" sz="3200">
                <a:solidFill>
                  <a:srgbClr val="0000BF"/>
                </a:solidFill>
                <a:latin typeface="Arial"/>
                <a:ea typeface="Arial"/>
                <a:cs typeface="Arial"/>
                <a:sym typeface="Arial"/>
              </a:rPr>
              <a:t>Generally Accepted Accounting Principles</a:t>
            </a:r>
            <a:endParaRPr/>
          </a:p>
        </p:txBody>
      </p:sp>
      <p:sp>
        <p:nvSpPr>
          <p:cNvPr id="190" name="Google Shape;190;p11"/>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2 </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2"/>
          <p:cNvSpPr/>
          <p:nvPr/>
        </p:nvSpPr>
        <p:spPr>
          <a:xfrm>
            <a:off x="457200" y="1295400"/>
            <a:ext cx="8077200" cy="1264513"/>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Clr>
                <a:srgbClr val="0000BF"/>
              </a:buClr>
              <a:buSzPts val="2100"/>
              <a:buFont typeface="Noto Sans Symbols"/>
              <a:buNone/>
            </a:pPr>
            <a:r>
              <a:rPr b="1" lang="en-US" sz="2100">
                <a:solidFill>
                  <a:srgbClr val="0000BF"/>
                </a:solidFill>
                <a:latin typeface="Arial"/>
                <a:ea typeface="Arial"/>
                <a:cs typeface="Arial"/>
                <a:sym typeface="Arial"/>
              </a:rPr>
              <a:t>Generally Accepted Accounting Principles (GAAP) </a:t>
            </a:r>
            <a:r>
              <a:rPr b="1" lang="en-US" sz="2100">
                <a:solidFill>
                  <a:schemeClr val="dk1"/>
                </a:solidFill>
                <a:latin typeface="Arial"/>
                <a:ea typeface="Arial"/>
                <a:cs typeface="Arial"/>
                <a:sym typeface="Arial"/>
              </a:rPr>
              <a:t>– </a:t>
            </a:r>
            <a:r>
              <a:rPr b="0" lang="en-US" sz="2100">
                <a:solidFill>
                  <a:schemeClr val="dk1"/>
                </a:solidFill>
                <a:latin typeface="Arial"/>
                <a:ea typeface="Arial"/>
                <a:cs typeface="Arial"/>
                <a:sym typeface="Arial"/>
              </a:rPr>
              <a:t>Standards that are generally accepted and universally practiced. These standards indicate how to report economic events.</a:t>
            </a:r>
            <a:endParaRPr/>
          </a:p>
        </p:txBody>
      </p:sp>
      <p:cxnSp>
        <p:nvCxnSpPr>
          <p:cNvPr id="196" name="Google Shape;196;p12"/>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97" name="Google Shape;197;p12"/>
          <p:cNvSpPr/>
          <p:nvPr/>
        </p:nvSpPr>
        <p:spPr>
          <a:xfrm>
            <a:off x="457200" y="2716537"/>
            <a:ext cx="4953000" cy="3266279"/>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Clr>
                <a:schemeClr val="dk1"/>
              </a:buClr>
              <a:buSzPts val="2100"/>
              <a:buFont typeface="Noto Sans Symbols"/>
              <a:buNone/>
            </a:pPr>
            <a:r>
              <a:rPr b="1" lang="en-US" sz="2100">
                <a:solidFill>
                  <a:schemeClr val="dk1"/>
                </a:solidFill>
                <a:latin typeface="Arial"/>
                <a:ea typeface="Arial"/>
                <a:cs typeface="Arial"/>
                <a:sym typeface="Arial"/>
              </a:rPr>
              <a:t>Standard-setting bodies:</a:t>
            </a:r>
            <a:endParaRPr b="0" sz="2100">
              <a:solidFill>
                <a:schemeClr val="dk1"/>
              </a:solidFill>
              <a:latin typeface="Arial"/>
              <a:ea typeface="Arial"/>
              <a:cs typeface="Arial"/>
              <a:sym typeface="Arial"/>
            </a:endParaRPr>
          </a:p>
          <a:p>
            <a:pPr indent="-457200" lvl="1" marL="685800" marR="0" rtl="0" algn="l">
              <a:lnSpc>
                <a:spcPct val="125000"/>
              </a:lnSpc>
              <a:spcBef>
                <a:spcPts val="1200"/>
              </a:spcBef>
              <a:spcAft>
                <a:spcPts val="0"/>
              </a:spcAft>
              <a:buClr>
                <a:srgbClr val="800000"/>
              </a:buClr>
              <a:buSzPts val="1600"/>
              <a:buFont typeface="Arial"/>
              <a:buChar char="►"/>
            </a:pPr>
            <a:r>
              <a:rPr b="1" i="0" lang="en-US" sz="2000" u="none" cap="none" strike="noStrike">
                <a:solidFill>
                  <a:srgbClr val="0000BF"/>
                </a:solidFill>
                <a:latin typeface="Arial"/>
                <a:ea typeface="Arial"/>
                <a:cs typeface="Arial"/>
                <a:sym typeface="Arial"/>
              </a:rPr>
              <a:t>Financial Accounting Standards Board (FASB)</a:t>
            </a:r>
            <a:endParaRPr/>
          </a:p>
          <a:p>
            <a:pPr indent="-457200" lvl="1" marL="685800" marR="0" rtl="0" algn="l">
              <a:lnSpc>
                <a:spcPct val="125000"/>
              </a:lnSpc>
              <a:spcBef>
                <a:spcPts val="1200"/>
              </a:spcBef>
              <a:spcAft>
                <a:spcPts val="0"/>
              </a:spcAft>
              <a:buClr>
                <a:srgbClr val="800000"/>
              </a:buClr>
              <a:buSzPts val="1600"/>
              <a:buFont typeface="Arial"/>
              <a:buChar char="►"/>
            </a:pPr>
            <a:r>
              <a:rPr b="1" i="0" lang="en-US" sz="2000" u="none" cap="none" strike="noStrike">
                <a:solidFill>
                  <a:srgbClr val="0000BF"/>
                </a:solidFill>
                <a:latin typeface="Arial"/>
                <a:ea typeface="Arial"/>
                <a:cs typeface="Arial"/>
                <a:sym typeface="Arial"/>
              </a:rPr>
              <a:t>Securities and Exchange Commission (SEC)</a:t>
            </a:r>
            <a:endParaRPr/>
          </a:p>
          <a:p>
            <a:pPr indent="-457200" lvl="1" marL="685800" marR="0" rtl="0" algn="l">
              <a:lnSpc>
                <a:spcPct val="125000"/>
              </a:lnSpc>
              <a:spcBef>
                <a:spcPts val="1200"/>
              </a:spcBef>
              <a:spcAft>
                <a:spcPts val="0"/>
              </a:spcAft>
              <a:buClr>
                <a:srgbClr val="800000"/>
              </a:buClr>
              <a:buSzPts val="1600"/>
              <a:buFont typeface="Arial"/>
              <a:buChar char="►"/>
            </a:pPr>
            <a:r>
              <a:rPr b="1" i="0" lang="en-US" sz="2000" u="none" cap="none" strike="noStrike">
                <a:solidFill>
                  <a:srgbClr val="0000BF"/>
                </a:solidFill>
                <a:latin typeface="Arial"/>
                <a:ea typeface="Arial"/>
                <a:cs typeface="Arial"/>
                <a:sym typeface="Arial"/>
              </a:rPr>
              <a:t>International Accounting Standards Board (IASB)</a:t>
            </a:r>
            <a:endParaRPr/>
          </a:p>
        </p:txBody>
      </p:sp>
      <p:sp>
        <p:nvSpPr>
          <p:cNvPr id="198" name="Google Shape;198;p12"/>
          <p:cNvSpPr/>
          <p:nvPr/>
        </p:nvSpPr>
        <p:spPr>
          <a:xfrm>
            <a:off x="457200" y="304800"/>
            <a:ext cx="84582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Generally Accepted Accounting Principles</a:t>
            </a:r>
            <a:endParaRPr/>
          </a:p>
        </p:txBody>
      </p:sp>
      <p:sp>
        <p:nvSpPr>
          <p:cNvPr id="199" name="Google Shape;199;p12"/>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2 </a:t>
            </a:r>
            <a:endParaRPr b="1" i="1" sz="1600">
              <a:solidFill>
                <a:schemeClr val="lt2"/>
              </a:solidFill>
              <a:latin typeface="Arial"/>
              <a:ea typeface="Arial"/>
              <a:cs typeface="Arial"/>
              <a:sym typeface="Arial"/>
            </a:endParaRPr>
          </a:p>
        </p:txBody>
      </p:sp>
      <p:pic>
        <p:nvPicPr>
          <p:cNvPr id="200" name="Google Shape;200;p12"/>
          <p:cNvPicPr preferRelativeResize="0"/>
          <p:nvPr/>
        </p:nvPicPr>
        <p:blipFill rotWithShape="1">
          <a:blip r:embed="rId3">
            <a:alphaModFix/>
          </a:blip>
          <a:srcRect b="0" l="0" r="0" t="0"/>
          <a:stretch/>
        </p:blipFill>
        <p:spPr>
          <a:xfrm>
            <a:off x="5791200" y="3657600"/>
            <a:ext cx="2996032" cy="2486024"/>
          </a:xfrm>
          <a:prstGeom prst="rect">
            <a:avLst/>
          </a:prstGeom>
          <a:noFill/>
          <a:ln>
            <a:noFill/>
          </a:ln>
        </p:spPr>
      </p:pic>
    </p:spTree>
  </p:cSld>
  <p:clrMapOvr>
    <a:masterClrMapping/>
  </p:clrMapOvr>
  <p:transition>
    <p:wipe dir="r"/>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pic>
        <p:nvPicPr>
          <p:cNvPr id="205" name="Google Shape;205;p13"/>
          <p:cNvPicPr preferRelativeResize="0"/>
          <p:nvPr/>
        </p:nvPicPr>
        <p:blipFill rotWithShape="1">
          <a:blip r:embed="rId3">
            <a:alphaModFix/>
          </a:blip>
          <a:srcRect b="0" l="0" r="0" t="0"/>
          <a:stretch/>
        </p:blipFill>
        <p:spPr>
          <a:xfrm>
            <a:off x="5741288" y="3810000"/>
            <a:ext cx="2412112" cy="1981200"/>
          </a:xfrm>
          <a:prstGeom prst="rect">
            <a:avLst/>
          </a:prstGeom>
          <a:noFill/>
          <a:ln cap="sq" cmpd="sng" w="12700">
            <a:solidFill>
              <a:schemeClr val="dk1"/>
            </a:solidFill>
            <a:prstDash val="solid"/>
            <a:miter lim="800000"/>
            <a:headEnd len="sm" w="sm" type="none"/>
            <a:tailEnd len="sm" w="sm" type="none"/>
          </a:ln>
        </p:spPr>
      </p:pic>
      <p:cxnSp>
        <p:nvCxnSpPr>
          <p:cNvPr id="206" name="Google Shape;206;p13"/>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207" name="Google Shape;207;p13"/>
          <p:cNvSpPr/>
          <p:nvPr/>
        </p:nvSpPr>
        <p:spPr>
          <a:xfrm>
            <a:off x="533400" y="304800"/>
            <a:ext cx="84582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Measurement Principles</a:t>
            </a:r>
            <a:endParaRPr b="1" sz="3200">
              <a:solidFill>
                <a:srgbClr val="0000BF"/>
              </a:solidFill>
              <a:latin typeface="Arial"/>
              <a:ea typeface="Arial"/>
              <a:cs typeface="Arial"/>
              <a:sym typeface="Arial"/>
            </a:endParaRPr>
          </a:p>
        </p:txBody>
      </p:sp>
      <p:sp>
        <p:nvSpPr>
          <p:cNvPr id="208" name="Google Shape;208;p13"/>
          <p:cNvSpPr txBox="1"/>
          <p:nvPr/>
        </p:nvSpPr>
        <p:spPr>
          <a:xfrm>
            <a:off x="533400" y="1295400"/>
            <a:ext cx="8001000" cy="2407582"/>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None/>
            </a:pPr>
            <a:r>
              <a:rPr b="1" lang="en-US" sz="2300">
                <a:solidFill>
                  <a:schemeClr val="dk1"/>
                </a:solidFill>
                <a:latin typeface="Arial"/>
                <a:ea typeface="Arial"/>
                <a:cs typeface="Arial"/>
                <a:sym typeface="Arial"/>
              </a:rPr>
              <a:t>HISTORICAL COST PRINCIPLE </a:t>
            </a:r>
            <a:r>
              <a:rPr lang="en-US" sz="2100">
                <a:solidFill>
                  <a:schemeClr val="dk1"/>
                </a:solidFill>
                <a:latin typeface="Arial"/>
                <a:ea typeface="Arial"/>
                <a:cs typeface="Arial"/>
                <a:sym typeface="Arial"/>
              </a:rPr>
              <a:t>(or cost principle) dictates that companies record assets at their cost.</a:t>
            </a:r>
            <a:endParaRPr/>
          </a:p>
          <a:p>
            <a:pPr indent="0" lvl="0" marL="0" marR="0" rtl="0" algn="l">
              <a:lnSpc>
                <a:spcPct val="125000"/>
              </a:lnSpc>
              <a:spcBef>
                <a:spcPts val="1660"/>
              </a:spcBef>
              <a:spcAft>
                <a:spcPts val="0"/>
              </a:spcAft>
              <a:buNone/>
            </a:pPr>
            <a:r>
              <a:rPr b="1" lang="en-US" sz="2300">
                <a:solidFill>
                  <a:schemeClr val="dk1"/>
                </a:solidFill>
                <a:latin typeface="Arial"/>
                <a:ea typeface="Arial"/>
                <a:cs typeface="Arial"/>
                <a:sym typeface="Arial"/>
              </a:rPr>
              <a:t>FAIR VALUE PRINCIPLE </a:t>
            </a:r>
            <a:r>
              <a:rPr lang="en-US" sz="2100">
                <a:solidFill>
                  <a:schemeClr val="dk1"/>
                </a:solidFill>
                <a:latin typeface="Arial"/>
                <a:ea typeface="Arial"/>
                <a:cs typeface="Arial"/>
                <a:sym typeface="Arial"/>
              </a:rPr>
              <a:t>states that assets and liabilities should be reported at fair value (the price received to sell an asset or settle a liability). </a:t>
            </a:r>
            <a:endParaRPr/>
          </a:p>
        </p:txBody>
      </p:sp>
      <p:sp>
        <p:nvSpPr>
          <p:cNvPr id="209" name="Google Shape;209;p13"/>
          <p:cNvSpPr txBox="1"/>
          <p:nvPr/>
        </p:nvSpPr>
        <p:spPr>
          <a:xfrm>
            <a:off x="533400" y="3778240"/>
            <a:ext cx="4495800" cy="1708160"/>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None/>
            </a:pPr>
            <a:r>
              <a:rPr lang="en-US" sz="2100">
                <a:solidFill>
                  <a:schemeClr val="dk1"/>
                </a:solidFill>
                <a:latin typeface="Arial"/>
                <a:ea typeface="Arial"/>
                <a:cs typeface="Arial"/>
                <a:sym typeface="Arial"/>
              </a:rPr>
              <a:t>Selection of which principle to follow generally relates to trade-offs between </a:t>
            </a:r>
            <a:r>
              <a:rPr b="1" lang="en-US" sz="2100">
                <a:solidFill>
                  <a:srgbClr val="000099"/>
                </a:solidFill>
                <a:latin typeface="Arial"/>
                <a:ea typeface="Arial"/>
                <a:cs typeface="Arial"/>
                <a:sym typeface="Arial"/>
              </a:rPr>
              <a:t>relevance</a:t>
            </a:r>
            <a:r>
              <a:rPr lang="en-US" sz="2100">
                <a:solidFill>
                  <a:schemeClr val="dk1"/>
                </a:solidFill>
                <a:latin typeface="Arial"/>
                <a:ea typeface="Arial"/>
                <a:cs typeface="Arial"/>
                <a:sym typeface="Arial"/>
              </a:rPr>
              <a:t> and </a:t>
            </a:r>
            <a:r>
              <a:rPr b="1" lang="en-US" sz="2100">
                <a:solidFill>
                  <a:srgbClr val="000099"/>
                </a:solidFill>
                <a:latin typeface="Arial"/>
                <a:ea typeface="Arial"/>
                <a:cs typeface="Arial"/>
                <a:sym typeface="Arial"/>
              </a:rPr>
              <a:t>faithful</a:t>
            </a:r>
            <a:r>
              <a:rPr lang="en-US" sz="2100">
                <a:solidFill>
                  <a:srgbClr val="0000CC"/>
                </a:solidFill>
                <a:latin typeface="Arial"/>
                <a:ea typeface="Arial"/>
                <a:cs typeface="Arial"/>
                <a:sym typeface="Arial"/>
              </a:rPr>
              <a:t> </a:t>
            </a:r>
            <a:r>
              <a:rPr b="1" lang="en-US" sz="2100">
                <a:solidFill>
                  <a:srgbClr val="000099"/>
                </a:solidFill>
                <a:latin typeface="Arial"/>
                <a:ea typeface="Arial"/>
                <a:cs typeface="Arial"/>
                <a:sym typeface="Arial"/>
              </a:rPr>
              <a:t>representation</a:t>
            </a:r>
            <a:r>
              <a:rPr lang="en-US" sz="2100">
                <a:solidFill>
                  <a:schemeClr val="dk1"/>
                </a:solidFill>
                <a:latin typeface="Arial"/>
                <a:ea typeface="Arial"/>
                <a:cs typeface="Arial"/>
                <a:sym typeface="Arial"/>
              </a:rPr>
              <a:t>.</a:t>
            </a:r>
            <a:endParaRPr/>
          </a:p>
        </p:txBody>
      </p:sp>
      <p:sp>
        <p:nvSpPr>
          <p:cNvPr id="210" name="Google Shape;210;p13"/>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2 </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4"/>
          <p:cNvSpPr txBox="1"/>
          <p:nvPr/>
        </p:nvSpPr>
        <p:spPr>
          <a:xfrm>
            <a:off x="533400" y="1295400"/>
            <a:ext cx="8001000" cy="4523546"/>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None/>
            </a:pPr>
            <a:r>
              <a:rPr b="1" lang="en-US" sz="2300">
                <a:solidFill>
                  <a:schemeClr val="dk1"/>
                </a:solidFill>
                <a:latin typeface="Arial"/>
                <a:ea typeface="Arial"/>
                <a:cs typeface="Arial"/>
                <a:sym typeface="Arial"/>
              </a:rPr>
              <a:t>MONETARY UNIT ASSUMPTION </a:t>
            </a:r>
            <a:r>
              <a:rPr lang="en-US" sz="2100">
                <a:solidFill>
                  <a:schemeClr val="dk1"/>
                </a:solidFill>
                <a:latin typeface="Arial"/>
                <a:ea typeface="Arial"/>
                <a:cs typeface="Arial"/>
                <a:sym typeface="Arial"/>
              </a:rPr>
              <a:t>requires that companies include in the accounting records only transaction data that can be expressed in terms of money.</a:t>
            </a:r>
            <a:endParaRPr/>
          </a:p>
          <a:p>
            <a:pPr indent="0" lvl="0" marL="0" marR="0" rtl="0" algn="l">
              <a:lnSpc>
                <a:spcPct val="125000"/>
              </a:lnSpc>
              <a:spcBef>
                <a:spcPts val="1660"/>
              </a:spcBef>
              <a:spcAft>
                <a:spcPts val="0"/>
              </a:spcAft>
              <a:buNone/>
            </a:pPr>
            <a:r>
              <a:rPr b="1" lang="en-US" sz="2300">
                <a:solidFill>
                  <a:schemeClr val="dk1"/>
                </a:solidFill>
                <a:latin typeface="Arial"/>
                <a:ea typeface="Arial"/>
                <a:cs typeface="Arial"/>
                <a:sym typeface="Arial"/>
              </a:rPr>
              <a:t>ECONOMIC</a:t>
            </a:r>
            <a:r>
              <a:rPr b="1" lang="en-US" sz="2500">
                <a:solidFill>
                  <a:srgbClr val="000099"/>
                </a:solidFill>
                <a:latin typeface="Arial"/>
                <a:ea typeface="Arial"/>
                <a:cs typeface="Arial"/>
                <a:sym typeface="Arial"/>
              </a:rPr>
              <a:t> </a:t>
            </a:r>
            <a:r>
              <a:rPr b="1" lang="en-US" sz="2300">
                <a:solidFill>
                  <a:schemeClr val="dk1"/>
                </a:solidFill>
                <a:latin typeface="Arial"/>
                <a:ea typeface="Arial"/>
                <a:cs typeface="Arial"/>
                <a:sym typeface="Arial"/>
              </a:rPr>
              <a:t>ENTITY</a:t>
            </a:r>
            <a:r>
              <a:rPr b="1" lang="en-US" sz="2500">
                <a:solidFill>
                  <a:srgbClr val="000099"/>
                </a:solidFill>
                <a:latin typeface="Arial"/>
                <a:ea typeface="Arial"/>
                <a:cs typeface="Arial"/>
                <a:sym typeface="Arial"/>
              </a:rPr>
              <a:t> </a:t>
            </a:r>
            <a:r>
              <a:rPr b="1" lang="en-US" sz="2300">
                <a:solidFill>
                  <a:schemeClr val="dk1"/>
                </a:solidFill>
                <a:latin typeface="Arial"/>
                <a:ea typeface="Arial"/>
                <a:cs typeface="Arial"/>
                <a:sym typeface="Arial"/>
              </a:rPr>
              <a:t>ASSUMPTION</a:t>
            </a:r>
            <a:r>
              <a:rPr b="1" lang="en-US" sz="2500">
                <a:solidFill>
                  <a:srgbClr val="000099"/>
                </a:solidFill>
                <a:latin typeface="Arial"/>
                <a:ea typeface="Arial"/>
                <a:cs typeface="Arial"/>
                <a:sym typeface="Arial"/>
              </a:rPr>
              <a:t> </a:t>
            </a:r>
            <a:r>
              <a:rPr lang="en-US" sz="2100">
                <a:solidFill>
                  <a:schemeClr val="dk1"/>
                </a:solidFill>
                <a:latin typeface="Arial"/>
                <a:ea typeface="Arial"/>
                <a:cs typeface="Arial"/>
                <a:sym typeface="Arial"/>
              </a:rPr>
              <a:t>requires that activities of the entity be kept separate and distinct from the activities of its owner and all other economic entities.</a:t>
            </a:r>
            <a:endParaRPr/>
          </a:p>
          <a:p>
            <a:pPr indent="-457200" lvl="1" marL="685800" marR="0" rtl="0" algn="l">
              <a:lnSpc>
                <a:spcPct val="125000"/>
              </a:lnSpc>
              <a:spcBef>
                <a:spcPts val="1200"/>
              </a:spcBef>
              <a:spcAft>
                <a:spcPts val="0"/>
              </a:spcAft>
              <a:buClr>
                <a:srgbClr val="800000"/>
              </a:buClr>
              <a:buSzPts val="1680"/>
              <a:buFont typeface="Noto Sans Symbols"/>
              <a:buChar char="◆"/>
            </a:pPr>
            <a:r>
              <a:rPr b="1" i="0" lang="en-US" sz="2100" u="none" cap="none" strike="noStrike">
                <a:solidFill>
                  <a:schemeClr val="dk1"/>
                </a:solidFill>
                <a:latin typeface="Arial"/>
                <a:ea typeface="Arial"/>
                <a:cs typeface="Arial"/>
                <a:sym typeface="Arial"/>
              </a:rPr>
              <a:t>Proprietorship</a:t>
            </a:r>
            <a:endParaRPr/>
          </a:p>
          <a:p>
            <a:pPr indent="-457200" lvl="1" marL="685800" marR="0" rtl="0" algn="l">
              <a:lnSpc>
                <a:spcPct val="125000"/>
              </a:lnSpc>
              <a:spcBef>
                <a:spcPts val="1200"/>
              </a:spcBef>
              <a:spcAft>
                <a:spcPts val="0"/>
              </a:spcAft>
              <a:buClr>
                <a:srgbClr val="800000"/>
              </a:buClr>
              <a:buSzPts val="1680"/>
              <a:buFont typeface="Noto Sans Symbols"/>
              <a:buChar char="◆"/>
            </a:pPr>
            <a:r>
              <a:rPr b="1" i="0" lang="en-US" sz="2100" u="none" cap="none" strike="noStrike">
                <a:solidFill>
                  <a:schemeClr val="dk1"/>
                </a:solidFill>
                <a:latin typeface="Arial"/>
                <a:ea typeface="Arial"/>
                <a:cs typeface="Arial"/>
                <a:sym typeface="Arial"/>
              </a:rPr>
              <a:t>Partnership</a:t>
            </a:r>
            <a:endParaRPr/>
          </a:p>
          <a:p>
            <a:pPr indent="-457200" lvl="1" marL="685800" marR="0" rtl="0" algn="l">
              <a:lnSpc>
                <a:spcPct val="125000"/>
              </a:lnSpc>
              <a:spcBef>
                <a:spcPts val="1200"/>
              </a:spcBef>
              <a:spcAft>
                <a:spcPts val="0"/>
              </a:spcAft>
              <a:buClr>
                <a:srgbClr val="800000"/>
              </a:buClr>
              <a:buSzPts val="1680"/>
              <a:buFont typeface="Noto Sans Symbols"/>
              <a:buChar char="◆"/>
            </a:pPr>
            <a:r>
              <a:rPr b="1" i="0" lang="en-US" sz="2100" u="none" cap="none" strike="noStrike">
                <a:solidFill>
                  <a:schemeClr val="dk1"/>
                </a:solidFill>
                <a:latin typeface="Arial"/>
                <a:ea typeface="Arial"/>
                <a:cs typeface="Arial"/>
                <a:sym typeface="Arial"/>
              </a:rPr>
              <a:t>Corporation</a:t>
            </a:r>
            <a:endParaRPr/>
          </a:p>
        </p:txBody>
      </p:sp>
      <p:sp>
        <p:nvSpPr>
          <p:cNvPr id="216" name="Google Shape;216;p14"/>
          <p:cNvSpPr/>
          <p:nvPr/>
        </p:nvSpPr>
        <p:spPr>
          <a:xfrm>
            <a:off x="3581400" y="4267200"/>
            <a:ext cx="381000" cy="1447800"/>
          </a:xfrm>
          <a:prstGeom prst="rightBrace">
            <a:avLst>
              <a:gd fmla="val 31667" name="adj1"/>
              <a:gd fmla="val 50000" name="adj2"/>
            </a:avLst>
          </a:prstGeom>
          <a:noFill/>
          <a:ln cap="sq" cmpd="sng" w="28575">
            <a:solidFill>
              <a:srgbClr val="8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lt2"/>
              </a:buClr>
              <a:buSzPts val="2400"/>
              <a:buFont typeface="Noto Sans Symbols"/>
              <a:buNone/>
            </a:pPr>
            <a:r>
              <a:t/>
            </a:r>
            <a:endParaRPr b="0" sz="2400">
              <a:solidFill>
                <a:schemeClr val="dk1"/>
              </a:solidFill>
              <a:latin typeface="Arial"/>
              <a:ea typeface="Arial"/>
              <a:cs typeface="Arial"/>
              <a:sym typeface="Arial"/>
            </a:endParaRPr>
          </a:p>
        </p:txBody>
      </p:sp>
      <p:sp>
        <p:nvSpPr>
          <p:cNvPr id="217" name="Google Shape;217;p14"/>
          <p:cNvSpPr txBox="1"/>
          <p:nvPr/>
        </p:nvSpPr>
        <p:spPr>
          <a:xfrm>
            <a:off x="4419600" y="4572000"/>
            <a:ext cx="3276600" cy="830997"/>
          </a:xfrm>
          <a:prstGeom prst="rect">
            <a:avLst/>
          </a:prstGeom>
          <a:solidFill>
            <a:srgbClr val="FFFF99"/>
          </a:solidFill>
          <a:ln cap="sq" cmpd="sng" w="28575">
            <a:solidFill>
              <a:schemeClr val="dk1"/>
            </a:solidFill>
            <a:prstDash val="solid"/>
            <a:miter lim="800000"/>
            <a:headEnd len="sm" w="sm" type="none"/>
            <a:tailEnd len="sm" w="sm" type="none"/>
          </a:ln>
        </p:spPr>
        <p:txBody>
          <a:bodyPr anchorCtr="0" anchor="t" bIns="91425" lIns="91425" spcFirstLastPara="1" rIns="91425" wrap="square" tIns="91425">
            <a:spAutoFit/>
          </a:bodyPr>
          <a:lstStyle/>
          <a:p>
            <a:pPr indent="0" lvl="0" marL="0" marR="0" rtl="0" algn="ctr">
              <a:spcBef>
                <a:spcPts val="0"/>
              </a:spcBef>
              <a:spcAft>
                <a:spcPts val="0"/>
              </a:spcAft>
              <a:buClr>
                <a:schemeClr val="dk1"/>
              </a:buClr>
              <a:buSzPts val="2100"/>
              <a:buFont typeface="Noto Sans Symbols"/>
              <a:buNone/>
            </a:pPr>
            <a:r>
              <a:rPr b="1" lang="en-US" sz="2100">
                <a:solidFill>
                  <a:schemeClr val="dk1"/>
                </a:solidFill>
                <a:latin typeface="Arial"/>
                <a:ea typeface="Arial"/>
                <a:cs typeface="Arial"/>
                <a:sym typeface="Arial"/>
              </a:rPr>
              <a:t>Forms of Business Ownership</a:t>
            </a:r>
            <a:endParaRPr/>
          </a:p>
        </p:txBody>
      </p:sp>
      <p:cxnSp>
        <p:nvCxnSpPr>
          <p:cNvPr id="218" name="Google Shape;218;p14"/>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219" name="Google Shape;219;p14"/>
          <p:cNvSpPr/>
          <p:nvPr/>
        </p:nvSpPr>
        <p:spPr>
          <a:xfrm>
            <a:off x="533400" y="304800"/>
            <a:ext cx="84582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Assumptions</a:t>
            </a:r>
            <a:endParaRPr b="1" sz="3200">
              <a:solidFill>
                <a:srgbClr val="0000BF"/>
              </a:solidFill>
              <a:latin typeface="Arial"/>
              <a:ea typeface="Arial"/>
              <a:cs typeface="Arial"/>
              <a:sym typeface="Arial"/>
            </a:endParaRPr>
          </a:p>
        </p:txBody>
      </p:sp>
      <p:sp>
        <p:nvSpPr>
          <p:cNvPr id="220" name="Google Shape;220;p14"/>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2 </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5"/>
          <p:cNvSpPr/>
          <p:nvPr/>
        </p:nvSpPr>
        <p:spPr>
          <a:xfrm>
            <a:off x="609600" y="1371600"/>
            <a:ext cx="2362200" cy="762000"/>
          </a:xfrm>
          <a:prstGeom prst="rect">
            <a:avLst/>
          </a:prstGeom>
          <a:solidFill>
            <a:srgbClr val="FFFF99"/>
          </a:solidFill>
          <a:ln cap="flat" cmpd="sng" w="38100">
            <a:solidFill>
              <a:schemeClr val="dk1"/>
            </a:solidFill>
            <a:prstDash val="solid"/>
            <a:miter lim="800000"/>
            <a:headEnd len="sm" w="sm" type="none"/>
            <a:tailEnd len="sm" w="sm" type="none"/>
          </a:ln>
        </p:spPr>
        <p:txBody>
          <a:bodyPr anchorCtr="0" anchor="ctr" bIns="44450" lIns="90475" spcFirstLastPara="1" rIns="90475" wrap="square" tIns="0">
            <a:noAutofit/>
          </a:bodyPr>
          <a:lstStyle/>
          <a:p>
            <a:pPr indent="0" lvl="0" marL="0" marR="0" rtl="0" algn="ctr">
              <a:spcBef>
                <a:spcPts val="0"/>
              </a:spcBef>
              <a:spcAft>
                <a:spcPts val="0"/>
              </a:spcAft>
              <a:buClr>
                <a:schemeClr val="accent2"/>
              </a:buClr>
              <a:buSzPts val="1800"/>
              <a:buFont typeface="Noto Sans Symbols"/>
              <a:buNone/>
            </a:pPr>
            <a:r>
              <a:rPr b="1" lang="en-US" sz="2400">
                <a:solidFill>
                  <a:schemeClr val="dk1"/>
                </a:solidFill>
                <a:latin typeface="Arial"/>
                <a:ea typeface="Arial"/>
                <a:cs typeface="Arial"/>
                <a:sym typeface="Arial"/>
              </a:rPr>
              <a:t>Proprietorship</a:t>
            </a:r>
            <a:endParaRPr/>
          </a:p>
        </p:txBody>
      </p:sp>
      <p:sp>
        <p:nvSpPr>
          <p:cNvPr id="226" name="Google Shape;226;p15"/>
          <p:cNvSpPr/>
          <p:nvPr/>
        </p:nvSpPr>
        <p:spPr>
          <a:xfrm>
            <a:off x="3429000" y="1371600"/>
            <a:ext cx="2362200" cy="762000"/>
          </a:xfrm>
          <a:prstGeom prst="rect">
            <a:avLst/>
          </a:prstGeom>
          <a:solidFill>
            <a:srgbClr val="FFFF99"/>
          </a:solidFill>
          <a:ln cap="flat" cmpd="sng" w="38100">
            <a:solidFill>
              <a:schemeClr val="dk1"/>
            </a:solidFill>
            <a:prstDash val="solid"/>
            <a:miter lim="800000"/>
            <a:headEnd len="sm" w="sm" type="none"/>
            <a:tailEnd len="sm" w="sm" type="none"/>
          </a:ln>
        </p:spPr>
        <p:txBody>
          <a:bodyPr anchorCtr="0" anchor="ctr" bIns="44450" lIns="90475" spcFirstLastPara="1" rIns="90475" wrap="square" tIns="0">
            <a:noAutofit/>
          </a:bodyPr>
          <a:lstStyle/>
          <a:p>
            <a:pPr indent="0" lvl="0" marL="0" marR="0" rtl="0" algn="ctr">
              <a:spcBef>
                <a:spcPts val="0"/>
              </a:spcBef>
              <a:spcAft>
                <a:spcPts val="0"/>
              </a:spcAft>
              <a:buClr>
                <a:schemeClr val="accent2"/>
              </a:buClr>
              <a:buSzPts val="1800"/>
              <a:buFont typeface="Noto Sans Symbols"/>
              <a:buNone/>
            </a:pPr>
            <a:r>
              <a:rPr b="1" lang="en-US" sz="2400">
                <a:solidFill>
                  <a:schemeClr val="dk1"/>
                </a:solidFill>
                <a:latin typeface="Arial"/>
                <a:ea typeface="Arial"/>
                <a:cs typeface="Arial"/>
                <a:sym typeface="Arial"/>
              </a:rPr>
              <a:t>Partnership</a:t>
            </a:r>
            <a:endParaRPr/>
          </a:p>
        </p:txBody>
      </p:sp>
      <p:sp>
        <p:nvSpPr>
          <p:cNvPr id="227" name="Google Shape;227;p15"/>
          <p:cNvSpPr/>
          <p:nvPr/>
        </p:nvSpPr>
        <p:spPr>
          <a:xfrm>
            <a:off x="6221413" y="1390650"/>
            <a:ext cx="2465387" cy="742950"/>
          </a:xfrm>
          <a:prstGeom prst="rect">
            <a:avLst/>
          </a:prstGeom>
          <a:solidFill>
            <a:srgbClr val="FFFF99"/>
          </a:solidFill>
          <a:ln cap="flat" cmpd="sng" w="38100">
            <a:solidFill>
              <a:schemeClr val="dk1"/>
            </a:solidFill>
            <a:prstDash val="solid"/>
            <a:miter lim="800000"/>
            <a:headEnd len="sm" w="sm" type="none"/>
            <a:tailEnd len="sm" w="sm" type="none"/>
          </a:ln>
        </p:spPr>
        <p:txBody>
          <a:bodyPr anchorCtr="0" anchor="ctr" bIns="44450" lIns="90475" spcFirstLastPara="1" rIns="90475" wrap="square" tIns="0">
            <a:noAutofit/>
          </a:bodyPr>
          <a:lstStyle/>
          <a:p>
            <a:pPr indent="0" lvl="0" marL="0" marR="0" rtl="0" algn="ctr">
              <a:spcBef>
                <a:spcPts val="0"/>
              </a:spcBef>
              <a:spcAft>
                <a:spcPts val="0"/>
              </a:spcAft>
              <a:buClr>
                <a:schemeClr val="accent2"/>
              </a:buClr>
              <a:buSzPts val="1800"/>
              <a:buFont typeface="Noto Sans Symbols"/>
              <a:buNone/>
            </a:pPr>
            <a:r>
              <a:rPr b="1" lang="en-US" sz="2400">
                <a:solidFill>
                  <a:schemeClr val="dk1"/>
                </a:solidFill>
                <a:latin typeface="Arial"/>
                <a:ea typeface="Arial"/>
                <a:cs typeface="Arial"/>
                <a:sym typeface="Arial"/>
              </a:rPr>
              <a:t>Corporation</a:t>
            </a:r>
            <a:endParaRPr/>
          </a:p>
        </p:txBody>
      </p:sp>
      <p:sp>
        <p:nvSpPr>
          <p:cNvPr id="228" name="Google Shape;228;p15"/>
          <p:cNvSpPr/>
          <p:nvPr/>
        </p:nvSpPr>
        <p:spPr>
          <a:xfrm>
            <a:off x="3352800" y="2228850"/>
            <a:ext cx="2455863" cy="4017963"/>
          </a:xfrm>
          <a:prstGeom prst="rect">
            <a:avLst/>
          </a:prstGeom>
          <a:noFill/>
          <a:ln>
            <a:noFill/>
          </a:ln>
        </p:spPr>
        <p:txBody>
          <a:bodyPr anchorCtr="0" anchor="t" bIns="44450" lIns="90475" spcFirstLastPara="1" rIns="90475" wrap="square" tIns="109725">
            <a:noAutofit/>
          </a:bodyPr>
          <a:lstStyle/>
          <a:p>
            <a:pPr indent="-342900" lvl="0" marL="342900" marR="0" rtl="0" algn="l">
              <a:lnSpc>
                <a:spcPct val="110000"/>
              </a:lnSpc>
              <a:spcBef>
                <a:spcPts val="0"/>
              </a:spcBef>
              <a:spcAft>
                <a:spcPts val="0"/>
              </a:spcAft>
              <a:buClr>
                <a:srgbClr val="800000"/>
              </a:buClr>
              <a:buSzPts val="1520"/>
              <a:buFont typeface="Noto Sans Symbols"/>
              <a:buChar char="◆"/>
            </a:pPr>
            <a:r>
              <a:rPr b="0" lang="en-US" sz="1900">
                <a:solidFill>
                  <a:schemeClr val="dk1"/>
                </a:solidFill>
                <a:latin typeface="Arial"/>
                <a:ea typeface="Arial"/>
                <a:cs typeface="Arial"/>
                <a:sym typeface="Arial"/>
              </a:rPr>
              <a:t>Owned by two or more persons</a:t>
            </a:r>
            <a:endParaRPr b="0" sz="1900">
              <a:solidFill>
                <a:schemeClr val="dk1"/>
              </a:solidFill>
              <a:latin typeface="Arial"/>
              <a:ea typeface="Arial"/>
              <a:cs typeface="Arial"/>
              <a:sym typeface="Arial"/>
            </a:endParaRPr>
          </a:p>
          <a:p>
            <a:pPr indent="-342900" lvl="0" marL="342900" marR="0" rtl="0" algn="l">
              <a:lnSpc>
                <a:spcPct val="110000"/>
              </a:lnSpc>
              <a:spcBef>
                <a:spcPts val="855"/>
              </a:spcBef>
              <a:spcAft>
                <a:spcPts val="0"/>
              </a:spcAft>
              <a:buClr>
                <a:srgbClr val="800000"/>
              </a:buClr>
              <a:buSzPts val="1520"/>
              <a:buFont typeface="Noto Sans Symbols"/>
              <a:buChar char="◆"/>
            </a:pPr>
            <a:r>
              <a:rPr b="0" lang="en-US" sz="1900">
                <a:solidFill>
                  <a:schemeClr val="dk1"/>
                </a:solidFill>
                <a:latin typeface="Arial"/>
                <a:ea typeface="Arial"/>
                <a:cs typeface="Arial"/>
                <a:sym typeface="Arial"/>
              </a:rPr>
              <a:t>Often retail and service-type businesses</a:t>
            </a:r>
            <a:endParaRPr/>
          </a:p>
          <a:p>
            <a:pPr indent="-342900" lvl="0" marL="342900" marR="0" rtl="0" algn="l">
              <a:lnSpc>
                <a:spcPct val="110000"/>
              </a:lnSpc>
              <a:spcBef>
                <a:spcPts val="855"/>
              </a:spcBef>
              <a:spcAft>
                <a:spcPts val="0"/>
              </a:spcAft>
              <a:buClr>
                <a:srgbClr val="800000"/>
              </a:buClr>
              <a:buSzPts val="1520"/>
              <a:buFont typeface="Noto Sans Symbols"/>
              <a:buChar char="◆"/>
            </a:pPr>
            <a:r>
              <a:rPr b="0" lang="en-US" sz="1900">
                <a:solidFill>
                  <a:schemeClr val="dk1"/>
                </a:solidFill>
                <a:latin typeface="Arial"/>
                <a:ea typeface="Arial"/>
                <a:cs typeface="Arial"/>
                <a:sym typeface="Arial"/>
              </a:rPr>
              <a:t>Generally unlimited personal liability</a:t>
            </a:r>
            <a:endParaRPr/>
          </a:p>
          <a:p>
            <a:pPr indent="-342900" lvl="0" marL="342900" marR="0" rtl="0" algn="l">
              <a:lnSpc>
                <a:spcPct val="110000"/>
              </a:lnSpc>
              <a:spcBef>
                <a:spcPts val="855"/>
              </a:spcBef>
              <a:spcAft>
                <a:spcPts val="0"/>
              </a:spcAft>
              <a:buClr>
                <a:srgbClr val="800000"/>
              </a:buClr>
              <a:buSzPts val="1520"/>
              <a:buFont typeface="Noto Sans Symbols"/>
              <a:buChar char="◆"/>
            </a:pPr>
            <a:r>
              <a:rPr b="0" lang="en-US" sz="1900">
                <a:solidFill>
                  <a:schemeClr val="dk1"/>
                </a:solidFill>
                <a:latin typeface="Arial"/>
                <a:ea typeface="Arial"/>
                <a:cs typeface="Arial"/>
                <a:sym typeface="Arial"/>
              </a:rPr>
              <a:t>Partnership agreement</a:t>
            </a:r>
            <a:endParaRPr/>
          </a:p>
        </p:txBody>
      </p:sp>
      <p:sp>
        <p:nvSpPr>
          <p:cNvPr id="229" name="Google Shape;229;p15"/>
          <p:cNvSpPr/>
          <p:nvPr/>
        </p:nvSpPr>
        <p:spPr>
          <a:xfrm>
            <a:off x="6221413" y="2228850"/>
            <a:ext cx="2455862" cy="4019550"/>
          </a:xfrm>
          <a:prstGeom prst="rect">
            <a:avLst/>
          </a:prstGeom>
          <a:noFill/>
          <a:ln>
            <a:noFill/>
          </a:ln>
        </p:spPr>
        <p:txBody>
          <a:bodyPr anchorCtr="0" anchor="t" bIns="44450" lIns="90475" spcFirstLastPara="1" rIns="90475" wrap="square" tIns="109725">
            <a:noAutofit/>
          </a:bodyPr>
          <a:lstStyle/>
          <a:p>
            <a:pPr indent="-342900" lvl="0" marL="342900" marR="0" rtl="0" algn="l">
              <a:lnSpc>
                <a:spcPct val="110000"/>
              </a:lnSpc>
              <a:spcBef>
                <a:spcPts val="0"/>
              </a:spcBef>
              <a:spcAft>
                <a:spcPts val="0"/>
              </a:spcAft>
              <a:buClr>
                <a:srgbClr val="800000"/>
              </a:buClr>
              <a:buSzPts val="1520"/>
              <a:buFont typeface="Noto Sans Symbols"/>
              <a:buChar char="◆"/>
            </a:pPr>
            <a:r>
              <a:rPr b="0" lang="en-US" sz="1900">
                <a:solidFill>
                  <a:schemeClr val="dk1"/>
                </a:solidFill>
                <a:latin typeface="Arial"/>
                <a:ea typeface="Arial"/>
                <a:cs typeface="Arial"/>
                <a:sym typeface="Arial"/>
              </a:rPr>
              <a:t>Ownership divided into shares of stock</a:t>
            </a:r>
            <a:endParaRPr/>
          </a:p>
          <a:p>
            <a:pPr indent="-342900" lvl="0" marL="342900" marR="0" rtl="0" algn="l">
              <a:lnSpc>
                <a:spcPct val="110000"/>
              </a:lnSpc>
              <a:spcBef>
                <a:spcPts val="855"/>
              </a:spcBef>
              <a:spcAft>
                <a:spcPts val="0"/>
              </a:spcAft>
              <a:buClr>
                <a:srgbClr val="800000"/>
              </a:buClr>
              <a:buSzPts val="1520"/>
              <a:buFont typeface="Noto Sans Symbols"/>
              <a:buChar char="◆"/>
            </a:pPr>
            <a:r>
              <a:rPr b="0" lang="en-US" sz="1900">
                <a:solidFill>
                  <a:schemeClr val="dk1"/>
                </a:solidFill>
                <a:latin typeface="Arial"/>
                <a:ea typeface="Arial"/>
                <a:cs typeface="Arial"/>
                <a:sym typeface="Arial"/>
              </a:rPr>
              <a:t>Separate legal entity organized under state corporation law</a:t>
            </a:r>
            <a:endParaRPr/>
          </a:p>
          <a:p>
            <a:pPr indent="-342900" lvl="0" marL="342900" marR="0" rtl="0" algn="l">
              <a:lnSpc>
                <a:spcPct val="110000"/>
              </a:lnSpc>
              <a:spcBef>
                <a:spcPts val="855"/>
              </a:spcBef>
              <a:spcAft>
                <a:spcPts val="0"/>
              </a:spcAft>
              <a:buClr>
                <a:srgbClr val="800000"/>
              </a:buClr>
              <a:buSzPts val="1520"/>
              <a:buFont typeface="Noto Sans Symbols"/>
              <a:buChar char="◆"/>
            </a:pPr>
            <a:r>
              <a:rPr b="0" lang="en-US" sz="1900">
                <a:solidFill>
                  <a:schemeClr val="dk1"/>
                </a:solidFill>
                <a:latin typeface="Arial"/>
                <a:ea typeface="Arial"/>
                <a:cs typeface="Arial"/>
                <a:sym typeface="Arial"/>
              </a:rPr>
              <a:t>Limited liability</a:t>
            </a:r>
            <a:endParaRPr/>
          </a:p>
          <a:p>
            <a:pPr indent="-246380" lvl="0" marL="342900" marR="0" rtl="0" algn="l">
              <a:lnSpc>
                <a:spcPct val="110000"/>
              </a:lnSpc>
              <a:spcBef>
                <a:spcPts val="855"/>
              </a:spcBef>
              <a:spcAft>
                <a:spcPts val="0"/>
              </a:spcAft>
              <a:buClr>
                <a:srgbClr val="800000"/>
              </a:buClr>
              <a:buSzPts val="1520"/>
              <a:buFont typeface="Noto Sans Symbols"/>
              <a:buNone/>
            </a:pPr>
            <a:r>
              <a:t/>
            </a:r>
            <a:endParaRPr b="0" sz="1900">
              <a:solidFill>
                <a:schemeClr val="dk1"/>
              </a:solidFill>
              <a:latin typeface="Arial"/>
              <a:ea typeface="Arial"/>
              <a:cs typeface="Arial"/>
              <a:sym typeface="Arial"/>
            </a:endParaRPr>
          </a:p>
        </p:txBody>
      </p:sp>
      <p:sp>
        <p:nvSpPr>
          <p:cNvPr id="230" name="Google Shape;230;p15"/>
          <p:cNvSpPr/>
          <p:nvPr/>
        </p:nvSpPr>
        <p:spPr>
          <a:xfrm>
            <a:off x="533400" y="2209800"/>
            <a:ext cx="2590800" cy="4038600"/>
          </a:xfrm>
          <a:prstGeom prst="rect">
            <a:avLst/>
          </a:prstGeom>
          <a:noFill/>
          <a:ln>
            <a:noFill/>
          </a:ln>
        </p:spPr>
        <p:txBody>
          <a:bodyPr anchorCtr="0" anchor="t" bIns="44450" lIns="90475" spcFirstLastPara="1" rIns="90475" wrap="square" tIns="109725">
            <a:noAutofit/>
          </a:bodyPr>
          <a:lstStyle/>
          <a:p>
            <a:pPr indent="-342900" lvl="0" marL="342900" marR="0" rtl="0" algn="l">
              <a:lnSpc>
                <a:spcPct val="110000"/>
              </a:lnSpc>
              <a:spcBef>
                <a:spcPts val="0"/>
              </a:spcBef>
              <a:spcAft>
                <a:spcPts val="0"/>
              </a:spcAft>
              <a:buClr>
                <a:srgbClr val="800000"/>
              </a:buClr>
              <a:buSzPts val="1520"/>
              <a:buFont typeface="Noto Sans Symbols"/>
              <a:buChar char="◆"/>
            </a:pPr>
            <a:r>
              <a:rPr b="0" lang="en-US" sz="1900">
                <a:solidFill>
                  <a:schemeClr val="dk1"/>
                </a:solidFill>
                <a:latin typeface="Arial"/>
                <a:ea typeface="Arial"/>
                <a:cs typeface="Arial"/>
                <a:sym typeface="Arial"/>
              </a:rPr>
              <a:t>Owned by one person</a:t>
            </a:r>
            <a:endParaRPr b="0" sz="1900">
              <a:solidFill>
                <a:schemeClr val="dk1"/>
              </a:solidFill>
              <a:latin typeface="Arial"/>
              <a:ea typeface="Arial"/>
              <a:cs typeface="Arial"/>
              <a:sym typeface="Arial"/>
            </a:endParaRPr>
          </a:p>
          <a:p>
            <a:pPr indent="-342900" lvl="0" marL="342900" marR="0" rtl="0" algn="l">
              <a:lnSpc>
                <a:spcPct val="110000"/>
              </a:lnSpc>
              <a:spcBef>
                <a:spcPts val="855"/>
              </a:spcBef>
              <a:spcAft>
                <a:spcPts val="0"/>
              </a:spcAft>
              <a:buClr>
                <a:srgbClr val="800000"/>
              </a:buClr>
              <a:buSzPts val="1520"/>
              <a:buFont typeface="Noto Sans Symbols"/>
              <a:buChar char="◆"/>
            </a:pPr>
            <a:r>
              <a:rPr b="0" lang="en-US" sz="1900">
                <a:solidFill>
                  <a:schemeClr val="dk1"/>
                </a:solidFill>
                <a:latin typeface="Arial"/>
                <a:ea typeface="Arial"/>
                <a:cs typeface="Arial"/>
                <a:sym typeface="Arial"/>
              </a:rPr>
              <a:t>Owner is often manager/operator</a:t>
            </a:r>
            <a:endParaRPr b="0" sz="1900">
              <a:solidFill>
                <a:schemeClr val="dk1"/>
              </a:solidFill>
              <a:latin typeface="Arial"/>
              <a:ea typeface="Arial"/>
              <a:cs typeface="Arial"/>
              <a:sym typeface="Arial"/>
            </a:endParaRPr>
          </a:p>
          <a:p>
            <a:pPr indent="-342900" lvl="0" marL="342900" marR="0" rtl="0" algn="l">
              <a:lnSpc>
                <a:spcPct val="110000"/>
              </a:lnSpc>
              <a:spcBef>
                <a:spcPts val="855"/>
              </a:spcBef>
              <a:spcAft>
                <a:spcPts val="0"/>
              </a:spcAft>
              <a:buClr>
                <a:srgbClr val="800000"/>
              </a:buClr>
              <a:buSzPts val="1520"/>
              <a:buFont typeface="Noto Sans Symbols"/>
              <a:buChar char="◆"/>
            </a:pPr>
            <a:r>
              <a:rPr b="0" lang="en-US" sz="1900">
                <a:solidFill>
                  <a:schemeClr val="dk1"/>
                </a:solidFill>
                <a:latin typeface="Arial"/>
                <a:ea typeface="Arial"/>
                <a:cs typeface="Arial"/>
                <a:sym typeface="Arial"/>
              </a:rPr>
              <a:t>Owner receives any profits, suffers any losses, and is personally liable for all debts</a:t>
            </a:r>
            <a:endParaRPr b="0" sz="1900">
              <a:solidFill>
                <a:schemeClr val="dk1"/>
              </a:solidFill>
              <a:latin typeface="Arial"/>
              <a:ea typeface="Arial"/>
              <a:cs typeface="Arial"/>
              <a:sym typeface="Arial"/>
            </a:endParaRPr>
          </a:p>
        </p:txBody>
      </p:sp>
      <p:cxnSp>
        <p:nvCxnSpPr>
          <p:cNvPr id="231" name="Google Shape;231;p15"/>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232" name="Google Shape;232;p15"/>
          <p:cNvSpPr/>
          <p:nvPr/>
        </p:nvSpPr>
        <p:spPr>
          <a:xfrm>
            <a:off x="533400" y="304800"/>
            <a:ext cx="80772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chemeClr val="dk1"/>
                </a:solidFill>
                <a:latin typeface="Arial"/>
                <a:ea typeface="Arial"/>
                <a:cs typeface="Arial"/>
                <a:sym typeface="Arial"/>
              </a:rPr>
              <a:t>Forms of Business Ownership</a:t>
            </a:r>
            <a:endParaRPr/>
          </a:p>
        </p:txBody>
      </p:sp>
      <p:sp>
        <p:nvSpPr>
          <p:cNvPr id="233" name="Google Shape;233;p15"/>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2 </a:t>
            </a:r>
            <a:endParaRPr b="1" i="1" sz="1600">
              <a:solidFill>
                <a:schemeClr val="lt2"/>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500"/>
                                        <p:tgtEl>
                                          <p:spTgt spid="2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gtEl>
                                        <p:attrNameLst>
                                          <p:attrName>style.visibility</p:attrName>
                                        </p:attrNameLst>
                                      </p:cBhvr>
                                      <p:to>
                                        <p:strVal val="visible"/>
                                      </p:to>
                                    </p:set>
                                    <p:animEffect filter="fade" transition="in">
                                      <p:cBhvr>
                                        <p:cTn dur="500"/>
                                        <p:tgtEl>
                                          <p:spTgt spid="2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
                                        </p:tgtEl>
                                        <p:attrNameLst>
                                          <p:attrName>style.visibility</p:attrName>
                                        </p:attrNameLst>
                                      </p:cBhvr>
                                      <p:to>
                                        <p:strVal val="visible"/>
                                      </p:to>
                                    </p:set>
                                    <p:animEffect filter="fade" transition="in">
                                      <p:cBhvr>
                                        <p:cTn dur="500"/>
                                        <p:tgtEl>
                                          <p:spTgt spid="2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6"/>
          <p:cNvSpPr/>
          <p:nvPr/>
        </p:nvSpPr>
        <p:spPr>
          <a:xfrm>
            <a:off x="533400" y="1295400"/>
            <a:ext cx="5334000" cy="551433"/>
          </a:xfrm>
          <a:prstGeom prst="rect">
            <a:avLst/>
          </a:prstGeom>
          <a:noFill/>
          <a:ln>
            <a:noFill/>
          </a:ln>
        </p:spPr>
        <p:txBody>
          <a:bodyPr anchorCtr="0" anchor="t" bIns="44450" lIns="90475" spcFirstLastPara="1" rIns="90475" wrap="square" tIns="44450">
            <a:spAutoFit/>
          </a:bodyPr>
          <a:lstStyle/>
          <a:p>
            <a:pPr indent="0" lvl="0" marL="0" marR="0" rtl="0" algn="l">
              <a:spcBef>
                <a:spcPts val="0"/>
              </a:spcBef>
              <a:spcAft>
                <a:spcPts val="0"/>
              </a:spcAft>
              <a:buNone/>
            </a:pPr>
            <a:r>
              <a:rPr b="1" lang="en-US" sz="3000">
                <a:solidFill>
                  <a:schemeClr val="dk1"/>
                </a:solidFill>
                <a:latin typeface="Arial"/>
                <a:ea typeface="Arial"/>
                <a:cs typeface="Arial"/>
                <a:sym typeface="Arial"/>
              </a:rPr>
              <a:t>Question</a:t>
            </a:r>
            <a:endParaRPr/>
          </a:p>
        </p:txBody>
      </p:sp>
      <p:sp>
        <p:nvSpPr>
          <p:cNvPr id="239" name="Google Shape;239;p16"/>
          <p:cNvSpPr/>
          <p:nvPr/>
        </p:nvSpPr>
        <p:spPr>
          <a:xfrm>
            <a:off x="533400" y="1905000"/>
            <a:ext cx="7696200" cy="3352800"/>
          </a:xfrm>
          <a:prstGeom prst="rect">
            <a:avLst/>
          </a:prstGeom>
          <a:solidFill>
            <a:schemeClr val="lt1"/>
          </a:solidFill>
          <a:ln>
            <a:noFill/>
          </a:ln>
        </p:spPr>
        <p:txBody>
          <a:bodyPr anchorCtr="0" anchor="t" bIns="46025" lIns="91425" spcFirstLastPara="1" rIns="91425" wrap="square" tIns="46025">
            <a:noAutofit/>
          </a:bodyPr>
          <a:lstStyle/>
          <a:p>
            <a:pPr indent="0" lvl="0" marL="0" marR="0" rtl="0" algn="l">
              <a:lnSpc>
                <a:spcPct val="120000"/>
              </a:lnSpc>
              <a:spcBef>
                <a:spcPts val="0"/>
              </a:spcBef>
              <a:spcAft>
                <a:spcPts val="0"/>
              </a:spcAft>
              <a:buClr>
                <a:schemeClr val="dk1"/>
              </a:buClr>
              <a:buSzPts val="2300"/>
              <a:buFont typeface="Noto Sans Symbols"/>
              <a:buNone/>
            </a:pPr>
            <a:r>
              <a:rPr b="0" lang="en-US" sz="2300">
                <a:solidFill>
                  <a:schemeClr val="dk1"/>
                </a:solidFill>
                <a:latin typeface="Arial"/>
                <a:ea typeface="Arial"/>
                <a:cs typeface="Arial"/>
                <a:sym typeface="Arial"/>
              </a:rPr>
              <a:t>Combining the activities of Kellogg and General Mills would violate the  </a:t>
            </a:r>
            <a:endParaRPr/>
          </a:p>
          <a:p>
            <a:pPr indent="-455613" lvl="1" marL="685800" marR="0" rtl="0" algn="l">
              <a:lnSpc>
                <a:spcPct val="120000"/>
              </a:lnSpc>
              <a:spcBef>
                <a:spcPts val="1150"/>
              </a:spcBef>
              <a:spcAft>
                <a:spcPts val="0"/>
              </a:spcAft>
              <a:buClr>
                <a:schemeClr val="dk1"/>
              </a:buClr>
              <a:buSzPts val="2300"/>
              <a:buFont typeface="Noto Sans Symbols"/>
              <a:buAutoNum type="alphaLcPeriod"/>
            </a:pPr>
            <a:r>
              <a:rPr b="0" i="0" lang="en-US" sz="2300" u="none" cap="none" strike="noStrike">
                <a:solidFill>
                  <a:schemeClr val="dk1"/>
                </a:solidFill>
                <a:latin typeface="Arial"/>
                <a:ea typeface="Arial"/>
                <a:cs typeface="Arial"/>
                <a:sym typeface="Arial"/>
              </a:rPr>
              <a:t>cost principle.  </a:t>
            </a:r>
            <a:endParaRPr/>
          </a:p>
          <a:p>
            <a:pPr indent="-455613" lvl="1" marL="685800" marR="0" rtl="0" algn="l">
              <a:lnSpc>
                <a:spcPct val="120000"/>
              </a:lnSpc>
              <a:spcBef>
                <a:spcPts val="1150"/>
              </a:spcBef>
              <a:spcAft>
                <a:spcPts val="0"/>
              </a:spcAft>
              <a:buClr>
                <a:schemeClr val="dk1"/>
              </a:buClr>
              <a:buSzPts val="2300"/>
              <a:buFont typeface="Noto Sans Symbols"/>
              <a:buAutoNum type="alphaLcPeriod"/>
            </a:pPr>
            <a:r>
              <a:rPr b="0" i="0" lang="en-US" sz="2300" u="none" cap="none" strike="noStrike">
                <a:solidFill>
                  <a:schemeClr val="dk1"/>
                </a:solidFill>
                <a:latin typeface="Arial"/>
                <a:ea typeface="Arial"/>
                <a:cs typeface="Arial"/>
                <a:sym typeface="Arial"/>
              </a:rPr>
              <a:t>economic entity assumption. </a:t>
            </a:r>
            <a:endParaRPr/>
          </a:p>
          <a:p>
            <a:pPr indent="-455613" lvl="1" marL="685800" marR="0" rtl="0" algn="l">
              <a:lnSpc>
                <a:spcPct val="120000"/>
              </a:lnSpc>
              <a:spcBef>
                <a:spcPts val="1150"/>
              </a:spcBef>
              <a:spcAft>
                <a:spcPts val="0"/>
              </a:spcAft>
              <a:buClr>
                <a:schemeClr val="dk1"/>
              </a:buClr>
              <a:buSzPts val="2300"/>
              <a:buFont typeface="Noto Sans Symbols"/>
              <a:buAutoNum type="alphaLcPeriod"/>
            </a:pPr>
            <a:r>
              <a:rPr b="0" i="0" lang="en-US" sz="2300" u="none" cap="none" strike="noStrike">
                <a:solidFill>
                  <a:schemeClr val="dk1"/>
                </a:solidFill>
                <a:latin typeface="Arial"/>
                <a:ea typeface="Arial"/>
                <a:cs typeface="Arial"/>
                <a:sym typeface="Arial"/>
              </a:rPr>
              <a:t>monetary unit assumption.  </a:t>
            </a:r>
            <a:endParaRPr/>
          </a:p>
          <a:p>
            <a:pPr indent="-455613" lvl="1" marL="685800" marR="0" rtl="0" algn="l">
              <a:lnSpc>
                <a:spcPct val="120000"/>
              </a:lnSpc>
              <a:spcBef>
                <a:spcPts val="1150"/>
              </a:spcBef>
              <a:spcAft>
                <a:spcPts val="0"/>
              </a:spcAft>
              <a:buClr>
                <a:schemeClr val="dk1"/>
              </a:buClr>
              <a:buSzPts val="2300"/>
              <a:buFont typeface="Noto Sans Symbols"/>
              <a:buAutoNum type="alphaLcPeriod"/>
            </a:pPr>
            <a:r>
              <a:rPr b="0" i="0" lang="en-US" sz="2300" u="none" cap="none" strike="noStrike">
                <a:solidFill>
                  <a:schemeClr val="dk1"/>
                </a:solidFill>
                <a:latin typeface="Arial"/>
                <a:ea typeface="Arial"/>
                <a:cs typeface="Arial"/>
                <a:sym typeface="Arial"/>
              </a:rPr>
              <a:t>ethics principle.</a:t>
            </a:r>
            <a:endParaRPr/>
          </a:p>
        </p:txBody>
      </p:sp>
      <p:cxnSp>
        <p:nvCxnSpPr>
          <p:cNvPr id="240" name="Google Shape;240;p16"/>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241" name="Google Shape;241;p16"/>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2 </a:t>
            </a:r>
            <a:endParaRPr b="1" i="1" sz="1600">
              <a:solidFill>
                <a:schemeClr val="lt2"/>
              </a:solidFill>
              <a:latin typeface="Arial"/>
              <a:ea typeface="Arial"/>
              <a:cs typeface="Arial"/>
              <a:sym typeface="Arial"/>
            </a:endParaRPr>
          </a:p>
        </p:txBody>
      </p:sp>
      <p:sp>
        <p:nvSpPr>
          <p:cNvPr id="242" name="Google Shape;242;p16"/>
          <p:cNvSpPr/>
          <p:nvPr/>
        </p:nvSpPr>
        <p:spPr>
          <a:xfrm>
            <a:off x="152400" y="3566160"/>
            <a:ext cx="609600" cy="457200"/>
          </a:xfrm>
          <a:prstGeom prst="notchedRightArrow">
            <a:avLst>
              <a:gd fmla="val 50000" name="adj1"/>
              <a:gd fmla="val 50000" name="adj2"/>
            </a:avLst>
          </a:prstGeom>
          <a:solidFill>
            <a:srgbClr val="0000BF"/>
          </a:solidFill>
          <a:ln cap="sq"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243" name="Google Shape;243;p16"/>
          <p:cNvSpPr/>
          <p:nvPr/>
        </p:nvSpPr>
        <p:spPr>
          <a:xfrm>
            <a:off x="533400" y="304800"/>
            <a:ext cx="84582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Assumptions</a:t>
            </a:r>
            <a:endParaRPr b="1" sz="3200">
              <a:solidFill>
                <a:srgbClr val="0000BF"/>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500"/>
                                        <p:tgtEl>
                                          <p:spTgt spid="2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7"/>
          <p:cNvSpPr/>
          <p:nvPr/>
        </p:nvSpPr>
        <p:spPr>
          <a:xfrm>
            <a:off x="533400" y="1905000"/>
            <a:ext cx="8153400" cy="3733800"/>
          </a:xfrm>
          <a:prstGeom prst="rect">
            <a:avLst/>
          </a:prstGeom>
          <a:solidFill>
            <a:schemeClr val="lt1"/>
          </a:solidFill>
          <a:ln>
            <a:noFill/>
          </a:ln>
        </p:spPr>
        <p:txBody>
          <a:bodyPr anchorCtr="0" anchor="t" bIns="46025" lIns="91425" spcFirstLastPara="1" rIns="91425" wrap="square" tIns="46025">
            <a:noAutofit/>
          </a:bodyPr>
          <a:lstStyle/>
          <a:p>
            <a:pPr indent="0" lvl="0" marL="0" marR="0" rtl="0" algn="l">
              <a:lnSpc>
                <a:spcPct val="120000"/>
              </a:lnSpc>
              <a:spcBef>
                <a:spcPts val="0"/>
              </a:spcBef>
              <a:spcAft>
                <a:spcPts val="0"/>
              </a:spcAft>
              <a:buClr>
                <a:schemeClr val="dk1"/>
              </a:buClr>
              <a:buSzPts val="2300"/>
              <a:buFont typeface="Noto Sans Symbols"/>
              <a:buNone/>
            </a:pPr>
            <a:r>
              <a:rPr b="0" lang="en-US" sz="2300">
                <a:solidFill>
                  <a:schemeClr val="dk1"/>
                </a:solidFill>
                <a:latin typeface="Arial"/>
                <a:ea typeface="Arial"/>
                <a:cs typeface="Arial"/>
                <a:sym typeface="Arial"/>
              </a:rPr>
              <a:t>A business organized as a separate legal entity under state law having ownership divided into shares of stock is a  </a:t>
            </a:r>
            <a:endParaRPr/>
          </a:p>
          <a:p>
            <a:pPr indent="-455613" lvl="1" marL="685800" marR="0" rtl="0" algn="l">
              <a:lnSpc>
                <a:spcPct val="120000"/>
              </a:lnSpc>
              <a:spcBef>
                <a:spcPts val="1150"/>
              </a:spcBef>
              <a:spcAft>
                <a:spcPts val="0"/>
              </a:spcAft>
              <a:buClr>
                <a:schemeClr val="dk1"/>
              </a:buClr>
              <a:buSzPts val="2300"/>
              <a:buFont typeface="Noto Sans Symbols"/>
              <a:buAutoNum type="alphaLcPeriod"/>
            </a:pPr>
            <a:r>
              <a:rPr b="0" i="0" lang="en-US" sz="2300" u="none" cap="none" strike="noStrike">
                <a:solidFill>
                  <a:schemeClr val="dk1"/>
                </a:solidFill>
                <a:latin typeface="Arial"/>
                <a:ea typeface="Arial"/>
                <a:cs typeface="Arial"/>
                <a:sym typeface="Arial"/>
              </a:rPr>
              <a:t>proprietorship.  </a:t>
            </a:r>
            <a:endParaRPr/>
          </a:p>
          <a:p>
            <a:pPr indent="-455613" lvl="1" marL="685800" marR="0" rtl="0" algn="l">
              <a:lnSpc>
                <a:spcPct val="120000"/>
              </a:lnSpc>
              <a:spcBef>
                <a:spcPts val="1150"/>
              </a:spcBef>
              <a:spcAft>
                <a:spcPts val="0"/>
              </a:spcAft>
              <a:buClr>
                <a:schemeClr val="dk1"/>
              </a:buClr>
              <a:buSzPts val="2300"/>
              <a:buFont typeface="Noto Sans Symbols"/>
              <a:buAutoNum type="alphaLcPeriod"/>
            </a:pPr>
            <a:r>
              <a:rPr b="0" i="0" lang="en-US" sz="2300" u="none" cap="none" strike="noStrike">
                <a:solidFill>
                  <a:schemeClr val="dk1"/>
                </a:solidFill>
                <a:latin typeface="Arial"/>
                <a:ea typeface="Arial"/>
                <a:cs typeface="Arial"/>
                <a:sym typeface="Arial"/>
              </a:rPr>
              <a:t>partnership.  </a:t>
            </a:r>
            <a:endParaRPr/>
          </a:p>
          <a:p>
            <a:pPr indent="-455613" lvl="1" marL="685800" marR="0" rtl="0" algn="l">
              <a:lnSpc>
                <a:spcPct val="120000"/>
              </a:lnSpc>
              <a:spcBef>
                <a:spcPts val="1150"/>
              </a:spcBef>
              <a:spcAft>
                <a:spcPts val="0"/>
              </a:spcAft>
              <a:buClr>
                <a:schemeClr val="dk1"/>
              </a:buClr>
              <a:buSzPts val="2300"/>
              <a:buFont typeface="Noto Sans Symbols"/>
              <a:buAutoNum type="alphaLcPeriod"/>
            </a:pPr>
            <a:r>
              <a:rPr b="0" i="0" lang="en-US" sz="2300" u="none" cap="none" strike="noStrike">
                <a:solidFill>
                  <a:schemeClr val="dk1"/>
                </a:solidFill>
                <a:latin typeface="Arial"/>
                <a:ea typeface="Arial"/>
                <a:cs typeface="Arial"/>
                <a:sym typeface="Arial"/>
              </a:rPr>
              <a:t>corporation.  </a:t>
            </a:r>
            <a:endParaRPr/>
          </a:p>
          <a:p>
            <a:pPr indent="-455613" lvl="1" marL="685800" marR="0" rtl="0" algn="l">
              <a:lnSpc>
                <a:spcPct val="120000"/>
              </a:lnSpc>
              <a:spcBef>
                <a:spcPts val="1150"/>
              </a:spcBef>
              <a:spcAft>
                <a:spcPts val="0"/>
              </a:spcAft>
              <a:buClr>
                <a:schemeClr val="dk1"/>
              </a:buClr>
              <a:buSzPts val="2300"/>
              <a:buFont typeface="Noto Sans Symbols"/>
              <a:buAutoNum type="alphaLcPeriod"/>
            </a:pPr>
            <a:r>
              <a:rPr b="0" i="0" lang="en-US" sz="2300" u="none" cap="none" strike="noStrike">
                <a:solidFill>
                  <a:schemeClr val="dk1"/>
                </a:solidFill>
                <a:latin typeface="Arial"/>
                <a:ea typeface="Arial"/>
                <a:cs typeface="Arial"/>
                <a:sym typeface="Arial"/>
              </a:rPr>
              <a:t>sole proprietorship.</a:t>
            </a:r>
            <a:endParaRPr/>
          </a:p>
        </p:txBody>
      </p:sp>
      <p:sp>
        <p:nvSpPr>
          <p:cNvPr id="249" name="Google Shape;249;p17"/>
          <p:cNvSpPr/>
          <p:nvPr/>
        </p:nvSpPr>
        <p:spPr>
          <a:xfrm>
            <a:off x="533400" y="1295400"/>
            <a:ext cx="5334000" cy="551433"/>
          </a:xfrm>
          <a:prstGeom prst="rect">
            <a:avLst/>
          </a:prstGeom>
          <a:noFill/>
          <a:ln>
            <a:noFill/>
          </a:ln>
        </p:spPr>
        <p:txBody>
          <a:bodyPr anchorCtr="0" anchor="t" bIns="44450" lIns="90475" spcFirstLastPara="1" rIns="90475" wrap="square" tIns="44450">
            <a:spAutoFit/>
          </a:bodyPr>
          <a:lstStyle/>
          <a:p>
            <a:pPr indent="0" lvl="0" marL="0" marR="0" rtl="0" algn="l">
              <a:spcBef>
                <a:spcPts val="0"/>
              </a:spcBef>
              <a:spcAft>
                <a:spcPts val="0"/>
              </a:spcAft>
              <a:buClr>
                <a:schemeClr val="dk1"/>
              </a:buClr>
              <a:buSzPts val="3000"/>
              <a:buFont typeface="Noto Sans Symbols"/>
              <a:buNone/>
            </a:pPr>
            <a:r>
              <a:rPr b="1" lang="en-US" sz="3000">
                <a:solidFill>
                  <a:schemeClr val="dk1"/>
                </a:solidFill>
                <a:latin typeface="Arial"/>
                <a:ea typeface="Arial"/>
                <a:cs typeface="Arial"/>
                <a:sym typeface="Arial"/>
              </a:rPr>
              <a:t>Question</a:t>
            </a:r>
            <a:endParaRPr/>
          </a:p>
        </p:txBody>
      </p:sp>
      <p:cxnSp>
        <p:nvCxnSpPr>
          <p:cNvPr id="250" name="Google Shape;250;p17"/>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251" name="Google Shape;251;p17"/>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2 </a:t>
            </a:r>
            <a:endParaRPr b="1" i="1" sz="1600">
              <a:solidFill>
                <a:schemeClr val="lt2"/>
              </a:solidFill>
              <a:latin typeface="Arial"/>
              <a:ea typeface="Arial"/>
              <a:cs typeface="Arial"/>
              <a:sym typeface="Arial"/>
            </a:endParaRPr>
          </a:p>
        </p:txBody>
      </p:sp>
      <p:sp>
        <p:nvSpPr>
          <p:cNvPr id="252" name="Google Shape;252;p17"/>
          <p:cNvSpPr/>
          <p:nvPr/>
        </p:nvSpPr>
        <p:spPr>
          <a:xfrm>
            <a:off x="152400" y="4151376"/>
            <a:ext cx="609600" cy="457200"/>
          </a:xfrm>
          <a:prstGeom prst="notchedRightArrow">
            <a:avLst>
              <a:gd fmla="val 50000" name="adj1"/>
              <a:gd fmla="val 50000" name="adj2"/>
            </a:avLst>
          </a:prstGeom>
          <a:solidFill>
            <a:srgbClr val="0000BF"/>
          </a:solidFill>
          <a:ln cap="sq"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253" name="Google Shape;253;p17"/>
          <p:cNvSpPr/>
          <p:nvPr/>
        </p:nvSpPr>
        <p:spPr>
          <a:xfrm>
            <a:off x="533400" y="304800"/>
            <a:ext cx="84582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Assumptions</a:t>
            </a:r>
            <a:endParaRPr b="1" sz="3200">
              <a:solidFill>
                <a:srgbClr val="0000BF"/>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gtEl>
                                        <p:attrNameLst>
                                          <p:attrName>style.visibility</p:attrName>
                                        </p:attrNameLst>
                                      </p:cBhvr>
                                      <p:to>
                                        <p:strVal val="visible"/>
                                      </p:to>
                                    </p:set>
                                    <p:animEffect filter="fade" transition="in">
                                      <p:cBhvr>
                                        <p:cTn dur="500"/>
                                        <p:tgtEl>
                                          <p:spTgt spid="2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8"/>
          <p:cNvSpPr/>
          <p:nvPr/>
        </p:nvSpPr>
        <p:spPr>
          <a:xfrm>
            <a:off x="609600" y="1393825"/>
            <a:ext cx="7924800" cy="832279"/>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chemeClr val="dk1"/>
              </a:buClr>
              <a:buSzPts val="2100"/>
              <a:buFont typeface="Noto Sans Symbols"/>
              <a:buNone/>
            </a:pPr>
            <a:r>
              <a:rPr b="1" lang="en-US" sz="2100">
                <a:solidFill>
                  <a:schemeClr val="dk1"/>
                </a:solidFill>
                <a:latin typeface="Arial"/>
                <a:ea typeface="Arial"/>
                <a:cs typeface="Arial"/>
                <a:sym typeface="Arial"/>
              </a:rPr>
              <a:t>Indicate whether each of the following statements presented below is </a:t>
            </a:r>
            <a:r>
              <a:rPr b="1" lang="en-US" sz="2100">
                <a:solidFill>
                  <a:schemeClr val="hlink"/>
                </a:solidFill>
                <a:latin typeface="Arial"/>
                <a:ea typeface="Arial"/>
                <a:cs typeface="Arial"/>
                <a:sym typeface="Arial"/>
              </a:rPr>
              <a:t>true</a:t>
            </a:r>
            <a:r>
              <a:rPr b="1" lang="en-US" sz="2100">
                <a:solidFill>
                  <a:schemeClr val="dk1"/>
                </a:solidFill>
                <a:latin typeface="Arial"/>
                <a:ea typeface="Arial"/>
                <a:cs typeface="Arial"/>
                <a:sym typeface="Arial"/>
              </a:rPr>
              <a:t> or </a:t>
            </a:r>
            <a:r>
              <a:rPr b="1" lang="en-US" sz="2100">
                <a:solidFill>
                  <a:srgbClr val="800000"/>
                </a:solidFill>
                <a:latin typeface="Arial"/>
                <a:ea typeface="Arial"/>
                <a:cs typeface="Arial"/>
                <a:sym typeface="Arial"/>
              </a:rPr>
              <a:t>false</a:t>
            </a:r>
            <a:r>
              <a:rPr b="1" lang="en-US" sz="2100">
                <a:solidFill>
                  <a:schemeClr val="dk1"/>
                </a:solidFill>
                <a:latin typeface="Arial"/>
                <a:ea typeface="Arial"/>
                <a:cs typeface="Arial"/>
                <a:sym typeface="Arial"/>
              </a:rPr>
              <a:t>.</a:t>
            </a:r>
            <a:endParaRPr/>
          </a:p>
        </p:txBody>
      </p:sp>
      <p:sp>
        <p:nvSpPr>
          <p:cNvPr id="259" name="Google Shape;259;p18"/>
          <p:cNvSpPr/>
          <p:nvPr/>
        </p:nvSpPr>
        <p:spPr>
          <a:xfrm>
            <a:off x="609600" y="2346325"/>
            <a:ext cx="6324600" cy="4156522"/>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l">
              <a:lnSpc>
                <a:spcPct val="125000"/>
              </a:lnSpc>
              <a:spcBef>
                <a:spcPts val="0"/>
              </a:spcBef>
              <a:spcAft>
                <a:spcPts val="0"/>
              </a:spcAft>
              <a:buClr>
                <a:schemeClr val="dk1"/>
              </a:buClr>
              <a:buSzPts val="1900"/>
              <a:buFont typeface="Noto Sans Symbols"/>
              <a:buAutoNum type="arabicPeriod"/>
            </a:pPr>
            <a:r>
              <a:rPr b="0" lang="en-US" sz="1900">
                <a:solidFill>
                  <a:schemeClr val="dk1"/>
                </a:solidFill>
                <a:latin typeface="Arial"/>
                <a:ea typeface="Arial"/>
                <a:cs typeface="Arial"/>
                <a:sym typeface="Arial"/>
              </a:rPr>
              <a:t>Congress passed the Sarbanes-Oxley Act to reduce unethical behavior and decrease the likelihood of future corporate scandals.</a:t>
            </a:r>
            <a:endParaRPr/>
          </a:p>
          <a:p>
            <a:pPr indent="-457200" lvl="0" marL="457200" marR="0" rtl="0" algn="l">
              <a:lnSpc>
                <a:spcPct val="125000"/>
              </a:lnSpc>
              <a:spcBef>
                <a:spcPts val="1330"/>
              </a:spcBef>
              <a:spcAft>
                <a:spcPts val="0"/>
              </a:spcAft>
              <a:buClr>
                <a:schemeClr val="dk1"/>
              </a:buClr>
              <a:buSzPts val="1900"/>
              <a:buFont typeface="Noto Sans Symbols"/>
              <a:buAutoNum type="arabicPeriod"/>
            </a:pPr>
            <a:r>
              <a:rPr b="0" lang="en-US" sz="1900">
                <a:solidFill>
                  <a:schemeClr val="dk1"/>
                </a:solidFill>
                <a:latin typeface="Arial"/>
                <a:ea typeface="Arial"/>
                <a:cs typeface="Arial"/>
                <a:sym typeface="Arial"/>
              </a:rPr>
              <a:t>The primary accounting standard-setting body in the United States is the Financial Accounting Standards Board (FASB).</a:t>
            </a:r>
            <a:endParaRPr/>
          </a:p>
          <a:p>
            <a:pPr indent="-457200" lvl="0" marL="457200" marR="0" rtl="0" algn="l">
              <a:lnSpc>
                <a:spcPct val="125000"/>
              </a:lnSpc>
              <a:spcBef>
                <a:spcPts val="1330"/>
              </a:spcBef>
              <a:spcAft>
                <a:spcPts val="0"/>
              </a:spcAft>
              <a:buClr>
                <a:schemeClr val="dk1"/>
              </a:buClr>
              <a:buSzPts val="1900"/>
              <a:buFont typeface="Noto Sans Symbols"/>
              <a:buAutoNum type="arabicPeriod"/>
            </a:pPr>
            <a:r>
              <a:rPr b="0" lang="en-US" sz="1900">
                <a:solidFill>
                  <a:schemeClr val="dk1"/>
                </a:solidFill>
                <a:latin typeface="Arial"/>
                <a:ea typeface="Arial"/>
                <a:cs typeface="Arial"/>
                <a:sym typeface="Arial"/>
              </a:rPr>
              <a:t>The historical cost principle dictates that companies record assets at their cost. In later periods, however, the fair value of the asset must be used if fair value is higher than its cost.</a:t>
            </a:r>
            <a:endParaRPr b="0" sz="1900">
              <a:solidFill>
                <a:schemeClr val="dk1"/>
              </a:solidFill>
              <a:latin typeface="Arial"/>
              <a:ea typeface="Arial"/>
              <a:cs typeface="Arial"/>
              <a:sym typeface="Arial"/>
            </a:endParaRPr>
          </a:p>
        </p:txBody>
      </p:sp>
      <p:sp>
        <p:nvSpPr>
          <p:cNvPr id="260" name="Google Shape;260;p18"/>
          <p:cNvSpPr/>
          <p:nvPr/>
        </p:nvSpPr>
        <p:spPr>
          <a:xfrm>
            <a:off x="7391400" y="2568575"/>
            <a:ext cx="1143000" cy="533400"/>
          </a:xfrm>
          <a:prstGeom prst="bevel">
            <a:avLst>
              <a:gd fmla="val 12500" name="adj"/>
            </a:avLst>
          </a:prstGeom>
          <a:solidFill>
            <a:srgbClr val="000066"/>
          </a:solidFill>
          <a:ln cap="sq" cmpd="sng" w="12700">
            <a:solidFill>
              <a:schemeClr val="dk1"/>
            </a:solidFill>
            <a:prstDash val="solid"/>
            <a:miter lim="800000"/>
            <a:headEnd len="sm" w="sm" type="none"/>
            <a:tailEnd len="sm" w="sm" type="none"/>
          </a:ln>
        </p:spPr>
        <p:txBody>
          <a:bodyPr anchorCtr="0" anchor="ctr" bIns="45700" lIns="91425" spcFirstLastPara="1" rIns="91425" wrap="square" tIns="27425">
            <a:noAutofit/>
          </a:bodyPr>
          <a:lstStyle/>
          <a:p>
            <a:pPr indent="0" lvl="0" marL="0" marR="0" rtl="0" algn="ctr">
              <a:spcBef>
                <a:spcPts val="0"/>
              </a:spcBef>
              <a:spcAft>
                <a:spcPts val="0"/>
              </a:spcAft>
              <a:buNone/>
            </a:pPr>
            <a:r>
              <a:rPr b="1" lang="en-US" sz="2400">
                <a:solidFill>
                  <a:schemeClr val="lt1"/>
                </a:solidFill>
                <a:latin typeface="Arial"/>
                <a:ea typeface="Arial"/>
                <a:cs typeface="Arial"/>
                <a:sym typeface="Arial"/>
              </a:rPr>
              <a:t>True</a:t>
            </a:r>
            <a:endParaRPr/>
          </a:p>
        </p:txBody>
      </p:sp>
      <p:sp>
        <p:nvSpPr>
          <p:cNvPr id="261" name="Google Shape;261;p18"/>
          <p:cNvSpPr/>
          <p:nvPr/>
        </p:nvSpPr>
        <p:spPr>
          <a:xfrm>
            <a:off x="7391400" y="5181600"/>
            <a:ext cx="1143000" cy="533400"/>
          </a:xfrm>
          <a:prstGeom prst="bevel">
            <a:avLst>
              <a:gd fmla="val 12500" name="adj"/>
            </a:avLst>
          </a:prstGeom>
          <a:solidFill>
            <a:srgbClr val="800000"/>
          </a:solidFill>
          <a:ln cap="sq" cmpd="sng" w="12700">
            <a:solidFill>
              <a:schemeClr val="dk1"/>
            </a:solidFill>
            <a:prstDash val="solid"/>
            <a:miter lim="800000"/>
            <a:headEnd len="sm" w="sm" type="none"/>
            <a:tailEnd len="sm" w="sm" type="none"/>
          </a:ln>
        </p:spPr>
        <p:txBody>
          <a:bodyPr anchorCtr="0" anchor="ctr" bIns="45700" lIns="91425" spcFirstLastPara="1" rIns="91425" wrap="square" tIns="27425">
            <a:noAutofit/>
          </a:bodyPr>
          <a:lstStyle/>
          <a:p>
            <a:pPr indent="0" lvl="0" marL="0" marR="0" rtl="0" algn="ctr">
              <a:spcBef>
                <a:spcPts val="0"/>
              </a:spcBef>
              <a:spcAft>
                <a:spcPts val="0"/>
              </a:spcAft>
              <a:buClr>
                <a:schemeClr val="lt1"/>
              </a:buClr>
              <a:buSzPts val="2400"/>
              <a:buFont typeface="Noto Sans Symbols"/>
              <a:buNone/>
            </a:pPr>
            <a:r>
              <a:rPr b="1" lang="en-US" sz="2400">
                <a:solidFill>
                  <a:schemeClr val="lt1"/>
                </a:solidFill>
                <a:latin typeface="Arial"/>
                <a:ea typeface="Arial"/>
                <a:cs typeface="Arial"/>
                <a:sym typeface="Arial"/>
              </a:rPr>
              <a:t>False</a:t>
            </a:r>
            <a:endParaRPr/>
          </a:p>
        </p:txBody>
      </p:sp>
      <p:sp>
        <p:nvSpPr>
          <p:cNvPr id="262" name="Google Shape;262;p18"/>
          <p:cNvSpPr/>
          <p:nvPr/>
        </p:nvSpPr>
        <p:spPr>
          <a:xfrm>
            <a:off x="7391400" y="3810000"/>
            <a:ext cx="1143000" cy="533400"/>
          </a:xfrm>
          <a:prstGeom prst="bevel">
            <a:avLst>
              <a:gd fmla="val 12500" name="adj"/>
            </a:avLst>
          </a:prstGeom>
          <a:solidFill>
            <a:srgbClr val="000066"/>
          </a:solidFill>
          <a:ln cap="sq" cmpd="sng" w="12700">
            <a:solidFill>
              <a:schemeClr val="dk1"/>
            </a:solidFill>
            <a:prstDash val="solid"/>
            <a:miter lim="800000"/>
            <a:headEnd len="sm" w="sm" type="none"/>
            <a:tailEnd len="sm" w="sm" type="none"/>
          </a:ln>
        </p:spPr>
        <p:txBody>
          <a:bodyPr anchorCtr="0" anchor="ctr" bIns="45700" lIns="91425" spcFirstLastPara="1" rIns="91425" wrap="square" tIns="27425">
            <a:noAutofit/>
          </a:bodyPr>
          <a:lstStyle/>
          <a:p>
            <a:pPr indent="0" lvl="0" marL="0" marR="0" rtl="0" algn="ctr">
              <a:spcBef>
                <a:spcPts val="0"/>
              </a:spcBef>
              <a:spcAft>
                <a:spcPts val="0"/>
              </a:spcAft>
              <a:buClr>
                <a:schemeClr val="lt1"/>
              </a:buClr>
              <a:buSzPts val="2400"/>
              <a:buFont typeface="Noto Sans Symbols"/>
              <a:buNone/>
            </a:pPr>
            <a:r>
              <a:rPr b="1" lang="en-US" sz="2400">
                <a:solidFill>
                  <a:schemeClr val="lt1"/>
                </a:solidFill>
                <a:latin typeface="Arial"/>
                <a:ea typeface="Arial"/>
                <a:cs typeface="Arial"/>
                <a:sym typeface="Arial"/>
              </a:rPr>
              <a:t>True</a:t>
            </a:r>
            <a:endParaRPr/>
          </a:p>
        </p:txBody>
      </p:sp>
      <p:sp>
        <p:nvSpPr>
          <p:cNvPr id="263" name="Google Shape;263;p18"/>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2 </a:t>
            </a:r>
            <a:endParaRPr b="1" i="1" sz="1600">
              <a:solidFill>
                <a:schemeClr val="lt2"/>
              </a:solidFill>
              <a:latin typeface="Arial"/>
              <a:ea typeface="Arial"/>
              <a:cs typeface="Arial"/>
              <a:sym typeface="Arial"/>
            </a:endParaRPr>
          </a:p>
        </p:txBody>
      </p:sp>
      <p:pic>
        <p:nvPicPr>
          <p:cNvPr id="264" name="Google Shape;264;p18"/>
          <p:cNvPicPr preferRelativeResize="0"/>
          <p:nvPr/>
        </p:nvPicPr>
        <p:blipFill rotWithShape="1">
          <a:blip r:embed="rId3">
            <a:alphaModFix/>
          </a:blip>
          <a:srcRect b="0" l="0" r="0" t="0"/>
          <a:stretch/>
        </p:blipFill>
        <p:spPr>
          <a:xfrm>
            <a:off x="2493472" y="571501"/>
            <a:ext cx="409385" cy="344759"/>
          </a:xfrm>
          <a:prstGeom prst="rect">
            <a:avLst/>
          </a:prstGeom>
          <a:noFill/>
          <a:ln>
            <a:noFill/>
          </a:ln>
        </p:spPr>
      </p:pic>
      <p:sp>
        <p:nvSpPr>
          <p:cNvPr id="265" name="Google Shape;265;p18"/>
          <p:cNvSpPr txBox="1"/>
          <p:nvPr/>
        </p:nvSpPr>
        <p:spPr>
          <a:xfrm>
            <a:off x="0" y="428624"/>
            <a:ext cx="3276600" cy="691039"/>
          </a:xfrm>
          <a:prstGeom prst="rect">
            <a:avLst/>
          </a:prstGeom>
          <a:solidFill>
            <a:srgbClr val="D8D8D8"/>
          </a:solidFill>
          <a:ln>
            <a:noFill/>
          </a:ln>
        </p:spPr>
        <p:txBody>
          <a:bodyPr anchorCtr="0" anchor="t" bIns="45700" lIns="0" spcFirstLastPara="1" rIns="91425" wrap="square" tIns="0">
            <a:noAutofit/>
          </a:bodyPr>
          <a:lstStyle/>
          <a:p>
            <a:pPr indent="0" lvl="0" marL="519113" marR="0" rtl="0" algn="l">
              <a:spcBef>
                <a:spcPts val="0"/>
              </a:spcBef>
              <a:spcAft>
                <a:spcPts val="0"/>
              </a:spcAft>
              <a:buNone/>
            </a:pPr>
            <a:r>
              <a:rPr b="1" lang="en-US" sz="4200">
                <a:solidFill>
                  <a:srgbClr val="FF9900"/>
                </a:solidFill>
                <a:latin typeface="Arial"/>
                <a:ea typeface="Arial"/>
                <a:cs typeface="Arial"/>
                <a:sym typeface="Arial"/>
              </a:rPr>
              <a:t>DO IT!</a:t>
            </a:r>
            <a:endParaRPr b="1" sz="4200">
              <a:solidFill>
                <a:srgbClr val="FF9900"/>
              </a:solidFill>
              <a:latin typeface="Arial"/>
              <a:ea typeface="Arial"/>
              <a:cs typeface="Arial"/>
              <a:sym typeface="Arial"/>
            </a:endParaRPr>
          </a:p>
        </p:txBody>
      </p:sp>
      <p:sp>
        <p:nvSpPr>
          <p:cNvPr id="266" name="Google Shape;266;p18"/>
          <p:cNvSpPr/>
          <p:nvPr/>
        </p:nvSpPr>
        <p:spPr>
          <a:xfrm>
            <a:off x="2286000" y="428626"/>
            <a:ext cx="762000" cy="691038"/>
          </a:xfrm>
          <a:prstGeom prst="ellipse">
            <a:avLst/>
          </a:prstGeom>
          <a:solidFill>
            <a:schemeClr val="accent3"/>
          </a:solidFill>
          <a:ln cap="sq" cmpd="sng" w="12700">
            <a:solidFill>
              <a:srgbClr val="7F7F7F"/>
            </a:solidFill>
            <a:prstDash val="dash"/>
            <a:round/>
            <a:headEnd len="sm" w="sm" type="none"/>
            <a:tailEnd len="sm" w="sm" type="none"/>
          </a:ln>
        </p:spPr>
        <p:txBody>
          <a:bodyPr anchorCtr="0" anchor="ctr" bIns="45700" lIns="91425" spcFirstLastPara="1" rIns="91425" wrap="square" tIns="0">
            <a:noAutofit/>
          </a:bodyPr>
          <a:lstStyle/>
          <a:p>
            <a:pPr indent="0" lvl="0" marL="0" marR="0" rtl="0" algn="ctr">
              <a:lnSpc>
                <a:spcPct val="100000"/>
              </a:lnSpc>
              <a:spcBef>
                <a:spcPts val="0"/>
              </a:spcBef>
              <a:spcAft>
                <a:spcPts val="0"/>
              </a:spcAft>
              <a:buClr>
                <a:srgbClr val="FF9900"/>
              </a:buClr>
              <a:buSzPts val="3200"/>
              <a:buFont typeface="Arial"/>
              <a:buNone/>
            </a:pPr>
            <a:r>
              <a:rPr b="1" i="0" lang="en-US" sz="3200" u="none" cap="none" strike="noStrike">
                <a:solidFill>
                  <a:srgbClr val="FF9900"/>
                </a:solidFill>
                <a:latin typeface="Arial"/>
                <a:ea typeface="Arial"/>
                <a:cs typeface="Arial"/>
                <a:sym typeface="Arial"/>
              </a:rPr>
              <a:t>2</a:t>
            </a:r>
            <a:endParaRPr/>
          </a:p>
        </p:txBody>
      </p:sp>
      <p:sp>
        <p:nvSpPr>
          <p:cNvPr id="267" name="Google Shape;267;p18"/>
          <p:cNvSpPr txBox="1"/>
          <p:nvPr/>
        </p:nvSpPr>
        <p:spPr>
          <a:xfrm>
            <a:off x="3276600" y="501929"/>
            <a:ext cx="5867400" cy="566928"/>
          </a:xfrm>
          <a:prstGeom prst="rect">
            <a:avLst/>
          </a:prstGeom>
          <a:solidFill>
            <a:srgbClr val="0027A4"/>
          </a:solidFill>
          <a:ln>
            <a:noFill/>
          </a:ln>
        </p:spPr>
        <p:txBody>
          <a:bodyPr anchorCtr="0" anchor="t" bIns="43225" lIns="86475" spcFirstLastPara="1" rIns="86475" wrap="square" tIns="43225">
            <a:noAutofit/>
          </a:bodyPr>
          <a:lstStyle/>
          <a:p>
            <a:pPr indent="0" lvl="0" marL="111120" marR="0" rtl="0" algn="l">
              <a:spcBef>
                <a:spcPts val="0"/>
              </a:spcBef>
              <a:spcAft>
                <a:spcPts val="0"/>
              </a:spcAft>
              <a:buNone/>
            </a:pPr>
            <a:r>
              <a:rPr b="1" lang="en-US" sz="2800">
                <a:solidFill>
                  <a:schemeClr val="lt1"/>
                </a:solidFill>
                <a:latin typeface="Arial"/>
                <a:ea typeface="Arial"/>
                <a:cs typeface="Arial"/>
                <a:sym typeface="Arial"/>
              </a:rPr>
              <a:t>Building Blocks of Accounting</a:t>
            </a:r>
            <a:endParaRPr b="1" sz="2800">
              <a:solidFill>
                <a:schemeClr val="lt1"/>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0"/>
                                        </p:tgtEl>
                                        <p:attrNameLst>
                                          <p:attrName>style.visibility</p:attrName>
                                        </p:attrNameLst>
                                      </p:cBhvr>
                                      <p:to>
                                        <p:strVal val="visible"/>
                                      </p:to>
                                    </p:set>
                                    <p:animEffect filter="fade" transition="in">
                                      <p:cBhvr>
                                        <p:cTn dur="500"/>
                                        <p:tgtEl>
                                          <p:spTgt spid="2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gtEl>
                                        <p:attrNameLst>
                                          <p:attrName>style.visibility</p:attrName>
                                        </p:attrNameLst>
                                      </p:cBhvr>
                                      <p:to>
                                        <p:strVal val="visible"/>
                                      </p:to>
                                    </p:set>
                                    <p:animEffect filter="fade" transition="in">
                                      <p:cBhvr>
                                        <p:cTn dur="500"/>
                                        <p:tgtEl>
                                          <p:spTgt spid="2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gtEl>
                                        <p:attrNameLst>
                                          <p:attrName>style.visibility</p:attrName>
                                        </p:attrNameLst>
                                      </p:cBhvr>
                                      <p:to>
                                        <p:strVal val="visible"/>
                                      </p:to>
                                    </p:set>
                                    <p:animEffect filter="fade" transition="in">
                                      <p:cBhvr>
                                        <p:cTn dur="500"/>
                                        <p:tgtEl>
                                          <p:spTgt spid="2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9"/>
          <p:cNvSpPr/>
          <p:nvPr/>
        </p:nvSpPr>
        <p:spPr>
          <a:xfrm>
            <a:off x="609600" y="2346325"/>
            <a:ext cx="6324600" cy="2124428"/>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l">
              <a:lnSpc>
                <a:spcPct val="125000"/>
              </a:lnSpc>
              <a:spcBef>
                <a:spcPts val="0"/>
              </a:spcBef>
              <a:spcAft>
                <a:spcPts val="0"/>
              </a:spcAft>
              <a:buClr>
                <a:schemeClr val="dk1"/>
              </a:buClr>
              <a:buSzPts val="1900"/>
              <a:buFont typeface="Comic Sans MS"/>
              <a:buAutoNum type="arabicPeriod" startAt="4"/>
            </a:pPr>
            <a:r>
              <a:rPr b="0" lang="en-US" sz="1900">
                <a:solidFill>
                  <a:schemeClr val="dk1"/>
                </a:solidFill>
                <a:latin typeface="Arial"/>
                <a:ea typeface="Arial"/>
                <a:cs typeface="Arial"/>
                <a:sym typeface="Arial"/>
              </a:rPr>
              <a:t>Relevance means that financial information matches what really happened; the information is factual.</a:t>
            </a:r>
            <a:endParaRPr/>
          </a:p>
          <a:p>
            <a:pPr indent="-457200" lvl="0" marL="457200" marR="0" rtl="0" algn="l">
              <a:lnSpc>
                <a:spcPct val="125000"/>
              </a:lnSpc>
              <a:spcBef>
                <a:spcPts val="1330"/>
              </a:spcBef>
              <a:spcAft>
                <a:spcPts val="0"/>
              </a:spcAft>
              <a:buClr>
                <a:schemeClr val="dk1"/>
              </a:buClr>
              <a:buSzPts val="1900"/>
              <a:buFont typeface="Comic Sans MS"/>
              <a:buAutoNum type="arabicPeriod" startAt="4"/>
            </a:pPr>
            <a:r>
              <a:rPr b="0" lang="en-US" sz="1900">
                <a:solidFill>
                  <a:schemeClr val="dk1"/>
                </a:solidFill>
                <a:latin typeface="Arial"/>
                <a:ea typeface="Arial"/>
                <a:cs typeface="Arial"/>
                <a:sym typeface="Arial"/>
              </a:rPr>
              <a:t>A business owner’s personal expenses must be separated from expenses of the business to comply with accounting’s economic entity assumption.</a:t>
            </a:r>
            <a:endParaRPr b="0" sz="1900">
              <a:solidFill>
                <a:schemeClr val="dk1"/>
              </a:solidFill>
              <a:latin typeface="Arial"/>
              <a:ea typeface="Arial"/>
              <a:cs typeface="Arial"/>
              <a:sym typeface="Arial"/>
            </a:endParaRPr>
          </a:p>
        </p:txBody>
      </p:sp>
      <p:sp>
        <p:nvSpPr>
          <p:cNvPr id="273" name="Google Shape;273;p19"/>
          <p:cNvSpPr/>
          <p:nvPr/>
        </p:nvSpPr>
        <p:spPr>
          <a:xfrm>
            <a:off x="7391400" y="2514600"/>
            <a:ext cx="1143000" cy="533400"/>
          </a:xfrm>
          <a:prstGeom prst="bevel">
            <a:avLst>
              <a:gd fmla="val 12500" name="adj"/>
            </a:avLst>
          </a:prstGeom>
          <a:solidFill>
            <a:srgbClr val="800000"/>
          </a:solidFill>
          <a:ln cap="sq" cmpd="sng" w="12700">
            <a:solidFill>
              <a:schemeClr val="dk1"/>
            </a:solidFill>
            <a:prstDash val="solid"/>
            <a:miter lim="800000"/>
            <a:headEnd len="sm" w="sm" type="none"/>
            <a:tailEnd len="sm" w="sm" type="none"/>
          </a:ln>
        </p:spPr>
        <p:txBody>
          <a:bodyPr anchorCtr="0" anchor="ctr" bIns="45700" lIns="91425" spcFirstLastPara="1" rIns="91425" wrap="square" tIns="27425">
            <a:noAutofit/>
          </a:bodyPr>
          <a:lstStyle/>
          <a:p>
            <a:pPr indent="0" lvl="0" marL="0" marR="0" rtl="0" algn="ctr">
              <a:spcBef>
                <a:spcPts val="0"/>
              </a:spcBef>
              <a:spcAft>
                <a:spcPts val="0"/>
              </a:spcAft>
              <a:buNone/>
            </a:pPr>
            <a:r>
              <a:rPr b="1" lang="en-US" sz="2400">
                <a:solidFill>
                  <a:schemeClr val="lt1"/>
                </a:solidFill>
                <a:latin typeface="Arial"/>
                <a:ea typeface="Arial"/>
                <a:cs typeface="Arial"/>
                <a:sym typeface="Arial"/>
              </a:rPr>
              <a:t>False</a:t>
            </a:r>
            <a:endParaRPr/>
          </a:p>
        </p:txBody>
      </p:sp>
      <p:sp>
        <p:nvSpPr>
          <p:cNvPr id="274" name="Google Shape;274;p19"/>
          <p:cNvSpPr/>
          <p:nvPr/>
        </p:nvSpPr>
        <p:spPr>
          <a:xfrm>
            <a:off x="7391400" y="3505200"/>
            <a:ext cx="1143000" cy="533400"/>
          </a:xfrm>
          <a:prstGeom prst="bevel">
            <a:avLst>
              <a:gd fmla="val 12500" name="adj"/>
            </a:avLst>
          </a:prstGeom>
          <a:solidFill>
            <a:srgbClr val="000066"/>
          </a:solidFill>
          <a:ln cap="sq" cmpd="sng" w="12700">
            <a:solidFill>
              <a:schemeClr val="dk1"/>
            </a:solidFill>
            <a:prstDash val="solid"/>
            <a:miter lim="800000"/>
            <a:headEnd len="sm" w="sm" type="none"/>
            <a:tailEnd len="sm" w="sm" type="none"/>
          </a:ln>
        </p:spPr>
        <p:txBody>
          <a:bodyPr anchorCtr="0" anchor="ctr" bIns="45700" lIns="91425" spcFirstLastPara="1" rIns="91425" wrap="square" tIns="27425">
            <a:noAutofit/>
          </a:bodyPr>
          <a:lstStyle/>
          <a:p>
            <a:pPr indent="0" lvl="0" marL="0" marR="0" rtl="0" algn="ctr">
              <a:spcBef>
                <a:spcPts val="0"/>
              </a:spcBef>
              <a:spcAft>
                <a:spcPts val="0"/>
              </a:spcAft>
              <a:buNone/>
            </a:pPr>
            <a:r>
              <a:rPr b="1" lang="en-US" sz="2400">
                <a:solidFill>
                  <a:schemeClr val="lt1"/>
                </a:solidFill>
                <a:latin typeface="Arial"/>
                <a:ea typeface="Arial"/>
                <a:cs typeface="Arial"/>
                <a:sym typeface="Arial"/>
              </a:rPr>
              <a:t>True</a:t>
            </a:r>
            <a:endParaRPr/>
          </a:p>
        </p:txBody>
      </p:sp>
      <p:sp>
        <p:nvSpPr>
          <p:cNvPr id="275" name="Google Shape;275;p19"/>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2 </a:t>
            </a:r>
            <a:endParaRPr b="1" i="1" sz="1600">
              <a:solidFill>
                <a:schemeClr val="lt2"/>
              </a:solidFill>
              <a:latin typeface="Arial"/>
              <a:ea typeface="Arial"/>
              <a:cs typeface="Arial"/>
              <a:sym typeface="Arial"/>
            </a:endParaRPr>
          </a:p>
        </p:txBody>
      </p:sp>
      <p:pic>
        <p:nvPicPr>
          <p:cNvPr id="276" name="Google Shape;276;p19"/>
          <p:cNvPicPr preferRelativeResize="0"/>
          <p:nvPr/>
        </p:nvPicPr>
        <p:blipFill rotWithShape="1">
          <a:blip r:embed="rId3">
            <a:alphaModFix/>
          </a:blip>
          <a:srcRect b="0" l="0" r="0" t="0"/>
          <a:stretch/>
        </p:blipFill>
        <p:spPr>
          <a:xfrm>
            <a:off x="2493472" y="571501"/>
            <a:ext cx="409385" cy="344759"/>
          </a:xfrm>
          <a:prstGeom prst="rect">
            <a:avLst/>
          </a:prstGeom>
          <a:noFill/>
          <a:ln>
            <a:noFill/>
          </a:ln>
        </p:spPr>
      </p:pic>
      <p:sp>
        <p:nvSpPr>
          <p:cNvPr id="277" name="Google Shape;277;p19"/>
          <p:cNvSpPr/>
          <p:nvPr/>
        </p:nvSpPr>
        <p:spPr>
          <a:xfrm>
            <a:off x="609600" y="1393825"/>
            <a:ext cx="7924800" cy="832279"/>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chemeClr val="dk1"/>
              </a:buClr>
              <a:buSzPts val="2100"/>
              <a:buFont typeface="Noto Sans Symbols"/>
              <a:buNone/>
            </a:pPr>
            <a:r>
              <a:rPr b="1" lang="en-US" sz="2100">
                <a:solidFill>
                  <a:schemeClr val="dk1"/>
                </a:solidFill>
                <a:latin typeface="Arial"/>
                <a:ea typeface="Arial"/>
                <a:cs typeface="Arial"/>
                <a:sym typeface="Arial"/>
              </a:rPr>
              <a:t>Indicate whether each of the following statements presented below is </a:t>
            </a:r>
            <a:r>
              <a:rPr b="1" lang="en-US" sz="2100">
                <a:solidFill>
                  <a:schemeClr val="hlink"/>
                </a:solidFill>
                <a:latin typeface="Arial"/>
                <a:ea typeface="Arial"/>
                <a:cs typeface="Arial"/>
                <a:sym typeface="Arial"/>
              </a:rPr>
              <a:t>true</a:t>
            </a:r>
            <a:r>
              <a:rPr b="1" lang="en-US" sz="2100">
                <a:solidFill>
                  <a:schemeClr val="dk1"/>
                </a:solidFill>
                <a:latin typeface="Arial"/>
                <a:ea typeface="Arial"/>
                <a:cs typeface="Arial"/>
                <a:sym typeface="Arial"/>
              </a:rPr>
              <a:t> or </a:t>
            </a:r>
            <a:r>
              <a:rPr b="1" lang="en-US" sz="2100">
                <a:solidFill>
                  <a:srgbClr val="800000"/>
                </a:solidFill>
                <a:latin typeface="Arial"/>
                <a:ea typeface="Arial"/>
                <a:cs typeface="Arial"/>
                <a:sym typeface="Arial"/>
              </a:rPr>
              <a:t>false</a:t>
            </a:r>
            <a:r>
              <a:rPr b="1" lang="en-US" sz="2100">
                <a:solidFill>
                  <a:schemeClr val="dk1"/>
                </a:solidFill>
                <a:latin typeface="Arial"/>
                <a:ea typeface="Arial"/>
                <a:cs typeface="Arial"/>
                <a:sym typeface="Arial"/>
              </a:rPr>
              <a:t>.</a:t>
            </a:r>
            <a:endParaRPr/>
          </a:p>
        </p:txBody>
      </p:sp>
      <p:sp>
        <p:nvSpPr>
          <p:cNvPr id="278" name="Google Shape;278;p19"/>
          <p:cNvSpPr txBox="1"/>
          <p:nvPr/>
        </p:nvSpPr>
        <p:spPr>
          <a:xfrm>
            <a:off x="0" y="428624"/>
            <a:ext cx="3276600" cy="691039"/>
          </a:xfrm>
          <a:prstGeom prst="rect">
            <a:avLst/>
          </a:prstGeom>
          <a:solidFill>
            <a:srgbClr val="D8D8D8"/>
          </a:solidFill>
          <a:ln>
            <a:noFill/>
          </a:ln>
        </p:spPr>
        <p:txBody>
          <a:bodyPr anchorCtr="0" anchor="t" bIns="45700" lIns="0" spcFirstLastPara="1" rIns="91425" wrap="square" tIns="0">
            <a:noAutofit/>
          </a:bodyPr>
          <a:lstStyle/>
          <a:p>
            <a:pPr indent="0" lvl="0" marL="519113" marR="0" rtl="0" algn="l">
              <a:spcBef>
                <a:spcPts val="0"/>
              </a:spcBef>
              <a:spcAft>
                <a:spcPts val="0"/>
              </a:spcAft>
              <a:buNone/>
            </a:pPr>
            <a:r>
              <a:rPr b="1" lang="en-US" sz="4200">
                <a:solidFill>
                  <a:srgbClr val="FF9900"/>
                </a:solidFill>
                <a:latin typeface="Arial"/>
                <a:ea typeface="Arial"/>
                <a:cs typeface="Arial"/>
                <a:sym typeface="Arial"/>
              </a:rPr>
              <a:t>DO IT!</a:t>
            </a:r>
            <a:endParaRPr b="1" sz="4200">
              <a:solidFill>
                <a:srgbClr val="FF9900"/>
              </a:solidFill>
              <a:latin typeface="Arial"/>
              <a:ea typeface="Arial"/>
              <a:cs typeface="Arial"/>
              <a:sym typeface="Arial"/>
            </a:endParaRPr>
          </a:p>
        </p:txBody>
      </p:sp>
      <p:sp>
        <p:nvSpPr>
          <p:cNvPr id="279" name="Google Shape;279;p19"/>
          <p:cNvSpPr/>
          <p:nvPr/>
        </p:nvSpPr>
        <p:spPr>
          <a:xfrm>
            <a:off x="2286000" y="428626"/>
            <a:ext cx="762000" cy="691038"/>
          </a:xfrm>
          <a:prstGeom prst="ellipse">
            <a:avLst/>
          </a:prstGeom>
          <a:solidFill>
            <a:schemeClr val="accent3"/>
          </a:solidFill>
          <a:ln cap="sq" cmpd="sng" w="12700">
            <a:solidFill>
              <a:srgbClr val="7F7F7F"/>
            </a:solidFill>
            <a:prstDash val="dash"/>
            <a:round/>
            <a:headEnd len="sm" w="sm" type="none"/>
            <a:tailEnd len="sm" w="sm" type="none"/>
          </a:ln>
        </p:spPr>
        <p:txBody>
          <a:bodyPr anchorCtr="0" anchor="ctr" bIns="45700" lIns="91425" spcFirstLastPara="1" rIns="91425" wrap="square" tIns="0">
            <a:noAutofit/>
          </a:bodyPr>
          <a:lstStyle/>
          <a:p>
            <a:pPr indent="0" lvl="0" marL="0" marR="0" rtl="0" algn="ctr">
              <a:lnSpc>
                <a:spcPct val="100000"/>
              </a:lnSpc>
              <a:spcBef>
                <a:spcPts val="0"/>
              </a:spcBef>
              <a:spcAft>
                <a:spcPts val="0"/>
              </a:spcAft>
              <a:buClr>
                <a:srgbClr val="FF9900"/>
              </a:buClr>
              <a:buSzPts val="3200"/>
              <a:buFont typeface="Arial"/>
              <a:buNone/>
            </a:pPr>
            <a:r>
              <a:rPr b="1" i="0" lang="en-US" sz="3200" u="none" cap="none" strike="noStrike">
                <a:solidFill>
                  <a:srgbClr val="FF9900"/>
                </a:solidFill>
                <a:latin typeface="Arial"/>
                <a:ea typeface="Arial"/>
                <a:cs typeface="Arial"/>
                <a:sym typeface="Arial"/>
              </a:rPr>
              <a:t>2</a:t>
            </a:r>
            <a:endParaRPr/>
          </a:p>
        </p:txBody>
      </p:sp>
      <p:sp>
        <p:nvSpPr>
          <p:cNvPr id="280" name="Google Shape;280;p19"/>
          <p:cNvSpPr txBox="1"/>
          <p:nvPr/>
        </p:nvSpPr>
        <p:spPr>
          <a:xfrm>
            <a:off x="3276600" y="501929"/>
            <a:ext cx="5867400" cy="566928"/>
          </a:xfrm>
          <a:prstGeom prst="rect">
            <a:avLst/>
          </a:prstGeom>
          <a:solidFill>
            <a:srgbClr val="0027A4"/>
          </a:solidFill>
          <a:ln>
            <a:noFill/>
          </a:ln>
        </p:spPr>
        <p:txBody>
          <a:bodyPr anchorCtr="0" anchor="t" bIns="43225" lIns="86475" spcFirstLastPara="1" rIns="86475" wrap="square" tIns="43225">
            <a:noAutofit/>
          </a:bodyPr>
          <a:lstStyle/>
          <a:p>
            <a:pPr indent="0" lvl="0" marL="111120" marR="0" rtl="0" algn="l">
              <a:spcBef>
                <a:spcPts val="0"/>
              </a:spcBef>
              <a:spcAft>
                <a:spcPts val="0"/>
              </a:spcAft>
              <a:buNone/>
            </a:pPr>
            <a:r>
              <a:rPr b="1" lang="en-US" sz="2800">
                <a:solidFill>
                  <a:schemeClr val="lt1"/>
                </a:solidFill>
                <a:latin typeface="Arial"/>
                <a:ea typeface="Arial"/>
                <a:cs typeface="Arial"/>
                <a:sym typeface="Arial"/>
              </a:rPr>
              <a:t>Building Blocks of Accounting</a:t>
            </a:r>
            <a:endParaRPr b="1" sz="2800">
              <a:solidFill>
                <a:schemeClr val="lt1"/>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gtEl>
                                        <p:attrNameLst>
                                          <p:attrName>style.visibility</p:attrName>
                                        </p:attrNameLst>
                                      </p:cBhvr>
                                      <p:to>
                                        <p:strVal val="visible"/>
                                      </p:to>
                                    </p:set>
                                    <p:animEffect filter="fade" transition="in">
                                      <p:cBhvr>
                                        <p:cTn dur="500"/>
                                        <p:tgtEl>
                                          <p:spTgt spid="2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gtEl>
                                        <p:attrNameLst>
                                          <p:attrName>style.visibility</p:attrName>
                                        </p:attrNameLst>
                                      </p:cBhvr>
                                      <p:to>
                                        <p:strVal val="visible"/>
                                      </p:to>
                                    </p:set>
                                    <p:animEffect filter="fade" transition="in">
                                      <p:cBhvr>
                                        <p:cTn dur="500"/>
                                        <p:tgtEl>
                                          <p:spTgt spid="2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0"/>
          <p:cNvSpPr/>
          <p:nvPr/>
        </p:nvSpPr>
        <p:spPr>
          <a:xfrm>
            <a:off x="685800" y="1600200"/>
            <a:ext cx="2057400" cy="914400"/>
          </a:xfrm>
          <a:prstGeom prst="rect">
            <a:avLst/>
          </a:prstGeom>
          <a:solidFill>
            <a:srgbClr val="CBDCFF"/>
          </a:solidFill>
          <a:ln cap="flat" cmpd="sng" w="28575">
            <a:solidFill>
              <a:schemeClr val="dk1"/>
            </a:solidFill>
            <a:prstDash val="solid"/>
            <a:miter lim="800000"/>
            <a:headEnd len="sm" w="sm" type="none"/>
            <a:tailEnd len="sm" w="sm" type="none"/>
          </a:ln>
          <a:effectLst>
            <a:outerShdw rotWithShape="0" algn="ctr" dir="2700000" dist="35921">
              <a:schemeClr val="lt2"/>
            </a:outerShdw>
          </a:effectLst>
        </p:spPr>
        <p:txBody>
          <a:bodyPr anchorCtr="0" anchor="ctr" bIns="64000" lIns="182550" spcFirstLastPara="1" rIns="182550" wrap="square" tIns="0">
            <a:noAutofit/>
          </a:bodyPr>
          <a:lstStyle/>
          <a:p>
            <a:pPr indent="0" lvl="0" marL="0" marR="0" rtl="0" algn="ctr">
              <a:spcBef>
                <a:spcPts val="0"/>
              </a:spcBef>
              <a:spcAft>
                <a:spcPts val="0"/>
              </a:spcAft>
              <a:buClr>
                <a:schemeClr val="accent2"/>
              </a:buClr>
              <a:buSzPts val="1800"/>
              <a:buFont typeface="Noto Sans Symbols"/>
              <a:buNone/>
            </a:pPr>
            <a:r>
              <a:rPr b="1" lang="en-US" sz="2400">
                <a:solidFill>
                  <a:schemeClr val="dk1"/>
                </a:solidFill>
                <a:latin typeface="Arial"/>
                <a:ea typeface="Arial"/>
                <a:cs typeface="Arial"/>
                <a:sym typeface="Arial"/>
              </a:rPr>
              <a:t>Assets</a:t>
            </a:r>
            <a:endParaRPr/>
          </a:p>
        </p:txBody>
      </p:sp>
      <p:sp>
        <p:nvSpPr>
          <p:cNvPr id="286" name="Google Shape;286;p20"/>
          <p:cNvSpPr txBox="1"/>
          <p:nvPr/>
        </p:nvSpPr>
        <p:spPr>
          <a:xfrm>
            <a:off x="3429000" y="1600200"/>
            <a:ext cx="2057400" cy="914400"/>
          </a:xfrm>
          <a:prstGeom prst="rect">
            <a:avLst/>
          </a:prstGeom>
          <a:solidFill>
            <a:srgbClr val="CBDCFF"/>
          </a:solidFill>
          <a:ln cap="flat" cmpd="sng" w="28575">
            <a:solidFill>
              <a:schemeClr val="dk1"/>
            </a:solidFill>
            <a:prstDash val="solid"/>
            <a:miter lim="800000"/>
            <a:headEnd len="sm" w="sm" type="none"/>
            <a:tailEnd len="sm" w="sm" type="none"/>
          </a:ln>
          <a:effectLst>
            <a:outerShdw rotWithShape="0" algn="ctr" dir="2700000" dist="35921">
              <a:schemeClr val="lt2"/>
            </a:outerShdw>
          </a:effectLst>
        </p:spPr>
        <p:txBody>
          <a:bodyPr anchorCtr="0" anchor="ctr" bIns="64000" lIns="182550" spcFirstLastPara="1" rIns="182550" wrap="square" tIns="0">
            <a:noAutofit/>
          </a:bodyPr>
          <a:lstStyle/>
          <a:p>
            <a:pPr indent="0" lvl="0" marL="0" marR="0" rtl="0" algn="ctr">
              <a:spcBef>
                <a:spcPts val="0"/>
              </a:spcBef>
              <a:spcAft>
                <a:spcPts val="0"/>
              </a:spcAft>
              <a:buClr>
                <a:schemeClr val="accent2"/>
              </a:buClr>
              <a:buSzPts val="1800"/>
              <a:buFont typeface="Noto Sans Symbols"/>
              <a:buNone/>
            </a:pPr>
            <a:r>
              <a:rPr b="1" lang="en-US" sz="2400">
                <a:solidFill>
                  <a:schemeClr val="dk1"/>
                </a:solidFill>
                <a:latin typeface="Arial"/>
                <a:ea typeface="Arial"/>
                <a:cs typeface="Arial"/>
                <a:sym typeface="Arial"/>
              </a:rPr>
              <a:t>Liabilities</a:t>
            </a:r>
            <a:endParaRPr/>
          </a:p>
        </p:txBody>
      </p:sp>
      <p:sp>
        <p:nvSpPr>
          <p:cNvPr id="287" name="Google Shape;287;p20"/>
          <p:cNvSpPr txBox="1"/>
          <p:nvPr/>
        </p:nvSpPr>
        <p:spPr>
          <a:xfrm>
            <a:off x="6096000" y="1600200"/>
            <a:ext cx="2438400" cy="914400"/>
          </a:xfrm>
          <a:prstGeom prst="rect">
            <a:avLst/>
          </a:prstGeom>
          <a:solidFill>
            <a:srgbClr val="CBDCFF"/>
          </a:solidFill>
          <a:ln cap="flat" cmpd="sng" w="28575">
            <a:solidFill>
              <a:schemeClr val="dk1"/>
            </a:solidFill>
            <a:prstDash val="solid"/>
            <a:miter lim="800000"/>
            <a:headEnd len="sm" w="sm" type="none"/>
            <a:tailEnd len="sm" w="sm" type="none"/>
          </a:ln>
          <a:effectLst>
            <a:outerShdw rotWithShape="0" algn="ctr" dir="2700000" dist="35921">
              <a:schemeClr val="lt2"/>
            </a:outerShdw>
          </a:effectLst>
        </p:spPr>
        <p:txBody>
          <a:bodyPr anchorCtr="0" anchor="ctr" bIns="64000" lIns="182550" spcFirstLastPara="1" rIns="182550" wrap="square" tIns="0">
            <a:noAutofit/>
          </a:bodyPr>
          <a:lstStyle/>
          <a:p>
            <a:pPr indent="0" lvl="0" marL="0" marR="0" rtl="0" algn="ctr">
              <a:spcBef>
                <a:spcPts val="0"/>
              </a:spcBef>
              <a:spcAft>
                <a:spcPts val="0"/>
              </a:spcAft>
              <a:buClr>
                <a:schemeClr val="accent2"/>
              </a:buClr>
              <a:buSzPts val="1800"/>
              <a:buFont typeface="Noto Sans Symbols"/>
              <a:buNone/>
            </a:pPr>
            <a:r>
              <a:rPr b="1" lang="en-US" sz="2400">
                <a:solidFill>
                  <a:schemeClr val="dk1"/>
                </a:solidFill>
                <a:latin typeface="Arial"/>
                <a:ea typeface="Arial"/>
                <a:cs typeface="Arial"/>
                <a:sym typeface="Arial"/>
              </a:rPr>
              <a:t>Owner's Equity</a:t>
            </a:r>
            <a:endParaRPr b="1" sz="2400">
              <a:solidFill>
                <a:schemeClr val="dk1"/>
              </a:solidFill>
              <a:latin typeface="Arial"/>
              <a:ea typeface="Arial"/>
              <a:cs typeface="Arial"/>
              <a:sym typeface="Arial"/>
            </a:endParaRPr>
          </a:p>
        </p:txBody>
      </p:sp>
      <p:sp>
        <p:nvSpPr>
          <p:cNvPr id="288" name="Google Shape;288;p20"/>
          <p:cNvSpPr/>
          <p:nvPr/>
        </p:nvSpPr>
        <p:spPr>
          <a:xfrm>
            <a:off x="2895600" y="1831975"/>
            <a:ext cx="441325" cy="459100"/>
          </a:xfrm>
          <a:prstGeom prst="rect">
            <a:avLst/>
          </a:prstGeom>
          <a:noFill/>
          <a:ln>
            <a:noFill/>
          </a:ln>
        </p:spPr>
        <p:txBody>
          <a:bodyPr anchorCtr="0" anchor="t" bIns="44450" lIns="90475" spcFirstLastPara="1" rIns="90475" wrap="square" tIns="44450">
            <a:spAutoFit/>
          </a:bodyPr>
          <a:lstStyle/>
          <a:p>
            <a:pPr indent="0" lvl="0" marL="0" marR="0" rtl="0" algn="l">
              <a:spcBef>
                <a:spcPts val="0"/>
              </a:spcBef>
              <a:spcAft>
                <a:spcPts val="0"/>
              </a:spcAft>
              <a:buClr>
                <a:schemeClr val="dk1"/>
              </a:buClr>
              <a:buSzPts val="2400"/>
              <a:buFont typeface="Noto Sans Symbols"/>
              <a:buNone/>
            </a:pPr>
            <a:r>
              <a:rPr b="1" lang="en-US" sz="2400">
                <a:solidFill>
                  <a:schemeClr val="dk1"/>
                </a:solidFill>
                <a:latin typeface="Arial"/>
                <a:ea typeface="Arial"/>
                <a:cs typeface="Arial"/>
                <a:sym typeface="Arial"/>
              </a:rPr>
              <a:t>=</a:t>
            </a:r>
            <a:endParaRPr/>
          </a:p>
        </p:txBody>
      </p:sp>
      <p:sp>
        <p:nvSpPr>
          <p:cNvPr id="289" name="Google Shape;289;p20"/>
          <p:cNvSpPr/>
          <p:nvPr/>
        </p:nvSpPr>
        <p:spPr>
          <a:xfrm>
            <a:off x="5562600" y="1817688"/>
            <a:ext cx="441325" cy="459100"/>
          </a:xfrm>
          <a:prstGeom prst="rect">
            <a:avLst/>
          </a:prstGeom>
          <a:noFill/>
          <a:ln>
            <a:noFill/>
          </a:ln>
        </p:spPr>
        <p:txBody>
          <a:bodyPr anchorCtr="0" anchor="t" bIns="44450" lIns="90475" spcFirstLastPara="1" rIns="90475" wrap="square" tIns="44450">
            <a:spAutoFit/>
          </a:bodyPr>
          <a:lstStyle/>
          <a:p>
            <a:pPr indent="0" lvl="0" marL="0" marR="0" rtl="0" algn="ctr">
              <a:spcBef>
                <a:spcPts val="0"/>
              </a:spcBef>
              <a:spcAft>
                <a:spcPts val="0"/>
              </a:spcAft>
              <a:buClr>
                <a:schemeClr val="dk1"/>
              </a:buClr>
              <a:buSzPts val="2400"/>
              <a:buFont typeface="Noto Sans Symbols"/>
              <a:buNone/>
            </a:pPr>
            <a:r>
              <a:rPr b="1" lang="en-US" sz="2400">
                <a:solidFill>
                  <a:schemeClr val="dk1"/>
                </a:solidFill>
                <a:latin typeface="Arial"/>
                <a:ea typeface="Arial"/>
                <a:cs typeface="Arial"/>
                <a:sym typeface="Arial"/>
              </a:rPr>
              <a:t>+</a:t>
            </a:r>
            <a:endParaRPr/>
          </a:p>
        </p:txBody>
      </p:sp>
      <p:sp>
        <p:nvSpPr>
          <p:cNvPr id="290" name="Google Shape;290;p20"/>
          <p:cNvSpPr txBox="1"/>
          <p:nvPr/>
        </p:nvSpPr>
        <p:spPr>
          <a:xfrm>
            <a:off x="1295400" y="3581400"/>
            <a:ext cx="167640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lt2"/>
              </a:buClr>
              <a:buSzPts val="2400"/>
              <a:buFont typeface="Noto Sans Symbols"/>
              <a:buNone/>
            </a:pPr>
            <a:r>
              <a:t/>
            </a:r>
            <a:endParaRPr b="0" sz="2400">
              <a:solidFill>
                <a:schemeClr val="dk1"/>
              </a:solidFill>
              <a:latin typeface="Arial"/>
              <a:ea typeface="Arial"/>
              <a:cs typeface="Arial"/>
              <a:sym typeface="Arial"/>
            </a:endParaRPr>
          </a:p>
        </p:txBody>
      </p:sp>
      <p:sp>
        <p:nvSpPr>
          <p:cNvPr id="291" name="Google Shape;291;p20"/>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3 </a:t>
            </a:r>
            <a:endParaRPr b="1" i="1" sz="1600">
              <a:solidFill>
                <a:schemeClr val="lt2"/>
              </a:solidFill>
              <a:latin typeface="Arial"/>
              <a:ea typeface="Arial"/>
              <a:cs typeface="Arial"/>
              <a:sym typeface="Arial"/>
            </a:endParaRPr>
          </a:p>
        </p:txBody>
      </p:sp>
      <p:sp>
        <p:nvSpPr>
          <p:cNvPr id="292" name="Google Shape;292;p20"/>
          <p:cNvSpPr/>
          <p:nvPr/>
        </p:nvSpPr>
        <p:spPr>
          <a:xfrm>
            <a:off x="0" y="405765"/>
            <a:ext cx="2540000" cy="677228"/>
          </a:xfrm>
          <a:prstGeom prst="rect">
            <a:avLst/>
          </a:prstGeom>
          <a:solidFill>
            <a:srgbClr val="D8D8D8"/>
          </a:solidFill>
          <a:ln>
            <a:noFill/>
          </a:ln>
        </p:spPr>
        <p:txBody>
          <a:bodyPr anchorCtr="0" anchor="ctr" bIns="43225" lIns="86475" spcFirstLastPara="1" rIns="86475" wrap="square" tIns="43225">
            <a:noAutofit/>
          </a:bodyPr>
          <a:lstStyle/>
          <a:p>
            <a:pPr indent="0" lvl="0" marL="231775" marR="0" rtl="0" algn="l">
              <a:spcBef>
                <a:spcPts val="0"/>
              </a:spcBef>
              <a:spcAft>
                <a:spcPts val="0"/>
              </a:spcAft>
              <a:buNone/>
            </a:pPr>
            <a:r>
              <a:rPr b="1" lang="en-US" sz="1700">
                <a:solidFill>
                  <a:schemeClr val="dk1"/>
                </a:solidFill>
                <a:latin typeface="Arial"/>
                <a:ea typeface="Arial"/>
                <a:cs typeface="Arial"/>
                <a:sym typeface="Arial"/>
              </a:rPr>
              <a:t>LEARNING</a:t>
            </a:r>
            <a:endParaRPr/>
          </a:p>
          <a:p>
            <a:pPr indent="0" lvl="0" marL="231775" marR="0" rtl="0" algn="l">
              <a:spcBef>
                <a:spcPts val="0"/>
              </a:spcBef>
              <a:spcAft>
                <a:spcPts val="0"/>
              </a:spcAft>
              <a:buNone/>
            </a:pPr>
            <a:r>
              <a:rPr b="1" lang="en-US" sz="1700">
                <a:solidFill>
                  <a:schemeClr val="dk1"/>
                </a:solidFill>
                <a:latin typeface="Arial"/>
                <a:ea typeface="Arial"/>
                <a:cs typeface="Arial"/>
                <a:sym typeface="Arial"/>
              </a:rPr>
              <a:t>OBJECTIVE</a:t>
            </a:r>
            <a:endParaRPr/>
          </a:p>
        </p:txBody>
      </p:sp>
      <p:sp>
        <p:nvSpPr>
          <p:cNvPr id="293" name="Google Shape;293;p20"/>
          <p:cNvSpPr/>
          <p:nvPr/>
        </p:nvSpPr>
        <p:spPr>
          <a:xfrm>
            <a:off x="2540000" y="274320"/>
            <a:ext cx="6604000" cy="928688"/>
          </a:xfrm>
          <a:prstGeom prst="rect">
            <a:avLst/>
          </a:prstGeom>
          <a:solidFill>
            <a:srgbClr val="0027A4"/>
          </a:solidFill>
          <a:ln>
            <a:noFill/>
          </a:ln>
        </p:spPr>
        <p:txBody>
          <a:bodyPr anchorCtr="0" anchor="ctr" bIns="43225" lIns="86475" spcFirstLastPara="1" rIns="365750" wrap="square" tIns="34575">
            <a:noAutofit/>
          </a:bodyPr>
          <a:lstStyle/>
          <a:p>
            <a:pPr indent="0" lvl="0" marL="111120" marR="0" rtl="0" algn="l">
              <a:spcBef>
                <a:spcPts val="0"/>
              </a:spcBef>
              <a:spcAft>
                <a:spcPts val="0"/>
              </a:spcAft>
              <a:buNone/>
            </a:pPr>
            <a:r>
              <a:rPr b="1" lang="en-US" sz="2300">
                <a:solidFill>
                  <a:schemeClr val="lt1"/>
                </a:solidFill>
                <a:latin typeface="Arial"/>
                <a:ea typeface="Arial"/>
                <a:cs typeface="Arial"/>
                <a:sym typeface="Arial"/>
              </a:rPr>
              <a:t>State the accounting equation, and define its components.</a:t>
            </a:r>
            <a:endParaRPr/>
          </a:p>
        </p:txBody>
      </p:sp>
      <p:sp>
        <p:nvSpPr>
          <p:cNvPr id="294" name="Google Shape;294;p20"/>
          <p:cNvSpPr/>
          <p:nvPr/>
        </p:nvSpPr>
        <p:spPr>
          <a:xfrm>
            <a:off x="1872343" y="485775"/>
            <a:ext cx="522514" cy="514350"/>
          </a:xfrm>
          <a:prstGeom prst="ellipse">
            <a:avLst/>
          </a:prstGeom>
          <a:solidFill>
            <a:srgbClr val="FF9900"/>
          </a:solidFill>
          <a:ln>
            <a:noFill/>
          </a:ln>
        </p:spPr>
        <p:txBody>
          <a:bodyPr anchorCtr="0" anchor="ctr" bIns="43225" lIns="86475" spcFirstLastPara="1" rIns="86475" wrap="square" tIns="0">
            <a:noAutofit/>
          </a:bodyPr>
          <a:lstStyle/>
          <a:p>
            <a:pPr indent="0" lvl="0" marL="0" marR="0" rtl="0" algn="ctr">
              <a:spcBef>
                <a:spcPts val="0"/>
              </a:spcBef>
              <a:spcAft>
                <a:spcPts val="0"/>
              </a:spcAft>
              <a:buNone/>
            </a:pPr>
            <a:r>
              <a:rPr b="1" lang="en-US" sz="2500">
                <a:solidFill>
                  <a:schemeClr val="lt1"/>
                </a:solidFill>
                <a:latin typeface="Arial"/>
                <a:ea typeface="Arial"/>
                <a:cs typeface="Arial"/>
                <a:sym typeface="Arial"/>
              </a:rPr>
              <a:t>3</a:t>
            </a:r>
            <a:endParaRPr b="1" sz="2500">
              <a:solidFill>
                <a:schemeClr val="lt1"/>
              </a:solidFill>
              <a:latin typeface="Arial"/>
              <a:ea typeface="Arial"/>
              <a:cs typeface="Arial"/>
              <a:sym typeface="Arial"/>
            </a:endParaRPr>
          </a:p>
        </p:txBody>
      </p:sp>
      <p:sp>
        <p:nvSpPr>
          <p:cNvPr id="295" name="Google Shape;295;p20"/>
          <p:cNvSpPr txBox="1"/>
          <p:nvPr/>
        </p:nvSpPr>
        <p:spPr>
          <a:xfrm>
            <a:off x="533400" y="2895600"/>
            <a:ext cx="7772400" cy="506413"/>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Clr>
                <a:srgbClr val="0000BF"/>
              </a:buClr>
              <a:buSzPts val="2800"/>
              <a:buFont typeface="Noto Sans Symbols"/>
              <a:buNone/>
            </a:pPr>
            <a:r>
              <a:rPr b="1" lang="en-US" sz="2800">
                <a:solidFill>
                  <a:srgbClr val="0000BF"/>
                </a:solidFill>
                <a:latin typeface="Arial"/>
                <a:ea typeface="Arial"/>
                <a:cs typeface="Arial"/>
                <a:sym typeface="Arial"/>
              </a:rPr>
              <a:t>Basic Accounting Equation</a:t>
            </a:r>
            <a:endParaRPr b="1" sz="2800">
              <a:solidFill>
                <a:srgbClr val="0000BF"/>
              </a:solidFill>
              <a:latin typeface="Arial"/>
              <a:ea typeface="Arial"/>
              <a:cs typeface="Arial"/>
              <a:sym typeface="Arial"/>
            </a:endParaRPr>
          </a:p>
        </p:txBody>
      </p:sp>
      <p:sp>
        <p:nvSpPr>
          <p:cNvPr id="296" name="Google Shape;296;p20"/>
          <p:cNvSpPr txBox="1"/>
          <p:nvPr/>
        </p:nvSpPr>
        <p:spPr>
          <a:xfrm>
            <a:off x="533400" y="3478213"/>
            <a:ext cx="8229600" cy="2339102"/>
          </a:xfrm>
          <a:prstGeom prst="rect">
            <a:avLst/>
          </a:prstGeom>
          <a:noFill/>
          <a:ln>
            <a:noFill/>
          </a:ln>
        </p:spPr>
        <p:txBody>
          <a:bodyPr anchorCtr="0" anchor="t" bIns="45700" lIns="91425" spcFirstLastPara="1" rIns="91425" wrap="square" tIns="45700">
            <a:spAutoFit/>
          </a:bodyPr>
          <a:lstStyle/>
          <a:p>
            <a:pPr indent="-450850" lvl="0" marL="682625" marR="0" rtl="0" algn="l">
              <a:lnSpc>
                <a:spcPct val="120000"/>
              </a:lnSpc>
              <a:spcBef>
                <a:spcPts val="0"/>
              </a:spcBef>
              <a:spcAft>
                <a:spcPts val="0"/>
              </a:spcAft>
              <a:buClr>
                <a:srgbClr val="800000"/>
              </a:buClr>
              <a:buSzPts val="1680"/>
              <a:buFont typeface="Noto Sans Symbols"/>
              <a:buChar char="◆"/>
            </a:pPr>
            <a:r>
              <a:rPr b="0" lang="en-US" sz="2100">
                <a:solidFill>
                  <a:schemeClr val="lt2"/>
                </a:solidFill>
                <a:latin typeface="Arial"/>
                <a:ea typeface="Arial"/>
                <a:cs typeface="Arial"/>
                <a:sym typeface="Arial"/>
              </a:rPr>
              <a:t>Provides the </a:t>
            </a:r>
            <a:r>
              <a:rPr b="1" lang="en-US" sz="2100">
                <a:solidFill>
                  <a:schemeClr val="lt2"/>
                </a:solidFill>
                <a:latin typeface="Arial"/>
                <a:ea typeface="Arial"/>
                <a:cs typeface="Arial"/>
                <a:sym typeface="Arial"/>
              </a:rPr>
              <a:t>underlying framework</a:t>
            </a:r>
            <a:r>
              <a:rPr b="0" lang="en-US" sz="2100">
                <a:solidFill>
                  <a:schemeClr val="lt2"/>
                </a:solidFill>
                <a:latin typeface="Arial"/>
                <a:ea typeface="Arial"/>
                <a:cs typeface="Arial"/>
                <a:sym typeface="Arial"/>
              </a:rPr>
              <a:t> for recording and summarizing economic events.</a:t>
            </a:r>
            <a:endParaRPr/>
          </a:p>
          <a:p>
            <a:pPr indent="-450850" lvl="0" marL="682625" marR="0" rtl="0" algn="l">
              <a:lnSpc>
                <a:spcPct val="120000"/>
              </a:lnSpc>
              <a:spcBef>
                <a:spcPts val="1200"/>
              </a:spcBef>
              <a:spcAft>
                <a:spcPts val="0"/>
              </a:spcAft>
              <a:buClr>
                <a:srgbClr val="800000"/>
              </a:buClr>
              <a:buSzPts val="1680"/>
              <a:buFont typeface="Noto Sans Symbols"/>
              <a:buChar char="◆"/>
            </a:pPr>
            <a:r>
              <a:rPr b="0" lang="en-US" sz="2100">
                <a:solidFill>
                  <a:schemeClr val="lt2"/>
                </a:solidFill>
                <a:latin typeface="Arial"/>
                <a:ea typeface="Arial"/>
                <a:cs typeface="Arial"/>
                <a:sym typeface="Arial"/>
              </a:rPr>
              <a:t>Assets are claimed by either creditors or owners.</a:t>
            </a:r>
            <a:endParaRPr/>
          </a:p>
          <a:p>
            <a:pPr indent="-450850" lvl="0" marL="682625" marR="0" rtl="0" algn="l">
              <a:lnSpc>
                <a:spcPct val="120000"/>
              </a:lnSpc>
              <a:spcBef>
                <a:spcPts val="1200"/>
              </a:spcBef>
              <a:spcAft>
                <a:spcPts val="0"/>
              </a:spcAft>
              <a:buClr>
                <a:srgbClr val="800000"/>
              </a:buClr>
              <a:buSzPts val="1680"/>
              <a:buFont typeface="Noto Sans Symbols"/>
              <a:buChar char="◆"/>
            </a:pPr>
            <a:r>
              <a:rPr b="0" lang="en-US" sz="2100">
                <a:solidFill>
                  <a:schemeClr val="lt2"/>
                </a:solidFill>
                <a:latin typeface="Arial"/>
                <a:ea typeface="Arial"/>
                <a:cs typeface="Arial"/>
                <a:sym typeface="Arial"/>
              </a:rPr>
              <a:t>If a business is liquidated, claims of creditors must be paid before ownership claims.</a:t>
            </a:r>
            <a:endParaRPr/>
          </a:p>
        </p:txBody>
      </p:sp>
    </p:spTree>
  </p:cSld>
  <p:clrMapOvr>
    <a:masterClrMapping/>
  </p:clrMapOvr>
  <p:transition>
    <p:wipe dir="r"/>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1"/>
          <p:cNvSpPr/>
          <p:nvPr/>
        </p:nvSpPr>
        <p:spPr>
          <a:xfrm>
            <a:off x="685800" y="1600200"/>
            <a:ext cx="2057400" cy="914400"/>
          </a:xfrm>
          <a:prstGeom prst="rect">
            <a:avLst/>
          </a:prstGeom>
          <a:solidFill>
            <a:schemeClr val="lt1"/>
          </a:solidFill>
          <a:ln cap="flat" cmpd="sng" w="28575">
            <a:solidFill>
              <a:schemeClr val="dk1"/>
            </a:solidFill>
            <a:prstDash val="solid"/>
            <a:miter lim="800000"/>
            <a:headEnd len="sm" w="sm" type="none"/>
            <a:tailEnd len="sm" w="sm" type="none"/>
          </a:ln>
          <a:effectLst>
            <a:outerShdw rotWithShape="0" algn="ctr" dir="2700000" dist="35921">
              <a:schemeClr val="lt2"/>
            </a:outerShdw>
          </a:effectLst>
        </p:spPr>
        <p:txBody>
          <a:bodyPr anchorCtr="0" anchor="ctr" bIns="64000" lIns="182550" spcFirstLastPara="1" rIns="182550" wrap="square" tIns="0">
            <a:noAutofit/>
          </a:bodyPr>
          <a:lstStyle/>
          <a:p>
            <a:pPr indent="0" lvl="0" marL="0" marR="0" rtl="0" algn="ctr">
              <a:spcBef>
                <a:spcPts val="0"/>
              </a:spcBef>
              <a:spcAft>
                <a:spcPts val="0"/>
              </a:spcAft>
              <a:buClr>
                <a:schemeClr val="accent2"/>
              </a:buClr>
              <a:buSzPts val="1800"/>
              <a:buFont typeface="Noto Sans Symbols"/>
              <a:buNone/>
            </a:pPr>
            <a:r>
              <a:rPr b="1" lang="en-US" sz="2400">
                <a:solidFill>
                  <a:schemeClr val="dk1"/>
                </a:solidFill>
                <a:latin typeface="Arial"/>
                <a:ea typeface="Arial"/>
                <a:cs typeface="Arial"/>
                <a:sym typeface="Arial"/>
              </a:rPr>
              <a:t>Assets</a:t>
            </a:r>
            <a:endParaRPr/>
          </a:p>
        </p:txBody>
      </p:sp>
      <p:sp>
        <p:nvSpPr>
          <p:cNvPr id="302" name="Google Shape;302;p21"/>
          <p:cNvSpPr txBox="1"/>
          <p:nvPr/>
        </p:nvSpPr>
        <p:spPr>
          <a:xfrm>
            <a:off x="1295400" y="3581400"/>
            <a:ext cx="167640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lt2"/>
              </a:buClr>
              <a:buSzPts val="2400"/>
              <a:buFont typeface="Noto Sans Symbols"/>
              <a:buNone/>
            </a:pPr>
            <a:r>
              <a:t/>
            </a:r>
            <a:endParaRPr b="0" sz="2400">
              <a:solidFill>
                <a:schemeClr val="dk1"/>
              </a:solidFill>
              <a:latin typeface="Arial"/>
              <a:ea typeface="Arial"/>
              <a:cs typeface="Arial"/>
              <a:sym typeface="Arial"/>
            </a:endParaRPr>
          </a:p>
        </p:txBody>
      </p:sp>
      <p:sp>
        <p:nvSpPr>
          <p:cNvPr id="303" name="Google Shape;303;p21"/>
          <p:cNvSpPr txBox="1"/>
          <p:nvPr/>
        </p:nvSpPr>
        <p:spPr>
          <a:xfrm>
            <a:off x="3429000" y="1600200"/>
            <a:ext cx="2057400" cy="914400"/>
          </a:xfrm>
          <a:prstGeom prst="rect">
            <a:avLst/>
          </a:prstGeom>
          <a:solidFill>
            <a:srgbClr val="CBDCFF"/>
          </a:solidFill>
          <a:ln cap="flat" cmpd="sng" w="28575">
            <a:solidFill>
              <a:schemeClr val="dk1"/>
            </a:solidFill>
            <a:prstDash val="solid"/>
            <a:miter lim="800000"/>
            <a:headEnd len="sm" w="sm" type="none"/>
            <a:tailEnd len="sm" w="sm" type="none"/>
          </a:ln>
          <a:effectLst>
            <a:outerShdw rotWithShape="0" algn="ctr" dir="2700000" dist="35921">
              <a:schemeClr val="lt2"/>
            </a:outerShdw>
          </a:effectLst>
        </p:spPr>
        <p:txBody>
          <a:bodyPr anchorCtr="0" anchor="ctr" bIns="64000" lIns="182550" spcFirstLastPara="1" rIns="182550" wrap="square" tIns="0">
            <a:noAutofit/>
          </a:bodyPr>
          <a:lstStyle/>
          <a:p>
            <a:pPr indent="0" lvl="0" marL="0" marR="0" rtl="0" algn="ctr">
              <a:spcBef>
                <a:spcPts val="0"/>
              </a:spcBef>
              <a:spcAft>
                <a:spcPts val="0"/>
              </a:spcAft>
              <a:buClr>
                <a:schemeClr val="accent2"/>
              </a:buClr>
              <a:buSzPts val="1800"/>
              <a:buFont typeface="Noto Sans Symbols"/>
              <a:buNone/>
            </a:pPr>
            <a:r>
              <a:rPr b="1" lang="en-US" sz="2400">
                <a:solidFill>
                  <a:schemeClr val="dk1"/>
                </a:solidFill>
                <a:latin typeface="Arial"/>
                <a:ea typeface="Arial"/>
                <a:cs typeface="Arial"/>
                <a:sym typeface="Arial"/>
              </a:rPr>
              <a:t>Liabilities</a:t>
            </a:r>
            <a:endParaRPr/>
          </a:p>
        </p:txBody>
      </p:sp>
      <p:sp>
        <p:nvSpPr>
          <p:cNvPr id="304" name="Google Shape;304;p21"/>
          <p:cNvSpPr txBox="1"/>
          <p:nvPr/>
        </p:nvSpPr>
        <p:spPr>
          <a:xfrm>
            <a:off x="6096000" y="1600200"/>
            <a:ext cx="2438400" cy="914400"/>
          </a:xfrm>
          <a:prstGeom prst="rect">
            <a:avLst/>
          </a:prstGeom>
          <a:solidFill>
            <a:srgbClr val="CBDCFF"/>
          </a:solidFill>
          <a:ln cap="flat" cmpd="sng" w="28575">
            <a:solidFill>
              <a:schemeClr val="dk1"/>
            </a:solidFill>
            <a:prstDash val="solid"/>
            <a:miter lim="800000"/>
            <a:headEnd len="sm" w="sm" type="none"/>
            <a:tailEnd len="sm" w="sm" type="none"/>
          </a:ln>
          <a:effectLst>
            <a:outerShdw rotWithShape="0" algn="ctr" dir="2700000" dist="35921">
              <a:schemeClr val="lt2"/>
            </a:outerShdw>
          </a:effectLst>
        </p:spPr>
        <p:txBody>
          <a:bodyPr anchorCtr="0" anchor="ctr" bIns="64000" lIns="182550" spcFirstLastPara="1" rIns="182550" wrap="square" tIns="0">
            <a:noAutofit/>
          </a:bodyPr>
          <a:lstStyle/>
          <a:p>
            <a:pPr indent="0" lvl="0" marL="0" marR="0" rtl="0" algn="ctr">
              <a:spcBef>
                <a:spcPts val="0"/>
              </a:spcBef>
              <a:spcAft>
                <a:spcPts val="0"/>
              </a:spcAft>
              <a:buClr>
                <a:schemeClr val="accent2"/>
              </a:buClr>
              <a:buSzPts val="1800"/>
              <a:buFont typeface="Noto Sans Symbols"/>
              <a:buNone/>
            </a:pPr>
            <a:r>
              <a:rPr b="1" lang="en-US" sz="2400">
                <a:solidFill>
                  <a:schemeClr val="dk1"/>
                </a:solidFill>
                <a:latin typeface="Arial"/>
                <a:ea typeface="Arial"/>
                <a:cs typeface="Arial"/>
                <a:sym typeface="Arial"/>
              </a:rPr>
              <a:t>Owner's Equity</a:t>
            </a:r>
            <a:endParaRPr b="1" sz="2400">
              <a:solidFill>
                <a:schemeClr val="dk1"/>
              </a:solidFill>
              <a:latin typeface="Arial"/>
              <a:ea typeface="Arial"/>
              <a:cs typeface="Arial"/>
              <a:sym typeface="Arial"/>
            </a:endParaRPr>
          </a:p>
        </p:txBody>
      </p:sp>
      <p:sp>
        <p:nvSpPr>
          <p:cNvPr id="305" name="Google Shape;305;p21"/>
          <p:cNvSpPr/>
          <p:nvPr/>
        </p:nvSpPr>
        <p:spPr>
          <a:xfrm>
            <a:off x="2895600" y="1831975"/>
            <a:ext cx="441325" cy="459100"/>
          </a:xfrm>
          <a:prstGeom prst="rect">
            <a:avLst/>
          </a:prstGeom>
          <a:noFill/>
          <a:ln>
            <a:noFill/>
          </a:ln>
        </p:spPr>
        <p:txBody>
          <a:bodyPr anchorCtr="0" anchor="t" bIns="44450" lIns="90475" spcFirstLastPara="1" rIns="90475" wrap="square" tIns="44450">
            <a:spAutoFit/>
          </a:bodyPr>
          <a:lstStyle/>
          <a:p>
            <a:pPr indent="0" lvl="0" marL="0" marR="0" rtl="0" algn="l">
              <a:spcBef>
                <a:spcPts val="0"/>
              </a:spcBef>
              <a:spcAft>
                <a:spcPts val="0"/>
              </a:spcAft>
              <a:buClr>
                <a:schemeClr val="dk1"/>
              </a:buClr>
              <a:buSzPts val="2400"/>
              <a:buFont typeface="Noto Sans Symbols"/>
              <a:buNone/>
            </a:pPr>
            <a:r>
              <a:rPr b="1" lang="en-US" sz="2400">
                <a:solidFill>
                  <a:schemeClr val="dk1"/>
                </a:solidFill>
                <a:latin typeface="Arial"/>
                <a:ea typeface="Arial"/>
                <a:cs typeface="Arial"/>
                <a:sym typeface="Arial"/>
              </a:rPr>
              <a:t>=</a:t>
            </a:r>
            <a:endParaRPr/>
          </a:p>
        </p:txBody>
      </p:sp>
      <p:sp>
        <p:nvSpPr>
          <p:cNvPr id="306" name="Google Shape;306;p21"/>
          <p:cNvSpPr/>
          <p:nvPr/>
        </p:nvSpPr>
        <p:spPr>
          <a:xfrm>
            <a:off x="5562600" y="1817688"/>
            <a:ext cx="441325" cy="459100"/>
          </a:xfrm>
          <a:prstGeom prst="rect">
            <a:avLst/>
          </a:prstGeom>
          <a:noFill/>
          <a:ln>
            <a:noFill/>
          </a:ln>
        </p:spPr>
        <p:txBody>
          <a:bodyPr anchorCtr="0" anchor="t" bIns="44450" lIns="90475" spcFirstLastPara="1" rIns="90475" wrap="square" tIns="44450">
            <a:spAutoFit/>
          </a:bodyPr>
          <a:lstStyle/>
          <a:p>
            <a:pPr indent="0" lvl="0" marL="0" marR="0" rtl="0" algn="ctr">
              <a:spcBef>
                <a:spcPts val="0"/>
              </a:spcBef>
              <a:spcAft>
                <a:spcPts val="0"/>
              </a:spcAft>
              <a:buClr>
                <a:schemeClr val="dk1"/>
              </a:buClr>
              <a:buSzPts val="2400"/>
              <a:buFont typeface="Noto Sans Symbols"/>
              <a:buNone/>
            </a:pPr>
            <a:r>
              <a:rPr b="1" lang="en-US" sz="2400">
                <a:solidFill>
                  <a:schemeClr val="dk1"/>
                </a:solidFill>
                <a:latin typeface="Arial"/>
                <a:ea typeface="Arial"/>
                <a:cs typeface="Arial"/>
                <a:sym typeface="Arial"/>
              </a:rPr>
              <a:t>+</a:t>
            </a:r>
            <a:endParaRPr/>
          </a:p>
        </p:txBody>
      </p:sp>
      <p:cxnSp>
        <p:nvCxnSpPr>
          <p:cNvPr id="307" name="Google Shape;307;p21"/>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308" name="Google Shape;308;p21"/>
          <p:cNvSpPr txBox="1"/>
          <p:nvPr/>
        </p:nvSpPr>
        <p:spPr>
          <a:xfrm>
            <a:off x="533400" y="3478213"/>
            <a:ext cx="8229600" cy="1649682"/>
          </a:xfrm>
          <a:prstGeom prst="rect">
            <a:avLst/>
          </a:prstGeom>
          <a:noFill/>
          <a:ln>
            <a:noFill/>
          </a:ln>
        </p:spPr>
        <p:txBody>
          <a:bodyPr anchorCtr="0" anchor="t" bIns="45700" lIns="91425" spcFirstLastPara="1" rIns="91425" wrap="square" tIns="45700">
            <a:spAutoFit/>
          </a:bodyPr>
          <a:lstStyle/>
          <a:p>
            <a:pPr indent="-457200" lvl="1" marL="685800" marR="0" rtl="0" algn="l">
              <a:lnSpc>
                <a:spcPct val="120000"/>
              </a:lnSpc>
              <a:spcBef>
                <a:spcPts val="0"/>
              </a:spcBef>
              <a:spcAft>
                <a:spcPts val="0"/>
              </a:spcAft>
              <a:buClr>
                <a:srgbClr val="800000"/>
              </a:buClr>
              <a:buSzPts val="1760"/>
              <a:buFont typeface="Noto Sans Symbols"/>
              <a:buChar char="◆"/>
            </a:pPr>
            <a:r>
              <a:rPr b="0" i="0" lang="en-US" sz="2200" u="none" cap="none" strike="noStrike">
                <a:solidFill>
                  <a:schemeClr val="lt2"/>
                </a:solidFill>
                <a:latin typeface="Arial"/>
                <a:ea typeface="Arial"/>
                <a:cs typeface="Arial"/>
                <a:sym typeface="Arial"/>
              </a:rPr>
              <a:t>Resources a business owns.</a:t>
            </a:r>
            <a:endParaRPr/>
          </a:p>
          <a:p>
            <a:pPr indent="-457200" lvl="1" marL="685800" marR="0" rtl="0" algn="l">
              <a:lnSpc>
                <a:spcPct val="120000"/>
              </a:lnSpc>
              <a:spcBef>
                <a:spcPts val="1200"/>
              </a:spcBef>
              <a:spcAft>
                <a:spcPts val="0"/>
              </a:spcAft>
              <a:buClr>
                <a:srgbClr val="800000"/>
              </a:buClr>
              <a:buSzPts val="1760"/>
              <a:buFont typeface="Noto Sans Symbols"/>
              <a:buChar char="◆"/>
            </a:pPr>
            <a:r>
              <a:rPr b="0" i="0" lang="en-US" sz="2200" u="none" cap="none" strike="noStrike">
                <a:solidFill>
                  <a:schemeClr val="lt2"/>
                </a:solidFill>
                <a:latin typeface="Arial"/>
                <a:ea typeface="Arial"/>
                <a:cs typeface="Arial"/>
                <a:sym typeface="Arial"/>
              </a:rPr>
              <a:t>Provide future services or benefits.</a:t>
            </a:r>
            <a:endParaRPr/>
          </a:p>
          <a:p>
            <a:pPr indent="-457200" lvl="1" marL="685800" marR="0" rtl="0" algn="l">
              <a:lnSpc>
                <a:spcPct val="120000"/>
              </a:lnSpc>
              <a:spcBef>
                <a:spcPts val="1200"/>
              </a:spcBef>
              <a:spcAft>
                <a:spcPts val="0"/>
              </a:spcAft>
              <a:buClr>
                <a:srgbClr val="800000"/>
              </a:buClr>
              <a:buSzPts val="1760"/>
              <a:buFont typeface="Noto Sans Symbols"/>
              <a:buChar char="◆"/>
            </a:pPr>
            <a:r>
              <a:rPr b="0" i="0" lang="en-US" sz="2200" u="none" cap="none" strike="noStrike">
                <a:solidFill>
                  <a:schemeClr val="lt2"/>
                </a:solidFill>
                <a:latin typeface="Arial"/>
                <a:ea typeface="Arial"/>
                <a:cs typeface="Arial"/>
                <a:sym typeface="Arial"/>
              </a:rPr>
              <a:t>Cash, Supplies, Equipment, etc.</a:t>
            </a:r>
            <a:endParaRPr/>
          </a:p>
        </p:txBody>
      </p:sp>
      <p:sp>
        <p:nvSpPr>
          <p:cNvPr id="309" name="Google Shape;309;p21"/>
          <p:cNvSpPr txBox="1"/>
          <p:nvPr/>
        </p:nvSpPr>
        <p:spPr>
          <a:xfrm>
            <a:off x="533400" y="2895600"/>
            <a:ext cx="7772400" cy="506413"/>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Clr>
                <a:srgbClr val="0000BF"/>
              </a:buClr>
              <a:buSzPts val="2800"/>
              <a:buFont typeface="Noto Sans Symbols"/>
              <a:buNone/>
            </a:pPr>
            <a:r>
              <a:rPr b="1" lang="en-US" sz="2800">
                <a:solidFill>
                  <a:srgbClr val="0000BF"/>
                </a:solidFill>
                <a:latin typeface="Arial"/>
                <a:ea typeface="Arial"/>
                <a:cs typeface="Arial"/>
                <a:sym typeface="Arial"/>
              </a:rPr>
              <a:t>Assets</a:t>
            </a:r>
            <a:endParaRPr/>
          </a:p>
        </p:txBody>
      </p:sp>
      <p:sp>
        <p:nvSpPr>
          <p:cNvPr id="310" name="Google Shape;310;p21"/>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3 </a:t>
            </a:r>
            <a:endParaRPr b="1" i="1" sz="1600">
              <a:solidFill>
                <a:schemeClr val="lt2"/>
              </a:solidFill>
              <a:latin typeface="Arial"/>
              <a:ea typeface="Arial"/>
              <a:cs typeface="Arial"/>
              <a:sym typeface="Arial"/>
            </a:endParaRPr>
          </a:p>
        </p:txBody>
      </p:sp>
      <p:sp>
        <p:nvSpPr>
          <p:cNvPr id="311" name="Google Shape;311;p21"/>
          <p:cNvSpPr/>
          <p:nvPr/>
        </p:nvSpPr>
        <p:spPr>
          <a:xfrm>
            <a:off x="533400" y="304800"/>
            <a:ext cx="80772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Basic Accounting Equation</a:t>
            </a:r>
            <a:endParaRPr/>
          </a:p>
        </p:txBody>
      </p:sp>
    </p:spTree>
  </p:cSld>
  <p:clrMapOvr>
    <a:masterClrMapping/>
  </p:clrMapOvr>
  <p:transition>
    <p:wipe dir="r"/>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22"/>
          <p:cNvSpPr txBox="1"/>
          <p:nvPr/>
        </p:nvSpPr>
        <p:spPr>
          <a:xfrm>
            <a:off x="1295400" y="3581400"/>
            <a:ext cx="167640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lt2"/>
              </a:buClr>
              <a:buSzPts val="2400"/>
              <a:buFont typeface="Noto Sans Symbols"/>
              <a:buNone/>
            </a:pPr>
            <a:r>
              <a:t/>
            </a:r>
            <a:endParaRPr b="0" sz="2400">
              <a:solidFill>
                <a:schemeClr val="dk1"/>
              </a:solidFill>
              <a:latin typeface="Arial"/>
              <a:ea typeface="Arial"/>
              <a:cs typeface="Arial"/>
              <a:sym typeface="Arial"/>
            </a:endParaRPr>
          </a:p>
        </p:txBody>
      </p:sp>
      <p:sp>
        <p:nvSpPr>
          <p:cNvPr id="317" name="Google Shape;317;p22"/>
          <p:cNvSpPr/>
          <p:nvPr/>
        </p:nvSpPr>
        <p:spPr>
          <a:xfrm>
            <a:off x="685800" y="1600200"/>
            <a:ext cx="2057400" cy="914400"/>
          </a:xfrm>
          <a:prstGeom prst="rect">
            <a:avLst/>
          </a:prstGeom>
          <a:solidFill>
            <a:srgbClr val="CBDCFF"/>
          </a:solidFill>
          <a:ln cap="flat" cmpd="sng" w="28575">
            <a:solidFill>
              <a:schemeClr val="dk1"/>
            </a:solidFill>
            <a:prstDash val="solid"/>
            <a:miter lim="800000"/>
            <a:headEnd len="sm" w="sm" type="none"/>
            <a:tailEnd len="sm" w="sm" type="none"/>
          </a:ln>
          <a:effectLst>
            <a:outerShdw rotWithShape="0" algn="ctr" dir="2700000" dist="35921">
              <a:schemeClr val="lt2"/>
            </a:outerShdw>
          </a:effectLst>
        </p:spPr>
        <p:txBody>
          <a:bodyPr anchorCtr="0" anchor="ctr" bIns="64000" lIns="182550" spcFirstLastPara="1" rIns="182550" wrap="square" tIns="0">
            <a:noAutofit/>
          </a:bodyPr>
          <a:lstStyle/>
          <a:p>
            <a:pPr indent="0" lvl="0" marL="0" marR="0" rtl="0" algn="ctr">
              <a:spcBef>
                <a:spcPts val="0"/>
              </a:spcBef>
              <a:spcAft>
                <a:spcPts val="0"/>
              </a:spcAft>
              <a:buClr>
                <a:schemeClr val="accent2"/>
              </a:buClr>
              <a:buSzPts val="1800"/>
              <a:buFont typeface="Noto Sans Symbols"/>
              <a:buNone/>
            </a:pPr>
            <a:r>
              <a:rPr b="1" lang="en-US" sz="2400">
                <a:solidFill>
                  <a:schemeClr val="dk1"/>
                </a:solidFill>
                <a:latin typeface="Arial"/>
                <a:ea typeface="Arial"/>
                <a:cs typeface="Arial"/>
                <a:sym typeface="Arial"/>
              </a:rPr>
              <a:t>Assets</a:t>
            </a:r>
            <a:endParaRPr/>
          </a:p>
        </p:txBody>
      </p:sp>
      <p:sp>
        <p:nvSpPr>
          <p:cNvPr id="318" name="Google Shape;318;p22"/>
          <p:cNvSpPr txBox="1"/>
          <p:nvPr/>
        </p:nvSpPr>
        <p:spPr>
          <a:xfrm>
            <a:off x="3429000" y="1600200"/>
            <a:ext cx="2057400" cy="914400"/>
          </a:xfrm>
          <a:prstGeom prst="rect">
            <a:avLst/>
          </a:prstGeom>
          <a:solidFill>
            <a:schemeClr val="lt1"/>
          </a:solidFill>
          <a:ln cap="flat" cmpd="sng" w="28575">
            <a:solidFill>
              <a:schemeClr val="dk1"/>
            </a:solidFill>
            <a:prstDash val="solid"/>
            <a:miter lim="800000"/>
            <a:headEnd len="sm" w="sm" type="none"/>
            <a:tailEnd len="sm" w="sm" type="none"/>
          </a:ln>
          <a:effectLst>
            <a:outerShdw rotWithShape="0" algn="ctr" dir="2700000" dist="35921">
              <a:schemeClr val="lt2"/>
            </a:outerShdw>
          </a:effectLst>
        </p:spPr>
        <p:txBody>
          <a:bodyPr anchorCtr="0" anchor="ctr" bIns="64000" lIns="182550" spcFirstLastPara="1" rIns="182550" wrap="square" tIns="0">
            <a:noAutofit/>
          </a:bodyPr>
          <a:lstStyle/>
          <a:p>
            <a:pPr indent="0" lvl="0" marL="0" marR="0" rtl="0" algn="ctr">
              <a:spcBef>
                <a:spcPts val="0"/>
              </a:spcBef>
              <a:spcAft>
                <a:spcPts val="0"/>
              </a:spcAft>
              <a:buClr>
                <a:schemeClr val="accent2"/>
              </a:buClr>
              <a:buSzPts val="1800"/>
              <a:buFont typeface="Noto Sans Symbols"/>
              <a:buNone/>
            </a:pPr>
            <a:r>
              <a:rPr b="1" lang="en-US" sz="2400">
                <a:solidFill>
                  <a:schemeClr val="dk1"/>
                </a:solidFill>
                <a:latin typeface="Arial"/>
                <a:ea typeface="Arial"/>
                <a:cs typeface="Arial"/>
                <a:sym typeface="Arial"/>
              </a:rPr>
              <a:t>Liabilities</a:t>
            </a:r>
            <a:endParaRPr/>
          </a:p>
        </p:txBody>
      </p:sp>
      <p:sp>
        <p:nvSpPr>
          <p:cNvPr id="319" name="Google Shape;319;p22"/>
          <p:cNvSpPr txBox="1"/>
          <p:nvPr/>
        </p:nvSpPr>
        <p:spPr>
          <a:xfrm>
            <a:off x="6096000" y="1600200"/>
            <a:ext cx="2438400" cy="914400"/>
          </a:xfrm>
          <a:prstGeom prst="rect">
            <a:avLst/>
          </a:prstGeom>
          <a:solidFill>
            <a:srgbClr val="CBDCFF"/>
          </a:solidFill>
          <a:ln cap="flat" cmpd="sng" w="28575">
            <a:solidFill>
              <a:schemeClr val="dk1"/>
            </a:solidFill>
            <a:prstDash val="solid"/>
            <a:miter lim="800000"/>
            <a:headEnd len="sm" w="sm" type="none"/>
            <a:tailEnd len="sm" w="sm" type="none"/>
          </a:ln>
          <a:effectLst>
            <a:outerShdw rotWithShape="0" algn="ctr" dir="2700000" dist="35921">
              <a:schemeClr val="lt2"/>
            </a:outerShdw>
          </a:effectLst>
        </p:spPr>
        <p:txBody>
          <a:bodyPr anchorCtr="0" anchor="ctr" bIns="64000" lIns="182550" spcFirstLastPara="1" rIns="182550" wrap="square" tIns="0">
            <a:noAutofit/>
          </a:bodyPr>
          <a:lstStyle/>
          <a:p>
            <a:pPr indent="0" lvl="0" marL="0" marR="0" rtl="0" algn="ctr">
              <a:spcBef>
                <a:spcPts val="0"/>
              </a:spcBef>
              <a:spcAft>
                <a:spcPts val="0"/>
              </a:spcAft>
              <a:buClr>
                <a:schemeClr val="accent2"/>
              </a:buClr>
              <a:buSzPts val="1800"/>
              <a:buFont typeface="Noto Sans Symbols"/>
              <a:buNone/>
            </a:pPr>
            <a:r>
              <a:rPr b="1" lang="en-US" sz="2400">
                <a:solidFill>
                  <a:schemeClr val="dk1"/>
                </a:solidFill>
                <a:latin typeface="Arial"/>
                <a:ea typeface="Arial"/>
                <a:cs typeface="Arial"/>
                <a:sym typeface="Arial"/>
              </a:rPr>
              <a:t>Owner's Equity</a:t>
            </a:r>
            <a:endParaRPr b="1" sz="2400">
              <a:solidFill>
                <a:schemeClr val="dk1"/>
              </a:solidFill>
              <a:latin typeface="Arial"/>
              <a:ea typeface="Arial"/>
              <a:cs typeface="Arial"/>
              <a:sym typeface="Arial"/>
            </a:endParaRPr>
          </a:p>
        </p:txBody>
      </p:sp>
      <p:sp>
        <p:nvSpPr>
          <p:cNvPr id="320" name="Google Shape;320;p22"/>
          <p:cNvSpPr/>
          <p:nvPr/>
        </p:nvSpPr>
        <p:spPr>
          <a:xfrm>
            <a:off x="2895600" y="1831975"/>
            <a:ext cx="441325" cy="459100"/>
          </a:xfrm>
          <a:prstGeom prst="rect">
            <a:avLst/>
          </a:prstGeom>
          <a:noFill/>
          <a:ln>
            <a:noFill/>
          </a:ln>
        </p:spPr>
        <p:txBody>
          <a:bodyPr anchorCtr="0" anchor="t" bIns="44450" lIns="90475" spcFirstLastPara="1" rIns="90475" wrap="square" tIns="44450">
            <a:spAutoFit/>
          </a:bodyPr>
          <a:lstStyle/>
          <a:p>
            <a:pPr indent="0" lvl="0" marL="0" marR="0" rtl="0" algn="l">
              <a:spcBef>
                <a:spcPts val="0"/>
              </a:spcBef>
              <a:spcAft>
                <a:spcPts val="0"/>
              </a:spcAft>
              <a:buClr>
                <a:schemeClr val="dk1"/>
              </a:buClr>
              <a:buSzPts val="2400"/>
              <a:buFont typeface="Noto Sans Symbols"/>
              <a:buNone/>
            </a:pPr>
            <a:r>
              <a:rPr b="1" lang="en-US" sz="2400">
                <a:solidFill>
                  <a:schemeClr val="dk1"/>
                </a:solidFill>
                <a:latin typeface="Arial"/>
                <a:ea typeface="Arial"/>
                <a:cs typeface="Arial"/>
                <a:sym typeface="Arial"/>
              </a:rPr>
              <a:t>=</a:t>
            </a:r>
            <a:endParaRPr/>
          </a:p>
        </p:txBody>
      </p:sp>
      <p:sp>
        <p:nvSpPr>
          <p:cNvPr id="321" name="Google Shape;321;p22"/>
          <p:cNvSpPr/>
          <p:nvPr/>
        </p:nvSpPr>
        <p:spPr>
          <a:xfrm>
            <a:off x="5562600" y="1817688"/>
            <a:ext cx="441325" cy="459100"/>
          </a:xfrm>
          <a:prstGeom prst="rect">
            <a:avLst/>
          </a:prstGeom>
          <a:noFill/>
          <a:ln>
            <a:noFill/>
          </a:ln>
        </p:spPr>
        <p:txBody>
          <a:bodyPr anchorCtr="0" anchor="t" bIns="44450" lIns="90475" spcFirstLastPara="1" rIns="90475" wrap="square" tIns="44450">
            <a:spAutoFit/>
          </a:bodyPr>
          <a:lstStyle/>
          <a:p>
            <a:pPr indent="0" lvl="0" marL="0" marR="0" rtl="0" algn="ctr">
              <a:spcBef>
                <a:spcPts val="0"/>
              </a:spcBef>
              <a:spcAft>
                <a:spcPts val="0"/>
              </a:spcAft>
              <a:buClr>
                <a:schemeClr val="dk1"/>
              </a:buClr>
              <a:buSzPts val="2400"/>
              <a:buFont typeface="Noto Sans Symbols"/>
              <a:buNone/>
            </a:pPr>
            <a:r>
              <a:rPr b="1" lang="en-US" sz="2400">
                <a:solidFill>
                  <a:schemeClr val="dk1"/>
                </a:solidFill>
                <a:latin typeface="Arial"/>
                <a:ea typeface="Arial"/>
                <a:cs typeface="Arial"/>
                <a:sym typeface="Arial"/>
              </a:rPr>
              <a:t>+</a:t>
            </a:r>
            <a:endParaRPr/>
          </a:p>
        </p:txBody>
      </p:sp>
      <p:cxnSp>
        <p:nvCxnSpPr>
          <p:cNvPr id="322" name="Google Shape;322;p22"/>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323" name="Google Shape;323;p22"/>
          <p:cNvSpPr/>
          <p:nvPr/>
        </p:nvSpPr>
        <p:spPr>
          <a:xfrm>
            <a:off x="533400" y="304800"/>
            <a:ext cx="80772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Basic Accounting Equation</a:t>
            </a:r>
            <a:endParaRPr/>
          </a:p>
        </p:txBody>
      </p:sp>
      <p:sp>
        <p:nvSpPr>
          <p:cNvPr id="324" name="Google Shape;324;p22"/>
          <p:cNvSpPr txBox="1"/>
          <p:nvPr/>
        </p:nvSpPr>
        <p:spPr>
          <a:xfrm>
            <a:off x="533400" y="3478213"/>
            <a:ext cx="8229600" cy="2055947"/>
          </a:xfrm>
          <a:prstGeom prst="rect">
            <a:avLst/>
          </a:prstGeom>
          <a:noFill/>
          <a:ln>
            <a:noFill/>
          </a:ln>
        </p:spPr>
        <p:txBody>
          <a:bodyPr anchorCtr="0" anchor="t" bIns="45700" lIns="91425" spcFirstLastPara="1" rIns="91425" wrap="square" tIns="45700">
            <a:spAutoFit/>
          </a:bodyPr>
          <a:lstStyle/>
          <a:p>
            <a:pPr indent="-457200" lvl="1" marL="685800" marR="0" rtl="0" algn="l">
              <a:lnSpc>
                <a:spcPct val="120000"/>
              </a:lnSpc>
              <a:spcBef>
                <a:spcPts val="0"/>
              </a:spcBef>
              <a:spcAft>
                <a:spcPts val="0"/>
              </a:spcAft>
              <a:buClr>
                <a:srgbClr val="800000"/>
              </a:buClr>
              <a:buSzPts val="1760"/>
              <a:buFont typeface="Noto Sans Symbols"/>
              <a:buChar char="◆"/>
            </a:pPr>
            <a:r>
              <a:rPr b="0" i="0" lang="en-US" sz="2200" u="none" cap="none" strike="noStrike">
                <a:solidFill>
                  <a:schemeClr val="lt2"/>
                </a:solidFill>
                <a:latin typeface="Arial"/>
                <a:ea typeface="Arial"/>
                <a:cs typeface="Arial"/>
                <a:sym typeface="Arial"/>
              </a:rPr>
              <a:t>Claims against assets (debts and obligations).</a:t>
            </a:r>
            <a:endParaRPr/>
          </a:p>
          <a:p>
            <a:pPr indent="-457200" lvl="1" marL="685800" marR="0" rtl="0" algn="l">
              <a:lnSpc>
                <a:spcPct val="120000"/>
              </a:lnSpc>
              <a:spcBef>
                <a:spcPts val="1100"/>
              </a:spcBef>
              <a:spcAft>
                <a:spcPts val="0"/>
              </a:spcAft>
              <a:buClr>
                <a:srgbClr val="800000"/>
              </a:buClr>
              <a:buSzPts val="1760"/>
              <a:buFont typeface="Noto Sans Symbols"/>
              <a:buChar char="◆"/>
            </a:pPr>
            <a:r>
              <a:rPr b="0" i="0" lang="en-US" sz="2200" u="none" cap="none" strike="noStrike">
                <a:solidFill>
                  <a:schemeClr val="lt2"/>
                </a:solidFill>
                <a:latin typeface="Arial"/>
                <a:ea typeface="Arial"/>
                <a:cs typeface="Arial"/>
                <a:sym typeface="Arial"/>
              </a:rPr>
              <a:t>Creditors (party to whom money is owed).</a:t>
            </a:r>
            <a:endParaRPr b="0" i="0" sz="2200" u="none" cap="none" strike="noStrike">
              <a:solidFill>
                <a:schemeClr val="lt2"/>
              </a:solidFill>
              <a:latin typeface="Arial"/>
              <a:ea typeface="Arial"/>
              <a:cs typeface="Arial"/>
              <a:sym typeface="Arial"/>
            </a:endParaRPr>
          </a:p>
          <a:p>
            <a:pPr indent="-457200" lvl="1" marL="685800" marR="0" rtl="0" algn="l">
              <a:lnSpc>
                <a:spcPct val="120000"/>
              </a:lnSpc>
              <a:spcBef>
                <a:spcPts val="1100"/>
              </a:spcBef>
              <a:spcAft>
                <a:spcPts val="0"/>
              </a:spcAft>
              <a:buClr>
                <a:srgbClr val="800000"/>
              </a:buClr>
              <a:buSzPts val="1760"/>
              <a:buFont typeface="Noto Sans Symbols"/>
              <a:buChar char="◆"/>
            </a:pPr>
            <a:r>
              <a:rPr b="0" i="0" lang="en-US" sz="2200" u="none" cap="none" strike="noStrike">
                <a:solidFill>
                  <a:schemeClr val="lt2"/>
                </a:solidFill>
                <a:latin typeface="Arial"/>
                <a:ea typeface="Arial"/>
                <a:cs typeface="Arial"/>
                <a:sym typeface="Arial"/>
              </a:rPr>
              <a:t>Accounts Payable, Notes Payable, Salaries and Wages Payable, etc.</a:t>
            </a:r>
            <a:endParaRPr/>
          </a:p>
        </p:txBody>
      </p:sp>
      <p:sp>
        <p:nvSpPr>
          <p:cNvPr id="325" name="Google Shape;325;p22"/>
          <p:cNvSpPr txBox="1"/>
          <p:nvPr/>
        </p:nvSpPr>
        <p:spPr>
          <a:xfrm>
            <a:off x="533400" y="2895600"/>
            <a:ext cx="7772400" cy="506413"/>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Clr>
                <a:srgbClr val="0000BF"/>
              </a:buClr>
              <a:buSzPts val="2800"/>
              <a:buFont typeface="Arial"/>
              <a:buNone/>
            </a:pPr>
            <a:r>
              <a:rPr b="1" lang="en-US" sz="2800">
                <a:solidFill>
                  <a:srgbClr val="0000BF"/>
                </a:solidFill>
                <a:latin typeface="Arial"/>
                <a:ea typeface="Arial"/>
                <a:cs typeface="Arial"/>
                <a:sym typeface="Arial"/>
              </a:rPr>
              <a:t>Liabilities</a:t>
            </a:r>
            <a:endParaRPr/>
          </a:p>
        </p:txBody>
      </p:sp>
      <p:sp>
        <p:nvSpPr>
          <p:cNvPr id="326" name="Google Shape;326;p22"/>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3 </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23"/>
          <p:cNvSpPr txBox="1"/>
          <p:nvPr/>
        </p:nvSpPr>
        <p:spPr>
          <a:xfrm>
            <a:off x="1295400" y="3581400"/>
            <a:ext cx="167640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lt2"/>
              </a:buClr>
              <a:buSzPts val="2400"/>
              <a:buFont typeface="Noto Sans Symbols"/>
              <a:buNone/>
            </a:pPr>
            <a:r>
              <a:t/>
            </a:r>
            <a:endParaRPr b="0" sz="2400">
              <a:solidFill>
                <a:schemeClr val="dk1"/>
              </a:solidFill>
              <a:latin typeface="Arial"/>
              <a:ea typeface="Arial"/>
              <a:cs typeface="Arial"/>
              <a:sym typeface="Arial"/>
            </a:endParaRPr>
          </a:p>
        </p:txBody>
      </p:sp>
      <p:sp>
        <p:nvSpPr>
          <p:cNvPr id="332" name="Google Shape;332;p23"/>
          <p:cNvSpPr/>
          <p:nvPr/>
        </p:nvSpPr>
        <p:spPr>
          <a:xfrm>
            <a:off x="533400" y="2895600"/>
            <a:ext cx="4038600" cy="457200"/>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2800">
                <a:solidFill>
                  <a:srgbClr val="0000BF"/>
                </a:solidFill>
                <a:latin typeface="Arial"/>
                <a:ea typeface="Arial"/>
                <a:cs typeface="Arial"/>
                <a:sym typeface="Arial"/>
              </a:rPr>
              <a:t>Owner's Equity</a:t>
            </a:r>
            <a:endParaRPr b="1" sz="2800">
              <a:solidFill>
                <a:srgbClr val="0000BF"/>
              </a:solidFill>
              <a:latin typeface="Arial"/>
              <a:ea typeface="Arial"/>
              <a:cs typeface="Arial"/>
              <a:sym typeface="Arial"/>
            </a:endParaRPr>
          </a:p>
        </p:txBody>
      </p:sp>
      <p:sp>
        <p:nvSpPr>
          <p:cNvPr id="333" name="Google Shape;333;p23"/>
          <p:cNvSpPr/>
          <p:nvPr/>
        </p:nvSpPr>
        <p:spPr>
          <a:xfrm>
            <a:off x="685800" y="1600200"/>
            <a:ext cx="2057400" cy="914400"/>
          </a:xfrm>
          <a:prstGeom prst="rect">
            <a:avLst/>
          </a:prstGeom>
          <a:solidFill>
            <a:srgbClr val="CBDCFF"/>
          </a:solidFill>
          <a:ln cap="flat" cmpd="sng" w="28575">
            <a:solidFill>
              <a:schemeClr val="dk1"/>
            </a:solidFill>
            <a:prstDash val="solid"/>
            <a:miter lim="800000"/>
            <a:headEnd len="sm" w="sm" type="none"/>
            <a:tailEnd len="sm" w="sm" type="none"/>
          </a:ln>
          <a:effectLst>
            <a:outerShdw rotWithShape="0" algn="ctr" dir="2700000" dist="35921">
              <a:schemeClr val="lt2"/>
            </a:outerShdw>
          </a:effectLst>
        </p:spPr>
        <p:txBody>
          <a:bodyPr anchorCtr="0" anchor="ctr" bIns="64000" lIns="182550" spcFirstLastPara="1" rIns="182550" wrap="square" tIns="0">
            <a:noAutofit/>
          </a:bodyPr>
          <a:lstStyle/>
          <a:p>
            <a:pPr indent="0" lvl="0" marL="0" marR="0" rtl="0" algn="ctr">
              <a:spcBef>
                <a:spcPts val="0"/>
              </a:spcBef>
              <a:spcAft>
                <a:spcPts val="0"/>
              </a:spcAft>
              <a:buClr>
                <a:schemeClr val="accent2"/>
              </a:buClr>
              <a:buSzPts val="1800"/>
              <a:buFont typeface="Noto Sans Symbols"/>
              <a:buNone/>
            </a:pPr>
            <a:r>
              <a:rPr b="1" lang="en-US" sz="2400">
                <a:solidFill>
                  <a:schemeClr val="dk1"/>
                </a:solidFill>
                <a:latin typeface="Arial"/>
                <a:ea typeface="Arial"/>
                <a:cs typeface="Arial"/>
                <a:sym typeface="Arial"/>
              </a:rPr>
              <a:t>Assets</a:t>
            </a:r>
            <a:endParaRPr/>
          </a:p>
        </p:txBody>
      </p:sp>
      <p:sp>
        <p:nvSpPr>
          <p:cNvPr id="334" name="Google Shape;334;p23"/>
          <p:cNvSpPr txBox="1"/>
          <p:nvPr/>
        </p:nvSpPr>
        <p:spPr>
          <a:xfrm>
            <a:off x="3429000" y="1600200"/>
            <a:ext cx="2057400" cy="914400"/>
          </a:xfrm>
          <a:prstGeom prst="rect">
            <a:avLst/>
          </a:prstGeom>
          <a:solidFill>
            <a:srgbClr val="CBDCFF"/>
          </a:solidFill>
          <a:ln cap="flat" cmpd="sng" w="28575">
            <a:solidFill>
              <a:schemeClr val="dk1"/>
            </a:solidFill>
            <a:prstDash val="solid"/>
            <a:miter lim="800000"/>
            <a:headEnd len="sm" w="sm" type="none"/>
            <a:tailEnd len="sm" w="sm" type="none"/>
          </a:ln>
          <a:effectLst>
            <a:outerShdw rotWithShape="0" algn="ctr" dir="2700000" dist="35921">
              <a:schemeClr val="lt2"/>
            </a:outerShdw>
          </a:effectLst>
        </p:spPr>
        <p:txBody>
          <a:bodyPr anchorCtr="0" anchor="ctr" bIns="64000" lIns="182550" spcFirstLastPara="1" rIns="182550" wrap="square" tIns="0">
            <a:noAutofit/>
          </a:bodyPr>
          <a:lstStyle/>
          <a:p>
            <a:pPr indent="0" lvl="0" marL="0" marR="0" rtl="0" algn="ctr">
              <a:spcBef>
                <a:spcPts val="0"/>
              </a:spcBef>
              <a:spcAft>
                <a:spcPts val="0"/>
              </a:spcAft>
              <a:buClr>
                <a:schemeClr val="accent2"/>
              </a:buClr>
              <a:buSzPts val="1800"/>
              <a:buFont typeface="Noto Sans Symbols"/>
              <a:buNone/>
            </a:pPr>
            <a:r>
              <a:rPr b="1" lang="en-US" sz="2400">
                <a:solidFill>
                  <a:schemeClr val="dk1"/>
                </a:solidFill>
                <a:latin typeface="Arial"/>
                <a:ea typeface="Arial"/>
                <a:cs typeface="Arial"/>
                <a:sym typeface="Arial"/>
              </a:rPr>
              <a:t>Liabilities</a:t>
            </a:r>
            <a:endParaRPr/>
          </a:p>
        </p:txBody>
      </p:sp>
      <p:sp>
        <p:nvSpPr>
          <p:cNvPr id="335" name="Google Shape;335;p23"/>
          <p:cNvSpPr txBox="1"/>
          <p:nvPr/>
        </p:nvSpPr>
        <p:spPr>
          <a:xfrm>
            <a:off x="6096000" y="1600200"/>
            <a:ext cx="2438400" cy="914400"/>
          </a:xfrm>
          <a:prstGeom prst="rect">
            <a:avLst/>
          </a:prstGeom>
          <a:solidFill>
            <a:schemeClr val="lt1"/>
          </a:solidFill>
          <a:ln cap="flat" cmpd="sng" w="28575">
            <a:solidFill>
              <a:schemeClr val="dk1"/>
            </a:solidFill>
            <a:prstDash val="solid"/>
            <a:miter lim="800000"/>
            <a:headEnd len="sm" w="sm" type="none"/>
            <a:tailEnd len="sm" w="sm" type="none"/>
          </a:ln>
          <a:effectLst>
            <a:outerShdw rotWithShape="0" algn="ctr" dir="2700000" dist="35921">
              <a:schemeClr val="lt2"/>
            </a:outerShdw>
          </a:effectLst>
        </p:spPr>
        <p:txBody>
          <a:bodyPr anchorCtr="0" anchor="ctr" bIns="64000" lIns="182550" spcFirstLastPara="1" rIns="182550" wrap="square" tIns="0">
            <a:noAutofit/>
          </a:bodyPr>
          <a:lstStyle/>
          <a:p>
            <a:pPr indent="0" lvl="0" marL="0" marR="0" rtl="0" algn="ctr">
              <a:spcBef>
                <a:spcPts val="0"/>
              </a:spcBef>
              <a:spcAft>
                <a:spcPts val="0"/>
              </a:spcAft>
              <a:buClr>
                <a:schemeClr val="accent2"/>
              </a:buClr>
              <a:buSzPts val="1800"/>
              <a:buFont typeface="Noto Sans Symbols"/>
              <a:buNone/>
            </a:pPr>
            <a:r>
              <a:rPr b="1" lang="en-US" sz="2400">
                <a:solidFill>
                  <a:schemeClr val="dk1"/>
                </a:solidFill>
                <a:latin typeface="Arial"/>
                <a:ea typeface="Arial"/>
                <a:cs typeface="Arial"/>
                <a:sym typeface="Arial"/>
              </a:rPr>
              <a:t>Owner's Equity</a:t>
            </a:r>
            <a:endParaRPr b="1" sz="2400">
              <a:solidFill>
                <a:schemeClr val="dk1"/>
              </a:solidFill>
              <a:latin typeface="Arial"/>
              <a:ea typeface="Arial"/>
              <a:cs typeface="Arial"/>
              <a:sym typeface="Arial"/>
            </a:endParaRPr>
          </a:p>
        </p:txBody>
      </p:sp>
      <p:sp>
        <p:nvSpPr>
          <p:cNvPr id="336" name="Google Shape;336;p23"/>
          <p:cNvSpPr/>
          <p:nvPr/>
        </p:nvSpPr>
        <p:spPr>
          <a:xfrm>
            <a:off x="2895600" y="1831975"/>
            <a:ext cx="441325" cy="459100"/>
          </a:xfrm>
          <a:prstGeom prst="rect">
            <a:avLst/>
          </a:prstGeom>
          <a:noFill/>
          <a:ln>
            <a:noFill/>
          </a:ln>
        </p:spPr>
        <p:txBody>
          <a:bodyPr anchorCtr="0" anchor="t" bIns="44450" lIns="90475" spcFirstLastPara="1" rIns="90475" wrap="square" tIns="44450">
            <a:spAutoFit/>
          </a:bodyPr>
          <a:lstStyle/>
          <a:p>
            <a:pPr indent="0" lvl="0" marL="0" marR="0" rtl="0" algn="l">
              <a:spcBef>
                <a:spcPts val="0"/>
              </a:spcBef>
              <a:spcAft>
                <a:spcPts val="0"/>
              </a:spcAft>
              <a:buClr>
                <a:schemeClr val="dk1"/>
              </a:buClr>
              <a:buSzPts val="2400"/>
              <a:buFont typeface="Noto Sans Symbols"/>
              <a:buNone/>
            </a:pPr>
            <a:r>
              <a:rPr b="1" lang="en-US" sz="2400">
                <a:solidFill>
                  <a:schemeClr val="dk1"/>
                </a:solidFill>
                <a:latin typeface="Arial"/>
                <a:ea typeface="Arial"/>
                <a:cs typeface="Arial"/>
                <a:sym typeface="Arial"/>
              </a:rPr>
              <a:t>=</a:t>
            </a:r>
            <a:endParaRPr/>
          </a:p>
        </p:txBody>
      </p:sp>
      <p:sp>
        <p:nvSpPr>
          <p:cNvPr id="337" name="Google Shape;337;p23"/>
          <p:cNvSpPr/>
          <p:nvPr/>
        </p:nvSpPr>
        <p:spPr>
          <a:xfrm>
            <a:off x="5562600" y="1817688"/>
            <a:ext cx="441325" cy="459100"/>
          </a:xfrm>
          <a:prstGeom prst="rect">
            <a:avLst/>
          </a:prstGeom>
          <a:noFill/>
          <a:ln>
            <a:noFill/>
          </a:ln>
        </p:spPr>
        <p:txBody>
          <a:bodyPr anchorCtr="0" anchor="t" bIns="44450" lIns="90475" spcFirstLastPara="1" rIns="90475" wrap="square" tIns="44450">
            <a:spAutoFit/>
          </a:bodyPr>
          <a:lstStyle/>
          <a:p>
            <a:pPr indent="0" lvl="0" marL="0" marR="0" rtl="0" algn="ctr">
              <a:spcBef>
                <a:spcPts val="0"/>
              </a:spcBef>
              <a:spcAft>
                <a:spcPts val="0"/>
              </a:spcAft>
              <a:buClr>
                <a:schemeClr val="dk1"/>
              </a:buClr>
              <a:buSzPts val="2400"/>
              <a:buFont typeface="Noto Sans Symbols"/>
              <a:buNone/>
            </a:pPr>
            <a:r>
              <a:rPr b="1" lang="en-US" sz="2400">
                <a:solidFill>
                  <a:schemeClr val="dk1"/>
                </a:solidFill>
                <a:latin typeface="Arial"/>
                <a:ea typeface="Arial"/>
                <a:cs typeface="Arial"/>
                <a:sym typeface="Arial"/>
              </a:rPr>
              <a:t>+</a:t>
            </a:r>
            <a:endParaRPr/>
          </a:p>
        </p:txBody>
      </p:sp>
      <p:cxnSp>
        <p:nvCxnSpPr>
          <p:cNvPr id="338" name="Google Shape;338;p23"/>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339" name="Google Shape;339;p23"/>
          <p:cNvSpPr/>
          <p:nvPr/>
        </p:nvSpPr>
        <p:spPr>
          <a:xfrm>
            <a:off x="533400" y="304800"/>
            <a:ext cx="80772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Basic Accounting Equation</a:t>
            </a:r>
            <a:endParaRPr/>
          </a:p>
        </p:txBody>
      </p:sp>
      <p:sp>
        <p:nvSpPr>
          <p:cNvPr id="340" name="Google Shape;340;p23"/>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3 </a:t>
            </a:r>
            <a:endParaRPr b="1" i="1" sz="1600">
              <a:solidFill>
                <a:schemeClr val="lt2"/>
              </a:solidFill>
              <a:latin typeface="Arial"/>
              <a:ea typeface="Arial"/>
              <a:cs typeface="Arial"/>
              <a:sym typeface="Arial"/>
            </a:endParaRPr>
          </a:p>
        </p:txBody>
      </p:sp>
      <p:sp>
        <p:nvSpPr>
          <p:cNvPr id="341" name="Google Shape;341;p23"/>
          <p:cNvSpPr txBox="1"/>
          <p:nvPr/>
        </p:nvSpPr>
        <p:spPr>
          <a:xfrm>
            <a:off x="533400" y="3478213"/>
            <a:ext cx="8229600" cy="2123658"/>
          </a:xfrm>
          <a:prstGeom prst="rect">
            <a:avLst/>
          </a:prstGeom>
          <a:noFill/>
          <a:ln>
            <a:noFill/>
          </a:ln>
        </p:spPr>
        <p:txBody>
          <a:bodyPr anchorCtr="0" anchor="t" bIns="45700" lIns="91425" spcFirstLastPara="1" rIns="91425" wrap="square" tIns="45700">
            <a:spAutoFit/>
          </a:bodyPr>
          <a:lstStyle/>
          <a:p>
            <a:pPr indent="-457200" lvl="1" marL="685800" marR="0" rtl="0" algn="l">
              <a:lnSpc>
                <a:spcPct val="120000"/>
              </a:lnSpc>
              <a:spcBef>
                <a:spcPts val="0"/>
              </a:spcBef>
              <a:spcAft>
                <a:spcPts val="0"/>
              </a:spcAft>
              <a:buClr>
                <a:srgbClr val="800000"/>
              </a:buClr>
              <a:buSzPts val="1760"/>
              <a:buFont typeface="Noto Sans Symbols"/>
              <a:buChar char="◆"/>
            </a:pPr>
            <a:r>
              <a:rPr b="0" i="0" lang="en-US" sz="2200" u="none" cap="none" strike="noStrike">
                <a:solidFill>
                  <a:schemeClr val="lt2"/>
                </a:solidFill>
                <a:latin typeface="Arial"/>
                <a:ea typeface="Arial"/>
                <a:cs typeface="Arial"/>
                <a:sym typeface="Arial"/>
              </a:rPr>
              <a:t>Ownership claim on total assets.</a:t>
            </a:r>
            <a:endParaRPr/>
          </a:p>
          <a:p>
            <a:pPr indent="-457200" lvl="1" marL="685800" marR="0" rtl="0" algn="l">
              <a:lnSpc>
                <a:spcPct val="120000"/>
              </a:lnSpc>
              <a:spcBef>
                <a:spcPts val="1100"/>
              </a:spcBef>
              <a:spcAft>
                <a:spcPts val="0"/>
              </a:spcAft>
              <a:buClr>
                <a:srgbClr val="800000"/>
              </a:buClr>
              <a:buSzPts val="1760"/>
              <a:buFont typeface="Noto Sans Symbols"/>
              <a:buChar char="◆"/>
            </a:pPr>
            <a:r>
              <a:rPr b="0" i="0" lang="en-US" sz="2200" u="none" cap="none" strike="noStrike">
                <a:solidFill>
                  <a:schemeClr val="lt2"/>
                </a:solidFill>
                <a:latin typeface="Arial"/>
                <a:ea typeface="Arial"/>
                <a:cs typeface="Arial"/>
                <a:sym typeface="Arial"/>
              </a:rPr>
              <a:t>Referred to as residual equity.</a:t>
            </a:r>
            <a:endParaRPr/>
          </a:p>
          <a:p>
            <a:pPr indent="-457200" lvl="1" marL="685800" marR="0" rtl="0" algn="l">
              <a:lnSpc>
                <a:spcPct val="120000"/>
              </a:lnSpc>
              <a:spcBef>
                <a:spcPts val="660"/>
              </a:spcBef>
              <a:spcAft>
                <a:spcPts val="0"/>
              </a:spcAft>
              <a:buClr>
                <a:srgbClr val="800000"/>
              </a:buClr>
              <a:buSzPts val="1760"/>
              <a:buFont typeface="Noto Sans Symbols"/>
              <a:buChar char="◆"/>
            </a:pPr>
            <a:r>
              <a:rPr b="0" i="0" lang="en-US" sz="2200" u="none" cap="none" strike="noStrike">
                <a:solidFill>
                  <a:schemeClr val="lt2"/>
                </a:solidFill>
                <a:latin typeface="Arial"/>
                <a:ea typeface="Arial"/>
                <a:cs typeface="Arial"/>
                <a:sym typeface="Arial"/>
              </a:rPr>
              <a:t>Investment by owners and revenues (+)</a:t>
            </a:r>
            <a:endParaRPr/>
          </a:p>
          <a:p>
            <a:pPr indent="-457200" lvl="1" marL="685800" marR="0" rtl="0" algn="l">
              <a:lnSpc>
                <a:spcPct val="120000"/>
              </a:lnSpc>
              <a:spcBef>
                <a:spcPts val="880"/>
              </a:spcBef>
              <a:spcAft>
                <a:spcPts val="0"/>
              </a:spcAft>
              <a:buClr>
                <a:srgbClr val="800000"/>
              </a:buClr>
              <a:buSzPts val="1760"/>
              <a:buFont typeface="Noto Sans Symbols"/>
              <a:buChar char="◆"/>
            </a:pPr>
            <a:r>
              <a:rPr b="0" i="0" lang="en-US" sz="2200" u="none" cap="none" strike="noStrike">
                <a:solidFill>
                  <a:schemeClr val="lt2"/>
                </a:solidFill>
                <a:latin typeface="Arial"/>
                <a:ea typeface="Arial"/>
                <a:cs typeface="Arial"/>
                <a:sym typeface="Arial"/>
              </a:rPr>
              <a:t>Drawings and expenses (-).</a:t>
            </a:r>
            <a:endParaRPr/>
          </a:p>
        </p:txBody>
      </p:sp>
    </p:spTree>
  </p:cSld>
  <p:clrMapOvr>
    <a:masterClrMapping/>
  </p:clrMapOvr>
  <p:transition>
    <p:wipe dir="r"/>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24"/>
          <p:cNvSpPr txBox="1"/>
          <p:nvPr/>
        </p:nvSpPr>
        <p:spPr>
          <a:xfrm>
            <a:off x="685800" y="3195856"/>
            <a:ext cx="8153400" cy="2708275"/>
          </a:xfrm>
          <a:prstGeom prst="rect">
            <a:avLst/>
          </a:prstGeom>
          <a:solidFill>
            <a:schemeClr val="lt1"/>
          </a:solidFill>
          <a:ln>
            <a:noFill/>
          </a:ln>
        </p:spPr>
        <p:txBody>
          <a:bodyPr anchorCtr="0" anchor="t" bIns="45700" lIns="91425" spcFirstLastPara="1" rIns="91425" wrap="square" tIns="45700">
            <a:spAutoFit/>
          </a:bodyPr>
          <a:lstStyle/>
          <a:p>
            <a:pPr indent="-463550" lvl="0" marL="463550" marR="0" rtl="0" algn="l">
              <a:lnSpc>
                <a:spcPct val="142857"/>
              </a:lnSpc>
              <a:spcBef>
                <a:spcPts val="0"/>
              </a:spcBef>
              <a:spcAft>
                <a:spcPts val="0"/>
              </a:spcAft>
              <a:buClr>
                <a:srgbClr val="800000"/>
              </a:buClr>
              <a:buSzPts val="1680"/>
              <a:buFont typeface="Noto Sans Symbols"/>
              <a:buChar char="◆"/>
            </a:pPr>
            <a:r>
              <a:rPr b="1" lang="en-US" sz="2100">
                <a:solidFill>
                  <a:srgbClr val="0000CC"/>
                </a:solidFill>
                <a:latin typeface="Arial"/>
                <a:ea typeface="Arial"/>
                <a:cs typeface="Arial"/>
                <a:sym typeface="Arial"/>
              </a:rPr>
              <a:t>Investments by owner </a:t>
            </a:r>
            <a:r>
              <a:rPr lang="en-US" sz="2100">
                <a:solidFill>
                  <a:srgbClr val="000000"/>
                </a:solidFill>
                <a:latin typeface="Arial"/>
                <a:ea typeface="Arial"/>
                <a:cs typeface="Arial"/>
                <a:sym typeface="Arial"/>
              </a:rPr>
              <a:t>are the assets the owner puts into the business.</a:t>
            </a:r>
            <a:endParaRPr/>
          </a:p>
          <a:p>
            <a:pPr indent="-463550" lvl="0" marL="463550" marR="0" rtl="0" algn="l">
              <a:lnSpc>
                <a:spcPct val="142857"/>
              </a:lnSpc>
              <a:spcBef>
                <a:spcPts val="1200"/>
              </a:spcBef>
              <a:spcAft>
                <a:spcPts val="0"/>
              </a:spcAft>
              <a:buClr>
                <a:srgbClr val="800000"/>
              </a:buClr>
              <a:buSzPts val="1680"/>
              <a:buFont typeface="Noto Sans Symbols"/>
              <a:buChar char="◆"/>
            </a:pPr>
            <a:r>
              <a:rPr b="1" lang="en-US" sz="2100">
                <a:solidFill>
                  <a:srgbClr val="0000CC"/>
                </a:solidFill>
                <a:latin typeface="Arial"/>
                <a:ea typeface="Arial"/>
                <a:cs typeface="Arial"/>
                <a:sym typeface="Arial"/>
              </a:rPr>
              <a:t>Revenues</a:t>
            </a:r>
            <a:r>
              <a:rPr b="1" lang="en-US" sz="2100">
                <a:solidFill>
                  <a:srgbClr val="00FFFF"/>
                </a:solidFill>
                <a:latin typeface="Arial"/>
                <a:ea typeface="Arial"/>
                <a:cs typeface="Arial"/>
                <a:sym typeface="Arial"/>
              </a:rPr>
              <a:t> </a:t>
            </a:r>
            <a:r>
              <a:rPr lang="en-US" sz="2100">
                <a:solidFill>
                  <a:srgbClr val="000000"/>
                </a:solidFill>
                <a:latin typeface="Arial"/>
                <a:ea typeface="Arial"/>
                <a:cs typeface="Arial"/>
                <a:sym typeface="Arial"/>
              </a:rPr>
              <a:t>result from business activities entered into for the purpose of earning income.</a:t>
            </a:r>
            <a:endParaRPr/>
          </a:p>
          <a:p>
            <a:pPr indent="-463550" lvl="1" marL="1146175" marR="0" rtl="0" algn="l">
              <a:lnSpc>
                <a:spcPct val="157894"/>
              </a:lnSpc>
              <a:spcBef>
                <a:spcPts val="1200"/>
              </a:spcBef>
              <a:spcAft>
                <a:spcPts val="0"/>
              </a:spcAft>
              <a:buClr>
                <a:srgbClr val="800000"/>
              </a:buClr>
              <a:buSzPts val="1520"/>
              <a:buFont typeface="Arial"/>
              <a:buChar char="►"/>
            </a:pPr>
            <a:r>
              <a:rPr b="1" i="0" lang="en-US" sz="1900" u="none" cap="none" strike="noStrike">
                <a:solidFill>
                  <a:srgbClr val="000000"/>
                </a:solidFill>
                <a:latin typeface="Arial"/>
                <a:ea typeface="Arial"/>
                <a:cs typeface="Arial"/>
                <a:sym typeface="Arial"/>
              </a:rPr>
              <a:t>Common sources of revenue</a:t>
            </a:r>
            <a:r>
              <a:rPr b="0" i="0" lang="en-US" sz="1900" u="none" cap="none" strike="noStrike">
                <a:solidFill>
                  <a:srgbClr val="000000"/>
                </a:solidFill>
                <a:latin typeface="Arial"/>
                <a:ea typeface="Arial"/>
                <a:cs typeface="Arial"/>
                <a:sym typeface="Arial"/>
              </a:rPr>
              <a:t> are: sales, fees, services, commissions, interest, dividends, royalties, and rent.</a:t>
            </a:r>
            <a:endParaRPr/>
          </a:p>
        </p:txBody>
      </p:sp>
      <p:cxnSp>
        <p:nvCxnSpPr>
          <p:cNvPr id="347" name="Google Shape;347;p24"/>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348" name="Google Shape;348;p24"/>
          <p:cNvSpPr/>
          <p:nvPr/>
        </p:nvSpPr>
        <p:spPr>
          <a:xfrm>
            <a:off x="533400" y="304800"/>
            <a:ext cx="64770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Owner’s Equity</a:t>
            </a:r>
            <a:endParaRPr/>
          </a:p>
        </p:txBody>
      </p:sp>
      <p:pic>
        <p:nvPicPr>
          <p:cNvPr id="349" name="Google Shape;349;p24"/>
          <p:cNvPicPr preferRelativeResize="0"/>
          <p:nvPr/>
        </p:nvPicPr>
        <p:blipFill rotWithShape="1">
          <a:blip r:embed="rId3">
            <a:alphaModFix/>
          </a:blip>
          <a:srcRect b="0" l="0" r="0" t="0"/>
          <a:stretch/>
        </p:blipFill>
        <p:spPr>
          <a:xfrm>
            <a:off x="304800" y="1382931"/>
            <a:ext cx="8534400" cy="939800"/>
          </a:xfrm>
          <a:prstGeom prst="rect">
            <a:avLst/>
          </a:prstGeom>
          <a:noFill/>
          <a:ln>
            <a:noFill/>
          </a:ln>
        </p:spPr>
      </p:pic>
      <p:sp>
        <p:nvSpPr>
          <p:cNvPr id="350" name="Google Shape;350;p24"/>
          <p:cNvSpPr txBox="1"/>
          <p:nvPr/>
        </p:nvSpPr>
        <p:spPr>
          <a:xfrm>
            <a:off x="533400" y="2587844"/>
            <a:ext cx="8153400" cy="53476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en-US" sz="2500">
                <a:solidFill>
                  <a:schemeClr val="dk1"/>
                </a:solidFill>
                <a:latin typeface="Arial"/>
                <a:ea typeface="Arial"/>
                <a:cs typeface="Arial"/>
                <a:sym typeface="Arial"/>
              </a:rPr>
              <a:t>Increases in Owner’s Equity</a:t>
            </a:r>
            <a:endParaRPr sz="2500">
              <a:solidFill>
                <a:schemeClr val="dk1"/>
              </a:solidFill>
              <a:latin typeface="Arial"/>
              <a:ea typeface="Arial"/>
              <a:cs typeface="Arial"/>
              <a:sym typeface="Arial"/>
            </a:endParaRPr>
          </a:p>
        </p:txBody>
      </p:sp>
      <p:sp>
        <p:nvSpPr>
          <p:cNvPr id="351" name="Google Shape;351;p24"/>
          <p:cNvSpPr txBox="1"/>
          <p:nvPr/>
        </p:nvSpPr>
        <p:spPr>
          <a:xfrm>
            <a:off x="7086600" y="685800"/>
            <a:ext cx="1828800" cy="646331"/>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1-6</a:t>
            </a:r>
            <a:endParaRPr/>
          </a:p>
          <a:p>
            <a:pPr indent="0" lvl="0" marL="0" marR="0" rtl="0" algn="l">
              <a:spcBef>
                <a:spcPts val="0"/>
              </a:spcBef>
              <a:spcAft>
                <a:spcPts val="0"/>
              </a:spcAft>
              <a:buNone/>
            </a:pPr>
            <a:r>
              <a:rPr b="1" lang="en-US" sz="1200">
                <a:solidFill>
                  <a:schemeClr val="dk1"/>
                </a:solidFill>
                <a:latin typeface="Arial"/>
                <a:ea typeface="Arial"/>
                <a:cs typeface="Arial"/>
                <a:sym typeface="Arial"/>
              </a:rPr>
              <a:t>Expanded accounting equation</a:t>
            </a:r>
            <a:endParaRPr sz="1200">
              <a:solidFill>
                <a:schemeClr val="dk1"/>
              </a:solidFill>
              <a:latin typeface="Arial"/>
              <a:ea typeface="Arial"/>
              <a:cs typeface="Arial"/>
              <a:sym typeface="Arial"/>
            </a:endParaRPr>
          </a:p>
        </p:txBody>
      </p:sp>
      <p:sp>
        <p:nvSpPr>
          <p:cNvPr id="352" name="Google Shape;352;p24"/>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3 </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25"/>
          <p:cNvSpPr txBox="1"/>
          <p:nvPr/>
        </p:nvSpPr>
        <p:spPr>
          <a:xfrm>
            <a:off x="685800" y="3198813"/>
            <a:ext cx="8153400" cy="3246437"/>
          </a:xfrm>
          <a:prstGeom prst="rect">
            <a:avLst/>
          </a:prstGeom>
          <a:solidFill>
            <a:schemeClr val="lt1"/>
          </a:solidFill>
          <a:ln>
            <a:noFill/>
          </a:ln>
        </p:spPr>
        <p:txBody>
          <a:bodyPr anchorCtr="0" anchor="t" bIns="45700" lIns="91425" spcFirstLastPara="1" rIns="91425" wrap="square" tIns="45700">
            <a:spAutoFit/>
          </a:bodyPr>
          <a:lstStyle/>
          <a:p>
            <a:pPr indent="-463550" lvl="0" marL="463550" marR="0" rtl="0" algn="l">
              <a:lnSpc>
                <a:spcPct val="142857"/>
              </a:lnSpc>
              <a:spcBef>
                <a:spcPts val="0"/>
              </a:spcBef>
              <a:spcAft>
                <a:spcPts val="0"/>
              </a:spcAft>
              <a:buClr>
                <a:srgbClr val="800000"/>
              </a:buClr>
              <a:buSzPts val="1680"/>
              <a:buFont typeface="Noto Sans Symbols"/>
              <a:buChar char="◆"/>
            </a:pPr>
            <a:r>
              <a:rPr b="1" lang="en-US" sz="2100">
                <a:solidFill>
                  <a:srgbClr val="0000CC"/>
                </a:solidFill>
                <a:latin typeface="Arial"/>
                <a:ea typeface="Arial"/>
                <a:cs typeface="Arial"/>
                <a:sym typeface="Arial"/>
              </a:rPr>
              <a:t>Drawings  </a:t>
            </a:r>
            <a:r>
              <a:rPr lang="en-US" sz="2100">
                <a:solidFill>
                  <a:srgbClr val="000000"/>
                </a:solidFill>
                <a:latin typeface="Arial"/>
                <a:ea typeface="Arial"/>
                <a:cs typeface="Arial"/>
                <a:sym typeface="Arial"/>
              </a:rPr>
              <a:t>An owner may withdraw cash or other assets for personal use.</a:t>
            </a:r>
            <a:endParaRPr/>
          </a:p>
          <a:p>
            <a:pPr indent="-463550" lvl="0" marL="463550" marR="0" rtl="0" algn="l">
              <a:lnSpc>
                <a:spcPct val="142857"/>
              </a:lnSpc>
              <a:spcBef>
                <a:spcPts val="1200"/>
              </a:spcBef>
              <a:spcAft>
                <a:spcPts val="0"/>
              </a:spcAft>
              <a:buClr>
                <a:srgbClr val="800000"/>
              </a:buClr>
              <a:buSzPts val="1680"/>
              <a:buFont typeface="Noto Sans Symbols"/>
              <a:buChar char="◆"/>
            </a:pPr>
            <a:r>
              <a:rPr b="1" lang="en-US" sz="2100">
                <a:solidFill>
                  <a:srgbClr val="0000CC"/>
                </a:solidFill>
                <a:latin typeface="Arial"/>
                <a:ea typeface="Arial"/>
                <a:cs typeface="Arial"/>
                <a:sym typeface="Arial"/>
              </a:rPr>
              <a:t>Expenses </a:t>
            </a:r>
            <a:r>
              <a:rPr lang="en-US" sz="2000">
                <a:solidFill>
                  <a:srgbClr val="000000"/>
                </a:solidFill>
                <a:latin typeface="Arial"/>
                <a:ea typeface="Arial"/>
                <a:cs typeface="Arial"/>
                <a:sym typeface="Arial"/>
              </a:rPr>
              <a:t>are the cost of assets consumed or services used in the process of earning revenue.</a:t>
            </a:r>
            <a:endParaRPr sz="2100">
              <a:solidFill>
                <a:srgbClr val="000000"/>
              </a:solidFill>
              <a:latin typeface="Arial"/>
              <a:ea typeface="Arial"/>
              <a:cs typeface="Arial"/>
              <a:sym typeface="Arial"/>
            </a:endParaRPr>
          </a:p>
          <a:p>
            <a:pPr indent="-463550" lvl="1" marL="1146175" marR="0" rtl="0" algn="l">
              <a:lnSpc>
                <a:spcPct val="157894"/>
              </a:lnSpc>
              <a:spcBef>
                <a:spcPts val="1200"/>
              </a:spcBef>
              <a:spcAft>
                <a:spcPts val="0"/>
              </a:spcAft>
              <a:buClr>
                <a:srgbClr val="800000"/>
              </a:buClr>
              <a:buSzPts val="1520"/>
              <a:buFont typeface="Arial"/>
              <a:buChar char="►"/>
            </a:pPr>
            <a:r>
              <a:rPr b="1" i="0" lang="en-US" sz="1900" u="none" cap="none" strike="noStrike">
                <a:solidFill>
                  <a:srgbClr val="000000"/>
                </a:solidFill>
                <a:latin typeface="Arial"/>
                <a:ea typeface="Arial"/>
                <a:cs typeface="Arial"/>
                <a:sym typeface="Arial"/>
              </a:rPr>
              <a:t>Common expenses</a:t>
            </a:r>
            <a:r>
              <a:rPr b="0" i="0" lang="en-US" sz="1900" u="none" cap="none" strike="noStrike">
                <a:solidFill>
                  <a:srgbClr val="000000"/>
                </a:solidFill>
                <a:latin typeface="Arial"/>
                <a:ea typeface="Arial"/>
                <a:cs typeface="Arial"/>
                <a:sym typeface="Arial"/>
              </a:rPr>
              <a:t> are: salaries expense, rent expense, utilities expense, tax expense, etc.</a:t>
            </a:r>
            <a:endParaRPr/>
          </a:p>
          <a:p>
            <a:pPr indent="-342900" lvl="1" marL="1146175" marR="0" rtl="0" algn="l">
              <a:lnSpc>
                <a:spcPct val="157894"/>
              </a:lnSpc>
              <a:spcBef>
                <a:spcPts val="1200"/>
              </a:spcBef>
              <a:spcAft>
                <a:spcPts val="0"/>
              </a:spcAft>
              <a:buClr>
                <a:srgbClr val="800000"/>
              </a:buClr>
              <a:buSzPts val="1900"/>
              <a:buFont typeface="Noto Sans Symbols"/>
              <a:buNone/>
            </a:pPr>
            <a:r>
              <a:t/>
            </a:r>
            <a:endParaRPr b="0" i="0" sz="1900" u="none" cap="none" strike="noStrike">
              <a:solidFill>
                <a:srgbClr val="000000"/>
              </a:solidFill>
              <a:latin typeface="Arial"/>
              <a:ea typeface="Arial"/>
              <a:cs typeface="Arial"/>
              <a:sym typeface="Arial"/>
            </a:endParaRPr>
          </a:p>
        </p:txBody>
      </p:sp>
      <p:cxnSp>
        <p:nvCxnSpPr>
          <p:cNvPr id="358" name="Google Shape;358;p25"/>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359" name="Google Shape;359;p25"/>
          <p:cNvSpPr/>
          <p:nvPr/>
        </p:nvSpPr>
        <p:spPr>
          <a:xfrm>
            <a:off x="533400" y="304800"/>
            <a:ext cx="80772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Owner’s Equity</a:t>
            </a:r>
            <a:endParaRPr/>
          </a:p>
        </p:txBody>
      </p:sp>
      <p:sp>
        <p:nvSpPr>
          <p:cNvPr id="360" name="Google Shape;360;p25"/>
          <p:cNvSpPr txBox="1"/>
          <p:nvPr/>
        </p:nvSpPr>
        <p:spPr>
          <a:xfrm>
            <a:off x="533400" y="2590800"/>
            <a:ext cx="8153400" cy="53498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en-US" sz="2500">
                <a:solidFill>
                  <a:schemeClr val="dk1"/>
                </a:solidFill>
                <a:latin typeface="Arial"/>
                <a:ea typeface="Arial"/>
                <a:cs typeface="Arial"/>
                <a:sym typeface="Arial"/>
              </a:rPr>
              <a:t>Decreases in Owner’s Equity</a:t>
            </a:r>
            <a:endParaRPr sz="2500">
              <a:solidFill>
                <a:schemeClr val="dk1"/>
              </a:solidFill>
              <a:latin typeface="Arial"/>
              <a:ea typeface="Arial"/>
              <a:cs typeface="Arial"/>
              <a:sym typeface="Arial"/>
            </a:endParaRPr>
          </a:p>
        </p:txBody>
      </p:sp>
      <p:sp>
        <p:nvSpPr>
          <p:cNvPr id="361" name="Google Shape;361;p25"/>
          <p:cNvSpPr txBox="1"/>
          <p:nvPr/>
        </p:nvSpPr>
        <p:spPr>
          <a:xfrm>
            <a:off x="7086600" y="685800"/>
            <a:ext cx="1828800" cy="646331"/>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1-6</a:t>
            </a:r>
            <a:endParaRPr/>
          </a:p>
          <a:p>
            <a:pPr indent="0" lvl="0" marL="0" marR="0" rtl="0" algn="l">
              <a:spcBef>
                <a:spcPts val="0"/>
              </a:spcBef>
              <a:spcAft>
                <a:spcPts val="0"/>
              </a:spcAft>
              <a:buNone/>
            </a:pPr>
            <a:r>
              <a:rPr b="1" lang="en-US" sz="1200">
                <a:solidFill>
                  <a:schemeClr val="dk1"/>
                </a:solidFill>
                <a:latin typeface="Arial"/>
                <a:ea typeface="Arial"/>
                <a:cs typeface="Arial"/>
                <a:sym typeface="Arial"/>
              </a:rPr>
              <a:t>Expanded accounting equation</a:t>
            </a:r>
            <a:endParaRPr sz="1200">
              <a:solidFill>
                <a:schemeClr val="dk1"/>
              </a:solidFill>
              <a:latin typeface="Arial"/>
              <a:ea typeface="Arial"/>
              <a:cs typeface="Arial"/>
              <a:sym typeface="Arial"/>
            </a:endParaRPr>
          </a:p>
        </p:txBody>
      </p:sp>
      <p:sp>
        <p:nvSpPr>
          <p:cNvPr id="362" name="Google Shape;362;p25"/>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3 </a:t>
            </a:r>
            <a:endParaRPr b="1" i="1" sz="1600">
              <a:solidFill>
                <a:schemeClr val="lt2"/>
              </a:solidFill>
              <a:latin typeface="Arial"/>
              <a:ea typeface="Arial"/>
              <a:cs typeface="Arial"/>
              <a:sym typeface="Arial"/>
            </a:endParaRPr>
          </a:p>
        </p:txBody>
      </p:sp>
      <p:pic>
        <p:nvPicPr>
          <p:cNvPr id="363" name="Google Shape;363;p25"/>
          <p:cNvPicPr preferRelativeResize="0"/>
          <p:nvPr/>
        </p:nvPicPr>
        <p:blipFill rotWithShape="1">
          <a:blip r:embed="rId3">
            <a:alphaModFix/>
          </a:blip>
          <a:srcRect b="0" l="0" r="0" t="0"/>
          <a:stretch/>
        </p:blipFill>
        <p:spPr>
          <a:xfrm>
            <a:off x="304800" y="1382931"/>
            <a:ext cx="8534400" cy="939800"/>
          </a:xfrm>
          <a:prstGeom prst="rect">
            <a:avLst/>
          </a:prstGeom>
          <a:noFill/>
          <a:ln>
            <a:noFill/>
          </a:ln>
        </p:spPr>
      </p:pic>
    </p:spTree>
  </p:cSld>
  <p:clrMapOvr>
    <a:masterClrMapping/>
  </p:clrMapOvr>
  <p:transition>
    <p:wipe dir="r"/>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26"/>
          <p:cNvSpPr txBox="1"/>
          <p:nvPr/>
        </p:nvSpPr>
        <p:spPr>
          <a:xfrm>
            <a:off x="4267200" y="5508625"/>
            <a:ext cx="1828800" cy="511175"/>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25000"/>
              </a:lnSpc>
              <a:spcBef>
                <a:spcPts val="0"/>
              </a:spcBef>
              <a:spcAft>
                <a:spcPts val="0"/>
              </a:spcAft>
              <a:buClr>
                <a:schemeClr val="dk1"/>
              </a:buClr>
              <a:buSzPts val="2200"/>
              <a:buFont typeface="Noto Sans Symbols"/>
              <a:buNone/>
            </a:pPr>
            <a:r>
              <a:rPr b="0" lang="en-US" sz="2200">
                <a:solidFill>
                  <a:schemeClr val="dk1"/>
                </a:solidFill>
                <a:latin typeface="Arial"/>
                <a:ea typeface="Arial"/>
                <a:cs typeface="Arial"/>
                <a:sym typeface="Arial"/>
              </a:rPr>
              <a:t>Expense</a:t>
            </a:r>
            <a:endParaRPr/>
          </a:p>
        </p:txBody>
      </p:sp>
      <p:sp>
        <p:nvSpPr>
          <p:cNvPr id="369" name="Google Shape;369;p26"/>
          <p:cNvSpPr txBox="1"/>
          <p:nvPr/>
        </p:nvSpPr>
        <p:spPr>
          <a:xfrm>
            <a:off x="6553200" y="5508625"/>
            <a:ext cx="1828800" cy="511175"/>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25000"/>
              </a:lnSpc>
              <a:spcBef>
                <a:spcPts val="0"/>
              </a:spcBef>
              <a:spcAft>
                <a:spcPts val="0"/>
              </a:spcAft>
              <a:buClr>
                <a:schemeClr val="dk1"/>
              </a:buClr>
              <a:buSzPts val="2200"/>
              <a:buFont typeface="Noto Sans Symbols"/>
              <a:buNone/>
            </a:pPr>
            <a:r>
              <a:rPr b="0" lang="en-US" sz="2200">
                <a:solidFill>
                  <a:schemeClr val="dk1"/>
                </a:solidFill>
                <a:latin typeface="Arial"/>
                <a:ea typeface="Arial"/>
                <a:cs typeface="Arial"/>
                <a:sym typeface="Arial"/>
              </a:rPr>
              <a:t>Decrease</a:t>
            </a:r>
            <a:endParaRPr/>
          </a:p>
        </p:txBody>
      </p:sp>
      <p:sp>
        <p:nvSpPr>
          <p:cNvPr id="370" name="Google Shape;370;p26"/>
          <p:cNvSpPr txBox="1"/>
          <p:nvPr/>
        </p:nvSpPr>
        <p:spPr>
          <a:xfrm>
            <a:off x="4267200" y="3429000"/>
            <a:ext cx="1828800" cy="511175"/>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25000"/>
              </a:lnSpc>
              <a:spcBef>
                <a:spcPts val="0"/>
              </a:spcBef>
              <a:spcAft>
                <a:spcPts val="0"/>
              </a:spcAft>
              <a:buClr>
                <a:schemeClr val="dk1"/>
              </a:buClr>
              <a:buSzPts val="2200"/>
              <a:buFont typeface="Noto Sans Symbols"/>
              <a:buNone/>
            </a:pPr>
            <a:r>
              <a:rPr b="0" lang="en-US" sz="2200">
                <a:solidFill>
                  <a:schemeClr val="dk1"/>
                </a:solidFill>
                <a:latin typeface="Arial"/>
                <a:ea typeface="Arial"/>
                <a:cs typeface="Arial"/>
                <a:sym typeface="Arial"/>
              </a:rPr>
              <a:t>Expense</a:t>
            </a:r>
            <a:endParaRPr/>
          </a:p>
        </p:txBody>
      </p:sp>
      <p:sp>
        <p:nvSpPr>
          <p:cNvPr id="371" name="Google Shape;371;p26"/>
          <p:cNvSpPr txBox="1"/>
          <p:nvPr/>
        </p:nvSpPr>
        <p:spPr>
          <a:xfrm>
            <a:off x="6553200" y="3429000"/>
            <a:ext cx="1828800" cy="511175"/>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25000"/>
              </a:lnSpc>
              <a:spcBef>
                <a:spcPts val="0"/>
              </a:spcBef>
              <a:spcAft>
                <a:spcPts val="0"/>
              </a:spcAft>
              <a:buClr>
                <a:schemeClr val="dk1"/>
              </a:buClr>
              <a:buSzPts val="2200"/>
              <a:buFont typeface="Noto Sans Symbols"/>
              <a:buNone/>
            </a:pPr>
            <a:r>
              <a:rPr b="0" lang="en-US" sz="2200">
                <a:solidFill>
                  <a:schemeClr val="dk1"/>
                </a:solidFill>
                <a:latin typeface="Arial"/>
                <a:ea typeface="Arial"/>
                <a:cs typeface="Arial"/>
                <a:sym typeface="Arial"/>
              </a:rPr>
              <a:t>Decrease</a:t>
            </a:r>
            <a:endParaRPr/>
          </a:p>
        </p:txBody>
      </p:sp>
      <p:sp>
        <p:nvSpPr>
          <p:cNvPr id="372" name="Google Shape;372;p26"/>
          <p:cNvSpPr txBox="1"/>
          <p:nvPr/>
        </p:nvSpPr>
        <p:spPr>
          <a:xfrm>
            <a:off x="4267200" y="4038600"/>
            <a:ext cx="1828800" cy="511175"/>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25000"/>
              </a:lnSpc>
              <a:spcBef>
                <a:spcPts val="0"/>
              </a:spcBef>
              <a:spcAft>
                <a:spcPts val="0"/>
              </a:spcAft>
              <a:buClr>
                <a:schemeClr val="dk1"/>
              </a:buClr>
              <a:buSzPts val="2200"/>
              <a:buFont typeface="Noto Sans Symbols"/>
              <a:buNone/>
            </a:pPr>
            <a:r>
              <a:rPr b="0" lang="en-US" sz="2200">
                <a:solidFill>
                  <a:schemeClr val="dk1"/>
                </a:solidFill>
                <a:latin typeface="Arial"/>
                <a:ea typeface="Arial"/>
                <a:cs typeface="Arial"/>
                <a:sym typeface="Arial"/>
              </a:rPr>
              <a:t>Revenue</a:t>
            </a:r>
            <a:endParaRPr/>
          </a:p>
        </p:txBody>
      </p:sp>
      <p:sp>
        <p:nvSpPr>
          <p:cNvPr id="373" name="Google Shape;373;p26"/>
          <p:cNvSpPr txBox="1"/>
          <p:nvPr/>
        </p:nvSpPr>
        <p:spPr>
          <a:xfrm>
            <a:off x="6553200" y="4038600"/>
            <a:ext cx="1828800" cy="511175"/>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25000"/>
              </a:lnSpc>
              <a:spcBef>
                <a:spcPts val="0"/>
              </a:spcBef>
              <a:spcAft>
                <a:spcPts val="0"/>
              </a:spcAft>
              <a:buClr>
                <a:schemeClr val="dk1"/>
              </a:buClr>
              <a:buSzPts val="2200"/>
              <a:buFont typeface="Noto Sans Symbols"/>
              <a:buNone/>
            </a:pPr>
            <a:r>
              <a:rPr b="0" lang="en-US" sz="2200">
                <a:solidFill>
                  <a:schemeClr val="dk1"/>
                </a:solidFill>
                <a:latin typeface="Arial"/>
                <a:ea typeface="Arial"/>
                <a:cs typeface="Arial"/>
                <a:sym typeface="Arial"/>
              </a:rPr>
              <a:t>Increase</a:t>
            </a:r>
            <a:endParaRPr/>
          </a:p>
        </p:txBody>
      </p:sp>
      <p:sp>
        <p:nvSpPr>
          <p:cNvPr id="374" name="Google Shape;374;p26"/>
          <p:cNvSpPr txBox="1"/>
          <p:nvPr/>
        </p:nvSpPr>
        <p:spPr>
          <a:xfrm>
            <a:off x="4267200" y="4648200"/>
            <a:ext cx="1828800" cy="473912"/>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25000"/>
              </a:lnSpc>
              <a:spcBef>
                <a:spcPts val="0"/>
              </a:spcBef>
              <a:spcAft>
                <a:spcPts val="0"/>
              </a:spcAft>
              <a:buClr>
                <a:schemeClr val="dk1"/>
              </a:buClr>
              <a:buSzPts val="2200"/>
              <a:buFont typeface="Noto Sans Symbols"/>
              <a:buNone/>
            </a:pPr>
            <a:r>
              <a:rPr b="0" lang="en-US" sz="2200">
                <a:solidFill>
                  <a:schemeClr val="dk1"/>
                </a:solidFill>
                <a:latin typeface="Arial"/>
                <a:ea typeface="Arial"/>
                <a:cs typeface="Arial"/>
                <a:sym typeface="Arial"/>
              </a:rPr>
              <a:t>Drawings</a:t>
            </a:r>
            <a:endParaRPr b="0" sz="2200">
              <a:solidFill>
                <a:schemeClr val="dk1"/>
              </a:solidFill>
              <a:latin typeface="Arial"/>
              <a:ea typeface="Arial"/>
              <a:cs typeface="Arial"/>
              <a:sym typeface="Arial"/>
            </a:endParaRPr>
          </a:p>
        </p:txBody>
      </p:sp>
      <p:sp>
        <p:nvSpPr>
          <p:cNvPr id="375" name="Google Shape;375;p26"/>
          <p:cNvSpPr txBox="1"/>
          <p:nvPr/>
        </p:nvSpPr>
        <p:spPr>
          <a:xfrm>
            <a:off x="6553200" y="4670425"/>
            <a:ext cx="1828800" cy="511175"/>
          </a:xfrm>
          <a:prstGeom prst="rect">
            <a:avLst/>
          </a:prstGeom>
          <a:noFill/>
          <a:ln>
            <a:noFill/>
          </a:ln>
        </p:spPr>
        <p:txBody>
          <a:bodyPr anchorCtr="0" anchor="t" bIns="45700" lIns="91425" spcFirstLastPara="1" rIns="91425" wrap="square" tIns="45700">
            <a:spAutoFit/>
          </a:bodyPr>
          <a:lstStyle/>
          <a:p>
            <a:pPr indent="-457200" lvl="0" marL="457200" marR="0" rtl="0" algn="ctr">
              <a:lnSpc>
                <a:spcPct val="125000"/>
              </a:lnSpc>
              <a:spcBef>
                <a:spcPts val="0"/>
              </a:spcBef>
              <a:spcAft>
                <a:spcPts val="0"/>
              </a:spcAft>
              <a:buClr>
                <a:schemeClr val="dk1"/>
              </a:buClr>
              <a:buSzPts val="2200"/>
              <a:buFont typeface="Noto Sans Symbols"/>
              <a:buNone/>
            </a:pPr>
            <a:r>
              <a:rPr b="0" lang="en-US" sz="2200">
                <a:solidFill>
                  <a:schemeClr val="dk1"/>
                </a:solidFill>
                <a:latin typeface="Arial"/>
                <a:ea typeface="Arial"/>
                <a:cs typeface="Arial"/>
                <a:sym typeface="Arial"/>
              </a:rPr>
              <a:t>Decrease</a:t>
            </a:r>
            <a:endParaRPr/>
          </a:p>
        </p:txBody>
      </p:sp>
      <p:sp>
        <p:nvSpPr>
          <p:cNvPr id="376" name="Google Shape;376;p26"/>
          <p:cNvSpPr/>
          <p:nvPr/>
        </p:nvSpPr>
        <p:spPr>
          <a:xfrm>
            <a:off x="4267200" y="5562600"/>
            <a:ext cx="1905000" cy="457200"/>
          </a:xfrm>
          <a:prstGeom prst="rect">
            <a:avLst/>
          </a:prstGeom>
          <a:solidFill>
            <a:schemeClr val="lt1"/>
          </a:solidFill>
          <a:ln cap="sq"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lt2"/>
              </a:buClr>
              <a:buSzPts val="2400"/>
              <a:buFont typeface="Noto Sans Symbols"/>
              <a:buNone/>
            </a:pPr>
            <a:r>
              <a:t/>
            </a:r>
            <a:endParaRPr b="0" sz="2400">
              <a:solidFill>
                <a:schemeClr val="dk1"/>
              </a:solidFill>
              <a:latin typeface="Arial"/>
              <a:ea typeface="Arial"/>
              <a:cs typeface="Arial"/>
              <a:sym typeface="Arial"/>
            </a:endParaRPr>
          </a:p>
        </p:txBody>
      </p:sp>
      <p:sp>
        <p:nvSpPr>
          <p:cNvPr id="377" name="Google Shape;377;p26"/>
          <p:cNvSpPr/>
          <p:nvPr/>
        </p:nvSpPr>
        <p:spPr>
          <a:xfrm>
            <a:off x="6553200" y="5562600"/>
            <a:ext cx="1905000" cy="457200"/>
          </a:xfrm>
          <a:prstGeom prst="rect">
            <a:avLst/>
          </a:prstGeom>
          <a:solidFill>
            <a:schemeClr val="lt1"/>
          </a:solidFill>
          <a:ln cap="sq"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lt2"/>
              </a:buClr>
              <a:buSzPts val="2400"/>
              <a:buFont typeface="Noto Sans Symbols"/>
              <a:buNone/>
            </a:pPr>
            <a:r>
              <a:t/>
            </a:r>
            <a:endParaRPr b="0" sz="2400">
              <a:solidFill>
                <a:schemeClr val="dk1"/>
              </a:solidFill>
              <a:latin typeface="Arial"/>
              <a:ea typeface="Arial"/>
              <a:cs typeface="Arial"/>
              <a:sym typeface="Arial"/>
            </a:endParaRPr>
          </a:p>
        </p:txBody>
      </p:sp>
      <p:sp>
        <p:nvSpPr>
          <p:cNvPr id="378" name="Google Shape;378;p26"/>
          <p:cNvSpPr/>
          <p:nvPr/>
        </p:nvSpPr>
        <p:spPr>
          <a:xfrm>
            <a:off x="4267200" y="3505200"/>
            <a:ext cx="1905000" cy="457200"/>
          </a:xfrm>
          <a:prstGeom prst="rect">
            <a:avLst/>
          </a:prstGeom>
          <a:solidFill>
            <a:schemeClr val="lt1"/>
          </a:solidFill>
          <a:ln cap="sq"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lt2"/>
              </a:buClr>
              <a:buSzPts val="2400"/>
              <a:buFont typeface="Noto Sans Symbols"/>
              <a:buNone/>
            </a:pPr>
            <a:r>
              <a:t/>
            </a:r>
            <a:endParaRPr b="0" sz="2400">
              <a:solidFill>
                <a:schemeClr val="dk1"/>
              </a:solidFill>
              <a:latin typeface="Arial"/>
              <a:ea typeface="Arial"/>
              <a:cs typeface="Arial"/>
              <a:sym typeface="Arial"/>
            </a:endParaRPr>
          </a:p>
        </p:txBody>
      </p:sp>
      <p:sp>
        <p:nvSpPr>
          <p:cNvPr id="379" name="Google Shape;379;p26"/>
          <p:cNvSpPr/>
          <p:nvPr/>
        </p:nvSpPr>
        <p:spPr>
          <a:xfrm>
            <a:off x="6553200" y="3505200"/>
            <a:ext cx="1905000" cy="457200"/>
          </a:xfrm>
          <a:prstGeom prst="rect">
            <a:avLst/>
          </a:prstGeom>
          <a:solidFill>
            <a:schemeClr val="lt1"/>
          </a:solidFill>
          <a:ln cap="sq"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lt2"/>
              </a:buClr>
              <a:buSzPts val="2400"/>
              <a:buFont typeface="Noto Sans Symbols"/>
              <a:buNone/>
            </a:pPr>
            <a:r>
              <a:t/>
            </a:r>
            <a:endParaRPr b="0" sz="2400">
              <a:solidFill>
                <a:schemeClr val="dk1"/>
              </a:solidFill>
              <a:latin typeface="Arial"/>
              <a:ea typeface="Arial"/>
              <a:cs typeface="Arial"/>
              <a:sym typeface="Arial"/>
            </a:endParaRPr>
          </a:p>
        </p:txBody>
      </p:sp>
      <p:sp>
        <p:nvSpPr>
          <p:cNvPr id="380" name="Google Shape;380;p26"/>
          <p:cNvSpPr/>
          <p:nvPr/>
        </p:nvSpPr>
        <p:spPr>
          <a:xfrm>
            <a:off x="4267200" y="4114800"/>
            <a:ext cx="1905000" cy="457200"/>
          </a:xfrm>
          <a:prstGeom prst="rect">
            <a:avLst/>
          </a:prstGeom>
          <a:solidFill>
            <a:schemeClr val="lt1"/>
          </a:solidFill>
          <a:ln cap="sq"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lt2"/>
              </a:buClr>
              <a:buSzPts val="2400"/>
              <a:buFont typeface="Noto Sans Symbols"/>
              <a:buNone/>
            </a:pPr>
            <a:r>
              <a:t/>
            </a:r>
            <a:endParaRPr b="0" sz="2400">
              <a:solidFill>
                <a:schemeClr val="dk1"/>
              </a:solidFill>
              <a:latin typeface="Arial"/>
              <a:ea typeface="Arial"/>
              <a:cs typeface="Arial"/>
              <a:sym typeface="Arial"/>
            </a:endParaRPr>
          </a:p>
        </p:txBody>
      </p:sp>
      <p:sp>
        <p:nvSpPr>
          <p:cNvPr id="381" name="Google Shape;381;p26"/>
          <p:cNvSpPr/>
          <p:nvPr/>
        </p:nvSpPr>
        <p:spPr>
          <a:xfrm>
            <a:off x="6553200" y="4114800"/>
            <a:ext cx="1905000" cy="457200"/>
          </a:xfrm>
          <a:prstGeom prst="rect">
            <a:avLst/>
          </a:prstGeom>
          <a:solidFill>
            <a:schemeClr val="lt1"/>
          </a:solidFill>
          <a:ln cap="sq"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lt2"/>
              </a:buClr>
              <a:buSzPts val="2400"/>
              <a:buFont typeface="Noto Sans Symbols"/>
              <a:buNone/>
            </a:pPr>
            <a:r>
              <a:t/>
            </a:r>
            <a:endParaRPr b="0" sz="2400">
              <a:solidFill>
                <a:schemeClr val="dk1"/>
              </a:solidFill>
              <a:latin typeface="Arial"/>
              <a:ea typeface="Arial"/>
              <a:cs typeface="Arial"/>
              <a:sym typeface="Arial"/>
            </a:endParaRPr>
          </a:p>
        </p:txBody>
      </p:sp>
      <p:sp>
        <p:nvSpPr>
          <p:cNvPr id="382" name="Google Shape;382;p26"/>
          <p:cNvSpPr/>
          <p:nvPr/>
        </p:nvSpPr>
        <p:spPr>
          <a:xfrm>
            <a:off x="6553200" y="4724400"/>
            <a:ext cx="1905000" cy="457200"/>
          </a:xfrm>
          <a:prstGeom prst="rect">
            <a:avLst/>
          </a:prstGeom>
          <a:solidFill>
            <a:schemeClr val="lt1"/>
          </a:solidFill>
          <a:ln cap="sq"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lt2"/>
              </a:buClr>
              <a:buSzPts val="2400"/>
              <a:buFont typeface="Noto Sans Symbols"/>
              <a:buNone/>
            </a:pPr>
            <a:r>
              <a:t/>
            </a:r>
            <a:endParaRPr b="0" sz="2400">
              <a:solidFill>
                <a:schemeClr val="dk1"/>
              </a:solidFill>
              <a:latin typeface="Arial"/>
              <a:ea typeface="Arial"/>
              <a:cs typeface="Arial"/>
              <a:sym typeface="Arial"/>
            </a:endParaRPr>
          </a:p>
        </p:txBody>
      </p:sp>
      <p:sp>
        <p:nvSpPr>
          <p:cNvPr id="383" name="Google Shape;383;p26"/>
          <p:cNvSpPr/>
          <p:nvPr/>
        </p:nvSpPr>
        <p:spPr>
          <a:xfrm>
            <a:off x="4267200" y="4724400"/>
            <a:ext cx="1905000" cy="457200"/>
          </a:xfrm>
          <a:prstGeom prst="rect">
            <a:avLst/>
          </a:prstGeom>
          <a:solidFill>
            <a:schemeClr val="lt1"/>
          </a:solidFill>
          <a:ln cap="sq"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lt2"/>
              </a:buClr>
              <a:buSzPts val="2400"/>
              <a:buFont typeface="Noto Sans Symbols"/>
              <a:buNone/>
            </a:pPr>
            <a:r>
              <a:t/>
            </a:r>
            <a:endParaRPr b="0" sz="2400">
              <a:solidFill>
                <a:schemeClr val="dk1"/>
              </a:solidFill>
              <a:latin typeface="Arial"/>
              <a:ea typeface="Arial"/>
              <a:cs typeface="Arial"/>
              <a:sym typeface="Arial"/>
            </a:endParaRPr>
          </a:p>
        </p:txBody>
      </p:sp>
      <p:sp>
        <p:nvSpPr>
          <p:cNvPr id="384" name="Google Shape;384;p26"/>
          <p:cNvSpPr txBox="1"/>
          <p:nvPr/>
        </p:nvSpPr>
        <p:spPr>
          <a:xfrm>
            <a:off x="4114800" y="2925763"/>
            <a:ext cx="2209800" cy="42703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2200"/>
              <a:buFont typeface="Noto Sans Symbols"/>
              <a:buNone/>
            </a:pPr>
            <a:r>
              <a:rPr b="0" lang="en-US" sz="2200">
                <a:solidFill>
                  <a:schemeClr val="dk1"/>
                </a:solidFill>
                <a:latin typeface="Arial"/>
                <a:ea typeface="Arial"/>
                <a:cs typeface="Arial"/>
                <a:sym typeface="Arial"/>
              </a:rPr>
              <a:t>Classification</a:t>
            </a:r>
            <a:endParaRPr/>
          </a:p>
        </p:txBody>
      </p:sp>
      <p:sp>
        <p:nvSpPr>
          <p:cNvPr id="385" name="Google Shape;385;p26"/>
          <p:cNvSpPr/>
          <p:nvPr/>
        </p:nvSpPr>
        <p:spPr>
          <a:xfrm>
            <a:off x="609600" y="1393825"/>
            <a:ext cx="7924800" cy="136191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Clr>
                <a:schemeClr val="dk1"/>
              </a:buClr>
              <a:buSzPts val="2200"/>
              <a:buFont typeface="Noto Sans Symbols"/>
              <a:buNone/>
            </a:pPr>
            <a:r>
              <a:rPr b="0" lang="en-US" sz="2200">
                <a:solidFill>
                  <a:schemeClr val="dk1"/>
                </a:solidFill>
                <a:latin typeface="Arial"/>
                <a:ea typeface="Arial"/>
                <a:cs typeface="Arial"/>
                <a:sym typeface="Arial"/>
              </a:rPr>
              <a:t>Classify the following items as investment by owner, owner’s drawings, revenue, or expenses. Then indicate whether each item increases or decreases owner’s equity.</a:t>
            </a:r>
            <a:endParaRPr b="0" sz="2200">
              <a:solidFill>
                <a:schemeClr val="dk1"/>
              </a:solidFill>
              <a:latin typeface="Arial"/>
              <a:ea typeface="Arial"/>
              <a:cs typeface="Arial"/>
              <a:sym typeface="Arial"/>
            </a:endParaRPr>
          </a:p>
        </p:txBody>
      </p:sp>
      <p:sp>
        <p:nvSpPr>
          <p:cNvPr id="386" name="Google Shape;386;p26"/>
          <p:cNvSpPr/>
          <p:nvPr/>
        </p:nvSpPr>
        <p:spPr>
          <a:xfrm>
            <a:off x="609600" y="3441700"/>
            <a:ext cx="3276600" cy="28003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l">
              <a:lnSpc>
                <a:spcPct val="130000"/>
              </a:lnSpc>
              <a:spcBef>
                <a:spcPts val="0"/>
              </a:spcBef>
              <a:spcAft>
                <a:spcPts val="0"/>
              </a:spcAft>
              <a:buClr>
                <a:schemeClr val="dk1"/>
              </a:buClr>
              <a:buSzPts val="2200"/>
              <a:buFont typeface="Noto Sans Symbols"/>
              <a:buAutoNum type="arabicPeriod"/>
            </a:pPr>
            <a:r>
              <a:rPr b="0" lang="en-US" sz="2200">
                <a:solidFill>
                  <a:schemeClr val="dk1"/>
                </a:solidFill>
                <a:latin typeface="Arial"/>
                <a:ea typeface="Arial"/>
                <a:cs typeface="Arial"/>
                <a:sym typeface="Arial"/>
              </a:rPr>
              <a:t>Rent Expense</a:t>
            </a:r>
            <a:endParaRPr/>
          </a:p>
          <a:p>
            <a:pPr indent="-457200" lvl="0" marL="457200" marR="0" rtl="0" algn="l">
              <a:lnSpc>
                <a:spcPct val="130000"/>
              </a:lnSpc>
              <a:spcBef>
                <a:spcPts val="1100"/>
              </a:spcBef>
              <a:spcAft>
                <a:spcPts val="0"/>
              </a:spcAft>
              <a:buClr>
                <a:schemeClr val="dk1"/>
              </a:buClr>
              <a:buSzPts val="2200"/>
              <a:buFont typeface="Noto Sans Symbols"/>
              <a:buAutoNum type="arabicPeriod"/>
            </a:pPr>
            <a:r>
              <a:rPr b="0" lang="en-US" sz="2200">
                <a:solidFill>
                  <a:schemeClr val="dk1"/>
                </a:solidFill>
                <a:latin typeface="Arial"/>
                <a:ea typeface="Arial"/>
                <a:cs typeface="Arial"/>
                <a:sym typeface="Arial"/>
              </a:rPr>
              <a:t>Service Revenue</a:t>
            </a:r>
            <a:endParaRPr/>
          </a:p>
          <a:p>
            <a:pPr indent="-457200" lvl="0" marL="457200" marR="0" rtl="0" algn="l">
              <a:lnSpc>
                <a:spcPct val="130000"/>
              </a:lnSpc>
              <a:spcBef>
                <a:spcPts val="1100"/>
              </a:spcBef>
              <a:spcAft>
                <a:spcPts val="0"/>
              </a:spcAft>
              <a:buClr>
                <a:schemeClr val="dk1"/>
              </a:buClr>
              <a:buSzPts val="2200"/>
              <a:buFont typeface="Noto Sans Symbols"/>
              <a:buAutoNum type="arabicPeriod"/>
            </a:pPr>
            <a:r>
              <a:rPr b="0" lang="en-US" sz="2200">
                <a:solidFill>
                  <a:schemeClr val="dk1"/>
                </a:solidFill>
                <a:latin typeface="Arial"/>
                <a:ea typeface="Arial"/>
                <a:cs typeface="Arial"/>
                <a:sym typeface="Arial"/>
              </a:rPr>
              <a:t>Drawings</a:t>
            </a:r>
            <a:endParaRPr b="0" sz="2200">
              <a:solidFill>
                <a:schemeClr val="dk1"/>
              </a:solidFill>
              <a:latin typeface="Arial"/>
              <a:ea typeface="Arial"/>
              <a:cs typeface="Arial"/>
              <a:sym typeface="Arial"/>
            </a:endParaRPr>
          </a:p>
          <a:p>
            <a:pPr indent="-457200" lvl="0" marL="457200" marR="0" rtl="0" algn="l">
              <a:lnSpc>
                <a:spcPct val="130000"/>
              </a:lnSpc>
              <a:spcBef>
                <a:spcPts val="1100"/>
              </a:spcBef>
              <a:spcAft>
                <a:spcPts val="0"/>
              </a:spcAft>
              <a:buClr>
                <a:schemeClr val="dk1"/>
              </a:buClr>
              <a:buSzPts val="2200"/>
              <a:buFont typeface="Noto Sans Symbols"/>
              <a:buAutoNum type="arabicPeriod"/>
            </a:pPr>
            <a:r>
              <a:rPr b="0" lang="en-US" sz="2200">
                <a:solidFill>
                  <a:schemeClr val="dk1"/>
                </a:solidFill>
                <a:latin typeface="Arial"/>
                <a:ea typeface="Arial"/>
                <a:cs typeface="Arial"/>
                <a:sym typeface="Arial"/>
              </a:rPr>
              <a:t>Salaries and Wages Expense</a:t>
            </a:r>
            <a:endParaRPr b="0" sz="2200">
              <a:solidFill>
                <a:schemeClr val="dk1"/>
              </a:solidFill>
              <a:latin typeface="Arial"/>
              <a:ea typeface="Arial"/>
              <a:cs typeface="Arial"/>
              <a:sym typeface="Arial"/>
            </a:endParaRPr>
          </a:p>
        </p:txBody>
      </p:sp>
      <p:cxnSp>
        <p:nvCxnSpPr>
          <p:cNvPr id="387" name="Google Shape;387;p26"/>
          <p:cNvCxnSpPr/>
          <p:nvPr/>
        </p:nvCxnSpPr>
        <p:spPr>
          <a:xfrm>
            <a:off x="4267200" y="3352800"/>
            <a:ext cx="1905000" cy="0"/>
          </a:xfrm>
          <a:prstGeom prst="straightConnector1">
            <a:avLst/>
          </a:prstGeom>
          <a:noFill/>
          <a:ln cap="sq" cmpd="sng" w="28575">
            <a:solidFill>
              <a:schemeClr val="dk1"/>
            </a:solidFill>
            <a:prstDash val="solid"/>
            <a:round/>
            <a:headEnd len="sm" w="sm" type="none"/>
            <a:tailEnd len="sm" w="sm" type="none"/>
          </a:ln>
        </p:spPr>
      </p:cxnSp>
      <p:sp>
        <p:nvSpPr>
          <p:cNvPr id="388" name="Google Shape;388;p26"/>
          <p:cNvSpPr txBox="1"/>
          <p:nvPr/>
        </p:nvSpPr>
        <p:spPr>
          <a:xfrm>
            <a:off x="6400800" y="2925763"/>
            <a:ext cx="2209800" cy="42703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2200"/>
              <a:buFont typeface="Noto Sans Symbols"/>
              <a:buNone/>
            </a:pPr>
            <a:r>
              <a:rPr b="0" lang="en-US" sz="2200">
                <a:solidFill>
                  <a:schemeClr val="dk1"/>
                </a:solidFill>
                <a:latin typeface="Arial"/>
                <a:ea typeface="Arial"/>
                <a:cs typeface="Arial"/>
                <a:sym typeface="Arial"/>
              </a:rPr>
              <a:t>Effect on Equity</a:t>
            </a:r>
            <a:endParaRPr/>
          </a:p>
        </p:txBody>
      </p:sp>
      <p:cxnSp>
        <p:nvCxnSpPr>
          <p:cNvPr id="389" name="Google Shape;389;p26"/>
          <p:cNvCxnSpPr/>
          <p:nvPr/>
        </p:nvCxnSpPr>
        <p:spPr>
          <a:xfrm>
            <a:off x="6553200" y="3352800"/>
            <a:ext cx="1905000" cy="0"/>
          </a:xfrm>
          <a:prstGeom prst="straightConnector1">
            <a:avLst/>
          </a:prstGeom>
          <a:noFill/>
          <a:ln cap="sq" cmpd="sng" w="28575">
            <a:solidFill>
              <a:schemeClr val="dk1"/>
            </a:solidFill>
            <a:prstDash val="solid"/>
            <a:round/>
            <a:headEnd len="sm" w="sm" type="none"/>
            <a:tailEnd len="sm" w="sm" type="none"/>
          </a:ln>
        </p:spPr>
      </p:cxnSp>
      <p:sp>
        <p:nvSpPr>
          <p:cNvPr id="390" name="Google Shape;390;p26"/>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3 </a:t>
            </a:r>
            <a:endParaRPr b="1" i="1" sz="1600">
              <a:solidFill>
                <a:schemeClr val="lt2"/>
              </a:solidFill>
              <a:latin typeface="Arial"/>
              <a:ea typeface="Arial"/>
              <a:cs typeface="Arial"/>
              <a:sym typeface="Arial"/>
            </a:endParaRPr>
          </a:p>
        </p:txBody>
      </p:sp>
      <p:pic>
        <p:nvPicPr>
          <p:cNvPr id="391" name="Google Shape;391;p26"/>
          <p:cNvPicPr preferRelativeResize="0"/>
          <p:nvPr/>
        </p:nvPicPr>
        <p:blipFill rotWithShape="1">
          <a:blip r:embed="rId3">
            <a:alphaModFix/>
          </a:blip>
          <a:srcRect b="0" l="0" r="0" t="0"/>
          <a:stretch/>
        </p:blipFill>
        <p:spPr>
          <a:xfrm>
            <a:off x="2493472" y="571501"/>
            <a:ext cx="409385" cy="344759"/>
          </a:xfrm>
          <a:prstGeom prst="rect">
            <a:avLst/>
          </a:prstGeom>
          <a:noFill/>
          <a:ln>
            <a:noFill/>
          </a:ln>
        </p:spPr>
      </p:pic>
      <p:sp>
        <p:nvSpPr>
          <p:cNvPr id="392" name="Google Shape;392;p26"/>
          <p:cNvSpPr txBox="1"/>
          <p:nvPr/>
        </p:nvSpPr>
        <p:spPr>
          <a:xfrm>
            <a:off x="0" y="428624"/>
            <a:ext cx="3276600" cy="691039"/>
          </a:xfrm>
          <a:prstGeom prst="rect">
            <a:avLst/>
          </a:prstGeom>
          <a:solidFill>
            <a:srgbClr val="D8D8D8"/>
          </a:solidFill>
          <a:ln>
            <a:noFill/>
          </a:ln>
        </p:spPr>
        <p:txBody>
          <a:bodyPr anchorCtr="0" anchor="t" bIns="45700" lIns="0" spcFirstLastPara="1" rIns="91425" wrap="square" tIns="0">
            <a:noAutofit/>
          </a:bodyPr>
          <a:lstStyle/>
          <a:p>
            <a:pPr indent="0" lvl="0" marL="519113" marR="0" rtl="0" algn="l">
              <a:spcBef>
                <a:spcPts val="0"/>
              </a:spcBef>
              <a:spcAft>
                <a:spcPts val="0"/>
              </a:spcAft>
              <a:buNone/>
            </a:pPr>
            <a:r>
              <a:rPr b="1" lang="en-US" sz="4200">
                <a:solidFill>
                  <a:srgbClr val="FF9900"/>
                </a:solidFill>
                <a:latin typeface="Arial"/>
                <a:ea typeface="Arial"/>
                <a:cs typeface="Arial"/>
                <a:sym typeface="Arial"/>
              </a:rPr>
              <a:t>DO IT!</a:t>
            </a:r>
            <a:endParaRPr b="1" sz="4200">
              <a:solidFill>
                <a:srgbClr val="FF9900"/>
              </a:solidFill>
              <a:latin typeface="Arial"/>
              <a:ea typeface="Arial"/>
              <a:cs typeface="Arial"/>
              <a:sym typeface="Arial"/>
            </a:endParaRPr>
          </a:p>
        </p:txBody>
      </p:sp>
      <p:sp>
        <p:nvSpPr>
          <p:cNvPr id="393" name="Google Shape;393;p26"/>
          <p:cNvSpPr/>
          <p:nvPr/>
        </p:nvSpPr>
        <p:spPr>
          <a:xfrm>
            <a:off x="2286000" y="428626"/>
            <a:ext cx="762000" cy="691038"/>
          </a:xfrm>
          <a:prstGeom prst="ellipse">
            <a:avLst/>
          </a:prstGeom>
          <a:solidFill>
            <a:schemeClr val="accent3"/>
          </a:solidFill>
          <a:ln cap="sq" cmpd="sng" w="12700">
            <a:solidFill>
              <a:srgbClr val="7F7F7F"/>
            </a:solidFill>
            <a:prstDash val="dash"/>
            <a:round/>
            <a:headEnd len="sm" w="sm" type="none"/>
            <a:tailEnd len="sm" w="sm" type="none"/>
          </a:ln>
        </p:spPr>
        <p:txBody>
          <a:bodyPr anchorCtr="0" anchor="ctr" bIns="45700" lIns="91425" spcFirstLastPara="1" rIns="91425" wrap="square" tIns="0">
            <a:noAutofit/>
          </a:bodyPr>
          <a:lstStyle/>
          <a:p>
            <a:pPr indent="0" lvl="0" marL="0" marR="0" rtl="0" algn="ctr">
              <a:lnSpc>
                <a:spcPct val="100000"/>
              </a:lnSpc>
              <a:spcBef>
                <a:spcPts val="0"/>
              </a:spcBef>
              <a:spcAft>
                <a:spcPts val="0"/>
              </a:spcAft>
              <a:buClr>
                <a:srgbClr val="FF9900"/>
              </a:buClr>
              <a:buSzPts val="3200"/>
              <a:buFont typeface="Arial"/>
              <a:buNone/>
            </a:pPr>
            <a:r>
              <a:rPr b="1" i="0" lang="en-US" sz="3200" u="none" cap="none" strike="noStrike">
                <a:solidFill>
                  <a:srgbClr val="FF9900"/>
                </a:solidFill>
                <a:latin typeface="Arial"/>
                <a:ea typeface="Arial"/>
                <a:cs typeface="Arial"/>
                <a:sym typeface="Arial"/>
              </a:rPr>
              <a:t>3</a:t>
            </a:r>
            <a:endParaRPr/>
          </a:p>
        </p:txBody>
      </p:sp>
      <p:sp>
        <p:nvSpPr>
          <p:cNvPr id="394" name="Google Shape;394;p26"/>
          <p:cNvSpPr txBox="1"/>
          <p:nvPr/>
        </p:nvSpPr>
        <p:spPr>
          <a:xfrm>
            <a:off x="3276600" y="501929"/>
            <a:ext cx="5867400" cy="566928"/>
          </a:xfrm>
          <a:prstGeom prst="rect">
            <a:avLst/>
          </a:prstGeom>
          <a:solidFill>
            <a:srgbClr val="0027A4"/>
          </a:solidFill>
          <a:ln>
            <a:noFill/>
          </a:ln>
        </p:spPr>
        <p:txBody>
          <a:bodyPr anchorCtr="0" anchor="t" bIns="43225" lIns="86475" spcFirstLastPara="1" rIns="86475" wrap="square" tIns="43225">
            <a:noAutofit/>
          </a:bodyPr>
          <a:lstStyle/>
          <a:p>
            <a:pPr indent="0" lvl="0" marL="111120" marR="0" rtl="0" algn="l">
              <a:spcBef>
                <a:spcPts val="0"/>
              </a:spcBef>
              <a:spcAft>
                <a:spcPts val="0"/>
              </a:spcAft>
              <a:buNone/>
            </a:pPr>
            <a:r>
              <a:rPr b="1" lang="en-US" sz="2800">
                <a:solidFill>
                  <a:schemeClr val="lt1"/>
                </a:solidFill>
                <a:latin typeface="Arial"/>
                <a:ea typeface="Arial"/>
                <a:cs typeface="Arial"/>
                <a:sym typeface="Arial"/>
              </a:rPr>
              <a:t>Owner's Equity Effects</a:t>
            </a:r>
            <a:endParaRPr b="1" sz="2800">
              <a:solidFill>
                <a:schemeClr val="lt1"/>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78"/>
                                        </p:tgtEl>
                                      </p:cBhvr>
                                    </p:animEffect>
                                    <p:set>
                                      <p:cBhvr>
                                        <p:cTn dur="1" fill="hold">
                                          <p:stCondLst>
                                            <p:cond delay="500"/>
                                          </p:stCondLst>
                                        </p:cTn>
                                        <p:tgtEl>
                                          <p:spTgt spid="37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79"/>
                                        </p:tgtEl>
                                      </p:cBhvr>
                                    </p:animEffect>
                                    <p:set>
                                      <p:cBhvr>
                                        <p:cTn dur="1" fill="hold">
                                          <p:stCondLst>
                                            <p:cond delay="500"/>
                                          </p:stCondLst>
                                        </p:cTn>
                                        <p:tgtEl>
                                          <p:spTgt spid="37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80"/>
                                        </p:tgtEl>
                                      </p:cBhvr>
                                    </p:animEffect>
                                    <p:set>
                                      <p:cBhvr>
                                        <p:cTn dur="1" fill="hold">
                                          <p:stCondLst>
                                            <p:cond delay="500"/>
                                          </p:stCondLst>
                                        </p:cTn>
                                        <p:tgtEl>
                                          <p:spTgt spid="38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81"/>
                                        </p:tgtEl>
                                      </p:cBhvr>
                                    </p:animEffect>
                                    <p:set>
                                      <p:cBhvr>
                                        <p:cTn dur="1" fill="hold">
                                          <p:stCondLst>
                                            <p:cond delay="500"/>
                                          </p:stCondLst>
                                        </p:cTn>
                                        <p:tgtEl>
                                          <p:spTgt spid="38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83"/>
                                        </p:tgtEl>
                                      </p:cBhvr>
                                    </p:animEffect>
                                    <p:set>
                                      <p:cBhvr>
                                        <p:cTn dur="1" fill="hold">
                                          <p:stCondLst>
                                            <p:cond delay="500"/>
                                          </p:stCondLst>
                                        </p:cTn>
                                        <p:tgtEl>
                                          <p:spTgt spid="38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82"/>
                                        </p:tgtEl>
                                      </p:cBhvr>
                                    </p:animEffect>
                                    <p:set>
                                      <p:cBhvr>
                                        <p:cTn dur="1" fill="hold">
                                          <p:stCondLst>
                                            <p:cond delay="500"/>
                                          </p:stCondLst>
                                        </p:cTn>
                                        <p:tgtEl>
                                          <p:spTgt spid="38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76"/>
                                        </p:tgtEl>
                                      </p:cBhvr>
                                    </p:animEffect>
                                    <p:set>
                                      <p:cBhvr>
                                        <p:cTn dur="1" fill="hold">
                                          <p:stCondLst>
                                            <p:cond delay="500"/>
                                          </p:stCondLst>
                                        </p:cTn>
                                        <p:tgtEl>
                                          <p:spTgt spid="37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77"/>
                                        </p:tgtEl>
                                      </p:cBhvr>
                                    </p:animEffect>
                                    <p:set>
                                      <p:cBhvr>
                                        <p:cTn dur="1" fill="hold">
                                          <p:stCondLst>
                                            <p:cond delay="500"/>
                                          </p:stCondLst>
                                        </p:cTn>
                                        <p:tgtEl>
                                          <p:spTgt spid="37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27"/>
          <p:cNvSpPr txBox="1"/>
          <p:nvPr/>
        </p:nvSpPr>
        <p:spPr>
          <a:xfrm>
            <a:off x="533400" y="1479550"/>
            <a:ext cx="7772400" cy="3090013"/>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Clr>
                <a:srgbClr val="800000"/>
              </a:buClr>
              <a:buSzPts val="1840"/>
              <a:buFont typeface="Noto Sans Symbols"/>
              <a:buNone/>
            </a:pPr>
            <a:r>
              <a:rPr b="1" lang="en-US" sz="2300">
                <a:solidFill>
                  <a:schemeClr val="hlink"/>
                </a:solidFill>
                <a:latin typeface="Arial"/>
                <a:ea typeface="Arial"/>
                <a:cs typeface="Arial"/>
                <a:sym typeface="Arial"/>
              </a:rPr>
              <a:t>Transactions</a:t>
            </a:r>
            <a:r>
              <a:rPr b="0" lang="en-US" sz="2300">
                <a:solidFill>
                  <a:schemeClr val="lt2"/>
                </a:solidFill>
                <a:latin typeface="Arial"/>
                <a:ea typeface="Arial"/>
                <a:cs typeface="Arial"/>
                <a:sym typeface="Arial"/>
              </a:rPr>
              <a:t> are a business’s economic events recorded by accountants.</a:t>
            </a:r>
            <a:endParaRPr/>
          </a:p>
          <a:p>
            <a:pPr indent="-457200" lvl="1" marL="685800" marR="0" rtl="0" algn="l">
              <a:lnSpc>
                <a:spcPct val="125000"/>
              </a:lnSpc>
              <a:spcBef>
                <a:spcPts val="1200"/>
              </a:spcBef>
              <a:spcAft>
                <a:spcPts val="0"/>
              </a:spcAft>
              <a:buClr>
                <a:srgbClr val="800000"/>
              </a:buClr>
              <a:buSzPts val="1760"/>
              <a:buFont typeface="Noto Sans Symbols"/>
              <a:buChar char="◆"/>
            </a:pPr>
            <a:r>
              <a:rPr b="0" i="0" lang="en-US" sz="2200" u="none" cap="none" strike="noStrike">
                <a:solidFill>
                  <a:schemeClr val="lt2"/>
                </a:solidFill>
                <a:latin typeface="Arial"/>
                <a:ea typeface="Arial"/>
                <a:cs typeface="Arial"/>
                <a:sym typeface="Arial"/>
              </a:rPr>
              <a:t>May be </a:t>
            </a:r>
            <a:r>
              <a:rPr b="1" i="0" lang="en-US" sz="2200" u="none" cap="none" strike="noStrike">
                <a:solidFill>
                  <a:schemeClr val="lt2"/>
                </a:solidFill>
                <a:latin typeface="Arial"/>
                <a:ea typeface="Arial"/>
                <a:cs typeface="Arial"/>
                <a:sym typeface="Arial"/>
              </a:rPr>
              <a:t>external</a:t>
            </a:r>
            <a:r>
              <a:rPr b="0" i="0" lang="en-US" sz="2200" u="none" cap="none" strike="noStrike">
                <a:solidFill>
                  <a:schemeClr val="lt2"/>
                </a:solidFill>
                <a:latin typeface="Arial"/>
                <a:ea typeface="Arial"/>
                <a:cs typeface="Arial"/>
                <a:sym typeface="Arial"/>
              </a:rPr>
              <a:t> or </a:t>
            </a:r>
            <a:r>
              <a:rPr b="1" i="0" lang="en-US" sz="2200" u="none" cap="none" strike="noStrike">
                <a:solidFill>
                  <a:schemeClr val="lt2"/>
                </a:solidFill>
                <a:latin typeface="Arial"/>
                <a:ea typeface="Arial"/>
                <a:cs typeface="Arial"/>
                <a:sym typeface="Arial"/>
              </a:rPr>
              <a:t>internal</a:t>
            </a:r>
            <a:r>
              <a:rPr b="0" i="0" lang="en-US" sz="2200" u="none" cap="none" strike="noStrike">
                <a:solidFill>
                  <a:schemeClr val="lt2"/>
                </a:solidFill>
                <a:latin typeface="Arial"/>
                <a:ea typeface="Arial"/>
                <a:cs typeface="Arial"/>
                <a:sym typeface="Arial"/>
              </a:rPr>
              <a:t>.</a:t>
            </a:r>
            <a:endParaRPr/>
          </a:p>
          <a:p>
            <a:pPr indent="-457200" lvl="1" marL="685800" marR="0" rtl="0" algn="l">
              <a:lnSpc>
                <a:spcPct val="125000"/>
              </a:lnSpc>
              <a:spcBef>
                <a:spcPts val="1200"/>
              </a:spcBef>
              <a:spcAft>
                <a:spcPts val="0"/>
              </a:spcAft>
              <a:buClr>
                <a:srgbClr val="800000"/>
              </a:buClr>
              <a:buSzPts val="1760"/>
              <a:buFont typeface="Noto Sans Symbols"/>
              <a:buChar char="◆"/>
            </a:pPr>
            <a:r>
              <a:rPr b="0" i="0" lang="en-US" sz="2200" u="none" cap="none" strike="noStrike">
                <a:solidFill>
                  <a:schemeClr val="lt2"/>
                </a:solidFill>
                <a:latin typeface="Arial"/>
                <a:ea typeface="Arial"/>
                <a:cs typeface="Arial"/>
                <a:sym typeface="Arial"/>
              </a:rPr>
              <a:t>Not all activities represent transactions.</a:t>
            </a:r>
            <a:endParaRPr/>
          </a:p>
          <a:p>
            <a:pPr indent="-457200" lvl="1" marL="685800" marR="0" rtl="0" algn="l">
              <a:lnSpc>
                <a:spcPct val="125000"/>
              </a:lnSpc>
              <a:spcBef>
                <a:spcPts val="1200"/>
              </a:spcBef>
              <a:spcAft>
                <a:spcPts val="0"/>
              </a:spcAft>
              <a:buClr>
                <a:srgbClr val="800000"/>
              </a:buClr>
              <a:buSzPts val="1760"/>
              <a:buFont typeface="Noto Sans Symbols"/>
              <a:buChar char="◆"/>
            </a:pPr>
            <a:r>
              <a:rPr b="0" i="0" lang="en-US" sz="2200" u="none" cap="none" strike="noStrike">
                <a:solidFill>
                  <a:schemeClr val="lt2"/>
                </a:solidFill>
                <a:latin typeface="Arial"/>
                <a:ea typeface="Arial"/>
                <a:cs typeface="Arial"/>
                <a:sym typeface="Arial"/>
              </a:rPr>
              <a:t>Each transaction has a dual effect on the accounting equation.</a:t>
            </a:r>
            <a:endParaRPr/>
          </a:p>
        </p:txBody>
      </p:sp>
      <p:sp>
        <p:nvSpPr>
          <p:cNvPr id="400" name="Google Shape;400;p27"/>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4 </a:t>
            </a:r>
            <a:endParaRPr b="1" i="1" sz="1600">
              <a:solidFill>
                <a:schemeClr val="lt2"/>
              </a:solidFill>
              <a:latin typeface="Arial"/>
              <a:ea typeface="Arial"/>
              <a:cs typeface="Arial"/>
              <a:sym typeface="Arial"/>
            </a:endParaRPr>
          </a:p>
        </p:txBody>
      </p:sp>
      <p:sp>
        <p:nvSpPr>
          <p:cNvPr id="401" name="Google Shape;401;p27"/>
          <p:cNvSpPr/>
          <p:nvPr/>
        </p:nvSpPr>
        <p:spPr>
          <a:xfrm>
            <a:off x="0" y="405765"/>
            <a:ext cx="2540000" cy="677228"/>
          </a:xfrm>
          <a:prstGeom prst="rect">
            <a:avLst/>
          </a:prstGeom>
          <a:solidFill>
            <a:srgbClr val="D8D8D8"/>
          </a:solidFill>
          <a:ln>
            <a:noFill/>
          </a:ln>
        </p:spPr>
        <p:txBody>
          <a:bodyPr anchorCtr="0" anchor="ctr" bIns="43225" lIns="86475" spcFirstLastPara="1" rIns="86475" wrap="square" tIns="43225">
            <a:noAutofit/>
          </a:bodyPr>
          <a:lstStyle/>
          <a:p>
            <a:pPr indent="0" lvl="0" marL="231775" marR="0" rtl="0" algn="l">
              <a:spcBef>
                <a:spcPts val="0"/>
              </a:spcBef>
              <a:spcAft>
                <a:spcPts val="0"/>
              </a:spcAft>
              <a:buNone/>
            </a:pPr>
            <a:r>
              <a:rPr b="1" lang="en-US" sz="1700">
                <a:solidFill>
                  <a:schemeClr val="dk1"/>
                </a:solidFill>
                <a:latin typeface="Arial"/>
                <a:ea typeface="Arial"/>
                <a:cs typeface="Arial"/>
                <a:sym typeface="Arial"/>
              </a:rPr>
              <a:t>LEARNING</a:t>
            </a:r>
            <a:endParaRPr/>
          </a:p>
          <a:p>
            <a:pPr indent="0" lvl="0" marL="231775" marR="0" rtl="0" algn="l">
              <a:spcBef>
                <a:spcPts val="0"/>
              </a:spcBef>
              <a:spcAft>
                <a:spcPts val="0"/>
              </a:spcAft>
              <a:buNone/>
            </a:pPr>
            <a:r>
              <a:rPr b="1" lang="en-US" sz="1700">
                <a:solidFill>
                  <a:schemeClr val="dk1"/>
                </a:solidFill>
                <a:latin typeface="Arial"/>
                <a:ea typeface="Arial"/>
                <a:cs typeface="Arial"/>
                <a:sym typeface="Arial"/>
              </a:rPr>
              <a:t>OBJECTIVE</a:t>
            </a:r>
            <a:endParaRPr/>
          </a:p>
        </p:txBody>
      </p:sp>
      <p:sp>
        <p:nvSpPr>
          <p:cNvPr id="402" name="Google Shape;402;p27"/>
          <p:cNvSpPr/>
          <p:nvPr/>
        </p:nvSpPr>
        <p:spPr>
          <a:xfrm>
            <a:off x="2540000" y="274320"/>
            <a:ext cx="6604000" cy="928688"/>
          </a:xfrm>
          <a:prstGeom prst="rect">
            <a:avLst/>
          </a:prstGeom>
          <a:solidFill>
            <a:srgbClr val="0027A4"/>
          </a:solidFill>
          <a:ln>
            <a:noFill/>
          </a:ln>
        </p:spPr>
        <p:txBody>
          <a:bodyPr anchorCtr="0" anchor="ctr" bIns="43225" lIns="86475" spcFirstLastPara="1" rIns="86475" wrap="square" tIns="34575">
            <a:noAutofit/>
          </a:bodyPr>
          <a:lstStyle/>
          <a:p>
            <a:pPr indent="0" lvl="0" marL="111120" marR="0" rtl="0" algn="l">
              <a:spcBef>
                <a:spcPts val="0"/>
              </a:spcBef>
              <a:spcAft>
                <a:spcPts val="0"/>
              </a:spcAft>
              <a:buNone/>
            </a:pPr>
            <a:r>
              <a:rPr b="1" lang="en-US" sz="2300">
                <a:solidFill>
                  <a:schemeClr val="lt1"/>
                </a:solidFill>
                <a:latin typeface="Arial"/>
                <a:ea typeface="Arial"/>
                <a:cs typeface="Arial"/>
                <a:sym typeface="Arial"/>
              </a:rPr>
              <a:t>Analyze the effects of business transactions on the accounting equation.</a:t>
            </a:r>
            <a:endParaRPr/>
          </a:p>
        </p:txBody>
      </p:sp>
      <p:sp>
        <p:nvSpPr>
          <p:cNvPr id="403" name="Google Shape;403;p27"/>
          <p:cNvSpPr/>
          <p:nvPr/>
        </p:nvSpPr>
        <p:spPr>
          <a:xfrm>
            <a:off x="1872343" y="485775"/>
            <a:ext cx="522514" cy="514350"/>
          </a:xfrm>
          <a:prstGeom prst="ellipse">
            <a:avLst/>
          </a:prstGeom>
          <a:solidFill>
            <a:srgbClr val="FF9900"/>
          </a:solidFill>
          <a:ln>
            <a:noFill/>
          </a:ln>
        </p:spPr>
        <p:txBody>
          <a:bodyPr anchorCtr="0" anchor="ctr" bIns="43225" lIns="86475" spcFirstLastPara="1" rIns="86475" wrap="square" tIns="0">
            <a:noAutofit/>
          </a:bodyPr>
          <a:lstStyle/>
          <a:p>
            <a:pPr indent="0" lvl="0" marL="0" marR="0" rtl="0" algn="ctr">
              <a:spcBef>
                <a:spcPts val="0"/>
              </a:spcBef>
              <a:spcAft>
                <a:spcPts val="0"/>
              </a:spcAft>
              <a:buNone/>
            </a:pPr>
            <a:r>
              <a:rPr b="1" lang="en-US" sz="2500">
                <a:solidFill>
                  <a:schemeClr val="lt1"/>
                </a:solidFill>
                <a:latin typeface="Arial"/>
                <a:ea typeface="Arial"/>
                <a:cs typeface="Arial"/>
                <a:sym typeface="Arial"/>
              </a:rPr>
              <a:t>4</a:t>
            </a:r>
            <a:endParaRPr b="1" sz="2500">
              <a:solidFill>
                <a:schemeClr val="lt1"/>
              </a:solidFill>
              <a:latin typeface="Arial"/>
              <a:ea typeface="Arial"/>
              <a:cs typeface="Arial"/>
              <a:sym typeface="Arial"/>
            </a:endParaRPr>
          </a:p>
        </p:txBody>
      </p:sp>
    </p:spTree>
  </p:cSld>
  <p:clrMapOvr>
    <a:masterClrMapping/>
  </p:clrMapOvr>
  <p:transition>
    <p:wipe dir="r"/>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28"/>
          <p:cNvSpPr txBox="1"/>
          <p:nvPr/>
        </p:nvSpPr>
        <p:spPr>
          <a:xfrm>
            <a:off x="533400" y="1295400"/>
            <a:ext cx="8305800" cy="762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990000"/>
              </a:buClr>
              <a:buSzPts val="2200"/>
              <a:buFont typeface="Noto Sans Symbols"/>
              <a:buNone/>
            </a:pPr>
            <a:r>
              <a:rPr b="1" lang="en-US" sz="2200">
                <a:solidFill>
                  <a:srgbClr val="990000"/>
                </a:solidFill>
                <a:latin typeface="Arial"/>
                <a:ea typeface="Arial"/>
                <a:cs typeface="Arial"/>
                <a:sym typeface="Arial"/>
              </a:rPr>
              <a:t>Illustration:</a:t>
            </a:r>
            <a:r>
              <a:rPr b="1" lang="en-US" sz="2200">
                <a:solidFill>
                  <a:schemeClr val="dk1"/>
                </a:solidFill>
                <a:latin typeface="Arial"/>
                <a:ea typeface="Arial"/>
                <a:cs typeface="Arial"/>
                <a:sym typeface="Arial"/>
              </a:rPr>
              <a:t>  </a:t>
            </a:r>
            <a:r>
              <a:rPr b="0" lang="en-US" sz="2200">
                <a:solidFill>
                  <a:schemeClr val="lt2"/>
                </a:solidFill>
                <a:latin typeface="Arial"/>
                <a:ea typeface="Arial"/>
                <a:cs typeface="Arial"/>
                <a:sym typeface="Arial"/>
              </a:rPr>
              <a:t>Are the following events recorded in the accounting records?</a:t>
            </a:r>
            <a:endParaRPr/>
          </a:p>
        </p:txBody>
      </p:sp>
      <p:sp>
        <p:nvSpPr>
          <p:cNvPr id="409" name="Google Shape;409;p28"/>
          <p:cNvSpPr txBox="1"/>
          <p:nvPr/>
        </p:nvSpPr>
        <p:spPr>
          <a:xfrm>
            <a:off x="533400" y="2438400"/>
            <a:ext cx="1143000" cy="4302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200"/>
              <a:buFont typeface="Noto Sans Symbols"/>
              <a:buNone/>
            </a:pPr>
            <a:r>
              <a:rPr b="1" lang="en-US" sz="2200">
                <a:solidFill>
                  <a:schemeClr val="dk1"/>
                </a:solidFill>
                <a:latin typeface="Arial"/>
                <a:ea typeface="Arial"/>
                <a:cs typeface="Arial"/>
                <a:sym typeface="Arial"/>
              </a:rPr>
              <a:t>Event</a:t>
            </a:r>
            <a:endParaRPr/>
          </a:p>
        </p:txBody>
      </p:sp>
      <p:sp>
        <p:nvSpPr>
          <p:cNvPr id="410" name="Google Shape;410;p28"/>
          <p:cNvSpPr txBox="1"/>
          <p:nvPr/>
        </p:nvSpPr>
        <p:spPr>
          <a:xfrm>
            <a:off x="2514600" y="2270125"/>
            <a:ext cx="1828800" cy="7386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2100"/>
              <a:buFont typeface="Noto Sans Symbols"/>
              <a:buNone/>
            </a:pPr>
            <a:r>
              <a:rPr b="0" lang="en-US" sz="2100">
                <a:solidFill>
                  <a:schemeClr val="dk1"/>
                </a:solidFill>
                <a:latin typeface="Arial"/>
                <a:ea typeface="Arial"/>
                <a:cs typeface="Arial"/>
                <a:sym typeface="Arial"/>
              </a:rPr>
              <a:t>Purchase computer</a:t>
            </a:r>
            <a:endParaRPr b="0" sz="2100">
              <a:solidFill>
                <a:schemeClr val="dk1"/>
              </a:solidFill>
              <a:latin typeface="Arial"/>
              <a:ea typeface="Arial"/>
              <a:cs typeface="Arial"/>
              <a:sym typeface="Arial"/>
            </a:endParaRPr>
          </a:p>
        </p:txBody>
      </p:sp>
      <p:sp>
        <p:nvSpPr>
          <p:cNvPr id="411" name="Google Shape;411;p28"/>
          <p:cNvSpPr txBox="1"/>
          <p:nvPr/>
        </p:nvSpPr>
        <p:spPr>
          <a:xfrm>
            <a:off x="533400" y="3733800"/>
            <a:ext cx="1524000" cy="4302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200"/>
              <a:buFont typeface="Noto Sans Symbols"/>
              <a:buNone/>
            </a:pPr>
            <a:r>
              <a:rPr b="1" lang="en-US" sz="2200">
                <a:solidFill>
                  <a:schemeClr val="dk1"/>
                </a:solidFill>
                <a:latin typeface="Arial"/>
                <a:ea typeface="Arial"/>
                <a:cs typeface="Arial"/>
                <a:sym typeface="Arial"/>
              </a:rPr>
              <a:t>Criterion</a:t>
            </a:r>
            <a:endParaRPr/>
          </a:p>
        </p:txBody>
      </p:sp>
      <p:sp>
        <p:nvSpPr>
          <p:cNvPr id="412" name="Google Shape;412;p28"/>
          <p:cNvSpPr txBox="1"/>
          <p:nvPr/>
        </p:nvSpPr>
        <p:spPr>
          <a:xfrm>
            <a:off x="2438400" y="3657600"/>
            <a:ext cx="6324600" cy="762000"/>
          </a:xfrm>
          <a:prstGeom prst="rect">
            <a:avLst/>
          </a:prstGeom>
          <a:solidFill>
            <a:srgbClr val="C5C5FF"/>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100"/>
              <a:buFont typeface="Noto Sans Symbols"/>
              <a:buNone/>
            </a:pPr>
            <a:r>
              <a:rPr b="0" lang="en-US" sz="2100">
                <a:solidFill>
                  <a:schemeClr val="dk1"/>
                </a:solidFill>
                <a:latin typeface="Arial"/>
                <a:ea typeface="Arial"/>
                <a:cs typeface="Arial"/>
                <a:sym typeface="Arial"/>
              </a:rPr>
              <a:t>Is the financial position (assets, liabilities, or owner’s equity) of the company changed?</a:t>
            </a:r>
            <a:endParaRPr b="0" sz="2100">
              <a:solidFill>
                <a:schemeClr val="dk1"/>
              </a:solidFill>
              <a:latin typeface="Arial"/>
              <a:ea typeface="Arial"/>
              <a:cs typeface="Arial"/>
              <a:sym typeface="Arial"/>
            </a:endParaRPr>
          </a:p>
        </p:txBody>
      </p:sp>
      <p:cxnSp>
        <p:nvCxnSpPr>
          <p:cNvPr id="413" name="Google Shape;413;p28"/>
          <p:cNvCxnSpPr/>
          <p:nvPr/>
        </p:nvCxnSpPr>
        <p:spPr>
          <a:xfrm rot="10800000">
            <a:off x="3429000" y="3352800"/>
            <a:ext cx="0" cy="304800"/>
          </a:xfrm>
          <a:prstGeom prst="straightConnector1">
            <a:avLst/>
          </a:prstGeom>
          <a:noFill/>
          <a:ln cap="sq" cmpd="sng" w="28575">
            <a:solidFill>
              <a:schemeClr val="dk1"/>
            </a:solidFill>
            <a:prstDash val="solid"/>
            <a:round/>
            <a:headEnd len="sm" w="sm" type="none"/>
            <a:tailEnd len="sm" w="sm" type="none"/>
          </a:ln>
        </p:spPr>
      </p:cxnSp>
      <p:sp>
        <p:nvSpPr>
          <p:cNvPr id="414" name="Google Shape;414;p28"/>
          <p:cNvSpPr txBox="1"/>
          <p:nvPr/>
        </p:nvSpPr>
        <p:spPr>
          <a:xfrm>
            <a:off x="4419600" y="2108200"/>
            <a:ext cx="2362200" cy="10618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2100"/>
              <a:buFont typeface="Noto Sans Symbols"/>
              <a:buNone/>
            </a:pPr>
            <a:r>
              <a:rPr b="0" lang="en-US" sz="2100">
                <a:solidFill>
                  <a:schemeClr val="dk1"/>
                </a:solidFill>
                <a:latin typeface="Arial"/>
                <a:ea typeface="Arial"/>
                <a:cs typeface="Arial"/>
                <a:sym typeface="Arial"/>
              </a:rPr>
              <a:t>Discuss product design with potential customer</a:t>
            </a:r>
            <a:endParaRPr b="0" sz="2100">
              <a:solidFill>
                <a:schemeClr val="dk1"/>
              </a:solidFill>
              <a:latin typeface="Arial"/>
              <a:ea typeface="Arial"/>
              <a:cs typeface="Arial"/>
              <a:sym typeface="Arial"/>
            </a:endParaRPr>
          </a:p>
        </p:txBody>
      </p:sp>
      <p:sp>
        <p:nvSpPr>
          <p:cNvPr id="415" name="Google Shape;415;p28"/>
          <p:cNvSpPr txBox="1"/>
          <p:nvPr/>
        </p:nvSpPr>
        <p:spPr>
          <a:xfrm>
            <a:off x="6629400" y="2438400"/>
            <a:ext cx="2057400" cy="41549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2100"/>
              <a:buFont typeface="Noto Sans Symbols"/>
              <a:buNone/>
            </a:pPr>
            <a:r>
              <a:rPr b="0" lang="en-US" sz="2100">
                <a:solidFill>
                  <a:schemeClr val="dk1"/>
                </a:solidFill>
                <a:latin typeface="Arial"/>
                <a:ea typeface="Arial"/>
                <a:cs typeface="Arial"/>
                <a:sym typeface="Arial"/>
              </a:rPr>
              <a:t>Pay rent</a:t>
            </a:r>
            <a:endParaRPr b="0" sz="2100">
              <a:solidFill>
                <a:schemeClr val="dk1"/>
              </a:solidFill>
              <a:latin typeface="Arial"/>
              <a:ea typeface="Arial"/>
              <a:cs typeface="Arial"/>
              <a:sym typeface="Arial"/>
            </a:endParaRPr>
          </a:p>
        </p:txBody>
      </p:sp>
      <p:cxnSp>
        <p:nvCxnSpPr>
          <p:cNvPr id="416" name="Google Shape;416;p28"/>
          <p:cNvCxnSpPr/>
          <p:nvPr/>
        </p:nvCxnSpPr>
        <p:spPr>
          <a:xfrm rot="10800000">
            <a:off x="7696200" y="3352800"/>
            <a:ext cx="0" cy="304800"/>
          </a:xfrm>
          <a:prstGeom prst="straightConnector1">
            <a:avLst/>
          </a:prstGeom>
          <a:noFill/>
          <a:ln cap="sq" cmpd="sng" w="28575">
            <a:solidFill>
              <a:schemeClr val="dk1"/>
            </a:solidFill>
            <a:prstDash val="solid"/>
            <a:round/>
            <a:headEnd len="sm" w="sm" type="none"/>
            <a:tailEnd len="sm" w="sm" type="none"/>
          </a:ln>
        </p:spPr>
      </p:cxnSp>
      <p:sp>
        <p:nvSpPr>
          <p:cNvPr id="417" name="Google Shape;417;p28"/>
          <p:cNvSpPr txBox="1"/>
          <p:nvPr/>
        </p:nvSpPr>
        <p:spPr>
          <a:xfrm>
            <a:off x="533400" y="4945063"/>
            <a:ext cx="2133600"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200"/>
              <a:buFont typeface="Noto Sans Symbols"/>
              <a:buNone/>
            </a:pPr>
            <a:r>
              <a:rPr b="1" lang="en-US" sz="2200">
                <a:solidFill>
                  <a:schemeClr val="dk1"/>
                </a:solidFill>
                <a:latin typeface="Arial"/>
                <a:ea typeface="Arial"/>
                <a:cs typeface="Arial"/>
                <a:sym typeface="Arial"/>
              </a:rPr>
              <a:t>Record/  </a:t>
            </a:r>
            <a:endParaRPr b="1" sz="22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2200"/>
              <a:buFont typeface="Noto Sans Symbols"/>
              <a:buNone/>
            </a:pPr>
            <a:r>
              <a:rPr b="1" lang="en-US" sz="2200">
                <a:solidFill>
                  <a:schemeClr val="dk1"/>
                </a:solidFill>
                <a:latin typeface="Arial"/>
                <a:ea typeface="Arial"/>
                <a:cs typeface="Arial"/>
                <a:sym typeface="Arial"/>
              </a:rPr>
              <a:t>Don’t Record</a:t>
            </a:r>
            <a:endParaRPr/>
          </a:p>
        </p:txBody>
      </p:sp>
      <p:sp>
        <p:nvSpPr>
          <p:cNvPr id="418" name="Google Shape;418;p28"/>
          <p:cNvSpPr/>
          <p:nvPr/>
        </p:nvSpPr>
        <p:spPr>
          <a:xfrm>
            <a:off x="3429000" y="4419600"/>
            <a:ext cx="3175" cy="339725"/>
          </a:xfrm>
          <a:custGeom>
            <a:rect b="b" l="l" r="r" t="t"/>
            <a:pathLst>
              <a:path extrusionOk="0" h="214" w="2">
                <a:moveTo>
                  <a:pt x="2" y="0"/>
                </a:moveTo>
                <a:lnTo>
                  <a:pt x="0" y="214"/>
                </a:lnTo>
              </a:path>
            </a:pathLst>
          </a:custGeom>
          <a:noFill/>
          <a:ln cap="sq" cmpd="sng" w="28575">
            <a:solidFill>
              <a:schemeClr val="dk1"/>
            </a:solidFill>
            <a:prstDash val="solid"/>
            <a:round/>
            <a:headEnd len="sm" w="sm" type="none"/>
            <a:tailEnd len="sm" w="sm" type="triangl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419" name="Google Shape;419;p28"/>
          <p:cNvSpPr/>
          <p:nvPr/>
        </p:nvSpPr>
        <p:spPr>
          <a:xfrm>
            <a:off x="5559425" y="4419600"/>
            <a:ext cx="3175" cy="339725"/>
          </a:xfrm>
          <a:custGeom>
            <a:rect b="b" l="l" r="r" t="t"/>
            <a:pathLst>
              <a:path extrusionOk="0" h="214" w="2">
                <a:moveTo>
                  <a:pt x="2" y="0"/>
                </a:moveTo>
                <a:lnTo>
                  <a:pt x="0" y="214"/>
                </a:lnTo>
              </a:path>
            </a:pathLst>
          </a:custGeom>
          <a:noFill/>
          <a:ln cap="sq" cmpd="sng" w="28575">
            <a:solidFill>
              <a:schemeClr val="dk1"/>
            </a:solidFill>
            <a:prstDash val="solid"/>
            <a:round/>
            <a:headEnd len="sm" w="sm" type="none"/>
            <a:tailEnd len="sm" w="sm" type="triangl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420" name="Google Shape;420;p28"/>
          <p:cNvSpPr/>
          <p:nvPr/>
        </p:nvSpPr>
        <p:spPr>
          <a:xfrm>
            <a:off x="7696200" y="4419600"/>
            <a:ext cx="4763" cy="334963"/>
          </a:xfrm>
          <a:custGeom>
            <a:rect b="b" l="l" r="r" t="t"/>
            <a:pathLst>
              <a:path extrusionOk="0" h="211" w="3">
                <a:moveTo>
                  <a:pt x="0" y="0"/>
                </a:moveTo>
                <a:lnTo>
                  <a:pt x="3" y="211"/>
                </a:lnTo>
              </a:path>
            </a:pathLst>
          </a:custGeom>
          <a:noFill/>
          <a:ln cap="sq" cmpd="sng" w="28575">
            <a:solidFill>
              <a:schemeClr val="dk1"/>
            </a:solidFill>
            <a:prstDash val="solid"/>
            <a:round/>
            <a:headEnd len="sm" w="sm" type="none"/>
            <a:tailEnd len="sm" w="sm" type="triangl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cxnSp>
        <p:nvCxnSpPr>
          <p:cNvPr id="421" name="Google Shape;421;p28"/>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422" name="Google Shape;422;p28"/>
          <p:cNvSpPr/>
          <p:nvPr/>
        </p:nvSpPr>
        <p:spPr>
          <a:xfrm>
            <a:off x="533400" y="304800"/>
            <a:ext cx="80772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Transaction Analysis</a:t>
            </a:r>
            <a:endParaRPr b="1" sz="3200">
              <a:solidFill>
                <a:srgbClr val="0000BF"/>
              </a:solidFill>
              <a:latin typeface="Arial"/>
              <a:ea typeface="Arial"/>
              <a:cs typeface="Arial"/>
              <a:sym typeface="Arial"/>
            </a:endParaRPr>
          </a:p>
        </p:txBody>
      </p:sp>
      <p:cxnSp>
        <p:nvCxnSpPr>
          <p:cNvPr id="423" name="Google Shape;423;p28"/>
          <p:cNvCxnSpPr/>
          <p:nvPr/>
        </p:nvCxnSpPr>
        <p:spPr>
          <a:xfrm rot="10800000">
            <a:off x="5562600" y="3352800"/>
            <a:ext cx="0" cy="304800"/>
          </a:xfrm>
          <a:prstGeom prst="straightConnector1">
            <a:avLst/>
          </a:prstGeom>
          <a:noFill/>
          <a:ln cap="sq" cmpd="sng" w="28575">
            <a:solidFill>
              <a:schemeClr val="dk1"/>
            </a:solidFill>
            <a:prstDash val="solid"/>
            <a:round/>
            <a:headEnd len="sm" w="sm" type="none"/>
            <a:tailEnd len="sm" w="sm" type="none"/>
          </a:ln>
        </p:spPr>
      </p:cxnSp>
      <p:pic>
        <p:nvPicPr>
          <p:cNvPr id="424" name="Google Shape;424;p28"/>
          <p:cNvPicPr preferRelativeResize="0"/>
          <p:nvPr/>
        </p:nvPicPr>
        <p:blipFill rotWithShape="1">
          <a:blip r:embed="rId3">
            <a:alphaModFix/>
          </a:blip>
          <a:srcRect b="0" l="0" r="0" t="0"/>
          <a:stretch/>
        </p:blipFill>
        <p:spPr>
          <a:xfrm>
            <a:off x="5105400" y="4872038"/>
            <a:ext cx="952500" cy="1403350"/>
          </a:xfrm>
          <a:prstGeom prst="rect">
            <a:avLst/>
          </a:prstGeom>
          <a:noFill/>
          <a:ln>
            <a:noFill/>
          </a:ln>
        </p:spPr>
      </p:pic>
      <p:pic>
        <p:nvPicPr>
          <p:cNvPr id="425" name="Google Shape;425;p28"/>
          <p:cNvPicPr preferRelativeResize="0"/>
          <p:nvPr/>
        </p:nvPicPr>
        <p:blipFill rotWithShape="1">
          <a:blip r:embed="rId4">
            <a:alphaModFix/>
          </a:blip>
          <a:srcRect b="0" l="0" r="0" t="0"/>
          <a:stretch/>
        </p:blipFill>
        <p:spPr>
          <a:xfrm>
            <a:off x="7315200" y="4864100"/>
            <a:ext cx="755650" cy="1308100"/>
          </a:xfrm>
          <a:prstGeom prst="rect">
            <a:avLst/>
          </a:prstGeom>
          <a:noFill/>
          <a:ln>
            <a:noFill/>
          </a:ln>
        </p:spPr>
      </p:pic>
      <p:pic>
        <p:nvPicPr>
          <p:cNvPr id="426" name="Google Shape;426;p28"/>
          <p:cNvPicPr preferRelativeResize="0"/>
          <p:nvPr/>
        </p:nvPicPr>
        <p:blipFill rotWithShape="1">
          <a:blip r:embed="rId4">
            <a:alphaModFix/>
          </a:blip>
          <a:srcRect b="0" l="0" r="0" t="0"/>
          <a:stretch/>
        </p:blipFill>
        <p:spPr>
          <a:xfrm>
            <a:off x="3054350" y="4876800"/>
            <a:ext cx="755650" cy="1308100"/>
          </a:xfrm>
          <a:prstGeom prst="rect">
            <a:avLst/>
          </a:prstGeom>
          <a:noFill/>
          <a:ln>
            <a:noFill/>
          </a:ln>
        </p:spPr>
      </p:pic>
      <p:sp>
        <p:nvSpPr>
          <p:cNvPr id="427" name="Google Shape;427;p28"/>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4 </a:t>
            </a:r>
            <a:endParaRPr b="1" i="1" sz="1600">
              <a:solidFill>
                <a:schemeClr val="lt2"/>
              </a:solidFill>
              <a:latin typeface="Arial"/>
              <a:ea typeface="Arial"/>
              <a:cs typeface="Arial"/>
              <a:sym typeface="Arial"/>
            </a:endParaRPr>
          </a:p>
        </p:txBody>
      </p:sp>
      <p:sp>
        <p:nvSpPr>
          <p:cNvPr id="428" name="Google Shape;428;p28"/>
          <p:cNvSpPr/>
          <p:nvPr/>
        </p:nvSpPr>
        <p:spPr>
          <a:xfrm>
            <a:off x="7239000" y="1933575"/>
            <a:ext cx="1409700" cy="27622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Clr>
                <a:schemeClr val="dk1"/>
              </a:buClr>
              <a:buSzPts val="1200"/>
              <a:buFont typeface="Noto Sans Symbols"/>
              <a:buNone/>
            </a:pPr>
            <a:r>
              <a:rPr b="1" lang="en-US" sz="1200">
                <a:solidFill>
                  <a:schemeClr val="dk1"/>
                </a:solidFill>
                <a:latin typeface="Arial"/>
                <a:ea typeface="Arial"/>
                <a:cs typeface="Arial"/>
                <a:sym typeface="Arial"/>
              </a:rPr>
              <a:t>Illustration 1-7</a:t>
            </a:r>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6"/>
                                        </p:tgtEl>
                                        <p:attrNameLst>
                                          <p:attrName>style.visibility</p:attrName>
                                        </p:attrNameLst>
                                      </p:cBhvr>
                                      <p:to>
                                        <p:strVal val="visible"/>
                                      </p:to>
                                    </p:set>
                                    <p:animEffect filter="fade" transition="in">
                                      <p:cBhvr>
                                        <p:cTn dur="500"/>
                                        <p:tgtEl>
                                          <p:spTgt spid="4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4"/>
                                        </p:tgtEl>
                                        <p:attrNameLst>
                                          <p:attrName>style.visibility</p:attrName>
                                        </p:attrNameLst>
                                      </p:cBhvr>
                                      <p:to>
                                        <p:strVal val="visible"/>
                                      </p:to>
                                    </p:set>
                                    <p:animEffect filter="fade" transition="in">
                                      <p:cBhvr>
                                        <p:cTn dur="500"/>
                                        <p:tgtEl>
                                          <p:spTgt spid="4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5"/>
                                        </p:tgtEl>
                                        <p:attrNameLst>
                                          <p:attrName>style.visibility</p:attrName>
                                        </p:attrNameLst>
                                      </p:cBhvr>
                                      <p:to>
                                        <p:strVal val="visible"/>
                                      </p:to>
                                    </p:set>
                                    <p:animEffect filter="fade" transition="in">
                                      <p:cBhvr>
                                        <p:cTn dur="500"/>
                                        <p:tgtEl>
                                          <p:spTgt spid="4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cxnSp>
        <p:nvCxnSpPr>
          <p:cNvPr id="433" name="Google Shape;433;p29"/>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434" name="Google Shape;434;p29"/>
          <p:cNvSpPr/>
          <p:nvPr/>
        </p:nvSpPr>
        <p:spPr>
          <a:xfrm>
            <a:off x="533400" y="304800"/>
            <a:ext cx="80772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Transaction Analysis</a:t>
            </a:r>
            <a:endParaRPr/>
          </a:p>
        </p:txBody>
      </p:sp>
      <p:sp>
        <p:nvSpPr>
          <p:cNvPr id="435" name="Google Shape;435;p29"/>
          <p:cNvSpPr txBox="1"/>
          <p:nvPr/>
        </p:nvSpPr>
        <p:spPr>
          <a:xfrm>
            <a:off x="533400" y="1295400"/>
            <a:ext cx="8229600" cy="1408719"/>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900"/>
              <a:buFont typeface="Noto Sans Symbols"/>
              <a:buNone/>
            </a:pPr>
            <a:r>
              <a:rPr b="1" lang="en-US" sz="1900">
                <a:solidFill>
                  <a:schemeClr val="dk1"/>
                </a:solidFill>
                <a:latin typeface="Arial"/>
                <a:ea typeface="Arial"/>
                <a:cs typeface="Arial"/>
                <a:sym typeface="Arial"/>
              </a:rPr>
              <a:t>TRANSACTION 1. INVESTMENT BY OWNER</a:t>
            </a:r>
            <a:r>
              <a:rPr b="0" lang="en-US" sz="1900">
                <a:solidFill>
                  <a:schemeClr val="dk1"/>
                </a:solidFill>
                <a:latin typeface="Arial"/>
                <a:ea typeface="Arial"/>
                <a:cs typeface="Arial"/>
                <a:sym typeface="Arial"/>
              </a:rPr>
              <a:t>  Ray Neal decides to start a smartphone app development company which he names Softbyte. On September 1, 2017, he invests </a:t>
            </a:r>
            <a:r>
              <a:rPr b="1" lang="en-US" sz="1900">
                <a:solidFill>
                  <a:schemeClr val="dk1"/>
                </a:solidFill>
                <a:latin typeface="Arial"/>
                <a:ea typeface="Arial"/>
                <a:cs typeface="Arial"/>
                <a:sym typeface="Arial"/>
              </a:rPr>
              <a:t>$15,000 cash </a:t>
            </a:r>
            <a:r>
              <a:rPr b="0" lang="en-US" sz="1900">
                <a:solidFill>
                  <a:schemeClr val="dk1"/>
                </a:solidFill>
                <a:latin typeface="Arial"/>
                <a:ea typeface="Arial"/>
                <a:cs typeface="Arial"/>
                <a:sym typeface="Arial"/>
              </a:rPr>
              <a:t>in the business. This transaction results in an equal increase in assets and owner’s equity.</a:t>
            </a:r>
            <a:endParaRPr b="0" sz="1900">
              <a:solidFill>
                <a:schemeClr val="dk1"/>
              </a:solidFill>
              <a:latin typeface="Arial"/>
              <a:ea typeface="Arial"/>
              <a:cs typeface="Arial"/>
              <a:sym typeface="Arial"/>
            </a:endParaRPr>
          </a:p>
        </p:txBody>
      </p:sp>
      <p:sp>
        <p:nvSpPr>
          <p:cNvPr id="436" name="Google Shape;436;p29"/>
          <p:cNvSpPr txBox="1"/>
          <p:nvPr/>
        </p:nvSpPr>
        <p:spPr>
          <a:xfrm>
            <a:off x="228600" y="3276600"/>
            <a:ext cx="7620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Trans-</a:t>
            </a:r>
            <a:endParaRPr/>
          </a:p>
          <a:p>
            <a:pPr indent="0" lvl="0" marL="0" marR="0" rtl="0" algn="ctr">
              <a:spcBef>
                <a:spcPts val="0"/>
              </a:spcBef>
              <a:spcAft>
                <a:spcPts val="0"/>
              </a:spcAft>
              <a:buNone/>
            </a:pPr>
            <a:r>
              <a:rPr b="1" lang="en-US" sz="1200">
                <a:solidFill>
                  <a:schemeClr val="dk1"/>
                </a:solidFill>
                <a:latin typeface="Arial"/>
                <a:ea typeface="Arial"/>
                <a:cs typeface="Arial"/>
                <a:sym typeface="Arial"/>
              </a:rPr>
              <a:t>action</a:t>
            </a:r>
            <a:endParaRPr/>
          </a:p>
        </p:txBody>
      </p:sp>
      <p:sp>
        <p:nvSpPr>
          <p:cNvPr id="437" name="Google Shape;437;p29"/>
          <p:cNvSpPr txBox="1"/>
          <p:nvPr/>
        </p:nvSpPr>
        <p:spPr>
          <a:xfrm>
            <a:off x="914400" y="3276600"/>
            <a:ext cx="7620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300">
                <a:solidFill>
                  <a:schemeClr val="dk1"/>
                </a:solidFill>
                <a:latin typeface="Arial"/>
                <a:ea typeface="Arial"/>
                <a:cs typeface="Arial"/>
                <a:sym typeface="Arial"/>
              </a:rPr>
              <a:t>Cash   </a:t>
            </a:r>
            <a:endParaRPr b="1" sz="1300">
              <a:solidFill>
                <a:schemeClr val="dk1"/>
              </a:solidFill>
              <a:latin typeface="Arial"/>
              <a:ea typeface="Arial"/>
              <a:cs typeface="Arial"/>
              <a:sym typeface="Arial"/>
            </a:endParaRPr>
          </a:p>
        </p:txBody>
      </p:sp>
      <p:sp>
        <p:nvSpPr>
          <p:cNvPr id="438" name="Google Shape;438;p29"/>
          <p:cNvSpPr txBox="1"/>
          <p:nvPr/>
        </p:nvSpPr>
        <p:spPr>
          <a:xfrm>
            <a:off x="1752600" y="3276600"/>
            <a:ext cx="914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Accounts</a:t>
            </a:r>
            <a:endParaRPr/>
          </a:p>
          <a:p>
            <a:pPr indent="0" lvl="0" marL="0" marR="0" rtl="0" algn="ctr">
              <a:spcBef>
                <a:spcPts val="0"/>
              </a:spcBef>
              <a:spcAft>
                <a:spcPts val="0"/>
              </a:spcAft>
              <a:buNone/>
            </a:pPr>
            <a:r>
              <a:rPr b="1" lang="en-US" sz="1200">
                <a:solidFill>
                  <a:schemeClr val="dk1"/>
                </a:solidFill>
                <a:latin typeface="Arial"/>
                <a:ea typeface="Arial"/>
                <a:cs typeface="Arial"/>
                <a:sym typeface="Arial"/>
              </a:rPr>
              <a:t>Receivable</a:t>
            </a:r>
            <a:endParaRPr/>
          </a:p>
        </p:txBody>
      </p:sp>
      <p:sp>
        <p:nvSpPr>
          <p:cNvPr id="439" name="Google Shape;439;p29"/>
          <p:cNvSpPr txBox="1"/>
          <p:nvPr/>
        </p:nvSpPr>
        <p:spPr>
          <a:xfrm>
            <a:off x="2857500" y="3276600"/>
            <a:ext cx="800100" cy="523220"/>
          </a:xfrm>
          <a:prstGeom prst="rect">
            <a:avLst/>
          </a:prstGeom>
          <a:noFill/>
          <a:ln>
            <a:noFill/>
          </a:ln>
        </p:spPr>
        <p:txBody>
          <a:bodyPr anchorCtr="0" anchor="ctr" bIns="45700" lIns="0"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Supplies</a:t>
            </a:r>
            <a:endParaRPr b="1" sz="1200">
              <a:solidFill>
                <a:schemeClr val="dk1"/>
              </a:solidFill>
              <a:latin typeface="Arial"/>
              <a:ea typeface="Arial"/>
              <a:cs typeface="Arial"/>
              <a:sym typeface="Arial"/>
            </a:endParaRPr>
          </a:p>
        </p:txBody>
      </p:sp>
      <p:sp>
        <p:nvSpPr>
          <p:cNvPr id="440" name="Google Shape;440;p29"/>
          <p:cNvSpPr txBox="1"/>
          <p:nvPr/>
        </p:nvSpPr>
        <p:spPr>
          <a:xfrm>
            <a:off x="3657600" y="3276600"/>
            <a:ext cx="9906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Equipment</a:t>
            </a:r>
            <a:endParaRPr b="1" sz="1200">
              <a:solidFill>
                <a:schemeClr val="dk1"/>
              </a:solidFill>
              <a:latin typeface="Arial"/>
              <a:ea typeface="Arial"/>
              <a:cs typeface="Arial"/>
              <a:sym typeface="Arial"/>
            </a:endParaRPr>
          </a:p>
        </p:txBody>
      </p:sp>
      <p:sp>
        <p:nvSpPr>
          <p:cNvPr id="441" name="Google Shape;441;p29"/>
          <p:cNvSpPr txBox="1"/>
          <p:nvPr/>
        </p:nvSpPr>
        <p:spPr>
          <a:xfrm>
            <a:off x="4648200" y="3276600"/>
            <a:ext cx="9906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Accounts</a:t>
            </a:r>
            <a:endParaRPr/>
          </a:p>
          <a:p>
            <a:pPr indent="0" lvl="0" marL="0" marR="0" rtl="0" algn="ctr">
              <a:spcBef>
                <a:spcPts val="0"/>
              </a:spcBef>
              <a:spcAft>
                <a:spcPts val="0"/>
              </a:spcAft>
              <a:buNone/>
            </a:pPr>
            <a:r>
              <a:rPr b="1" lang="en-US" sz="1200">
                <a:solidFill>
                  <a:schemeClr val="dk1"/>
                </a:solidFill>
                <a:latin typeface="Arial"/>
                <a:ea typeface="Arial"/>
                <a:cs typeface="Arial"/>
                <a:sym typeface="Arial"/>
              </a:rPr>
              <a:t>Payable</a:t>
            </a:r>
            <a:endParaRPr/>
          </a:p>
        </p:txBody>
      </p:sp>
      <p:sp>
        <p:nvSpPr>
          <p:cNvPr id="442" name="Google Shape;442;p29"/>
          <p:cNvSpPr txBox="1"/>
          <p:nvPr/>
        </p:nvSpPr>
        <p:spPr>
          <a:xfrm>
            <a:off x="5638800" y="3276600"/>
            <a:ext cx="9144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Owner's Capital</a:t>
            </a:r>
            <a:endParaRPr b="1" sz="1200">
              <a:solidFill>
                <a:schemeClr val="dk1"/>
              </a:solidFill>
              <a:latin typeface="Arial"/>
              <a:ea typeface="Arial"/>
              <a:cs typeface="Arial"/>
              <a:sym typeface="Arial"/>
            </a:endParaRPr>
          </a:p>
        </p:txBody>
      </p:sp>
      <p:sp>
        <p:nvSpPr>
          <p:cNvPr id="443" name="Google Shape;443;p29"/>
          <p:cNvSpPr txBox="1"/>
          <p:nvPr/>
        </p:nvSpPr>
        <p:spPr>
          <a:xfrm>
            <a:off x="381000" y="3810000"/>
            <a:ext cx="845820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1.	+15,000	+15,000</a:t>
            </a:r>
            <a:endParaRPr b="1" sz="1400">
              <a:solidFill>
                <a:schemeClr val="dk1"/>
              </a:solidFill>
              <a:latin typeface="Arial"/>
              <a:ea typeface="Arial"/>
              <a:cs typeface="Arial"/>
              <a:sym typeface="Arial"/>
            </a:endParaRPr>
          </a:p>
        </p:txBody>
      </p:sp>
      <p:cxnSp>
        <p:nvCxnSpPr>
          <p:cNvPr id="444" name="Google Shape;444;p29"/>
          <p:cNvCxnSpPr/>
          <p:nvPr/>
        </p:nvCxnSpPr>
        <p:spPr>
          <a:xfrm>
            <a:off x="978408" y="38100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445" name="Google Shape;445;p29"/>
          <p:cNvSpPr/>
          <p:nvPr/>
        </p:nvSpPr>
        <p:spPr>
          <a:xfrm>
            <a:off x="1676400" y="37338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446" name="Google Shape;446;p29"/>
          <p:cNvSpPr/>
          <p:nvPr/>
        </p:nvSpPr>
        <p:spPr>
          <a:xfrm>
            <a:off x="2743200" y="37338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447" name="Google Shape;447;p29"/>
          <p:cNvSpPr/>
          <p:nvPr/>
        </p:nvSpPr>
        <p:spPr>
          <a:xfrm>
            <a:off x="3581400" y="37338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448" name="Google Shape;448;p29"/>
          <p:cNvSpPr/>
          <p:nvPr/>
        </p:nvSpPr>
        <p:spPr>
          <a:xfrm>
            <a:off x="4648200" y="37338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449" name="Google Shape;449;p29"/>
          <p:cNvSpPr/>
          <p:nvPr/>
        </p:nvSpPr>
        <p:spPr>
          <a:xfrm>
            <a:off x="5638800" y="37338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450" name="Google Shape;450;p29"/>
          <p:cNvSpPr/>
          <p:nvPr/>
        </p:nvSpPr>
        <p:spPr>
          <a:xfrm>
            <a:off x="6553200" y="37338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451" name="Google Shape;451;p29"/>
          <p:cNvSpPr/>
          <p:nvPr/>
        </p:nvSpPr>
        <p:spPr>
          <a:xfrm>
            <a:off x="7391400" y="37338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452" name="Google Shape;452;p29"/>
          <p:cNvSpPr/>
          <p:nvPr/>
        </p:nvSpPr>
        <p:spPr>
          <a:xfrm>
            <a:off x="8153400" y="37338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453" name="Google Shape;453;p29"/>
          <p:cNvSpPr txBox="1"/>
          <p:nvPr/>
        </p:nvSpPr>
        <p:spPr>
          <a:xfrm>
            <a:off x="914399" y="2971800"/>
            <a:ext cx="7924801" cy="26161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Assets	= Liabilities +	Owner's Equity</a:t>
            </a:r>
            <a:endParaRPr b="1" sz="1400">
              <a:solidFill>
                <a:schemeClr val="dk1"/>
              </a:solidFill>
              <a:latin typeface="Arial"/>
              <a:ea typeface="Arial"/>
              <a:cs typeface="Arial"/>
              <a:sym typeface="Arial"/>
            </a:endParaRPr>
          </a:p>
        </p:txBody>
      </p:sp>
      <p:cxnSp>
        <p:nvCxnSpPr>
          <p:cNvPr id="454" name="Google Shape;454;p29"/>
          <p:cNvCxnSpPr/>
          <p:nvPr/>
        </p:nvCxnSpPr>
        <p:spPr>
          <a:xfrm>
            <a:off x="990600" y="32766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455" name="Google Shape;455;p29"/>
          <p:cNvSpPr txBox="1"/>
          <p:nvPr/>
        </p:nvSpPr>
        <p:spPr>
          <a:xfrm>
            <a:off x="5562600" y="32766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456" name="Google Shape;456;p29"/>
          <p:cNvSpPr txBox="1"/>
          <p:nvPr/>
        </p:nvSpPr>
        <p:spPr>
          <a:xfrm>
            <a:off x="6477000" y="32766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457" name="Google Shape;457;p29"/>
          <p:cNvSpPr txBox="1"/>
          <p:nvPr/>
        </p:nvSpPr>
        <p:spPr>
          <a:xfrm>
            <a:off x="3581400" y="32766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458" name="Google Shape;458;p29"/>
          <p:cNvSpPr txBox="1"/>
          <p:nvPr/>
        </p:nvSpPr>
        <p:spPr>
          <a:xfrm>
            <a:off x="2667000" y="32766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459" name="Google Shape;459;p29"/>
          <p:cNvSpPr txBox="1"/>
          <p:nvPr/>
        </p:nvSpPr>
        <p:spPr>
          <a:xfrm>
            <a:off x="1600200" y="32766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460" name="Google Shape;460;p29"/>
          <p:cNvSpPr txBox="1"/>
          <p:nvPr/>
        </p:nvSpPr>
        <p:spPr>
          <a:xfrm>
            <a:off x="4572000" y="32766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cxnSp>
        <p:nvCxnSpPr>
          <p:cNvPr id="461" name="Google Shape;461;p29"/>
          <p:cNvCxnSpPr/>
          <p:nvPr/>
        </p:nvCxnSpPr>
        <p:spPr>
          <a:xfrm>
            <a:off x="990600" y="41148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462" name="Google Shape;462;p29"/>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4 </a:t>
            </a:r>
            <a:endParaRPr b="1" i="1" sz="1600">
              <a:solidFill>
                <a:schemeClr val="lt2"/>
              </a:solidFill>
              <a:latin typeface="Arial"/>
              <a:ea typeface="Arial"/>
              <a:cs typeface="Arial"/>
              <a:sym typeface="Arial"/>
            </a:endParaRPr>
          </a:p>
        </p:txBody>
      </p:sp>
      <p:sp>
        <p:nvSpPr>
          <p:cNvPr id="463" name="Google Shape;463;p29"/>
          <p:cNvSpPr txBox="1"/>
          <p:nvPr/>
        </p:nvSpPr>
        <p:spPr>
          <a:xfrm>
            <a:off x="6553200" y="3276600"/>
            <a:ext cx="9144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Owner's Drawings</a:t>
            </a:r>
            <a:endParaRPr b="1" sz="1200">
              <a:solidFill>
                <a:schemeClr val="dk1"/>
              </a:solidFill>
              <a:latin typeface="Arial"/>
              <a:ea typeface="Arial"/>
              <a:cs typeface="Arial"/>
              <a:sym typeface="Arial"/>
            </a:endParaRPr>
          </a:p>
        </p:txBody>
      </p:sp>
      <p:sp>
        <p:nvSpPr>
          <p:cNvPr id="464" name="Google Shape;464;p29"/>
          <p:cNvSpPr txBox="1"/>
          <p:nvPr/>
        </p:nvSpPr>
        <p:spPr>
          <a:xfrm>
            <a:off x="7467600" y="3276600"/>
            <a:ext cx="6096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Rev.</a:t>
            </a:r>
            <a:endParaRPr b="1" sz="1200">
              <a:solidFill>
                <a:schemeClr val="dk1"/>
              </a:solidFill>
              <a:latin typeface="Arial"/>
              <a:ea typeface="Arial"/>
              <a:cs typeface="Arial"/>
              <a:sym typeface="Arial"/>
            </a:endParaRPr>
          </a:p>
        </p:txBody>
      </p:sp>
      <p:sp>
        <p:nvSpPr>
          <p:cNvPr id="465" name="Google Shape;465;p29"/>
          <p:cNvSpPr txBox="1"/>
          <p:nvPr/>
        </p:nvSpPr>
        <p:spPr>
          <a:xfrm>
            <a:off x="8153400" y="3276600"/>
            <a:ext cx="6096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Exp.</a:t>
            </a:r>
            <a:endParaRPr b="1" sz="1200">
              <a:solidFill>
                <a:schemeClr val="dk1"/>
              </a:solidFill>
              <a:latin typeface="Arial"/>
              <a:ea typeface="Arial"/>
              <a:cs typeface="Arial"/>
              <a:sym typeface="Arial"/>
            </a:endParaRPr>
          </a:p>
        </p:txBody>
      </p:sp>
      <p:sp>
        <p:nvSpPr>
          <p:cNvPr id="466" name="Google Shape;466;p29"/>
          <p:cNvSpPr txBox="1"/>
          <p:nvPr/>
        </p:nvSpPr>
        <p:spPr>
          <a:xfrm>
            <a:off x="7391400" y="32766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467" name="Google Shape;467;p29"/>
          <p:cNvSpPr txBox="1"/>
          <p:nvPr/>
        </p:nvSpPr>
        <p:spPr>
          <a:xfrm>
            <a:off x="8077200" y="32766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468" name="Google Shape;468;p29"/>
          <p:cNvSpPr/>
          <p:nvPr/>
        </p:nvSpPr>
        <p:spPr>
          <a:xfrm>
            <a:off x="304800" y="4382869"/>
            <a:ext cx="165735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1-8</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Tabular summary of Softbyte transactions</a:t>
            </a:r>
            <a:endParaRPr sz="1200">
              <a:solidFill>
                <a:schemeClr val="dk1"/>
              </a:solidFill>
              <a:latin typeface="Arial"/>
              <a:ea typeface="Arial"/>
              <a:cs typeface="Arial"/>
              <a:sym typeface="Arial"/>
            </a:endParaRPr>
          </a:p>
        </p:txBody>
      </p:sp>
    </p:spTree>
  </p:cSld>
  <p:clrMapOvr>
    <a:masterClrMapping/>
  </p:clrMapOvr>
  <p:transition>
    <p:wipe dir="r"/>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30"/>
          <p:cNvSpPr txBox="1"/>
          <p:nvPr/>
        </p:nvSpPr>
        <p:spPr>
          <a:xfrm>
            <a:off x="381000" y="5108377"/>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8.	-250				-250</a:t>
            </a:r>
            <a:endParaRPr b="1" sz="1400">
              <a:solidFill>
                <a:schemeClr val="dk1"/>
              </a:solidFill>
              <a:latin typeface="Arial"/>
              <a:ea typeface="Arial"/>
              <a:cs typeface="Arial"/>
              <a:sym typeface="Arial"/>
            </a:endParaRPr>
          </a:p>
        </p:txBody>
      </p:sp>
      <p:sp>
        <p:nvSpPr>
          <p:cNvPr id="474" name="Google Shape;474;p30"/>
          <p:cNvSpPr txBox="1"/>
          <p:nvPr/>
        </p:nvSpPr>
        <p:spPr>
          <a:xfrm>
            <a:off x="381000" y="5413177"/>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9.	+600	-600</a:t>
            </a:r>
            <a:endParaRPr b="1" sz="1400">
              <a:solidFill>
                <a:schemeClr val="dk1"/>
              </a:solidFill>
              <a:latin typeface="Arial"/>
              <a:ea typeface="Arial"/>
              <a:cs typeface="Arial"/>
              <a:sym typeface="Arial"/>
            </a:endParaRPr>
          </a:p>
        </p:txBody>
      </p:sp>
      <p:sp>
        <p:nvSpPr>
          <p:cNvPr id="475" name="Google Shape;475;p30"/>
          <p:cNvSpPr txBox="1"/>
          <p:nvPr/>
        </p:nvSpPr>
        <p:spPr>
          <a:xfrm>
            <a:off x="381000" y="5717977"/>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10.	-1,300								-1,300</a:t>
            </a:r>
            <a:endParaRPr b="1" sz="1400">
              <a:solidFill>
                <a:schemeClr val="dk1"/>
              </a:solidFill>
              <a:latin typeface="Arial"/>
              <a:ea typeface="Arial"/>
              <a:cs typeface="Arial"/>
              <a:sym typeface="Arial"/>
            </a:endParaRPr>
          </a:p>
        </p:txBody>
      </p:sp>
      <p:sp>
        <p:nvSpPr>
          <p:cNvPr id="476" name="Google Shape;476;p30"/>
          <p:cNvSpPr txBox="1"/>
          <p:nvPr/>
        </p:nvSpPr>
        <p:spPr>
          <a:xfrm>
            <a:off x="381000" y="3657600"/>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5.					+250			-250</a:t>
            </a:r>
            <a:endParaRPr b="1" sz="1400">
              <a:solidFill>
                <a:schemeClr val="dk1"/>
              </a:solidFill>
              <a:latin typeface="Arial"/>
              <a:ea typeface="Arial"/>
              <a:cs typeface="Arial"/>
              <a:sym typeface="Arial"/>
            </a:endParaRPr>
          </a:p>
        </p:txBody>
      </p:sp>
      <p:sp>
        <p:nvSpPr>
          <p:cNvPr id="477" name="Google Shape;477;p30"/>
          <p:cNvSpPr txBox="1"/>
          <p:nvPr/>
        </p:nvSpPr>
        <p:spPr>
          <a:xfrm>
            <a:off x="381000" y="3352800"/>
            <a:ext cx="845820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4.	+1,200	+1,200</a:t>
            </a:r>
            <a:endParaRPr b="1" sz="1400">
              <a:solidFill>
                <a:schemeClr val="dk1"/>
              </a:solidFill>
              <a:latin typeface="Arial"/>
              <a:ea typeface="Arial"/>
              <a:cs typeface="Arial"/>
              <a:sym typeface="Arial"/>
            </a:endParaRPr>
          </a:p>
        </p:txBody>
      </p:sp>
      <p:sp>
        <p:nvSpPr>
          <p:cNvPr id="478" name="Google Shape;478;p30"/>
          <p:cNvSpPr txBox="1"/>
          <p:nvPr/>
        </p:nvSpPr>
        <p:spPr>
          <a:xfrm>
            <a:off x="381000" y="4267200"/>
            <a:ext cx="8610600" cy="815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7.	-1,700							-600</a:t>
            </a:r>
            <a:endParaRPr/>
          </a:p>
          <a:p>
            <a:pPr indent="0" lvl="0" marL="0" marR="0" rtl="0" algn="l">
              <a:spcBef>
                <a:spcPts val="300"/>
              </a:spcBef>
              <a:spcAft>
                <a:spcPts val="0"/>
              </a:spcAft>
              <a:buNone/>
            </a:pPr>
            <a:r>
              <a:rPr b="1" lang="en-US" sz="1400">
                <a:solidFill>
                  <a:schemeClr val="dk1"/>
                </a:solidFill>
                <a:latin typeface="Arial"/>
                <a:ea typeface="Arial"/>
                <a:cs typeface="Arial"/>
                <a:sym typeface="Arial"/>
              </a:rPr>
              <a:t>									-900</a:t>
            </a:r>
            <a:endParaRPr/>
          </a:p>
          <a:p>
            <a:pPr indent="0" lvl="0" marL="0" marR="0" rtl="0" algn="l">
              <a:spcBef>
                <a:spcPts val="300"/>
              </a:spcBef>
              <a:spcAft>
                <a:spcPts val="0"/>
              </a:spcAft>
              <a:buNone/>
            </a:pPr>
            <a:r>
              <a:rPr b="1" lang="en-US" sz="1400">
                <a:solidFill>
                  <a:schemeClr val="dk1"/>
                </a:solidFill>
                <a:latin typeface="Arial"/>
                <a:ea typeface="Arial"/>
                <a:cs typeface="Arial"/>
                <a:sym typeface="Arial"/>
              </a:rPr>
              <a:t>									-200</a:t>
            </a:r>
            <a:endParaRPr b="1" sz="1400">
              <a:solidFill>
                <a:schemeClr val="dk1"/>
              </a:solidFill>
              <a:latin typeface="Arial"/>
              <a:ea typeface="Arial"/>
              <a:cs typeface="Arial"/>
              <a:sym typeface="Arial"/>
            </a:endParaRPr>
          </a:p>
        </p:txBody>
      </p:sp>
      <p:sp>
        <p:nvSpPr>
          <p:cNvPr id="479" name="Google Shape;479;p30"/>
          <p:cNvSpPr txBox="1"/>
          <p:nvPr/>
        </p:nvSpPr>
        <p:spPr>
          <a:xfrm>
            <a:off x="228600" y="1905000"/>
            <a:ext cx="7620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Trans-</a:t>
            </a:r>
            <a:endParaRPr/>
          </a:p>
          <a:p>
            <a:pPr indent="0" lvl="0" marL="0" marR="0" rtl="0" algn="ctr">
              <a:spcBef>
                <a:spcPts val="0"/>
              </a:spcBef>
              <a:spcAft>
                <a:spcPts val="0"/>
              </a:spcAft>
              <a:buNone/>
            </a:pPr>
            <a:r>
              <a:rPr b="1" lang="en-US" sz="1200">
                <a:solidFill>
                  <a:schemeClr val="dk1"/>
                </a:solidFill>
                <a:latin typeface="Arial"/>
                <a:ea typeface="Arial"/>
                <a:cs typeface="Arial"/>
                <a:sym typeface="Arial"/>
              </a:rPr>
              <a:t>action</a:t>
            </a:r>
            <a:endParaRPr/>
          </a:p>
        </p:txBody>
      </p:sp>
      <p:sp>
        <p:nvSpPr>
          <p:cNvPr id="480" name="Google Shape;480;p30"/>
          <p:cNvSpPr txBox="1"/>
          <p:nvPr/>
        </p:nvSpPr>
        <p:spPr>
          <a:xfrm>
            <a:off x="914400" y="1905000"/>
            <a:ext cx="7620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300">
                <a:solidFill>
                  <a:schemeClr val="dk1"/>
                </a:solidFill>
                <a:latin typeface="Arial"/>
                <a:ea typeface="Arial"/>
                <a:cs typeface="Arial"/>
                <a:sym typeface="Arial"/>
              </a:rPr>
              <a:t>Cash   </a:t>
            </a:r>
            <a:endParaRPr b="1" sz="1300">
              <a:solidFill>
                <a:schemeClr val="dk1"/>
              </a:solidFill>
              <a:latin typeface="Arial"/>
              <a:ea typeface="Arial"/>
              <a:cs typeface="Arial"/>
              <a:sym typeface="Arial"/>
            </a:endParaRPr>
          </a:p>
        </p:txBody>
      </p:sp>
      <p:sp>
        <p:nvSpPr>
          <p:cNvPr id="481" name="Google Shape;481;p30"/>
          <p:cNvSpPr txBox="1"/>
          <p:nvPr/>
        </p:nvSpPr>
        <p:spPr>
          <a:xfrm>
            <a:off x="1752600" y="1905000"/>
            <a:ext cx="914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Accounts</a:t>
            </a:r>
            <a:endParaRPr/>
          </a:p>
          <a:p>
            <a:pPr indent="0" lvl="0" marL="0" marR="0" rtl="0" algn="ctr">
              <a:spcBef>
                <a:spcPts val="0"/>
              </a:spcBef>
              <a:spcAft>
                <a:spcPts val="0"/>
              </a:spcAft>
              <a:buNone/>
            </a:pPr>
            <a:r>
              <a:rPr b="1" lang="en-US" sz="1200">
                <a:solidFill>
                  <a:schemeClr val="dk1"/>
                </a:solidFill>
                <a:latin typeface="Arial"/>
                <a:ea typeface="Arial"/>
                <a:cs typeface="Arial"/>
                <a:sym typeface="Arial"/>
              </a:rPr>
              <a:t>Receivable</a:t>
            </a:r>
            <a:endParaRPr/>
          </a:p>
        </p:txBody>
      </p:sp>
      <p:sp>
        <p:nvSpPr>
          <p:cNvPr id="482" name="Google Shape;482;p30"/>
          <p:cNvSpPr txBox="1"/>
          <p:nvPr/>
        </p:nvSpPr>
        <p:spPr>
          <a:xfrm>
            <a:off x="2857500" y="1905000"/>
            <a:ext cx="800100" cy="523220"/>
          </a:xfrm>
          <a:prstGeom prst="rect">
            <a:avLst/>
          </a:prstGeom>
          <a:noFill/>
          <a:ln>
            <a:noFill/>
          </a:ln>
        </p:spPr>
        <p:txBody>
          <a:bodyPr anchorCtr="0" anchor="ctr" bIns="45700" lIns="0"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Supplies</a:t>
            </a:r>
            <a:endParaRPr b="1" sz="1200">
              <a:solidFill>
                <a:schemeClr val="dk1"/>
              </a:solidFill>
              <a:latin typeface="Arial"/>
              <a:ea typeface="Arial"/>
              <a:cs typeface="Arial"/>
              <a:sym typeface="Arial"/>
            </a:endParaRPr>
          </a:p>
        </p:txBody>
      </p:sp>
      <p:sp>
        <p:nvSpPr>
          <p:cNvPr id="483" name="Google Shape;483;p30"/>
          <p:cNvSpPr txBox="1"/>
          <p:nvPr/>
        </p:nvSpPr>
        <p:spPr>
          <a:xfrm>
            <a:off x="3657600" y="1905000"/>
            <a:ext cx="9906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Equipment</a:t>
            </a:r>
            <a:endParaRPr b="1" sz="1200">
              <a:solidFill>
                <a:schemeClr val="dk1"/>
              </a:solidFill>
              <a:latin typeface="Arial"/>
              <a:ea typeface="Arial"/>
              <a:cs typeface="Arial"/>
              <a:sym typeface="Arial"/>
            </a:endParaRPr>
          </a:p>
        </p:txBody>
      </p:sp>
      <p:sp>
        <p:nvSpPr>
          <p:cNvPr id="484" name="Google Shape;484;p30"/>
          <p:cNvSpPr txBox="1"/>
          <p:nvPr/>
        </p:nvSpPr>
        <p:spPr>
          <a:xfrm>
            <a:off x="4648200" y="1905000"/>
            <a:ext cx="9906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Accounts</a:t>
            </a:r>
            <a:endParaRPr/>
          </a:p>
          <a:p>
            <a:pPr indent="0" lvl="0" marL="0" marR="0" rtl="0" algn="ctr">
              <a:spcBef>
                <a:spcPts val="0"/>
              </a:spcBef>
              <a:spcAft>
                <a:spcPts val="0"/>
              </a:spcAft>
              <a:buNone/>
            </a:pPr>
            <a:r>
              <a:rPr b="1" lang="en-US" sz="1200">
                <a:solidFill>
                  <a:schemeClr val="dk1"/>
                </a:solidFill>
                <a:latin typeface="Arial"/>
                <a:ea typeface="Arial"/>
                <a:cs typeface="Arial"/>
                <a:sym typeface="Arial"/>
              </a:rPr>
              <a:t>Payable</a:t>
            </a:r>
            <a:endParaRPr/>
          </a:p>
        </p:txBody>
      </p:sp>
      <p:cxnSp>
        <p:nvCxnSpPr>
          <p:cNvPr id="485" name="Google Shape;485;p30"/>
          <p:cNvCxnSpPr/>
          <p:nvPr/>
        </p:nvCxnSpPr>
        <p:spPr>
          <a:xfrm>
            <a:off x="978408" y="24384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486" name="Google Shape;486;p30"/>
          <p:cNvSpPr/>
          <p:nvPr/>
        </p:nvSpPr>
        <p:spPr>
          <a:xfrm>
            <a:off x="16764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487" name="Google Shape;487;p30"/>
          <p:cNvSpPr/>
          <p:nvPr/>
        </p:nvSpPr>
        <p:spPr>
          <a:xfrm>
            <a:off x="27432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488" name="Google Shape;488;p30"/>
          <p:cNvSpPr/>
          <p:nvPr/>
        </p:nvSpPr>
        <p:spPr>
          <a:xfrm>
            <a:off x="35814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489" name="Google Shape;489;p30"/>
          <p:cNvSpPr/>
          <p:nvPr/>
        </p:nvSpPr>
        <p:spPr>
          <a:xfrm>
            <a:off x="46482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490" name="Google Shape;490;p30"/>
          <p:cNvSpPr/>
          <p:nvPr/>
        </p:nvSpPr>
        <p:spPr>
          <a:xfrm>
            <a:off x="56388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491" name="Google Shape;491;p30"/>
          <p:cNvSpPr/>
          <p:nvPr/>
        </p:nvSpPr>
        <p:spPr>
          <a:xfrm>
            <a:off x="65532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492" name="Google Shape;492;p30"/>
          <p:cNvSpPr/>
          <p:nvPr/>
        </p:nvSpPr>
        <p:spPr>
          <a:xfrm>
            <a:off x="73152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493" name="Google Shape;493;p30"/>
          <p:cNvSpPr/>
          <p:nvPr/>
        </p:nvSpPr>
        <p:spPr>
          <a:xfrm>
            <a:off x="80772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494" name="Google Shape;494;p30"/>
          <p:cNvSpPr txBox="1"/>
          <p:nvPr/>
        </p:nvSpPr>
        <p:spPr>
          <a:xfrm>
            <a:off x="914399" y="1600200"/>
            <a:ext cx="7924801" cy="26161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Assets	= Liabilities +	Owner's Equity</a:t>
            </a:r>
            <a:endParaRPr b="1" sz="1400">
              <a:solidFill>
                <a:schemeClr val="dk1"/>
              </a:solidFill>
              <a:latin typeface="Arial"/>
              <a:ea typeface="Arial"/>
              <a:cs typeface="Arial"/>
              <a:sym typeface="Arial"/>
            </a:endParaRPr>
          </a:p>
        </p:txBody>
      </p:sp>
      <p:cxnSp>
        <p:nvCxnSpPr>
          <p:cNvPr id="495" name="Google Shape;495;p30"/>
          <p:cNvCxnSpPr/>
          <p:nvPr/>
        </p:nvCxnSpPr>
        <p:spPr>
          <a:xfrm>
            <a:off x="990600" y="19050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496" name="Google Shape;496;p30"/>
          <p:cNvSpPr txBox="1"/>
          <p:nvPr/>
        </p:nvSpPr>
        <p:spPr>
          <a:xfrm>
            <a:off x="55626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497" name="Google Shape;497;p30"/>
          <p:cNvSpPr txBox="1"/>
          <p:nvPr/>
        </p:nvSpPr>
        <p:spPr>
          <a:xfrm>
            <a:off x="64770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498" name="Google Shape;498;p30"/>
          <p:cNvSpPr txBox="1"/>
          <p:nvPr/>
        </p:nvSpPr>
        <p:spPr>
          <a:xfrm>
            <a:off x="35814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499" name="Google Shape;499;p30"/>
          <p:cNvSpPr txBox="1"/>
          <p:nvPr/>
        </p:nvSpPr>
        <p:spPr>
          <a:xfrm>
            <a:off x="26670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500" name="Google Shape;500;p30"/>
          <p:cNvSpPr txBox="1"/>
          <p:nvPr/>
        </p:nvSpPr>
        <p:spPr>
          <a:xfrm>
            <a:off x="16002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501" name="Google Shape;501;p30"/>
          <p:cNvSpPr txBox="1"/>
          <p:nvPr/>
        </p:nvSpPr>
        <p:spPr>
          <a:xfrm>
            <a:off x="45720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502" name="Google Shape;502;p30"/>
          <p:cNvSpPr txBox="1"/>
          <p:nvPr/>
        </p:nvSpPr>
        <p:spPr>
          <a:xfrm>
            <a:off x="381000" y="2484567"/>
            <a:ext cx="8458201" cy="261610"/>
          </a:xfrm>
          <a:prstGeom prst="rect">
            <a:avLst/>
          </a:prstGeom>
          <a:noFill/>
          <a:ln>
            <a:noFill/>
          </a:ln>
        </p:spPr>
        <p:txBody>
          <a:bodyPr anchorCtr="0" anchor="t" bIns="45700" lIns="91425" spcFirstLastPara="1" rIns="91425" wrap="square" tIns="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1.	+15,000	+15,000</a:t>
            </a:r>
            <a:endParaRPr b="1" sz="1400">
              <a:solidFill>
                <a:schemeClr val="dk1"/>
              </a:solidFill>
              <a:latin typeface="Arial"/>
              <a:ea typeface="Arial"/>
              <a:cs typeface="Arial"/>
              <a:sym typeface="Arial"/>
            </a:endParaRPr>
          </a:p>
        </p:txBody>
      </p:sp>
      <p:sp>
        <p:nvSpPr>
          <p:cNvPr id="503" name="Google Shape;503;p30"/>
          <p:cNvSpPr txBox="1"/>
          <p:nvPr/>
        </p:nvSpPr>
        <p:spPr>
          <a:xfrm>
            <a:off x="381000" y="2746177"/>
            <a:ext cx="845820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2.	-7,000	+7,000</a:t>
            </a:r>
            <a:endParaRPr b="1" sz="1400">
              <a:solidFill>
                <a:schemeClr val="dk1"/>
              </a:solidFill>
              <a:latin typeface="Arial"/>
              <a:ea typeface="Arial"/>
              <a:cs typeface="Arial"/>
              <a:sym typeface="Arial"/>
            </a:endParaRPr>
          </a:p>
        </p:txBody>
      </p:sp>
      <p:cxnSp>
        <p:nvCxnSpPr>
          <p:cNvPr id="504" name="Google Shape;504;p30"/>
          <p:cNvCxnSpPr/>
          <p:nvPr/>
        </p:nvCxnSpPr>
        <p:spPr>
          <a:xfrm>
            <a:off x="990600" y="27461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505" name="Google Shape;505;p30"/>
          <p:cNvCxnSpPr/>
          <p:nvPr/>
        </p:nvCxnSpPr>
        <p:spPr>
          <a:xfrm>
            <a:off x="990600" y="30509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506" name="Google Shape;506;p30"/>
          <p:cNvCxnSpPr/>
          <p:nvPr/>
        </p:nvCxnSpPr>
        <p:spPr>
          <a:xfrm>
            <a:off x="990600" y="33557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507" name="Google Shape;507;p30"/>
          <p:cNvCxnSpPr/>
          <p:nvPr/>
        </p:nvCxnSpPr>
        <p:spPr>
          <a:xfrm>
            <a:off x="990600" y="36605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508" name="Google Shape;508;p30"/>
          <p:cNvCxnSpPr/>
          <p:nvPr/>
        </p:nvCxnSpPr>
        <p:spPr>
          <a:xfrm>
            <a:off x="990600" y="39653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509" name="Google Shape;509;p30"/>
          <p:cNvCxnSpPr/>
          <p:nvPr/>
        </p:nvCxnSpPr>
        <p:spPr>
          <a:xfrm>
            <a:off x="990600" y="42701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510" name="Google Shape;510;p30"/>
          <p:cNvSpPr txBox="1"/>
          <p:nvPr/>
        </p:nvSpPr>
        <p:spPr>
          <a:xfrm>
            <a:off x="381000" y="3048000"/>
            <a:ext cx="845820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3.	+1,600	+1,600</a:t>
            </a:r>
            <a:endParaRPr b="1" sz="1400">
              <a:solidFill>
                <a:schemeClr val="dk1"/>
              </a:solidFill>
              <a:latin typeface="Arial"/>
              <a:ea typeface="Arial"/>
              <a:cs typeface="Arial"/>
              <a:sym typeface="Arial"/>
            </a:endParaRPr>
          </a:p>
        </p:txBody>
      </p:sp>
      <p:sp>
        <p:nvSpPr>
          <p:cNvPr id="511" name="Google Shape;511;p30"/>
          <p:cNvSpPr txBox="1"/>
          <p:nvPr/>
        </p:nvSpPr>
        <p:spPr>
          <a:xfrm>
            <a:off x="381000" y="3962400"/>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6.	+1,500	+2,000					+3,500</a:t>
            </a:r>
            <a:endParaRPr b="1" sz="1400">
              <a:solidFill>
                <a:schemeClr val="dk1"/>
              </a:solidFill>
              <a:latin typeface="Arial"/>
              <a:ea typeface="Arial"/>
              <a:cs typeface="Arial"/>
              <a:sym typeface="Arial"/>
            </a:endParaRPr>
          </a:p>
        </p:txBody>
      </p:sp>
      <p:cxnSp>
        <p:nvCxnSpPr>
          <p:cNvPr id="512" name="Google Shape;512;p30"/>
          <p:cNvCxnSpPr/>
          <p:nvPr/>
        </p:nvCxnSpPr>
        <p:spPr>
          <a:xfrm>
            <a:off x="990600" y="5111354"/>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513" name="Google Shape;513;p30"/>
          <p:cNvCxnSpPr/>
          <p:nvPr/>
        </p:nvCxnSpPr>
        <p:spPr>
          <a:xfrm>
            <a:off x="990600" y="5416154"/>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514" name="Google Shape;514;p30"/>
          <p:cNvCxnSpPr/>
          <p:nvPr/>
        </p:nvCxnSpPr>
        <p:spPr>
          <a:xfrm>
            <a:off x="990600" y="5720954"/>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515" name="Google Shape;515;p30"/>
          <p:cNvCxnSpPr/>
          <p:nvPr/>
        </p:nvCxnSpPr>
        <p:spPr>
          <a:xfrm>
            <a:off x="990600" y="60227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516" name="Google Shape;516;p30"/>
          <p:cNvSpPr/>
          <p:nvPr/>
        </p:nvSpPr>
        <p:spPr>
          <a:xfrm>
            <a:off x="16885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517" name="Google Shape;517;p30"/>
          <p:cNvSpPr/>
          <p:nvPr/>
        </p:nvSpPr>
        <p:spPr>
          <a:xfrm>
            <a:off x="27553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518" name="Google Shape;518;p30"/>
          <p:cNvSpPr/>
          <p:nvPr/>
        </p:nvSpPr>
        <p:spPr>
          <a:xfrm>
            <a:off x="35935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519" name="Google Shape;519;p30"/>
          <p:cNvSpPr/>
          <p:nvPr/>
        </p:nvSpPr>
        <p:spPr>
          <a:xfrm>
            <a:off x="46603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520" name="Google Shape;520;p30"/>
          <p:cNvSpPr/>
          <p:nvPr/>
        </p:nvSpPr>
        <p:spPr>
          <a:xfrm>
            <a:off x="56509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521" name="Google Shape;521;p30"/>
          <p:cNvSpPr/>
          <p:nvPr/>
        </p:nvSpPr>
        <p:spPr>
          <a:xfrm>
            <a:off x="65653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522" name="Google Shape;522;p30"/>
          <p:cNvSpPr/>
          <p:nvPr/>
        </p:nvSpPr>
        <p:spPr>
          <a:xfrm>
            <a:off x="73273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523" name="Google Shape;523;p30"/>
          <p:cNvSpPr/>
          <p:nvPr/>
        </p:nvSpPr>
        <p:spPr>
          <a:xfrm>
            <a:off x="80893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cxnSp>
        <p:nvCxnSpPr>
          <p:cNvPr id="524" name="Google Shape;524;p30"/>
          <p:cNvCxnSpPr/>
          <p:nvPr/>
        </p:nvCxnSpPr>
        <p:spPr>
          <a:xfrm>
            <a:off x="990600" y="64037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525" name="Google Shape;525;p30"/>
          <p:cNvSpPr/>
          <p:nvPr/>
        </p:nvSpPr>
        <p:spPr>
          <a:xfrm>
            <a:off x="16885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526" name="Google Shape;526;p30"/>
          <p:cNvSpPr/>
          <p:nvPr/>
        </p:nvSpPr>
        <p:spPr>
          <a:xfrm>
            <a:off x="27553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527" name="Google Shape;527;p30"/>
          <p:cNvSpPr/>
          <p:nvPr/>
        </p:nvSpPr>
        <p:spPr>
          <a:xfrm>
            <a:off x="35935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528" name="Google Shape;528;p30"/>
          <p:cNvSpPr/>
          <p:nvPr/>
        </p:nvSpPr>
        <p:spPr>
          <a:xfrm>
            <a:off x="46603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529" name="Google Shape;529;p30"/>
          <p:cNvSpPr/>
          <p:nvPr/>
        </p:nvSpPr>
        <p:spPr>
          <a:xfrm>
            <a:off x="56509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530" name="Google Shape;530;p30"/>
          <p:cNvSpPr/>
          <p:nvPr/>
        </p:nvSpPr>
        <p:spPr>
          <a:xfrm>
            <a:off x="65653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531" name="Google Shape;531;p30"/>
          <p:cNvSpPr/>
          <p:nvPr/>
        </p:nvSpPr>
        <p:spPr>
          <a:xfrm>
            <a:off x="73273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532" name="Google Shape;532;p30"/>
          <p:cNvSpPr/>
          <p:nvPr/>
        </p:nvSpPr>
        <p:spPr>
          <a:xfrm>
            <a:off x="80893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cxnSp>
        <p:nvCxnSpPr>
          <p:cNvPr id="533" name="Google Shape;533;p30"/>
          <p:cNvCxnSpPr/>
          <p:nvPr/>
        </p:nvCxnSpPr>
        <p:spPr>
          <a:xfrm>
            <a:off x="990600" y="64799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534" name="Google Shape;534;p30"/>
          <p:cNvSpPr/>
          <p:nvPr/>
        </p:nvSpPr>
        <p:spPr>
          <a:xfrm>
            <a:off x="16885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535" name="Google Shape;535;p30"/>
          <p:cNvSpPr/>
          <p:nvPr/>
        </p:nvSpPr>
        <p:spPr>
          <a:xfrm>
            <a:off x="27553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536" name="Google Shape;536;p30"/>
          <p:cNvSpPr/>
          <p:nvPr/>
        </p:nvSpPr>
        <p:spPr>
          <a:xfrm>
            <a:off x="35935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537" name="Google Shape;537;p30"/>
          <p:cNvSpPr/>
          <p:nvPr/>
        </p:nvSpPr>
        <p:spPr>
          <a:xfrm>
            <a:off x="46603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538" name="Google Shape;538;p30"/>
          <p:cNvSpPr/>
          <p:nvPr/>
        </p:nvSpPr>
        <p:spPr>
          <a:xfrm>
            <a:off x="56509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539" name="Google Shape;539;p30"/>
          <p:cNvSpPr/>
          <p:nvPr/>
        </p:nvSpPr>
        <p:spPr>
          <a:xfrm>
            <a:off x="65653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540" name="Google Shape;540;p30"/>
          <p:cNvSpPr/>
          <p:nvPr/>
        </p:nvSpPr>
        <p:spPr>
          <a:xfrm>
            <a:off x="73273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541" name="Google Shape;541;p30"/>
          <p:cNvSpPr/>
          <p:nvPr/>
        </p:nvSpPr>
        <p:spPr>
          <a:xfrm>
            <a:off x="80893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542" name="Google Shape;542;p30"/>
          <p:cNvSpPr txBox="1"/>
          <p:nvPr/>
        </p:nvSpPr>
        <p:spPr>
          <a:xfrm>
            <a:off x="381000" y="6062401"/>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$8,050	$1,400	$1,600	$7,000	$1,600	$15,000	$4,700	$1,950	$1,300</a:t>
            </a:r>
            <a:endParaRPr b="1" sz="1400">
              <a:solidFill>
                <a:schemeClr val="dk1"/>
              </a:solidFill>
              <a:latin typeface="Arial"/>
              <a:ea typeface="Arial"/>
              <a:cs typeface="Arial"/>
              <a:sym typeface="Arial"/>
            </a:endParaRPr>
          </a:p>
        </p:txBody>
      </p:sp>
      <p:sp>
        <p:nvSpPr>
          <p:cNvPr id="543" name="Google Shape;543;p30"/>
          <p:cNvSpPr txBox="1"/>
          <p:nvPr/>
        </p:nvSpPr>
        <p:spPr>
          <a:xfrm>
            <a:off x="56388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544" name="Google Shape;544;p30"/>
          <p:cNvSpPr txBox="1"/>
          <p:nvPr/>
        </p:nvSpPr>
        <p:spPr>
          <a:xfrm>
            <a:off x="65532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545" name="Google Shape;545;p30"/>
          <p:cNvSpPr txBox="1"/>
          <p:nvPr/>
        </p:nvSpPr>
        <p:spPr>
          <a:xfrm>
            <a:off x="35814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546" name="Google Shape;546;p30"/>
          <p:cNvSpPr txBox="1"/>
          <p:nvPr/>
        </p:nvSpPr>
        <p:spPr>
          <a:xfrm>
            <a:off x="27432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547" name="Google Shape;547;p30"/>
          <p:cNvSpPr txBox="1"/>
          <p:nvPr/>
        </p:nvSpPr>
        <p:spPr>
          <a:xfrm>
            <a:off x="16764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548" name="Google Shape;548;p30"/>
          <p:cNvSpPr txBox="1"/>
          <p:nvPr/>
        </p:nvSpPr>
        <p:spPr>
          <a:xfrm>
            <a:off x="46482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549" name="Google Shape;549;p30"/>
          <p:cNvSpPr txBox="1"/>
          <p:nvPr/>
        </p:nvSpPr>
        <p:spPr>
          <a:xfrm>
            <a:off x="7315200" y="5946577"/>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550" name="Google Shape;550;p30"/>
          <p:cNvSpPr txBox="1"/>
          <p:nvPr/>
        </p:nvSpPr>
        <p:spPr>
          <a:xfrm>
            <a:off x="8077200" y="5946577"/>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551" name="Google Shape;551;p30"/>
          <p:cNvSpPr txBox="1"/>
          <p:nvPr/>
        </p:nvSpPr>
        <p:spPr>
          <a:xfrm>
            <a:off x="533400" y="381000"/>
            <a:ext cx="8229600" cy="764825"/>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900"/>
              <a:buFont typeface="Arial"/>
              <a:buNone/>
            </a:pPr>
            <a:r>
              <a:rPr b="1" lang="en-US" sz="1900">
                <a:solidFill>
                  <a:schemeClr val="dk1"/>
                </a:solidFill>
                <a:latin typeface="Arial"/>
                <a:ea typeface="Arial"/>
                <a:cs typeface="Arial"/>
                <a:sym typeface="Arial"/>
              </a:rPr>
              <a:t>TRANSACTION 2. PURCHASE OF EQUIPMENT FOR CASH  </a:t>
            </a:r>
            <a:r>
              <a:rPr b="0" lang="en-US" sz="1900">
                <a:solidFill>
                  <a:schemeClr val="dk1"/>
                </a:solidFill>
                <a:latin typeface="Arial"/>
                <a:ea typeface="Arial"/>
                <a:cs typeface="Arial"/>
                <a:sym typeface="Arial"/>
              </a:rPr>
              <a:t>Softbyte Inc. purchases computer equipment for </a:t>
            </a:r>
            <a:r>
              <a:rPr b="1" lang="en-US" sz="1900">
                <a:solidFill>
                  <a:schemeClr val="dk1"/>
                </a:solidFill>
                <a:latin typeface="Arial"/>
                <a:ea typeface="Arial"/>
                <a:cs typeface="Arial"/>
                <a:sym typeface="Arial"/>
              </a:rPr>
              <a:t>$7,000 cash</a:t>
            </a:r>
            <a:r>
              <a:rPr b="0" lang="en-US" sz="1900">
                <a:solidFill>
                  <a:schemeClr val="dk1"/>
                </a:solidFill>
                <a:latin typeface="Arial"/>
                <a:ea typeface="Arial"/>
                <a:cs typeface="Arial"/>
                <a:sym typeface="Arial"/>
              </a:rPr>
              <a:t>.</a:t>
            </a:r>
            <a:endParaRPr b="0" sz="1900">
              <a:solidFill>
                <a:schemeClr val="dk1"/>
              </a:solidFill>
              <a:latin typeface="Arial"/>
              <a:ea typeface="Arial"/>
              <a:cs typeface="Arial"/>
              <a:sym typeface="Arial"/>
            </a:endParaRPr>
          </a:p>
        </p:txBody>
      </p:sp>
      <p:sp>
        <p:nvSpPr>
          <p:cNvPr id="552" name="Google Shape;552;p30"/>
          <p:cNvSpPr/>
          <p:nvPr/>
        </p:nvSpPr>
        <p:spPr>
          <a:xfrm>
            <a:off x="381000" y="3087553"/>
            <a:ext cx="8610600" cy="300844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553" name="Google Shape;553;p30"/>
          <p:cNvSpPr/>
          <p:nvPr/>
        </p:nvSpPr>
        <p:spPr>
          <a:xfrm>
            <a:off x="762000" y="6025754"/>
            <a:ext cx="8229600" cy="527446"/>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554" name="Google Shape;554;p30"/>
          <p:cNvSpPr/>
          <p:nvPr/>
        </p:nvSpPr>
        <p:spPr>
          <a:xfrm>
            <a:off x="7620000" y="1219200"/>
            <a:ext cx="1295400" cy="274638"/>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Clr>
                <a:schemeClr val="dk1"/>
              </a:buClr>
              <a:buSzPts val="1200"/>
              <a:buFont typeface="Noto Sans Symbols"/>
              <a:buNone/>
            </a:pPr>
            <a:r>
              <a:rPr b="1" lang="en-US" sz="1200">
                <a:solidFill>
                  <a:schemeClr val="dk1"/>
                </a:solidFill>
                <a:latin typeface="Arial"/>
                <a:ea typeface="Arial"/>
                <a:cs typeface="Arial"/>
                <a:sym typeface="Arial"/>
              </a:rPr>
              <a:t>Illustration 1-8</a:t>
            </a:r>
            <a:endParaRPr b="0" sz="1200">
              <a:solidFill>
                <a:schemeClr val="dk1"/>
              </a:solidFill>
              <a:latin typeface="Arial"/>
              <a:ea typeface="Arial"/>
              <a:cs typeface="Arial"/>
              <a:sym typeface="Arial"/>
            </a:endParaRPr>
          </a:p>
        </p:txBody>
      </p:sp>
      <p:sp>
        <p:nvSpPr>
          <p:cNvPr id="555" name="Google Shape;555;p30"/>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4 </a:t>
            </a:r>
            <a:endParaRPr b="1" i="1" sz="1600">
              <a:solidFill>
                <a:schemeClr val="lt2"/>
              </a:solidFill>
              <a:latin typeface="Arial"/>
              <a:ea typeface="Arial"/>
              <a:cs typeface="Arial"/>
              <a:sym typeface="Arial"/>
            </a:endParaRPr>
          </a:p>
        </p:txBody>
      </p:sp>
      <p:sp>
        <p:nvSpPr>
          <p:cNvPr id="556" name="Google Shape;556;p30"/>
          <p:cNvSpPr txBox="1"/>
          <p:nvPr/>
        </p:nvSpPr>
        <p:spPr>
          <a:xfrm>
            <a:off x="5638800" y="1905000"/>
            <a:ext cx="9144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Owner's Capital</a:t>
            </a:r>
            <a:endParaRPr b="1" sz="1200">
              <a:solidFill>
                <a:schemeClr val="dk1"/>
              </a:solidFill>
              <a:latin typeface="Arial"/>
              <a:ea typeface="Arial"/>
              <a:cs typeface="Arial"/>
              <a:sym typeface="Arial"/>
            </a:endParaRPr>
          </a:p>
        </p:txBody>
      </p:sp>
      <p:sp>
        <p:nvSpPr>
          <p:cNvPr id="557" name="Google Shape;557;p30"/>
          <p:cNvSpPr txBox="1"/>
          <p:nvPr/>
        </p:nvSpPr>
        <p:spPr>
          <a:xfrm>
            <a:off x="6553200" y="1905000"/>
            <a:ext cx="9144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Owner's Drawings</a:t>
            </a:r>
            <a:endParaRPr b="1" sz="1200">
              <a:solidFill>
                <a:schemeClr val="dk1"/>
              </a:solidFill>
              <a:latin typeface="Arial"/>
              <a:ea typeface="Arial"/>
              <a:cs typeface="Arial"/>
              <a:sym typeface="Arial"/>
            </a:endParaRPr>
          </a:p>
        </p:txBody>
      </p:sp>
      <p:sp>
        <p:nvSpPr>
          <p:cNvPr id="558" name="Google Shape;558;p30"/>
          <p:cNvSpPr txBox="1"/>
          <p:nvPr/>
        </p:nvSpPr>
        <p:spPr>
          <a:xfrm>
            <a:off x="7467600" y="1905000"/>
            <a:ext cx="6096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Rev.</a:t>
            </a:r>
            <a:endParaRPr b="1" sz="1200">
              <a:solidFill>
                <a:schemeClr val="dk1"/>
              </a:solidFill>
              <a:latin typeface="Arial"/>
              <a:ea typeface="Arial"/>
              <a:cs typeface="Arial"/>
              <a:sym typeface="Arial"/>
            </a:endParaRPr>
          </a:p>
        </p:txBody>
      </p:sp>
      <p:sp>
        <p:nvSpPr>
          <p:cNvPr id="559" name="Google Shape;559;p30"/>
          <p:cNvSpPr txBox="1"/>
          <p:nvPr/>
        </p:nvSpPr>
        <p:spPr>
          <a:xfrm>
            <a:off x="8153400" y="1905000"/>
            <a:ext cx="6096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Exp.</a:t>
            </a:r>
            <a:endParaRPr b="1" sz="1200">
              <a:solidFill>
                <a:schemeClr val="dk1"/>
              </a:solidFill>
              <a:latin typeface="Arial"/>
              <a:ea typeface="Arial"/>
              <a:cs typeface="Arial"/>
              <a:sym typeface="Arial"/>
            </a:endParaRPr>
          </a:p>
        </p:txBody>
      </p:sp>
      <p:sp>
        <p:nvSpPr>
          <p:cNvPr id="560" name="Google Shape;560;p30"/>
          <p:cNvSpPr txBox="1"/>
          <p:nvPr/>
        </p:nvSpPr>
        <p:spPr>
          <a:xfrm>
            <a:off x="73914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561" name="Google Shape;561;p30"/>
          <p:cNvSpPr txBox="1"/>
          <p:nvPr/>
        </p:nvSpPr>
        <p:spPr>
          <a:xfrm>
            <a:off x="80772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
                                        </p:tgtEl>
                                        <p:attrNameLst>
                                          <p:attrName>style.visibility</p:attrName>
                                        </p:attrNameLst>
                                      </p:cBhvr>
                                      <p:to>
                                        <p:strVal val="visible"/>
                                      </p:to>
                                    </p:set>
                                    <p:animEffect filter="fade" transition="in">
                                      <p:cBhvr>
                                        <p:cTn dur="500"/>
                                        <p:tgtEl>
                                          <p:spTgt spid="5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31"/>
          <p:cNvSpPr txBox="1"/>
          <p:nvPr/>
        </p:nvSpPr>
        <p:spPr>
          <a:xfrm>
            <a:off x="381000" y="5108377"/>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8.	-250				-250</a:t>
            </a:r>
            <a:endParaRPr b="1" sz="1400">
              <a:solidFill>
                <a:schemeClr val="dk1"/>
              </a:solidFill>
              <a:latin typeface="Arial"/>
              <a:ea typeface="Arial"/>
              <a:cs typeface="Arial"/>
              <a:sym typeface="Arial"/>
            </a:endParaRPr>
          </a:p>
        </p:txBody>
      </p:sp>
      <p:sp>
        <p:nvSpPr>
          <p:cNvPr id="567" name="Google Shape;567;p31"/>
          <p:cNvSpPr txBox="1"/>
          <p:nvPr/>
        </p:nvSpPr>
        <p:spPr>
          <a:xfrm>
            <a:off x="381000" y="5413177"/>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9.	+600	-600</a:t>
            </a:r>
            <a:endParaRPr b="1" sz="1400">
              <a:solidFill>
                <a:schemeClr val="dk1"/>
              </a:solidFill>
              <a:latin typeface="Arial"/>
              <a:ea typeface="Arial"/>
              <a:cs typeface="Arial"/>
              <a:sym typeface="Arial"/>
            </a:endParaRPr>
          </a:p>
        </p:txBody>
      </p:sp>
      <p:sp>
        <p:nvSpPr>
          <p:cNvPr id="568" name="Google Shape;568;p31"/>
          <p:cNvSpPr txBox="1"/>
          <p:nvPr/>
        </p:nvSpPr>
        <p:spPr>
          <a:xfrm>
            <a:off x="381000" y="5717977"/>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10.	-1,300								-1,300</a:t>
            </a:r>
            <a:endParaRPr b="1" sz="1400">
              <a:solidFill>
                <a:schemeClr val="dk1"/>
              </a:solidFill>
              <a:latin typeface="Arial"/>
              <a:ea typeface="Arial"/>
              <a:cs typeface="Arial"/>
              <a:sym typeface="Arial"/>
            </a:endParaRPr>
          </a:p>
        </p:txBody>
      </p:sp>
      <p:sp>
        <p:nvSpPr>
          <p:cNvPr id="569" name="Google Shape;569;p31"/>
          <p:cNvSpPr txBox="1"/>
          <p:nvPr/>
        </p:nvSpPr>
        <p:spPr>
          <a:xfrm>
            <a:off x="381000" y="3657600"/>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5.					+250			-250</a:t>
            </a:r>
            <a:endParaRPr b="1" sz="1400">
              <a:solidFill>
                <a:schemeClr val="dk1"/>
              </a:solidFill>
              <a:latin typeface="Arial"/>
              <a:ea typeface="Arial"/>
              <a:cs typeface="Arial"/>
              <a:sym typeface="Arial"/>
            </a:endParaRPr>
          </a:p>
        </p:txBody>
      </p:sp>
      <p:sp>
        <p:nvSpPr>
          <p:cNvPr id="570" name="Google Shape;570;p31"/>
          <p:cNvSpPr txBox="1"/>
          <p:nvPr/>
        </p:nvSpPr>
        <p:spPr>
          <a:xfrm>
            <a:off x="381000" y="3352800"/>
            <a:ext cx="845820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4.	+1,200	+1,200</a:t>
            </a:r>
            <a:endParaRPr b="1" sz="1400">
              <a:solidFill>
                <a:schemeClr val="dk1"/>
              </a:solidFill>
              <a:latin typeface="Arial"/>
              <a:ea typeface="Arial"/>
              <a:cs typeface="Arial"/>
              <a:sym typeface="Arial"/>
            </a:endParaRPr>
          </a:p>
        </p:txBody>
      </p:sp>
      <p:sp>
        <p:nvSpPr>
          <p:cNvPr id="571" name="Google Shape;571;p31"/>
          <p:cNvSpPr txBox="1"/>
          <p:nvPr/>
        </p:nvSpPr>
        <p:spPr>
          <a:xfrm>
            <a:off x="381000" y="4267200"/>
            <a:ext cx="8610600" cy="815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7.	-1,700							-600</a:t>
            </a:r>
            <a:endParaRPr/>
          </a:p>
          <a:p>
            <a:pPr indent="0" lvl="0" marL="0" marR="0" rtl="0" algn="l">
              <a:spcBef>
                <a:spcPts val="300"/>
              </a:spcBef>
              <a:spcAft>
                <a:spcPts val="0"/>
              </a:spcAft>
              <a:buNone/>
            </a:pPr>
            <a:r>
              <a:rPr b="1" lang="en-US" sz="1400">
                <a:solidFill>
                  <a:schemeClr val="dk1"/>
                </a:solidFill>
                <a:latin typeface="Arial"/>
                <a:ea typeface="Arial"/>
                <a:cs typeface="Arial"/>
                <a:sym typeface="Arial"/>
              </a:rPr>
              <a:t>									-900</a:t>
            </a:r>
            <a:endParaRPr/>
          </a:p>
          <a:p>
            <a:pPr indent="0" lvl="0" marL="0" marR="0" rtl="0" algn="l">
              <a:spcBef>
                <a:spcPts val="300"/>
              </a:spcBef>
              <a:spcAft>
                <a:spcPts val="0"/>
              </a:spcAft>
              <a:buNone/>
            </a:pPr>
            <a:r>
              <a:rPr b="1" lang="en-US" sz="1400">
                <a:solidFill>
                  <a:schemeClr val="dk1"/>
                </a:solidFill>
                <a:latin typeface="Arial"/>
                <a:ea typeface="Arial"/>
                <a:cs typeface="Arial"/>
                <a:sym typeface="Arial"/>
              </a:rPr>
              <a:t>									-200</a:t>
            </a:r>
            <a:endParaRPr b="1" sz="1400">
              <a:solidFill>
                <a:schemeClr val="dk1"/>
              </a:solidFill>
              <a:latin typeface="Arial"/>
              <a:ea typeface="Arial"/>
              <a:cs typeface="Arial"/>
              <a:sym typeface="Arial"/>
            </a:endParaRPr>
          </a:p>
        </p:txBody>
      </p:sp>
      <p:sp>
        <p:nvSpPr>
          <p:cNvPr id="572" name="Google Shape;572;p31"/>
          <p:cNvSpPr txBox="1"/>
          <p:nvPr/>
        </p:nvSpPr>
        <p:spPr>
          <a:xfrm>
            <a:off x="228600" y="1905000"/>
            <a:ext cx="7620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Trans-</a:t>
            </a:r>
            <a:endParaRPr/>
          </a:p>
          <a:p>
            <a:pPr indent="0" lvl="0" marL="0" marR="0" rtl="0" algn="ctr">
              <a:spcBef>
                <a:spcPts val="0"/>
              </a:spcBef>
              <a:spcAft>
                <a:spcPts val="0"/>
              </a:spcAft>
              <a:buNone/>
            </a:pPr>
            <a:r>
              <a:rPr b="1" lang="en-US" sz="1200">
                <a:solidFill>
                  <a:schemeClr val="dk1"/>
                </a:solidFill>
                <a:latin typeface="Arial"/>
                <a:ea typeface="Arial"/>
                <a:cs typeface="Arial"/>
                <a:sym typeface="Arial"/>
              </a:rPr>
              <a:t>action</a:t>
            </a:r>
            <a:endParaRPr/>
          </a:p>
        </p:txBody>
      </p:sp>
      <p:sp>
        <p:nvSpPr>
          <p:cNvPr id="573" name="Google Shape;573;p31"/>
          <p:cNvSpPr txBox="1"/>
          <p:nvPr/>
        </p:nvSpPr>
        <p:spPr>
          <a:xfrm>
            <a:off x="914400" y="1905000"/>
            <a:ext cx="7620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300">
                <a:solidFill>
                  <a:schemeClr val="dk1"/>
                </a:solidFill>
                <a:latin typeface="Arial"/>
                <a:ea typeface="Arial"/>
                <a:cs typeface="Arial"/>
                <a:sym typeface="Arial"/>
              </a:rPr>
              <a:t>Cash   </a:t>
            </a:r>
            <a:endParaRPr b="1" sz="1300">
              <a:solidFill>
                <a:schemeClr val="dk1"/>
              </a:solidFill>
              <a:latin typeface="Arial"/>
              <a:ea typeface="Arial"/>
              <a:cs typeface="Arial"/>
              <a:sym typeface="Arial"/>
            </a:endParaRPr>
          </a:p>
        </p:txBody>
      </p:sp>
      <p:sp>
        <p:nvSpPr>
          <p:cNvPr id="574" name="Google Shape;574;p31"/>
          <p:cNvSpPr txBox="1"/>
          <p:nvPr/>
        </p:nvSpPr>
        <p:spPr>
          <a:xfrm>
            <a:off x="1752600" y="1905000"/>
            <a:ext cx="914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Accounts</a:t>
            </a:r>
            <a:endParaRPr/>
          </a:p>
          <a:p>
            <a:pPr indent="0" lvl="0" marL="0" marR="0" rtl="0" algn="ctr">
              <a:spcBef>
                <a:spcPts val="0"/>
              </a:spcBef>
              <a:spcAft>
                <a:spcPts val="0"/>
              </a:spcAft>
              <a:buNone/>
            </a:pPr>
            <a:r>
              <a:rPr b="1" lang="en-US" sz="1200">
                <a:solidFill>
                  <a:schemeClr val="dk1"/>
                </a:solidFill>
                <a:latin typeface="Arial"/>
                <a:ea typeface="Arial"/>
                <a:cs typeface="Arial"/>
                <a:sym typeface="Arial"/>
              </a:rPr>
              <a:t>Receivable</a:t>
            </a:r>
            <a:endParaRPr/>
          </a:p>
        </p:txBody>
      </p:sp>
      <p:sp>
        <p:nvSpPr>
          <p:cNvPr id="575" name="Google Shape;575;p31"/>
          <p:cNvSpPr txBox="1"/>
          <p:nvPr/>
        </p:nvSpPr>
        <p:spPr>
          <a:xfrm>
            <a:off x="2857500" y="1905000"/>
            <a:ext cx="800100" cy="523220"/>
          </a:xfrm>
          <a:prstGeom prst="rect">
            <a:avLst/>
          </a:prstGeom>
          <a:noFill/>
          <a:ln>
            <a:noFill/>
          </a:ln>
        </p:spPr>
        <p:txBody>
          <a:bodyPr anchorCtr="0" anchor="ctr" bIns="45700" lIns="0"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Supplies</a:t>
            </a:r>
            <a:endParaRPr b="1" sz="1200">
              <a:solidFill>
                <a:schemeClr val="dk1"/>
              </a:solidFill>
              <a:latin typeface="Arial"/>
              <a:ea typeface="Arial"/>
              <a:cs typeface="Arial"/>
              <a:sym typeface="Arial"/>
            </a:endParaRPr>
          </a:p>
        </p:txBody>
      </p:sp>
      <p:sp>
        <p:nvSpPr>
          <p:cNvPr id="576" name="Google Shape;576;p31"/>
          <p:cNvSpPr txBox="1"/>
          <p:nvPr/>
        </p:nvSpPr>
        <p:spPr>
          <a:xfrm>
            <a:off x="3657600" y="1905000"/>
            <a:ext cx="9906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Equipment</a:t>
            </a:r>
            <a:endParaRPr b="1" sz="1200">
              <a:solidFill>
                <a:schemeClr val="dk1"/>
              </a:solidFill>
              <a:latin typeface="Arial"/>
              <a:ea typeface="Arial"/>
              <a:cs typeface="Arial"/>
              <a:sym typeface="Arial"/>
            </a:endParaRPr>
          </a:p>
        </p:txBody>
      </p:sp>
      <p:sp>
        <p:nvSpPr>
          <p:cNvPr id="577" name="Google Shape;577;p31"/>
          <p:cNvSpPr txBox="1"/>
          <p:nvPr/>
        </p:nvSpPr>
        <p:spPr>
          <a:xfrm>
            <a:off x="4648200" y="1905000"/>
            <a:ext cx="9906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Accounts</a:t>
            </a:r>
            <a:endParaRPr/>
          </a:p>
          <a:p>
            <a:pPr indent="0" lvl="0" marL="0" marR="0" rtl="0" algn="ctr">
              <a:spcBef>
                <a:spcPts val="0"/>
              </a:spcBef>
              <a:spcAft>
                <a:spcPts val="0"/>
              </a:spcAft>
              <a:buNone/>
            </a:pPr>
            <a:r>
              <a:rPr b="1" lang="en-US" sz="1200">
                <a:solidFill>
                  <a:schemeClr val="dk1"/>
                </a:solidFill>
                <a:latin typeface="Arial"/>
                <a:ea typeface="Arial"/>
                <a:cs typeface="Arial"/>
                <a:sym typeface="Arial"/>
              </a:rPr>
              <a:t>Payable</a:t>
            </a:r>
            <a:endParaRPr/>
          </a:p>
        </p:txBody>
      </p:sp>
      <p:cxnSp>
        <p:nvCxnSpPr>
          <p:cNvPr id="578" name="Google Shape;578;p31"/>
          <p:cNvCxnSpPr/>
          <p:nvPr/>
        </p:nvCxnSpPr>
        <p:spPr>
          <a:xfrm>
            <a:off x="978408" y="24384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579" name="Google Shape;579;p31"/>
          <p:cNvSpPr/>
          <p:nvPr/>
        </p:nvSpPr>
        <p:spPr>
          <a:xfrm>
            <a:off x="16764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580" name="Google Shape;580;p31"/>
          <p:cNvSpPr/>
          <p:nvPr/>
        </p:nvSpPr>
        <p:spPr>
          <a:xfrm>
            <a:off x="27432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581" name="Google Shape;581;p31"/>
          <p:cNvSpPr/>
          <p:nvPr/>
        </p:nvSpPr>
        <p:spPr>
          <a:xfrm>
            <a:off x="35814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582" name="Google Shape;582;p31"/>
          <p:cNvSpPr/>
          <p:nvPr/>
        </p:nvSpPr>
        <p:spPr>
          <a:xfrm>
            <a:off x="46482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583" name="Google Shape;583;p31"/>
          <p:cNvSpPr/>
          <p:nvPr/>
        </p:nvSpPr>
        <p:spPr>
          <a:xfrm>
            <a:off x="56388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584" name="Google Shape;584;p31"/>
          <p:cNvSpPr/>
          <p:nvPr/>
        </p:nvSpPr>
        <p:spPr>
          <a:xfrm>
            <a:off x="65532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585" name="Google Shape;585;p31"/>
          <p:cNvSpPr/>
          <p:nvPr/>
        </p:nvSpPr>
        <p:spPr>
          <a:xfrm>
            <a:off x="73152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586" name="Google Shape;586;p31"/>
          <p:cNvSpPr/>
          <p:nvPr/>
        </p:nvSpPr>
        <p:spPr>
          <a:xfrm>
            <a:off x="80772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587" name="Google Shape;587;p31"/>
          <p:cNvSpPr txBox="1"/>
          <p:nvPr/>
        </p:nvSpPr>
        <p:spPr>
          <a:xfrm>
            <a:off x="914399" y="1600200"/>
            <a:ext cx="7924801" cy="26161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Assets	= Liabilities +	Owner's Equity</a:t>
            </a:r>
            <a:endParaRPr b="1" sz="1400">
              <a:solidFill>
                <a:schemeClr val="dk1"/>
              </a:solidFill>
              <a:latin typeface="Arial"/>
              <a:ea typeface="Arial"/>
              <a:cs typeface="Arial"/>
              <a:sym typeface="Arial"/>
            </a:endParaRPr>
          </a:p>
        </p:txBody>
      </p:sp>
      <p:cxnSp>
        <p:nvCxnSpPr>
          <p:cNvPr id="588" name="Google Shape;588;p31"/>
          <p:cNvCxnSpPr/>
          <p:nvPr/>
        </p:nvCxnSpPr>
        <p:spPr>
          <a:xfrm>
            <a:off x="990600" y="19050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589" name="Google Shape;589;p31"/>
          <p:cNvSpPr txBox="1"/>
          <p:nvPr/>
        </p:nvSpPr>
        <p:spPr>
          <a:xfrm>
            <a:off x="55626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590" name="Google Shape;590;p31"/>
          <p:cNvSpPr txBox="1"/>
          <p:nvPr/>
        </p:nvSpPr>
        <p:spPr>
          <a:xfrm>
            <a:off x="64770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591" name="Google Shape;591;p31"/>
          <p:cNvSpPr txBox="1"/>
          <p:nvPr/>
        </p:nvSpPr>
        <p:spPr>
          <a:xfrm>
            <a:off x="35814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592" name="Google Shape;592;p31"/>
          <p:cNvSpPr txBox="1"/>
          <p:nvPr/>
        </p:nvSpPr>
        <p:spPr>
          <a:xfrm>
            <a:off x="26670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593" name="Google Shape;593;p31"/>
          <p:cNvSpPr txBox="1"/>
          <p:nvPr/>
        </p:nvSpPr>
        <p:spPr>
          <a:xfrm>
            <a:off x="16002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594" name="Google Shape;594;p31"/>
          <p:cNvSpPr txBox="1"/>
          <p:nvPr/>
        </p:nvSpPr>
        <p:spPr>
          <a:xfrm>
            <a:off x="45720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595" name="Google Shape;595;p31"/>
          <p:cNvSpPr txBox="1"/>
          <p:nvPr/>
        </p:nvSpPr>
        <p:spPr>
          <a:xfrm>
            <a:off x="381000" y="2484567"/>
            <a:ext cx="8458201" cy="261610"/>
          </a:xfrm>
          <a:prstGeom prst="rect">
            <a:avLst/>
          </a:prstGeom>
          <a:noFill/>
          <a:ln>
            <a:noFill/>
          </a:ln>
        </p:spPr>
        <p:txBody>
          <a:bodyPr anchorCtr="0" anchor="t" bIns="45700" lIns="91425" spcFirstLastPara="1" rIns="91425" wrap="square" tIns="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1.	+15,000	+15,000</a:t>
            </a:r>
            <a:endParaRPr b="1" sz="1400">
              <a:solidFill>
                <a:schemeClr val="dk1"/>
              </a:solidFill>
              <a:latin typeface="Arial"/>
              <a:ea typeface="Arial"/>
              <a:cs typeface="Arial"/>
              <a:sym typeface="Arial"/>
            </a:endParaRPr>
          </a:p>
        </p:txBody>
      </p:sp>
      <p:sp>
        <p:nvSpPr>
          <p:cNvPr id="596" name="Google Shape;596;p31"/>
          <p:cNvSpPr txBox="1"/>
          <p:nvPr/>
        </p:nvSpPr>
        <p:spPr>
          <a:xfrm>
            <a:off x="381000" y="2746177"/>
            <a:ext cx="845820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2.	-7,000	+7,000</a:t>
            </a:r>
            <a:endParaRPr b="1" sz="1400">
              <a:solidFill>
                <a:schemeClr val="dk1"/>
              </a:solidFill>
              <a:latin typeface="Arial"/>
              <a:ea typeface="Arial"/>
              <a:cs typeface="Arial"/>
              <a:sym typeface="Arial"/>
            </a:endParaRPr>
          </a:p>
        </p:txBody>
      </p:sp>
      <p:cxnSp>
        <p:nvCxnSpPr>
          <p:cNvPr id="597" name="Google Shape;597;p31"/>
          <p:cNvCxnSpPr/>
          <p:nvPr/>
        </p:nvCxnSpPr>
        <p:spPr>
          <a:xfrm>
            <a:off x="990600" y="27461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598" name="Google Shape;598;p31"/>
          <p:cNvCxnSpPr/>
          <p:nvPr/>
        </p:nvCxnSpPr>
        <p:spPr>
          <a:xfrm>
            <a:off x="990600" y="30509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599" name="Google Shape;599;p31"/>
          <p:cNvCxnSpPr/>
          <p:nvPr/>
        </p:nvCxnSpPr>
        <p:spPr>
          <a:xfrm>
            <a:off x="990600" y="33557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600" name="Google Shape;600;p31"/>
          <p:cNvCxnSpPr/>
          <p:nvPr/>
        </p:nvCxnSpPr>
        <p:spPr>
          <a:xfrm>
            <a:off x="990600" y="36605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601" name="Google Shape;601;p31"/>
          <p:cNvCxnSpPr/>
          <p:nvPr/>
        </p:nvCxnSpPr>
        <p:spPr>
          <a:xfrm>
            <a:off x="990600" y="39653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602" name="Google Shape;602;p31"/>
          <p:cNvCxnSpPr/>
          <p:nvPr/>
        </p:nvCxnSpPr>
        <p:spPr>
          <a:xfrm>
            <a:off x="990600" y="42701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603" name="Google Shape;603;p31"/>
          <p:cNvSpPr txBox="1"/>
          <p:nvPr/>
        </p:nvSpPr>
        <p:spPr>
          <a:xfrm>
            <a:off x="381000" y="3048000"/>
            <a:ext cx="845820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3.	+1,600	+1,600</a:t>
            </a:r>
            <a:endParaRPr b="1" sz="1400">
              <a:solidFill>
                <a:schemeClr val="dk1"/>
              </a:solidFill>
              <a:latin typeface="Arial"/>
              <a:ea typeface="Arial"/>
              <a:cs typeface="Arial"/>
              <a:sym typeface="Arial"/>
            </a:endParaRPr>
          </a:p>
        </p:txBody>
      </p:sp>
      <p:sp>
        <p:nvSpPr>
          <p:cNvPr id="604" name="Google Shape;604;p31"/>
          <p:cNvSpPr txBox="1"/>
          <p:nvPr/>
        </p:nvSpPr>
        <p:spPr>
          <a:xfrm>
            <a:off x="381000" y="3962400"/>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6.	+1,500	+2,000					+3,500</a:t>
            </a:r>
            <a:endParaRPr b="1" sz="1400">
              <a:solidFill>
                <a:schemeClr val="dk1"/>
              </a:solidFill>
              <a:latin typeface="Arial"/>
              <a:ea typeface="Arial"/>
              <a:cs typeface="Arial"/>
              <a:sym typeface="Arial"/>
            </a:endParaRPr>
          </a:p>
        </p:txBody>
      </p:sp>
      <p:cxnSp>
        <p:nvCxnSpPr>
          <p:cNvPr id="605" name="Google Shape;605;p31"/>
          <p:cNvCxnSpPr/>
          <p:nvPr/>
        </p:nvCxnSpPr>
        <p:spPr>
          <a:xfrm>
            <a:off x="990600" y="5111354"/>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606" name="Google Shape;606;p31"/>
          <p:cNvCxnSpPr/>
          <p:nvPr/>
        </p:nvCxnSpPr>
        <p:spPr>
          <a:xfrm>
            <a:off x="990600" y="5416154"/>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607" name="Google Shape;607;p31"/>
          <p:cNvCxnSpPr/>
          <p:nvPr/>
        </p:nvCxnSpPr>
        <p:spPr>
          <a:xfrm>
            <a:off x="990600" y="5720954"/>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608" name="Google Shape;608;p31"/>
          <p:cNvCxnSpPr/>
          <p:nvPr/>
        </p:nvCxnSpPr>
        <p:spPr>
          <a:xfrm>
            <a:off x="990600" y="60227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609" name="Google Shape;609;p31"/>
          <p:cNvSpPr/>
          <p:nvPr/>
        </p:nvSpPr>
        <p:spPr>
          <a:xfrm>
            <a:off x="16885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610" name="Google Shape;610;p31"/>
          <p:cNvSpPr/>
          <p:nvPr/>
        </p:nvSpPr>
        <p:spPr>
          <a:xfrm>
            <a:off x="27553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611" name="Google Shape;611;p31"/>
          <p:cNvSpPr/>
          <p:nvPr/>
        </p:nvSpPr>
        <p:spPr>
          <a:xfrm>
            <a:off x="35935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612" name="Google Shape;612;p31"/>
          <p:cNvSpPr/>
          <p:nvPr/>
        </p:nvSpPr>
        <p:spPr>
          <a:xfrm>
            <a:off x="46603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613" name="Google Shape;613;p31"/>
          <p:cNvSpPr/>
          <p:nvPr/>
        </p:nvSpPr>
        <p:spPr>
          <a:xfrm>
            <a:off x="56509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614" name="Google Shape;614;p31"/>
          <p:cNvSpPr/>
          <p:nvPr/>
        </p:nvSpPr>
        <p:spPr>
          <a:xfrm>
            <a:off x="65653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615" name="Google Shape;615;p31"/>
          <p:cNvSpPr/>
          <p:nvPr/>
        </p:nvSpPr>
        <p:spPr>
          <a:xfrm>
            <a:off x="73273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616" name="Google Shape;616;p31"/>
          <p:cNvSpPr/>
          <p:nvPr/>
        </p:nvSpPr>
        <p:spPr>
          <a:xfrm>
            <a:off x="80893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cxnSp>
        <p:nvCxnSpPr>
          <p:cNvPr id="617" name="Google Shape;617;p31"/>
          <p:cNvCxnSpPr/>
          <p:nvPr/>
        </p:nvCxnSpPr>
        <p:spPr>
          <a:xfrm>
            <a:off x="990600" y="64037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618" name="Google Shape;618;p31"/>
          <p:cNvSpPr/>
          <p:nvPr/>
        </p:nvSpPr>
        <p:spPr>
          <a:xfrm>
            <a:off x="16885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619" name="Google Shape;619;p31"/>
          <p:cNvSpPr/>
          <p:nvPr/>
        </p:nvSpPr>
        <p:spPr>
          <a:xfrm>
            <a:off x="27553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620" name="Google Shape;620;p31"/>
          <p:cNvSpPr/>
          <p:nvPr/>
        </p:nvSpPr>
        <p:spPr>
          <a:xfrm>
            <a:off x="35935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621" name="Google Shape;621;p31"/>
          <p:cNvSpPr/>
          <p:nvPr/>
        </p:nvSpPr>
        <p:spPr>
          <a:xfrm>
            <a:off x="46603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622" name="Google Shape;622;p31"/>
          <p:cNvSpPr/>
          <p:nvPr/>
        </p:nvSpPr>
        <p:spPr>
          <a:xfrm>
            <a:off x="56509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623" name="Google Shape;623;p31"/>
          <p:cNvSpPr/>
          <p:nvPr/>
        </p:nvSpPr>
        <p:spPr>
          <a:xfrm>
            <a:off x="65653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624" name="Google Shape;624;p31"/>
          <p:cNvSpPr/>
          <p:nvPr/>
        </p:nvSpPr>
        <p:spPr>
          <a:xfrm>
            <a:off x="73273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625" name="Google Shape;625;p31"/>
          <p:cNvSpPr/>
          <p:nvPr/>
        </p:nvSpPr>
        <p:spPr>
          <a:xfrm>
            <a:off x="80893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cxnSp>
        <p:nvCxnSpPr>
          <p:cNvPr id="626" name="Google Shape;626;p31"/>
          <p:cNvCxnSpPr/>
          <p:nvPr/>
        </p:nvCxnSpPr>
        <p:spPr>
          <a:xfrm>
            <a:off x="990600" y="64799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627" name="Google Shape;627;p31"/>
          <p:cNvSpPr/>
          <p:nvPr/>
        </p:nvSpPr>
        <p:spPr>
          <a:xfrm>
            <a:off x="16885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628" name="Google Shape;628;p31"/>
          <p:cNvSpPr/>
          <p:nvPr/>
        </p:nvSpPr>
        <p:spPr>
          <a:xfrm>
            <a:off x="27553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629" name="Google Shape;629;p31"/>
          <p:cNvSpPr/>
          <p:nvPr/>
        </p:nvSpPr>
        <p:spPr>
          <a:xfrm>
            <a:off x="35935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630" name="Google Shape;630;p31"/>
          <p:cNvSpPr/>
          <p:nvPr/>
        </p:nvSpPr>
        <p:spPr>
          <a:xfrm>
            <a:off x="46603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631" name="Google Shape;631;p31"/>
          <p:cNvSpPr/>
          <p:nvPr/>
        </p:nvSpPr>
        <p:spPr>
          <a:xfrm>
            <a:off x="56509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632" name="Google Shape;632;p31"/>
          <p:cNvSpPr/>
          <p:nvPr/>
        </p:nvSpPr>
        <p:spPr>
          <a:xfrm>
            <a:off x="65653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633" name="Google Shape;633;p31"/>
          <p:cNvSpPr/>
          <p:nvPr/>
        </p:nvSpPr>
        <p:spPr>
          <a:xfrm>
            <a:off x="73273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634" name="Google Shape;634;p31"/>
          <p:cNvSpPr/>
          <p:nvPr/>
        </p:nvSpPr>
        <p:spPr>
          <a:xfrm>
            <a:off x="80893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635" name="Google Shape;635;p31"/>
          <p:cNvSpPr txBox="1"/>
          <p:nvPr/>
        </p:nvSpPr>
        <p:spPr>
          <a:xfrm>
            <a:off x="381000" y="6062401"/>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$8,050	$1,400	$1,600	$7,000	$1,600	$15,000	$4,700	$1,950	$1,300</a:t>
            </a:r>
            <a:endParaRPr b="1" sz="1400">
              <a:solidFill>
                <a:schemeClr val="dk1"/>
              </a:solidFill>
              <a:latin typeface="Arial"/>
              <a:ea typeface="Arial"/>
              <a:cs typeface="Arial"/>
              <a:sym typeface="Arial"/>
            </a:endParaRPr>
          </a:p>
        </p:txBody>
      </p:sp>
      <p:sp>
        <p:nvSpPr>
          <p:cNvPr id="636" name="Google Shape;636;p31"/>
          <p:cNvSpPr txBox="1"/>
          <p:nvPr/>
        </p:nvSpPr>
        <p:spPr>
          <a:xfrm>
            <a:off x="56388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637" name="Google Shape;637;p31"/>
          <p:cNvSpPr txBox="1"/>
          <p:nvPr/>
        </p:nvSpPr>
        <p:spPr>
          <a:xfrm>
            <a:off x="65532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638" name="Google Shape;638;p31"/>
          <p:cNvSpPr txBox="1"/>
          <p:nvPr/>
        </p:nvSpPr>
        <p:spPr>
          <a:xfrm>
            <a:off x="35814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639" name="Google Shape;639;p31"/>
          <p:cNvSpPr txBox="1"/>
          <p:nvPr/>
        </p:nvSpPr>
        <p:spPr>
          <a:xfrm>
            <a:off x="27432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640" name="Google Shape;640;p31"/>
          <p:cNvSpPr txBox="1"/>
          <p:nvPr/>
        </p:nvSpPr>
        <p:spPr>
          <a:xfrm>
            <a:off x="16764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641" name="Google Shape;641;p31"/>
          <p:cNvSpPr txBox="1"/>
          <p:nvPr/>
        </p:nvSpPr>
        <p:spPr>
          <a:xfrm>
            <a:off x="46482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642" name="Google Shape;642;p31"/>
          <p:cNvSpPr txBox="1"/>
          <p:nvPr/>
        </p:nvSpPr>
        <p:spPr>
          <a:xfrm>
            <a:off x="7315200" y="5946577"/>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643" name="Google Shape;643;p31"/>
          <p:cNvSpPr txBox="1"/>
          <p:nvPr/>
        </p:nvSpPr>
        <p:spPr>
          <a:xfrm>
            <a:off x="8077200" y="5946577"/>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644" name="Google Shape;644;p31"/>
          <p:cNvSpPr/>
          <p:nvPr/>
        </p:nvSpPr>
        <p:spPr>
          <a:xfrm>
            <a:off x="381000" y="3431977"/>
            <a:ext cx="8610600" cy="274022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645" name="Google Shape;645;p31"/>
          <p:cNvSpPr/>
          <p:nvPr/>
        </p:nvSpPr>
        <p:spPr>
          <a:xfrm>
            <a:off x="762000" y="6025754"/>
            <a:ext cx="8229600" cy="527446"/>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646" name="Google Shape;646;p31"/>
          <p:cNvSpPr txBox="1"/>
          <p:nvPr/>
        </p:nvSpPr>
        <p:spPr>
          <a:xfrm>
            <a:off x="533400" y="381000"/>
            <a:ext cx="8229600" cy="1101071"/>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900"/>
              <a:buFont typeface="Arial"/>
              <a:buNone/>
            </a:pPr>
            <a:r>
              <a:rPr b="1" lang="en-US" sz="1900">
                <a:solidFill>
                  <a:schemeClr val="dk1"/>
                </a:solidFill>
                <a:latin typeface="Arial"/>
                <a:ea typeface="Arial"/>
                <a:cs typeface="Arial"/>
                <a:sym typeface="Arial"/>
              </a:rPr>
              <a:t>TRANSACTION 3. PURCHASE OF SUPPLIES ON CREDIT  </a:t>
            </a:r>
            <a:r>
              <a:rPr b="0" lang="en-US" sz="1900">
                <a:solidFill>
                  <a:schemeClr val="dk1"/>
                </a:solidFill>
                <a:latin typeface="Arial"/>
                <a:ea typeface="Arial"/>
                <a:cs typeface="Arial"/>
                <a:sym typeface="Arial"/>
              </a:rPr>
              <a:t>Softbyte Inc. </a:t>
            </a:r>
            <a:r>
              <a:rPr b="1" lang="en-US" sz="1900">
                <a:solidFill>
                  <a:schemeClr val="dk1"/>
                </a:solidFill>
                <a:latin typeface="Arial"/>
                <a:ea typeface="Arial"/>
                <a:cs typeface="Arial"/>
                <a:sym typeface="Arial"/>
              </a:rPr>
              <a:t>purchases</a:t>
            </a:r>
            <a:r>
              <a:rPr b="0" lang="en-US" sz="1900">
                <a:solidFill>
                  <a:schemeClr val="dk1"/>
                </a:solidFill>
                <a:latin typeface="Arial"/>
                <a:ea typeface="Arial"/>
                <a:cs typeface="Arial"/>
                <a:sym typeface="Arial"/>
              </a:rPr>
              <a:t> </a:t>
            </a:r>
            <a:r>
              <a:rPr b="1" lang="en-US" sz="1900">
                <a:solidFill>
                  <a:schemeClr val="dk1"/>
                </a:solidFill>
                <a:latin typeface="Arial"/>
                <a:ea typeface="Arial"/>
                <a:cs typeface="Arial"/>
                <a:sym typeface="Arial"/>
              </a:rPr>
              <a:t>for</a:t>
            </a:r>
            <a:r>
              <a:rPr b="0" lang="en-US" sz="1900">
                <a:solidFill>
                  <a:schemeClr val="dk1"/>
                </a:solidFill>
                <a:latin typeface="Arial"/>
                <a:ea typeface="Arial"/>
                <a:cs typeface="Arial"/>
                <a:sym typeface="Arial"/>
              </a:rPr>
              <a:t> </a:t>
            </a:r>
            <a:r>
              <a:rPr b="1" lang="en-US" sz="1900">
                <a:solidFill>
                  <a:schemeClr val="dk1"/>
                </a:solidFill>
                <a:latin typeface="Arial"/>
                <a:ea typeface="Arial"/>
                <a:cs typeface="Arial"/>
                <a:sym typeface="Arial"/>
              </a:rPr>
              <a:t>$1,600 </a:t>
            </a:r>
            <a:r>
              <a:rPr b="0" lang="en-US" sz="1900">
                <a:solidFill>
                  <a:schemeClr val="dk1"/>
                </a:solidFill>
                <a:latin typeface="Arial"/>
                <a:ea typeface="Arial"/>
                <a:cs typeface="Arial"/>
                <a:sym typeface="Arial"/>
              </a:rPr>
              <a:t>headsets and other accessories expected to last several months. The supplier allows Softbyte to pay this bill in October.</a:t>
            </a:r>
            <a:endParaRPr b="0" sz="1900">
              <a:solidFill>
                <a:schemeClr val="dk1"/>
              </a:solidFill>
              <a:latin typeface="Arial"/>
              <a:ea typeface="Arial"/>
              <a:cs typeface="Arial"/>
              <a:sym typeface="Arial"/>
            </a:endParaRPr>
          </a:p>
        </p:txBody>
      </p:sp>
      <p:sp>
        <p:nvSpPr>
          <p:cNvPr id="647" name="Google Shape;647;p31"/>
          <p:cNvSpPr/>
          <p:nvPr/>
        </p:nvSpPr>
        <p:spPr>
          <a:xfrm>
            <a:off x="304800" y="1554162"/>
            <a:ext cx="1295400" cy="2746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Noto Sans Symbols"/>
              <a:buNone/>
            </a:pPr>
            <a:r>
              <a:rPr b="1" lang="en-US" sz="1200">
                <a:solidFill>
                  <a:schemeClr val="dk1"/>
                </a:solidFill>
                <a:latin typeface="Arial"/>
                <a:ea typeface="Arial"/>
                <a:cs typeface="Arial"/>
                <a:sym typeface="Arial"/>
              </a:rPr>
              <a:t>Illustration 1-8</a:t>
            </a:r>
            <a:endParaRPr b="0" sz="1200">
              <a:solidFill>
                <a:schemeClr val="dk1"/>
              </a:solidFill>
              <a:latin typeface="Arial"/>
              <a:ea typeface="Arial"/>
              <a:cs typeface="Arial"/>
              <a:sym typeface="Arial"/>
            </a:endParaRPr>
          </a:p>
        </p:txBody>
      </p:sp>
      <p:sp>
        <p:nvSpPr>
          <p:cNvPr id="648" name="Google Shape;648;p31"/>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4 </a:t>
            </a:r>
            <a:endParaRPr b="1" i="1" sz="1600">
              <a:solidFill>
                <a:schemeClr val="lt2"/>
              </a:solidFill>
              <a:latin typeface="Arial"/>
              <a:ea typeface="Arial"/>
              <a:cs typeface="Arial"/>
              <a:sym typeface="Arial"/>
            </a:endParaRPr>
          </a:p>
        </p:txBody>
      </p:sp>
      <p:sp>
        <p:nvSpPr>
          <p:cNvPr id="649" name="Google Shape;649;p31"/>
          <p:cNvSpPr txBox="1"/>
          <p:nvPr/>
        </p:nvSpPr>
        <p:spPr>
          <a:xfrm>
            <a:off x="5638800" y="1905000"/>
            <a:ext cx="9144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Owner's Capital</a:t>
            </a:r>
            <a:endParaRPr b="1" sz="1200">
              <a:solidFill>
                <a:schemeClr val="dk1"/>
              </a:solidFill>
              <a:latin typeface="Arial"/>
              <a:ea typeface="Arial"/>
              <a:cs typeface="Arial"/>
              <a:sym typeface="Arial"/>
            </a:endParaRPr>
          </a:p>
        </p:txBody>
      </p:sp>
      <p:sp>
        <p:nvSpPr>
          <p:cNvPr id="650" name="Google Shape;650;p31"/>
          <p:cNvSpPr txBox="1"/>
          <p:nvPr/>
        </p:nvSpPr>
        <p:spPr>
          <a:xfrm>
            <a:off x="6553200" y="1905000"/>
            <a:ext cx="9144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Owner's Drawings</a:t>
            </a:r>
            <a:endParaRPr b="1" sz="1200">
              <a:solidFill>
                <a:schemeClr val="dk1"/>
              </a:solidFill>
              <a:latin typeface="Arial"/>
              <a:ea typeface="Arial"/>
              <a:cs typeface="Arial"/>
              <a:sym typeface="Arial"/>
            </a:endParaRPr>
          </a:p>
        </p:txBody>
      </p:sp>
      <p:sp>
        <p:nvSpPr>
          <p:cNvPr id="651" name="Google Shape;651;p31"/>
          <p:cNvSpPr txBox="1"/>
          <p:nvPr/>
        </p:nvSpPr>
        <p:spPr>
          <a:xfrm>
            <a:off x="7467600" y="1905000"/>
            <a:ext cx="6096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Rev.</a:t>
            </a:r>
            <a:endParaRPr b="1" sz="1200">
              <a:solidFill>
                <a:schemeClr val="dk1"/>
              </a:solidFill>
              <a:latin typeface="Arial"/>
              <a:ea typeface="Arial"/>
              <a:cs typeface="Arial"/>
              <a:sym typeface="Arial"/>
            </a:endParaRPr>
          </a:p>
        </p:txBody>
      </p:sp>
      <p:sp>
        <p:nvSpPr>
          <p:cNvPr id="652" name="Google Shape;652;p31"/>
          <p:cNvSpPr txBox="1"/>
          <p:nvPr/>
        </p:nvSpPr>
        <p:spPr>
          <a:xfrm>
            <a:off x="8153400" y="1905000"/>
            <a:ext cx="6096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Exp.</a:t>
            </a:r>
            <a:endParaRPr b="1" sz="1200">
              <a:solidFill>
                <a:schemeClr val="dk1"/>
              </a:solidFill>
              <a:latin typeface="Arial"/>
              <a:ea typeface="Arial"/>
              <a:cs typeface="Arial"/>
              <a:sym typeface="Arial"/>
            </a:endParaRPr>
          </a:p>
        </p:txBody>
      </p:sp>
      <p:sp>
        <p:nvSpPr>
          <p:cNvPr id="653" name="Google Shape;653;p31"/>
          <p:cNvSpPr txBox="1"/>
          <p:nvPr/>
        </p:nvSpPr>
        <p:spPr>
          <a:xfrm>
            <a:off x="73914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654" name="Google Shape;654;p31"/>
          <p:cNvSpPr txBox="1"/>
          <p:nvPr/>
        </p:nvSpPr>
        <p:spPr>
          <a:xfrm>
            <a:off x="80772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3"/>
                                        </p:tgtEl>
                                        <p:attrNameLst>
                                          <p:attrName>style.visibility</p:attrName>
                                        </p:attrNameLst>
                                      </p:cBhvr>
                                      <p:to>
                                        <p:strVal val="visible"/>
                                      </p:to>
                                    </p:set>
                                    <p:animEffect filter="fade" transition="in">
                                      <p:cBhvr>
                                        <p:cTn dur="500"/>
                                        <p:tgtEl>
                                          <p:spTgt spid="6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32"/>
          <p:cNvSpPr txBox="1"/>
          <p:nvPr/>
        </p:nvSpPr>
        <p:spPr>
          <a:xfrm>
            <a:off x="381000" y="5108377"/>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8.	-250				-250</a:t>
            </a:r>
            <a:endParaRPr b="1" sz="1400">
              <a:solidFill>
                <a:schemeClr val="dk1"/>
              </a:solidFill>
              <a:latin typeface="Arial"/>
              <a:ea typeface="Arial"/>
              <a:cs typeface="Arial"/>
              <a:sym typeface="Arial"/>
            </a:endParaRPr>
          </a:p>
        </p:txBody>
      </p:sp>
      <p:sp>
        <p:nvSpPr>
          <p:cNvPr id="660" name="Google Shape;660;p32"/>
          <p:cNvSpPr txBox="1"/>
          <p:nvPr/>
        </p:nvSpPr>
        <p:spPr>
          <a:xfrm>
            <a:off x="381000" y="5413177"/>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9.	+600	-600</a:t>
            </a:r>
            <a:endParaRPr b="1" sz="1400">
              <a:solidFill>
                <a:schemeClr val="dk1"/>
              </a:solidFill>
              <a:latin typeface="Arial"/>
              <a:ea typeface="Arial"/>
              <a:cs typeface="Arial"/>
              <a:sym typeface="Arial"/>
            </a:endParaRPr>
          </a:p>
        </p:txBody>
      </p:sp>
      <p:sp>
        <p:nvSpPr>
          <p:cNvPr id="661" name="Google Shape;661;p32"/>
          <p:cNvSpPr txBox="1"/>
          <p:nvPr/>
        </p:nvSpPr>
        <p:spPr>
          <a:xfrm>
            <a:off x="381000" y="5717977"/>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10.	-1,300								-1,300</a:t>
            </a:r>
            <a:endParaRPr b="1" sz="1400">
              <a:solidFill>
                <a:schemeClr val="dk1"/>
              </a:solidFill>
              <a:latin typeface="Arial"/>
              <a:ea typeface="Arial"/>
              <a:cs typeface="Arial"/>
              <a:sym typeface="Arial"/>
            </a:endParaRPr>
          </a:p>
        </p:txBody>
      </p:sp>
      <p:sp>
        <p:nvSpPr>
          <p:cNvPr id="662" name="Google Shape;662;p32"/>
          <p:cNvSpPr txBox="1"/>
          <p:nvPr/>
        </p:nvSpPr>
        <p:spPr>
          <a:xfrm>
            <a:off x="381000" y="3657600"/>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5.					+250			-250</a:t>
            </a:r>
            <a:endParaRPr b="1" sz="1400">
              <a:solidFill>
                <a:schemeClr val="dk1"/>
              </a:solidFill>
              <a:latin typeface="Arial"/>
              <a:ea typeface="Arial"/>
              <a:cs typeface="Arial"/>
              <a:sym typeface="Arial"/>
            </a:endParaRPr>
          </a:p>
        </p:txBody>
      </p:sp>
      <p:sp>
        <p:nvSpPr>
          <p:cNvPr id="663" name="Google Shape;663;p32"/>
          <p:cNvSpPr txBox="1"/>
          <p:nvPr/>
        </p:nvSpPr>
        <p:spPr>
          <a:xfrm>
            <a:off x="381000" y="4267200"/>
            <a:ext cx="8610600" cy="815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7.	-1,700							-600</a:t>
            </a:r>
            <a:endParaRPr/>
          </a:p>
          <a:p>
            <a:pPr indent="0" lvl="0" marL="0" marR="0" rtl="0" algn="l">
              <a:spcBef>
                <a:spcPts val="300"/>
              </a:spcBef>
              <a:spcAft>
                <a:spcPts val="0"/>
              </a:spcAft>
              <a:buNone/>
            </a:pPr>
            <a:r>
              <a:rPr b="1" lang="en-US" sz="1400">
                <a:solidFill>
                  <a:schemeClr val="dk1"/>
                </a:solidFill>
                <a:latin typeface="Arial"/>
                <a:ea typeface="Arial"/>
                <a:cs typeface="Arial"/>
                <a:sym typeface="Arial"/>
              </a:rPr>
              <a:t>									-900</a:t>
            </a:r>
            <a:endParaRPr/>
          </a:p>
          <a:p>
            <a:pPr indent="0" lvl="0" marL="0" marR="0" rtl="0" algn="l">
              <a:spcBef>
                <a:spcPts val="300"/>
              </a:spcBef>
              <a:spcAft>
                <a:spcPts val="0"/>
              </a:spcAft>
              <a:buNone/>
            </a:pPr>
            <a:r>
              <a:rPr b="1" lang="en-US" sz="1400">
                <a:solidFill>
                  <a:schemeClr val="dk1"/>
                </a:solidFill>
                <a:latin typeface="Arial"/>
                <a:ea typeface="Arial"/>
                <a:cs typeface="Arial"/>
                <a:sym typeface="Arial"/>
              </a:rPr>
              <a:t>									-200</a:t>
            </a:r>
            <a:endParaRPr b="1" sz="1400">
              <a:solidFill>
                <a:schemeClr val="dk1"/>
              </a:solidFill>
              <a:latin typeface="Arial"/>
              <a:ea typeface="Arial"/>
              <a:cs typeface="Arial"/>
              <a:sym typeface="Arial"/>
            </a:endParaRPr>
          </a:p>
        </p:txBody>
      </p:sp>
      <p:sp>
        <p:nvSpPr>
          <p:cNvPr id="664" name="Google Shape;664;p32"/>
          <p:cNvSpPr txBox="1"/>
          <p:nvPr/>
        </p:nvSpPr>
        <p:spPr>
          <a:xfrm>
            <a:off x="228600" y="1905000"/>
            <a:ext cx="7620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Trans-</a:t>
            </a:r>
            <a:endParaRPr/>
          </a:p>
          <a:p>
            <a:pPr indent="0" lvl="0" marL="0" marR="0" rtl="0" algn="ctr">
              <a:spcBef>
                <a:spcPts val="0"/>
              </a:spcBef>
              <a:spcAft>
                <a:spcPts val="0"/>
              </a:spcAft>
              <a:buNone/>
            </a:pPr>
            <a:r>
              <a:rPr b="1" lang="en-US" sz="1200">
                <a:solidFill>
                  <a:schemeClr val="dk1"/>
                </a:solidFill>
                <a:latin typeface="Arial"/>
                <a:ea typeface="Arial"/>
                <a:cs typeface="Arial"/>
                <a:sym typeface="Arial"/>
              </a:rPr>
              <a:t>action</a:t>
            </a:r>
            <a:endParaRPr/>
          </a:p>
        </p:txBody>
      </p:sp>
      <p:sp>
        <p:nvSpPr>
          <p:cNvPr id="665" name="Google Shape;665;p32"/>
          <p:cNvSpPr txBox="1"/>
          <p:nvPr/>
        </p:nvSpPr>
        <p:spPr>
          <a:xfrm>
            <a:off x="914400" y="1905000"/>
            <a:ext cx="7620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300">
                <a:solidFill>
                  <a:schemeClr val="dk1"/>
                </a:solidFill>
                <a:latin typeface="Arial"/>
                <a:ea typeface="Arial"/>
                <a:cs typeface="Arial"/>
                <a:sym typeface="Arial"/>
              </a:rPr>
              <a:t>Cash   </a:t>
            </a:r>
            <a:endParaRPr b="1" sz="1300">
              <a:solidFill>
                <a:schemeClr val="dk1"/>
              </a:solidFill>
              <a:latin typeface="Arial"/>
              <a:ea typeface="Arial"/>
              <a:cs typeface="Arial"/>
              <a:sym typeface="Arial"/>
            </a:endParaRPr>
          </a:p>
        </p:txBody>
      </p:sp>
      <p:sp>
        <p:nvSpPr>
          <p:cNvPr id="666" name="Google Shape;666;p32"/>
          <p:cNvSpPr txBox="1"/>
          <p:nvPr/>
        </p:nvSpPr>
        <p:spPr>
          <a:xfrm>
            <a:off x="1752600" y="1905000"/>
            <a:ext cx="914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Accounts</a:t>
            </a:r>
            <a:endParaRPr/>
          </a:p>
          <a:p>
            <a:pPr indent="0" lvl="0" marL="0" marR="0" rtl="0" algn="ctr">
              <a:spcBef>
                <a:spcPts val="0"/>
              </a:spcBef>
              <a:spcAft>
                <a:spcPts val="0"/>
              </a:spcAft>
              <a:buNone/>
            </a:pPr>
            <a:r>
              <a:rPr b="1" lang="en-US" sz="1200">
                <a:solidFill>
                  <a:schemeClr val="dk1"/>
                </a:solidFill>
                <a:latin typeface="Arial"/>
                <a:ea typeface="Arial"/>
                <a:cs typeface="Arial"/>
                <a:sym typeface="Arial"/>
              </a:rPr>
              <a:t>Receivable</a:t>
            </a:r>
            <a:endParaRPr/>
          </a:p>
        </p:txBody>
      </p:sp>
      <p:sp>
        <p:nvSpPr>
          <p:cNvPr id="667" name="Google Shape;667;p32"/>
          <p:cNvSpPr txBox="1"/>
          <p:nvPr/>
        </p:nvSpPr>
        <p:spPr>
          <a:xfrm>
            <a:off x="2857500" y="1905000"/>
            <a:ext cx="800100" cy="523220"/>
          </a:xfrm>
          <a:prstGeom prst="rect">
            <a:avLst/>
          </a:prstGeom>
          <a:noFill/>
          <a:ln>
            <a:noFill/>
          </a:ln>
        </p:spPr>
        <p:txBody>
          <a:bodyPr anchorCtr="0" anchor="ctr" bIns="45700" lIns="0"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Supplies</a:t>
            </a:r>
            <a:endParaRPr b="1" sz="1200">
              <a:solidFill>
                <a:schemeClr val="dk1"/>
              </a:solidFill>
              <a:latin typeface="Arial"/>
              <a:ea typeface="Arial"/>
              <a:cs typeface="Arial"/>
              <a:sym typeface="Arial"/>
            </a:endParaRPr>
          </a:p>
        </p:txBody>
      </p:sp>
      <p:sp>
        <p:nvSpPr>
          <p:cNvPr id="668" name="Google Shape;668;p32"/>
          <p:cNvSpPr txBox="1"/>
          <p:nvPr/>
        </p:nvSpPr>
        <p:spPr>
          <a:xfrm>
            <a:off x="3657600" y="1905000"/>
            <a:ext cx="9906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Equipment</a:t>
            </a:r>
            <a:endParaRPr b="1" sz="1200">
              <a:solidFill>
                <a:schemeClr val="dk1"/>
              </a:solidFill>
              <a:latin typeface="Arial"/>
              <a:ea typeface="Arial"/>
              <a:cs typeface="Arial"/>
              <a:sym typeface="Arial"/>
            </a:endParaRPr>
          </a:p>
        </p:txBody>
      </p:sp>
      <p:sp>
        <p:nvSpPr>
          <p:cNvPr id="669" name="Google Shape;669;p32"/>
          <p:cNvSpPr txBox="1"/>
          <p:nvPr/>
        </p:nvSpPr>
        <p:spPr>
          <a:xfrm>
            <a:off x="4648200" y="1905000"/>
            <a:ext cx="9906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Accounts</a:t>
            </a:r>
            <a:endParaRPr/>
          </a:p>
          <a:p>
            <a:pPr indent="0" lvl="0" marL="0" marR="0" rtl="0" algn="ctr">
              <a:spcBef>
                <a:spcPts val="0"/>
              </a:spcBef>
              <a:spcAft>
                <a:spcPts val="0"/>
              </a:spcAft>
              <a:buNone/>
            </a:pPr>
            <a:r>
              <a:rPr b="1" lang="en-US" sz="1200">
                <a:solidFill>
                  <a:schemeClr val="dk1"/>
                </a:solidFill>
                <a:latin typeface="Arial"/>
                <a:ea typeface="Arial"/>
                <a:cs typeface="Arial"/>
                <a:sym typeface="Arial"/>
              </a:rPr>
              <a:t>Payable</a:t>
            </a:r>
            <a:endParaRPr/>
          </a:p>
        </p:txBody>
      </p:sp>
      <p:cxnSp>
        <p:nvCxnSpPr>
          <p:cNvPr id="670" name="Google Shape;670;p32"/>
          <p:cNvCxnSpPr/>
          <p:nvPr/>
        </p:nvCxnSpPr>
        <p:spPr>
          <a:xfrm>
            <a:off x="978408" y="24384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671" name="Google Shape;671;p32"/>
          <p:cNvSpPr/>
          <p:nvPr/>
        </p:nvSpPr>
        <p:spPr>
          <a:xfrm>
            <a:off x="16764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672" name="Google Shape;672;p32"/>
          <p:cNvSpPr/>
          <p:nvPr/>
        </p:nvSpPr>
        <p:spPr>
          <a:xfrm>
            <a:off x="27432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673" name="Google Shape;673;p32"/>
          <p:cNvSpPr/>
          <p:nvPr/>
        </p:nvSpPr>
        <p:spPr>
          <a:xfrm>
            <a:off x="35814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674" name="Google Shape;674;p32"/>
          <p:cNvSpPr/>
          <p:nvPr/>
        </p:nvSpPr>
        <p:spPr>
          <a:xfrm>
            <a:off x="46482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675" name="Google Shape;675;p32"/>
          <p:cNvSpPr/>
          <p:nvPr/>
        </p:nvSpPr>
        <p:spPr>
          <a:xfrm>
            <a:off x="56388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676" name="Google Shape;676;p32"/>
          <p:cNvSpPr/>
          <p:nvPr/>
        </p:nvSpPr>
        <p:spPr>
          <a:xfrm>
            <a:off x="65532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677" name="Google Shape;677;p32"/>
          <p:cNvSpPr/>
          <p:nvPr/>
        </p:nvSpPr>
        <p:spPr>
          <a:xfrm>
            <a:off x="73152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678" name="Google Shape;678;p32"/>
          <p:cNvSpPr/>
          <p:nvPr/>
        </p:nvSpPr>
        <p:spPr>
          <a:xfrm>
            <a:off x="80772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679" name="Google Shape;679;p32"/>
          <p:cNvSpPr txBox="1"/>
          <p:nvPr/>
        </p:nvSpPr>
        <p:spPr>
          <a:xfrm>
            <a:off x="914399" y="1600200"/>
            <a:ext cx="7924801" cy="26161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Assets	= Liabilities +	Owner's Equity</a:t>
            </a:r>
            <a:endParaRPr b="1" sz="1400">
              <a:solidFill>
                <a:schemeClr val="dk1"/>
              </a:solidFill>
              <a:latin typeface="Arial"/>
              <a:ea typeface="Arial"/>
              <a:cs typeface="Arial"/>
              <a:sym typeface="Arial"/>
            </a:endParaRPr>
          </a:p>
        </p:txBody>
      </p:sp>
      <p:cxnSp>
        <p:nvCxnSpPr>
          <p:cNvPr id="680" name="Google Shape;680;p32"/>
          <p:cNvCxnSpPr/>
          <p:nvPr/>
        </p:nvCxnSpPr>
        <p:spPr>
          <a:xfrm>
            <a:off x="990600" y="19050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681" name="Google Shape;681;p32"/>
          <p:cNvSpPr txBox="1"/>
          <p:nvPr/>
        </p:nvSpPr>
        <p:spPr>
          <a:xfrm>
            <a:off x="55626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682" name="Google Shape;682;p32"/>
          <p:cNvSpPr txBox="1"/>
          <p:nvPr/>
        </p:nvSpPr>
        <p:spPr>
          <a:xfrm>
            <a:off x="64770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683" name="Google Shape;683;p32"/>
          <p:cNvSpPr txBox="1"/>
          <p:nvPr/>
        </p:nvSpPr>
        <p:spPr>
          <a:xfrm>
            <a:off x="35814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684" name="Google Shape;684;p32"/>
          <p:cNvSpPr txBox="1"/>
          <p:nvPr/>
        </p:nvSpPr>
        <p:spPr>
          <a:xfrm>
            <a:off x="26670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685" name="Google Shape;685;p32"/>
          <p:cNvSpPr txBox="1"/>
          <p:nvPr/>
        </p:nvSpPr>
        <p:spPr>
          <a:xfrm>
            <a:off x="16002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686" name="Google Shape;686;p32"/>
          <p:cNvSpPr txBox="1"/>
          <p:nvPr/>
        </p:nvSpPr>
        <p:spPr>
          <a:xfrm>
            <a:off x="45720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687" name="Google Shape;687;p32"/>
          <p:cNvSpPr txBox="1"/>
          <p:nvPr/>
        </p:nvSpPr>
        <p:spPr>
          <a:xfrm>
            <a:off x="381000" y="2484567"/>
            <a:ext cx="8458201" cy="261610"/>
          </a:xfrm>
          <a:prstGeom prst="rect">
            <a:avLst/>
          </a:prstGeom>
          <a:noFill/>
          <a:ln>
            <a:noFill/>
          </a:ln>
        </p:spPr>
        <p:txBody>
          <a:bodyPr anchorCtr="0" anchor="t" bIns="45700" lIns="91425" spcFirstLastPara="1" rIns="91425" wrap="square" tIns="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1.	+15,000	+15,000</a:t>
            </a:r>
            <a:endParaRPr b="1" sz="1400">
              <a:solidFill>
                <a:schemeClr val="dk1"/>
              </a:solidFill>
              <a:latin typeface="Arial"/>
              <a:ea typeface="Arial"/>
              <a:cs typeface="Arial"/>
              <a:sym typeface="Arial"/>
            </a:endParaRPr>
          </a:p>
        </p:txBody>
      </p:sp>
      <p:sp>
        <p:nvSpPr>
          <p:cNvPr id="688" name="Google Shape;688;p32"/>
          <p:cNvSpPr txBox="1"/>
          <p:nvPr/>
        </p:nvSpPr>
        <p:spPr>
          <a:xfrm>
            <a:off x="381000" y="2746177"/>
            <a:ext cx="845820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2.	-7,000	+7,000</a:t>
            </a:r>
            <a:endParaRPr b="1" sz="1400">
              <a:solidFill>
                <a:schemeClr val="dk1"/>
              </a:solidFill>
              <a:latin typeface="Arial"/>
              <a:ea typeface="Arial"/>
              <a:cs typeface="Arial"/>
              <a:sym typeface="Arial"/>
            </a:endParaRPr>
          </a:p>
        </p:txBody>
      </p:sp>
      <p:cxnSp>
        <p:nvCxnSpPr>
          <p:cNvPr id="689" name="Google Shape;689;p32"/>
          <p:cNvCxnSpPr/>
          <p:nvPr/>
        </p:nvCxnSpPr>
        <p:spPr>
          <a:xfrm>
            <a:off x="990600" y="27461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690" name="Google Shape;690;p32"/>
          <p:cNvCxnSpPr/>
          <p:nvPr/>
        </p:nvCxnSpPr>
        <p:spPr>
          <a:xfrm>
            <a:off x="990600" y="30509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691" name="Google Shape;691;p32"/>
          <p:cNvCxnSpPr/>
          <p:nvPr/>
        </p:nvCxnSpPr>
        <p:spPr>
          <a:xfrm>
            <a:off x="990600" y="33557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692" name="Google Shape;692;p32"/>
          <p:cNvCxnSpPr/>
          <p:nvPr/>
        </p:nvCxnSpPr>
        <p:spPr>
          <a:xfrm>
            <a:off x="990600" y="36605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693" name="Google Shape;693;p32"/>
          <p:cNvCxnSpPr/>
          <p:nvPr/>
        </p:nvCxnSpPr>
        <p:spPr>
          <a:xfrm>
            <a:off x="990600" y="39653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694" name="Google Shape;694;p32"/>
          <p:cNvCxnSpPr/>
          <p:nvPr/>
        </p:nvCxnSpPr>
        <p:spPr>
          <a:xfrm>
            <a:off x="990600" y="42701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695" name="Google Shape;695;p32"/>
          <p:cNvSpPr txBox="1"/>
          <p:nvPr/>
        </p:nvSpPr>
        <p:spPr>
          <a:xfrm>
            <a:off x="381000" y="3048000"/>
            <a:ext cx="845820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3.	+1,600	+1,600</a:t>
            </a:r>
            <a:endParaRPr b="1" sz="1400">
              <a:solidFill>
                <a:schemeClr val="dk1"/>
              </a:solidFill>
              <a:latin typeface="Arial"/>
              <a:ea typeface="Arial"/>
              <a:cs typeface="Arial"/>
              <a:sym typeface="Arial"/>
            </a:endParaRPr>
          </a:p>
        </p:txBody>
      </p:sp>
      <p:sp>
        <p:nvSpPr>
          <p:cNvPr id="696" name="Google Shape;696;p32"/>
          <p:cNvSpPr txBox="1"/>
          <p:nvPr/>
        </p:nvSpPr>
        <p:spPr>
          <a:xfrm>
            <a:off x="381000" y="3962400"/>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6.	+1,500	+2,000					+3,500</a:t>
            </a:r>
            <a:endParaRPr b="1" sz="1400">
              <a:solidFill>
                <a:schemeClr val="dk1"/>
              </a:solidFill>
              <a:latin typeface="Arial"/>
              <a:ea typeface="Arial"/>
              <a:cs typeface="Arial"/>
              <a:sym typeface="Arial"/>
            </a:endParaRPr>
          </a:p>
        </p:txBody>
      </p:sp>
      <p:cxnSp>
        <p:nvCxnSpPr>
          <p:cNvPr id="697" name="Google Shape;697;p32"/>
          <p:cNvCxnSpPr/>
          <p:nvPr/>
        </p:nvCxnSpPr>
        <p:spPr>
          <a:xfrm>
            <a:off x="990600" y="5111354"/>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698" name="Google Shape;698;p32"/>
          <p:cNvCxnSpPr/>
          <p:nvPr/>
        </p:nvCxnSpPr>
        <p:spPr>
          <a:xfrm>
            <a:off x="990600" y="5416154"/>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699" name="Google Shape;699;p32"/>
          <p:cNvCxnSpPr/>
          <p:nvPr/>
        </p:nvCxnSpPr>
        <p:spPr>
          <a:xfrm>
            <a:off x="990600" y="5720954"/>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700" name="Google Shape;700;p32"/>
          <p:cNvCxnSpPr/>
          <p:nvPr/>
        </p:nvCxnSpPr>
        <p:spPr>
          <a:xfrm>
            <a:off x="990600" y="60227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701" name="Google Shape;701;p32"/>
          <p:cNvSpPr/>
          <p:nvPr/>
        </p:nvSpPr>
        <p:spPr>
          <a:xfrm>
            <a:off x="16885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702" name="Google Shape;702;p32"/>
          <p:cNvSpPr/>
          <p:nvPr/>
        </p:nvSpPr>
        <p:spPr>
          <a:xfrm>
            <a:off x="27553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703" name="Google Shape;703;p32"/>
          <p:cNvSpPr/>
          <p:nvPr/>
        </p:nvSpPr>
        <p:spPr>
          <a:xfrm>
            <a:off x="35935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704" name="Google Shape;704;p32"/>
          <p:cNvSpPr/>
          <p:nvPr/>
        </p:nvSpPr>
        <p:spPr>
          <a:xfrm>
            <a:off x="46603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705" name="Google Shape;705;p32"/>
          <p:cNvSpPr/>
          <p:nvPr/>
        </p:nvSpPr>
        <p:spPr>
          <a:xfrm>
            <a:off x="56509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706" name="Google Shape;706;p32"/>
          <p:cNvSpPr/>
          <p:nvPr/>
        </p:nvSpPr>
        <p:spPr>
          <a:xfrm>
            <a:off x="65653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707" name="Google Shape;707;p32"/>
          <p:cNvSpPr/>
          <p:nvPr/>
        </p:nvSpPr>
        <p:spPr>
          <a:xfrm>
            <a:off x="73273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708" name="Google Shape;708;p32"/>
          <p:cNvSpPr/>
          <p:nvPr/>
        </p:nvSpPr>
        <p:spPr>
          <a:xfrm>
            <a:off x="80893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cxnSp>
        <p:nvCxnSpPr>
          <p:cNvPr id="709" name="Google Shape;709;p32"/>
          <p:cNvCxnSpPr/>
          <p:nvPr/>
        </p:nvCxnSpPr>
        <p:spPr>
          <a:xfrm>
            <a:off x="990600" y="64037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710" name="Google Shape;710;p32"/>
          <p:cNvSpPr/>
          <p:nvPr/>
        </p:nvSpPr>
        <p:spPr>
          <a:xfrm>
            <a:off x="16885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711" name="Google Shape;711;p32"/>
          <p:cNvSpPr/>
          <p:nvPr/>
        </p:nvSpPr>
        <p:spPr>
          <a:xfrm>
            <a:off x="27553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712" name="Google Shape;712;p32"/>
          <p:cNvSpPr/>
          <p:nvPr/>
        </p:nvSpPr>
        <p:spPr>
          <a:xfrm>
            <a:off x="35935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713" name="Google Shape;713;p32"/>
          <p:cNvSpPr/>
          <p:nvPr/>
        </p:nvSpPr>
        <p:spPr>
          <a:xfrm>
            <a:off x="46603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714" name="Google Shape;714;p32"/>
          <p:cNvSpPr/>
          <p:nvPr/>
        </p:nvSpPr>
        <p:spPr>
          <a:xfrm>
            <a:off x="56509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715" name="Google Shape;715;p32"/>
          <p:cNvSpPr/>
          <p:nvPr/>
        </p:nvSpPr>
        <p:spPr>
          <a:xfrm>
            <a:off x="65653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716" name="Google Shape;716;p32"/>
          <p:cNvSpPr/>
          <p:nvPr/>
        </p:nvSpPr>
        <p:spPr>
          <a:xfrm>
            <a:off x="73273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717" name="Google Shape;717;p32"/>
          <p:cNvSpPr/>
          <p:nvPr/>
        </p:nvSpPr>
        <p:spPr>
          <a:xfrm>
            <a:off x="80893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cxnSp>
        <p:nvCxnSpPr>
          <p:cNvPr id="718" name="Google Shape;718;p32"/>
          <p:cNvCxnSpPr/>
          <p:nvPr/>
        </p:nvCxnSpPr>
        <p:spPr>
          <a:xfrm>
            <a:off x="990600" y="64799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719" name="Google Shape;719;p32"/>
          <p:cNvSpPr/>
          <p:nvPr/>
        </p:nvSpPr>
        <p:spPr>
          <a:xfrm>
            <a:off x="16885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720" name="Google Shape;720;p32"/>
          <p:cNvSpPr/>
          <p:nvPr/>
        </p:nvSpPr>
        <p:spPr>
          <a:xfrm>
            <a:off x="27553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721" name="Google Shape;721;p32"/>
          <p:cNvSpPr/>
          <p:nvPr/>
        </p:nvSpPr>
        <p:spPr>
          <a:xfrm>
            <a:off x="35935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722" name="Google Shape;722;p32"/>
          <p:cNvSpPr/>
          <p:nvPr/>
        </p:nvSpPr>
        <p:spPr>
          <a:xfrm>
            <a:off x="46603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723" name="Google Shape;723;p32"/>
          <p:cNvSpPr/>
          <p:nvPr/>
        </p:nvSpPr>
        <p:spPr>
          <a:xfrm>
            <a:off x="56509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724" name="Google Shape;724;p32"/>
          <p:cNvSpPr/>
          <p:nvPr/>
        </p:nvSpPr>
        <p:spPr>
          <a:xfrm>
            <a:off x="65653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725" name="Google Shape;725;p32"/>
          <p:cNvSpPr/>
          <p:nvPr/>
        </p:nvSpPr>
        <p:spPr>
          <a:xfrm>
            <a:off x="73273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726" name="Google Shape;726;p32"/>
          <p:cNvSpPr/>
          <p:nvPr/>
        </p:nvSpPr>
        <p:spPr>
          <a:xfrm>
            <a:off x="80893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727" name="Google Shape;727;p32"/>
          <p:cNvSpPr txBox="1"/>
          <p:nvPr/>
        </p:nvSpPr>
        <p:spPr>
          <a:xfrm>
            <a:off x="381000" y="6062401"/>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$8,050	$1,400	$1,600	$7,000	$1,600	$15,000	$4,700	$1,950	$1,300</a:t>
            </a:r>
            <a:endParaRPr b="1" sz="1400">
              <a:solidFill>
                <a:schemeClr val="dk1"/>
              </a:solidFill>
              <a:latin typeface="Arial"/>
              <a:ea typeface="Arial"/>
              <a:cs typeface="Arial"/>
              <a:sym typeface="Arial"/>
            </a:endParaRPr>
          </a:p>
        </p:txBody>
      </p:sp>
      <p:sp>
        <p:nvSpPr>
          <p:cNvPr id="728" name="Google Shape;728;p32"/>
          <p:cNvSpPr txBox="1"/>
          <p:nvPr/>
        </p:nvSpPr>
        <p:spPr>
          <a:xfrm>
            <a:off x="56388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729" name="Google Shape;729;p32"/>
          <p:cNvSpPr txBox="1"/>
          <p:nvPr/>
        </p:nvSpPr>
        <p:spPr>
          <a:xfrm>
            <a:off x="65532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730" name="Google Shape;730;p32"/>
          <p:cNvSpPr txBox="1"/>
          <p:nvPr/>
        </p:nvSpPr>
        <p:spPr>
          <a:xfrm>
            <a:off x="35814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731" name="Google Shape;731;p32"/>
          <p:cNvSpPr txBox="1"/>
          <p:nvPr/>
        </p:nvSpPr>
        <p:spPr>
          <a:xfrm>
            <a:off x="27432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732" name="Google Shape;732;p32"/>
          <p:cNvSpPr txBox="1"/>
          <p:nvPr/>
        </p:nvSpPr>
        <p:spPr>
          <a:xfrm>
            <a:off x="16764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733" name="Google Shape;733;p32"/>
          <p:cNvSpPr txBox="1"/>
          <p:nvPr/>
        </p:nvSpPr>
        <p:spPr>
          <a:xfrm>
            <a:off x="46482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734" name="Google Shape;734;p32"/>
          <p:cNvSpPr txBox="1"/>
          <p:nvPr/>
        </p:nvSpPr>
        <p:spPr>
          <a:xfrm>
            <a:off x="7315200" y="5946577"/>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735" name="Google Shape;735;p32"/>
          <p:cNvSpPr txBox="1"/>
          <p:nvPr/>
        </p:nvSpPr>
        <p:spPr>
          <a:xfrm>
            <a:off x="8077200" y="5946577"/>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736" name="Google Shape;736;p32"/>
          <p:cNvSpPr/>
          <p:nvPr/>
        </p:nvSpPr>
        <p:spPr>
          <a:xfrm>
            <a:off x="381000" y="3733800"/>
            <a:ext cx="8610600" cy="2360712"/>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737" name="Google Shape;737;p32"/>
          <p:cNvSpPr/>
          <p:nvPr/>
        </p:nvSpPr>
        <p:spPr>
          <a:xfrm>
            <a:off x="762000" y="6025754"/>
            <a:ext cx="8229600" cy="527446"/>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738" name="Google Shape;738;p32"/>
          <p:cNvSpPr txBox="1"/>
          <p:nvPr/>
        </p:nvSpPr>
        <p:spPr>
          <a:xfrm>
            <a:off x="533400" y="381000"/>
            <a:ext cx="8229600" cy="1101071"/>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900"/>
              <a:buFont typeface="Arial"/>
              <a:buNone/>
            </a:pPr>
            <a:r>
              <a:rPr b="1" lang="en-US" sz="1900">
                <a:solidFill>
                  <a:schemeClr val="dk1"/>
                </a:solidFill>
                <a:latin typeface="Arial"/>
                <a:ea typeface="Arial"/>
                <a:cs typeface="Arial"/>
                <a:sym typeface="Arial"/>
              </a:rPr>
              <a:t>TRANSACTION 4. SERVICES PERFORMED FOR CASH  </a:t>
            </a:r>
            <a:r>
              <a:rPr b="0" lang="en-US" sz="1900">
                <a:solidFill>
                  <a:schemeClr val="dk1"/>
                </a:solidFill>
                <a:latin typeface="Arial"/>
                <a:ea typeface="Arial"/>
                <a:cs typeface="Arial"/>
                <a:sym typeface="Arial"/>
              </a:rPr>
              <a:t>Softbyte Inc. receives </a:t>
            </a:r>
            <a:r>
              <a:rPr b="1" lang="en-US" sz="1900">
                <a:solidFill>
                  <a:schemeClr val="dk1"/>
                </a:solidFill>
                <a:latin typeface="Arial"/>
                <a:ea typeface="Arial"/>
                <a:cs typeface="Arial"/>
                <a:sym typeface="Arial"/>
              </a:rPr>
              <a:t>$1,200</a:t>
            </a:r>
            <a:r>
              <a:rPr b="0" lang="en-US" sz="1900">
                <a:solidFill>
                  <a:schemeClr val="dk1"/>
                </a:solidFill>
                <a:latin typeface="Arial"/>
                <a:ea typeface="Arial"/>
                <a:cs typeface="Arial"/>
                <a:sym typeface="Arial"/>
              </a:rPr>
              <a:t> </a:t>
            </a:r>
            <a:r>
              <a:rPr b="1" lang="en-US" sz="1900">
                <a:solidFill>
                  <a:schemeClr val="dk1"/>
                </a:solidFill>
                <a:latin typeface="Arial"/>
                <a:ea typeface="Arial"/>
                <a:cs typeface="Arial"/>
                <a:sym typeface="Arial"/>
              </a:rPr>
              <a:t>cash</a:t>
            </a:r>
            <a:r>
              <a:rPr b="0" lang="en-US" sz="1900">
                <a:solidFill>
                  <a:schemeClr val="dk1"/>
                </a:solidFill>
                <a:latin typeface="Arial"/>
                <a:ea typeface="Arial"/>
                <a:cs typeface="Arial"/>
                <a:sym typeface="Arial"/>
              </a:rPr>
              <a:t> from customers for app development services it has performed.</a:t>
            </a:r>
            <a:endParaRPr b="0" sz="1900">
              <a:solidFill>
                <a:schemeClr val="dk1"/>
              </a:solidFill>
              <a:latin typeface="Arial"/>
              <a:ea typeface="Arial"/>
              <a:cs typeface="Arial"/>
              <a:sym typeface="Arial"/>
            </a:endParaRPr>
          </a:p>
        </p:txBody>
      </p:sp>
      <p:sp>
        <p:nvSpPr>
          <p:cNvPr id="739" name="Google Shape;739;p32"/>
          <p:cNvSpPr/>
          <p:nvPr/>
        </p:nvSpPr>
        <p:spPr>
          <a:xfrm>
            <a:off x="7620000" y="1219200"/>
            <a:ext cx="1295400" cy="274638"/>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Clr>
                <a:schemeClr val="dk1"/>
              </a:buClr>
              <a:buSzPts val="1200"/>
              <a:buFont typeface="Noto Sans Symbols"/>
              <a:buNone/>
            </a:pPr>
            <a:r>
              <a:rPr b="1" lang="en-US" sz="1200">
                <a:solidFill>
                  <a:schemeClr val="dk1"/>
                </a:solidFill>
                <a:latin typeface="Arial"/>
                <a:ea typeface="Arial"/>
                <a:cs typeface="Arial"/>
                <a:sym typeface="Arial"/>
              </a:rPr>
              <a:t>Illustration 1-8</a:t>
            </a:r>
            <a:endParaRPr b="0" sz="1200">
              <a:solidFill>
                <a:schemeClr val="dk1"/>
              </a:solidFill>
              <a:latin typeface="Arial"/>
              <a:ea typeface="Arial"/>
              <a:cs typeface="Arial"/>
              <a:sym typeface="Arial"/>
            </a:endParaRPr>
          </a:p>
        </p:txBody>
      </p:sp>
      <p:sp>
        <p:nvSpPr>
          <p:cNvPr id="740" name="Google Shape;740;p32"/>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4 </a:t>
            </a:r>
            <a:endParaRPr b="1" i="1" sz="1600">
              <a:solidFill>
                <a:schemeClr val="lt2"/>
              </a:solidFill>
              <a:latin typeface="Arial"/>
              <a:ea typeface="Arial"/>
              <a:cs typeface="Arial"/>
              <a:sym typeface="Arial"/>
            </a:endParaRPr>
          </a:p>
        </p:txBody>
      </p:sp>
      <p:sp>
        <p:nvSpPr>
          <p:cNvPr id="741" name="Google Shape;741;p32"/>
          <p:cNvSpPr txBox="1"/>
          <p:nvPr/>
        </p:nvSpPr>
        <p:spPr>
          <a:xfrm>
            <a:off x="381000" y="3352800"/>
            <a:ext cx="845820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4.	+1,200		+1,200	</a:t>
            </a:r>
            <a:endParaRPr b="1" sz="1400">
              <a:solidFill>
                <a:srgbClr val="730000"/>
              </a:solidFill>
              <a:latin typeface="Arial"/>
              <a:ea typeface="Arial"/>
              <a:cs typeface="Arial"/>
              <a:sym typeface="Arial"/>
            </a:endParaRPr>
          </a:p>
        </p:txBody>
      </p:sp>
      <p:sp>
        <p:nvSpPr>
          <p:cNvPr id="742" name="Google Shape;742;p32"/>
          <p:cNvSpPr txBox="1"/>
          <p:nvPr/>
        </p:nvSpPr>
        <p:spPr>
          <a:xfrm>
            <a:off x="5638800" y="1905000"/>
            <a:ext cx="9144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Owner's Capital</a:t>
            </a:r>
            <a:endParaRPr b="1" sz="1200">
              <a:solidFill>
                <a:schemeClr val="dk1"/>
              </a:solidFill>
              <a:latin typeface="Arial"/>
              <a:ea typeface="Arial"/>
              <a:cs typeface="Arial"/>
              <a:sym typeface="Arial"/>
            </a:endParaRPr>
          </a:p>
        </p:txBody>
      </p:sp>
      <p:sp>
        <p:nvSpPr>
          <p:cNvPr id="743" name="Google Shape;743;p32"/>
          <p:cNvSpPr txBox="1"/>
          <p:nvPr/>
        </p:nvSpPr>
        <p:spPr>
          <a:xfrm>
            <a:off x="6553200" y="1905000"/>
            <a:ext cx="9144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Owner's Drawings</a:t>
            </a:r>
            <a:endParaRPr b="1" sz="1200">
              <a:solidFill>
                <a:schemeClr val="dk1"/>
              </a:solidFill>
              <a:latin typeface="Arial"/>
              <a:ea typeface="Arial"/>
              <a:cs typeface="Arial"/>
              <a:sym typeface="Arial"/>
            </a:endParaRPr>
          </a:p>
        </p:txBody>
      </p:sp>
      <p:sp>
        <p:nvSpPr>
          <p:cNvPr id="744" name="Google Shape;744;p32"/>
          <p:cNvSpPr txBox="1"/>
          <p:nvPr/>
        </p:nvSpPr>
        <p:spPr>
          <a:xfrm>
            <a:off x="7467600" y="1905000"/>
            <a:ext cx="6096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Rev.</a:t>
            </a:r>
            <a:endParaRPr b="1" sz="1200">
              <a:solidFill>
                <a:schemeClr val="dk1"/>
              </a:solidFill>
              <a:latin typeface="Arial"/>
              <a:ea typeface="Arial"/>
              <a:cs typeface="Arial"/>
              <a:sym typeface="Arial"/>
            </a:endParaRPr>
          </a:p>
        </p:txBody>
      </p:sp>
      <p:sp>
        <p:nvSpPr>
          <p:cNvPr id="745" name="Google Shape;745;p32"/>
          <p:cNvSpPr txBox="1"/>
          <p:nvPr/>
        </p:nvSpPr>
        <p:spPr>
          <a:xfrm>
            <a:off x="8153400" y="1905000"/>
            <a:ext cx="6096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Exp.</a:t>
            </a:r>
            <a:endParaRPr b="1" sz="1200">
              <a:solidFill>
                <a:schemeClr val="dk1"/>
              </a:solidFill>
              <a:latin typeface="Arial"/>
              <a:ea typeface="Arial"/>
              <a:cs typeface="Arial"/>
              <a:sym typeface="Arial"/>
            </a:endParaRPr>
          </a:p>
        </p:txBody>
      </p:sp>
      <p:sp>
        <p:nvSpPr>
          <p:cNvPr id="746" name="Google Shape;746;p32"/>
          <p:cNvSpPr txBox="1"/>
          <p:nvPr/>
        </p:nvSpPr>
        <p:spPr>
          <a:xfrm>
            <a:off x="73914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747" name="Google Shape;747;p32"/>
          <p:cNvSpPr txBox="1"/>
          <p:nvPr/>
        </p:nvSpPr>
        <p:spPr>
          <a:xfrm>
            <a:off x="80772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1"/>
                                        </p:tgtEl>
                                        <p:attrNameLst>
                                          <p:attrName>style.visibility</p:attrName>
                                        </p:attrNameLst>
                                      </p:cBhvr>
                                      <p:to>
                                        <p:strVal val="visible"/>
                                      </p:to>
                                    </p:set>
                                    <p:animEffect filter="fade" transition="in">
                                      <p:cBhvr>
                                        <p:cTn dur="500"/>
                                        <p:tgtEl>
                                          <p:spTgt spid="7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33"/>
          <p:cNvSpPr txBox="1"/>
          <p:nvPr/>
        </p:nvSpPr>
        <p:spPr>
          <a:xfrm>
            <a:off x="381000" y="5108377"/>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8.	-250				-250</a:t>
            </a:r>
            <a:endParaRPr b="1" sz="1400">
              <a:solidFill>
                <a:schemeClr val="dk1"/>
              </a:solidFill>
              <a:latin typeface="Arial"/>
              <a:ea typeface="Arial"/>
              <a:cs typeface="Arial"/>
              <a:sym typeface="Arial"/>
            </a:endParaRPr>
          </a:p>
        </p:txBody>
      </p:sp>
      <p:sp>
        <p:nvSpPr>
          <p:cNvPr id="753" name="Google Shape;753;p33"/>
          <p:cNvSpPr txBox="1"/>
          <p:nvPr/>
        </p:nvSpPr>
        <p:spPr>
          <a:xfrm>
            <a:off x="381000" y="5413177"/>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9.	+600	-600</a:t>
            </a:r>
            <a:endParaRPr b="1" sz="1400">
              <a:solidFill>
                <a:schemeClr val="dk1"/>
              </a:solidFill>
              <a:latin typeface="Arial"/>
              <a:ea typeface="Arial"/>
              <a:cs typeface="Arial"/>
              <a:sym typeface="Arial"/>
            </a:endParaRPr>
          </a:p>
        </p:txBody>
      </p:sp>
      <p:sp>
        <p:nvSpPr>
          <p:cNvPr id="754" name="Google Shape;754;p33"/>
          <p:cNvSpPr txBox="1"/>
          <p:nvPr/>
        </p:nvSpPr>
        <p:spPr>
          <a:xfrm>
            <a:off x="381000" y="5717977"/>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10.	-1,300								-1,300</a:t>
            </a:r>
            <a:endParaRPr b="1" sz="1400">
              <a:solidFill>
                <a:schemeClr val="dk1"/>
              </a:solidFill>
              <a:latin typeface="Arial"/>
              <a:ea typeface="Arial"/>
              <a:cs typeface="Arial"/>
              <a:sym typeface="Arial"/>
            </a:endParaRPr>
          </a:p>
        </p:txBody>
      </p:sp>
      <p:sp>
        <p:nvSpPr>
          <p:cNvPr id="755" name="Google Shape;755;p33"/>
          <p:cNvSpPr txBox="1"/>
          <p:nvPr/>
        </p:nvSpPr>
        <p:spPr>
          <a:xfrm>
            <a:off x="381000" y="4267200"/>
            <a:ext cx="8610600" cy="815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7.	-1,700							-600</a:t>
            </a:r>
            <a:endParaRPr/>
          </a:p>
          <a:p>
            <a:pPr indent="0" lvl="0" marL="0" marR="0" rtl="0" algn="l">
              <a:spcBef>
                <a:spcPts val="300"/>
              </a:spcBef>
              <a:spcAft>
                <a:spcPts val="0"/>
              </a:spcAft>
              <a:buNone/>
            </a:pPr>
            <a:r>
              <a:rPr b="1" lang="en-US" sz="1400">
                <a:solidFill>
                  <a:schemeClr val="dk1"/>
                </a:solidFill>
                <a:latin typeface="Arial"/>
                <a:ea typeface="Arial"/>
                <a:cs typeface="Arial"/>
                <a:sym typeface="Arial"/>
              </a:rPr>
              <a:t>									-900</a:t>
            </a:r>
            <a:endParaRPr/>
          </a:p>
          <a:p>
            <a:pPr indent="0" lvl="0" marL="0" marR="0" rtl="0" algn="l">
              <a:spcBef>
                <a:spcPts val="300"/>
              </a:spcBef>
              <a:spcAft>
                <a:spcPts val="0"/>
              </a:spcAft>
              <a:buNone/>
            </a:pPr>
            <a:r>
              <a:rPr b="1" lang="en-US" sz="1400">
                <a:solidFill>
                  <a:schemeClr val="dk1"/>
                </a:solidFill>
                <a:latin typeface="Arial"/>
                <a:ea typeface="Arial"/>
                <a:cs typeface="Arial"/>
                <a:sym typeface="Arial"/>
              </a:rPr>
              <a:t>									-200</a:t>
            </a:r>
            <a:endParaRPr b="1" sz="1400">
              <a:solidFill>
                <a:schemeClr val="dk1"/>
              </a:solidFill>
              <a:latin typeface="Arial"/>
              <a:ea typeface="Arial"/>
              <a:cs typeface="Arial"/>
              <a:sym typeface="Arial"/>
            </a:endParaRPr>
          </a:p>
        </p:txBody>
      </p:sp>
      <p:sp>
        <p:nvSpPr>
          <p:cNvPr id="756" name="Google Shape;756;p33"/>
          <p:cNvSpPr txBox="1"/>
          <p:nvPr/>
        </p:nvSpPr>
        <p:spPr>
          <a:xfrm>
            <a:off x="228600" y="1905000"/>
            <a:ext cx="7620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Trans-</a:t>
            </a:r>
            <a:endParaRPr/>
          </a:p>
          <a:p>
            <a:pPr indent="0" lvl="0" marL="0" marR="0" rtl="0" algn="ctr">
              <a:spcBef>
                <a:spcPts val="0"/>
              </a:spcBef>
              <a:spcAft>
                <a:spcPts val="0"/>
              </a:spcAft>
              <a:buNone/>
            </a:pPr>
            <a:r>
              <a:rPr b="1" lang="en-US" sz="1200">
                <a:solidFill>
                  <a:schemeClr val="dk1"/>
                </a:solidFill>
                <a:latin typeface="Arial"/>
                <a:ea typeface="Arial"/>
                <a:cs typeface="Arial"/>
                <a:sym typeface="Arial"/>
              </a:rPr>
              <a:t>action</a:t>
            </a:r>
            <a:endParaRPr/>
          </a:p>
        </p:txBody>
      </p:sp>
      <p:sp>
        <p:nvSpPr>
          <p:cNvPr id="757" name="Google Shape;757;p33"/>
          <p:cNvSpPr txBox="1"/>
          <p:nvPr/>
        </p:nvSpPr>
        <p:spPr>
          <a:xfrm>
            <a:off x="914400" y="1905000"/>
            <a:ext cx="7620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300">
                <a:solidFill>
                  <a:schemeClr val="dk1"/>
                </a:solidFill>
                <a:latin typeface="Arial"/>
                <a:ea typeface="Arial"/>
                <a:cs typeface="Arial"/>
                <a:sym typeface="Arial"/>
              </a:rPr>
              <a:t>Cash   </a:t>
            </a:r>
            <a:endParaRPr b="1" sz="1300">
              <a:solidFill>
                <a:schemeClr val="dk1"/>
              </a:solidFill>
              <a:latin typeface="Arial"/>
              <a:ea typeface="Arial"/>
              <a:cs typeface="Arial"/>
              <a:sym typeface="Arial"/>
            </a:endParaRPr>
          </a:p>
        </p:txBody>
      </p:sp>
      <p:sp>
        <p:nvSpPr>
          <p:cNvPr id="758" name="Google Shape;758;p33"/>
          <p:cNvSpPr txBox="1"/>
          <p:nvPr/>
        </p:nvSpPr>
        <p:spPr>
          <a:xfrm>
            <a:off x="1752600" y="1905000"/>
            <a:ext cx="914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Accounts</a:t>
            </a:r>
            <a:endParaRPr/>
          </a:p>
          <a:p>
            <a:pPr indent="0" lvl="0" marL="0" marR="0" rtl="0" algn="ctr">
              <a:spcBef>
                <a:spcPts val="0"/>
              </a:spcBef>
              <a:spcAft>
                <a:spcPts val="0"/>
              </a:spcAft>
              <a:buNone/>
            </a:pPr>
            <a:r>
              <a:rPr b="1" lang="en-US" sz="1200">
                <a:solidFill>
                  <a:schemeClr val="dk1"/>
                </a:solidFill>
                <a:latin typeface="Arial"/>
                <a:ea typeface="Arial"/>
                <a:cs typeface="Arial"/>
                <a:sym typeface="Arial"/>
              </a:rPr>
              <a:t>Receivable</a:t>
            </a:r>
            <a:endParaRPr/>
          </a:p>
        </p:txBody>
      </p:sp>
      <p:sp>
        <p:nvSpPr>
          <p:cNvPr id="759" name="Google Shape;759;p33"/>
          <p:cNvSpPr txBox="1"/>
          <p:nvPr/>
        </p:nvSpPr>
        <p:spPr>
          <a:xfrm>
            <a:off x="2857500" y="1905000"/>
            <a:ext cx="800100" cy="523220"/>
          </a:xfrm>
          <a:prstGeom prst="rect">
            <a:avLst/>
          </a:prstGeom>
          <a:noFill/>
          <a:ln>
            <a:noFill/>
          </a:ln>
        </p:spPr>
        <p:txBody>
          <a:bodyPr anchorCtr="0" anchor="ctr" bIns="45700" lIns="0"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Supplies</a:t>
            </a:r>
            <a:endParaRPr b="1" sz="1200">
              <a:solidFill>
                <a:schemeClr val="dk1"/>
              </a:solidFill>
              <a:latin typeface="Arial"/>
              <a:ea typeface="Arial"/>
              <a:cs typeface="Arial"/>
              <a:sym typeface="Arial"/>
            </a:endParaRPr>
          </a:p>
        </p:txBody>
      </p:sp>
      <p:sp>
        <p:nvSpPr>
          <p:cNvPr id="760" name="Google Shape;760;p33"/>
          <p:cNvSpPr txBox="1"/>
          <p:nvPr/>
        </p:nvSpPr>
        <p:spPr>
          <a:xfrm>
            <a:off x="3657600" y="1905000"/>
            <a:ext cx="9906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Equipment</a:t>
            </a:r>
            <a:endParaRPr b="1" sz="1200">
              <a:solidFill>
                <a:schemeClr val="dk1"/>
              </a:solidFill>
              <a:latin typeface="Arial"/>
              <a:ea typeface="Arial"/>
              <a:cs typeface="Arial"/>
              <a:sym typeface="Arial"/>
            </a:endParaRPr>
          </a:p>
        </p:txBody>
      </p:sp>
      <p:sp>
        <p:nvSpPr>
          <p:cNvPr id="761" name="Google Shape;761;p33"/>
          <p:cNvSpPr txBox="1"/>
          <p:nvPr/>
        </p:nvSpPr>
        <p:spPr>
          <a:xfrm>
            <a:off x="4648200" y="1905000"/>
            <a:ext cx="9906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Accounts</a:t>
            </a:r>
            <a:endParaRPr/>
          </a:p>
          <a:p>
            <a:pPr indent="0" lvl="0" marL="0" marR="0" rtl="0" algn="ctr">
              <a:spcBef>
                <a:spcPts val="0"/>
              </a:spcBef>
              <a:spcAft>
                <a:spcPts val="0"/>
              </a:spcAft>
              <a:buNone/>
            </a:pPr>
            <a:r>
              <a:rPr b="1" lang="en-US" sz="1200">
                <a:solidFill>
                  <a:schemeClr val="dk1"/>
                </a:solidFill>
                <a:latin typeface="Arial"/>
                <a:ea typeface="Arial"/>
                <a:cs typeface="Arial"/>
                <a:sym typeface="Arial"/>
              </a:rPr>
              <a:t>Payable</a:t>
            </a:r>
            <a:endParaRPr/>
          </a:p>
        </p:txBody>
      </p:sp>
      <p:cxnSp>
        <p:nvCxnSpPr>
          <p:cNvPr id="762" name="Google Shape;762;p33"/>
          <p:cNvCxnSpPr/>
          <p:nvPr/>
        </p:nvCxnSpPr>
        <p:spPr>
          <a:xfrm>
            <a:off x="978408" y="24384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763" name="Google Shape;763;p33"/>
          <p:cNvSpPr/>
          <p:nvPr/>
        </p:nvSpPr>
        <p:spPr>
          <a:xfrm>
            <a:off x="16764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764" name="Google Shape;764;p33"/>
          <p:cNvSpPr/>
          <p:nvPr/>
        </p:nvSpPr>
        <p:spPr>
          <a:xfrm>
            <a:off x="27432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765" name="Google Shape;765;p33"/>
          <p:cNvSpPr/>
          <p:nvPr/>
        </p:nvSpPr>
        <p:spPr>
          <a:xfrm>
            <a:off x="35814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766" name="Google Shape;766;p33"/>
          <p:cNvSpPr/>
          <p:nvPr/>
        </p:nvSpPr>
        <p:spPr>
          <a:xfrm>
            <a:off x="46482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767" name="Google Shape;767;p33"/>
          <p:cNvSpPr/>
          <p:nvPr/>
        </p:nvSpPr>
        <p:spPr>
          <a:xfrm>
            <a:off x="56388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768" name="Google Shape;768;p33"/>
          <p:cNvSpPr/>
          <p:nvPr/>
        </p:nvSpPr>
        <p:spPr>
          <a:xfrm>
            <a:off x="65532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769" name="Google Shape;769;p33"/>
          <p:cNvSpPr/>
          <p:nvPr/>
        </p:nvSpPr>
        <p:spPr>
          <a:xfrm>
            <a:off x="73152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770" name="Google Shape;770;p33"/>
          <p:cNvSpPr/>
          <p:nvPr/>
        </p:nvSpPr>
        <p:spPr>
          <a:xfrm>
            <a:off x="80772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771" name="Google Shape;771;p33"/>
          <p:cNvSpPr txBox="1"/>
          <p:nvPr/>
        </p:nvSpPr>
        <p:spPr>
          <a:xfrm>
            <a:off x="914399" y="1600200"/>
            <a:ext cx="7924801" cy="26161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Assets	= Liabilities +	Owner's Equity</a:t>
            </a:r>
            <a:endParaRPr b="1" sz="1400">
              <a:solidFill>
                <a:schemeClr val="dk1"/>
              </a:solidFill>
              <a:latin typeface="Arial"/>
              <a:ea typeface="Arial"/>
              <a:cs typeface="Arial"/>
              <a:sym typeface="Arial"/>
            </a:endParaRPr>
          </a:p>
        </p:txBody>
      </p:sp>
      <p:cxnSp>
        <p:nvCxnSpPr>
          <p:cNvPr id="772" name="Google Shape;772;p33"/>
          <p:cNvCxnSpPr/>
          <p:nvPr/>
        </p:nvCxnSpPr>
        <p:spPr>
          <a:xfrm>
            <a:off x="990600" y="19050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773" name="Google Shape;773;p33"/>
          <p:cNvSpPr txBox="1"/>
          <p:nvPr/>
        </p:nvSpPr>
        <p:spPr>
          <a:xfrm>
            <a:off x="55626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774" name="Google Shape;774;p33"/>
          <p:cNvSpPr txBox="1"/>
          <p:nvPr/>
        </p:nvSpPr>
        <p:spPr>
          <a:xfrm>
            <a:off x="64770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775" name="Google Shape;775;p33"/>
          <p:cNvSpPr txBox="1"/>
          <p:nvPr/>
        </p:nvSpPr>
        <p:spPr>
          <a:xfrm>
            <a:off x="35814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776" name="Google Shape;776;p33"/>
          <p:cNvSpPr txBox="1"/>
          <p:nvPr/>
        </p:nvSpPr>
        <p:spPr>
          <a:xfrm>
            <a:off x="26670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777" name="Google Shape;777;p33"/>
          <p:cNvSpPr txBox="1"/>
          <p:nvPr/>
        </p:nvSpPr>
        <p:spPr>
          <a:xfrm>
            <a:off x="16002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778" name="Google Shape;778;p33"/>
          <p:cNvSpPr txBox="1"/>
          <p:nvPr/>
        </p:nvSpPr>
        <p:spPr>
          <a:xfrm>
            <a:off x="45720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779" name="Google Shape;779;p33"/>
          <p:cNvSpPr txBox="1"/>
          <p:nvPr/>
        </p:nvSpPr>
        <p:spPr>
          <a:xfrm>
            <a:off x="381000" y="2484567"/>
            <a:ext cx="8458201" cy="261610"/>
          </a:xfrm>
          <a:prstGeom prst="rect">
            <a:avLst/>
          </a:prstGeom>
          <a:noFill/>
          <a:ln>
            <a:noFill/>
          </a:ln>
        </p:spPr>
        <p:txBody>
          <a:bodyPr anchorCtr="0" anchor="t" bIns="45700" lIns="91425" spcFirstLastPara="1" rIns="91425" wrap="square" tIns="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1.	+15,000	+15,000</a:t>
            </a:r>
            <a:endParaRPr b="1" sz="1400">
              <a:solidFill>
                <a:schemeClr val="dk1"/>
              </a:solidFill>
              <a:latin typeface="Arial"/>
              <a:ea typeface="Arial"/>
              <a:cs typeface="Arial"/>
              <a:sym typeface="Arial"/>
            </a:endParaRPr>
          </a:p>
        </p:txBody>
      </p:sp>
      <p:sp>
        <p:nvSpPr>
          <p:cNvPr id="780" name="Google Shape;780;p33"/>
          <p:cNvSpPr txBox="1"/>
          <p:nvPr/>
        </p:nvSpPr>
        <p:spPr>
          <a:xfrm>
            <a:off x="381000" y="2746177"/>
            <a:ext cx="845820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2.	-7,000	+7,000</a:t>
            </a:r>
            <a:endParaRPr b="1" sz="1400">
              <a:solidFill>
                <a:schemeClr val="dk1"/>
              </a:solidFill>
              <a:latin typeface="Arial"/>
              <a:ea typeface="Arial"/>
              <a:cs typeface="Arial"/>
              <a:sym typeface="Arial"/>
            </a:endParaRPr>
          </a:p>
        </p:txBody>
      </p:sp>
      <p:cxnSp>
        <p:nvCxnSpPr>
          <p:cNvPr id="781" name="Google Shape;781;p33"/>
          <p:cNvCxnSpPr/>
          <p:nvPr/>
        </p:nvCxnSpPr>
        <p:spPr>
          <a:xfrm>
            <a:off x="990600" y="27461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782" name="Google Shape;782;p33"/>
          <p:cNvCxnSpPr/>
          <p:nvPr/>
        </p:nvCxnSpPr>
        <p:spPr>
          <a:xfrm>
            <a:off x="990600" y="30509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783" name="Google Shape;783;p33"/>
          <p:cNvCxnSpPr/>
          <p:nvPr/>
        </p:nvCxnSpPr>
        <p:spPr>
          <a:xfrm>
            <a:off x="990600" y="33557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784" name="Google Shape;784;p33"/>
          <p:cNvCxnSpPr/>
          <p:nvPr/>
        </p:nvCxnSpPr>
        <p:spPr>
          <a:xfrm>
            <a:off x="990600" y="36605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785" name="Google Shape;785;p33"/>
          <p:cNvCxnSpPr/>
          <p:nvPr/>
        </p:nvCxnSpPr>
        <p:spPr>
          <a:xfrm>
            <a:off x="990600" y="39653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786" name="Google Shape;786;p33"/>
          <p:cNvCxnSpPr/>
          <p:nvPr/>
        </p:nvCxnSpPr>
        <p:spPr>
          <a:xfrm>
            <a:off x="990600" y="42701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787" name="Google Shape;787;p33"/>
          <p:cNvSpPr txBox="1"/>
          <p:nvPr/>
        </p:nvSpPr>
        <p:spPr>
          <a:xfrm>
            <a:off x="381000" y="3048000"/>
            <a:ext cx="845820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3.	+1,600	+1,600</a:t>
            </a:r>
            <a:endParaRPr b="1" sz="1400">
              <a:solidFill>
                <a:schemeClr val="dk1"/>
              </a:solidFill>
              <a:latin typeface="Arial"/>
              <a:ea typeface="Arial"/>
              <a:cs typeface="Arial"/>
              <a:sym typeface="Arial"/>
            </a:endParaRPr>
          </a:p>
        </p:txBody>
      </p:sp>
      <p:sp>
        <p:nvSpPr>
          <p:cNvPr id="788" name="Google Shape;788;p33"/>
          <p:cNvSpPr txBox="1"/>
          <p:nvPr/>
        </p:nvSpPr>
        <p:spPr>
          <a:xfrm>
            <a:off x="381000" y="3962400"/>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6.	+1,500	+2,000					+3,500</a:t>
            </a:r>
            <a:endParaRPr b="1" sz="1400">
              <a:solidFill>
                <a:schemeClr val="dk1"/>
              </a:solidFill>
              <a:latin typeface="Arial"/>
              <a:ea typeface="Arial"/>
              <a:cs typeface="Arial"/>
              <a:sym typeface="Arial"/>
            </a:endParaRPr>
          </a:p>
        </p:txBody>
      </p:sp>
      <p:cxnSp>
        <p:nvCxnSpPr>
          <p:cNvPr id="789" name="Google Shape;789;p33"/>
          <p:cNvCxnSpPr/>
          <p:nvPr/>
        </p:nvCxnSpPr>
        <p:spPr>
          <a:xfrm>
            <a:off x="990600" y="5111354"/>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790" name="Google Shape;790;p33"/>
          <p:cNvCxnSpPr/>
          <p:nvPr/>
        </p:nvCxnSpPr>
        <p:spPr>
          <a:xfrm>
            <a:off x="990600" y="5416154"/>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791" name="Google Shape;791;p33"/>
          <p:cNvCxnSpPr/>
          <p:nvPr/>
        </p:nvCxnSpPr>
        <p:spPr>
          <a:xfrm>
            <a:off x="990600" y="5720954"/>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792" name="Google Shape;792;p33"/>
          <p:cNvCxnSpPr/>
          <p:nvPr/>
        </p:nvCxnSpPr>
        <p:spPr>
          <a:xfrm>
            <a:off x="990600" y="60227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793" name="Google Shape;793;p33"/>
          <p:cNvSpPr/>
          <p:nvPr/>
        </p:nvSpPr>
        <p:spPr>
          <a:xfrm>
            <a:off x="16885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794" name="Google Shape;794;p33"/>
          <p:cNvSpPr/>
          <p:nvPr/>
        </p:nvSpPr>
        <p:spPr>
          <a:xfrm>
            <a:off x="27553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795" name="Google Shape;795;p33"/>
          <p:cNvSpPr/>
          <p:nvPr/>
        </p:nvSpPr>
        <p:spPr>
          <a:xfrm>
            <a:off x="35935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796" name="Google Shape;796;p33"/>
          <p:cNvSpPr/>
          <p:nvPr/>
        </p:nvSpPr>
        <p:spPr>
          <a:xfrm>
            <a:off x="46603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797" name="Google Shape;797;p33"/>
          <p:cNvSpPr/>
          <p:nvPr/>
        </p:nvSpPr>
        <p:spPr>
          <a:xfrm>
            <a:off x="56509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798" name="Google Shape;798;p33"/>
          <p:cNvSpPr/>
          <p:nvPr/>
        </p:nvSpPr>
        <p:spPr>
          <a:xfrm>
            <a:off x="65653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799" name="Google Shape;799;p33"/>
          <p:cNvSpPr/>
          <p:nvPr/>
        </p:nvSpPr>
        <p:spPr>
          <a:xfrm>
            <a:off x="73273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800" name="Google Shape;800;p33"/>
          <p:cNvSpPr/>
          <p:nvPr/>
        </p:nvSpPr>
        <p:spPr>
          <a:xfrm>
            <a:off x="80893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cxnSp>
        <p:nvCxnSpPr>
          <p:cNvPr id="801" name="Google Shape;801;p33"/>
          <p:cNvCxnSpPr/>
          <p:nvPr/>
        </p:nvCxnSpPr>
        <p:spPr>
          <a:xfrm>
            <a:off x="990600" y="64037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802" name="Google Shape;802;p33"/>
          <p:cNvSpPr/>
          <p:nvPr/>
        </p:nvSpPr>
        <p:spPr>
          <a:xfrm>
            <a:off x="16885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803" name="Google Shape;803;p33"/>
          <p:cNvSpPr/>
          <p:nvPr/>
        </p:nvSpPr>
        <p:spPr>
          <a:xfrm>
            <a:off x="27553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804" name="Google Shape;804;p33"/>
          <p:cNvSpPr/>
          <p:nvPr/>
        </p:nvSpPr>
        <p:spPr>
          <a:xfrm>
            <a:off x="35935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805" name="Google Shape;805;p33"/>
          <p:cNvSpPr/>
          <p:nvPr/>
        </p:nvSpPr>
        <p:spPr>
          <a:xfrm>
            <a:off x="46603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806" name="Google Shape;806;p33"/>
          <p:cNvSpPr/>
          <p:nvPr/>
        </p:nvSpPr>
        <p:spPr>
          <a:xfrm>
            <a:off x="56509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807" name="Google Shape;807;p33"/>
          <p:cNvSpPr/>
          <p:nvPr/>
        </p:nvSpPr>
        <p:spPr>
          <a:xfrm>
            <a:off x="65653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808" name="Google Shape;808;p33"/>
          <p:cNvSpPr/>
          <p:nvPr/>
        </p:nvSpPr>
        <p:spPr>
          <a:xfrm>
            <a:off x="73273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809" name="Google Shape;809;p33"/>
          <p:cNvSpPr/>
          <p:nvPr/>
        </p:nvSpPr>
        <p:spPr>
          <a:xfrm>
            <a:off x="80893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cxnSp>
        <p:nvCxnSpPr>
          <p:cNvPr id="810" name="Google Shape;810;p33"/>
          <p:cNvCxnSpPr/>
          <p:nvPr/>
        </p:nvCxnSpPr>
        <p:spPr>
          <a:xfrm>
            <a:off x="990600" y="64799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811" name="Google Shape;811;p33"/>
          <p:cNvSpPr/>
          <p:nvPr/>
        </p:nvSpPr>
        <p:spPr>
          <a:xfrm>
            <a:off x="16885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812" name="Google Shape;812;p33"/>
          <p:cNvSpPr/>
          <p:nvPr/>
        </p:nvSpPr>
        <p:spPr>
          <a:xfrm>
            <a:off x="27553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813" name="Google Shape;813;p33"/>
          <p:cNvSpPr/>
          <p:nvPr/>
        </p:nvSpPr>
        <p:spPr>
          <a:xfrm>
            <a:off x="35935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814" name="Google Shape;814;p33"/>
          <p:cNvSpPr/>
          <p:nvPr/>
        </p:nvSpPr>
        <p:spPr>
          <a:xfrm>
            <a:off x="46603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815" name="Google Shape;815;p33"/>
          <p:cNvSpPr/>
          <p:nvPr/>
        </p:nvSpPr>
        <p:spPr>
          <a:xfrm>
            <a:off x="56509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816" name="Google Shape;816;p33"/>
          <p:cNvSpPr/>
          <p:nvPr/>
        </p:nvSpPr>
        <p:spPr>
          <a:xfrm>
            <a:off x="65653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817" name="Google Shape;817;p33"/>
          <p:cNvSpPr/>
          <p:nvPr/>
        </p:nvSpPr>
        <p:spPr>
          <a:xfrm>
            <a:off x="73273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818" name="Google Shape;818;p33"/>
          <p:cNvSpPr/>
          <p:nvPr/>
        </p:nvSpPr>
        <p:spPr>
          <a:xfrm>
            <a:off x="80893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819" name="Google Shape;819;p33"/>
          <p:cNvSpPr txBox="1"/>
          <p:nvPr/>
        </p:nvSpPr>
        <p:spPr>
          <a:xfrm>
            <a:off x="381000" y="6062401"/>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$8,050	$1,400	$1,600	$7,000	$1,600	$15,000	$4,700	$1,950	$1,300</a:t>
            </a:r>
            <a:endParaRPr b="1" sz="1400">
              <a:solidFill>
                <a:schemeClr val="dk1"/>
              </a:solidFill>
              <a:latin typeface="Arial"/>
              <a:ea typeface="Arial"/>
              <a:cs typeface="Arial"/>
              <a:sym typeface="Arial"/>
            </a:endParaRPr>
          </a:p>
        </p:txBody>
      </p:sp>
      <p:sp>
        <p:nvSpPr>
          <p:cNvPr id="820" name="Google Shape;820;p33"/>
          <p:cNvSpPr txBox="1"/>
          <p:nvPr/>
        </p:nvSpPr>
        <p:spPr>
          <a:xfrm>
            <a:off x="56388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821" name="Google Shape;821;p33"/>
          <p:cNvSpPr txBox="1"/>
          <p:nvPr/>
        </p:nvSpPr>
        <p:spPr>
          <a:xfrm>
            <a:off x="65532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822" name="Google Shape;822;p33"/>
          <p:cNvSpPr txBox="1"/>
          <p:nvPr/>
        </p:nvSpPr>
        <p:spPr>
          <a:xfrm>
            <a:off x="35814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823" name="Google Shape;823;p33"/>
          <p:cNvSpPr txBox="1"/>
          <p:nvPr/>
        </p:nvSpPr>
        <p:spPr>
          <a:xfrm>
            <a:off x="27432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824" name="Google Shape;824;p33"/>
          <p:cNvSpPr txBox="1"/>
          <p:nvPr/>
        </p:nvSpPr>
        <p:spPr>
          <a:xfrm>
            <a:off x="16764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825" name="Google Shape;825;p33"/>
          <p:cNvSpPr txBox="1"/>
          <p:nvPr/>
        </p:nvSpPr>
        <p:spPr>
          <a:xfrm>
            <a:off x="46482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826" name="Google Shape;826;p33"/>
          <p:cNvSpPr txBox="1"/>
          <p:nvPr/>
        </p:nvSpPr>
        <p:spPr>
          <a:xfrm>
            <a:off x="7315200" y="5946577"/>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827" name="Google Shape;827;p33"/>
          <p:cNvSpPr txBox="1"/>
          <p:nvPr/>
        </p:nvSpPr>
        <p:spPr>
          <a:xfrm>
            <a:off x="8077200" y="5946577"/>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828" name="Google Shape;828;p33"/>
          <p:cNvSpPr/>
          <p:nvPr/>
        </p:nvSpPr>
        <p:spPr>
          <a:xfrm>
            <a:off x="381000" y="4038599"/>
            <a:ext cx="8610600" cy="217976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829" name="Google Shape;829;p33"/>
          <p:cNvSpPr/>
          <p:nvPr/>
        </p:nvSpPr>
        <p:spPr>
          <a:xfrm>
            <a:off x="762000" y="6025754"/>
            <a:ext cx="8229600" cy="527446"/>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830" name="Google Shape;830;p33"/>
          <p:cNvSpPr txBox="1"/>
          <p:nvPr/>
        </p:nvSpPr>
        <p:spPr>
          <a:xfrm>
            <a:off x="533400" y="381000"/>
            <a:ext cx="8229600" cy="1101071"/>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900"/>
              <a:buFont typeface="Arial"/>
              <a:buNone/>
            </a:pPr>
            <a:r>
              <a:rPr b="1" lang="en-US" sz="1900">
                <a:solidFill>
                  <a:schemeClr val="dk1"/>
                </a:solidFill>
                <a:latin typeface="Arial"/>
                <a:ea typeface="Arial"/>
                <a:cs typeface="Arial"/>
                <a:sym typeface="Arial"/>
              </a:rPr>
              <a:t>TRANSACTION 5. PURCHASE OF ADVERTISING ON CREDIT  </a:t>
            </a:r>
            <a:r>
              <a:rPr b="0" lang="en-US" sz="1900">
                <a:solidFill>
                  <a:schemeClr val="dk1"/>
                </a:solidFill>
                <a:latin typeface="Arial"/>
                <a:ea typeface="Arial"/>
                <a:cs typeface="Arial"/>
                <a:sym typeface="Arial"/>
              </a:rPr>
              <a:t>Softbyte Inc. receives a </a:t>
            </a:r>
            <a:r>
              <a:rPr b="1" lang="en-US" sz="1900">
                <a:solidFill>
                  <a:schemeClr val="dk1"/>
                </a:solidFill>
                <a:latin typeface="Arial"/>
                <a:ea typeface="Arial"/>
                <a:cs typeface="Arial"/>
                <a:sym typeface="Arial"/>
              </a:rPr>
              <a:t>bill for $250 </a:t>
            </a:r>
            <a:r>
              <a:rPr b="0" lang="en-US" sz="1900">
                <a:solidFill>
                  <a:schemeClr val="dk1"/>
                </a:solidFill>
                <a:latin typeface="Arial"/>
                <a:ea typeface="Arial"/>
                <a:cs typeface="Arial"/>
                <a:sym typeface="Arial"/>
              </a:rPr>
              <a:t>from the </a:t>
            </a:r>
            <a:r>
              <a:rPr b="0" i="1" lang="en-US" sz="1900">
                <a:solidFill>
                  <a:schemeClr val="dk1"/>
                </a:solidFill>
                <a:latin typeface="Arial"/>
                <a:ea typeface="Arial"/>
                <a:cs typeface="Arial"/>
                <a:sym typeface="Arial"/>
              </a:rPr>
              <a:t>Daily News </a:t>
            </a:r>
            <a:r>
              <a:rPr b="0" lang="en-US" sz="1900">
                <a:solidFill>
                  <a:schemeClr val="dk1"/>
                </a:solidFill>
                <a:latin typeface="Arial"/>
                <a:ea typeface="Arial"/>
                <a:cs typeface="Arial"/>
                <a:sym typeface="Arial"/>
              </a:rPr>
              <a:t>for advertising on its online website but postpones payment until a later date.</a:t>
            </a:r>
            <a:endParaRPr b="0" sz="1900">
              <a:solidFill>
                <a:schemeClr val="dk1"/>
              </a:solidFill>
              <a:latin typeface="Arial"/>
              <a:ea typeface="Arial"/>
              <a:cs typeface="Arial"/>
              <a:sym typeface="Arial"/>
            </a:endParaRPr>
          </a:p>
        </p:txBody>
      </p:sp>
      <p:sp>
        <p:nvSpPr>
          <p:cNvPr id="831" name="Google Shape;831;p33"/>
          <p:cNvSpPr/>
          <p:nvPr/>
        </p:nvSpPr>
        <p:spPr>
          <a:xfrm>
            <a:off x="7620000" y="1219200"/>
            <a:ext cx="1295400" cy="274638"/>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Clr>
                <a:schemeClr val="dk1"/>
              </a:buClr>
              <a:buSzPts val="1200"/>
              <a:buFont typeface="Noto Sans Symbols"/>
              <a:buNone/>
            </a:pPr>
            <a:r>
              <a:rPr b="1" lang="en-US" sz="1200">
                <a:solidFill>
                  <a:schemeClr val="dk1"/>
                </a:solidFill>
                <a:latin typeface="Arial"/>
                <a:ea typeface="Arial"/>
                <a:cs typeface="Arial"/>
                <a:sym typeface="Arial"/>
              </a:rPr>
              <a:t>Illustration 1-8</a:t>
            </a:r>
            <a:endParaRPr b="0" sz="1200">
              <a:solidFill>
                <a:schemeClr val="dk1"/>
              </a:solidFill>
              <a:latin typeface="Arial"/>
              <a:ea typeface="Arial"/>
              <a:cs typeface="Arial"/>
              <a:sym typeface="Arial"/>
            </a:endParaRPr>
          </a:p>
        </p:txBody>
      </p:sp>
      <p:sp>
        <p:nvSpPr>
          <p:cNvPr id="832" name="Google Shape;832;p33"/>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4 </a:t>
            </a:r>
            <a:endParaRPr b="1" i="1" sz="1600">
              <a:solidFill>
                <a:schemeClr val="lt2"/>
              </a:solidFill>
              <a:latin typeface="Arial"/>
              <a:ea typeface="Arial"/>
              <a:cs typeface="Arial"/>
              <a:sym typeface="Arial"/>
            </a:endParaRPr>
          </a:p>
        </p:txBody>
      </p:sp>
      <p:sp>
        <p:nvSpPr>
          <p:cNvPr id="833" name="Google Shape;833;p33"/>
          <p:cNvSpPr txBox="1"/>
          <p:nvPr/>
        </p:nvSpPr>
        <p:spPr>
          <a:xfrm>
            <a:off x="5638800" y="1905000"/>
            <a:ext cx="9144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Owner's Capital</a:t>
            </a:r>
            <a:endParaRPr b="1" sz="1200">
              <a:solidFill>
                <a:schemeClr val="dk1"/>
              </a:solidFill>
              <a:latin typeface="Arial"/>
              <a:ea typeface="Arial"/>
              <a:cs typeface="Arial"/>
              <a:sym typeface="Arial"/>
            </a:endParaRPr>
          </a:p>
        </p:txBody>
      </p:sp>
      <p:sp>
        <p:nvSpPr>
          <p:cNvPr id="834" name="Google Shape;834;p33"/>
          <p:cNvSpPr txBox="1"/>
          <p:nvPr/>
        </p:nvSpPr>
        <p:spPr>
          <a:xfrm>
            <a:off x="6553200" y="1905000"/>
            <a:ext cx="9144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Owner's Drawings</a:t>
            </a:r>
            <a:endParaRPr b="1" sz="1200">
              <a:solidFill>
                <a:schemeClr val="dk1"/>
              </a:solidFill>
              <a:latin typeface="Arial"/>
              <a:ea typeface="Arial"/>
              <a:cs typeface="Arial"/>
              <a:sym typeface="Arial"/>
            </a:endParaRPr>
          </a:p>
        </p:txBody>
      </p:sp>
      <p:sp>
        <p:nvSpPr>
          <p:cNvPr id="835" name="Google Shape;835;p33"/>
          <p:cNvSpPr txBox="1"/>
          <p:nvPr/>
        </p:nvSpPr>
        <p:spPr>
          <a:xfrm>
            <a:off x="7467600" y="1905000"/>
            <a:ext cx="6096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Rev.</a:t>
            </a:r>
            <a:endParaRPr b="1" sz="1200">
              <a:solidFill>
                <a:schemeClr val="dk1"/>
              </a:solidFill>
              <a:latin typeface="Arial"/>
              <a:ea typeface="Arial"/>
              <a:cs typeface="Arial"/>
              <a:sym typeface="Arial"/>
            </a:endParaRPr>
          </a:p>
        </p:txBody>
      </p:sp>
      <p:sp>
        <p:nvSpPr>
          <p:cNvPr id="836" name="Google Shape;836;p33"/>
          <p:cNvSpPr txBox="1"/>
          <p:nvPr/>
        </p:nvSpPr>
        <p:spPr>
          <a:xfrm>
            <a:off x="8153400" y="1905000"/>
            <a:ext cx="6096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Exp.</a:t>
            </a:r>
            <a:endParaRPr b="1" sz="1200">
              <a:solidFill>
                <a:schemeClr val="dk1"/>
              </a:solidFill>
              <a:latin typeface="Arial"/>
              <a:ea typeface="Arial"/>
              <a:cs typeface="Arial"/>
              <a:sym typeface="Arial"/>
            </a:endParaRPr>
          </a:p>
        </p:txBody>
      </p:sp>
      <p:sp>
        <p:nvSpPr>
          <p:cNvPr id="837" name="Google Shape;837;p33"/>
          <p:cNvSpPr txBox="1"/>
          <p:nvPr/>
        </p:nvSpPr>
        <p:spPr>
          <a:xfrm>
            <a:off x="73914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838" name="Google Shape;838;p33"/>
          <p:cNvSpPr txBox="1"/>
          <p:nvPr/>
        </p:nvSpPr>
        <p:spPr>
          <a:xfrm>
            <a:off x="80772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839" name="Google Shape;839;p33"/>
          <p:cNvSpPr txBox="1"/>
          <p:nvPr/>
        </p:nvSpPr>
        <p:spPr>
          <a:xfrm>
            <a:off x="381000" y="3352800"/>
            <a:ext cx="845820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4.	+1,200		+1,200	</a:t>
            </a:r>
            <a:endParaRPr b="1" sz="1400">
              <a:solidFill>
                <a:srgbClr val="730000"/>
              </a:solidFill>
              <a:latin typeface="Arial"/>
              <a:ea typeface="Arial"/>
              <a:cs typeface="Arial"/>
              <a:sym typeface="Arial"/>
            </a:endParaRPr>
          </a:p>
        </p:txBody>
      </p:sp>
      <p:sp>
        <p:nvSpPr>
          <p:cNvPr id="840" name="Google Shape;840;p33"/>
          <p:cNvSpPr txBox="1"/>
          <p:nvPr/>
        </p:nvSpPr>
        <p:spPr>
          <a:xfrm>
            <a:off x="381000" y="3680192"/>
            <a:ext cx="87630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5.					+250					-250</a:t>
            </a:r>
            <a:endParaRPr b="1" sz="1200">
              <a:solidFill>
                <a:srgbClr val="730000"/>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0"/>
                                        </p:tgtEl>
                                        <p:attrNameLst>
                                          <p:attrName>style.visibility</p:attrName>
                                        </p:attrNameLst>
                                      </p:cBhvr>
                                      <p:to>
                                        <p:strVal val="visible"/>
                                      </p:to>
                                    </p:set>
                                    <p:animEffect filter="fade" transition="in">
                                      <p:cBhvr>
                                        <p:cTn dur="500"/>
                                        <p:tgtEl>
                                          <p:spTgt spid="8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34"/>
          <p:cNvSpPr txBox="1"/>
          <p:nvPr/>
        </p:nvSpPr>
        <p:spPr>
          <a:xfrm>
            <a:off x="381000" y="5108377"/>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8.	-250				-250</a:t>
            </a:r>
            <a:endParaRPr b="1" sz="1400">
              <a:solidFill>
                <a:schemeClr val="dk1"/>
              </a:solidFill>
              <a:latin typeface="Arial"/>
              <a:ea typeface="Arial"/>
              <a:cs typeface="Arial"/>
              <a:sym typeface="Arial"/>
            </a:endParaRPr>
          </a:p>
        </p:txBody>
      </p:sp>
      <p:sp>
        <p:nvSpPr>
          <p:cNvPr id="846" name="Google Shape;846;p34"/>
          <p:cNvSpPr txBox="1"/>
          <p:nvPr/>
        </p:nvSpPr>
        <p:spPr>
          <a:xfrm>
            <a:off x="381000" y="5413177"/>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9.	+600	-600</a:t>
            </a:r>
            <a:endParaRPr b="1" sz="1400">
              <a:solidFill>
                <a:schemeClr val="dk1"/>
              </a:solidFill>
              <a:latin typeface="Arial"/>
              <a:ea typeface="Arial"/>
              <a:cs typeface="Arial"/>
              <a:sym typeface="Arial"/>
            </a:endParaRPr>
          </a:p>
        </p:txBody>
      </p:sp>
      <p:sp>
        <p:nvSpPr>
          <p:cNvPr id="847" name="Google Shape;847;p34"/>
          <p:cNvSpPr txBox="1"/>
          <p:nvPr/>
        </p:nvSpPr>
        <p:spPr>
          <a:xfrm>
            <a:off x="381000" y="5717977"/>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10.	-1,300								-1,300</a:t>
            </a:r>
            <a:endParaRPr b="1" sz="1400">
              <a:solidFill>
                <a:schemeClr val="dk1"/>
              </a:solidFill>
              <a:latin typeface="Arial"/>
              <a:ea typeface="Arial"/>
              <a:cs typeface="Arial"/>
              <a:sym typeface="Arial"/>
            </a:endParaRPr>
          </a:p>
        </p:txBody>
      </p:sp>
      <p:sp>
        <p:nvSpPr>
          <p:cNvPr id="848" name="Google Shape;848;p34"/>
          <p:cNvSpPr txBox="1"/>
          <p:nvPr/>
        </p:nvSpPr>
        <p:spPr>
          <a:xfrm>
            <a:off x="381000" y="4267200"/>
            <a:ext cx="8610600" cy="815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7.	-1,700							-600</a:t>
            </a:r>
            <a:endParaRPr/>
          </a:p>
          <a:p>
            <a:pPr indent="0" lvl="0" marL="0" marR="0" rtl="0" algn="l">
              <a:spcBef>
                <a:spcPts val="300"/>
              </a:spcBef>
              <a:spcAft>
                <a:spcPts val="0"/>
              </a:spcAft>
              <a:buNone/>
            </a:pPr>
            <a:r>
              <a:rPr b="1" lang="en-US" sz="1400">
                <a:solidFill>
                  <a:schemeClr val="dk1"/>
                </a:solidFill>
                <a:latin typeface="Arial"/>
                <a:ea typeface="Arial"/>
                <a:cs typeface="Arial"/>
                <a:sym typeface="Arial"/>
              </a:rPr>
              <a:t>									-900</a:t>
            </a:r>
            <a:endParaRPr/>
          </a:p>
          <a:p>
            <a:pPr indent="0" lvl="0" marL="0" marR="0" rtl="0" algn="l">
              <a:spcBef>
                <a:spcPts val="300"/>
              </a:spcBef>
              <a:spcAft>
                <a:spcPts val="0"/>
              </a:spcAft>
              <a:buNone/>
            </a:pPr>
            <a:r>
              <a:rPr b="1" lang="en-US" sz="1400">
                <a:solidFill>
                  <a:schemeClr val="dk1"/>
                </a:solidFill>
                <a:latin typeface="Arial"/>
                <a:ea typeface="Arial"/>
                <a:cs typeface="Arial"/>
                <a:sym typeface="Arial"/>
              </a:rPr>
              <a:t>									-200</a:t>
            </a:r>
            <a:endParaRPr b="1" sz="1400">
              <a:solidFill>
                <a:schemeClr val="dk1"/>
              </a:solidFill>
              <a:latin typeface="Arial"/>
              <a:ea typeface="Arial"/>
              <a:cs typeface="Arial"/>
              <a:sym typeface="Arial"/>
            </a:endParaRPr>
          </a:p>
        </p:txBody>
      </p:sp>
      <p:sp>
        <p:nvSpPr>
          <p:cNvPr id="849" name="Google Shape;849;p34"/>
          <p:cNvSpPr txBox="1"/>
          <p:nvPr/>
        </p:nvSpPr>
        <p:spPr>
          <a:xfrm>
            <a:off x="228600" y="1905000"/>
            <a:ext cx="7620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Trans-</a:t>
            </a:r>
            <a:endParaRPr/>
          </a:p>
          <a:p>
            <a:pPr indent="0" lvl="0" marL="0" marR="0" rtl="0" algn="ctr">
              <a:spcBef>
                <a:spcPts val="0"/>
              </a:spcBef>
              <a:spcAft>
                <a:spcPts val="0"/>
              </a:spcAft>
              <a:buNone/>
            </a:pPr>
            <a:r>
              <a:rPr b="1" lang="en-US" sz="1200">
                <a:solidFill>
                  <a:schemeClr val="dk1"/>
                </a:solidFill>
                <a:latin typeface="Arial"/>
                <a:ea typeface="Arial"/>
                <a:cs typeface="Arial"/>
                <a:sym typeface="Arial"/>
              </a:rPr>
              <a:t>action</a:t>
            </a:r>
            <a:endParaRPr/>
          </a:p>
        </p:txBody>
      </p:sp>
      <p:sp>
        <p:nvSpPr>
          <p:cNvPr id="850" name="Google Shape;850;p34"/>
          <p:cNvSpPr txBox="1"/>
          <p:nvPr/>
        </p:nvSpPr>
        <p:spPr>
          <a:xfrm>
            <a:off x="914400" y="1905000"/>
            <a:ext cx="7620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300">
                <a:solidFill>
                  <a:schemeClr val="dk1"/>
                </a:solidFill>
                <a:latin typeface="Arial"/>
                <a:ea typeface="Arial"/>
                <a:cs typeface="Arial"/>
                <a:sym typeface="Arial"/>
              </a:rPr>
              <a:t>Cash   </a:t>
            </a:r>
            <a:endParaRPr b="1" sz="1300">
              <a:solidFill>
                <a:schemeClr val="dk1"/>
              </a:solidFill>
              <a:latin typeface="Arial"/>
              <a:ea typeface="Arial"/>
              <a:cs typeface="Arial"/>
              <a:sym typeface="Arial"/>
            </a:endParaRPr>
          </a:p>
        </p:txBody>
      </p:sp>
      <p:sp>
        <p:nvSpPr>
          <p:cNvPr id="851" name="Google Shape;851;p34"/>
          <p:cNvSpPr txBox="1"/>
          <p:nvPr/>
        </p:nvSpPr>
        <p:spPr>
          <a:xfrm>
            <a:off x="1752600" y="1905000"/>
            <a:ext cx="914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Accounts</a:t>
            </a:r>
            <a:endParaRPr/>
          </a:p>
          <a:p>
            <a:pPr indent="0" lvl="0" marL="0" marR="0" rtl="0" algn="ctr">
              <a:spcBef>
                <a:spcPts val="0"/>
              </a:spcBef>
              <a:spcAft>
                <a:spcPts val="0"/>
              </a:spcAft>
              <a:buNone/>
            </a:pPr>
            <a:r>
              <a:rPr b="1" lang="en-US" sz="1200">
                <a:solidFill>
                  <a:schemeClr val="dk1"/>
                </a:solidFill>
                <a:latin typeface="Arial"/>
                <a:ea typeface="Arial"/>
                <a:cs typeface="Arial"/>
                <a:sym typeface="Arial"/>
              </a:rPr>
              <a:t>Receivable</a:t>
            </a:r>
            <a:endParaRPr/>
          </a:p>
        </p:txBody>
      </p:sp>
      <p:sp>
        <p:nvSpPr>
          <p:cNvPr id="852" name="Google Shape;852;p34"/>
          <p:cNvSpPr txBox="1"/>
          <p:nvPr/>
        </p:nvSpPr>
        <p:spPr>
          <a:xfrm>
            <a:off x="2857500" y="1905000"/>
            <a:ext cx="800100" cy="523220"/>
          </a:xfrm>
          <a:prstGeom prst="rect">
            <a:avLst/>
          </a:prstGeom>
          <a:noFill/>
          <a:ln>
            <a:noFill/>
          </a:ln>
        </p:spPr>
        <p:txBody>
          <a:bodyPr anchorCtr="0" anchor="ctr" bIns="45700" lIns="0"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Supplies</a:t>
            </a:r>
            <a:endParaRPr b="1" sz="1200">
              <a:solidFill>
                <a:schemeClr val="dk1"/>
              </a:solidFill>
              <a:latin typeface="Arial"/>
              <a:ea typeface="Arial"/>
              <a:cs typeface="Arial"/>
              <a:sym typeface="Arial"/>
            </a:endParaRPr>
          </a:p>
        </p:txBody>
      </p:sp>
      <p:sp>
        <p:nvSpPr>
          <p:cNvPr id="853" name="Google Shape;853;p34"/>
          <p:cNvSpPr txBox="1"/>
          <p:nvPr/>
        </p:nvSpPr>
        <p:spPr>
          <a:xfrm>
            <a:off x="3657600" y="1905000"/>
            <a:ext cx="9906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Equipment</a:t>
            </a:r>
            <a:endParaRPr b="1" sz="1200">
              <a:solidFill>
                <a:schemeClr val="dk1"/>
              </a:solidFill>
              <a:latin typeface="Arial"/>
              <a:ea typeface="Arial"/>
              <a:cs typeface="Arial"/>
              <a:sym typeface="Arial"/>
            </a:endParaRPr>
          </a:p>
        </p:txBody>
      </p:sp>
      <p:sp>
        <p:nvSpPr>
          <p:cNvPr id="854" name="Google Shape;854;p34"/>
          <p:cNvSpPr txBox="1"/>
          <p:nvPr/>
        </p:nvSpPr>
        <p:spPr>
          <a:xfrm>
            <a:off x="4648200" y="1905000"/>
            <a:ext cx="9906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Accounts</a:t>
            </a:r>
            <a:endParaRPr/>
          </a:p>
          <a:p>
            <a:pPr indent="0" lvl="0" marL="0" marR="0" rtl="0" algn="ctr">
              <a:spcBef>
                <a:spcPts val="0"/>
              </a:spcBef>
              <a:spcAft>
                <a:spcPts val="0"/>
              </a:spcAft>
              <a:buNone/>
            </a:pPr>
            <a:r>
              <a:rPr b="1" lang="en-US" sz="1200">
                <a:solidFill>
                  <a:schemeClr val="dk1"/>
                </a:solidFill>
                <a:latin typeface="Arial"/>
                <a:ea typeface="Arial"/>
                <a:cs typeface="Arial"/>
                <a:sym typeface="Arial"/>
              </a:rPr>
              <a:t>Payable</a:t>
            </a:r>
            <a:endParaRPr/>
          </a:p>
        </p:txBody>
      </p:sp>
      <p:cxnSp>
        <p:nvCxnSpPr>
          <p:cNvPr id="855" name="Google Shape;855;p34"/>
          <p:cNvCxnSpPr/>
          <p:nvPr/>
        </p:nvCxnSpPr>
        <p:spPr>
          <a:xfrm>
            <a:off x="978408" y="24384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856" name="Google Shape;856;p34"/>
          <p:cNvSpPr/>
          <p:nvPr/>
        </p:nvSpPr>
        <p:spPr>
          <a:xfrm>
            <a:off x="16764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857" name="Google Shape;857;p34"/>
          <p:cNvSpPr/>
          <p:nvPr/>
        </p:nvSpPr>
        <p:spPr>
          <a:xfrm>
            <a:off x="27432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858" name="Google Shape;858;p34"/>
          <p:cNvSpPr/>
          <p:nvPr/>
        </p:nvSpPr>
        <p:spPr>
          <a:xfrm>
            <a:off x="35814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859" name="Google Shape;859;p34"/>
          <p:cNvSpPr/>
          <p:nvPr/>
        </p:nvSpPr>
        <p:spPr>
          <a:xfrm>
            <a:off x="46482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860" name="Google Shape;860;p34"/>
          <p:cNvSpPr/>
          <p:nvPr/>
        </p:nvSpPr>
        <p:spPr>
          <a:xfrm>
            <a:off x="56388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861" name="Google Shape;861;p34"/>
          <p:cNvSpPr/>
          <p:nvPr/>
        </p:nvSpPr>
        <p:spPr>
          <a:xfrm>
            <a:off x="65532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862" name="Google Shape;862;p34"/>
          <p:cNvSpPr/>
          <p:nvPr/>
        </p:nvSpPr>
        <p:spPr>
          <a:xfrm>
            <a:off x="73152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863" name="Google Shape;863;p34"/>
          <p:cNvSpPr/>
          <p:nvPr/>
        </p:nvSpPr>
        <p:spPr>
          <a:xfrm>
            <a:off x="80772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864" name="Google Shape;864;p34"/>
          <p:cNvSpPr txBox="1"/>
          <p:nvPr/>
        </p:nvSpPr>
        <p:spPr>
          <a:xfrm>
            <a:off x="914399" y="1600200"/>
            <a:ext cx="7924801" cy="26161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Assets	= Liabilities +	Owner's Equity</a:t>
            </a:r>
            <a:endParaRPr b="1" sz="1400">
              <a:solidFill>
                <a:schemeClr val="dk1"/>
              </a:solidFill>
              <a:latin typeface="Arial"/>
              <a:ea typeface="Arial"/>
              <a:cs typeface="Arial"/>
              <a:sym typeface="Arial"/>
            </a:endParaRPr>
          </a:p>
        </p:txBody>
      </p:sp>
      <p:cxnSp>
        <p:nvCxnSpPr>
          <p:cNvPr id="865" name="Google Shape;865;p34"/>
          <p:cNvCxnSpPr/>
          <p:nvPr/>
        </p:nvCxnSpPr>
        <p:spPr>
          <a:xfrm>
            <a:off x="990600" y="19050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866" name="Google Shape;866;p34"/>
          <p:cNvSpPr txBox="1"/>
          <p:nvPr/>
        </p:nvSpPr>
        <p:spPr>
          <a:xfrm>
            <a:off x="55626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867" name="Google Shape;867;p34"/>
          <p:cNvSpPr txBox="1"/>
          <p:nvPr/>
        </p:nvSpPr>
        <p:spPr>
          <a:xfrm>
            <a:off x="64770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868" name="Google Shape;868;p34"/>
          <p:cNvSpPr txBox="1"/>
          <p:nvPr/>
        </p:nvSpPr>
        <p:spPr>
          <a:xfrm>
            <a:off x="35814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869" name="Google Shape;869;p34"/>
          <p:cNvSpPr txBox="1"/>
          <p:nvPr/>
        </p:nvSpPr>
        <p:spPr>
          <a:xfrm>
            <a:off x="26670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870" name="Google Shape;870;p34"/>
          <p:cNvSpPr txBox="1"/>
          <p:nvPr/>
        </p:nvSpPr>
        <p:spPr>
          <a:xfrm>
            <a:off x="16002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871" name="Google Shape;871;p34"/>
          <p:cNvSpPr txBox="1"/>
          <p:nvPr/>
        </p:nvSpPr>
        <p:spPr>
          <a:xfrm>
            <a:off x="45720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872" name="Google Shape;872;p34"/>
          <p:cNvSpPr txBox="1"/>
          <p:nvPr/>
        </p:nvSpPr>
        <p:spPr>
          <a:xfrm>
            <a:off x="381000" y="2484567"/>
            <a:ext cx="8458201" cy="261610"/>
          </a:xfrm>
          <a:prstGeom prst="rect">
            <a:avLst/>
          </a:prstGeom>
          <a:noFill/>
          <a:ln>
            <a:noFill/>
          </a:ln>
        </p:spPr>
        <p:txBody>
          <a:bodyPr anchorCtr="0" anchor="t" bIns="45700" lIns="91425" spcFirstLastPara="1" rIns="91425" wrap="square" tIns="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1.	+15,000	+15,000</a:t>
            </a:r>
            <a:endParaRPr b="1" sz="1400">
              <a:solidFill>
                <a:schemeClr val="dk1"/>
              </a:solidFill>
              <a:latin typeface="Arial"/>
              <a:ea typeface="Arial"/>
              <a:cs typeface="Arial"/>
              <a:sym typeface="Arial"/>
            </a:endParaRPr>
          </a:p>
        </p:txBody>
      </p:sp>
      <p:sp>
        <p:nvSpPr>
          <p:cNvPr id="873" name="Google Shape;873;p34"/>
          <p:cNvSpPr txBox="1"/>
          <p:nvPr/>
        </p:nvSpPr>
        <p:spPr>
          <a:xfrm>
            <a:off x="381000" y="2746177"/>
            <a:ext cx="845820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2.	-7,000	+7,000</a:t>
            </a:r>
            <a:endParaRPr b="1" sz="1400">
              <a:solidFill>
                <a:schemeClr val="dk1"/>
              </a:solidFill>
              <a:latin typeface="Arial"/>
              <a:ea typeface="Arial"/>
              <a:cs typeface="Arial"/>
              <a:sym typeface="Arial"/>
            </a:endParaRPr>
          </a:p>
        </p:txBody>
      </p:sp>
      <p:cxnSp>
        <p:nvCxnSpPr>
          <p:cNvPr id="874" name="Google Shape;874;p34"/>
          <p:cNvCxnSpPr/>
          <p:nvPr/>
        </p:nvCxnSpPr>
        <p:spPr>
          <a:xfrm>
            <a:off x="990600" y="27461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875" name="Google Shape;875;p34"/>
          <p:cNvCxnSpPr/>
          <p:nvPr/>
        </p:nvCxnSpPr>
        <p:spPr>
          <a:xfrm>
            <a:off x="990600" y="30509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876" name="Google Shape;876;p34"/>
          <p:cNvCxnSpPr/>
          <p:nvPr/>
        </p:nvCxnSpPr>
        <p:spPr>
          <a:xfrm>
            <a:off x="990600" y="33557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877" name="Google Shape;877;p34"/>
          <p:cNvCxnSpPr/>
          <p:nvPr/>
        </p:nvCxnSpPr>
        <p:spPr>
          <a:xfrm>
            <a:off x="990600" y="36605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878" name="Google Shape;878;p34"/>
          <p:cNvCxnSpPr/>
          <p:nvPr/>
        </p:nvCxnSpPr>
        <p:spPr>
          <a:xfrm>
            <a:off x="990600" y="39653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879" name="Google Shape;879;p34"/>
          <p:cNvCxnSpPr/>
          <p:nvPr/>
        </p:nvCxnSpPr>
        <p:spPr>
          <a:xfrm>
            <a:off x="990600" y="42701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880" name="Google Shape;880;p34"/>
          <p:cNvSpPr txBox="1"/>
          <p:nvPr/>
        </p:nvSpPr>
        <p:spPr>
          <a:xfrm>
            <a:off x="381000" y="3048000"/>
            <a:ext cx="845820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3.	+1,600	+1,600</a:t>
            </a:r>
            <a:endParaRPr b="1" sz="1400">
              <a:solidFill>
                <a:schemeClr val="dk1"/>
              </a:solidFill>
              <a:latin typeface="Arial"/>
              <a:ea typeface="Arial"/>
              <a:cs typeface="Arial"/>
              <a:sym typeface="Arial"/>
            </a:endParaRPr>
          </a:p>
        </p:txBody>
      </p:sp>
      <p:cxnSp>
        <p:nvCxnSpPr>
          <p:cNvPr id="881" name="Google Shape;881;p34"/>
          <p:cNvCxnSpPr/>
          <p:nvPr/>
        </p:nvCxnSpPr>
        <p:spPr>
          <a:xfrm>
            <a:off x="990600" y="5111354"/>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882" name="Google Shape;882;p34"/>
          <p:cNvCxnSpPr/>
          <p:nvPr/>
        </p:nvCxnSpPr>
        <p:spPr>
          <a:xfrm>
            <a:off x="990600" y="5416154"/>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883" name="Google Shape;883;p34"/>
          <p:cNvCxnSpPr/>
          <p:nvPr/>
        </p:nvCxnSpPr>
        <p:spPr>
          <a:xfrm>
            <a:off x="990600" y="5720954"/>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884" name="Google Shape;884;p34"/>
          <p:cNvCxnSpPr/>
          <p:nvPr/>
        </p:nvCxnSpPr>
        <p:spPr>
          <a:xfrm>
            <a:off x="990600" y="60227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885" name="Google Shape;885;p34"/>
          <p:cNvSpPr/>
          <p:nvPr/>
        </p:nvSpPr>
        <p:spPr>
          <a:xfrm>
            <a:off x="16885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886" name="Google Shape;886;p34"/>
          <p:cNvSpPr/>
          <p:nvPr/>
        </p:nvSpPr>
        <p:spPr>
          <a:xfrm>
            <a:off x="27553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887" name="Google Shape;887;p34"/>
          <p:cNvSpPr/>
          <p:nvPr/>
        </p:nvSpPr>
        <p:spPr>
          <a:xfrm>
            <a:off x="35935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888" name="Google Shape;888;p34"/>
          <p:cNvSpPr/>
          <p:nvPr/>
        </p:nvSpPr>
        <p:spPr>
          <a:xfrm>
            <a:off x="46603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889" name="Google Shape;889;p34"/>
          <p:cNvSpPr/>
          <p:nvPr/>
        </p:nvSpPr>
        <p:spPr>
          <a:xfrm>
            <a:off x="56509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890" name="Google Shape;890;p34"/>
          <p:cNvSpPr/>
          <p:nvPr/>
        </p:nvSpPr>
        <p:spPr>
          <a:xfrm>
            <a:off x="65653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891" name="Google Shape;891;p34"/>
          <p:cNvSpPr/>
          <p:nvPr/>
        </p:nvSpPr>
        <p:spPr>
          <a:xfrm>
            <a:off x="73273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892" name="Google Shape;892;p34"/>
          <p:cNvSpPr/>
          <p:nvPr/>
        </p:nvSpPr>
        <p:spPr>
          <a:xfrm>
            <a:off x="80893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cxnSp>
        <p:nvCxnSpPr>
          <p:cNvPr id="893" name="Google Shape;893;p34"/>
          <p:cNvCxnSpPr/>
          <p:nvPr/>
        </p:nvCxnSpPr>
        <p:spPr>
          <a:xfrm>
            <a:off x="990600" y="64037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894" name="Google Shape;894;p34"/>
          <p:cNvSpPr/>
          <p:nvPr/>
        </p:nvSpPr>
        <p:spPr>
          <a:xfrm>
            <a:off x="16885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895" name="Google Shape;895;p34"/>
          <p:cNvSpPr/>
          <p:nvPr/>
        </p:nvSpPr>
        <p:spPr>
          <a:xfrm>
            <a:off x="27553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896" name="Google Shape;896;p34"/>
          <p:cNvSpPr/>
          <p:nvPr/>
        </p:nvSpPr>
        <p:spPr>
          <a:xfrm>
            <a:off x="35935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897" name="Google Shape;897;p34"/>
          <p:cNvSpPr/>
          <p:nvPr/>
        </p:nvSpPr>
        <p:spPr>
          <a:xfrm>
            <a:off x="46603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898" name="Google Shape;898;p34"/>
          <p:cNvSpPr/>
          <p:nvPr/>
        </p:nvSpPr>
        <p:spPr>
          <a:xfrm>
            <a:off x="56509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899" name="Google Shape;899;p34"/>
          <p:cNvSpPr/>
          <p:nvPr/>
        </p:nvSpPr>
        <p:spPr>
          <a:xfrm>
            <a:off x="65653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900" name="Google Shape;900;p34"/>
          <p:cNvSpPr/>
          <p:nvPr/>
        </p:nvSpPr>
        <p:spPr>
          <a:xfrm>
            <a:off x="73273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901" name="Google Shape;901;p34"/>
          <p:cNvSpPr/>
          <p:nvPr/>
        </p:nvSpPr>
        <p:spPr>
          <a:xfrm>
            <a:off x="80893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cxnSp>
        <p:nvCxnSpPr>
          <p:cNvPr id="902" name="Google Shape;902;p34"/>
          <p:cNvCxnSpPr/>
          <p:nvPr/>
        </p:nvCxnSpPr>
        <p:spPr>
          <a:xfrm>
            <a:off x="990600" y="64799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903" name="Google Shape;903;p34"/>
          <p:cNvSpPr/>
          <p:nvPr/>
        </p:nvSpPr>
        <p:spPr>
          <a:xfrm>
            <a:off x="16885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904" name="Google Shape;904;p34"/>
          <p:cNvSpPr/>
          <p:nvPr/>
        </p:nvSpPr>
        <p:spPr>
          <a:xfrm>
            <a:off x="27553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905" name="Google Shape;905;p34"/>
          <p:cNvSpPr/>
          <p:nvPr/>
        </p:nvSpPr>
        <p:spPr>
          <a:xfrm>
            <a:off x="35935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906" name="Google Shape;906;p34"/>
          <p:cNvSpPr/>
          <p:nvPr/>
        </p:nvSpPr>
        <p:spPr>
          <a:xfrm>
            <a:off x="46603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907" name="Google Shape;907;p34"/>
          <p:cNvSpPr/>
          <p:nvPr/>
        </p:nvSpPr>
        <p:spPr>
          <a:xfrm>
            <a:off x="56509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908" name="Google Shape;908;p34"/>
          <p:cNvSpPr/>
          <p:nvPr/>
        </p:nvSpPr>
        <p:spPr>
          <a:xfrm>
            <a:off x="65653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909" name="Google Shape;909;p34"/>
          <p:cNvSpPr/>
          <p:nvPr/>
        </p:nvSpPr>
        <p:spPr>
          <a:xfrm>
            <a:off x="73273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910" name="Google Shape;910;p34"/>
          <p:cNvSpPr/>
          <p:nvPr/>
        </p:nvSpPr>
        <p:spPr>
          <a:xfrm>
            <a:off x="80893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911" name="Google Shape;911;p34"/>
          <p:cNvSpPr txBox="1"/>
          <p:nvPr/>
        </p:nvSpPr>
        <p:spPr>
          <a:xfrm>
            <a:off x="381000" y="6062401"/>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$8,050	$1,400	$1,600	$7,000	$1,600	$15,000	$4,700	$1,950	$1,300</a:t>
            </a:r>
            <a:endParaRPr b="1" sz="1400">
              <a:solidFill>
                <a:schemeClr val="dk1"/>
              </a:solidFill>
              <a:latin typeface="Arial"/>
              <a:ea typeface="Arial"/>
              <a:cs typeface="Arial"/>
              <a:sym typeface="Arial"/>
            </a:endParaRPr>
          </a:p>
        </p:txBody>
      </p:sp>
      <p:sp>
        <p:nvSpPr>
          <p:cNvPr id="912" name="Google Shape;912;p34"/>
          <p:cNvSpPr txBox="1"/>
          <p:nvPr/>
        </p:nvSpPr>
        <p:spPr>
          <a:xfrm>
            <a:off x="56388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913" name="Google Shape;913;p34"/>
          <p:cNvSpPr txBox="1"/>
          <p:nvPr/>
        </p:nvSpPr>
        <p:spPr>
          <a:xfrm>
            <a:off x="65532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914" name="Google Shape;914;p34"/>
          <p:cNvSpPr txBox="1"/>
          <p:nvPr/>
        </p:nvSpPr>
        <p:spPr>
          <a:xfrm>
            <a:off x="35814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915" name="Google Shape;915;p34"/>
          <p:cNvSpPr txBox="1"/>
          <p:nvPr/>
        </p:nvSpPr>
        <p:spPr>
          <a:xfrm>
            <a:off x="27432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916" name="Google Shape;916;p34"/>
          <p:cNvSpPr txBox="1"/>
          <p:nvPr/>
        </p:nvSpPr>
        <p:spPr>
          <a:xfrm>
            <a:off x="16764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917" name="Google Shape;917;p34"/>
          <p:cNvSpPr txBox="1"/>
          <p:nvPr/>
        </p:nvSpPr>
        <p:spPr>
          <a:xfrm>
            <a:off x="46482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918" name="Google Shape;918;p34"/>
          <p:cNvSpPr txBox="1"/>
          <p:nvPr/>
        </p:nvSpPr>
        <p:spPr>
          <a:xfrm>
            <a:off x="7315200" y="5946577"/>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919" name="Google Shape;919;p34"/>
          <p:cNvSpPr txBox="1"/>
          <p:nvPr/>
        </p:nvSpPr>
        <p:spPr>
          <a:xfrm>
            <a:off x="8077200" y="5946577"/>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920" name="Google Shape;920;p34"/>
          <p:cNvSpPr/>
          <p:nvPr/>
        </p:nvSpPr>
        <p:spPr>
          <a:xfrm>
            <a:off x="381000" y="4343400"/>
            <a:ext cx="8610600" cy="1798766"/>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921" name="Google Shape;921;p34"/>
          <p:cNvSpPr/>
          <p:nvPr/>
        </p:nvSpPr>
        <p:spPr>
          <a:xfrm>
            <a:off x="762000" y="6025754"/>
            <a:ext cx="8229600" cy="527446"/>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922" name="Google Shape;922;p34"/>
          <p:cNvSpPr txBox="1"/>
          <p:nvPr/>
        </p:nvSpPr>
        <p:spPr>
          <a:xfrm>
            <a:off x="533400" y="381000"/>
            <a:ext cx="8229600" cy="1101071"/>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900"/>
              <a:buFont typeface="Noto Sans Symbols"/>
              <a:buNone/>
            </a:pPr>
            <a:r>
              <a:rPr b="1" lang="en-US" sz="1900">
                <a:solidFill>
                  <a:schemeClr val="dk1"/>
                </a:solidFill>
                <a:latin typeface="Arial"/>
                <a:ea typeface="Arial"/>
                <a:cs typeface="Arial"/>
                <a:sym typeface="Arial"/>
              </a:rPr>
              <a:t>TRANSACTION 6. SERVICES PERFORMED FOR CASH AND CREDIT.</a:t>
            </a:r>
            <a:r>
              <a:rPr b="0" lang="en-US" sz="1900">
                <a:solidFill>
                  <a:schemeClr val="dk1"/>
                </a:solidFill>
                <a:latin typeface="Arial"/>
                <a:ea typeface="Arial"/>
                <a:cs typeface="Arial"/>
                <a:sym typeface="Arial"/>
              </a:rPr>
              <a:t> Softbyte performs </a:t>
            </a:r>
            <a:r>
              <a:rPr b="1" lang="en-US" sz="1900">
                <a:solidFill>
                  <a:schemeClr val="dk1"/>
                </a:solidFill>
                <a:latin typeface="Arial"/>
                <a:ea typeface="Arial"/>
                <a:cs typeface="Arial"/>
                <a:sym typeface="Arial"/>
              </a:rPr>
              <a:t>$3,500 of services</a:t>
            </a:r>
            <a:r>
              <a:rPr b="0" lang="en-US" sz="1900">
                <a:solidFill>
                  <a:schemeClr val="dk1"/>
                </a:solidFill>
                <a:latin typeface="Arial"/>
                <a:ea typeface="Arial"/>
                <a:cs typeface="Arial"/>
                <a:sym typeface="Arial"/>
              </a:rPr>
              <a:t>. The company receives </a:t>
            </a:r>
            <a:r>
              <a:rPr b="1" lang="en-US" sz="1900">
                <a:solidFill>
                  <a:schemeClr val="dk1"/>
                </a:solidFill>
                <a:latin typeface="Arial"/>
                <a:ea typeface="Arial"/>
                <a:cs typeface="Arial"/>
                <a:sym typeface="Arial"/>
              </a:rPr>
              <a:t>cash of $1,500 </a:t>
            </a:r>
            <a:r>
              <a:rPr b="0" lang="en-US" sz="1900">
                <a:solidFill>
                  <a:schemeClr val="dk1"/>
                </a:solidFill>
                <a:latin typeface="Arial"/>
                <a:ea typeface="Arial"/>
                <a:cs typeface="Arial"/>
                <a:sym typeface="Arial"/>
              </a:rPr>
              <a:t>from customers, and it bills the balance of </a:t>
            </a:r>
            <a:r>
              <a:rPr b="1" lang="en-US" sz="1900">
                <a:solidFill>
                  <a:schemeClr val="dk1"/>
                </a:solidFill>
                <a:latin typeface="Arial"/>
                <a:ea typeface="Arial"/>
                <a:cs typeface="Arial"/>
                <a:sym typeface="Arial"/>
              </a:rPr>
              <a:t>$2,000 on account</a:t>
            </a:r>
            <a:r>
              <a:rPr b="0" lang="en-US" sz="1900">
                <a:solidFill>
                  <a:schemeClr val="dk1"/>
                </a:solidFill>
                <a:latin typeface="Arial"/>
                <a:ea typeface="Arial"/>
                <a:cs typeface="Arial"/>
                <a:sym typeface="Arial"/>
              </a:rPr>
              <a:t>.</a:t>
            </a:r>
            <a:endParaRPr/>
          </a:p>
        </p:txBody>
      </p:sp>
      <p:sp>
        <p:nvSpPr>
          <p:cNvPr id="923" name="Google Shape;923;p34"/>
          <p:cNvSpPr/>
          <p:nvPr/>
        </p:nvSpPr>
        <p:spPr>
          <a:xfrm>
            <a:off x="304800" y="1554162"/>
            <a:ext cx="1295400" cy="2746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Noto Sans Symbols"/>
              <a:buNone/>
            </a:pPr>
            <a:r>
              <a:rPr b="1" lang="en-US" sz="1200">
                <a:solidFill>
                  <a:schemeClr val="dk1"/>
                </a:solidFill>
                <a:latin typeface="Arial"/>
                <a:ea typeface="Arial"/>
                <a:cs typeface="Arial"/>
                <a:sym typeface="Arial"/>
              </a:rPr>
              <a:t>Illustration 1-8</a:t>
            </a:r>
            <a:endParaRPr b="0" sz="1200">
              <a:solidFill>
                <a:schemeClr val="dk1"/>
              </a:solidFill>
              <a:latin typeface="Arial"/>
              <a:ea typeface="Arial"/>
              <a:cs typeface="Arial"/>
              <a:sym typeface="Arial"/>
            </a:endParaRPr>
          </a:p>
        </p:txBody>
      </p:sp>
      <p:sp>
        <p:nvSpPr>
          <p:cNvPr id="924" name="Google Shape;924;p34"/>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4 </a:t>
            </a:r>
            <a:endParaRPr b="1" i="1" sz="1600">
              <a:solidFill>
                <a:schemeClr val="lt2"/>
              </a:solidFill>
              <a:latin typeface="Arial"/>
              <a:ea typeface="Arial"/>
              <a:cs typeface="Arial"/>
              <a:sym typeface="Arial"/>
            </a:endParaRPr>
          </a:p>
        </p:txBody>
      </p:sp>
      <p:sp>
        <p:nvSpPr>
          <p:cNvPr id="925" name="Google Shape;925;p34"/>
          <p:cNvSpPr txBox="1"/>
          <p:nvPr/>
        </p:nvSpPr>
        <p:spPr>
          <a:xfrm>
            <a:off x="5638800" y="1905000"/>
            <a:ext cx="9144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Owner's Capital</a:t>
            </a:r>
            <a:endParaRPr b="1" sz="1200">
              <a:solidFill>
                <a:schemeClr val="dk1"/>
              </a:solidFill>
              <a:latin typeface="Arial"/>
              <a:ea typeface="Arial"/>
              <a:cs typeface="Arial"/>
              <a:sym typeface="Arial"/>
            </a:endParaRPr>
          </a:p>
        </p:txBody>
      </p:sp>
      <p:sp>
        <p:nvSpPr>
          <p:cNvPr id="926" name="Google Shape;926;p34"/>
          <p:cNvSpPr txBox="1"/>
          <p:nvPr/>
        </p:nvSpPr>
        <p:spPr>
          <a:xfrm>
            <a:off x="6553200" y="1905000"/>
            <a:ext cx="9144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Owner's Drawings</a:t>
            </a:r>
            <a:endParaRPr b="1" sz="1200">
              <a:solidFill>
                <a:schemeClr val="dk1"/>
              </a:solidFill>
              <a:latin typeface="Arial"/>
              <a:ea typeface="Arial"/>
              <a:cs typeface="Arial"/>
              <a:sym typeface="Arial"/>
            </a:endParaRPr>
          </a:p>
        </p:txBody>
      </p:sp>
      <p:sp>
        <p:nvSpPr>
          <p:cNvPr id="927" name="Google Shape;927;p34"/>
          <p:cNvSpPr txBox="1"/>
          <p:nvPr/>
        </p:nvSpPr>
        <p:spPr>
          <a:xfrm>
            <a:off x="7467600" y="1905000"/>
            <a:ext cx="6096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Rev.</a:t>
            </a:r>
            <a:endParaRPr b="1" sz="1200">
              <a:solidFill>
                <a:schemeClr val="dk1"/>
              </a:solidFill>
              <a:latin typeface="Arial"/>
              <a:ea typeface="Arial"/>
              <a:cs typeface="Arial"/>
              <a:sym typeface="Arial"/>
            </a:endParaRPr>
          </a:p>
        </p:txBody>
      </p:sp>
      <p:sp>
        <p:nvSpPr>
          <p:cNvPr id="928" name="Google Shape;928;p34"/>
          <p:cNvSpPr txBox="1"/>
          <p:nvPr/>
        </p:nvSpPr>
        <p:spPr>
          <a:xfrm>
            <a:off x="8153400" y="1905000"/>
            <a:ext cx="6096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Exp.</a:t>
            </a:r>
            <a:endParaRPr b="1" sz="1200">
              <a:solidFill>
                <a:schemeClr val="dk1"/>
              </a:solidFill>
              <a:latin typeface="Arial"/>
              <a:ea typeface="Arial"/>
              <a:cs typeface="Arial"/>
              <a:sym typeface="Arial"/>
            </a:endParaRPr>
          </a:p>
        </p:txBody>
      </p:sp>
      <p:sp>
        <p:nvSpPr>
          <p:cNvPr id="929" name="Google Shape;929;p34"/>
          <p:cNvSpPr txBox="1"/>
          <p:nvPr/>
        </p:nvSpPr>
        <p:spPr>
          <a:xfrm>
            <a:off x="73914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930" name="Google Shape;930;p34"/>
          <p:cNvSpPr txBox="1"/>
          <p:nvPr/>
        </p:nvSpPr>
        <p:spPr>
          <a:xfrm>
            <a:off x="80772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931" name="Google Shape;931;p34"/>
          <p:cNvSpPr txBox="1"/>
          <p:nvPr/>
        </p:nvSpPr>
        <p:spPr>
          <a:xfrm>
            <a:off x="381000" y="3352800"/>
            <a:ext cx="845820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4.	+1,200		+1,200	</a:t>
            </a:r>
            <a:endParaRPr b="1" sz="1400">
              <a:solidFill>
                <a:srgbClr val="730000"/>
              </a:solidFill>
              <a:latin typeface="Arial"/>
              <a:ea typeface="Arial"/>
              <a:cs typeface="Arial"/>
              <a:sym typeface="Arial"/>
            </a:endParaRPr>
          </a:p>
        </p:txBody>
      </p:sp>
      <p:sp>
        <p:nvSpPr>
          <p:cNvPr id="932" name="Google Shape;932;p34"/>
          <p:cNvSpPr txBox="1"/>
          <p:nvPr/>
        </p:nvSpPr>
        <p:spPr>
          <a:xfrm>
            <a:off x="381000" y="3984992"/>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6.	+1,500	+2,000						+3,500		</a:t>
            </a:r>
            <a:endParaRPr b="1" sz="1400">
              <a:solidFill>
                <a:srgbClr val="730000"/>
              </a:solidFill>
              <a:latin typeface="Arial"/>
              <a:ea typeface="Arial"/>
              <a:cs typeface="Arial"/>
              <a:sym typeface="Arial"/>
            </a:endParaRPr>
          </a:p>
        </p:txBody>
      </p:sp>
      <p:sp>
        <p:nvSpPr>
          <p:cNvPr id="933" name="Google Shape;933;p34"/>
          <p:cNvSpPr txBox="1"/>
          <p:nvPr/>
        </p:nvSpPr>
        <p:spPr>
          <a:xfrm>
            <a:off x="381000" y="3680192"/>
            <a:ext cx="87630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5.					+250					-250</a:t>
            </a:r>
            <a:endParaRPr b="1" sz="1200">
              <a:solidFill>
                <a:srgbClr val="730000"/>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2"/>
                                        </p:tgtEl>
                                        <p:attrNameLst>
                                          <p:attrName>style.visibility</p:attrName>
                                        </p:attrNameLst>
                                      </p:cBhvr>
                                      <p:to>
                                        <p:strVal val="visible"/>
                                      </p:to>
                                    </p:set>
                                    <p:animEffect filter="fade" transition="in">
                                      <p:cBhvr>
                                        <p:cTn dur="500"/>
                                        <p:tgtEl>
                                          <p:spTgt spid="9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p35"/>
          <p:cNvSpPr txBox="1"/>
          <p:nvPr/>
        </p:nvSpPr>
        <p:spPr>
          <a:xfrm>
            <a:off x="381000" y="5108377"/>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8.	-250				-250</a:t>
            </a:r>
            <a:endParaRPr b="1" sz="1400">
              <a:solidFill>
                <a:schemeClr val="dk1"/>
              </a:solidFill>
              <a:latin typeface="Arial"/>
              <a:ea typeface="Arial"/>
              <a:cs typeface="Arial"/>
              <a:sym typeface="Arial"/>
            </a:endParaRPr>
          </a:p>
        </p:txBody>
      </p:sp>
      <p:sp>
        <p:nvSpPr>
          <p:cNvPr id="939" name="Google Shape;939;p35"/>
          <p:cNvSpPr txBox="1"/>
          <p:nvPr/>
        </p:nvSpPr>
        <p:spPr>
          <a:xfrm>
            <a:off x="381000" y="5413177"/>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9.	+600	-600</a:t>
            </a:r>
            <a:endParaRPr b="1" sz="1400">
              <a:solidFill>
                <a:schemeClr val="dk1"/>
              </a:solidFill>
              <a:latin typeface="Arial"/>
              <a:ea typeface="Arial"/>
              <a:cs typeface="Arial"/>
              <a:sym typeface="Arial"/>
            </a:endParaRPr>
          </a:p>
        </p:txBody>
      </p:sp>
      <p:sp>
        <p:nvSpPr>
          <p:cNvPr id="940" name="Google Shape;940;p35"/>
          <p:cNvSpPr txBox="1"/>
          <p:nvPr/>
        </p:nvSpPr>
        <p:spPr>
          <a:xfrm>
            <a:off x="381000" y="5717977"/>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10.	-1,300								-1,300</a:t>
            </a:r>
            <a:endParaRPr b="1" sz="1400">
              <a:solidFill>
                <a:schemeClr val="dk1"/>
              </a:solidFill>
              <a:latin typeface="Arial"/>
              <a:ea typeface="Arial"/>
              <a:cs typeface="Arial"/>
              <a:sym typeface="Arial"/>
            </a:endParaRPr>
          </a:p>
        </p:txBody>
      </p:sp>
      <p:sp>
        <p:nvSpPr>
          <p:cNvPr id="941" name="Google Shape;941;p35"/>
          <p:cNvSpPr txBox="1"/>
          <p:nvPr/>
        </p:nvSpPr>
        <p:spPr>
          <a:xfrm>
            <a:off x="228600" y="1905000"/>
            <a:ext cx="7620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Trans-</a:t>
            </a:r>
            <a:endParaRPr/>
          </a:p>
          <a:p>
            <a:pPr indent="0" lvl="0" marL="0" marR="0" rtl="0" algn="ctr">
              <a:spcBef>
                <a:spcPts val="0"/>
              </a:spcBef>
              <a:spcAft>
                <a:spcPts val="0"/>
              </a:spcAft>
              <a:buNone/>
            </a:pPr>
            <a:r>
              <a:rPr b="1" lang="en-US" sz="1200">
                <a:solidFill>
                  <a:schemeClr val="dk1"/>
                </a:solidFill>
                <a:latin typeface="Arial"/>
                <a:ea typeface="Arial"/>
                <a:cs typeface="Arial"/>
                <a:sym typeface="Arial"/>
              </a:rPr>
              <a:t>action</a:t>
            </a:r>
            <a:endParaRPr/>
          </a:p>
        </p:txBody>
      </p:sp>
      <p:sp>
        <p:nvSpPr>
          <p:cNvPr id="942" name="Google Shape;942;p35"/>
          <p:cNvSpPr txBox="1"/>
          <p:nvPr/>
        </p:nvSpPr>
        <p:spPr>
          <a:xfrm>
            <a:off x="914400" y="1905000"/>
            <a:ext cx="7620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300">
                <a:solidFill>
                  <a:schemeClr val="dk1"/>
                </a:solidFill>
                <a:latin typeface="Arial"/>
                <a:ea typeface="Arial"/>
                <a:cs typeface="Arial"/>
                <a:sym typeface="Arial"/>
              </a:rPr>
              <a:t>Cash   </a:t>
            </a:r>
            <a:endParaRPr b="1" sz="1300">
              <a:solidFill>
                <a:schemeClr val="dk1"/>
              </a:solidFill>
              <a:latin typeface="Arial"/>
              <a:ea typeface="Arial"/>
              <a:cs typeface="Arial"/>
              <a:sym typeface="Arial"/>
            </a:endParaRPr>
          </a:p>
        </p:txBody>
      </p:sp>
      <p:sp>
        <p:nvSpPr>
          <p:cNvPr id="943" name="Google Shape;943;p35"/>
          <p:cNvSpPr txBox="1"/>
          <p:nvPr/>
        </p:nvSpPr>
        <p:spPr>
          <a:xfrm>
            <a:off x="1752600" y="1905000"/>
            <a:ext cx="914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Accounts</a:t>
            </a:r>
            <a:endParaRPr/>
          </a:p>
          <a:p>
            <a:pPr indent="0" lvl="0" marL="0" marR="0" rtl="0" algn="ctr">
              <a:spcBef>
                <a:spcPts val="0"/>
              </a:spcBef>
              <a:spcAft>
                <a:spcPts val="0"/>
              </a:spcAft>
              <a:buNone/>
            </a:pPr>
            <a:r>
              <a:rPr b="1" lang="en-US" sz="1200">
                <a:solidFill>
                  <a:schemeClr val="dk1"/>
                </a:solidFill>
                <a:latin typeface="Arial"/>
                <a:ea typeface="Arial"/>
                <a:cs typeface="Arial"/>
                <a:sym typeface="Arial"/>
              </a:rPr>
              <a:t>Receivable</a:t>
            </a:r>
            <a:endParaRPr/>
          </a:p>
        </p:txBody>
      </p:sp>
      <p:sp>
        <p:nvSpPr>
          <p:cNvPr id="944" name="Google Shape;944;p35"/>
          <p:cNvSpPr txBox="1"/>
          <p:nvPr/>
        </p:nvSpPr>
        <p:spPr>
          <a:xfrm>
            <a:off x="2857500" y="1905000"/>
            <a:ext cx="800100" cy="523220"/>
          </a:xfrm>
          <a:prstGeom prst="rect">
            <a:avLst/>
          </a:prstGeom>
          <a:noFill/>
          <a:ln>
            <a:noFill/>
          </a:ln>
        </p:spPr>
        <p:txBody>
          <a:bodyPr anchorCtr="0" anchor="ctr" bIns="45700" lIns="0"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Supplies</a:t>
            </a:r>
            <a:endParaRPr b="1" sz="1200">
              <a:solidFill>
                <a:schemeClr val="dk1"/>
              </a:solidFill>
              <a:latin typeface="Arial"/>
              <a:ea typeface="Arial"/>
              <a:cs typeface="Arial"/>
              <a:sym typeface="Arial"/>
            </a:endParaRPr>
          </a:p>
        </p:txBody>
      </p:sp>
      <p:sp>
        <p:nvSpPr>
          <p:cNvPr id="945" name="Google Shape;945;p35"/>
          <p:cNvSpPr txBox="1"/>
          <p:nvPr/>
        </p:nvSpPr>
        <p:spPr>
          <a:xfrm>
            <a:off x="3657600" y="1905000"/>
            <a:ext cx="9906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Equipment</a:t>
            </a:r>
            <a:endParaRPr b="1" sz="1200">
              <a:solidFill>
                <a:schemeClr val="dk1"/>
              </a:solidFill>
              <a:latin typeface="Arial"/>
              <a:ea typeface="Arial"/>
              <a:cs typeface="Arial"/>
              <a:sym typeface="Arial"/>
            </a:endParaRPr>
          </a:p>
        </p:txBody>
      </p:sp>
      <p:sp>
        <p:nvSpPr>
          <p:cNvPr id="946" name="Google Shape;946;p35"/>
          <p:cNvSpPr txBox="1"/>
          <p:nvPr/>
        </p:nvSpPr>
        <p:spPr>
          <a:xfrm>
            <a:off x="4648200" y="1905000"/>
            <a:ext cx="9906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Accounts</a:t>
            </a:r>
            <a:endParaRPr/>
          </a:p>
          <a:p>
            <a:pPr indent="0" lvl="0" marL="0" marR="0" rtl="0" algn="ctr">
              <a:spcBef>
                <a:spcPts val="0"/>
              </a:spcBef>
              <a:spcAft>
                <a:spcPts val="0"/>
              </a:spcAft>
              <a:buNone/>
            </a:pPr>
            <a:r>
              <a:rPr b="1" lang="en-US" sz="1200">
                <a:solidFill>
                  <a:schemeClr val="dk1"/>
                </a:solidFill>
                <a:latin typeface="Arial"/>
                <a:ea typeface="Arial"/>
                <a:cs typeface="Arial"/>
                <a:sym typeface="Arial"/>
              </a:rPr>
              <a:t>Payable</a:t>
            </a:r>
            <a:endParaRPr/>
          </a:p>
        </p:txBody>
      </p:sp>
      <p:cxnSp>
        <p:nvCxnSpPr>
          <p:cNvPr id="947" name="Google Shape;947;p35"/>
          <p:cNvCxnSpPr/>
          <p:nvPr/>
        </p:nvCxnSpPr>
        <p:spPr>
          <a:xfrm>
            <a:off x="978408" y="24384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948" name="Google Shape;948;p35"/>
          <p:cNvSpPr/>
          <p:nvPr/>
        </p:nvSpPr>
        <p:spPr>
          <a:xfrm>
            <a:off x="16764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949" name="Google Shape;949;p35"/>
          <p:cNvSpPr/>
          <p:nvPr/>
        </p:nvSpPr>
        <p:spPr>
          <a:xfrm>
            <a:off x="27432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950" name="Google Shape;950;p35"/>
          <p:cNvSpPr/>
          <p:nvPr/>
        </p:nvSpPr>
        <p:spPr>
          <a:xfrm>
            <a:off x="35814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951" name="Google Shape;951;p35"/>
          <p:cNvSpPr/>
          <p:nvPr/>
        </p:nvSpPr>
        <p:spPr>
          <a:xfrm>
            <a:off x="46482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952" name="Google Shape;952;p35"/>
          <p:cNvSpPr/>
          <p:nvPr/>
        </p:nvSpPr>
        <p:spPr>
          <a:xfrm>
            <a:off x="56388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953" name="Google Shape;953;p35"/>
          <p:cNvSpPr/>
          <p:nvPr/>
        </p:nvSpPr>
        <p:spPr>
          <a:xfrm>
            <a:off x="65532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954" name="Google Shape;954;p35"/>
          <p:cNvSpPr/>
          <p:nvPr/>
        </p:nvSpPr>
        <p:spPr>
          <a:xfrm>
            <a:off x="73152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955" name="Google Shape;955;p35"/>
          <p:cNvSpPr/>
          <p:nvPr/>
        </p:nvSpPr>
        <p:spPr>
          <a:xfrm>
            <a:off x="80772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956" name="Google Shape;956;p35"/>
          <p:cNvSpPr txBox="1"/>
          <p:nvPr/>
        </p:nvSpPr>
        <p:spPr>
          <a:xfrm>
            <a:off x="914399" y="1600200"/>
            <a:ext cx="7924801" cy="26161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Assets	= Liabilities +	Owner's Equity</a:t>
            </a:r>
            <a:endParaRPr b="1" sz="1400">
              <a:solidFill>
                <a:schemeClr val="dk1"/>
              </a:solidFill>
              <a:latin typeface="Arial"/>
              <a:ea typeface="Arial"/>
              <a:cs typeface="Arial"/>
              <a:sym typeface="Arial"/>
            </a:endParaRPr>
          </a:p>
        </p:txBody>
      </p:sp>
      <p:cxnSp>
        <p:nvCxnSpPr>
          <p:cNvPr id="957" name="Google Shape;957;p35"/>
          <p:cNvCxnSpPr/>
          <p:nvPr/>
        </p:nvCxnSpPr>
        <p:spPr>
          <a:xfrm>
            <a:off x="990600" y="19050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958" name="Google Shape;958;p35"/>
          <p:cNvSpPr txBox="1"/>
          <p:nvPr/>
        </p:nvSpPr>
        <p:spPr>
          <a:xfrm>
            <a:off x="55626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959" name="Google Shape;959;p35"/>
          <p:cNvSpPr txBox="1"/>
          <p:nvPr/>
        </p:nvSpPr>
        <p:spPr>
          <a:xfrm>
            <a:off x="64770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960" name="Google Shape;960;p35"/>
          <p:cNvSpPr txBox="1"/>
          <p:nvPr/>
        </p:nvSpPr>
        <p:spPr>
          <a:xfrm>
            <a:off x="35814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961" name="Google Shape;961;p35"/>
          <p:cNvSpPr txBox="1"/>
          <p:nvPr/>
        </p:nvSpPr>
        <p:spPr>
          <a:xfrm>
            <a:off x="26670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962" name="Google Shape;962;p35"/>
          <p:cNvSpPr txBox="1"/>
          <p:nvPr/>
        </p:nvSpPr>
        <p:spPr>
          <a:xfrm>
            <a:off x="16002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963" name="Google Shape;963;p35"/>
          <p:cNvSpPr txBox="1"/>
          <p:nvPr/>
        </p:nvSpPr>
        <p:spPr>
          <a:xfrm>
            <a:off x="45720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964" name="Google Shape;964;p35"/>
          <p:cNvSpPr txBox="1"/>
          <p:nvPr/>
        </p:nvSpPr>
        <p:spPr>
          <a:xfrm>
            <a:off x="381000" y="2484567"/>
            <a:ext cx="8458201" cy="261610"/>
          </a:xfrm>
          <a:prstGeom prst="rect">
            <a:avLst/>
          </a:prstGeom>
          <a:noFill/>
          <a:ln>
            <a:noFill/>
          </a:ln>
        </p:spPr>
        <p:txBody>
          <a:bodyPr anchorCtr="0" anchor="t" bIns="45700" lIns="91425" spcFirstLastPara="1" rIns="91425" wrap="square" tIns="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1.	+15,000	+15,000</a:t>
            </a:r>
            <a:endParaRPr b="1" sz="1400">
              <a:solidFill>
                <a:schemeClr val="dk1"/>
              </a:solidFill>
              <a:latin typeface="Arial"/>
              <a:ea typeface="Arial"/>
              <a:cs typeface="Arial"/>
              <a:sym typeface="Arial"/>
            </a:endParaRPr>
          </a:p>
        </p:txBody>
      </p:sp>
      <p:sp>
        <p:nvSpPr>
          <p:cNvPr id="965" name="Google Shape;965;p35"/>
          <p:cNvSpPr txBox="1"/>
          <p:nvPr/>
        </p:nvSpPr>
        <p:spPr>
          <a:xfrm>
            <a:off x="381000" y="2746177"/>
            <a:ext cx="845820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2.	-7,000	+7,000</a:t>
            </a:r>
            <a:endParaRPr b="1" sz="1400">
              <a:solidFill>
                <a:schemeClr val="dk1"/>
              </a:solidFill>
              <a:latin typeface="Arial"/>
              <a:ea typeface="Arial"/>
              <a:cs typeface="Arial"/>
              <a:sym typeface="Arial"/>
            </a:endParaRPr>
          </a:p>
        </p:txBody>
      </p:sp>
      <p:cxnSp>
        <p:nvCxnSpPr>
          <p:cNvPr id="966" name="Google Shape;966;p35"/>
          <p:cNvCxnSpPr/>
          <p:nvPr/>
        </p:nvCxnSpPr>
        <p:spPr>
          <a:xfrm>
            <a:off x="990600" y="27461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967" name="Google Shape;967;p35"/>
          <p:cNvCxnSpPr/>
          <p:nvPr/>
        </p:nvCxnSpPr>
        <p:spPr>
          <a:xfrm>
            <a:off x="990600" y="30509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968" name="Google Shape;968;p35"/>
          <p:cNvCxnSpPr/>
          <p:nvPr/>
        </p:nvCxnSpPr>
        <p:spPr>
          <a:xfrm>
            <a:off x="990600" y="33557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969" name="Google Shape;969;p35"/>
          <p:cNvCxnSpPr/>
          <p:nvPr/>
        </p:nvCxnSpPr>
        <p:spPr>
          <a:xfrm>
            <a:off x="990600" y="36605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970" name="Google Shape;970;p35"/>
          <p:cNvCxnSpPr/>
          <p:nvPr/>
        </p:nvCxnSpPr>
        <p:spPr>
          <a:xfrm>
            <a:off x="990600" y="39653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971" name="Google Shape;971;p35"/>
          <p:cNvCxnSpPr/>
          <p:nvPr/>
        </p:nvCxnSpPr>
        <p:spPr>
          <a:xfrm>
            <a:off x="990600" y="42701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972" name="Google Shape;972;p35"/>
          <p:cNvSpPr txBox="1"/>
          <p:nvPr/>
        </p:nvSpPr>
        <p:spPr>
          <a:xfrm>
            <a:off x="381000" y="3048000"/>
            <a:ext cx="845820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3.	+1,600	+1,600</a:t>
            </a:r>
            <a:endParaRPr b="1" sz="1400">
              <a:solidFill>
                <a:schemeClr val="dk1"/>
              </a:solidFill>
              <a:latin typeface="Arial"/>
              <a:ea typeface="Arial"/>
              <a:cs typeface="Arial"/>
              <a:sym typeface="Arial"/>
            </a:endParaRPr>
          </a:p>
        </p:txBody>
      </p:sp>
      <p:cxnSp>
        <p:nvCxnSpPr>
          <p:cNvPr id="973" name="Google Shape;973;p35"/>
          <p:cNvCxnSpPr/>
          <p:nvPr/>
        </p:nvCxnSpPr>
        <p:spPr>
          <a:xfrm>
            <a:off x="990600" y="5111354"/>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974" name="Google Shape;974;p35"/>
          <p:cNvCxnSpPr/>
          <p:nvPr/>
        </p:nvCxnSpPr>
        <p:spPr>
          <a:xfrm>
            <a:off x="990600" y="5416154"/>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975" name="Google Shape;975;p35"/>
          <p:cNvCxnSpPr/>
          <p:nvPr/>
        </p:nvCxnSpPr>
        <p:spPr>
          <a:xfrm>
            <a:off x="990600" y="5720954"/>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976" name="Google Shape;976;p35"/>
          <p:cNvCxnSpPr/>
          <p:nvPr/>
        </p:nvCxnSpPr>
        <p:spPr>
          <a:xfrm>
            <a:off x="990600" y="60227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977" name="Google Shape;977;p35"/>
          <p:cNvSpPr/>
          <p:nvPr/>
        </p:nvSpPr>
        <p:spPr>
          <a:xfrm>
            <a:off x="16885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978" name="Google Shape;978;p35"/>
          <p:cNvSpPr/>
          <p:nvPr/>
        </p:nvSpPr>
        <p:spPr>
          <a:xfrm>
            <a:off x="27553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979" name="Google Shape;979;p35"/>
          <p:cNvSpPr/>
          <p:nvPr/>
        </p:nvSpPr>
        <p:spPr>
          <a:xfrm>
            <a:off x="35935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980" name="Google Shape;980;p35"/>
          <p:cNvSpPr/>
          <p:nvPr/>
        </p:nvSpPr>
        <p:spPr>
          <a:xfrm>
            <a:off x="46603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981" name="Google Shape;981;p35"/>
          <p:cNvSpPr/>
          <p:nvPr/>
        </p:nvSpPr>
        <p:spPr>
          <a:xfrm>
            <a:off x="56509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982" name="Google Shape;982;p35"/>
          <p:cNvSpPr/>
          <p:nvPr/>
        </p:nvSpPr>
        <p:spPr>
          <a:xfrm>
            <a:off x="65653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983" name="Google Shape;983;p35"/>
          <p:cNvSpPr/>
          <p:nvPr/>
        </p:nvSpPr>
        <p:spPr>
          <a:xfrm>
            <a:off x="73273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984" name="Google Shape;984;p35"/>
          <p:cNvSpPr/>
          <p:nvPr/>
        </p:nvSpPr>
        <p:spPr>
          <a:xfrm>
            <a:off x="80893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cxnSp>
        <p:nvCxnSpPr>
          <p:cNvPr id="985" name="Google Shape;985;p35"/>
          <p:cNvCxnSpPr/>
          <p:nvPr/>
        </p:nvCxnSpPr>
        <p:spPr>
          <a:xfrm>
            <a:off x="990600" y="64037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986" name="Google Shape;986;p35"/>
          <p:cNvSpPr/>
          <p:nvPr/>
        </p:nvSpPr>
        <p:spPr>
          <a:xfrm>
            <a:off x="16885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987" name="Google Shape;987;p35"/>
          <p:cNvSpPr/>
          <p:nvPr/>
        </p:nvSpPr>
        <p:spPr>
          <a:xfrm>
            <a:off x="27553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988" name="Google Shape;988;p35"/>
          <p:cNvSpPr/>
          <p:nvPr/>
        </p:nvSpPr>
        <p:spPr>
          <a:xfrm>
            <a:off x="35935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989" name="Google Shape;989;p35"/>
          <p:cNvSpPr/>
          <p:nvPr/>
        </p:nvSpPr>
        <p:spPr>
          <a:xfrm>
            <a:off x="46603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990" name="Google Shape;990;p35"/>
          <p:cNvSpPr/>
          <p:nvPr/>
        </p:nvSpPr>
        <p:spPr>
          <a:xfrm>
            <a:off x="56509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991" name="Google Shape;991;p35"/>
          <p:cNvSpPr/>
          <p:nvPr/>
        </p:nvSpPr>
        <p:spPr>
          <a:xfrm>
            <a:off x="65653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992" name="Google Shape;992;p35"/>
          <p:cNvSpPr/>
          <p:nvPr/>
        </p:nvSpPr>
        <p:spPr>
          <a:xfrm>
            <a:off x="73273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993" name="Google Shape;993;p35"/>
          <p:cNvSpPr/>
          <p:nvPr/>
        </p:nvSpPr>
        <p:spPr>
          <a:xfrm>
            <a:off x="80893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cxnSp>
        <p:nvCxnSpPr>
          <p:cNvPr id="994" name="Google Shape;994;p35"/>
          <p:cNvCxnSpPr/>
          <p:nvPr/>
        </p:nvCxnSpPr>
        <p:spPr>
          <a:xfrm>
            <a:off x="990600" y="64799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995" name="Google Shape;995;p35"/>
          <p:cNvSpPr/>
          <p:nvPr/>
        </p:nvSpPr>
        <p:spPr>
          <a:xfrm>
            <a:off x="16885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996" name="Google Shape;996;p35"/>
          <p:cNvSpPr/>
          <p:nvPr/>
        </p:nvSpPr>
        <p:spPr>
          <a:xfrm>
            <a:off x="27553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997" name="Google Shape;997;p35"/>
          <p:cNvSpPr/>
          <p:nvPr/>
        </p:nvSpPr>
        <p:spPr>
          <a:xfrm>
            <a:off x="35935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998" name="Google Shape;998;p35"/>
          <p:cNvSpPr/>
          <p:nvPr/>
        </p:nvSpPr>
        <p:spPr>
          <a:xfrm>
            <a:off x="46603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999" name="Google Shape;999;p35"/>
          <p:cNvSpPr/>
          <p:nvPr/>
        </p:nvSpPr>
        <p:spPr>
          <a:xfrm>
            <a:off x="56509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000" name="Google Shape;1000;p35"/>
          <p:cNvSpPr/>
          <p:nvPr/>
        </p:nvSpPr>
        <p:spPr>
          <a:xfrm>
            <a:off x="65653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001" name="Google Shape;1001;p35"/>
          <p:cNvSpPr/>
          <p:nvPr/>
        </p:nvSpPr>
        <p:spPr>
          <a:xfrm>
            <a:off x="73273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002" name="Google Shape;1002;p35"/>
          <p:cNvSpPr/>
          <p:nvPr/>
        </p:nvSpPr>
        <p:spPr>
          <a:xfrm>
            <a:off x="80893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003" name="Google Shape;1003;p35"/>
          <p:cNvSpPr txBox="1"/>
          <p:nvPr/>
        </p:nvSpPr>
        <p:spPr>
          <a:xfrm>
            <a:off x="381000" y="6062401"/>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$8,050	$1,400	$1,600	$7,000	$1,600	$15,000	$4,700	$1,950	$1,300</a:t>
            </a:r>
            <a:endParaRPr b="1" sz="1400">
              <a:solidFill>
                <a:schemeClr val="dk1"/>
              </a:solidFill>
              <a:latin typeface="Arial"/>
              <a:ea typeface="Arial"/>
              <a:cs typeface="Arial"/>
              <a:sym typeface="Arial"/>
            </a:endParaRPr>
          </a:p>
        </p:txBody>
      </p:sp>
      <p:sp>
        <p:nvSpPr>
          <p:cNvPr id="1004" name="Google Shape;1004;p35"/>
          <p:cNvSpPr txBox="1"/>
          <p:nvPr/>
        </p:nvSpPr>
        <p:spPr>
          <a:xfrm>
            <a:off x="56388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1005" name="Google Shape;1005;p35"/>
          <p:cNvSpPr txBox="1"/>
          <p:nvPr/>
        </p:nvSpPr>
        <p:spPr>
          <a:xfrm>
            <a:off x="65532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1006" name="Google Shape;1006;p35"/>
          <p:cNvSpPr txBox="1"/>
          <p:nvPr/>
        </p:nvSpPr>
        <p:spPr>
          <a:xfrm>
            <a:off x="35814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1007" name="Google Shape;1007;p35"/>
          <p:cNvSpPr txBox="1"/>
          <p:nvPr/>
        </p:nvSpPr>
        <p:spPr>
          <a:xfrm>
            <a:off x="27432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1008" name="Google Shape;1008;p35"/>
          <p:cNvSpPr txBox="1"/>
          <p:nvPr/>
        </p:nvSpPr>
        <p:spPr>
          <a:xfrm>
            <a:off x="16764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1009" name="Google Shape;1009;p35"/>
          <p:cNvSpPr txBox="1"/>
          <p:nvPr/>
        </p:nvSpPr>
        <p:spPr>
          <a:xfrm>
            <a:off x="46482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1010" name="Google Shape;1010;p35"/>
          <p:cNvSpPr txBox="1"/>
          <p:nvPr/>
        </p:nvSpPr>
        <p:spPr>
          <a:xfrm>
            <a:off x="7315200" y="5946577"/>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1011" name="Google Shape;1011;p35"/>
          <p:cNvSpPr txBox="1"/>
          <p:nvPr/>
        </p:nvSpPr>
        <p:spPr>
          <a:xfrm>
            <a:off x="8077200" y="5946577"/>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1012" name="Google Shape;1012;p35"/>
          <p:cNvSpPr/>
          <p:nvPr/>
        </p:nvSpPr>
        <p:spPr>
          <a:xfrm>
            <a:off x="381000" y="5181600"/>
            <a:ext cx="8610600" cy="879901"/>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013" name="Google Shape;1013;p35"/>
          <p:cNvSpPr/>
          <p:nvPr/>
        </p:nvSpPr>
        <p:spPr>
          <a:xfrm>
            <a:off x="762000" y="6025754"/>
            <a:ext cx="8229600" cy="527446"/>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014" name="Google Shape;1014;p35"/>
          <p:cNvSpPr txBox="1"/>
          <p:nvPr/>
        </p:nvSpPr>
        <p:spPr>
          <a:xfrm>
            <a:off x="533400" y="381000"/>
            <a:ext cx="8229600" cy="1101071"/>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900"/>
              <a:buFont typeface="Arial"/>
              <a:buNone/>
            </a:pPr>
            <a:r>
              <a:rPr b="1" lang="en-US" sz="1900">
                <a:solidFill>
                  <a:schemeClr val="dk1"/>
                </a:solidFill>
                <a:latin typeface="Arial"/>
                <a:ea typeface="Arial"/>
                <a:cs typeface="Arial"/>
                <a:sym typeface="Arial"/>
              </a:rPr>
              <a:t>TRANSACTION 7. PAYMENT OF EXPENSES  </a:t>
            </a:r>
            <a:r>
              <a:rPr b="0" lang="en-US" sz="1900">
                <a:solidFill>
                  <a:schemeClr val="dk1"/>
                </a:solidFill>
                <a:latin typeface="Arial"/>
                <a:ea typeface="Arial"/>
                <a:cs typeface="Arial"/>
                <a:sym typeface="Arial"/>
              </a:rPr>
              <a:t>Softbyte Inc. pays the following expenses in cash for September: office rent </a:t>
            </a:r>
            <a:r>
              <a:rPr b="1" lang="en-US" sz="1900">
                <a:solidFill>
                  <a:schemeClr val="dk1"/>
                </a:solidFill>
                <a:latin typeface="Arial"/>
                <a:ea typeface="Arial"/>
                <a:cs typeface="Arial"/>
                <a:sym typeface="Arial"/>
              </a:rPr>
              <a:t>$600</a:t>
            </a:r>
            <a:r>
              <a:rPr b="0" lang="en-US" sz="1900">
                <a:solidFill>
                  <a:schemeClr val="dk1"/>
                </a:solidFill>
                <a:latin typeface="Arial"/>
                <a:ea typeface="Arial"/>
                <a:cs typeface="Arial"/>
                <a:sym typeface="Arial"/>
              </a:rPr>
              <a:t>, salaries and wages of employees </a:t>
            </a:r>
            <a:r>
              <a:rPr b="1" lang="en-US" sz="1900">
                <a:solidFill>
                  <a:schemeClr val="dk1"/>
                </a:solidFill>
                <a:latin typeface="Arial"/>
                <a:ea typeface="Arial"/>
                <a:cs typeface="Arial"/>
                <a:sym typeface="Arial"/>
              </a:rPr>
              <a:t>$900</a:t>
            </a:r>
            <a:r>
              <a:rPr b="0" lang="en-US" sz="1900">
                <a:solidFill>
                  <a:schemeClr val="dk1"/>
                </a:solidFill>
                <a:latin typeface="Arial"/>
                <a:ea typeface="Arial"/>
                <a:cs typeface="Arial"/>
                <a:sym typeface="Arial"/>
              </a:rPr>
              <a:t>, and utilities </a:t>
            </a:r>
            <a:r>
              <a:rPr b="1" lang="en-US" sz="1900">
                <a:solidFill>
                  <a:schemeClr val="dk1"/>
                </a:solidFill>
                <a:latin typeface="Arial"/>
                <a:ea typeface="Arial"/>
                <a:cs typeface="Arial"/>
                <a:sym typeface="Arial"/>
              </a:rPr>
              <a:t>$200</a:t>
            </a:r>
            <a:r>
              <a:rPr b="0" lang="en-US" sz="1900">
                <a:solidFill>
                  <a:schemeClr val="dk1"/>
                </a:solidFill>
                <a:latin typeface="Arial"/>
                <a:ea typeface="Arial"/>
                <a:cs typeface="Arial"/>
                <a:sym typeface="Arial"/>
              </a:rPr>
              <a:t>.</a:t>
            </a:r>
            <a:endParaRPr b="0" sz="1900">
              <a:solidFill>
                <a:schemeClr val="dk1"/>
              </a:solidFill>
              <a:latin typeface="Arial"/>
              <a:ea typeface="Arial"/>
              <a:cs typeface="Arial"/>
              <a:sym typeface="Arial"/>
            </a:endParaRPr>
          </a:p>
        </p:txBody>
      </p:sp>
      <p:sp>
        <p:nvSpPr>
          <p:cNvPr id="1015" name="Google Shape;1015;p35"/>
          <p:cNvSpPr/>
          <p:nvPr/>
        </p:nvSpPr>
        <p:spPr>
          <a:xfrm>
            <a:off x="7620000" y="1219200"/>
            <a:ext cx="1295400" cy="274638"/>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Clr>
                <a:schemeClr val="dk1"/>
              </a:buClr>
              <a:buSzPts val="1200"/>
              <a:buFont typeface="Noto Sans Symbols"/>
              <a:buNone/>
            </a:pPr>
            <a:r>
              <a:rPr b="1" lang="en-US" sz="1200">
                <a:solidFill>
                  <a:schemeClr val="dk1"/>
                </a:solidFill>
                <a:latin typeface="Arial"/>
                <a:ea typeface="Arial"/>
                <a:cs typeface="Arial"/>
                <a:sym typeface="Arial"/>
              </a:rPr>
              <a:t>Illustration 1-8</a:t>
            </a:r>
            <a:endParaRPr b="0" sz="1200">
              <a:solidFill>
                <a:schemeClr val="dk1"/>
              </a:solidFill>
              <a:latin typeface="Arial"/>
              <a:ea typeface="Arial"/>
              <a:cs typeface="Arial"/>
              <a:sym typeface="Arial"/>
            </a:endParaRPr>
          </a:p>
        </p:txBody>
      </p:sp>
      <p:sp>
        <p:nvSpPr>
          <p:cNvPr id="1016" name="Google Shape;1016;p35"/>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4 </a:t>
            </a:r>
            <a:endParaRPr b="1" i="1" sz="1600">
              <a:solidFill>
                <a:schemeClr val="lt2"/>
              </a:solidFill>
              <a:latin typeface="Arial"/>
              <a:ea typeface="Arial"/>
              <a:cs typeface="Arial"/>
              <a:sym typeface="Arial"/>
            </a:endParaRPr>
          </a:p>
        </p:txBody>
      </p:sp>
      <p:sp>
        <p:nvSpPr>
          <p:cNvPr id="1017" name="Google Shape;1017;p35"/>
          <p:cNvSpPr txBox="1"/>
          <p:nvPr/>
        </p:nvSpPr>
        <p:spPr>
          <a:xfrm>
            <a:off x="5638800" y="1905000"/>
            <a:ext cx="9144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Owner's Capital</a:t>
            </a:r>
            <a:endParaRPr b="1" sz="1200">
              <a:solidFill>
                <a:schemeClr val="dk1"/>
              </a:solidFill>
              <a:latin typeface="Arial"/>
              <a:ea typeface="Arial"/>
              <a:cs typeface="Arial"/>
              <a:sym typeface="Arial"/>
            </a:endParaRPr>
          </a:p>
        </p:txBody>
      </p:sp>
      <p:sp>
        <p:nvSpPr>
          <p:cNvPr id="1018" name="Google Shape;1018;p35"/>
          <p:cNvSpPr txBox="1"/>
          <p:nvPr/>
        </p:nvSpPr>
        <p:spPr>
          <a:xfrm>
            <a:off x="6553200" y="1905000"/>
            <a:ext cx="9144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Owner's Drawings</a:t>
            </a:r>
            <a:endParaRPr b="1" sz="1200">
              <a:solidFill>
                <a:schemeClr val="dk1"/>
              </a:solidFill>
              <a:latin typeface="Arial"/>
              <a:ea typeface="Arial"/>
              <a:cs typeface="Arial"/>
              <a:sym typeface="Arial"/>
            </a:endParaRPr>
          </a:p>
        </p:txBody>
      </p:sp>
      <p:sp>
        <p:nvSpPr>
          <p:cNvPr id="1019" name="Google Shape;1019;p35"/>
          <p:cNvSpPr txBox="1"/>
          <p:nvPr/>
        </p:nvSpPr>
        <p:spPr>
          <a:xfrm>
            <a:off x="7467600" y="1905000"/>
            <a:ext cx="6096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Rev.</a:t>
            </a:r>
            <a:endParaRPr b="1" sz="1200">
              <a:solidFill>
                <a:schemeClr val="dk1"/>
              </a:solidFill>
              <a:latin typeface="Arial"/>
              <a:ea typeface="Arial"/>
              <a:cs typeface="Arial"/>
              <a:sym typeface="Arial"/>
            </a:endParaRPr>
          </a:p>
        </p:txBody>
      </p:sp>
      <p:sp>
        <p:nvSpPr>
          <p:cNvPr id="1020" name="Google Shape;1020;p35"/>
          <p:cNvSpPr txBox="1"/>
          <p:nvPr/>
        </p:nvSpPr>
        <p:spPr>
          <a:xfrm>
            <a:off x="8153400" y="1905000"/>
            <a:ext cx="6096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Exp.</a:t>
            </a:r>
            <a:endParaRPr b="1" sz="1200">
              <a:solidFill>
                <a:schemeClr val="dk1"/>
              </a:solidFill>
              <a:latin typeface="Arial"/>
              <a:ea typeface="Arial"/>
              <a:cs typeface="Arial"/>
              <a:sym typeface="Arial"/>
            </a:endParaRPr>
          </a:p>
        </p:txBody>
      </p:sp>
      <p:sp>
        <p:nvSpPr>
          <p:cNvPr id="1021" name="Google Shape;1021;p35"/>
          <p:cNvSpPr txBox="1"/>
          <p:nvPr/>
        </p:nvSpPr>
        <p:spPr>
          <a:xfrm>
            <a:off x="73914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1022" name="Google Shape;1022;p35"/>
          <p:cNvSpPr txBox="1"/>
          <p:nvPr/>
        </p:nvSpPr>
        <p:spPr>
          <a:xfrm>
            <a:off x="80772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1023" name="Google Shape;1023;p35"/>
          <p:cNvSpPr txBox="1"/>
          <p:nvPr/>
        </p:nvSpPr>
        <p:spPr>
          <a:xfrm>
            <a:off x="381000" y="3352800"/>
            <a:ext cx="845820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4.	+1,200		+1,200	</a:t>
            </a:r>
            <a:endParaRPr b="1" sz="1400">
              <a:solidFill>
                <a:srgbClr val="730000"/>
              </a:solidFill>
              <a:latin typeface="Arial"/>
              <a:ea typeface="Arial"/>
              <a:cs typeface="Arial"/>
              <a:sym typeface="Arial"/>
            </a:endParaRPr>
          </a:p>
        </p:txBody>
      </p:sp>
      <p:sp>
        <p:nvSpPr>
          <p:cNvPr id="1024" name="Google Shape;1024;p35"/>
          <p:cNvSpPr txBox="1"/>
          <p:nvPr/>
        </p:nvSpPr>
        <p:spPr>
          <a:xfrm>
            <a:off x="381000" y="4289792"/>
            <a:ext cx="8610600" cy="815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7.	-1,700									-600</a:t>
            </a:r>
            <a:endParaRPr b="1" sz="1200">
              <a:solidFill>
                <a:srgbClr val="730000"/>
              </a:solidFill>
              <a:latin typeface="Arial"/>
              <a:ea typeface="Arial"/>
              <a:cs typeface="Arial"/>
              <a:sym typeface="Arial"/>
            </a:endParaRPr>
          </a:p>
          <a:p>
            <a:pPr indent="0" lvl="0" marL="0" marR="0" rtl="0" algn="l">
              <a:spcBef>
                <a:spcPts val="300"/>
              </a:spcBef>
              <a:spcAft>
                <a:spcPts val="0"/>
              </a:spcAft>
              <a:buNone/>
            </a:pPr>
            <a:r>
              <a:rPr b="1" lang="en-US" sz="1400">
                <a:solidFill>
                  <a:schemeClr val="dk1"/>
                </a:solidFill>
                <a:latin typeface="Arial"/>
                <a:ea typeface="Arial"/>
                <a:cs typeface="Arial"/>
                <a:sym typeface="Arial"/>
              </a:rPr>
              <a:t>											-900</a:t>
            </a:r>
            <a:endParaRPr b="1" sz="1200">
              <a:solidFill>
                <a:srgbClr val="730000"/>
              </a:solidFill>
              <a:latin typeface="Arial"/>
              <a:ea typeface="Arial"/>
              <a:cs typeface="Arial"/>
              <a:sym typeface="Arial"/>
            </a:endParaRPr>
          </a:p>
          <a:p>
            <a:pPr indent="0" lvl="0" marL="0" marR="0" rtl="0" algn="l">
              <a:spcBef>
                <a:spcPts val="300"/>
              </a:spcBef>
              <a:spcAft>
                <a:spcPts val="0"/>
              </a:spcAft>
              <a:buNone/>
            </a:pPr>
            <a:r>
              <a:rPr b="1" lang="en-US" sz="1400">
                <a:solidFill>
                  <a:schemeClr val="dk1"/>
                </a:solidFill>
                <a:latin typeface="Arial"/>
                <a:ea typeface="Arial"/>
                <a:cs typeface="Arial"/>
                <a:sym typeface="Arial"/>
              </a:rPr>
              <a:t>											-200</a:t>
            </a:r>
            <a:endParaRPr b="1" sz="1200">
              <a:solidFill>
                <a:srgbClr val="730000"/>
              </a:solidFill>
              <a:latin typeface="Arial"/>
              <a:ea typeface="Arial"/>
              <a:cs typeface="Arial"/>
              <a:sym typeface="Arial"/>
            </a:endParaRPr>
          </a:p>
        </p:txBody>
      </p:sp>
      <p:sp>
        <p:nvSpPr>
          <p:cNvPr id="1025" name="Google Shape;1025;p35"/>
          <p:cNvSpPr txBox="1"/>
          <p:nvPr/>
        </p:nvSpPr>
        <p:spPr>
          <a:xfrm>
            <a:off x="381000" y="3984992"/>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6.	+1,500	+2,000						+3,500		</a:t>
            </a:r>
            <a:endParaRPr b="1" sz="1400">
              <a:solidFill>
                <a:srgbClr val="730000"/>
              </a:solidFill>
              <a:latin typeface="Arial"/>
              <a:ea typeface="Arial"/>
              <a:cs typeface="Arial"/>
              <a:sym typeface="Arial"/>
            </a:endParaRPr>
          </a:p>
        </p:txBody>
      </p:sp>
      <p:sp>
        <p:nvSpPr>
          <p:cNvPr id="1026" name="Google Shape;1026;p35"/>
          <p:cNvSpPr txBox="1"/>
          <p:nvPr/>
        </p:nvSpPr>
        <p:spPr>
          <a:xfrm>
            <a:off x="381000" y="3680192"/>
            <a:ext cx="87630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5.					+250					-250</a:t>
            </a:r>
            <a:endParaRPr b="1" sz="1200">
              <a:solidFill>
                <a:srgbClr val="730000"/>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4"/>
                                        </p:tgtEl>
                                        <p:attrNameLst>
                                          <p:attrName>style.visibility</p:attrName>
                                        </p:attrNameLst>
                                      </p:cBhvr>
                                      <p:to>
                                        <p:strVal val="visible"/>
                                      </p:to>
                                    </p:set>
                                    <p:animEffect filter="fade" transition="in">
                                      <p:cBhvr>
                                        <p:cTn dur="500"/>
                                        <p:tgtEl>
                                          <p:spTgt spid="10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sp>
        <p:nvSpPr>
          <p:cNvPr id="1031" name="Google Shape;1031;p36"/>
          <p:cNvSpPr txBox="1"/>
          <p:nvPr/>
        </p:nvSpPr>
        <p:spPr>
          <a:xfrm>
            <a:off x="381000" y="5108377"/>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8.	-250				-250</a:t>
            </a:r>
            <a:endParaRPr b="1" sz="1400">
              <a:solidFill>
                <a:schemeClr val="dk1"/>
              </a:solidFill>
              <a:latin typeface="Arial"/>
              <a:ea typeface="Arial"/>
              <a:cs typeface="Arial"/>
              <a:sym typeface="Arial"/>
            </a:endParaRPr>
          </a:p>
        </p:txBody>
      </p:sp>
      <p:sp>
        <p:nvSpPr>
          <p:cNvPr id="1032" name="Google Shape;1032;p36"/>
          <p:cNvSpPr txBox="1"/>
          <p:nvPr/>
        </p:nvSpPr>
        <p:spPr>
          <a:xfrm>
            <a:off x="381000" y="5413177"/>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9.	+600	-600</a:t>
            </a:r>
            <a:endParaRPr b="1" sz="1400">
              <a:solidFill>
                <a:schemeClr val="dk1"/>
              </a:solidFill>
              <a:latin typeface="Arial"/>
              <a:ea typeface="Arial"/>
              <a:cs typeface="Arial"/>
              <a:sym typeface="Arial"/>
            </a:endParaRPr>
          </a:p>
        </p:txBody>
      </p:sp>
      <p:sp>
        <p:nvSpPr>
          <p:cNvPr id="1033" name="Google Shape;1033;p36"/>
          <p:cNvSpPr txBox="1"/>
          <p:nvPr/>
        </p:nvSpPr>
        <p:spPr>
          <a:xfrm>
            <a:off x="381000" y="5717977"/>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10.	-1,300								-1,300</a:t>
            </a:r>
            <a:endParaRPr b="1" sz="1400">
              <a:solidFill>
                <a:schemeClr val="dk1"/>
              </a:solidFill>
              <a:latin typeface="Arial"/>
              <a:ea typeface="Arial"/>
              <a:cs typeface="Arial"/>
              <a:sym typeface="Arial"/>
            </a:endParaRPr>
          </a:p>
        </p:txBody>
      </p:sp>
      <p:sp>
        <p:nvSpPr>
          <p:cNvPr id="1034" name="Google Shape;1034;p36"/>
          <p:cNvSpPr txBox="1"/>
          <p:nvPr/>
        </p:nvSpPr>
        <p:spPr>
          <a:xfrm>
            <a:off x="228600" y="1905000"/>
            <a:ext cx="7620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Trans-</a:t>
            </a:r>
            <a:endParaRPr/>
          </a:p>
          <a:p>
            <a:pPr indent="0" lvl="0" marL="0" marR="0" rtl="0" algn="ctr">
              <a:spcBef>
                <a:spcPts val="0"/>
              </a:spcBef>
              <a:spcAft>
                <a:spcPts val="0"/>
              </a:spcAft>
              <a:buNone/>
            </a:pPr>
            <a:r>
              <a:rPr b="1" lang="en-US" sz="1200">
                <a:solidFill>
                  <a:schemeClr val="dk1"/>
                </a:solidFill>
                <a:latin typeface="Arial"/>
                <a:ea typeface="Arial"/>
                <a:cs typeface="Arial"/>
                <a:sym typeface="Arial"/>
              </a:rPr>
              <a:t>action</a:t>
            </a:r>
            <a:endParaRPr/>
          </a:p>
        </p:txBody>
      </p:sp>
      <p:sp>
        <p:nvSpPr>
          <p:cNvPr id="1035" name="Google Shape;1035;p36"/>
          <p:cNvSpPr txBox="1"/>
          <p:nvPr/>
        </p:nvSpPr>
        <p:spPr>
          <a:xfrm>
            <a:off x="914400" y="1905000"/>
            <a:ext cx="7620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300">
                <a:solidFill>
                  <a:schemeClr val="dk1"/>
                </a:solidFill>
                <a:latin typeface="Arial"/>
                <a:ea typeface="Arial"/>
                <a:cs typeface="Arial"/>
                <a:sym typeface="Arial"/>
              </a:rPr>
              <a:t>Cash   </a:t>
            </a:r>
            <a:endParaRPr b="1" sz="1300">
              <a:solidFill>
                <a:schemeClr val="dk1"/>
              </a:solidFill>
              <a:latin typeface="Arial"/>
              <a:ea typeface="Arial"/>
              <a:cs typeface="Arial"/>
              <a:sym typeface="Arial"/>
            </a:endParaRPr>
          </a:p>
        </p:txBody>
      </p:sp>
      <p:sp>
        <p:nvSpPr>
          <p:cNvPr id="1036" name="Google Shape;1036;p36"/>
          <p:cNvSpPr txBox="1"/>
          <p:nvPr/>
        </p:nvSpPr>
        <p:spPr>
          <a:xfrm>
            <a:off x="1752600" y="1905000"/>
            <a:ext cx="914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Accounts</a:t>
            </a:r>
            <a:endParaRPr/>
          </a:p>
          <a:p>
            <a:pPr indent="0" lvl="0" marL="0" marR="0" rtl="0" algn="ctr">
              <a:spcBef>
                <a:spcPts val="0"/>
              </a:spcBef>
              <a:spcAft>
                <a:spcPts val="0"/>
              </a:spcAft>
              <a:buNone/>
            </a:pPr>
            <a:r>
              <a:rPr b="1" lang="en-US" sz="1200">
                <a:solidFill>
                  <a:schemeClr val="dk1"/>
                </a:solidFill>
                <a:latin typeface="Arial"/>
                <a:ea typeface="Arial"/>
                <a:cs typeface="Arial"/>
                <a:sym typeface="Arial"/>
              </a:rPr>
              <a:t>Receivable</a:t>
            </a:r>
            <a:endParaRPr/>
          </a:p>
        </p:txBody>
      </p:sp>
      <p:sp>
        <p:nvSpPr>
          <p:cNvPr id="1037" name="Google Shape;1037;p36"/>
          <p:cNvSpPr txBox="1"/>
          <p:nvPr/>
        </p:nvSpPr>
        <p:spPr>
          <a:xfrm>
            <a:off x="2857500" y="1905000"/>
            <a:ext cx="800100" cy="523220"/>
          </a:xfrm>
          <a:prstGeom prst="rect">
            <a:avLst/>
          </a:prstGeom>
          <a:noFill/>
          <a:ln>
            <a:noFill/>
          </a:ln>
        </p:spPr>
        <p:txBody>
          <a:bodyPr anchorCtr="0" anchor="ctr" bIns="45700" lIns="0"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Supplies</a:t>
            </a:r>
            <a:endParaRPr b="1" sz="1200">
              <a:solidFill>
                <a:schemeClr val="dk1"/>
              </a:solidFill>
              <a:latin typeface="Arial"/>
              <a:ea typeface="Arial"/>
              <a:cs typeface="Arial"/>
              <a:sym typeface="Arial"/>
            </a:endParaRPr>
          </a:p>
        </p:txBody>
      </p:sp>
      <p:sp>
        <p:nvSpPr>
          <p:cNvPr id="1038" name="Google Shape;1038;p36"/>
          <p:cNvSpPr txBox="1"/>
          <p:nvPr/>
        </p:nvSpPr>
        <p:spPr>
          <a:xfrm>
            <a:off x="3657600" y="1905000"/>
            <a:ext cx="9906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Equipment</a:t>
            </a:r>
            <a:endParaRPr b="1" sz="1200">
              <a:solidFill>
                <a:schemeClr val="dk1"/>
              </a:solidFill>
              <a:latin typeface="Arial"/>
              <a:ea typeface="Arial"/>
              <a:cs typeface="Arial"/>
              <a:sym typeface="Arial"/>
            </a:endParaRPr>
          </a:p>
        </p:txBody>
      </p:sp>
      <p:sp>
        <p:nvSpPr>
          <p:cNvPr id="1039" name="Google Shape;1039;p36"/>
          <p:cNvSpPr txBox="1"/>
          <p:nvPr/>
        </p:nvSpPr>
        <p:spPr>
          <a:xfrm>
            <a:off x="4648200" y="1905000"/>
            <a:ext cx="9906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Accounts</a:t>
            </a:r>
            <a:endParaRPr/>
          </a:p>
          <a:p>
            <a:pPr indent="0" lvl="0" marL="0" marR="0" rtl="0" algn="ctr">
              <a:spcBef>
                <a:spcPts val="0"/>
              </a:spcBef>
              <a:spcAft>
                <a:spcPts val="0"/>
              </a:spcAft>
              <a:buNone/>
            </a:pPr>
            <a:r>
              <a:rPr b="1" lang="en-US" sz="1200">
                <a:solidFill>
                  <a:schemeClr val="dk1"/>
                </a:solidFill>
                <a:latin typeface="Arial"/>
                <a:ea typeface="Arial"/>
                <a:cs typeface="Arial"/>
                <a:sym typeface="Arial"/>
              </a:rPr>
              <a:t>Payable</a:t>
            </a:r>
            <a:endParaRPr/>
          </a:p>
        </p:txBody>
      </p:sp>
      <p:cxnSp>
        <p:nvCxnSpPr>
          <p:cNvPr id="1040" name="Google Shape;1040;p36"/>
          <p:cNvCxnSpPr/>
          <p:nvPr/>
        </p:nvCxnSpPr>
        <p:spPr>
          <a:xfrm>
            <a:off x="978408" y="24384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041" name="Google Shape;1041;p36"/>
          <p:cNvSpPr/>
          <p:nvPr/>
        </p:nvSpPr>
        <p:spPr>
          <a:xfrm>
            <a:off x="16764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042" name="Google Shape;1042;p36"/>
          <p:cNvSpPr/>
          <p:nvPr/>
        </p:nvSpPr>
        <p:spPr>
          <a:xfrm>
            <a:off x="27432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043" name="Google Shape;1043;p36"/>
          <p:cNvSpPr/>
          <p:nvPr/>
        </p:nvSpPr>
        <p:spPr>
          <a:xfrm>
            <a:off x="35814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044" name="Google Shape;1044;p36"/>
          <p:cNvSpPr/>
          <p:nvPr/>
        </p:nvSpPr>
        <p:spPr>
          <a:xfrm>
            <a:off x="46482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045" name="Google Shape;1045;p36"/>
          <p:cNvSpPr/>
          <p:nvPr/>
        </p:nvSpPr>
        <p:spPr>
          <a:xfrm>
            <a:off x="56388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046" name="Google Shape;1046;p36"/>
          <p:cNvSpPr/>
          <p:nvPr/>
        </p:nvSpPr>
        <p:spPr>
          <a:xfrm>
            <a:off x="65532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047" name="Google Shape;1047;p36"/>
          <p:cNvSpPr/>
          <p:nvPr/>
        </p:nvSpPr>
        <p:spPr>
          <a:xfrm>
            <a:off x="73152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048" name="Google Shape;1048;p36"/>
          <p:cNvSpPr/>
          <p:nvPr/>
        </p:nvSpPr>
        <p:spPr>
          <a:xfrm>
            <a:off x="80772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049" name="Google Shape;1049;p36"/>
          <p:cNvSpPr txBox="1"/>
          <p:nvPr/>
        </p:nvSpPr>
        <p:spPr>
          <a:xfrm>
            <a:off x="914399" y="1600200"/>
            <a:ext cx="7924801" cy="26161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Assets	= Liabilities +	Owner's Equity</a:t>
            </a:r>
            <a:endParaRPr b="1" sz="1400">
              <a:solidFill>
                <a:schemeClr val="dk1"/>
              </a:solidFill>
              <a:latin typeface="Arial"/>
              <a:ea typeface="Arial"/>
              <a:cs typeface="Arial"/>
              <a:sym typeface="Arial"/>
            </a:endParaRPr>
          </a:p>
        </p:txBody>
      </p:sp>
      <p:cxnSp>
        <p:nvCxnSpPr>
          <p:cNvPr id="1050" name="Google Shape;1050;p36"/>
          <p:cNvCxnSpPr/>
          <p:nvPr/>
        </p:nvCxnSpPr>
        <p:spPr>
          <a:xfrm>
            <a:off x="990600" y="19050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051" name="Google Shape;1051;p36"/>
          <p:cNvSpPr txBox="1"/>
          <p:nvPr/>
        </p:nvSpPr>
        <p:spPr>
          <a:xfrm>
            <a:off x="55626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1052" name="Google Shape;1052;p36"/>
          <p:cNvSpPr txBox="1"/>
          <p:nvPr/>
        </p:nvSpPr>
        <p:spPr>
          <a:xfrm>
            <a:off x="64770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1053" name="Google Shape;1053;p36"/>
          <p:cNvSpPr txBox="1"/>
          <p:nvPr/>
        </p:nvSpPr>
        <p:spPr>
          <a:xfrm>
            <a:off x="35814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1054" name="Google Shape;1054;p36"/>
          <p:cNvSpPr txBox="1"/>
          <p:nvPr/>
        </p:nvSpPr>
        <p:spPr>
          <a:xfrm>
            <a:off x="26670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1055" name="Google Shape;1055;p36"/>
          <p:cNvSpPr txBox="1"/>
          <p:nvPr/>
        </p:nvSpPr>
        <p:spPr>
          <a:xfrm>
            <a:off x="16002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1056" name="Google Shape;1056;p36"/>
          <p:cNvSpPr txBox="1"/>
          <p:nvPr/>
        </p:nvSpPr>
        <p:spPr>
          <a:xfrm>
            <a:off x="45720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1057" name="Google Shape;1057;p36"/>
          <p:cNvSpPr txBox="1"/>
          <p:nvPr/>
        </p:nvSpPr>
        <p:spPr>
          <a:xfrm>
            <a:off x="381000" y="2484567"/>
            <a:ext cx="8458201" cy="261610"/>
          </a:xfrm>
          <a:prstGeom prst="rect">
            <a:avLst/>
          </a:prstGeom>
          <a:noFill/>
          <a:ln>
            <a:noFill/>
          </a:ln>
        </p:spPr>
        <p:txBody>
          <a:bodyPr anchorCtr="0" anchor="t" bIns="45700" lIns="91425" spcFirstLastPara="1" rIns="91425" wrap="square" tIns="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1.	+15,000	+15,000</a:t>
            </a:r>
            <a:endParaRPr b="1" sz="1400">
              <a:solidFill>
                <a:schemeClr val="dk1"/>
              </a:solidFill>
              <a:latin typeface="Arial"/>
              <a:ea typeface="Arial"/>
              <a:cs typeface="Arial"/>
              <a:sym typeface="Arial"/>
            </a:endParaRPr>
          </a:p>
        </p:txBody>
      </p:sp>
      <p:sp>
        <p:nvSpPr>
          <p:cNvPr id="1058" name="Google Shape;1058;p36"/>
          <p:cNvSpPr txBox="1"/>
          <p:nvPr/>
        </p:nvSpPr>
        <p:spPr>
          <a:xfrm>
            <a:off x="381000" y="2746177"/>
            <a:ext cx="845820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2.	-7,000	+7,000</a:t>
            </a:r>
            <a:endParaRPr b="1" sz="1400">
              <a:solidFill>
                <a:schemeClr val="dk1"/>
              </a:solidFill>
              <a:latin typeface="Arial"/>
              <a:ea typeface="Arial"/>
              <a:cs typeface="Arial"/>
              <a:sym typeface="Arial"/>
            </a:endParaRPr>
          </a:p>
        </p:txBody>
      </p:sp>
      <p:cxnSp>
        <p:nvCxnSpPr>
          <p:cNvPr id="1059" name="Google Shape;1059;p36"/>
          <p:cNvCxnSpPr/>
          <p:nvPr/>
        </p:nvCxnSpPr>
        <p:spPr>
          <a:xfrm>
            <a:off x="990600" y="27461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1060" name="Google Shape;1060;p36"/>
          <p:cNvCxnSpPr/>
          <p:nvPr/>
        </p:nvCxnSpPr>
        <p:spPr>
          <a:xfrm>
            <a:off x="990600" y="30509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1061" name="Google Shape;1061;p36"/>
          <p:cNvCxnSpPr/>
          <p:nvPr/>
        </p:nvCxnSpPr>
        <p:spPr>
          <a:xfrm>
            <a:off x="990600" y="33557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1062" name="Google Shape;1062;p36"/>
          <p:cNvCxnSpPr/>
          <p:nvPr/>
        </p:nvCxnSpPr>
        <p:spPr>
          <a:xfrm>
            <a:off x="990600" y="36605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1063" name="Google Shape;1063;p36"/>
          <p:cNvCxnSpPr/>
          <p:nvPr/>
        </p:nvCxnSpPr>
        <p:spPr>
          <a:xfrm>
            <a:off x="990600" y="39653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1064" name="Google Shape;1064;p36"/>
          <p:cNvCxnSpPr/>
          <p:nvPr/>
        </p:nvCxnSpPr>
        <p:spPr>
          <a:xfrm>
            <a:off x="990600" y="42701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065" name="Google Shape;1065;p36"/>
          <p:cNvSpPr txBox="1"/>
          <p:nvPr/>
        </p:nvSpPr>
        <p:spPr>
          <a:xfrm>
            <a:off x="381000" y="3048000"/>
            <a:ext cx="845820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3.	+1,600	+1,600</a:t>
            </a:r>
            <a:endParaRPr b="1" sz="1400">
              <a:solidFill>
                <a:schemeClr val="dk1"/>
              </a:solidFill>
              <a:latin typeface="Arial"/>
              <a:ea typeface="Arial"/>
              <a:cs typeface="Arial"/>
              <a:sym typeface="Arial"/>
            </a:endParaRPr>
          </a:p>
        </p:txBody>
      </p:sp>
      <p:cxnSp>
        <p:nvCxnSpPr>
          <p:cNvPr id="1066" name="Google Shape;1066;p36"/>
          <p:cNvCxnSpPr/>
          <p:nvPr/>
        </p:nvCxnSpPr>
        <p:spPr>
          <a:xfrm>
            <a:off x="990600" y="5111354"/>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1067" name="Google Shape;1067;p36"/>
          <p:cNvCxnSpPr/>
          <p:nvPr/>
        </p:nvCxnSpPr>
        <p:spPr>
          <a:xfrm>
            <a:off x="990600" y="5416154"/>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1068" name="Google Shape;1068;p36"/>
          <p:cNvCxnSpPr/>
          <p:nvPr/>
        </p:nvCxnSpPr>
        <p:spPr>
          <a:xfrm>
            <a:off x="990600" y="5720954"/>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1069" name="Google Shape;1069;p36"/>
          <p:cNvCxnSpPr/>
          <p:nvPr/>
        </p:nvCxnSpPr>
        <p:spPr>
          <a:xfrm>
            <a:off x="990600" y="60227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070" name="Google Shape;1070;p36"/>
          <p:cNvSpPr/>
          <p:nvPr/>
        </p:nvSpPr>
        <p:spPr>
          <a:xfrm>
            <a:off x="16885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071" name="Google Shape;1071;p36"/>
          <p:cNvSpPr/>
          <p:nvPr/>
        </p:nvSpPr>
        <p:spPr>
          <a:xfrm>
            <a:off x="27553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072" name="Google Shape;1072;p36"/>
          <p:cNvSpPr/>
          <p:nvPr/>
        </p:nvSpPr>
        <p:spPr>
          <a:xfrm>
            <a:off x="35935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073" name="Google Shape;1073;p36"/>
          <p:cNvSpPr/>
          <p:nvPr/>
        </p:nvSpPr>
        <p:spPr>
          <a:xfrm>
            <a:off x="46603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074" name="Google Shape;1074;p36"/>
          <p:cNvSpPr/>
          <p:nvPr/>
        </p:nvSpPr>
        <p:spPr>
          <a:xfrm>
            <a:off x="56509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075" name="Google Shape;1075;p36"/>
          <p:cNvSpPr/>
          <p:nvPr/>
        </p:nvSpPr>
        <p:spPr>
          <a:xfrm>
            <a:off x="65653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076" name="Google Shape;1076;p36"/>
          <p:cNvSpPr/>
          <p:nvPr/>
        </p:nvSpPr>
        <p:spPr>
          <a:xfrm>
            <a:off x="73273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077" name="Google Shape;1077;p36"/>
          <p:cNvSpPr/>
          <p:nvPr/>
        </p:nvSpPr>
        <p:spPr>
          <a:xfrm>
            <a:off x="80893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cxnSp>
        <p:nvCxnSpPr>
          <p:cNvPr id="1078" name="Google Shape;1078;p36"/>
          <p:cNvCxnSpPr/>
          <p:nvPr/>
        </p:nvCxnSpPr>
        <p:spPr>
          <a:xfrm>
            <a:off x="990600" y="64037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079" name="Google Shape;1079;p36"/>
          <p:cNvSpPr/>
          <p:nvPr/>
        </p:nvSpPr>
        <p:spPr>
          <a:xfrm>
            <a:off x="16885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080" name="Google Shape;1080;p36"/>
          <p:cNvSpPr/>
          <p:nvPr/>
        </p:nvSpPr>
        <p:spPr>
          <a:xfrm>
            <a:off x="27553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081" name="Google Shape;1081;p36"/>
          <p:cNvSpPr/>
          <p:nvPr/>
        </p:nvSpPr>
        <p:spPr>
          <a:xfrm>
            <a:off x="35935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082" name="Google Shape;1082;p36"/>
          <p:cNvSpPr/>
          <p:nvPr/>
        </p:nvSpPr>
        <p:spPr>
          <a:xfrm>
            <a:off x="46603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083" name="Google Shape;1083;p36"/>
          <p:cNvSpPr/>
          <p:nvPr/>
        </p:nvSpPr>
        <p:spPr>
          <a:xfrm>
            <a:off x="56509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084" name="Google Shape;1084;p36"/>
          <p:cNvSpPr/>
          <p:nvPr/>
        </p:nvSpPr>
        <p:spPr>
          <a:xfrm>
            <a:off x="65653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085" name="Google Shape;1085;p36"/>
          <p:cNvSpPr/>
          <p:nvPr/>
        </p:nvSpPr>
        <p:spPr>
          <a:xfrm>
            <a:off x="73273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086" name="Google Shape;1086;p36"/>
          <p:cNvSpPr/>
          <p:nvPr/>
        </p:nvSpPr>
        <p:spPr>
          <a:xfrm>
            <a:off x="80893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cxnSp>
        <p:nvCxnSpPr>
          <p:cNvPr id="1087" name="Google Shape;1087;p36"/>
          <p:cNvCxnSpPr/>
          <p:nvPr/>
        </p:nvCxnSpPr>
        <p:spPr>
          <a:xfrm>
            <a:off x="990600" y="64799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088" name="Google Shape;1088;p36"/>
          <p:cNvSpPr/>
          <p:nvPr/>
        </p:nvSpPr>
        <p:spPr>
          <a:xfrm>
            <a:off x="16885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089" name="Google Shape;1089;p36"/>
          <p:cNvSpPr/>
          <p:nvPr/>
        </p:nvSpPr>
        <p:spPr>
          <a:xfrm>
            <a:off x="27553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090" name="Google Shape;1090;p36"/>
          <p:cNvSpPr/>
          <p:nvPr/>
        </p:nvSpPr>
        <p:spPr>
          <a:xfrm>
            <a:off x="35935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091" name="Google Shape;1091;p36"/>
          <p:cNvSpPr/>
          <p:nvPr/>
        </p:nvSpPr>
        <p:spPr>
          <a:xfrm>
            <a:off x="46603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092" name="Google Shape;1092;p36"/>
          <p:cNvSpPr/>
          <p:nvPr/>
        </p:nvSpPr>
        <p:spPr>
          <a:xfrm>
            <a:off x="56509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093" name="Google Shape;1093;p36"/>
          <p:cNvSpPr/>
          <p:nvPr/>
        </p:nvSpPr>
        <p:spPr>
          <a:xfrm>
            <a:off x="65653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094" name="Google Shape;1094;p36"/>
          <p:cNvSpPr/>
          <p:nvPr/>
        </p:nvSpPr>
        <p:spPr>
          <a:xfrm>
            <a:off x="73273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095" name="Google Shape;1095;p36"/>
          <p:cNvSpPr/>
          <p:nvPr/>
        </p:nvSpPr>
        <p:spPr>
          <a:xfrm>
            <a:off x="80893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096" name="Google Shape;1096;p36"/>
          <p:cNvSpPr txBox="1"/>
          <p:nvPr/>
        </p:nvSpPr>
        <p:spPr>
          <a:xfrm>
            <a:off x="381000" y="6062401"/>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$8,050	$1,400	$1,600	$7,000	$1,600	$15,000	$4,700	$1,950	$1,300</a:t>
            </a:r>
            <a:endParaRPr b="1" sz="1400">
              <a:solidFill>
                <a:schemeClr val="dk1"/>
              </a:solidFill>
              <a:latin typeface="Arial"/>
              <a:ea typeface="Arial"/>
              <a:cs typeface="Arial"/>
              <a:sym typeface="Arial"/>
            </a:endParaRPr>
          </a:p>
        </p:txBody>
      </p:sp>
      <p:sp>
        <p:nvSpPr>
          <p:cNvPr id="1097" name="Google Shape;1097;p36"/>
          <p:cNvSpPr txBox="1"/>
          <p:nvPr/>
        </p:nvSpPr>
        <p:spPr>
          <a:xfrm>
            <a:off x="56388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1098" name="Google Shape;1098;p36"/>
          <p:cNvSpPr txBox="1"/>
          <p:nvPr/>
        </p:nvSpPr>
        <p:spPr>
          <a:xfrm>
            <a:off x="65532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1099" name="Google Shape;1099;p36"/>
          <p:cNvSpPr txBox="1"/>
          <p:nvPr/>
        </p:nvSpPr>
        <p:spPr>
          <a:xfrm>
            <a:off x="35814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1100" name="Google Shape;1100;p36"/>
          <p:cNvSpPr txBox="1"/>
          <p:nvPr/>
        </p:nvSpPr>
        <p:spPr>
          <a:xfrm>
            <a:off x="27432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1101" name="Google Shape;1101;p36"/>
          <p:cNvSpPr txBox="1"/>
          <p:nvPr/>
        </p:nvSpPr>
        <p:spPr>
          <a:xfrm>
            <a:off x="16764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1102" name="Google Shape;1102;p36"/>
          <p:cNvSpPr txBox="1"/>
          <p:nvPr/>
        </p:nvSpPr>
        <p:spPr>
          <a:xfrm>
            <a:off x="46482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1103" name="Google Shape;1103;p36"/>
          <p:cNvSpPr txBox="1"/>
          <p:nvPr/>
        </p:nvSpPr>
        <p:spPr>
          <a:xfrm>
            <a:off x="7315200" y="5946577"/>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1104" name="Google Shape;1104;p36"/>
          <p:cNvSpPr txBox="1"/>
          <p:nvPr/>
        </p:nvSpPr>
        <p:spPr>
          <a:xfrm>
            <a:off x="8077200" y="5946577"/>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1105" name="Google Shape;1105;p36"/>
          <p:cNvSpPr/>
          <p:nvPr/>
        </p:nvSpPr>
        <p:spPr>
          <a:xfrm>
            <a:off x="381000" y="5486399"/>
            <a:ext cx="8610600" cy="80307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106" name="Google Shape;1106;p36"/>
          <p:cNvSpPr/>
          <p:nvPr/>
        </p:nvSpPr>
        <p:spPr>
          <a:xfrm>
            <a:off x="762000" y="6025754"/>
            <a:ext cx="8229600" cy="527446"/>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107" name="Google Shape;1107;p36"/>
          <p:cNvSpPr txBox="1"/>
          <p:nvPr/>
        </p:nvSpPr>
        <p:spPr>
          <a:xfrm>
            <a:off x="533400" y="381000"/>
            <a:ext cx="8229600" cy="1101071"/>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900"/>
              <a:buFont typeface="Arial"/>
              <a:buNone/>
            </a:pPr>
            <a:r>
              <a:rPr b="1" lang="en-US" sz="1900">
                <a:solidFill>
                  <a:schemeClr val="dk1"/>
                </a:solidFill>
                <a:latin typeface="Arial"/>
                <a:ea typeface="Arial"/>
                <a:cs typeface="Arial"/>
                <a:sym typeface="Arial"/>
              </a:rPr>
              <a:t>TRANSACTION 8. PAYMENT OF ACCOUNTS PAYABLE  </a:t>
            </a:r>
            <a:r>
              <a:rPr b="0" lang="en-US" sz="1900">
                <a:solidFill>
                  <a:schemeClr val="dk1"/>
                </a:solidFill>
                <a:latin typeface="Arial"/>
                <a:ea typeface="Arial"/>
                <a:cs typeface="Arial"/>
                <a:sym typeface="Arial"/>
              </a:rPr>
              <a:t>Softbyte Inc. </a:t>
            </a:r>
            <a:r>
              <a:rPr b="1" lang="en-US" sz="1900">
                <a:solidFill>
                  <a:schemeClr val="dk1"/>
                </a:solidFill>
                <a:latin typeface="Arial"/>
                <a:ea typeface="Arial"/>
                <a:cs typeface="Arial"/>
                <a:sym typeface="Arial"/>
              </a:rPr>
              <a:t>pays its $250 </a:t>
            </a:r>
            <a:r>
              <a:rPr b="0" i="1" lang="en-US" sz="1900">
                <a:solidFill>
                  <a:schemeClr val="dk1"/>
                </a:solidFill>
                <a:latin typeface="Arial"/>
                <a:ea typeface="Arial"/>
                <a:cs typeface="Arial"/>
                <a:sym typeface="Arial"/>
              </a:rPr>
              <a:t>Daily News </a:t>
            </a:r>
            <a:r>
              <a:rPr b="0" lang="en-US" sz="1900">
                <a:solidFill>
                  <a:schemeClr val="dk1"/>
                </a:solidFill>
                <a:latin typeface="Arial"/>
                <a:ea typeface="Arial"/>
                <a:cs typeface="Arial"/>
                <a:sym typeface="Arial"/>
              </a:rPr>
              <a:t>bill in cash. The company previously (in Transaction 5) recorded the bill as an increase in Accounts Payable.</a:t>
            </a:r>
            <a:endParaRPr b="0" sz="1900">
              <a:solidFill>
                <a:schemeClr val="dk1"/>
              </a:solidFill>
              <a:latin typeface="Arial"/>
              <a:ea typeface="Arial"/>
              <a:cs typeface="Arial"/>
              <a:sym typeface="Arial"/>
            </a:endParaRPr>
          </a:p>
        </p:txBody>
      </p:sp>
      <p:sp>
        <p:nvSpPr>
          <p:cNvPr id="1108" name="Google Shape;1108;p36"/>
          <p:cNvSpPr/>
          <p:nvPr/>
        </p:nvSpPr>
        <p:spPr>
          <a:xfrm>
            <a:off x="228600" y="1554162"/>
            <a:ext cx="1295400" cy="274638"/>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Clr>
                <a:schemeClr val="dk1"/>
              </a:buClr>
              <a:buSzPts val="1200"/>
              <a:buFont typeface="Noto Sans Symbols"/>
              <a:buNone/>
            </a:pPr>
            <a:r>
              <a:rPr b="1" lang="en-US" sz="1200">
                <a:solidFill>
                  <a:schemeClr val="dk1"/>
                </a:solidFill>
                <a:latin typeface="Arial"/>
                <a:ea typeface="Arial"/>
                <a:cs typeface="Arial"/>
                <a:sym typeface="Arial"/>
              </a:rPr>
              <a:t>Illustration 1-8</a:t>
            </a:r>
            <a:endParaRPr b="0" sz="1200">
              <a:solidFill>
                <a:schemeClr val="dk1"/>
              </a:solidFill>
              <a:latin typeface="Arial"/>
              <a:ea typeface="Arial"/>
              <a:cs typeface="Arial"/>
              <a:sym typeface="Arial"/>
            </a:endParaRPr>
          </a:p>
        </p:txBody>
      </p:sp>
      <p:sp>
        <p:nvSpPr>
          <p:cNvPr id="1109" name="Google Shape;1109;p36"/>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4 </a:t>
            </a:r>
            <a:endParaRPr b="1" i="1" sz="1600">
              <a:solidFill>
                <a:schemeClr val="lt2"/>
              </a:solidFill>
              <a:latin typeface="Arial"/>
              <a:ea typeface="Arial"/>
              <a:cs typeface="Arial"/>
              <a:sym typeface="Arial"/>
            </a:endParaRPr>
          </a:p>
        </p:txBody>
      </p:sp>
      <p:sp>
        <p:nvSpPr>
          <p:cNvPr id="1110" name="Google Shape;1110;p36"/>
          <p:cNvSpPr txBox="1"/>
          <p:nvPr/>
        </p:nvSpPr>
        <p:spPr>
          <a:xfrm>
            <a:off x="5638800" y="1905000"/>
            <a:ext cx="9144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Owner's Capital</a:t>
            </a:r>
            <a:endParaRPr b="1" sz="1200">
              <a:solidFill>
                <a:schemeClr val="dk1"/>
              </a:solidFill>
              <a:latin typeface="Arial"/>
              <a:ea typeface="Arial"/>
              <a:cs typeface="Arial"/>
              <a:sym typeface="Arial"/>
            </a:endParaRPr>
          </a:p>
        </p:txBody>
      </p:sp>
      <p:sp>
        <p:nvSpPr>
          <p:cNvPr id="1111" name="Google Shape;1111;p36"/>
          <p:cNvSpPr txBox="1"/>
          <p:nvPr/>
        </p:nvSpPr>
        <p:spPr>
          <a:xfrm>
            <a:off x="6553200" y="1905000"/>
            <a:ext cx="9144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Owner's Drawings</a:t>
            </a:r>
            <a:endParaRPr b="1" sz="1200">
              <a:solidFill>
                <a:schemeClr val="dk1"/>
              </a:solidFill>
              <a:latin typeface="Arial"/>
              <a:ea typeface="Arial"/>
              <a:cs typeface="Arial"/>
              <a:sym typeface="Arial"/>
            </a:endParaRPr>
          </a:p>
        </p:txBody>
      </p:sp>
      <p:sp>
        <p:nvSpPr>
          <p:cNvPr id="1112" name="Google Shape;1112;p36"/>
          <p:cNvSpPr txBox="1"/>
          <p:nvPr/>
        </p:nvSpPr>
        <p:spPr>
          <a:xfrm>
            <a:off x="7467600" y="1905000"/>
            <a:ext cx="6096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Rev.</a:t>
            </a:r>
            <a:endParaRPr b="1" sz="1200">
              <a:solidFill>
                <a:schemeClr val="dk1"/>
              </a:solidFill>
              <a:latin typeface="Arial"/>
              <a:ea typeface="Arial"/>
              <a:cs typeface="Arial"/>
              <a:sym typeface="Arial"/>
            </a:endParaRPr>
          </a:p>
        </p:txBody>
      </p:sp>
      <p:sp>
        <p:nvSpPr>
          <p:cNvPr id="1113" name="Google Shape;1113;p36"/>
          <p:cNvSpPr txBox="1"/>
          <p:nvPr/>
        </p:nvSpPr>
        <p:spPr>
          <a:xfrm>
            <a:off x="8153400" y="1905000"/>
            <a:ext cx="6096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Exp.</a:t>
            </a:r>
            <a:endParaRPr b="1" sz="1200">
              <a:solidFill>
                <a:schemeClr val="dk1"/>
              </a:solidFill>
              <a:latin typeface="Arial"/>
              <a:ea typeface="Arial"/>
              <a:cs typeface="Arial"/>
              <a:sym typeface="Arial"/>
            </a:endParaRPr>
          </a:p>
        </p:txBody>
      </p:sp>
      <p:sp>
        <p:nvSpPr>
          <p:cNvPr id="1114" name="Google Shape;1114;p36"/>
          <p:cNvSpPr txBox="1"/>
          <p:nvPr/>
        </p:nvSpPr>
        <p:spPr>
          <a:xfrm>
            <a:off x="73914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1115" name="Google Shape;1115;p36"/>
          <p:cNvSpPr txBox="1"/>
          <p:nvPr/>
        </p:nvSpPr>
        <p:spPr>
          <a:xfrm>
            <a:off x="80772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1116" name="Google Shape;1116;p36"/>
          <p:cNvSpPr txBox="1"/>
          <p:nvPr/>
        </p:nvSpPr>
        <p:spPr>
          <a:xfrm>
            <a:off x="381000" y="3352800"/>
            <a:ext cx="845820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4.	+1,200		+1,200	</a:t>
            </a:r>
            <a:endParaRPr b="1" sz="1400">
              <a:solidFill>
                <a:srgbClr val="730000"/>
              </a:solidFill>
              <a:latin typeface="Arial"/>
              <a:ea typeface="Arial"/>
              <a:cs typeface="Arial"/>
              <a:sym typeface="Arial"/>
            </a:endParaRPr>
          </a:p>
        </p:txBody>
      </p:sp>
      <p:sp>
        <p:nvSpPr>
          <p:cNvPr id="1117" name="Google Shape;1117;p36"/>
          <p:cNvSpPr txBox="1"/>
          <p:nvPr/>
        </p:nvSpPr>
        <p:spPr>
          <a:xfrm>
            <a:off x="381000" y="4289792"/>
            <a:ext cx="8610600" cy="815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7.	-1,700									-600</a:t>
            </a:r>
            <a:endParaRPr b="1" sz="1200">
              <a:solidFill>
                <a:srgbClr val="730000"/>
              </a:solidFill>
              <a:latin typeface="Arial"/>
              <a:ea typeface="Arial"/>
              <a:cs typeface="Arial"/>
              <a:sym typeface="Arial"/>
            </a:endParaRPr>
          </a:p>
          <a:p>
            <a:pPr indent="0" lvl="0" marL="0" marR="0" rtl="0" algn="l">
              <a:spcBef>
                <a:spcPts val="300"/>
              </a:spcBef>
              <a:spcAft>
                <a:spcPts val="0"/>
              </a:spcAft>
              <a:buNone/>
            </a:pPr>
            <a:r>
              <a:rPr b="1" lang="en-US" sz="1400">
                <a:solidFill>
                  <a:schemeClr val="dk1"/>
                </a:solidFill>
                <a:latin typeface="Arial"/>
                <a:ea typeface="Arial"/>
                <a:cs typeface="Arial"/>
                <a:sym typeface="Arial"/>
              </a:rPr>
              <a:t>											-900</a:t>
            </a:r>
            <a:endParaRPr b="1" sz="1200">
              <a:solidFill>
                <a:srgbClr val="730000"/>
              </a:solidFill>
              <a:latin typeface="Arial"/>
              <a:ea typeface="Arial"/>
              <a:cs typeface="Arial"/>
              <a:sym typeface="Arial"/>
            </a:endParaRPr>
          </a:p>
          <a:p>
            <a:pPr indent="0" lvl="0" marL="0" marR="0" rtl="0" algn="l">
              <a:spcBef>
                <a:spcPts val="300"/>
              </a:spcBef>
              <a:spcAft>
                <a:spcPts val="0"/>
              </a:spcAft>
              <a:buNone/>
            </a:pPr>
            <a:r>
              <a:rPr b="1" lang="en-US" sz="1400">
                <a:solidFill>
                  <a:schemeClr val="dk1"/>
                </a:solidFill>
                <a:latin typeface="Arial"/>
                <a:ea typeface="Arial"/>
                <a:cs typeface="Arial"/>
                <a:sym typeface="Arial"/>
              </a:rPr>
              <a:t>											-200</a:t>
            </a:r>
            <a:endParaRPr b="1" sz="1200">
              <a:solidFill>
                <a:srgbClr val="730000"/>
              </a:solidFill>
              <a:latin typeface="Arial"/>
              <a:ea typeface="Arial"/>
              <a:cs typeface="Arial"/>
              <a:sym typeface="Arial"/>
            </a:endParaRPr>
          </a:p>
        </p:txBody>
      </p:sp>
      <p:sp>
        <p:nvSpPr>
          <p:cNvPr id="1118" name="Google Shape;1118;p36"/>
          <p:cNvSpPr txBox="1"/>
          <p:nvPr/>
        </p:nvSpPr>
        <p:spPr>
          <a:xfrm>
            <a:off x="381000" y="3984992"/>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6.	+1,500	+2,000						+3,500		</a:t>
            </a:r>
            <a:endParaRPr b="1" sz="1400">
              <a:solidFill>
                <a:srgbClr val="730000"/>
              </a:solidFill>
              <a:latin typeface="Arial"/>
              <a:ea typeface="Arial"/>
              <a:cs typeface="Arial"/>
              <a:sym typeface="Arial"/>
            </a:endParaRPr>
          </a:p>
        </p:txBody>
      </p:sp>
      <p:sp>
        <p:nvSpPr>
          <p:cNvPr id="1119" name="Google Shape;1119;p36"/>
          <p:cNvSpPr txBox="1"/>
          <p:nvPr/>
        </p:nvSpPr>
        <p:spPr>
          <a:xfrm>
            <a:off x="381000" y="3680192"/>
            <a:ext cx="87630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5.					+250					-250</a:t>
            </a:r>
            <a:endParaRPr b="1" sz="1200">
              <a:solidFill>
                <a:srgbClr val="730000"/>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1"/>
                                        </p:tgtEl>
                                        <p:attrNameLst>
                                          <p:attrName>style.visibility</p:attrName>
                                        </p:attrNameLst>
                                      </p:cBhvr>
                                      <p:to>
                                        <p:strVal val="visible"/>
                                      </p:to>
                                    </p:set>
                                    <p:animEffect filter="fade" transition="in">
                                      <p:cBhvr>
                                        <p:cTn dur="500"/>
                                        <p:tgtEl>
                                          <p:spTgt spid="10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3" name="Shape 1123"/>
        <p:cNvGrpSpPr/>
        <p:nvPr/>
      </p:nvGrpSpPr>
      <p:grpSpPr>
        <a:xfrm>
          <a:off x="0" y="0"/>
          <a:ext cx="0" cy="0"/>
          <a:chOff x="0" y="0"/>
          <a:chExt cx="0" cy="0"/>
        </a:xfrm>
      </p:grpSpPr>
      <p:sp>
        <p:nvSpPr>
          <p:cNvPr id="1124" name="Google Shape;1124;p37"/>
          <p:cNvSpPr txBox="1"/>
          <p:nvPr/>
        </p:nvSpPr>
        <p:spPr>
          <a:xfrm>
            <a:off x="381000" y="5108377"/>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8.	-250				-250</a:t>
            </a:r>
            <a:endParaRPr b="1" sz="1400">
              <a:solidFill>
                <a:schemeClr val="dk1"/>
              </a:solidFill>
              <a:latin typeface="Arial"/>
              <a:ea typeface="Arial"/>
              <a:cs typeface="Arial"/>
              <a:sym typeface="Arial"/>
            </a:endParaRPr>
          </a:p>
        </p:txBody>
      </p:sp>
      <p:sp>
        <p:nvSpPr>
          <p:cNvPr id="1125" name="Google Shape;1125;p37"/>
          <p:cNvSpPr txBox="1"/>
          <p:nvPr/>
        </p:nvSpPr>
        <p:spPr>
          <a:xfrm>
            <a:off x="381000" y="5413177"/>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9.	+600	-600</a:t>
            </a:r>
            <a:endParaRPr b="1" sz="1400">
              <a:solidFill>
                <a:schemeClr val="dk1"/>
              </a:solidFill>
              <a:latin typeface="Arial"/>
              <a:ea typeface="Arial"/>
              <a:cs typeface="Arial"/>
              <a:sym typeface="Arial"/>
            </a:endParaRPr>
          </a:p>
        </p:txBody>
      </p:sp>
      <p:sp>
        <p:nvSpPr>
          <p:cNvPr id="1126" name="Google Shape;1126;p37"/>
          <p:cNvSpPr txBox="1"/>
          <p:nvPr/>
        </p:nvSpPr>
        <p:spPr>
          <a:xfrm>
            <a:off x="381000" y="5717977"/>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10.	-1,300								-1,300</a:t>
            </a:r>
            <a:endParaRPr b="1" sz="1400">
              <a:solidFill>
                <a:schemeClr val="dk1"/>
              </a:solidFill>
              <a:latin typeface="Arial"/>
              <a:ea typeface="Arial"/>
              <a:cs typeface="Arial"/>
              <a:sym typeface="Arial"/>
            </a:endParaRPr>
          </a:p>
        </p:txBody>
      </p:sp>
      <p:sp>
        <p:nvSpPr>
          <p:cNvPr id="1127" name="Google Shape;1127;p37"/>
          <p:cNvSpPr txBox="1"/>
          <p:nvPr/>
        </p:nvSpPr>
        <p:spPr>
          <a:xfrm>
            <a:off x="228600" y="1905000"/>
            <a:ext cx="7620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Trans-</a:t>
            </a:r>
            <a:endParaRPr/>
          </a:p>
          <a:p>
            <a:pPr indent="0" lvl="0" marL="0" marR="0" rtl="0" algn="ctr">
              <a:spcBef>
                <a:spcPts val="0"/>
              </a:spcBef>
              <a:spcAft>
                <a:spcPts val="0"/>
              </a:spcAft>
              <a:buNone/>
            </a:pPr>
            <a:r>
              <a:rPr b="1" lang="en-US" sz="1200">
                <a:solidFill>
                  <a:schemeClr val="dk1"/>
                </a:solidFill>
                <a:latin typeface="Arial"/>
                <a:ea typeface="Arial"/>
                <a:cs typeface="Arial"/>
                <a:sym typeface="Arial"/>
              </a:rPr>
              <a:t>action</a:t>
            </a:r>
            <a:endParaRPr/>
          </a:p>
        </p:txBody>
      </p:sp>
      <p:sp>
        <p:nvSpPr>
          <p:cNvPr id="1128" name="Google Shape;1128;p37"/>
          <p:cNvSpPr txBox="1"/>
          <p:nvPr/>
        </p:nvSpPr>
        <p:spPr>
          <a:xfrm>
            <a:off x="914400" y="1905000"/>
            <a:ext cx="7620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300">
                <a:solidFill>
                  <a:schemeClr val="dk1"/>
                </a:solidFill>
                <a:latin typeface="Arial"/>
                <a:ea typeface="Arial"/>
                <a:cs typeface="Arial"/>
                <a:sym typeface="Arial"/>
              </a:rPr>
              <a:t>Cash   </a:t>
            </a:r>
            <a:endParaRPr b="1" sz="1300">
              <a:solidFill>
                <a:schemeClr val="dk1"/>
              </a:solidFill>
              <a:latin typeface="Arial"/>
              <a:ea typeface="Arial"/>
              <a:cs typeface="Arial"/>
              <a:sym typeface="Arial"/>
            </a:endParaRPr>
          </a:p>
        </p:txBody>
      </p:sp>
      <p:sp>
        <p:nvSpPr>
          <p:cNvPr id="1129" name="Google Shape;1129;p37"/>
          <p:cNvSpPr txBox="1"/>
          <p:nvPr/>
        </p:nvSpPr>
        <p:spPr>
          <a:xfrm>
            <a:off x="1752600" y="1905000"/>
            <a:ext cx="914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Accounts</a:t>
            </a:r>
            <a:endParaRPr/>
          </a:p>
          <a:p>
            <a:pPr indent="0" lvl="0" marL="0" marR="0" rtl="0" algn="ctr">
              <a:spcBef>
                <a:spcPts val="0"/>
              </a:spcBef>
              <a:spcAft>
                <a:spcPts val="0"/>
              </a:spcAft>
              <a:buNone/>
            </a:pPr>
            <a:r>
              <a:rPr b="1" lang="en-US" sz="1200">
                <a:solidFill>
                  <a:schemeClr val="dk1"/>
                </a:solidFill>
                <a:latin typeface="Arial"/>
                <a:ea typeface="Arial"/>
                <a:cs typeface="Arial"/>
                <a:sym typeface="Arial"/>
              </a:rPr>
              <a:t>Receivable</a:t>
            </a:r>
            <a:endParaRPr/>
          </a:p>
        </p:txBody>
      </p:sp>
      <p:sp>
        <p:nvSpPr>
          <p:cNvPr id="1130" name="Google Shape;1130;p37"/>
          <p:cNvSpPr txBox="1"/>
          <p:nvPr/>
        </p:nvSpPr>
        <p:spPr>
          <a:xfrm>
            <a:off x="2857500" y="1905000"/>
            <a:ext cx="800100" cy="523220"/>
          </a:xfrm>
          <a:prstGeom prst="rect">
            <a:avLst/>
          </a:prstGeom>
          <a:noFill/>
          <a:ln>
            <a:noFill/>
          </a:ln>
        </p:spPr>
        <p:txBody>
          <a:bodyPr anchorCtr="0" anchor="ctr" bIns="45700" lIns="0"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Supplies</a:t>
            </a:r>
            <a:endParaRPr b="1" sz="1200">
              <a:solidFill>
                <a:schemeClr val="dk1"/>
              </a:solidFill>
              <a:latin typeface="Arial"/>
              <a:ea typeface="Arial"/>
              <a:cs typeface="Arial"/>
              <a:sym typeface="Arial"/>
            </a:endParaRPr>
          </a:p>
        </p:txBody>
      </p:sp>
      <p:sp>
        <p:nvSpPr>
          <p:cNvPr id="1131" name="Google Shape;1131;p37"/>
          <p:cNvSpPr txBox="1"/>
          <p:nvPr/>
        </p:nvSpPr>
        <p:spPr>
          <a:xfrm>
            <a:off x="3657600" y="1905000"/>
            <a:ext cx="9906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Equipment</a:t>
            </a:r>
            <a:endParaRPr b="1" sz="1200">
              <a:solidFill>
                <a:schemeClr val="dk1"/>
              </a:solidFill>
              <a:latin typeface="Arial"/>
              <a:ea typeface="Arial"/>
              <a:cs typeface="Arial"/>
              <a:sym typeface="Arial"/>
            </a:endParaRPr>
          </a:p>
        </p:txBody>
      </p:sp>
      <p:sp>
        <p:nvSpPr>
          <p:cNvPr id="1132" name="Google Shape;1132;p37"/>
          <p:cNvSpPr txBox="1"/>
          <p:nvPr/>
        </p:nvSpPr>
        <p:spPr>
          <a:xfrm>
            <a:off x="4648200" y="1905000"/>
            <a:ext cx="9906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Accounts</a:t>
            </a:r>
            <a:endParaRPr/>
          </a:p>
          <a:p>
            <a:pPr indent="0" lvl="0" marL="0" marR="0" rtl="0" algn="ctr">
              <a:spcBef>
                <a:spcPts val="0"/>
              </a:spcBef>
              <a:spcAft>
                <a:spcPts val="0"/>
              </a:spcAft>
              <a:buNone/>
            </a:pPr>
            <a:r>
              <a:rPr b="1" lang="en-US" sz="1200">
                <a:solidFill>
                  <a:schemeClr val="dk1"/>
                </a:solidFill>
                <a:latin typeface="Arial"/>
                <a:ea typeface="Arial"/>
                <a:cs typeface="Arial"/>
                <a:sym typeface="Arial"/>
              </a:rPr>
              <a:t>Payable</a:t>
            </a:r>
            <a:endParaRPr/>
          </a:p>
        </p:txBody>
      </p:sp>
      <p:cxnSp>
        <p:nvCxnSpPr>
          <p:cNvPr id="1133" name="Google Shape;1133;p37"/>
          <p:cNvCxnSpPr/>
          <p:nvPr/>
        </p:nvCxnSpPr>
        <p:spPr>
          <a:xfrm>
            <a:off x="978408" y="24384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134" name="Google Shape;1134;p37"/>
          <p:cNvSpPr/>
          <p:nvPr/>
        </p:nvSpPr>
        <p:spPr>
          <a:xfrm>
            <a:off x="16764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135" name="Google Shape;1135;p37"/>
          <p:cNvSpPr/>
          <p:nvPr/>
        </p:nvSpPr>
        <p:spPr>
          <a:xfrm>
            <a:off x="27432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136" name="Google Shape;1136;p37"/>
          <p:cNvSpPr/>
          <p:nvPr/>
        </p:nvSpPr>
        <p:spPr>
          <a:xfrm>
            <a:off x="35814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137" name="Google Shape;1137;p37"/>
          <p:cNvSpPr/>
          <p:nvPr/>
        </p:nvSpPr>
        <p:spPr>
          <a:xfrm>
            <a:off x="46482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138" name="Google Shape;1138;p37"/>
          <p:cNvSpPr/>
          <p:nvPr/>
        </p:nvSpPr>
        <p:spPr>
          <a:xfrm>
            <a:off x="56388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139" name="Google Shape;1139;p37"/>
          <p:cNvSpPr/>
          <p:nvPr/>
        </p:nvSpPr>
        <p:spPr>
          <a:xfrm>
            <a:off x="65532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140" name="Google Shape;1140;p37"/>
          <p:cNvSpPr/>
          <p:nvPr/>
        </p:nvSpPr>
        <p:spPr>
          <a:xfrm>
            <a:off x="73152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141" name="Google Shape;1141;p37"/>
          <p:cNvSpPr/>
          <p:nvPr/>
        </p:nvSpPr>
        <p:spPr>
          <a:xfrm>
            <a:off x="8077200" y="2362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142" name="Google Shape;1142;p37"/>
          <p:cNvSpPr txBox="1"/>
          <p:nvPr/>
        </p:nvSpPr>
        <p:spPr>
          <a:xfrm>
            <a:off x="914399" y="1600200"/>
            <a:ext cx="7924801" cy="26161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Assets	= Liabilities +	Owner's Equity</a:t>
            </a:r>
            <a:endParaRPr b="1" sz="1400">
              <a:solidFill>
                <a:schemeClr val="dk1"/>
              </a:solidFill>
              <a:latin typeface="Arial"/>
              <a:ea typeface="Arial"/>
              <a:cs typeface="Arial"/>
              <a:sym typeface="Arial"/>
            </a:endParaRPr>
          </a:p>
        </p:txBody>
      </p:sp>
      <p:cxnSp>
        <p:nvCxnSpPr>
          <p:cNvPr id="1143" name="Google Shape;1143;p37"/>
          <p:cNvCxnSpPr/>
          <p:nvPr/>
        </p:nvCxnSpPr>
        <p:spPr>
          <a:xfrm>
            <a:off x="990600" y="19050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144" name="Google Shape;1144;p37"/>
          <p:cNvSpPr txBox="1"/>
          <p:nvPr/>
        </p:nvSpPr>
        <p:spPr>
          <a:xfrm>
            <a:off x="55626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1145" name="Google Shape;1145;p37"/>
          <p:cNvSpPr txBox="1"/>
          <p:nvPr/>
        </p:nvSpPr>
        <p:spPr>
          <a:xfrm>
            <a:off x="64770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1146" name="Google Shape;1146;p37"/>
          <p:cNvSpPr txBox="1"/>
          <p:nvPr/>
        </p:nvSpPr>
        <p:spPr>
          <a:xfrm>
            <a:off x="35814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1147" name="Google Shape;1147;p37"/>
          <p:cNvSpPr txBox="1"/>
          <p:nvPr/>
        </p:nvSpPr>
        <p:spPr>
          <a:xfrm>
            <a:off x="26670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1148" name="Google Shape;1148;p37"/>
          <p:cNvSpPr txBox="1"/>
          <p:nvPr/>
        </p:nvSpPr>
        <p:spPr>
          <a:xfrm>
            <a:off x="16002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1149" name="Google Shape;1149;p37"/>
          <p:cNvSpPr txBox="1"/>
          <p:nvPr/>
        </p:nvSpPr>
        <p:spPr>
          <a:xfrm>
            <a:off x="45720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1150" name="Google Shape;1150;p37"/>
          <p:cNvSpPr txBox="1"/>
          <p:nvPr/>
        </p:nvSpPr>
        <p:spPr>
          <a:xfrm>
            <a:off x="381000" y="2484567"/>
            <a:ext cx="8458201" cy="261610"/>
          </a:xfrm>
          <a:prstGeom prst="rect">
            <a:avLst/>
          </a:prstGeom>
          <a:noFill/>
          <a:ln>
            <a:noFill/>
          </a:ln>
        </p:spPr>
        <p:txBody>
          <a:bodyPr anchorCtr="0" anchor="t" bIns="45700" lIns="91425" spcFirstLastPara="1" rIns="91425" wrap="square" tIns="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1.	+15,000	+15,000</a:t>
            </a:r>
            <a:endParaRPr b="1" sz="1400">
              <a:solidFill>
                <a:schemeClr val="dk1"/>
              </a:solidFill>
              <a:latin typeface="Arial"/>
              <a:ea typeface="Arial"/>
              <a:cs typeface="Arial"/>
              <a:sym typeface="Arial"/>
            </a:endParaRPr>
          </a:p>
        </p:txBody>
      </p:sp>
      <p:sp>
        <p:nvSpPr>
          <p:cNvPr id="1151" name="Google Shape;1151;p37"/>
          <p:cNvSpPr txBox="1"/>
          <p:nvPr/>
        </p:nvSpPr>
        <p:spPr>
          <a:xfrm>
            <a:off x="381000" y="2746177"/>
            <a:ext cx="845820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2.	-7,000	+7,000</a:t>
            </a:r>
            <a:endParaRPr b="1" sz="1400">
              <a:solidFill>
                <a:schemeClr val="dk1"/>
              </a:solidFill>
              <a:latin typeface="Arial"/>
              <a:ea typeface="Arial"/>
              <a:cs typeface="Arial"/>
              <a:sym typeface="Arial"/>
            </a:endParaRPr>
          </a:p>
        </p:txBody>
      </p:sp>
      <p:cxnSp>
        <p:nvCxnSpPr>
          <p:cNvPr id="1152" name="Google Shape;1152;p37"/>
          <p:cNvCxnSpPr/>
          <p:nvPr/>
        </p:nvCxnSpPr>
        <p:spPr>
          <a:xfrm>
            <a:off x="990600" y="27461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1153" name="Google Shape;1153;p37"/>
          <p:cNvCxnSpPr/>
          <p:nvPr/>
        </p:nvCxnSpPr>
        <p:spPr>
          <a:xfrm>
            <a:off x="990600" y="30509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1154" name="Google Shape;1154;p37"/>
          <p:cNvCxnSpPr/>
          <p:nvPr/>
        </p:nvCxnSpPr>
        <p:spPr>
          <a:xfrm>
            <a:off x="990600" y="33557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1155" name="Google Shape;1155;p37"/>
          <p:cNvCxnSpPr/>
          <p:nvPr/>
        </p:nvCxnSpPr>
        <p:spPr>
          <a:xfrm>
            <a:off x="990600" y="36605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1156" name="Google Shape;1156;p37"/>
          <p:cNvCxnSpPr/>
          <p:nvPr/>
        </p:nvCxnSpPr>
        <p:spPr>
          <a:xfrm>
            <a:off x="990600" y="39653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1157" name="Google Shape;1157;p37"/>
          <p:cNvCxnSpPr/>
          <p:nvPr/>
        </p:nvCxnSpPr>
        <p:spPr>
          <a:xfrm>
            <a:off x="990600" y="42701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158" name="Google Shape;1158;p37"/>
          <p:cNvSpPr txBox="1"/>
          <p:nvPr/>
        </p:nvSpPr>
        <p:spPr>
          <a:xfrm>
            <a:off x="381000" y="3048000"/>
            <a:ext cx="845820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3.	+1,600	+1,600</a:t>
            </a:r>
            <a:endParaRPr b="1" sz="1400">
              <a:solidFill>
                <a:schemeClr val="dk1"/>
              </a:solidFill>
              <a:latin typeface="Arial"/>
              <a:ea typeface="Arial"/>
              <a:cs typeface="Arial"/>
              <a:sym typeface="Arial"/>
            </a:endParaRPr>
          </a:p>
        </p:txBody>
      </p:sp>
      <p:cxnSp>
        <p:nvCxnSpPr>
          <p:cNvPr id="1159" name="Google Shape;1159;p37"/>
          <p:cNvCxnSpPr/>
          <p:nvPr/>
        </p:nvCxnSpPr>
        <p:spPr>
          <a:xfrm>
            <a:off x="990600" y="5111354"/>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1160" name="Google Shape;1160;p37"/>
          <p:cNvCxnSpPr/>
          <p:nvPr/>
        </p:nvCxnSpPr>
        <p:spPr>
          <a:xfrm>
            <a:off x="990600" y="5416154"/>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1161" name="Google Shape;1161;p37"/>
          <p:cNvCxnSpPr/>
          <p:nvPr/>
        </p:nvCxnSpPr>
        <p:spPr>
          <a:xfrm>
            <a:off x="990600" y="5720954"/>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1162" name="Google Shape;1162;p37"/>
          <p:cNvCxnSpPr/>
          <p:nvPr/>
        </p:nvCxnSpPr>
        <p:spPr>
          <a:xfrm>
            <a:off x="990600" y="60227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163" name="Google Shape;1163;p37"/>
          <p:cNvSpPr/>
          <p:nvPr/>
        </p:nvSpPr>
        <p:spPr>
          <a:xfrm>
            <a:off x="16885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164" name="Google Shape;1164;p37"/>
          <p:cNvSpPr/>
          <p:nvPr/>
        </p:nvSpPr>
        <p:spPr>
          <a:xfrm>
            <a:off x="27553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165" name="Google Shape;1165;p37"/>
          <p:cNvSpPr/>
          <p:nvPr/>
        </p:nvSpPr>
        <p:spPr>
          <a:xfrm>
            <a:off x="35935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166" name="Google Shape;1166;p37"/>
          <p:cNvSpPr/>
          <p:nvPr/>
        </p:nvSpPr>
        <p:spPr>
          <a:xfrm>
            <a:off x="46603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167" name="Google Shape;1167;p37"/>
          <p:cNvSpPr/>
          <p:nvPr/>
        </p:nvSpPr>
        <p:spPr>
          <a:xfrm>
            <a:off x="56509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168" name="Google Shape;1168;p37"/>
          <p:cNvSpPr/>
          <p:nvPr/>
        </p:nvSpPr>
        <p:spPr>
          <a:xfrm>
            <a:off x="65653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169" name="Google Shape;1169;p37"/>
          <p:cNvSpPr/>
          <p:nvPr/>
        </p:nvSpPr>
        <p:spPr>
          <a:xfrm>
            <a:off x="73273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170" name="Google Shape;1170;p37"/>
          <p:cNvSpPr/>
          <p:nvPr/>
        </p:nvSpPr>
        <p:spPr>
          <a:xfrm>
            <a:off x="8089392" y="5946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cxnSp>
        <p:nvCxnSpPr>
          <p:cNvPr id="1171" name="Google Shape;1171;p37"/>
          <p:cNvCxnSpPr/>
          <p:nvPr/>
        </p:nvCxnSpPr>
        <p:spPr>
          <a:xfrm>
            <a:off x="990600" y="64037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172" name="Google Shape;1172;p37"/>
          <p:cNvSpPr/>
          <p:nvPr/>
        </p:nvSpPr>
        <p:spPr>
          <a:xfrm>
            <a:off x="16885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173" name="Google Shape;1173;p37"/>
          <p:cNvSpPr/>
          <p:nvPr/>
        </p:nvSpPr>
        <p:spPr>
          <a:xfrm>
            <a:off x="27553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174" name="Google Shape;1174;p37"/>
          <p:cNvSpPr/>
          <p:nvPr/>
        </p:nvSpPr>
        <p:spPr>
          <a:xfrm>
            <a:off x="35935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175" name="Google Shape;1175;p37"/>
          <p:cNvSpPr/>
          <p:nvPr/>
        </p:nvSpPr>
        <p:spPr>
          <a:xfrm>
            <a:off x="46603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176" name="Google Shape;1176;p37"/>
          <p:cNvSpPr/>
          <p:nvPr/>
        </p:nvSpPr>
        <p:spPr>
          <a:xfrm>
            <a:off x="56509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177" name="Google Shape;1177;p37"/>
          <p:cNvSpPr/>
          <p:nvPr/>
        </p:nvSpPr>
        <p:spPr>
          <a:xfrm>
            <a:off x="65653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178" name="Google Shape;1178;p37"/>
          <p:cNvSpPr/>
          <p:nvPr/>
        </p:nvSpPr>
        <p:spPr>
          <a:xfrm>
            <a:off x="73273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179" name="Google Shape;1179;p37"/>
          <p:cNvSpPr/>
          <p:nvPr/>
        </p:nvSpPr>
        <p:spPr>
          <a:xfrm>
            <a:off x="8089392" y="63275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cxnSp>
        <p:nvCxnSpPr>
          <p:cNvPr id="1180" name="Google Shape;1180;p37"/>
          <p:cNvCxnSpPr/>
          <p:nvPr/>
        </p:nvCxnSpPr>
        <p:spPr>
          <a:xfrm>
            <a:off x="990600" y="64799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181" name="Google Shape;1181;p37"/>
          <p:cNvSpPr/>
          <p:nvPr/>
        </p:nvSpPr>
        <p:spPr>
          <a:xfrm>
            <a:off x="16885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182" name="Google Shape;1182;p37"/>
          <p:cNvSpPr/>
          <p:nvPr/>
        </p:nvSpPr>
        <p:spPr>
          <a:xfrm>
            <a:off x="27553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183" name="Google Shape;1183;p37"/>
          <p:cNvSpPr/>
          <p:nvPr/>
        </p:nvSpPr>
        <p:spPr>
          <a:xfrm>
            <a:off x="35935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184" name="Google Shape;1184;p37"/>
          <p:cNvSpPr/>
          <p:nvPr/>
        </p:nvSpPr>
        <p:spPr>
          <a:xfrm>
            <a:off x="46603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185" name="Google Shape;1185;p37"/>
          <p:cNvSpPr/>
          <p:nvPr/>
        </p:nvSpPr>
        <p:spPr>
          <a:xfrm>
            <a:off x="56509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186" name="Google Shape;1186;p37"/>
          <p:cNvSpPr/>
          <p:nvPr/>
        </p:nvSpPr>
        <p:spPr>
          <a:xfrm>
            <a:off x="65653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187" name="Google Shape;1187;p37"/>
          <p:cNvSpPr/>
          <p:nvPr/>
        </p:nvSpPr>
        <p:spPr>
          <a:xfrm>
            <a:off x="73273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188" name="Google Shape;1188;p37"/>
          <p:cNvSpPr/>
          <p:nvPr/>
        </p:nvSpPr>
        <p:spPr>
          <a:xfrm>
            <a:off x="8089392" y="6403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189" name="Google Shape;1189;p37"/>
          <p:cNvSpPr txBox="1"/>
          <p:nvPr/>
        </p:nvSpPr>
        <p:spPr>
          <a:xfrm>
            <a:off x="381000" y="6062401"/>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$8,050	$1,400	$1,600	$7,000	$1,600	$15,000	$4,700	$1,950	$1,300</a:t>
            </a:r>
            <a:endParaRPr b="1" sz="1400">
              <a:solidFill>
                <a:schemeClr val="dk1"/>
              </a:solidFill>
              <a:latin typeface="Arial"/>
              <a:ea typeface="Arial"/>
              <a:cs typeface="Arial"/>
              <a:sym typeface="Arial"/>
            </a:endParaRPr>
          </a:p>
        </p:txBody>
      </p:sp>
      <p:sp>
        <p:nvSpPr>
          <p:cNvPr id="1190" name="Google Shape;1190;p37"/>
          <p:cNvSpPr txBox="1"/>
          <p:nvPr/>
        </p:nvSpPr>
        <p:spPr>
          <a:xfrm>
            <a:off x="56388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1191" name="Google Shape;1191;p37"/>
          <p:cNvSpPr txBox="1"/>
          <p:nvPr/>
        </p:nvSpPr>
        <p:spPr>
          <a:xfrm>
            <a:off x="65532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1192" name="Google Shape;1192;p37"/>
          <p:cNvSpPr txBox="1"/>
          <p:nvPr/>
        </p:nvSpPr>
        <p:spPr>
          <a:xfrm>
            <a:off x="35814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1193" name="Google Shape;1193;p37"/>
          <p:cNvSpPr txBox="1"/>
          <p:nvPr/>
        </p:nvSpPr>
        <p:spPr>
          <a:xfrm>
            <a:off x="27432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1194" name="Google Shape;1194;p37"/>
          <p:cNvSpPr txBox="1"/>
          <p:nvPr/>
        </p:nvSpPr>
        <p:spPr>
          <a:xfrm>
            <a:off x="16764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1195" name="Google Shape;1195;p37"/>
          <p:cNvSpPr txBox="1"/>
          <p:nvPr/>
        </p:nvSpPr>
        <p:spPr>
          <a:xfrm>
            <a:off x="4648200" y="59567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1196" name="Google Shape;1196;p37"/>
          <p:cNvSpPr txBox="1"/>
          <p:nvPr/>
        </p:nvSpPr>
        <p:spPr>
          <a:xfrm>
            <a:off x="7315200" y="5946577"/>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1197" name="Google Shape;1197;p37"/>
          <p:cNvSpPr txBox="1"/>
          <p:nvPr/>
        </p:nvSpPr>
        <p:spPr>
          <a:xfrm>
            <a:off x="8077200" y="5946577"/>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1198" name="Google Shape;1198;p37"/>
          <p:cNvSpPr/>
          <p:nvPr/>
        </p:nvSpPr>
        <p:spPr>
          <a:xfrm>
            <a:off x="381000" y="5791200"/>
            <a:ext cx="8610600" cy="417611"/>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199" name="Google Shape;1199;p37"/>
          <p:cNvSpPr/>
          <p:nvPr/>
        </p:nvSpPr>
        <p:spPr>
          <a:xfrm>
            <a:off x="762000" y="6025754"/>
            <a:ext cx="8229600" cy="527446"/>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200" name="Google Shape;1200;p37"/>
          <p:cNvSpPr txBox="1"/>
          <p:nvPr/>
        </p:nvSpPr>
        <p:spPr>
          <a:xfrm>
            <a:off x="533400" y="381000"/>
            <a:ext cx="8001000" cy="1101071"/>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900"/>
              <a:buFont typeface="Arial"/>
              <a:buNone/>
            </a:pPr>
            <a:r>
              <a:rPr b="1" lang="en-US" sz="1900">
                <a:solidFill>
                  <a:schemeClr val="dk1"/>
                </a:solidFill>
                <a:latin typeface="Arial"/>
                <a:ea typeface="Arial"/>
                <a:cs typeface="Arial"/>
                <a:sym typeface="Arial"/>
              </a:rPr>
              <a:t>TRANSACTION 9. RECEIPT OF CASH ON ACCOUNT  </a:t>
            </a:r>
            <a:r>
              <a:rPr b="0" lang="en-US" sz="1900">
                <a:solidFill>
                  <a:schemeClr val="dk1"/>
                </a:solidFill>
                <a:latin typeface="Arial"/>
                <a:ea typeface="Arial"/>
                <a:cs typeface="Arial"/>
                <a:sym typeface="Arial"/>
              </a:rPr>
              <a:t>Softbyte Inc. </a:t>
            </a:r>
            <a:r>
              <a:rPr b="1" lang="en-US" sz="1900">
                <a:solidFill>
                  <a:schemeClr val="dk1"/>
                </a:solidFill>
                <a:latin typeface="Arial"/>
                <a:ea typeface="Arial"/>
                <a:cs typeface="Arial"/>
                <a:sym typeface="Arial"/>
              </a:rPr>
              <a:t>receives $600 in cash </a:t>
            </a:r>
            <a:r>
              <a:rPr b="0" lang="en-US" sz="1900">
                <a:solidFill>
                  <a:schemeClr val="dk1"/>
                </a:solidFill>
                <a:latin typeface="Arial"/>
                <a:ea typeface="Arial"/>
                <a:cs typeface="Arial"/>
                <a:sym typeface="Arial"/>
              </a:rPr>
              <a:t>from customers who had been billed for services (in Transaction 6).</a:t>
            </a:r>
            <a:endParaRPr b="0" sz="1900">
              <a:solidFill>
                <a:schemeClr val="dk1"/>
              </a:solidFill>
              <a:latin typeface="Arial"/>
              <a:ea typeface="Arial"/>
              <a:cs typeface="Arial"/>
              <a:sym typeface="Arial"/>
            </a:endParaRPr>
          </a:p>
        </p:txBody>
      </p:sp>
      <p:sp>
        <p:nvSpPr>
          <p:cNvPr id="1201" name="Google Shape;1201;p37"/>
          <p:cNvSpPr/>
          <p:nvPr/>
        </p:nvSpPr>
        <p:spPr>
          <a:xfrm>
            <a:off x="7620000" y="1219200"/>
            <a:ext cx="1295400" cy="274638"/>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Clr>
                <a:schemeClr val="dk1"/>
              </a:buClr>
              <a:buSzPts val="1200"/>
              <a:buFont typeface="Noto Sans Symbols"/>
              <a:buNone/>
            </a:pPr>
            <a:r>
              <a:rPr b="1" lang="en-US" sz="1200">
                <a:solidFill>
                  <a:schemeClr val="dk1"/>
                </a:solidFill>
                <a:latin typeface="Arial"/>
                <a:ea typeface="Arial"/>
                <a:cs typeface="Arial"/>
                <a:sym typeface="Arial"/>
              </a:rPr>
              <a:t>Illustration 1-8</a:t>
            </a:r>
            <a:endParaRPr b="0" sz="1200">
              <a:solidFill>
                <a:schemeClr val="dk1"/>
              </a:solidFill>
              <a:latin typeface="Arial"/>
              <a:ea typeface="Arial"/>
              <a:cs typeface="Arial"/>
              <a:sym typeface="Arial"/>
            </a:endParaRPr>
          </a:p>
        </p:txBody>
      </p:sp>
      <p:sp>
        <p:nvSpPr>
          <p:cNvPr id="1202" name="Google Shape;1202;p37"/>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4 </a:t>
            </a:r>
            <a:endParaRPr b="1" i="1" sz="1600">
              <a:solidFill>
                <a:schemeClr val="lt2"/>
              </a:solidFill>
              <a:latin typeface="Arial"/>
              <a:ea typeface="Arial"/>
              <a:cs typeface="Arial"/>
              <a:sym typeface="Arial"/>
            </a:endParaRPr>
          </a:p>
        </p:txBody>
      </p:sp>
      <p:sp>
        <p:nvSpPr>
          <p:cNvPr id="1203" name="Google Shape;1203;p37"/>
          <p:cNvSpPr txBox="1"/>
          <p:nvPr/>
        </p:nvSpPr>
        <p:spPr>
          <a:xfrm>
            <a:off x="5638800" y="1905000"/>
            <a:ext cx="9144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Owner's Capital</a:t>
            </a:r>
            <a:endParaRPr b="1" sz="1200">
              <a:solidFill>
                <a:schemeClr val="dk1"/>
              </a:solidFill>
              <a:latin typeface="Arial"/>
              <a:ea typeface="Arial"/>
              <a:cs typeface="Arial"/>
              <a:sym typeface="Arial"/>
            </a:endParaRPr>
          </a:p>
        </p:txBody>
      </p:sp>
      <p:sp>
        <p:nvSpPr>
          <p:cNvPr id="1204" name="Google Shape;1204;p37"/>
          <p:cNvSpPr txBox="1"/>
          <p:nvPr/>
        </p:nvSpPr>
        <p:spPr>
          <a:xfrm>
            <a:off x="6553200" y="1905000"/>
            <a:ext cx="9144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Owner's Drawings</a:t>
            </a:r>
            <a:endParaRPr b="1" sz="1200">
              <a:solidFill>
                <a:schemeClr val="dk1"/>
              </a:solidFill>
              <a:latin typeface="Arial"/>
              <a:ea typeface="Arial"/>
              <a:cs typeface="Arial"/>
              <a:sym typeface="Arial"/>
            </a:endParaRPr>
          </a:p>
        </p:txBody>
      </p:sp>
      <p:sp>
        <p:nvSpPr>
          <p:cNvPr id="1205" name="Google Shape;1205;p37"/>
          <p:cNvSpPr txBox="1"/>
          <p:nvPr/>
        </p:nvSpPr>
        <p:spPr>
          <a:xfrm>
            <a:off x="7467600" y="1905000"/>
            <a:ext cx="6096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Rev.</a:t>
            </a:r>
            <a:endParaRPr b="1" sz="1200">
              <a:solidFill>
                <a:schemeClr val="dk1"/>
              </a:solidFill>
              <a:latin typeface="Arial"/>
              <a:ea typeface="Arial"/>
              <a:cs typeface="Arial"/>
              <a:sym typeface="Arial"/>
            </a:endParaRPr>
          </a:p>
        </p:txBody>
      </p:sp>
      <p:sp>
        <p:nvSpPr>
          <p:cNvPr id="1206" name="Google Shape;1206;p37"/>
          <p:cNvSpPr txBox="1"/>
          <p:nvPr/>
        </p:nvSpPr>
        <p:spPr>
          <a:xfrm>
            <a:off x="8153400" y="1905000"/>
            <a:ext cx="6096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Exp.</a:t>
            </a:r>
            <a:endParaRPr b="1" sz="1200">
              <a:solidFill>
                <a:schemeClr val="dk1"/>
              </a:solidFill>
              <a:latin typeface="Arial"/>
              <a:ea typeface="Arial"/>
              <a:cs typeface="Arial"/>
              <a:sym typeface="Arial"/>
            </a:endParaRPr>
          </a:p>
        </p:txBody>
      </p:sp>
      <p:sp>
        <p:nvSpPr>
          <p:cNvPr id="1207" name="Google Shape;1207;p37"/>
          <p:cNvSpPr txBox="1"/>
          <p:nvPr/>
        </p:nvSpPr>
        <p:spPr>
          <a:xfrm>
            <a:off x="73914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1208" name="Google Shape;1208;p37"/>
          <p:cNvSpPr txBox="1"/>
          <p:nvPr/>
        </p:nvSpPr>
        <p:spPr>
          <a:xfrm>
            <a:off x="8077200" y="19050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1209" name="Google Shape;1209;p37"/>
          <p:cNvSpPr txBox="1"/>
          <p:nvPr/>
        </p:nvSpPr>
        <p:spPr>
          <a:xfrm>
            <a:off x="381000" y="3352800"/>
            <a:ext cx="845820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4.	+1,200		+1,200	</a:t>
            </a:r>
            <a:endParaRPr b="1" sz="1400">
              <a:solidFill>
                <a:srgbClr val="730000"/>
              </a:solidFill>
              <a:latin typeface="Arial"/>
              <a:ea typeface="Arial"/>
              <a:cs typeface="Arial"/>
              <a:sym typeface="Arial"/>
            </a:endParaRPr>
          </a:p>
        </p:txBody>
      </p:sp>
      <p:sp>
        <p:nvSpPr>
          <p:cNvPr id="1210" name="Google Shape;1210;p37"/>
          <p:cNvSpPr txBox="1"/>
          <p:nvPr/>
        </p:nvSpPr>
        <p:spPr>
          <a:xfrm>
            <a:off x="381000" y="4289792"/>
            <a:ext cx="8610600" cy="815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7.	-1,700									-600</a:t>
            </a:r>
            <a:endParaRPr b="1" sz="1200">
              <a:solidFill>
                <a:srgbClr val="730000"/>
              </a:solidFill>
              <a:latin typeface="Arial"/>
              <a:ea typeface="Arial"/>
              <a:cs typeface="Arial"/>
              <a:sym typeface="Arial"/>
            </a:endParaRPr>
          </a:p>
          <a:p>
            <a:pPr indent="0" lvl="0" marL="0" marR="0" rtl="0" algn="l">
              <a:spcBef>
                <a:spcPts val="300"/>
              </a:spcBef>
              <a:spcAft>
                <a:spcPts val="0"/>
              </a:spcAft>
              <a:buNone/>
            </a:pPr>
            <a:r>
              <a:rPr b="1" lang="en-US" sz="1400">
                <a:solidFill>
                  <a:schemeClr val="dk1"/>
                </a:solidFill>
                <a:latin typeface="Arial"/>
                <a:ea typeface="Arial"/>
                <a:cs typeface="Arial"/>
                <a:sym typeface="Arial"/>
              </a:rPr>
              <a:t>											-900</a:t>
            </a:r>
            <a:endParaRPr b="1" sz="1200">
              <a:solidFill>
                <a:srgbClr val="730000"/>
              </a:solidFill>
              <a:latin typeface="Arial"/>
              <a:ea typeface="Arial"/>
              <a:cs typeface="Arial"/>
              <a:sym typeface="Arial"/>
            </a:endParaRPr>
          </a:p>
          <a:p>
            <a:pPr indent="0" lvl="0" marL="0" marR="0" rtl="0" algn="l">
              <a:spcBef>
                <a:spcPts val="300"/>
              </a:spcBef>
              <a:spcAft>
                <a:spcPts val="0"/>
              </a:spcAft>
              <a:buNone/>
            </a:pPr>
            <a:r>
              <a:rPr b="1" lang="en-US" sz="1400">
                <a:solidFill>
                  <a:schemeClr val="dk1"/>
                </a:solidFill>
                <a:latin typeface="Arial"/>
                <a:ea typeface="Arial"/>
                <a:cs typeface="Arial"/>
                <a:sym typeface="Arial"/>
              </a:rPr>
              <a:t>											-200</a:t>
            </a:r>
            <a:endParaRPr b="1" sz="1200">
              <a:solidFill>
                <a:srgbClr val="730000"/>
              </a:solidFill>
              <a:latin typeface="Arial"/>
              <a:ea typeface="Arial"/>
              <a:cs typeface="Arial"/>
              <a:sym typeface="Arial"/>
            </a:endParaRPr>
          </a:p>
        </p:txBody>
      </p:sp>
      <p:sp>
        <p:nvSpPr>
          <p:cNvPr id="1211" name="Google Shape;1211;p37"/>
          <p:cNvSpPr txBox="1"/>
          <p:nvPr/>
        </p:nvSpPr>
        <p:spPr>
          <a:xfrm>
            <a:off x="381000" y="3984992"/>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6.	+1,500	+2,000						+3,500		</a:t>
            </a:r>
            <a:endParaRPr b="1" sz="1400">
              <a:solidFill>
                <a:srgbClr val="730000"/>
              </a:solidFill>
              <a:latin typeface="Arial"/>
              <a:ea typeface="Arial"/>
              <a:cs typeface="Arial"/>
              <a:sym typeface="Arial"/>
            </a:endParaRPr>
          </a:p>
        </p:txBody>
      </p:sp>
      <p:sp>
        <p:nvSpPr>
          <p:cNvPr id="1212" name="Google Shape;1212;p37"/>
          <p:cNvSpPr txBox="1"/>
          <p:nvPr/>
        </p:nvSpPr>
        <p:spPr>
          <a:xfrm>
            <a:off x="381000" y="3680192"/>
            <a:ext cx="87630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5.					+250					-250</a:t>
            </a:r>
            <a:endParaRPr b="1" sz="1200">
              <a:solidFill>
                <a:srgbClr val="730000"/>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5"/>
                                        </p:tgtEl>
                                        <p:attrNameLst>
                                          <p:attrName>style.visibility</p:attrName>
                                        </p:attrNameLst>
                                      </p:cBhvr>
                                      <p:to>
                                        <p:strVal val="visible"/>
                                      </p:to>
                                    </p:set>
                                    <p:animEffect filter="fade" transition="in">
                                      <p:cBhvr>
                                        <p:cTn dur="500"/>
                                        <p:tgtEl>
                                          <p:spTgt spid="11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6" name="Shape 1216"/>
        <p:cNvGrpSpPr/>
        <p:nvPr/>
      </p:nvGrpSpPr>
      <p:grpSpPr>
        <a:xfrm>
          <a:off x="0" y="0"/>
          <a:ext cx="0" cy="0"/>
          <a:chOff x="0" y="0"/>
          <a:chExt cx="0" cy="0"/>
        </a:xfrm>
      </p:grpSpPr>
      <p:sp>
        <p:nvSpPr>
          <p:cNvPr id="1217" name="Google Shape;1217;p38"/>
          <p:cNvSpPr txBox="1"/>
          <p:nvPr/>
        </p:nvSpPr>
        <p:spPr>
          <a:xfrm>
            <a:off x="381000" y="4803577"/>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8.	-250				-250</a:t>
            </a:r>
            <a:endParaRPr b="1" sz="1400">
              <a:solidFill>
                <a:schemeClr val="dk1"/>
              </a:solidFill>
              <a:latin typeface="Arial"/>
              <a:ea typeface="Arial"/>
              <a:cs typeface="Arial"/>
              <a:sym typeface="Arial"/>
            </a:endParaRPr>
          </a:p>
        </p:txBody>
      </p:sp>
      <p:sp>
        <p:nvSpPr>
          <p:cNvPr id="1218" name="Google Shape;1218;p38"/>
          <p:cNvSpPr txBox="1"/>
          <p:nvPr/>
        </p:nvSpPr>
        <p:spPr>
          <a:xfrm>
            <a:off x="381000" y="5108377"/>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9.	+600	-600</a:t>
            </a:r>
            <a:endParaRPr b="1" sz="1400">
              <a:solidFill>
                <a:schemeClr val="dk1"/>
              </a:solidFill>
              <a:latin typeface="Arial"/>
              <a:ea typeface="Arial"/>
              <a:cs typeface="Arial"/>
              <a:sym typeface="Arial"/>
            </a:endParaRPr>
          </a:p>
        </p:txBody>
      </p:sp>
      <p:sp>
        <p:nvSpPr>
          <p:cNvPr id="1219" name="Google Shape;1219;p38"/>
          <p:cNvSpPr txBox="1"/>
          <p:nvPr/>
        </p:nvSpPr>
        <p:spPr>
          <a:xfrm>
            <a:off x="381000" y="5413177"/>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10.	-1,300						-1,300</a:t>
            </a:r>
            <a:endParaRPr b="1" sz="1400">
              <a:solidFill>
                <a:schemeClr val="dk1"/>
              </a:solidFill>
              <a:latin typeface="Arial"/>
              <a:ea typeface="Arial"/>
              <a:cs typeface="Arial"/>
              <a:sym typeface="Arial"/>
            </a:endParaRPr>
          </a:p>
        </p:txBody>
      </p:sp>
      <p:sp>
        <p:nvSpPr>
          <p:cNvPr id="1220" name="Google Shape;1220;p38"/>
          <p:cNvSpPr txBox="1"/>
          <p:nvPr/>
        </p:nvSpPr>
        <p:spPr>
          <a:xfrm>
            <a:off x="228600" y="1600200"/>
            <a:ext cx="7620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Trans-</a:t>
            </a:r>
            <a:endParaRPr/>
          </a:p>
          <a:p>
            <a:pPr indent="0" lvl="0" marL="0" marR="0" rtl="0" algn="ctr">
              <a:spcBef>
                <a:spcPts val="0"/>
              </a:spcBef>
              <a:spcAft>
                <a:spcPts val="0"/>
              </a:spcAft>
              <a:buNone/>
            </a:pPr>
            <a:r>
              <a:rPr b="1" lang="en-US" sz="1200">
                <a:solidFill>
                  <a:schemeClr val="dk1"/>
                </a:solidFill>
                <a:latin typeface="Arial"/>
                <a:ea typeface="Arial"/>
                <a:cs typeface="Arial"/>
                <a:sym typeface="Arial"/>
              </a:rPr>
              <a:t>action</a:t>
            </a:r>
            <a:endParaRPr/>
          </a:p>
        </p:txBody>
      </p:sp>
      <p:sp>
        <p:nvSpPr>
          <p:cNvPr id="1221" name="Google Shape;1221;p38"/>
          <p:cNvSpPr txBox="1"/>
          <p:nvPr/>
        </p:nvSpPr>
        <p:spPr>
          <a:xfrm>
            <a:off x="914400" y="1600200"/>
            <a:ext cx="7620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300">
                <a:solidFill>
                  <a:schemeClr val="dk1"/>
                </a:solidFill>
                <a:latin typeface="Arial"/>
                <a:ea typeface="Arial"/>
                <a:cs typeface="Arial"/>
                <a:sym typeface="Arial"/>
              </a:rPr>
              <a:t>Cash   </a:t>
            </a:r>
            <a:endParaRPr b="1" sz="1300">
              <a:solidFill>
                <a:schemeClr val="dk1"/>
              </a:solidFill>
              <a:latin typeface="Arial"/>
              <a:ea typeface="Arial"/>
              <a:cs typeface="Arial"/>
              <a:sym typeface="Arial"/>
            </a:endParaRPr>
          </a:p>
        </p:txBody>
      </p:sp>
      <p:sp>
        <p:nvSpPr>
          <p:cNvPr id="1222" name="Google Shape;1222;p38"/>
          <p:cNvSpPr txBox="1"/>
          <p:nvPr/>
        </p:nvSpPr>
        <p:spPr>
          <a:xfrm>
            <a:off x="1752600" y="1600200"/>
            <a:ext cx="914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Accounts</a:t>
            </a:r>
            <a:endParaRPr/>
          </a:p>
          <a:p>
            <a:pPr indent="0" lvl="0" marL="0" marR="0" rtl="0" algn="ctr">
              <a:spcBef>
                <a:spcPts val="0"/>
              </a:spcBef>
              <a:spcAft>
                <a:spcPts val="0"/>
              </a:spcAft>
              <a:buNone/>
            </a:pPr>
            <a:r>
              <a:rPr b="1" lang="en-US" sz="1200">
                <a:solidFill>
                  <a:schemeClr val="dk1"/>
                </a:solidFill>
                <a:latin typeface="Arial"/>
                <a:ea typeface="Arial"/>
                <a:cs typeface="Arial"/>
                <a:sym typeface="Arial"/>
              </a:rPr>
              <a:t>Receivable</a:t>
            </a:r>
            <a:endParaRPr/>
          </a:p>
        </p:txBody>
      </p:sp>
      <p:sp>
        <p:nvSpPr>
          <p:cNvPr id="1223" name="Google Shape;1223;p38"/>
          <p:cNvSpPr txBox="1"/>
          <p:nvPr/>
        </p:nvSpPr>
        <p:spPr>
          <a:xfrm>
            <a:off x="2857500" y="1600200"/>
            <a:ext cx="800100" cy="523220"/>
          </a:xfrm>
          <a:prstGeom prst="rect">
            <a:avLst/>
          </a:prstGeom>
          <a:noFill/>
          <a:ln>
            <a:noFill/>
          </a:ln>
        </p:spPr>
        <p:txBody>
          <a:bodyPr anchorCtr="0" anchor="ctr" bIns="45700" lIns="0"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Supplies</a:t>
            </a:r>
            <a:endParaRPr b="1" sz="1200">
              <a:solidFill>
                <a:schemeClr val="dk1"/>
              </a:solidFill>
              <a:latin typeface="Arial"/>
              <a:ea typeface="Arial"/>
              <a:cs typeface="Arial"/>
              <a:sym typeface="Arial"/>
            </a:endParaRPr>
          </a:p>
        </p:txBody>
      </p:sp>
      <p:sp>
        <p:nvSpPr>
          <p:cNvPr id="1224" name="Google Shape;1224;p38"/>
          <p:cNvSpPr txBox="1"/>
          <p:nvPr/>
        </p:nvSpPr>
        <p:spPr>
          <a:xfrm>
            <a:off x="3657600" y="1600200"/>
            <a:ext cx="9906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Equipment</a:t>
            </a:r>
            <a:endParaRPr b="1" sz="1200">
              <a:solidFill>
                <a:schemeClr val="dk1"/>
              </a:solidFill>
              <a:latin typeface="Arial"/>
              <a:ea typeface="Arial"/>
              <a:cs typeface="Arial"/>
              <a:sym typeface="Arial"/>
            </a:endParaRPr>
          </a:p>
        </p:txBody>
      </p:sp>
      <p:sp>
        <p:nvSpPr>
          <p:cNvPr id="1225" name="Google Shape;1225;p38"/>
          <p:cNvSpPr txBox="1"/>
          <p:nvPr/>
        </p:nvSpPr>
        <p:spPr>
          <a:xfrm>
            <a:off x="4648200" y="1600200"/>
            <a:ext cx="9906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Accounts</a:t>
            </a:r>
            <a:endParaRPr/>
          </a:p>
          <a:p>
            <a:pPr indent="0" lvl="0" marL="0" marR="0" rtl="0" algn="ctr">
              <a:spcBef>
                <a:spcPts val="0"/>
              </a:spcBef>
              <a:spcAft>
                <a:spcPts val="0"/>
              </a:spcAft>
              <a:buNone/>
            </a:pPr>
            <a:r>
              <a:rPr b="1" lang="en-US" sz="1200">
                <a:solidFill>
                  <a:schemeClr val="dk1"/>
                </a:solidFill>
                <a:latin typeface="Arial"/>
                <a:ea typeface="Arial"/>
                <a:cs typeface="Arial"/>
                <a:sym typeface="Arial"/>
              </a:rPr>
              <a:t>Payable</a:t>
            </a:r>
            <a:endParaRPr/>
          </a:p>
        </p:txBody>
      </p:sp>
      <p:cxnSp>
        <p:nvCxnSpPr>
          <p:cNvPr id="1226" name="Google Shape;1226;p38"/>
          <p:cNvCxnSpPr/>
          <p:nvPr/>
        </p:nvCxnSpPr>
        <p:spPr>
          <a:xfrm>
            <a:off x="978408" y="21336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227" name="Google Shape;1227;p38"/>
          <p:cNvSpPr/>
          <p:nvPr/>
        </p:nvSpPr>
        <p:spPr>
          <a:xfrm>
            <a:off x="1676400" y="20574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228" name="Google Shape;1228;p38"/>
          <p:cNvSpPr/>
          <p:nvPr/>
        </p:nvSpPr>
        <p:spPr>
          <a:xfrm>
            <a:off x="2743200" y="20574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229" name="Google Shape;1229;p38"/>
          <p:cNvSpPr/>
          <p:nvPr/>
        </p:nvSpPr>
        <p:spPr>
          <a:xfrm>
            <a:off x="3581400" y="20574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230" name="Google Shape;1230;p38"/>
          <p:cNvSpPr/>
          <p:nvPr/>
        </p:nvSpPr>
        <p:spPr>
          <a:xfrm>
            <a:off x="4648200" y="20574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231" name="Google Shape;1231;p38"/>
          <p:cNvSpPr/>
          <p:nvPr/>
        </p:nvSpPr>
        <p:spPr>
          <a:xfrm>
            <a:off x="5638800" y="20574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232" name="Google Shape;1232;p38"/>
          <p:cNvSpPr/>
          <p:nvPr/>
        </p:nvSpPr>
        <p:spPr>
          <a:xfrm>
            <a:off x="6553200" y="20574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233" name="Google Shape;1233;p38"/>
          <p:cNvSpPr/>
          <p:nvPr/>
        </p:nvSpPr>
        <p:spPr>
          <a:xfrm>
            <a:off x="7315200" y="20574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234" name="Google Shape;1234;p38"/>
          <p:cNvSpPr/>
          <p:nvPr/>
        </p:nvSpPr>
        <p:spPr>
          <a:xfrm>
            <a:off x="8077200" y="20574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235" name="Google Shape;1235;p38"/>
          <p:cNvSpPr txBox="1"/>
          <p:nvPr/>
        </p:nvSpPr>
        <p:spPr>
          <a:xfrm>
            <a:off x="914399" y="1295400"/>
            <a:ext cx="7924801" cy="26161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Assets	= Liabilities +	Owner's Equity</a:t>
            </a:r>
            <a:endParaRPr b="1" sz="1400">
              <a:solidFill>
                <a:schemeClr val="dk1"/>
              </a:solidFill>
              <a:latin typeface="Arial"/>
              <a:ea typeface="Arial"/>
              <a:cs typeface="Arial"/>
              <a:sym typeface="Arial"/>
            </a:endParaRPr>
          </a:p>
        </p:txBody>
      </p:sp>
      <p:cxnSp>
        <p:nvCxnSpPr>
          <p:cNvPr id="1236" name="Google Shape;1236;p38"/>
          <p:cNvCxnSpPr/>
          <p:nvPr/>
        </p:nvCxnSpPr>
        <p:spPr>
          <a:xfrm>
            <a:off x="990600" y="16002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237" name="Google Shape;1237;p38"/>
          <p:cNvSpPr txBox="1"/>
          <p:nvPr/>
        </p:nvSpPr>
        <p:spPr>
          <a:xfrm>
            <a:off x="5562600" y="16002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1238" name="Google Shape;1238;p38"/>
          <p:cNvSpPr txBox="1"/>
          <p:nvPr/>
        </p:nvSpPr>
        <p:spPr>
          <a:xfrm>
            <a:off x="6477000" y="16002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1239" name="Google Shape;1239;p38"/>
          <p:cNvSpPr txBox="1"/>
          <p:nvPr/>
        </p:nvSpPr>
        <p:spPr>
          <a:xfrm>
            <a:off x="3581400" y="16002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1240" name="Google Shape;1240;p38"/>
          <p:cNvSpPr txBox="1"/>
          <p:nvPr/>
        </p:nvSpPr>
        <p:spPr>
          <a:xfrm>
            <a:off x="2667000" y="16002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1241" name="Google Shape;1241;p38"/>
          <p:cNvSpPr txBox="1"/>
          <p:nvPr/>
        </p:nvSpPr>
        <p:spPr>
          <a:xfrm>
            <a:off x="1600200" y="16002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1242" name="Google Shape;1242;p38"/>
          <p:cNvSpPr txBox="1"/>
          <p:nvPr/>
        </p:nvSpPr>
        <p:spPr>
          <a:xfrm>
            <a:off x="4572000" y="16002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1243" name="Google Shape;1243;p38"/>
          <p:cNvSpPr txBox="1"/>
          <p:nvPr/>
        </p:nvSpPr>
        <p:spPr>
          <a:xfrm>
            <a:off x="381000" y="2179767"/>
            <a:ext cx="8458201" cy="261610"/>
          </a:xfrm>
          <a:prstGeom prst="rect">
            <a:avLst/>
          </a:prstGeom>
          <a:noFill/>
          <a:ln>
            <a:noFill/>
          </a:ln>
        </p:spPr>
        <p:txBody>
          <a:bodyPr anchorCtr="0" anchor="t" bIns="45700" lIns="91425" spcFirstLastPara="1" rIns="91425" wrap="square" tIns="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1.	+15,000	+15,000</a:t>
            </a:r>
            <a:endParaRPr b="1" sz="1400">
              <a:solidFill>
                <a:schemeClr val="dk1"/>
              </a:solidFill>
              <a:latin typeface="Arial"/>
              <a:ea typeface="Arial"/>
              <a:cs typeface="Arial"/>
              <a:sym typeface="Arial"/>
            </a:endParaRPr>
          </a:p>
        </p:txBody>
      </p:sp>
      <p:sp>
        <p:nvSpPr>
          <p:cNvPr id="1244" name="Google Shape;1244;p38"/>
          <p:cNvSpPr txBox="1"/>
          <p:nvPr/>
        </p:nvSpPr>
        <p:spPr>
          <a:xfrm>
            <a:off x="381000" y="2441377"/>
            <a:ext cx="845820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2.	-7,000	+7,000</a:t>
            </a:r>
            <a:endParaRPr b="1" sz="1400">
              <a:solidFill>
                <a:schemeClr val="dk1"/>
              </a:solidFill>
              <a:latin typeface="Arial"/>
              <a:ea typeface="Arial"/>
              <a:cs typeface="Arial"/>
              <a:sym typeface="Arial"/>
            </a:endParaRPr>
          </a:p>
        </p:txBody>
      </p:sp>
      <p:cxnSp>
        <p:nvCxnSpPr>
          <p:cNvPr id="1245" name="Google Shape;1245;p38"/>
          <p:cNvCxnSpPr/>
          <p:nvPr/>
        </p:nvCxnSpPr>
        <p:spPr>
          <a:xfrm>
            <a:off x="990600" y="24413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1246" name="Google Shape;1246;p38"/>
          <p:cNvCxnSpPr/>
          <p:nvPr/>
        </p:nvCxnSpPr>
        <p:spPr>
          <a:xfrm>
            <a:off x="990600" y="27461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1247" name="Google Shape;1247;p38"/>
          <p:cNvCxnSpPr/>
          <p:nvPr/>
        </p:nvCxnSpPr>
        <p:spPr>
          <a:xfrm>
            <a:off x="990600" y="30509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1248" name="Google Shape;1248;p38"/>
          <p:cNvCxnSpPr/>
          <p:nvPr/>
        </p:nvCxnSpPr>
        <p:spPr>
          <a:xfrm>
            <a:off x="990600" y="33557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1249" name="Google Shape;1249;p38"/>
          <p:cNvCxnSpPr/>
          <p:nvPr/>
        </p:nvCxnSpPr>
        <p:spPr>
          <a:xfrm>
            <a:off x="990600" y="36605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1250" name="Google Shape;1250;p38"/>
          <p:cNvCxnSpPr/>
          <p:nvPr/>
        </p:nvCxnSpPr>
        <p:spPr>
          <a:xfrm>
            <a:off x="990600" y="39653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251" name="Google Shape;1251;p38"/>
          <p:cNvSpPr txBox="1"/>
          <p:nvPr/>
        </p:nvSpPr>
        <p:spPr>
          <a:xfrm>
            <a:off x="381000" y="2743200"/>
            <a:ext cx="845820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3.	+1,600	+1,600</a:t>
            </a:r>
            <a:endParaRPr b="1" sz="1400">
              <a:solidFill>
                <a:schemeClr val="dk1"/>
              </a:solidFill>
              <a:latin typeface="Arial"/>
              <a:ea typeface="Arial"/>
              <a:cs typeface="Arial"/>
              <a:sym typeface="Arial"/>
            </a:endParaRPr>
          </a:p>
        </p:txBody>
      </p:sp>
      <p:cxnSp>
        <p:nvCxnSpPr>
          <p:cNvPr id="1252" name="Google Shape;1252;p38"/>
          <p:cNvCxnSpPr/>
          <p:nvPr/>
        </p:nvCxnSpPr>
        <p:spPr>
          <a:xfrm>
            <a:off x="990600" y="4806554"/>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1253" name="Google Shape;1253;p38"/>
          <p:cNvCxnSpPr/>
          <p:nvPr/>
        </p:nvCxnSpPr>
        <p:spPr>
          <a:xfrm>
            <a:off x="990600" y="5111354"/>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1254" name="Google Shape;1254;p38"/>
          <p:cNvCxnSpPr/>
          <p:nvPr/>
        </p:nvCxnSpPr>
        <p:spPr>
          <a:xfrm>
            <a:off x="990600" y="5416154"/>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cxnSp>
        <p:nvCxnSpPr>
          <p:cNvPr id="1255" name="Google Shape;1255;p38"/>
          <p:cNvCxnSpPr/>
          <p:nvPr/>
        </p:nvCxnSpPr>
        <p:spPr>
          <a:xfrm>
            <a:off x="990600" y="57179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256" name="Google Shape;1256;p38"/>
          <p:cNvSpPr/>
          <p:nvPr/>
        </p:nvSpPr>
        <p:spPr>
          <a:xfrm>
            <a:off x="1688592" y="5641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257" name="Google Shape;1257;p38"/>
          <p:cNvSpPr/>
          <p:nvPr/>
        </p:nvSpPr>
        <p:spPr>
          <a:xfrm>
            <a:off x="2755392" y="5641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258" name="Google Shape;1258;p38"/>
          <p:cNvSpPr/>
          <p:nvPr/>
        </p:nvSpPr>
        <p:spPr>
          <a:xfrm>
            <a:off x="3593592" y="5641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259" name="Google Shape;1259;p38"/>
          <p:cNvSpPr/>
          <p:nvPr/>
        </p:nvSpPr>
        <p:spPr>
          <a:xfrm>
            <a:off x="4660392" y="5641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260" name="Google Shape;1260;p38"/>
          <p:cNvSpPr/>
          <p:nvPr/>
        </p:nvSpPr>
        <p:spPr>
          <a:xfrm>
            <a:off x="5650992" y="5641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261" name="Google Shape;1261;p38"/>
          <p:cNvSpPr/>
          <p:nvPr/>
        </p:nvSpPr>
        <p:spPr>
          <a:xfrm>
            <a:off x="6565392" y="5641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262" name="Google Shape;1262;p38"/>
          <p:cNvSpPr/>
          <p:nvPr/>
        </p:nvSpPr>
        <p:spPr>
          <a:xfrm>
            <a:off x="7327392" y="5641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263" name="Google Shape;1263;p38"/>
          <p:cNvSpPr/>
          <p:nvPr/>
        </p:nvSpPr>
        <p:spPr>
          <a:xfrm>
            <a:off x="8089392" y="5641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cxnSp>
        <p:nvCxnSpPr>
          <p:cNvPr id="1264" name="Google Shape;1264;p38"/>
          <p:cNvCxnSpPr/>
          <p:nvPr/>
        </p:nvCxnSpPr>
        <p:spPr>
          <a:xfrm>
            <a:off x="990600" y="60989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265" name="Google Shape;1265;p38"/>
          <p:cNvSpPr/>
          <p:nvPr/>
        </p:nvSpPr>
        <p:spPr>
          <a:xfrm>
            <a:off x="1688592" y="6022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266" name="Google Shape;1266;p38"/>
          <p:cNvSpPr/>
          <p:nvPr/>
        </p:nvSpPr>
        <p:spPr>
          <a:xfrm>
            <a:off x="2755392" y="6022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267" name="Google Shape;1267;p38"/>
          <p:cNvSpPr/>
          <p:nvPr/>
        </p:nvSpPr>
        <p:spPr>
          <a:xfrm>
            <a:off x="3593592" y="6022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268" name="Google Shape;1268;p38"/>
          <p:cNvSpPr/>
          <p:nvPr/>
        </p:nvSpPr>
        <p:spPr>
          <a:xfrm>
            <a:off x="4660392" y="6022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269" name="Google Shape;1269;p38"/>
          <p:cNvSpPr/>
          <p:nvPr/>
        </p:nvSpPr>
        <p:spPr>
          <a:xfrm>
            <a:off x="5650992" y="6022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270" name="Google Shape;1270;p38"/>
          <p:cNvSpPr/>
          <p:nvPr/>
        </p:nvSpPr>
        <p:spPr>
          <a:xfrm>
            <a:off x="6565392" y="6022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271" name="Google Shape;1271;p38"/>
          <p:cNvSpPr/>
          <p:nvPr/>
        </p:nvSpPr>
        <p:spPr>
          <a:xfrm>
            <a:off x="7327392" y="6022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272" name="Google Shape;1272;p38"/>
          <p:cNvSpPr/>
          <p:nvPr/>
        </p:nvSpPr>
        <p:spPr>
          <a:xfrm>
            <a:off x="8089392" y="60227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cxnSp>
        <p:nvCxnSpPr>
          <p:cNvPr id="1273" name="Google Shape;1273;p38"/>
          <p:cNvCxnSpPr/>
          <p:nvPr/>
        </p:nvCxnSpPr>
        <p:spPr>
          <a:xfrm>
            <a:off x="990600" y="6175177"/>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274" name="Google Shape;1274;p38"/>
          <p:cNvSpPr/>
          <p:nvPr/>
        </p:nvSpPr>
        <p:spPr>
          <a:xfrm>
            <a:off x="1688592" y="60989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275" name="Google Shape;1275;p38"/>
          <p:cNvSpPr/>
          <p:nvPr/>
        </p:nvSpPr>
        <p:spPr>
          <a:xfrm>
            <a:off x="2755392" y="60989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276" name="Google Shape;1276;p38"/>
          <p:cNvSpPr/>
          <p:nvPr/>
        </p:nvSpPr>
        <p:spPr>
          <a:xfrm>
            <a:off x="3593592" y="60989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277" name="Google Shape;1277;p38"/>
          <p:cNvSpPr/>
          <p:nvPr/>
        </p:nvSpPr>
        <p:spPr>
          <a:xfrm>
            <a:off x="4660392" y="60989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278" name="Google Shape;1278;p38"/>
          <p:cNvSpPr/>
          <p:nvPr/>
        </p:nvSpPr>
        <p:spPr>
          <a:xfrm>
            <a:off x="5650992" y="60989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279" name="Google Shape;1279;p38"/>
          <p:cNvSpPr/>
          <p:nvPr/>
        </p:nvSpPr>
        <p:spPr>
          <a:xfrm>
            <a:off x="6565392" y="60989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280" name="Google Shape;1280;p38"/>
          <p:cNvSpPr/>
          <p:nvPr/>
        </p:nvSpPr>
        <p:spPr>
          <a:xfrm>
            <a:off x="7327392" y="60989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281" name="Google Shape;1281;p38"/>
          <p:cNvSpPr/>
          <p:nvPr/>
        </p:nvSpPr>
        <p:spPr>
          <a:xfrm>
            <a:off x="8089392" y="6098977"/>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282" name="Google Shape;1282;p38"/>
          <p:cNvSpPr txBox="1"/>
          <p:nvPr/>
        </p:nvSpPr>
        <p:spPr>
          <a:xfrm>
            <a:off x="381000" y="5757601"/>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$8,050	$1,400	$1,600	$7,000	$1,600	$15,000	$1,300	$4,700	$1,950</a:t>
            </a:r>
            <a:endParaRPr b="1" sz="1400">
              <a:solidFill>
                <a:schemeClr val="dk1"/>
              </a:solidFill>
              <a:latin typeface="Arial"/>
              <a:ea typeface="Arial"/>
              <a:cs typeface="Arial"/>
              <a:sym typeface="Arial"/>
            </a:endParaRPr>
          </a:p>
        </p:txBody>
      </p:sp>
      <p:sp>
        <p:nvSpPr>
          <p:cNvPr id="1283" name="Google Shape;1283;p38"/>
          <p:cNvSpPr txBox="1"/>
          <p:nvPr/>
        </p:nvSpPr>
        <p:spPr>
          <a:xfrm>
            <a:off x="5638800" y="56519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1284" name="Google Shape;1284;p38"/>
          <p:cNvSpPr txBox="1"/>
          <p:nvPr/>
        </p:nvSpPr>
        <p:spPr>
          <a:xfrm>
            <a:off x="6553200" y="56519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1285" name="Google Shape;1285;p38"/>
          <p:cNvSpPr txBox="1"/>
          <p:nvPr/>
        </p:nvSpPr>
        <p:spPr>
          <a:xfrm>
            <a:off x="3581400" y="56519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1286" name="Google Shape;1286;p38"/>
          <p:cNvSpPr txBox="1"/>
          <p:nvPr/>
        </p:nvSpPr>
        <p:spPr>
          <a:xfrm>
            <a:off x="2743200" y="56519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1287" name="Google Shape;1287;p38"/>
          <p:cNvSpPr txBox="1"/>
          <p:nvPr/>
        </p:nvSpPr>
        <p:spPr>
          <a:xfrm>
            <a:off x="1676400" y="56519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1288" name="Google Shape;1288;p38"/>
          <p:cNvSpPr txBox="1"/>
          <p:nvPr/>
        </p:nvSpPr>
        <p:spPr>
          <a:xfrm>
            <a:off x="4648200" y="5651957"/>
            <a:ext cx="152400" cy="523220"/>
          </a:xfrm>
          <a:prstGeom prst="rect">
            <a:avLst/>
          </a:prstGeom>
          <a:noFill/>
          <a:ln>
            <a:noFill/>
          </a:ln>
        </p:spPr>
        <p:txBody>
          <a:bodyPr anchorCtr="0" anchor="ctr" bIns="45700" lIns="0" spcFirstLastPara="1" rIns="0" wrap="square" tIns="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1289" name="Google Shape;1289;p38"/>
          <p:cNvSpPr txBox="1"/>
          <p:nvPr/>
        </p:nvSpPr>
        <p:spPr>
          <a:xfrm>
            <a:off x="7315200" y="5641777"/>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1290" name="Google Shape;1290;p38"/>
          <p:cNvSpPr txBox="1"/>
          <p:nvPr/>
        </p:nvSpPr>
        <p:spPr>
          <a:xfrm>
            <a:off x="8077200" y="5641777"/>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a:p>
        </p:txBody>
      </p:sp>
      <p:sp>
        <p:nvSpPr>
          <p:cNvPr id="1291" name="Google Shape;1291;p38"/>
          <p:cNvSpPr/>
          <p:nvPr/>
        </p:nvSpPr>
        <p:spPr>
          <a:xfrm>
            <a:off x="762000" y="5791200"/>
            <a:ext cx="8229600" cy="454222"/>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292" name="Google Shape;1292;p38"/>
          <p:cNvSpPr txBox="1"/>
          <p:nvPr/>
        </p:nvSpPr>
        <p:spPr>
          <a:xfrm>
            <a:off x="533400" y="381000"/>
            <a:ext cx="8153400" cy="764825"/>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900"/>
              <a:buFont typeface="Arial"/>
              <a:buNone/>
            </a:pPr>
            <a:r>
              <a:rPr b="1" lang="en-US" sz="1900">
                <a:solidFill>
                  <a:schemeClr val="dk1"/>
                </a:solidFill>
                <a:latin typeface="Arial"/>
                <a:ea typeface="Arial"/>
                <a:cs typeface="Arial"/>
                <a:sym typeface="Arial"/>
              </a:rPr>
              <a:t>TRANSACTION 10. WITHDRAWAL OF CASH BY OWNER  </a:t>
            </a:r>
            <a:r>
              <a:rPr b="0" lang="en-US" sz="1900">
                <a:solidFill>
                  <a:schemeClr val="dk1"/>
                </a:solidFill>
                <a:latin typeface="Arial"/>
                <a:ea typeface="Arial"/>
                <a:cs typeface="Arial"/>
                <a:sym typeface="Arial"/>
              </a:rPr>
              <a:t>Ray Neal withdraws </a:t>
            </a:r>
            <a:r>
              <a:rPr b="1" lang="en-US" sz="1900">
                <a:solidFill>
                  <a:schemeClr val="dk1"/>
                </a:solidFill>
                <a:latin typeface="Arial"/>
                <a:ea typeface="Arial"/>
                <a:cs typeface="Arial"/>
                <a:sym typeface="Arial"/>
              </a:rPr>
              <a:t>$1,300 in cash </a:t>
            </a:r>
            <a:r>
              <a:rPr b="0" lang="en-US" sz="1900">
                <a:solidFill>
                  <a:schemeClr val="dk1"/>
                </a:solidFill>
                <a:latin typeface="Arial"/>
                <a:ea typeface="Arial"/>
                <a:cs typeface="Arial"/>
                <a:sym typeface="Arial"/>
              </a:rPr>
              <a:t>in cash from the business for his personal use.</a:t>
            </a:r>
            <a:endParaRPr b="0" sz="1900">
              <a:solidFill>
                <a:schemeClr val="dk1"/>
              </a:solidFill>
              <a:latin typeface="Arial"/>
              <a:ea typeface="Arial"/>
              <a:cs typeface="Arial"/>
              <a:sym typeface="Arial"/>
            </a:endParaRPr>
          </a:p>
        </p:txBody>
      </p:sp>
      <p:sp>
        <p:nvSpPr>
          <p:cNvPr id="1293" name="Google Shape;1293;p38"/>
          <p:cNvSpPr/>
          <p:nvPr/>
        </p:nvSpPr>
        <p:spPr>
          <a:xfrm rot="-5400000">
            <a:off x="6697172" y="4199429"/>
            <a:ext cx="182974" cy="4128518"/>
          </a:xfrm>
          <a:prstGeom prst="leftBrace">
            <a:avLst>
              <a:gd fmla="val 8333" name="adj1"/>
              <a:gd fmla="val 50482" name="adj2"/>
            </a:avLst>
          </a:prstGeom>
          <a:noFill/>
          <a:ln cap="sq" cmpd="sng" w="28575">
            <a:solidFill>
              <a:srgbClr val="73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294" name="Google Shape;1294;p38"/>
          <p:cNvSpPr/>
          <p:nvPr/>
        </p:nvSpPr>
        <p:spPr>
          <a:xfrm rot="-5400000">
            <a:off x="2728675" y="4421932"/>
            <a:ext cx="182975" cy="3683510"/>
          </a:xfrm>
          <a:prstGeom prst="leftBrace">
            <a:avLst>
              <a:gd fmla="val 8333" name="adj1"/>
              <a:gd fmla="val 50482" name="adj2"/>
            </a:avLst>
          </a:prstGeom>
          <a:noFill/>
          <a:ln cap="sq" cmpd="sng" w="28575">
            <a:solidFill>
              <a:srgbClr val="73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295" name="Google Shape;1295;p38"/>
          <p:cNvSpPr txBox="1"/>
          <p:nvPr/>
        </p:nvSpPr>
        <p:spPr>
          <a:xfrm>
            <a:off x="2209800" y="6367046"/>
            <a:ext cx="1295400"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730000"/>
                </a:solidFill>
                <a:latin typeface="Arial"/>
                <a:ea typeface="Arial"/>
                <a:cs typeface="Arial"/>
                <a:sym typeface="Arial"/>
              </a:rPr>
              <a:t>$18,050</a:t>
            </a:r>
            <a:endParaRPr b="1" sz="1600">
              <a:solidFill>
                <a:srgbClr val="730000"/>
              </a:solidFill>
              <a:latin typeface="Arial"/>
              <a:ea typeface="Arial"/>
              <a:cs typeface="Arial"/>
              <a:sym typeface="Arial"/>
            </a:endParaRPr>
          </a:p>
        </p:txBody>
      </p:sp>
      <p:sp>
        <p:nvSpPr>
          <p:cNvPr id="1296" name="Google Shape;1296;p38"/>
          <p:cNvSpPr txBox="1"/>
          <p:nvPr/>
        </p:nvSpPr>
        <p:spPr>
          <a:xfrm>
            <a:off x="6096000" y="6367046"/>
            <a:ext cx="1371600"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730000"/>
                </a:solidFill>
                <a:latin typeface="Arial"/>
                <a:ea typeface="Arial"/>
                <a:cs typeface="Arial"/>
                <a:sym typeface="Arial"/>
              </a:rPr>
              <a:t>$18,050</a:t>
            </a:r>
            <a:endParaRPr b="1" sz="1600">
              <a:solidFill>
                <a:srgbClr val="730000"/>
              </a:solidFill>
              <a:latin typeface="Arial"/>
              <a:ea typeface="Arial"/>
              <a:cs typeface="Arial"/>
              <a:sym typeface="Arial"/>
            </a:endParaRPr>
          </a:p>
        </p:txBody>
      </p:sp>
      <p:sp>
        <p:nvSpPr>
          <p:cNvPr id="1297" name="Google Shape;1297;p38"/>
          <p:cNvSpPr/>
          <p:nvPr/>
        </p:nvSpPr>
        <p:spPr>
          <a:xfrm>
            <a:off x="228600" y="1219200"/>
            <a:ext cx="1295400" cy="274638"/>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Clr>
                <a:schemeClr val="dk1"/>
              </a:buClr>
              <a:buSzPts val="1200"/>
              <a:buFont typeface="Noto Sans Symbols"/>
              <a:buNone/>
            </a:pPr>
            <a:r>
              <a:rPr b="1" lang="en-US" sz="1200">
                <a:solidFill>
                  <a:schemeClr val="dk1"/>
                </a:solidFill>
                <a:latin typeface="Arial"/>
                <a:ea typeface="Arial"/>
                <a:cs typeface="Arial"/>
                <a:sym typeface="Arial"/>
              </a:rPr>
              <a:t>Illustration 1-8</a:t>
            </a:r>
            <a:endParaRPr b="0" sz="1200">
              <a:solidFill>
                <a:schemeClr val="dk1"/>
              </a:solidFill>
              <a:latin typeface="Arial"/>
              <a:ea typeface="Arial"/>
              <a:cs typeface="Arial"/>
              <a:sym typeface="Arial"/>
            </a:endParaRPr>
          </a:p>
        </p:txBody>
      </p:sp>
      <p:sp>
        <p:nvSpPr>
          <p:cNvPr id="1298" name="Google Shape;1298;p38"/>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4 </a:t>
            </a:r>
            <a:endParaRPr b="1" i="1" sz="1600">
              <a:solidFill>
                <a:schemeClr val="lt2"/>
              </a:solidFill>
              <a:latin typeface="Arial"/>
              <a:ea typeface="Arial"/>
              <a:cs typeface="Arial"/>
              <a:sym typeface="Arial"/>
            </a:endParaRPr>
          </a:p>
        </p:txBody>
      </p:sp>
      <p:sp>
        <p:nvSpPr>
          <p:cNvPr id="1299" name="Google Shape;1299;p38"/>
          <p:cNvSpPr txBox="1"/>
          <p:nvPr/>
        </p:nvSpPr>
        <p:spPr>
          <a:xfrm>
            <a:off x="381000" y="3962400"/>
            <a:ext cx="8610600" cy="815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7.	-1,700									-600</a:t>
            </a:r>
            <a:endParaRPr b="1" sz="1200">
              <a:solidFill>
                <a:srgbClr val="730000"/>
              </a:solidFill>
              <a:latin typeface="Arial"/>
              <a:ea typeface="Arial"/>
              <a:cs typeface="Arial"/>
              <a:sym typeface="Arial"/>
            </a:endParaRPr>
          </a:p>
          <a:p>
            <a:pPr indent="0" lvl="0" marL="0" marR="0" rtl="0" algn="l">
              <a:spcBef>
                <a:spcPts val="300"/>
              </a:spcBef>
              <a:spcAft>
                <a:spcPts val="0"/>
              </a:spcAft>
              <a:buNone/>
            </a:pPr>
            <a:r>
              <a:rPr b="1" lang="en-US" sz="1400">
                <a:solidFill>
                  <a:schemeClr val="dk1"/>
                </a:solidFill>
                <a:latin typeface="Arial"/>
                <a:ea typeface="Arial"/>
                <a:cs typeface="Arial"/>
                <a:sym typeface="Arial"/>
              </a:rPr>
              <a:t>											-900</a:t>
            </a:r>
            <a:endParaRPr b="1" sz="1200">
              <a:solidFill>
                <a:srgbClr val="730000"/>
              </a:solidFill>
              <a:latin typeface="Arial"/>
              <a:ea typeface="Arial"/>
              <a:cs typeface="Arial"/>
              <a:sym typeface="Arial"/>
            </a:endParaRPr>
          </a:p>
          <a:p>
            <a:pPr indent="0" lvl="0" marL="0" marR="0" rtl="0" algn="l">
              <a:spcBef>
                <a:spcPts val="300"/>
              </a:spcBef>
              <a:spcAft>
                <a:spcPts val="0"/>
              </a:spcAft>
              <a:buNone/>
            </a:pPr>
            <a:r>
              <a:rPr b="1" lang="en-US" sz="1400">
                <a:solidFill>
                  <a:schemeClr val="dk1"/>
                </a:solidFill>
                <a:latin typeface="Arial"/>
                <a:ea typeface="Arial"/>
                <a:cs typeface="Arial"/>
                <a:sym typeface="Arial"/>
              </a:rPr>
              <a:t>											-200</a:t>
            </a:r>
            <a:endParaRPr b="1" sz="1200">
              <a:solidFill>
                <a:srgbClr val="730000"/>
              </a:solidFill>
              <a:latin typeface="Arial"/>
              <a:ea typeface="Arial"/>
              <a:cs typeface="Arial"/>
              <a:sym typeface="Arial"/>
            </a:endParaRPr>
          </a:p>
        </p:txBody>
      </p:sp>
      <p:sp>
        <p:nvSpPr>
          <p:cNvPr id="1300" name="Google Shape;1300;p38"/>
          <p:cNvSpPr txBox="1"/>
          <p:nvPr/>
        </p:nvSpPr>
        <p:spPr>
          <a:xfrm>
            <a:off x="381000" y="3657600"/>
            <a:ext cx="8610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6.	+1,500	+2,000						+3,500		</a:t>
            </a:r>
            <a:endParaRPr b="1" sz="1400">
              <a:solidFill>
                <a:srgbClr val="730000"/>
              </a:solidFill>
              <a:latin typeface="Arial"/>
              <a:ea typeface="Arial"/>
              <a:cs typeface="Arial"/>
              <a:sym typeface="Arial"/>
            </a:endParaRPr>
          </a:p>
        </p:txBody>
      </p:sp>
      <p:sp>
        <p:nvSpPr>
          <p:cNvPr id="1301" name="Google Shape;1301;p38"/>
          <p:cNvSpPr txBox="1"/>
          <p:nvPr/>
        </p:nvSpPr>
        <p:spPr>
          <a:xfrm>
            <a:off x="381000" y="3352800"/>
            <a:ext cx="87630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5.					+250					-250</a:t>
            </a:r>
            <a:endParaRPr b="1" sz="1200">
              <a:solidFill>
                <a:srgbClr val="730000"/>
              </a:solidFill>
              <a:latin typeface="Arial"/>
              <a:ea typeface="Arial"/>
              <a:cs typeface="Arial"/>
              <a:sym typeface="Arial"/>
            </a:endParaRPr>
          </a:p>
        </p:txBody>
      </p:sp>
      <p:sp>
        <p:nvSpPr>
          <p:cNvPr id="1302" name="Google Shape;1302;p38"/>
          <p:cNvSpPr txBox="1"/>
          <p:nvPr/>
        </p:nvSpPr>
        <p:spPr>
          <a:xfrm>
            <a:off x="5638800" y="1600200"/>
            <a:ext cx="9144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Owner's Capital</a:t>
            </a:r>
            <a:endParaRPr b="1" sz="1200">
              <a:solidFill>
                <a:schemeClr val="dk1"/>
              </a:solidFill>
              <a:latin typeface="Arial"/>
              <a:ea typeface="Arial"/>
              <a:cs typeface="Arial"/>
              <a:sym typeface="Arial"/>
            </a:endParaRPr>
          </a:p>
        </p:txBody>
      </p:sp>
      <p:sp>
        <p:nvSpPr>
          <p:cNvPr id="1303" name="Google Shape;1303;p38"/>
          <p:cNvSpPr txBox="1"/>
          <p:nvPr/>
        </p:nvSpPr>
        <p:spPr>
          <a:xfrm>
            <a:off x="6553200" y="1600200"/>
            <a:ext cx="9144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Owner's Drawings</a:t>
            </a:r>
            <a:endParaRPr b="1" sz="1200">
              <a:solidFill>
                <a:schemeClr val="dk1"/>
              </a:solidFill>
              <a:latin typeface="Arial"/>
              <a:ea typeface="Arial"/>
              <a:cs typeface="Arial"/>
              <a:sym typeface="Arial"/>
            </a:endParaRPr>
          </a:p>
        </p:txBody>
      </p:sp>
      <p:sp>
        <p:nvSpPr>
          <p:cNvPr id="1304" name="Google Shape;1304;p38"/>
          <p:cNvSpPr txBox="1"/>
          <p:nvPr/>
        </p:nvSpPr>
        <p:spPr>
          <a:xfrm>
            <a:off x="7467600" y="1600200"/>
            <a:ext cx="6096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Rev.</a:t>
            </a:r>
            <a:endParaRPr b="1" sz="1200">
              <a:solidFill>
                <a:schemeClr val="dk1"/>
              </a:solidFill>
              <a:latin typeface="Arial"/>
              <a:ea typeface="Arial"/>
              <a:cs typeface="Arial"/>
              <a:sym typeface="Arial"/>
            </a:endParaRPr>
          </a:p>
        </p:txBody>
      </p:sp>
      <p:sp>
        <p:nvSpPr>
          <p:cNvPr id="1305" name="Google Shape;1305;p38"/>
          <p:cNvSpPr txBox="1"/>
          <p:nvPr/>
        </p:nvSpPr>
        <p:spPr>
          <a:xfrm>
            <a:off x="8153400" y="1600200"/>
            <a:ext cx="6096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Exp.</a:t>
            </a:r>
            <a:endParaRPr b="1" sz="1200">
              <a:solidFill>
                <a:schemeClr val="dk1"/>
              </a:solidFill>
              <a:latin typeface="Arial"/>
              <a:ea typeface="Arial"/>
              <a:cs typeface="Arial"/>
              <a:sym typeface="Arial"/>
            </a:endParaRPr>
          </a:p>
        </p:txBody>
      </p:sp>
      <p:sp>
        <p:nvSpPr>
          <p:cNvPr id="1306" name="Google Shape;1306;p38"/>
          <p:cNvSpPr txBox="1"/>
          <p:nvPr/>
        </p:nvSpPr>
        <p:spPr>
          <a:xfrm>
            <a:off x="7391400" y="16002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1307" name="Google Shape;1307;p38"/>
          <p:cNvSpPr txBox="1"/>
          <p:nvPr/>
        </p:nvSpPr>
        <p:spPr>
          <a:xfrm>
            <a:off x="8077200" y="16002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t>
            </a:r>
            <a:endParaRPr b="1" sz="1200">
              <a:solidFill>
                <a:schemeClr val="dk1"/>
              </a:solidFill>
              <a:latin typeface="Arial"/>
              <a:ea typeface="Arial"/>
              <a:cs typeface="Arial"/>
              <a:sym typeface="Arial"/>
            </a:endParaRPr>
          </a:p>
        </p:txBody>
      </p:sp>
      <p:sp>
        <p:nvSpPr>
          <p:cNvPr id="1308" name="Google Shape;1308;p38"/>
          <p:cNvSpPr txBox="1"/>
          <p:nvPr/>
        </p:nvSpPr>
        <p:spPr>
          <a:xfrm>
            <a:off x="381000" y="3048000"/>
            <a:ext cx="845820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	4.	+1,200		+1,200	</a:t>
            </a:r>
            <a:endParaRPr b="1" sz="1400">
              <a:solidFill>
                <a:srgbClr val="730000"/>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9"/>
                                        </p:tgtEl>
                                        <p:attrNameLst>
                                          <p:attrName>style.visibility</p:attrName>
                                        </p:attrNameLst>
                                      </p:cBhvr>
                                      <p:to>
                                        <p:strVal val="visible"/>
                                      </p:to>
                                    </p:set>
                                    <p:animEffect filter="fade" transition="in">
                                      <p:cBhvr>
                                        <p:cTn dur="500"/>
                                        <p:tgtEl>
                                          <p:spTgt spid="1219"/>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1291"/>
                                        </p:tgtEl>
                                      </p:cBhvr>
                                    </p:animEffect>
                                    <p:set>
                                      <p:cBhvr>
                                        <p:cTn dur="1" fill="hold">
                                          <p:stCondLst>
                                            <p:cond delay="500"/>
                                          </p:stCondLst>
                                        </p:cTn>
                                        <p:tgtEl>
                                          <p:spTgt spid="1291"/>
                                        </p:tgtEl>
                                        <p:attrNameLst>
                                          <p:attrName>style.visibility</p:attrName>
                                        </p:attrNameLst>
                                      </p:cBhvr>
                                      <p:to>
                                        <p:strVal val="hidden"/>
                                      </p:to>
                                    </p:se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294"/>
                                        </p:tgtEl>
                                        <p:attrNameLst>
                                          <p:attrName>style.visibility</p:attrName>
                                        </p:attrNameLst>
                                      </p:cBhvr>
                                      <p:to>
                                        <p:strVal val="visible"/>
                                      </p:to>
                                    </p:set>
                                    <p:animEffect filter="fade" transition="in">
                                      <p:cBhvr>
                                        <p:cTn dur="500"/>
                                        <p:tgtEl>
                                          <p:spTgt spid="1294"/>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295"/>
                                        </p:tgtEl>
                                        <p:attrNameLst>
                                          <p:attrName>style.visibility</p:attrName>
                                        </p:attrNameLst>
                                      </p:cBhvr>
                                      <p:to>
                                        <p:strVal val="visible"/>
                                      </p:to>
                                    </p:set>
                                    <p:animEffect filter="fade" transition="in">
                                      <p:cBhvr>
                                        <p:cTn dur="500"/>
                                        <p:tgtEl>
                                          <p:spTgt spid="1295"/>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293"/>
                                        </p:tgtEl>
                                        <p:attrNameLst>
                                          <p:attrName>style.visibility</p:attrName>
                                        </p:attrNameLst>
                                      </p:cBhvr>
                                      <p:to>
                                        <p:strVal val="visible"/>
                                      </p:to>
                                    </p:set>
                                    <p:animEffect filter="fade" transition="in">
                                      <p:cBhvr>
                                        <p:cTn dur="500"/>
                                        <p:tgtEl>
                                          <p:spTgt spid="1293"/>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296"/>
                                        </p:tgtEl>
                                        <p:attrNameLst>
                                          <p:attrName>style.visibility</p:attrName>
                                        </p:attrNameLst>
                                      </p:cBhvr>
                                      <p:to>
                                        <p:strVal val="visible"/>
                                      </p:to>
                                    </p:set>
                                    <p:animEffect filter="fade" transition="in">
                                      <p:cBhvr>
                                        <p:cTn dur="500"/>
                                        <p:tgtEl>
                                          <p:spTgt spid="12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2" name="Shape 1312"/>
        <p:cNvGrpSpPr/>
        <p:nvPr/>
      </p:nvGrpSpPr>
      <p:grpSpPr>
        <a:xfrm>
          <a:off x="0" y="0"/>
          <a:ext cx="0" cy="0"/>
          <a:chOff x="0" y="0"/>
          <a:chExt cx="0" cy="0"/>
        </a:xfrm>
      </p:grpSpPr>
      <p:sp>
        <p:nvSpPr>
          <p:cNvPr id="1313" name="Google Shape;1313;p39"/>
          <p:cNvSpPr txBox="1"/>
          <p:nvPr/>
        </p:nvSpPr>
        <p:spPr>
          <a:xfrm>
            <a:off x="533400" y="1295400"/>
            <a:ext cx="7696200" cy="2647584"/>
          </a:xfrm>
          <a:prstGeom prst="rect">
            <a:avLst/>
          </a:prstGeom>
          <a:noFill/>
          <a:ln>
            <a:noFill/>
          </a:ln>
        </p:spPr>
        <p:txBody>
          <a:bodyPr anchorCtr="0" anchor="t" bIns="45700" lIns="91425" spcFirstLastPara="1" rIns="91425" wrap="square" tIns="45700">
            <a:spAutoFit/>
          </a:bodyPr>
          <a:lstStyle/>
          <a:p>
            <a:pPr indent="-463550" lvl="0" marL="682625" marR="0" rtl="0" algn="l">
              <a:lnSpc>
                <a:spcPct val="125000"/>
              </a:lnSpc>
              <a:spcBef>
                <a:spcPts val="0"/>
              </a:spcBef>
              <a:spcAft>
                <a:spcPts val="0"/>
              </a:spcAft>
              <a:buClr>
                <a:schemeClr val="lt2"/>
              </a:buClr>
              <a:buSzPts val="2300"/>
              <a:buFont typeface="Comic Sans MS"/>
              <a:buAutoNum type="arabicPeriod"/>
            </a:pPr>
            <a:r>
              <a:rPr b="0" lang="en-US" sz="2300">
                <a:solidFill>
                  <a:schemeClr val="lt2"/>
                </a:solidFill>
                <a:latin typeface="Arial"/>
                <a:ea typeface="Arial"/>
                <a:cs typeface="Arial"/>
                <a:sym typeface="Arial"/>
              </a:rPr>
              <a:t>Each transaction is analyzed in terms of its effect on:</a:t>
            </a:r>
            <a:endParaRPr/>
          </a:p>
          <a:p>
            <a:pPr indent="-463550" lvl="1" marL="1377950" marR="0" rtl="0" algn="l">
              <a:lnSpc>
                <a:spcPct val="125000"/>
              </a:lnSpc>
              <a:spcBef>
                <a:spcPts val="1200"/>
              </a:spcBef>
              <a:spcAft>
                <a:spcPts val="0"/>
              </a:spcAft>
              <a:buClr>
                <a:schemeClr val="lt2"/>
              </a:buClr>
              <a:buSzPts val="2200"/>
              <a:buFont typeface="Comic Sans MS"/>
              <a:buAutoNum type="alphaLcPeriod"/>
            </a:pPr>
            <a:r>
              <a:rPr b="0" i="0" lang="en-US" sz="2200" u="none" cap="none" strike="noStrike">
                <a:solidFill>
                  <a:schemeClr val="lt2"/>
                </a:solidFill>
                <a:latin typeface="Arial"/>
                <a:ea typeface="Arial"/>
                <a:cs typeface="Arial"/>
                <a:sym typeface="Arial"/>
              </a:rPr>
              <a:t>The three components of the basic accounting equation.</a:t>
            </a:r>
            <a:endParaRPr/>
          </a:p>
          <a:p>
            <a:pPr indent="-463550" lvl="1" marL="1377950" marR="0" rtl="0" algn="l">
              <a:lnSpc>
                <a:spcPct val="125000"/>
              </a:lnSpc>
              <a:spcBef>
                <a:spcPts val="1200"/>
              </a:spcBef>
              <a:spcAft>
                <a:spcPts val="0"/>
              </a:spcAft>
              <a:buClr>
                <a:schemeClr val="lt2"/>
              </a:buClr>
              <a:buSzPts val="2200"/>
              <a:buFont typeface="Comic Sans MS"/>
              <a:buAutoNum type="alphaLcPeriod"/>
            </a:pPr>
            <a:r>
              <a:rPr b="0" i="0" lang="en-US" sz="2200" u="none" cap="none" strike="noStrike">
                <a:solidFill>
                  <a:schemeClr val="lt2"/>
                </a:solidFill>
                <a:latin typeface="Arial"/>
                <a:ea typeface="Arial"/>
                <a:cs typeface="Arial"/>
                <a:sym typeface="Arial"/>
              </a:rPr>
              <a:t>Specific of items within each component.</a:t>
            </a:r>
            <a:endParaRPr/>
          </a:p>
          <a:p>
            <a:pPr indent="-463550" lvl="0" marL="682625" marR="0" rtl="0" algn="l">
              <a:lnSpc>
                <a:spcPct val="125000"/>
              </a:lnSpc>
              <a:spcBef>
                <a:spcPts val="1200"/>
              </a:spcBef>
              <a:spcAft>
                <a:spcPts val="0"/>
              </a:spcAft>
              <a:buClr>
                <a:schemeClr val="lt2"/>
              </a:buClr>
              <a:buSzPts val="2200"/>
              <a:buFont typeface="Comic Sans MS"/>
              <a:buAutoNum type="arabicPeriod"/>
            </a:pPr>
            <a:r>
              <a:rPr b="0" lang="en-US" sz="2200">
                <a:solidFill>
                  <a:schemeClr val="lt2"/>
                </a:solidFill>
                <a:latin typeface="Arial"/>
                <a:ea typeface="Arial"/>
                <a:cs typeface="Arial"/>
                <a:sym typeface="Arial"/>
              </a:rPr>
              <a:t>The two sides of the equation must always be equal.</a:t>
            </a:r>
            <a:endParaRPr/>
          </a:p>
        </p:txBody>
      </p:sp>
      <p:cxnSp>
        <p:nvCxnSpPr>
          <p:cNvPr id="1314" name="Google Shape;1314;p39"/>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315" name="Google Shape;1315;p39"/>
          <p:cNvSpPr/>
          <p:nvPr/>
        </p:nvSpPr>
        <p:spPr>
          <a:xfrm>
            <a:off x="533400" y="304800"/>
            <a:ext cx="80772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Summary of Transactions</a:t>
            </a:r>
            <a:endParaRPr b="1" sz="3200">
              <a:solidFill>
                <a:srgbClr val="0000BF"/>
              </a:solidFill>
              <a:latin typeface="Arial"/>
              <a:ea typeface="Arial"/>
              <a:cs typeface="Arial"/>
              <a:sym typeface="Arial"/>
            </a:endParaRPr>
          </a:p>
        </p:txBody>
      </p:sp>
      <p:sp>
        <p:nvSpPr>
          <p:cNvPr id="1316" name="Google Shape;1316;p39"/>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4 </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0" name="Shape 1320"/>
        <p:cNvGrpSpPr/>
        <p:nvPr/>
      </p:nvGrpSpPr>
      <p:grpSpPr>
        <a:xfrm>
          <a:off x="0" y="0"/>
          <a:ext cx="0" cy="0"/>
          <a:chOff x="0" y="0"/>
          <a:chExt cx="0" cy="0"/>
        </a:xfrm>
      </p:grpSpPr>
      <p:sp>
        <p:nvSpPr>
          <p:cNvPr id="1321" name="Google Shape;1321;p40"/>
          <p:cNvSpPr/>
          <p:nvPr/>
        </p:nvSpPr>
        <p:spPr>
          <a:xfrm>
            <a:off x="609600" y="1393825"/>
            <a:ext cx="7924800" cy="451662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Clr>
                <a:schemeClr val="dk1"/>
              </a:buClr>
              <a:buSzPts val="2000"/>
              <a:buFont typeface="Noto Sans Symbols"/>
              <a:buNone/>
            </a:pPr>
            <a:r>
              <a:rPr b="0" lang="en-US" sz="2000">
                <a:solidFill>
                  <a:schemeClr val="dk1"/>
                </a:solidFill>
                <a:latin typeface="Arial"/>
                <a:ea typeface="Arial"/>
                <a:cs typeface="Arial"/>
                <a:sym typeface="Arial"/>
              </a:rPr>
              <a:t>Transactions made by Virmari &amp; Co., a public accounting firm, for the month of August are shown below. Prepare a tabular analysis which shows the effects of these transactions on the expanded accounting equation, similar to that shown in Illustration 1-8.</a:t>
            </a:r>
            <a:endParaRPr/>
          </a:p>
          <a:p>
            <a:pPr indent="-457200" lvl="0" marL="457200" marR="0" rtl="0" algn="l">
              <a:lnSpc>
                <a:spcPct val="125000"/>
              </a:lnSpc>
              <a:spcBef>
                <a:spcPts val="900"/>
              </a:spcBef>
              <a:spcAft>
                <a:spcPts val="0"/>
              </a:spcAft>
              <a:buClr>
                <a:schemeClr val="dk1"/>
              </a:buClr>
              <a:buSzPts val="2000"/>
              <a:buFont typeface="Noto Sans Symbols"/>
              <a:buAutoNum type="arabicPeriod"/>
            </a:pPr>
            <a:r>
              <a:rPr b="0" lang="en-US" sz="2000">
                <a:solidFill>
                  <a:schemeClr val="dk1"/>
                </a:solidFill>
                <a:latin typeface="Arial"/>
                <a:ea typeface="Arial"/>
                <a:cs typeface="Arial"/>
                <a:sym typeface="Arial"/>
              </a:rPr>
              <a:t>The owner invested $25,000 cash in the business.</a:t>
            </a:r>
            <a:endParaRPr b="0" sz="2000">
              <a:solidFill>
                <a:schemeClr val="dk1"/>
              </a:solidFill>
              <a:latin typeface="Arial"/>
              <a:ea typeface="Arial"/>
              <a:cs typeface="Arial"/>
              <a:sym typeface="Arial"/>
            </a:endParaRPr>
          </a:p>
          <a:p>
            <a:pPr indent="-457200" lvl="0" marL="457200" marR="0" rtl="0" algn="l">
              <a:lnSpc>
                <a:spcPct val="125000"/>
              </a:lnSpc>
              <a:spcBef>
                <a:spcPts val="900"/>
              </a:spcBef>
              <a:spcAft>
                <a:spcPts val="0"/>
              </a:spcAft>
              <a:buClr>
                <a:schemeClr val="dk1"/>
              </a:buClr>
              <a:buSzPts val="2000"/>
              <a:buFont typeface="Noto Sans Symbols"/>
              <a:buAutoNum type="arabicPeriod"/>
            </a:pPr>
            <a:r>
              <a:rPr b="0" lang="en-US" sz="2000">
                <a:solidFill>
                  <a:schemeClr val="dk1"/>
                </a:solidFill>
                <a:latin typeface="Arial"/>
                <a:ea typeface="Arial"/>
                <a:cs typeface="Arial"/>
                <a:sym typeface="Arial"/>
              </a:rPr>
              <a:t>The company purchased $7,000 of office equipment on credit.</a:t>
            </a:r>
            <a:endParaRPr/>
          </a:p>
          <a:p>
            <a:pPr indent="-457200" lvl="0" marL="457200" marR="0" rtl="0" algn="l">
              <a:lnSpc>
                <a:spcPct val="125000"/>
              </a:lnSpc>
              <a:spcBef>
                <a:spcPts val="900"/>
              </a:spcBef>
              <a:spcAft>
                <a:spcPts val="0"/>
              </a:spcAft>
              <a:buClr>
                <a:schemeClr val="dk1"/>
              </a:buClr>
              <a:buSzPts val="2000"/>
              <a:buFont typeface="Noto Sans Symbols"/>
              <a:buAutoNum type="arabicPeriod"/>
            </a:pPr>
            <a:r>
              <a:rPr b="0" lang="en-US" sz="2000">
                <a:solidFill>
                  <a:schemeClr val="dk1"/>
                </a:solidFill>
                <a:latin typeface="Arial"/>
                <a:ea typeface="Arial"/>
                <a:cs typeface="Arial"/>
                <a:sym typeface="Arial"/>
              </a:rPr>
              <a:t>The company received $8,000 cash in exchange for services performed.</a:t>
            </a:r>
            <a:endParaRPr/>
          </a:p>
          <a:p>
            <a:pPr indent="-457200" lvl="0" marL="457200" marR="0" rtl="0" algn="l">
              <a:lnSpc>
                <a:spcPct val="125000"/>
              </a:lnSpc>
              <a:spcBef>
                <a:spcPts val="900"/>
              </a:spcBef>
              <a:spcAft>
                <a:spcPts val="0"/>
              </a:spcAft>
              <a:buClr>
                <a:schemeClr val="dk1"/>
              </a:buClr>
              <a:buSzPts val="2000"/>
              <a:buFont typeface="Noto Sans Symbols"/>
              <a:buAutoNum type="arabicPeriod"/>
            </a:pPr>
            <a:r>
              <a:rPr b="0" lang="en-US" sz="2000">
                <a:solidFill>
                  <a:schemeClr val="dk1"/>
                </a:solidFill>
                <a:latin typeface="Arial"/>
                <a:ea typeface="Arial"/>
                <a:cs typeface="Arial"/>
                <a:sym typeface="Arial"/>
              </a:rPr>
              <a:t>The company paid $850 for this month’s rent.</a:t>
            </a:r>
            <a:endParaRPr/>
          </a:p>
          <a:p>
            <a:pPr indent="-457200" lvl="0" marL="457200" marR="0" rtl="0" algn="l">
              <a:lnSpc>
                <a:spcPct val="125000"/>
              </a:lnSpc>
              <a:spcBef>
                <a:spcPts val="900"/>
              </a:spcBef>
              <a:spcAft>
                <a:spcPts val="0"/>
              </a:spcAft>
              <a:buClr>
                <a:schemeClr val="dk1"/>
              </a:buClr>
              <a:buSzPts val="2000"/>
              <a:buFont typeface="Noto Sans Symbols"/>
              <a:buAutoNum type="arabicPeriod"/>
            </a:pPr>
            <a:r>
              <a:rPr b="0" lang="en-US" sz="2000">
                <a:solidFill>
                  <a:schemeClr val="dk1"/>
                </a:solidFill>
                <a:latin typeface="Arial"/>
                <a:ea typeface="Arial"/>
                <a:cs typeface="Arial"/>
                <a:sym typeface="Arial"/>
              </a:rPr>
              <a:t>The owner withdrew $1,000 cash for personal use.</a:t>
            </a:r>
            <a:endParaRPr b="0" sz="2000">
              <a:solidFill>
                <a:schemeClr val="dk1"/>
              </a:solidFill>
              <a:latin typeface="Arial"/>
              <a:ea typeface="Arial"/>
              <a:cs typeface="Arial"/>
              <a:sym typeface="Arial"/>
            </a:endParaRPr>
          </a:p>
        </p:txBody>
      </p:sp>
      <p:pic>
        <p:nvPicPr>
          <p:cNvPr id="1322" name="Google Shape;1322;p40"/>
          <p:cNvPicPr preferRelativeResize="0"/>
          <p:nvPr/>
        </p:nvPicPr>
        <p:blipFill rotWithShape="1">
          <a:blip r:embed="rId3">
            <a:alphaModFix/>
          </a:blip>
          <a:srcRect b="0" l="0" r="0" t="0"/>
          <a:stretch/>
        </p:blipFill>
        <p:spPr>
          <a:xfrm>
            <a:off x="2493472" y="571501"/>
            <a:ext cx="409385" cy="344759"/>
          </a:xfrm>
          <a:prstGeom prst="rect">
            <a:avLst/>
          </a:prstGeom>
          <a:noFill/>
          <a:ln>
            <a:noFill/>
          </a:ln>
        </p:spPr>
      </p:pic>
      <p:sp>
        <p:nvSpPr>
          <p:cNvPr id="1323" name="Google Shape;1323;p40"/>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4 </a:t>
            </a:r>
            <a:endParaRPr b="1" i="1" sz="1600">
              <a:solidFill>
                <a:schemeClr val="lt2"/>
              </a:solidFill>
              <a:latin typeface="Arial"/>
              <a:ea typeface="Arial"/>
              <a:cs typeface="Arial"/>
              <a:sym typeface="Arial"/>
            </a:endParaRPr>
          </a:p>
        </p:txBody>
      </p:sp>
      <p:sp>
        <p:nvSpPr>
          <p:cNvPr id="1324" name="Google Shape;1324;p40"/>
          <p:cNvSpPr txBox="1"/>
          <p:nvPr/>
        </p:nvSpPr>
        <p:spPr>
          <a:xfrm>
            <a:off x="0" y="428624"/>
            <a:ext cx="3276600" cy="691039"/>
          </a:xfrm>
          <a:prstGeom prst="rect">
            <a:avLst/>
          </a:prstGeom>
          <a:solidFill>
            <a:srgbClr val="D8D8D8"/>
          </a:solidFill>
          <a:ln>
            <a:noFill/>
          </a:ln>
        </p:spPr>
        <p:txBody>
          <a:bodyPr anchorCtr="0" anchor="t" bIns="45700" lIns="0" spcFirstLastPara="1" rIns="91425" wrap="square" tIns="0">
            <a:noAutofit/>
          </a:bodyPr>
          <a:lstStyle/>
          <a:p>
            <a:pPr indent="0" lvl="0" marL="519113" marR="0" rtl="0" algn="l">
              <a:spcBef>
                <a:spcPts val="0"/>
              </a:spcBef>
              <a:spcAft>
                <a:spcPts val="0"/>
              </a:spcAft>
              <a:buNone/>
            </a:pPr>
            <a:r>
              <a:rPr b="1" lang="en-US" sz="4200">
                <a:solidFill>
                  <a:srgbClr val="FF9900"/>
                </a:solidFill>
                <a:latin typeface="Arial"/>
                <a:ea typeface="Arial"/>
                <a:cs typeface="Arial"/>
                <a:sym typeface="Arial"/>
              </a:rPr>
              <a:t>DO IT!</a:t>
            </a:r>
            <a:endParaRPr b="1" sz="4200">
              <a:solidFill>
                <a:srgbClr val="FF9900"/>
              </a:solidFill>
              <a:latin typeface="Arial"/>
              <a:ea typeface="Arial"/>
              <a:cs typeface="Arial"/>
              <a:sym typeface="Arial"/>
            </a:endParaRPr>
          </a:p>
        </p:txBody>
      </p:sp>
      <p:sp>
        <p:nvSpPr>
          <p:cNvPr id="1325" name="Google Shape;1325;p40"/>
          <p:cNvSpPr/>
          <p:nvPr/>
        </p:nvSpPr>
        <p:spPr>
          <a:xfrm>
            <a:off x="2286000" y="428626"/>
            <a:ext cx="762000" cy="691038"/>
          </a:xfrm>
          <a:prstGeom prst="ellipse">
            <a:avLst/>
          </a:prstGeom>
          <a:solidFill>
            <a:schemeClr val="accent3"/>
          </a:solidFill>
          <a:ln cap="sq" cmpd="sng" w="12700">
            <a:solidFill>
              <a:srgbClr val="7F7F7F"/>
            </a:solidFill>
            <a:prstDash val="dash"/>
            <a:round/>
            <a:headEnd len="sm" w="sm" type="none"/>
            <a:tailEnd len="sm" w="sm" type="none"/>
          </a:ln>
        </p:spPr>
        <p:txBody>
          <a:bodyPr anchorCtr="0" anchor="ctr" bIns="45700" lIns="91425" spcFirstLastPara="1" rIns="91425" wrap="square" tIns="0">
            <a:noAutofit/>
          </a:bodyPr>
          <a:lstStyle/>
          <a:p>
            <a:pPr indent="0" lvl="0" marL="0" marR="0" rtl="0" algn="ctr">
              <a:lnSpc>
                <a:spcPct val="100000"/>
              </a:lnSpc>
              <a:spcBef>
                <a:spcPts val="0"/>
              </a:spcBef>
              <a:spcAft>
                <a:spcPts val="0"/>
              </a:spcAft>
              <a:buClr>
                <a:srgbClr val="FF9900"/>
              </a:buClr>
              <a:buSzPts val="3200"/>
              <a:buFont typeface="Arial"/>
              <a:buNone/>
            </a:pPr>
            <a:r>
              <a:rPr b="1" i="0" lang="en-US" sz="3200" u="none" cap="none" strike="noStrike">
                <a:solidFill>
                  <a:srgbClr val="FF9900"/>
                </a:solidFill>
                <a:latin typeface="Arial"/>
                <a:ea typeface="Arial"/>
                <a:cs typeface="Arial"/>
                <a:sym typeface="Arial"/>
              </a:rPr>
              <a:t>4</a:t>
            </a:r>
            <a:endParaRPr/>
          </a:p>
        </p:txBody>
      </p:sp>
      <p:sp>
        <p:nvSpPr>
          <p:cNvPr id="1326" name="Google Shape;1326;p40"/>
          <p:cNvSpPr txBox="1"/>
          <p:nvPr/>
        </p:nvSpPr>
        <p:spPr>
          <a:xfrm>
            <a:off x="3276600" y="501929"/>
            <a:ext cx="5867400" cy="566928"/>
          </a:xfrm>
          <a:prstGeom prst="rect">
            <a:avLst/>
          </a:prstGeom>
          <a:solidFill>
            <a:srgbClr val="0027A4"/>
          </a:solidFill>
          <a:ln>
            <a:noFill/>
          </a:ln>
        </p:spPr>
        <p:txBody>
          <a:bodyPr anchorCtr="0" anchor="t" bIns="43225" lIns="86475" spcFirstLastPara="1" rIns="86475" wrap="square" tIns="43225">
            <a:noAutofit/>
          </a:bodyPr>
          <a:lstStyle/>
          <a:p>
            <a:pPr indent="0" lvl="0" marL="111120" marR="0" rtl="0" algn="l">
              <a:spcBef>
                <a:spcPts val="0"/>
              </a:spcBef>
              <a:spcAft>
                <a:spcPts val="0"/>
              </a:spcAft>
              <a:buNone/>
            </a:pPr>
            <a:r>
              <a:rPr b="1" lang="en-US" sz="2800">
                <a:solidFill>
                  <a:schemeClr val="lt1"/>
                </a:solidFill>
                <a:latin typeface="Arial"/>
                <a:ea typeface="Arial"/>
                <a:cs typeface="Arial"/>
                <a:sym typeface="Arial"/>
              </a:rPr>
              <a:t>Tabular Analysis</a:t>
            </a:r>
            <a:endParaRPr b="1" sz="2800">
              <a:solidFill>
                <a:schemeClr val="lt1"/>
              </a:solidFill>
              <a:latin typeface="Arial"/>
              <a:ea typeface="Arial"/>
              <a:cs typeface="Arial"/>
              <a:sym typeface="Arial"/>
            </a:endParaRPr>
          </a:p>
        </p:txBody>
      </p:sp>
    </p:spTree>
  </p:cSld>
  <p:clrMapOvr>
    <a:masterClrMapping/>
  </p:clrMapOvr>
  <p:transition>
    <p:wipe dir="r"/>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0" name="Shape 1330"/>
        <p:cNvGrpSpPr/>
        <p:nvPr/>
      </p:nvGrpSpPr>
      <p:grpSpPr>
        <a:xfrm>
          <a:off x="0" y="0"/>
          <a:ext cx="0" cy="0"/>
          <a:chOff x="0" y="0"/>
          <a:chExt cx="0" cy="0"/>
        </a:xfrm>
      </p:grpSpPr>
      <p:cxnSp>
        <p:nvCxnSpPr>
          <p:cNvPr id="1331" name="Google Shape;1331;p41"/>
          <p:cNvCxnSpPr/>
          <p:nvPr/>
        </p:nvCxnSpPr>
        <p:spPr>
          <a:xfrm>
            <a:off x="990600" y="54102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332" name="Google Shape;1332;p41"/>
          <p:cNvSpPr txBox="1"/>
          <p:nvPr/>
        </p:nvSpPr>
        <p:spPr>
          <a:xfrm>
            <a:off x="304800" y="3212812"/>
            <a:ext cx="8686800" cy="292388"/>
          </a:xfrm>
          <a:prstGeom prst="rect">
            <a:avLst/>
          </a:prstGeom>
          <a:noFill/>
          <a:ln>
            <a:noFill/>
          </a:ln>
        </p:spPr>
        <p:txBody>
          <a:bodyPr anchorCtr="0" anchor="t" bIns="45700" lIns="91425" spcFirstLastPara="1" rIns="91425" wrap="square" tIns="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	1.	+25,000			+25,000</a:t>
            </a:r>
            <a:endParaRPr b="1" sz="1600">
              <a:solidFill>
                <a:schemeClr val="dk1"/>
              </a:solidFill>
              <a:latin typeface="Arial"/>
              <a:ea typeface="Arial"/>
              <a:cs typeface="Arial"/>
              <a:sym typeface="Arial"/>
            </a:endParaRPr>
          </a:p>
        </p:txBody>
      </p:sp>
      <p:sp>
        <p:nvSpPr>
          <p:cNvPr id="1333" name="Google Shape;1333;p41"/>
          <p:cNvSpPr txBox="1"/>
          <p:nvPr/>
        </p:nvSpPr>
        <p:spPr>
          <a:xfrm>
            <a:off x="76200" y="2590800"/>
            <a:ext cx="9144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Trans-</a:t>
            </a:r>
            <a:endParaRPr/>
          </a:p>
          <a:p>
            <a:pPr indent="0" lvl="0" marL="0" marR="0" rtl="0" algn="ctr">
              <a:spcBef>
                <a:spcPts val="0"/>
              </a:spcBef>
              <a:spcAft>
                <a:spcPts val="0"/>
              </a:spcAft>
              <a:buNone/>
            </a:pPr>
            <a:r>
              <a:rPr b="1" lang="en-US" sz="1600">
                <a:solidFill>
                  <a:schemeClr val="dk1"/>
                </a:solidFill>
                <a:latin typeface="Arial"/>
                <a:ea typeface="Arial"/>
                <a:cs typeface="Arial"/>
                <a:sym typeface="Arial"/>
              </a:rPr>
              <a:t>action</a:t>
            </a:r>
            <a:endParaRPr/>
          </a:p>
        </p:txBody>
      </p:sp>
      <p:sp>
        <p:nvSpPr>
          <p:cNvPr id="1334" name="Google Shape;1334;p41"/>
          <p:cNvSpPr txBox="1"/>
          <p:nvPr/>
        </p:nvSpPr>
        <p:spPr>
          <a:xfrm>
            <a:off x="914400" y="2590800"/>
            <a:ext cx="9144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Cash   </a:t>
            </a:r>
            <a:endParaRPr b="1" sz="1600">
              <a:solidFill>
                <a:schemeClr val="dk1"/>
              </a:solidFill>
              <a:latin typeface="Arial"/>
              <a:ea typeface="Arial"/>
              <a:cs typeface="Arial"/>
              <a:sym typeface="Arial"/>
            </a:endParaRPr>
          </a:p>
        </p:txBody>
      </p:sp>
      <p:sp>
        <p:nvSpPr>
          <p:cNvPr id="1335" name="Google Shape;1335;p41"/>
          <p:cNvSpPr txBox="1"/>
          <p:nvPr/>
        </p:nvSpPr>
        <p:spPr>
          <a:xfrm>
            <a:off x="1981200" y="2590800"/>
            <a:ext cx="13716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Equipment</a:t>
            </a:r>
            <a:endParaRPr/>
          </a:p>
        </p:txBody>
      </p:sp>
      <p:sp>
        <p:nvSpPr>
          <p:cNvPr id="1336" name="Google Shape;1336;p41"/>
          <p:cNvSpPr txBox="1"/>
          <p:nvPr/>
        </p:nvSpPr>
        <p:spPr>
          <a:xfrm>
            <a:off x="3505200" y="2590800"/>
            <a:ext cx="13716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Accounts</a:t>
            </a:r>
            <a:endParaRPr/>
          </a:p>
          <a:p>
            <a:pPr indent="0" lvl="0" marL="0" marR="0" rtl="0" algn="ctr">
              <a:spcBef>
                <a:spcPts val="0"/>
              </a:spcBef>
              <a:spcAft>
                <a:spcPts val="0"/>
              </a:spcAft>
              <a:buNone/>
            </a:pPr>
            <a:r>
              <a:rPr b="1" lang="en-US" sz="1600">
                <a:solidFill>
                  <a:schemeClr val="dk1"/>
                </a:solidFill>
                <a:latin typeface="Arial"/>
                <a:ea typeface="Arial"/>
                <a:cs typeface="Arial"/>
                <a:sym typeface="Arial"/>
              </a:rPr>
              <a:t>Payable</a:t>
            </a:r>
            <a:endParaRPr/>
          </a:p>
        </p:txBody>
      </p:sp>
      <p:sp>
        <p:nvSpPr>
          <p:cNvPr id="1337" name="Google Shape;1337;p41"/>
          <p:cNvSpPr txBox="1"/>
          <p:nvPr/>
        </p:nvSpPr>
        <p:spPr>
          <a:xfrm>
            <a:off x="4800600" y="2590800"/>
            <a:ext cx="12954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Owner's Capital</a:t>
            </a:r>
            <a:endParaRPr b="1" sz="1600">
              <a:solidFill>
                <a:schemeClr val="dk1"/>
              </a:solidFill>
              <a:latin typeface="Arial"/>
              <a:ea typeface="Arial"/>
              <a:cs typeface="Arial"/>
              <a:sym typeface="Arial"/>
            </a:endParaRPr>
          </a:p>
        </p:txBody>
      </p:sp>
      <p:cxnSp>
        <p:nvCxnSpPr>
          <p:cNvPr id="1338" name="Google Shape;1338;p41"/>
          <p:cNvCxnSpPr/>
          <p:nvPr/>
        </p:nvCxnSpPr>
        <p:spPr>
          <a:xfrm>
            <a:off x="978408" y="31242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339" name="Google Shape;1339;p41"/>
          <p:cNvSpPr/>
          <p:nvPr/>
        </p:nvSpPr>
        <p:spPr>
          <a:xfrm>
            <a:off x="1905000" y="3048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340" name="Google Shape;1340;p41"/>
          <p:cNvSpPr/>
          <p:nvPr/>
        </p:nvSpPr>
        <p:spPr>
          <a:xfrm>
            <a:off x="3352800" y="3048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341" name="Google Shape;1341;p41"/>
          <p:cNvSpPr/>
          <p:nvPr/>
        </p:nvSpPr>
        <p:spPr>
          <a:xfrm>
            <a:off x="4800600" y="3048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342" name="Google Shape;1342;p41"/>
          <p:cNvSpPr/>
          <p:nvPr/>
        </p:nvSpPr>
        <p:spPr>
          <a:xfrm>
            <a:off x="5943600" y="3048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343" name="Google Shape;1343;p41"/>
          <p:cNvSpPr/>
          <p:nvPr/>
        </p:nvSpPr>
        <p:spPr>
          <a:xfrm>
            <a:off x="7162800" y="3048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344" name="Google Shape;1344;p41"/>
          <p:cNvSpPr/>
          <p:nvPr/>
        </p:nvSpPr>
        <p:spPr>
          <a:xfrm>
            <a:off x="8001000" y="3048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345" name="Google Shape;1345;p41"/>
          <p:cNvSpPr txBox="1"/>
          <p:nvPr/>
        </p:nvSpPr>
        <p:spPr>
          <a:xfrm>
            <a:off x="914399" y="2286000"/>
            <a:ext cx="7924801" cy="26161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	Assets	=    Liabilities +	Owner's Equity</a:t>
            </a:r>
            <a:endParaRPr b="1" sz="1600">
              <a:solidFill>
                <a:schemeClr val="dk1"/>
              </a:solidFill>
              <a:latin typeface="Arial"/>
              <a:ea typeface="Arial"/>
              <a:cs typeface="Arial"/>
              <a:sym typeface="Arial"/>
            </a:endParaRPr>
          </a:p>
        </p:txBody>
      </p:sp>
      <p:cxnSp>
        <p:nvCxnSpPr>
          <p:cNvPr id="1346" name="Google Shape;1346;p41"/>
          <p:cNvCxnSpPr/>
          <p:nvPr/>
        </p:nvCxnSpPr>
        <p:spPr>
          <a:xfrm>
            <a:off x="914400" y="25908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347" name="Google Shape;1347;p41"/>
          <p:cNvSpPr txBox="1"/>
          <p:nvPr/>
        </p:nvSpPr>
        <p:spPr>
          <a:xfrm>
            <a:off x="4724400" y="25908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a:p>
        </p:txBody>
      </p:sp>
      <p:sp>
        <p:nvSpPr>
          <p:cNvPr id="1348" name="Google Shape;1348;p41"/>
          <p:cNvSpPr txBox="1"/>
          <p:nvPr/>
        </p:nvSpPr>
        <p:spPr>
          <a:xfrm>
            <a:off x="5867400" y="25908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a:p>
        </p:txBody>
      </p:sp>
      <p:sp>
        <p:nvSpPr>
          <p:cNvPr id="1349" name="Google Shape;1349;p41"/>
          <p:cNvSpPr txBox="1"/>
          <p:nvPr/>
        </p:nvSpPr>
        <p:spPr>
          <a:xfrm>
            <a:off x="1828800" y="25908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b="1" sz="1600">
              <a:solidFill>
                <a:schemeClr val="dk1"/>
              </a:solidFill>
              <a:latin typeface="Arial"/>
              <a:ea typeface="Arial"/>
              <a:cs typeface="Arial"/>
              <a:sym typeface="Arial"/>
            </a:endParaRPr>
          </a:p>
        </p:txBody>
      </p:sp>
      <p:sp>
        <p:nvSpPr>
          <p:cNvPr id="1350" name="Google Shape;1350;p41"/>
          <p:cNvSpPr txBox="1"/>
          <p:nvPr/>
        </p:nvSpPr>
        <p:spPr>
          <a:xfrm>
            <a:off x="3352800" y="25908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a:p>
        </p:txBody>
      </p:sp>
      <p:cxnSp>
        <p:nvCxnSpPr>
          <p:cNvPr id="1351" name="Google Shape;1351;p41"/>
          <p:cNvCxnSpPr/>
          <p:nvPr/>
        </p:nvCxnSpPr>
        <p:spPr>
          <a:xfrm>
            <a:off x="990600" y="35814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352" name="Google Shape;1352;p41"/>
          <p:cNvSpPr txBox="1"/>
          <p:nvPr/>
        </p:nvSpPr>
        <p:spPr>
          <a:xfrm>
            <a:off x="533400" y="1371600"/>
            <a:ext cx="8001000" cy="439287"/>
          </a:xfrm>
          <a:prstGeom prst="rect">
            <a:avLst/>
          </a:prstGeom>
          <a:noFill/>
          <a:ln>
            <a:noFill/>
          </a:ln>
        </p:spPr>
        <p:txBody>
          <a:bodyPr anchorCtr="0" anchor="t" bIns="45700" lIns="91425" spcFirstLastPara="1" rIns="91425" wrap="square" tIns="45700">
            <a:spAutoFit/>
          </a:bodyPr>
          <a:lstStyle/>
          <a:p>
            <a:pPr indent="-341313" lvl="0" marL="341313" marR="0" rtl="0" algn="l">
              <a:lnSpc>
                <a:spcPct val="125000"/>
              </a:lnSpc>
              <a:spcBef>
                <a:spcPts val="0"/>
              </a:spcBef>
              <a:spcAft>
                <a:spcPts val="0"/>
              </a:spcAft>
              <a:buClr>
                <a:schemeClr val="dk1"/>
              </a:buClr>
              <a:buSzPts val="2000"/>
              <a:buFont typeface="Arial"/>
              <a:buAutoNum type="arabicPeriod"/>
            </a:pPr>
            <a:r>
              <a:rPr b="1" lang="en-US" sz="2000">
                <a:solidFill>
                  <a:schemeClr val="dk1"/>
                </a:solidFill>
                <a:latin typeface="Arial"/>
                <a:ea typeface="Arial"/>
                <a:cs typeface="Arial"/>
                <a:sym typeface="Arial"/>
              </a:rPr>
              <a:t>The owner invested $25,000 cash in the business.</a:t>
            </a:r>
            <a:endParaRPr b="1" sz="2000">
              <a:solidFill>
                <a:schemeClr val="dk1"/>
              </a:solidFill>
              <a:latin typeface="Arial"/>
              <a:ea typeface="Arial"/>
              <a:cs typeface="Arial"/>
              <a:sym typeface="Arial"/>
            </a:endParaRPr>
          </a:p>
        </p:txBody>
      </p:sp>
      <p:sp>
        <p:nvSpPr>
          <p:cNvPr id="1353" name="Google Shape;1353;p41"/>
          <p:cNvSpPr txBox="1"/>
          <p:nvPr/>
        </p:nvSpPr>
        <p:spPr>
          <a:xfrm>
            <a:off x="304800" y="3670012"/>
            <a:ext cx="8686800" cy="292388"/>
          </a:xfrm>
          <a:prstGeom prst="rect">
            <a:avLst/>
          </a:prstGeom>
          <a:noFill/>
          <a:ln>
            <a:noFill/>
          </a:ln>
        </p:spPr>
        <p:txBody>
          <a:bodyPr anchorCtr="0" anchor="t" bIns="45700" lIns="91425" spcFirstLastPara="1" rIns="91425" wrap="square" tIns="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	2.		+7,000	+7,000</a:t>
            </a:r>
            <a:endParaRPr b="1" sz="1600">
              <a:solidFill>
                <a:schemeClr val="dk1"/>
              </a:solidFill>
              <a:latin typeface="Arial"/>
              <a:ea typeface="Arial"/>
              <a:cs typeface="Arial"/>
              <a:sym typeface="Arial"/>
            </a:endParaRPr>
          </a:p>
        </p:txBody>
      </p:sp>
      <p:cxnSp>
        <p:nvCxnSpPr>
          <p:cNvPr id="1354" name="Google Shape;1354;p41"/>
          <p:cNvCxnSpPr/>
          <p:nvPr/>
        </p:nvCxnSpPr>
        <p:spPr>
          <a:xfrm>
            <a:off x="990600" y="40386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355" name="Google Shape;1355;p41"/>
          <p:cNvSpPr txBox="1"/>
          <p:nvPr/>
        </p:nvSpPr>
        <p:spPr>
          <a:xfrm>
            <a:off x="304800" y="4127212"/>
            <a:ext cx="8686800" cy="292388"/>
          </a:xfrm>
          <a:prstGeom prst="rect">
            <a:avLst/>
          </a:prstGeom>
          <a:noFill/>
          <a:ln>
            <a:noFill/>
          </a:ln>
        </p:spPr>
        <p:txBody>
          <a:bodyPr anchorCtr="0" anchor="t" bIns="45700" lIns="91425" spcFirstLastPara="1" rIns="91425" wrap="square" tIns="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	3.	+8,000				+8,000</a:t>
            </a:r>
            <a:endParaRPr b="1" sz="1600">
              <a:solidFill>
                <a:schemeClr val="dk1"/>
              </a:solidFill>
              <a:latin typeface="Arial"/>
              <a:ea typeface="Arial"/>
              <a:cs typeface="Arial"/>
              <a:sym typeface="Arial"/>
            </a:endParaRPr>
          </a:p>
        </p:txBody>
      </p:sp>
      <p:cxnSp>
        <p:nvCxnSpPr>
          <p:cNvPr id="1356" name="Google Shape;1356;p41"/>
          <p:cNvCxnSpPr/>
          <p:nvPr/>
        </p:nvCxnSpPr>
        <p:spPr>
          <a:xfrm>
            <a:off x="990600" y="44958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357" name="Google Shape;1357;p41"/>
          <p:cNvSpPr txBox="1"/>
          <p:nvPr/>
        </p:nvSpPr>
        <p:spPr>
          <a:xfrm>
            <a:off x="304800" y="4584412"/>
            <a:ext cx="8686800" cy="292388"/>
          </a:xfrm>
          <a:prstGeom prst="rect">
            <a:avLst/>
          </a:prstGeom>
          <a:noFill/>
          <a:ln>
            <a:noFill/>
          </a:ln>
        </p:spPr>
        <p:txBody>
          <a:bodyPr anchorCtr="0" anchor="t" bIns="45700" lIns="91425" spcFirstLastPara="1" rIns="91425" wrap="square" tIns="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	4.	-850					-850</a:t>
            </a:r>
            <a:endParaRPr b="1" sz="1600">
              <a:solidFill>
                <a:schemeClr val="dk1"/>
              </a:solidFill>
              <a:latin typeface="Arial"/>
              <a:ea typeface="Arial"/>
              <a:cs typeface="Arial"/>
              <a:sym typeface="Arial"/>
            </a:endParaRPr>
          </a:p>
        </p:txBody>
      </p:sp>
      <p:cxnSp>
        <p:nvCxnSpPr>
          <p:cNvPr id="1358" name="Google Shape;1358;p41"/>
          <p:cNvCxnSpPr/>
          <p:nvPr/>
        </p:nvCxnSpPr>
        <p:spPr>
          <a:xfrm>
            <a:off x="990600" y="49530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359" name="Google Shape;1359;p41"/>
          <p:cNvSpPr txBox="1"/>
          <p:nvPr/>
        </p:nvSpPr>
        <p:spPr>
          <a:xfrm>
            <a:off x="304800" y="5041612"/>
            <a:ext cx="8686800" cy="292388"/>
          </a:xfrm>
          <a:prstGeom prst="rect">
            <a:avLst/>
          </a:prstGeom>
          <a:noFill/>
          <a:ln>
            <a:noFill/>
          </a:ln>
        </p:spPr>
        <p:txBody>
          <a:bodyPr anchorCtr="0" anchor="t" bIns="45700" lIns="91425" spcFirstLastPara="1" rIns="91425" wrap="square" tIns="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	5.	-1,000						-1,000</a:t>
            </a:r>
            <a:endParaRPr b="1" sz="1600">
              <a:solidFill>
                <a:schemeClr val="dk1"/>
              </a:solidFill>
              <a:latin typeface="Arial"/>
              <a:ea typeface="Arial"/>
              <a:cs typeface="Arial"/>
              <a:sym typeface="Arial"/>
            </a:endParaRPr>
          </a:p>
        </p:txBody>
      </p:sp>
      <p:sp>
        <p:nvSpPr>
          <p:cNvPr id="1360" name="Google Shape;1360;p41"/>
          <p:cNvSpPr/>
          <p:nvPr/>
        </p:nvSpPr>
        <p:spPr>
          <a:xfrm>
            <a:off x="1917192" y="5334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361" name="Google Shape;1361;p41"/>
          <p:cNvSpPr/>
          <p:nvPr/>
        </p:nvSpPr>
        <p:spPr>
          <a:xfrm>
            <a:off x="3364992" y="5334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362" name="Google Shape;1362;p41"/>
          <p:cNvSpPr/>
          <p:nvPr/>
        </p:nvSpPr>
        <p:spPr>
          <a:xfrm>
            <a:off x="4812792" y="5334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363" name="Google Shape;1363;p41"/>
          <p:cNvSpPr/>
          <p:nvPr/>
        </p:nvSpPr>
        <p:spPr>
          <a:xfrm>
            <a:off x="5955792" y="5334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364" name="Google Shape;1364;p41"/>
          <p:cNvSpPr/>
          <p:nvPr/>
        </p:nvSpPr>
        <p:spPr>
          <a:xfrm>
            <a:off x="6946392" y="5334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365" name="Google Shape;1365;p41"/>
          <p:cNvSpPr/>
          <p:nvPr/>
        </p:nvSpPr>
        <p:spPr>
          <a:xfrm>
            <a:off x="7936992" y="5334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cxnSp>
        <p:nvCxnSpPr>
          <p:cNvPr id="1366" name="Google Shape;1366;p41"/>
          <p:cNvCxnSpPr/>
          <p:nvPr/>
        </p:nvCxnSpPr>
        <p:spPr>
          <a:xfrm>
            <a:off x="990600" y="58674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367" name="Google Shape;1367;p41"/>
          <p:cNvSpPr/>
          <p:nvPr/>
        </p:nvSpPr>
        <p:spPr>
          <a:xfrm>
            <a:off x="1917192" y="5791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368" name="Google Shape;1368;p41"/>
          <p:cNvSpPr/>
          <p:nvPr/>
        </p:nvSpPr>
        <p:spPr>
          <a:xfrm>
            <a:off x="3364992" y="5791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369" name="Google Shape;1369;p41"/>
          <p:cNvSpPr/>
          <p:nvPr/>
        </p:nvSpPr>
        <p:spPr>
          <a:xfrm>
            <a:off x="4812792" y="5791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370" name="Google Shape;1370;p41"/>
          <p:cNvSpPr/>
          <p:nvPr/>
        </p:nvSpPr>
        <p:spPr>
          <a:xfrm>
            <a:off x="5955792" y="5791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371" name="Google Shape;1371;p41"/>
          <p:cNvSpPr/>
          <p:nvPr/>
        </p:nvSpPr>
        <p:spPr>
          <a:xfrm>
            <a:off x="6946392" y="5791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372" name="Google Shape;1372;p41"/>
          <p:cNvSpPr/>
          <p:nvPr/>
        </p:nvSpPr>
        <p:spPr>
          <a:xfrm>
            <a:off x="7936992" y="5791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cxnSp>
        <p:nvCxnSpPr>
          <p:cNvPr id="1373" name="Google Shape;1373;p41"/>
          <p:cNvCxnSpPr/>
          <p:nvPr/>
        </p:nvCxnSpPr>
        <p:spPr>
          <a:xfrm>
            <a:off x="990600" y="59436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374" name="Google Shape;1374;p41"/>
          <p:cNvSpPr/>
          <p:nvPr/>
        </p:nvSpPr>
        <p:spPr>
          <a:xfrm>
            <a:off x="1917192" y="58674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375" name="Google Shape;1375;p41"/>
          <p:cNvSpPr/>
          <p:nvPr/>
        </p:nvSpPr>
        <p:spPr>
          <a:xfrm>
            <a:off x="3364992" y="58674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376" name="Google Shape;1376;p41"/>
          <p:cNvSpPr/>
          <p:nvPr/>
        </p:nvSpPr>
        <p:spPr>
          <a:xfrm>
            <a:off x="4812792" y="58674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377" name="Google Shape;1377;p41"/>
          <p:cNvSpPr/>
          <p:nvPr/>
        </p:nvSpPr>
        <p:spPr>
          <a:xfrm>
            <a:off x="5955792" y="58674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378" name="Google Shape;1378;p41"/>
          <p:cNvSpPr/>
          <p:nvPr/>
        </p:nvSpPr>
        <p:spPr>
          <a:xfrm>
            <a:off x="6946392" y="58674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379" name="Google Shape;1379;p41"/>
          <p:cNvSpPr/>
          <p:nvPr/>
        </p:nvSpPr>
        <p:spPr>
          <a:xfrm>
            <a:off x="7936992" y="58674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380" name="Google Shape;1380;p41"/>
          <p:cNvSpPr txBox="1"/>
          <p:nvPr/>
        </p:nvSpPr>
        <p:spPr>
          <a:xfrm>
            <a:off x="304800" y="5498812"/>
            <a:ext cx="8686800" cy="292388"/>
          </a:xfrm>
          <a:prstGeom prst="rect">
            <a:avLst/>
          </a:prstGeom>
          <a:noFill/>
          <a:ln>
            <a:noFill/>
          </a:ln>
        </p:spPr>
        <p:txBody>
          <a:bodyPr anchorCtr="0" anchor="t" bIns="45700" lIns="91425" spcFirstLastPara="1" rIns="91425" wrap="square" tIns="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		$31,150	$7,000	$7,000	$25,000	$8,000	$850	$1,000</a:t>
            </a:r>
            <a:endParaRPr b="1" sz="1600">
              <a:solidFill>
                <a:schemeClr val="dk1"/>
              </a:solidFill>
              <a:latin typeface="Arial"/>
              <a:ea typeface="Arial"/>
              <a:cs typeface="Arial"/>
              <a:sym typeface="Arial"/>
            </a:endParaRPr>
          </a:p>
        </p:txBody>
      </p:sp>
      <p:pic>
        <p:nvPicPr>
          <p:cNvPr id="1381" name="Google Shape;1381;p41"/>
          <p:cNvPicPr preferRelativeResize="0"/>
          <p:nvPr/>
        </p:nvPicPr>
        <p:blipFill rotWithShape="1">
          <a:blip r:embed="rId3">
            <a:alphaModFix/>
          </a:blip>
          <a:srcRect b="0" l="0" r="0" t="0"/>
          <a:stretch/>
        </p:blipFill>
        <p:spPr>
          <a:xfrm>
            <a:off x="2493472" y="571501"/>
            <a:ext cx="409385" cy="344759"/>
          </a:xfrm>
          <a:prstGeom prst="rect">
            <a:avLst/>
          </a:prstGeom>
          <a:noFill/>
          <a:ln>
            <a:noFill/>
          </a:ln>
        </p:spPr>
      </p:pic>
      <p:sp>
        <p:nvSpPr>
          <p:cNvPr id="1382" name="Google Shape;1382;p41"/>
          <p:cNvSpPr txBox="1"/>
          <p:nvPr/>
        </p:nvSpPr>
        <p:spPr>
          <a:xfrm>
            <a:off x="4724400" y="5334000"/>
            <a:ext cx="152400" cy="523220"/>
          </a:xfrm>
          <a:prstGeom prst="rect">
            <a:avLst/>
          </a:prstGeom>
          <a:noFill/>
          <a:ln>
            <a:noFill/>
          </a:ln>
        </p:spPr>
        <p:txBody>
          <a:bodyPr anchorCtr="0" anchor="ctr" bIns="45700" lIns="0" spcFirstLastPara="1" rIns="0" wrap="square" tIns="91425">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a:p>
        </p:txBody>
      </p:sp>
      <p:sp>
        <p:nvSpPr>
          <p:cNvPr id="1383" name="Google Shape;1383;p41"/>
          <p:cNvSpPr txBox="1"/>
          <p:nvPr/>
        </p:nvSpPr>
        <p:spPr>
          <a:xfrm>
            <a:off x="5943600" y="5334000"/>
            <a:ext cx="152400" cy="523220"/>
          </a:xfrm>
          <a:prstGeom prst="rect">
            <a:avLst/>
          </a:prstGeom>
          <a:noFill/>
          <a:ln>
            <a:noFill/>
          </a:ln>
        </p:spPr>
        <p:txBody>
          <a:bodyPr anchorCtr="0" anchor="ctr" bIns="45700" lIns="0" spcFirstLastPara="1" rIns="0" wrap="square" tIns="91425">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a:p>
        </p:txBody>
      </p:sp>
      <p:sp>
        <p:nvSpPr>
          <p:cNvPr id="1384" name="Google Shape;1384;p41"/>
          <p:cNvSpPr txBox="1"/>
          <p:nvPr/>
        </p:nvSpPr>
        <p:spPr>
          <a:xfrm>
            <a:off x="1905000" y="5334000"/>
            <a:ext cx="152400" cy="523220"/>
          </a:xfrm>
          <a:prstGeom prst="rect">
            <a:avLst/>
          </a:prstGeom>
          <a:noFill/>
          <a:ln>
            <a:noFill/>
          </a:ln>
        </p:spPr>
        <p:txBody>
          <a:bodyPr anchorCtr="0" anchor="ctr" bIns="45700" lIns="0" spcFirstLastPara="1" rIns="0" wrap="square" tIns="91425">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b="1" sz="1600">
              <a:solidFill>
                <a:schemeClr val="dk1"/>
              </a:solidFill>
              <a:latin typeface="Arial"/>
              <a:ea typeface="Arial"/>
              <a:cs typeface="Arial"/>
              <a:sym typeface="Arial"/>
            </a:endParaRPr>
          </a:p>
        </p:txBody>
      </p:sp>
      <p:sp>
        <p:nvSpPr>
          <p:cNvPr id="1385" name="Google Shape;1385;p41"/>
          <p:cNvSpPr txBox="1"/>
          <p:nvPr/>
        </p:nvSpPr>
        <p:spPr>
          <a:xfrm>
            <a:off x="3352800" y="5334000"/>
            <a:ext cx="152400" cy="523220"/>
          </a:xfrm>
          <a:prstGeom prst="rect">
            <a:avLst/>
          </a:prstGeom>
          <a:noFill/>
          <a:ln>
            <a:noFill/>
          </a:ln>
        </p:spPr>
        <p:txBody>
          <a:bodyPr anchorCtr="0" anchor="ctr" bIns="45700" lIns="0" spcFirstLastPara="1" rIns="0" wrap="square" tIns="91425">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a:p>
        </p:txBody>
      </p:sp>
      <p:sp>
        <p:nvSpPr>
          <p:cNvPr id="1386" name="Google Shape;1386;p41"/>
          <p:cNvSpPr txBox="1"/>
          <p:nvPr/>
        </p:nvSpPr>
        <p:spPr>
          <a:xfrm>
            <a:off x="6934200" y="5334000"/>
            <a:ext cx="152400" cy="523220"/>
          </a:xfrm>
          <a:prstGeom prst="rect">
            <a:avLst/>
          </a:prstGeom>
          <a:noFill/>
          <a:ln>
            <a:noFill/>
          </a:ln>
        </p:spPr>
        <p:txBody>
          <a:bodyPr anchorCtr="0" anchor="ctr" bIns="45700" lIns="0" spcFirstLastPara="1" rIns="0" wrap="square" tIns="91425">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b="1" sz="1600">
              <a:solidFill>
                <a:schemeClr val="dk1"/>
              </a:solidFill>
              <a:latin typeface="Arial"/>
              <a:ea typeface="Arial"/>
              <a:cs typeface="Arial"/>
              <a:sym typeface="Arial"/>
            </a:endParaRPr>
          </a:p>
        </p:txBody>
      </p:sp>
      <p:sp>
        <p:nvSpPr>
          <p:cNvPr id="1387" name="Google Shape;1387;p41"/>
          <p:cNvSpPr txBox="1"/>
          <p:nvPr/>
        </p:nvSpPr>
        <p:spPr>
          <a:xfrm>
            <a:off x="7924800" y="5334000"/>
            <a:ext cx="152400" cy="523220"/>
          </a:xfrm>
          <a:prstGeom prst="rect">
            <a:avLst/>
          </a:prstGeom>
          <a:noFill/>
          <a:ln>
            <a:noFill/>
          </a:ln>
        </p:spPr>
        <p:txBody>
          <a:bodyPr anchorCtr="0" anchor="ctr" bIns="45700" lIns="0" spcFirstLastPara="1" rIns="0" wrap="square" tIns="91425">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b="1" sz="1600">
              <a:solidFill>
                <a:schemeClr val="dk1"/>
              </a:solidFill>
              <a:latin typeface="Arial"/>
              <a:ea typeface="Arial"/>
              <a:cs typeface="Arial"/>
              <a:sym typeface="Arial"/>
            </a:endParaRPr>
          </a:p>
        </p:txBody>
      </p:sp>
      <p:sp>
        <p:nvSpPr>
          <p:cNvPr id="1388" name="Google Shape;1388;p41"/>
          <p:cNvSpPr/>
          <p:nvPr/>
        </p:nvSpPr>
        <p:spPr>
          <a:xfrm rot="-5400000">
            <a:off x="6036516" y="3412283"/>
            <a:ext cx="182975" cy="5398009"/>
          </a:xfrm>
          <a:prstGeom prst="leftBrace">
            <a:avLst>
              <a:gd fmla="val 8333" name="adj1"/>
              <a:gd fmla="val 50482" name="adj2"/>
            </a:avLst>
          </a:prstGeom>
          <a:noFill/>
          <a:ln cap="sq" cmpd="sng" w="28575">
            <a:solidFill>
              <a:srgbClr val="73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389" name="Google Shape;1389;p41"/>
          <p:cNvSpPr/>
          <p:nvPr/>
        </p:nvSpPr>
        <p:spPr>
          <a:xfrm rot="-5400000">
            <a:off x="2093168" y="4905042"/>
            <a:ext cx="182974" cy="2412494"/>
          </a:xfrm>
          <a:prstGeom prst="leftBrace">
            <a:avLst>
              <a:gd fmla="val 8333" name="adj1"/>
              <a:gd fmla="val 50482" name="adj2"/>
            </a:avLst>
          </a:prstGeom>
          <a:noFill/>
          <a:ln cap="sq" cmpd="sng" w="28575">
            <a:solidFill>
              <a:srgbClr val="73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390" name="Google Shape;1390;p41"/>
          <p:cNvSpPr txBox="1"/>
          <p:nvPr/>
        </p:nvSpPr>
        <p:spPr>
          <a:xfrm>
            <a:off x="1524000" y="6248400"/>
            <a:ext cx="1295400"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730000"/>
                </a:solidFill>
                <a:latin typeface="Arial"/>
                <a:ea typeface="Arial"/>
                <a:cs typeface="Arial"/>
                <a:sym typeface="Arial"/>
              </a:rPr>
              <a:t>$18,050</a:t>
            </a:r>
            <a:endParaRPr b="1" sz="1600">
              <a:solidFill>
                <a:srgbClr val="730000"/>
              </a:solidFill>
              <a:latin typeface="Arial"/>
              <a:ea typeface="Arial"/>
              <a:cs typeface="Arial"/>
              <a:sym typeface="Arial"/>
            </a:endParaRPr>
          </a:p>
        </p:txBody>
      </p:sp>
      <p:sp>
        <p:nvSpPr>
          <p:cNvPr id="1391" name="Google Shape;1391;p41"/>
          <p:cNvSpPr txBox="1"/>
          <p:nvPr/>
        </p:nvSpPr>
        <p:spPr>
          <a:xfrm>
            <a:off x="5486400" y="6248400"/>
            <a:ext cx="1371600"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730000"/>
                </a:solidFill>
                <a:latin typeface="Arial"/>
                <a:ea typeface="Arial"/>
                <a:cs typeface="Arial"/>
                <a:sym typeface="Arial"/>
              </a:rPr>
              <a:t>$18,050</a:t>
            </a:r>
            <a:endParaRPr b="1" sz="1600">
              <a:solidFill>
                <a:srgbClr val="730000"/>
              </a:solidFill>
              <a:latin typeface="Arial"/>
              <a:ea typeface="Arial"/>
              <a:cs typeface="Arial"/>
              <a:sym typeface="Arial"/>
            </a:endParaRPr>
          </a:p>
        </p:txBody>
      </p:sp>
      <p:sp>
        <p:nvSpPr>
          <p:cNvPr id="1392" name="Google Shape;1392;p41"/>
          <p:cNvSpPr/>
          <p:nvPr/>
        </p:nvSpPr>
        <p:spPr>
          <a:xfrm>
            <a:off x="381000" y="3657600"/>
            <a:ext cx="8610600" cy="276007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393" name="Google Shape;1393;p41"/>
          <p:cNvSpPr/>
          <p:nvPr/>
        </p:nvSpPr>
        <p:spPr>
          <a:xfrm>
            <a:off x="1371600" y="6111287"/>
            <a:ext cx="7455408" cy="45879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394" name="Google Shape;1394;p41"/>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4 </a:t>
            </a:r>
            <a:endParaRPr b="1" i="1" sz="1600">
              <a:solidFill>
                <a:schemeClr val="lt2"/>
              </a:solidFill>
              <a:latin typeface="Arial"/>
              <a:ea typeface="Arial"/>
              <a:cs typeface="Arial"/>
              <a:sym typeface="Arial"/>
            </a:endParaRPr>
          </a:p>
        </p:txBody>
      </p:sp>
      <p:sp>
        <p:nvSpPr>
          <p:cNvPr id="1395" name="Google Shape;1395;p41"/>
          <p:cNvSpPr txBox="1"/>
          <p:nvPr/>
        </p:nvSpPr>
        <p:spPr>
          <a:xfrm>
            <a:off x="6019800" y="2590800"/>
            <a:ext cx="11430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Owner's Drawings</a:t>
            </a:r>
            <a:endParaRPr b="1" sz="1600">
              <a:solidFill>
                <a:schemeClr val="dk1"/>
              </a:solidFill>
              <a:latin typeface="Arial"/>
              <a:ea typeface="Arial"/>
              <a:cs typeface="Arial"/>
              <a:sym typeface="Arial"/>
            </a:endParaRPr>
          </a:p>
        </p:txBody>
      </p:sp>
      <p:sp>
        <p:nvSpPr>
          <p:cNvPr id="1396" name="Google Shape;1396;p41"/>
          <p:cNvSpPr txBox="1"/>
          <p:nvPr/>
        </p:nvSpPr>
        <p:spPr>
          <a:xfrm>
            <a:off x="7162800" y="2590800"/>
            <a:ext cx="8382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Rev.</a:t>
            </a:r>
            <a:endParaRPr b="1" sz="1600">
              <a:solidFill>
                <a:schemeClr val="dk1"/>
              </a:solidFill>
              <a:latin typeface="Arial"/>
              <a:ea typeface="Arial"/>
              <a:cs typeface="Arial"/>
              <a:sym typeface="Arial"/>
            </a:endParaRPr>
          </a:p>
        </p:txBody>
      </p:sp>
      <p:sp>
        <p:nvSpPr>
          <p:cNvPr id="1397" name="Google Shape;1397;p41"/>
          <p:cNvSpPr txBox="1"/>
          <p:nvPr/>
        </p:nvSpPr>
        <p:spPr>
          <a:xfrm>
            <a:off x="8001000" y="2590800"/>
            <a:ext cx="8382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Exp.</a:t>
            </a:r>
            <a:endParaRPr b="1" sz="1600">
              <a:solidFill>
                <a:schemeClr val="dk1"/>
              </a:solidFill>
              <a:latin typeface="Arial"/>
              <a:ea typeface="Arial"/>
              <a:cs typeface="Arial"/>
              <a:sym typeface="Arial"/>
            </a:endParaRPr>
          </a:p>
        </p:txBody>
      </p:sp>
      <p:sp>
        <p:nvSpPr>
          <p:cNvPr id="1398" name="Google Shape;1398;p41"/>
          <p:cNvSpPr txBox="1"/>
          <p:nvPr/>
        </p:nvSpPr>
        <p:spPr>
          <a:xfrm>
            <a:off x="7086600" y="25908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a:p>
        </p:txBody>
      </p:sp>
      <p:sp>
        <p:nvSpPr>
          <p:cNvPr id="1399" name="Google Shape;1399;p41"/>
          <p:cNvSpPr txBox="1"/>
          <p:nvPr/>
        </p:nvSpPr>
        <p:spPr>
          <a:xfrm>
            <a:off x="7924800" y="25908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b="1" sz="1600">
              <a:solidFill>
                <a:schemeClr val="dk1"/>
              </a:solidFill>
              <a:latin typeface="Arial"/>
              <a:ea typeface="Arial"/>
              <a:cs typeface="Arial"/>
              <a:sym typeface="Arial"/>
            </a:endParaRPr>
          </a:p>
        </p:txBody>
      </p:sp>
      <p:sp>
        <p:nvSpPr>
          <p:cNvPr id="1400" name="Google Shape;1400;p41"/>
          <p:cNvSpPr txBox="1"/>
          <p:nvPr/>
        </p:nvSpPr>
        <p:spPr>
          <a:xfrm>
            <a:off x="0" y="428624"/>
            <a:ext cx="3276600" cy="691039"/>
          </a:xfrm>
          <a:prstGeom prst="rect">
            <a:avLst/>
          </a:prstGeom>
          <a:solidFill>
            <a:srgbClr val="D8D8D8"/>
          </a:solidFill>
          <a:ln>
            <a:noFill/>
          </a:ln>
        </p:spPr>
        <p:txBody>
          <a:bodyPr anchorCtr="0" anchor="t" bIns="45700" lIns="0" spcFirstLastPara="1" rIns="91425" wrap="square" tIns="0">
            <a:noAutofit/>
          </a:bodyPr>
          <a:lstStyle/>
          <a:p>
            <a:pPr indent="0" lvl="0" marL="519113" marR="0" rtl="0" algn="l">
              <a:spcBef>
                <a:spcPts val="0"/>
              </a:spcBef>
              <a:spcAft>
                <a:spcPts val="0"/>
              </a:spcAft>
              <a:buNone/>
            </a:pPr>
            <a:r>
              <a:rPr b="1" lang="en-US" sz="4200">
                <a:solidFill>
                  <a:srgbClr val="FF9900"/>
                </a:solidFill>
                <a:latin typeface="Arial"/>
                <a:ea typeface="Arial"/>
                <a:cs typeface="Arial"/>
                <a:sym typeface="Arial"/>
              </a:rPr>
              <a:t>DO IT!</a:t>
            </a:r>
            <a:endParaRPr b="1" sz="4200">
              <a:solidFill>
                <a:srgbClr val="FF9900"/>
              </a:solidFill>
              <a:latin typeface="Arial"/>
              <a:ea typeface="Arial"/>
              <a:cs typeface="Arial"/>
              <a:sym typeface="Arial"/>
            </a:endParaRPr>
          </a:p>
        </p:txBody>
      </p:sp>
      <p:sp>
        <p:nvSpPr>
          <p:cNvPr id="1401" name="Google Shape;1401;p41"/>
          <p:cNvSpPr/>
          <p:nvPr/>
        </p:nvSpPr>
        <p:spPr>
          <a:xfrm>
            <a:off x="2286000" y="428626"/>
            <a:ext cx="762000" cy="691038"/>
          </a:xfrm>
          <a:prstGeom prst="ellipse">
            <a:avLst/>
          </a:prstGeom>
          <a:solidFill>
            <a:schemeClr val="accent3"/>
          </a:solidFill>
          <a:ln cap="sq" cmpd="sng" w="12700">
            <a:solidFill>
              <a:srgbClr val="7F7F7F"/>
            </a:solidFill>
            <a:prstDash val="dash"/>
            <a:round/>
            <a:headEnd len="sm" w="sm" type="none"/>
            <a:tailEnd len="sm" w="sm" type="none"/>
          </a:ln>
        </p:spPr>
        <p:txBody>
          <a:bodyPr anchorCtr="0" anchor="ctr" bIns="45700" lIns="91425" spcFirstLastPara="1" rIns="91425" wrap="square" tIns="0">
            <a:noAutofit/>
          </a:bodyPr>
          <a:lstStyle/>
          <a:p>
            <a:pPr indent="0" lvl="0" marL="0" marR="0" rtl="0" algn="ctr">
              <a:lnSpc>
                <a:spcPct val="100000"/>
              </a:lnSpc>
              <a:spcBef>
                <a:spcPts val="0"/>
              </a:spcBef>
              <a:spcAft>
                <a:spcPts val="0"/>
              </a:spcAft>
              <a:buClr>
                <a:srgbClr val="FF9900"/>
              </a:buClr>
              <a:buSzPts val="3200"/>
              <a:buFont typeface="Arial"/>
              <a:buNone/>
            </a:pPr>
            <a:r>
              <a:rPr b="1" i="0" lang="en-US" sz="3200" u="none" cap="none" strike="noStrike">
                <a:solidFill>
                  <a:srgbClr val="FF9900"/>
                </a:solidFill>
                <a:latin typeface="Arial"/>
                <a:ea typeface="Arial"/>
                <a:cs typeface="Arial"/>
                <a:sym typeface="Arial"/>
              </a:rPr>
              <a:t>4</a:t>
            </a:r>
            <a:endParaRPr/>
          </a:p>
        </p:txBody>
      </p:sp>
      <p:sp>
        <p:nvSpPr>
          <p:cNvPr id="1402" name="Google Shape;1402;p41"/>
          <p:cNvSpPr txBox="1"/>
          <p:nvPr/>
        </p:nvSpPr>
        <p:spPr>
          <a:xfrm>
            <a:off x="3276600" y="501929"/>
            <a:ext cx="5867400" cy="566928"/>
          </a:xfrm>
          <a:prstGeom prst="rect">
            <a:avLst/>
          </a:prstGeom>
          <a:solidFill>
            <a:srgbClr val="0027A4"/>
          </a:solidFill>
          <a:ln>
            <a:noFill/>
          </a:ln>
        </p:spPr>
        <p:txBody>
          <a:bodyPr anchorCtr="0" anchor="t" bIns="43225" lIns="86475" spcFirstLastPara="1" rIns="86475" wrap="square" tIns="43225">
            <a:noAutofit/>
          </a:bodyPr>
          <a:lstStyle/>
          <a:p>
            <a:pPr indent="0" lvl="0" marL="111120" marR="0" rtl="0" algn="l">
              <a:spcBef>
                <a:spcPts val="0"/>
              </a:spcBef>
              <a:spcAft>
                <a:spcPts val="0"/>
              </a:spcAft>
              <a:buNone/>
            </a:pPr>
            <a:r>
              <a:rPr b="1" lang="en-US" sz="2800">
                <a:solidFill>
                  <a:schemeClr val="lt1"/>
                </a:solidFill>
                <a:latin typeface="Arial"/>
                <a:ea typeface="Arial"/>
                <a:cs typeface="Arial"/>
                <a:sym typeface="Arial"/>
              </a:rPr>
              <a:t>Tabular Analysis</a:t>
            </a:r>
            <a:endParaRPr b="1" sz="2800">
              <a:solidFill>
                <a:schemeClr val="lt1"/>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2"/>
                                        </p:tgtEl>
                                        <p:attrNameLst>
                                          <p:attrName>style.visibility</p:attrName>
                                        </p:attrNameLst>
                                      </p:cBhvr>
                                      <p:to>
                                        <p:strVal val="visible"/>
                                      </p:to>
                                    </p:set>
                                    <p:animEffect filter="fade" transition="in">
                                      <p:cBhvr>
                                        <p:cTn dur="500"/>
                                        <p:tgtEl>
                                          <p:spTgt spid="13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6" name="Shape 1406"/>
        <p:cNvGrpSpPr/>
        <p:nvPr/>
      </p:nvGrpSpPr>
      <p:grpSpPr>
        <a:xfrm>
          <a:off x="0" y="0"/>
          <a:ext cx="0" cy="0"/>
          <a:chOff x="0" y="0"/>
          <a:chExt cx="0" cy="0"/>
        </a:xfrm>
      </p:grpSpPr>
      <p:cxnSp>
        <p:nvCxnSpPr>
          <p:cNvPr id="1407" name="Google Shape;1407;p42"/>
          <p:cNvCxnSpPr/>
          <p:nvPr/>
        </p:nvCxnSpPr>
        <p:spPr>
          <a:xfrm>
            <a:off x="990600" y="54102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408" name="Google Shape;1408;p42"/>
          <p:cNvSpPr txBox="1"/>
          <p:nvPr/>
        </p:nvSpPr>
        <p:spPr>
          <a:xfrm>
            <a:off x="304800" y="3212812"/>
            <a:ext cx="8686800" cy="292388"/>
          </a:xfrm>
          <a:prstGeom prst="rect">
            <a:avLst/>
          </a:prstGeom>
          <a:noFill/>
          <a:ln>
            <a:noFill/>
          </a:ln>
        </p:spPr>
        <p:txBody>
          <a:bodyPr anchorCtr="0" anchor="t" bIns="45700" lIns="91425" spcFirstLastPara="1" rIns="91425" wrap="square" tIns="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	1.	+25,000			+25,000</a:t>
            </a:r>
            <a:endParaRPr b="1" sz="1600">
              <a:solidFill>
                <a:schemeClr val="dk1"/>
              </a:solidFill>
              <a:latin typeface="Arial"/>
              <a:ea typeface="Arial"/>
              <a:cs typeface="Arial"/>
              <a:sym typeface="Arial"/>
            </a:endParaRPr>
          </a:p>
        </p:txBody>
      </p:sp>
      <p:sp>
        <p:nvSpPr>
          <p:cNvPr id="1409" name="Google Shape;1409;p42"/>
          <p:cNvSpPr txBox="1"/>
          <p:nvPr/>
        </p:nvSpPr>
        <p:spPr>
          <a:xfrm>
            <a:off x="76200" y="2590800"/>
            <a:ext cx="9144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Trans-</a:t>
            </a:r>
            <a:endParaRPr/>
          </a:p>
          <a:p>
            <a:pPr indent="0" lvl="0" marL="0" marR="0" rtl="0" algn="ctr">
              <a:spcBef>
                <a:spcPts val="0"/>
              </a:spcBef>
              <a:spcAft>
                <a:spcPts val="0"/>
              </a:spcAft>
              <a:buNone/>
            </a:pPr>
            <a:r>
              <a:rPr b="1" lang="en-US" sz="1600">
                <a:solidFill>
                  <a:schemeClr val="dk1"/>
                </a:solidFill>
                <a:latin typeface="Arial"/>
                <a:ea typeface="Arial"/>
                <a:cs typeface="Arial"/>
                <a:sym typeface="Arial"/>
              </a:rPr>
              <a:t>action</a:t>
            </a:r>
            <a:endParaRPr/>
          </a:p>
        </p:txBody>
      </p:sp>
      <p:sp>
        <p:nvSpPr>
          <p:cNvPr id="1410" name="Google Shape;1410;p42"/>
          <p:cNvSpPr txBox="1"/>
          <p:nvPr/>
        </p:nvSpPr>
        <p:spPr>
          <a:xfrm>
            <a:off x="914400" y="2590800"/>
            <a:ext cx="9144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Cash   </a:t>
            </a:r>
            <a:endParaRPr b="1" sz="1600">
              <a:solidFill>
                <a:schemeClr val="dk1"/>
              </a:solidFill>
              <a:latin typeface="Arial"/>
              <a:ea typeface="Arial"/>
              <a:cs typeface="Arial"/>
              <a:sym typeface="Arial"/>
            </a:endParaRPr>
          </a:p>
        </p:txBody>
      </p:sp>
      <p:sp>
        <p:nvSpPr>
          <p:cNvPr id="1411" name="Google Shape;1411;p42"/>
          <p:cNvSpPr txBox="1"/>
          <p:nvPr/>
        </p:nvSpPr>
        <p:spPr>
          <a:xfrm>
            <a:off x="1981200" y="2590800"/>
            <a:ext cx="13716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Equipment</a:t>
            </a:r>
            <a:endParaRPr/>
          </a:p>
        </p:txBody>
      </p:sp>
      <p:sp>
        <p:nvSpPr>
          <p:cNvPr id="1412" name="Google Shape;1412;p42"/>
          <p:cNvSpPr txBox="1"/>
          <p:nvPr/>
        </p:nvSpPr>
        <p:spPr>
          <a:xfrm>
            <a:off x="3505200" y="2590800"/>
            <a:ext cx="13716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Accounts</a:t>
            </a:r>
            <a:endParaRPr/>
          </a:p>
          <a:p>
            <a:pPr indent="0" lvl="0" marL="0" marR="0" rtl="0" algn="ctr">
              <a:spcBef>
                <a:spcPts val="0"/>
              </a:spcBef>
              <a:spcAft>
                <a:spcPts val="0"/>
              </a:spcAft>
              <a:buNone/>
            </a:pPr>
            <a:r>
              <a:rPr b="1" lang="en-US" sz="1600">
                <a:solidFill>
                  <a:schemeClr val="dk1"/>
                </a:solidFill>
                <a:latin typeface="Arial"/>
                <a:ea typeface="Arial"/>
                <a:cs typeface="Arial"/>
                <a:sym typeface="Arial"/>
              </a:rPr>
              <a:t>Payable</a:t>
            </a:r>
            <a:endParaRPr/>
          </a:p>
        </p:txBody>
      </p:sp>
      <p:cxnSp>
        <p:nvCxnSpPr>
          <p:cNvPr id="1413" name="Google Shape;1413;p42"/>
          <p:cNvCxnSpPr/>
          <p:nvPr/>
        </p:nvCxnSpPr>
        <p:spPr>
          <a:xfrm>
            <a:off x="978408" y="31242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414" name="Google Shape;1414;p42"/>
          <p:cNvSpPr/>
          <p:nvPr/>
        </p:nvSpPr>
        <p:spPr>
          <a:xfrm>
            <a:off x="1905000" y="3048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415" name="Google Shape;1415;p42"/>
          <p:cNvSpPr/>
          <p:nvPr/>
        </p:nvSpPr>
        <p:spPr>
          <a:xfrm>
            <a:off x="3352800" y="3048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416" name="Google Shape;1416;p42"/>
          <p:cNvSpPr/>
          <p:nvPr/>
        </p:nvSpPr>
        <p:spPr>
          <a:xfrm>
            <a:off x="4800600" y="3048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417" name="Google Shape;1417;p42"/>
          <p:cNvSpPr/>
          <p:nvPr/>
        </p:nvSpPr>
        <p:spPr>
          <a:xfrm>
            <a:off x="5943600" y="3048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418" name="Google Shape;1418;p42"/>
          <p:cNvSpPr txBox="1"/>
          <p:nvPr/>
        </p:nvSpPr>
        <p:spPr>
          <a:xfrm>
            <a:off x="914399" y="2286000"/>
            <a:ext cx="7924801" cy="26161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	Assets	=    Liabilities +	Owner's Equity</a:t>
            </a:r>
            <a:endParaRPr b="1" sz="1600">
              <a:solidFill>
                <a:schemeClr val="dk1"/>
              </a:solidFill>
              <a:latin typeface="Arial"/>
              <a:ea typeface="Arial"/>
              <a:cs typeface="Arial"/>
              <a:sym typeface="Arial"/>
            </a:endParaRPr>
          </a:p>
        </p:txBody>
      </p:sp>
      <p:cxnSp>
        <p:nvCxnSpPr>
          <p:cNvPr id="1419" name="Google Shape;1419;p42"/>
          <p:cNvCxnSpPr/>
          <p:nvPr/>
        </p:nvCxnSpPr>
        <p:spPr>
          <a:xfrm>
            <a:off x="914400" y="25908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420" name="Google Shape;1420;p42"/>
          <p:cNvSpPr txBox="1"/>
          <p:nvPr/>
        </p:nvSpPr>
        <p:spPr>
          <a:xfrm>
            <a:off x="4724400" y="25908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a:p>
        </p:txBody>
      </p:sp>
      <p:sp>
        <p:nvSpPr>
          <p:cNvPr id="1421" name="Google Shape;1421;p42"/>
          <p:cNvSpPr txBox="1"/>
          <p:nvPr/>
        </p:nvSpPr>
        <p:spPr>
          <a:xfrm>
            <a:off x="5867400" y="25908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a:p>
        </p:txBody>
      </p:sp>
      <p:sp>
        <p:nvSpPr>
          <p:cNvPr id="1422" name="Google Shape;1422;p42"/>
          <p:cNvSpPr txBox="1"/>
          <p:nvPr/>
        </p:nvSpPr>
        <p:spPr>
          <a:xfrm>
            <a:off x="1828800" y="25908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b="1" sz="1600">
              <a:solidFill>
                <a:schemeClr val="dk1"/>
              </a:solidFill>
              <a:latin typeface="Arial"/>
              <a:ea typeface="Arial"/>
              <a:cs typeface="Arial"/>
              <a:sym typeface="Arial"/>
            </a:endParaRPr>
          </a:p>
        </p:txBody>
      </p:sp>
      <p:sp>
        <p:nvSpPr>
          <p:cNvPr id="1423" name="Google Shape;1423;p42"/>
          <p:cNvSpPr txBox="1"/>
          <p:nvPr/>
        </p:nvSpPr>
        <p:spPr>
          <a:xfrm>
            <a:off x="3352800" y="25908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a:p>
        </p:txBody>
      </p:sp>
      <p:cxnSp>
        <p:nvCxnSpPr>
          <p:cNvPr id="1424" name="Google Shape;1424;p42"/>
          <p:cNvCxnSpPr/>
          <p:nvPr/>
        </p:nvCxnSpPr>
        <p:spPr>
          <a:xfrm>
            <a:off x="990600" y="35814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425" name="Google Shape;1425;p42"/>
          <p:cNvSpPr txBox="1"/>
          <p:nvPr/>
        </p:nvSpPr>
        <p:spPr>
          <a:xfrm>
            <a:off x="533400" y="1371600"/>
            <a:ext cx="8392886" cy="439287"/>
          </a:xfrm>
          <a:prstGeom prst="rect">
            <a:avLst/>
          </a:prstGeom>
          <a:noFill/>
          <a:ln>
            <a:noFill/>
          </a:ln>
        </p:spPr>
        <p:txBody>
          <a:bodyPr anchorCtr="0" anchor="t" bIns="45700" lIns="91425" spcFirstLastPara="1" rIns="91425" wrap="square" tIns="45700">
            <a:spAutoFit/>
          </a:bodyPr>
          <a:lstStyle/>
          <a:p>
            <a:pPr indent="-341313" lvl="0" marL="341313" marR="0" rtl="0" algn="l">
              <a:lnSpc>
                <a:spcPct val="125000"/>
              </a:lnSpc>
              <a:spcBef>
                <a:spcPts val="0"/>
              </a:spcBef>
              <a:spcAft>
                <a:spcPts val="0"/>
              </a:spcAft>
              <a:buClr>
                <a:schemeClr val="dk1"/>
              </a:buClr>
              <a:buSzPts val="2000"/>
              <a:buFont typeface="Comic Sans MS"/>
              <a:buAutoNum type="arabicPeriod" startAt="2"/>
            </a:pPr>
            <a:r>
              <a:rPr b="1" lang="en-US" sz="2000">
                <a:solidFill>
                  <a:schemeClr val="dk1"/>
                </a:solidFill>
                <a:latin typeface="Arial"/>
                <a:ea typeface="Arial"/>
                <a:cs typeface="Arial"/>
                <a:sym typeface="Arial"/>
              </a:rPr>
              <a:t>The company purchased $7,000 of office equipment on credit.</a:t>
            </a:r>
            <a:endParaRPr/>
          </a:p>
        </p:txBody>
      </p:sp>
      <p:sp>
        <p:nvSpPr>
          <p:cNvPr id="1426" name="Google Shape;1426;p42"/>
          <p:cNvSpPr txBox="1"/>
          <p:nvPr/>
        </p:nvSpPr>
        <p:spPr>
          <a:xfrm>
            <a:off x="304800" y="3670012"/>
            <a:ext cx="8686800" cy="292388"/>
          </a:xfrm>
          <a:prstGeom prst="rect">
            <a:avLst/>
          </a:prstGeom>
          <a:noFill/>
          <a:ln>
            <a:noFill/>
          </a:ln>
        </p:spPr>
        <p:txBody>
          <a:bodyPr anchorCtr="0" anchor="t" bIns="45700" lIns="91425" spcFirstLastPara="1" rIns="91425" wrap="square" tIns="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	2.		+7,000	+7,000</a:t>
            </a:r>
            <a:endParaRPr b="1" sz="1600">
              <a:solidFill>
                <a:schemeClr val="dk1"/>
              </a:solidFill>
              <a:latin typeface="Arial"/>
              <a:ea typeface="Arial"/>
              <a:cs typeface="Arial"/>
              <a:sym typeface="Arial"/>
            </a:endParaRPr>
          </a:p>
        </p:txBody>
      </p:sp>
      <p:cxnSp>
        <p:nvCxnSpPr>
          <p:cNvPr id="1427" name="Google Shape;1427;p42"/>
          <p:cNvCxnSpPr/>
          <p:nvPr/>
        </p:nvCxnSpPr>
        <p:spPr>
          <a:xfrm>
            <a:off x="990600" y="40386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428" name="Google Shape;1428;p42"/>
          <p:cNvSpPr txBox="1"/>
          <p:nvPr/>
        </p:nvSpPr>
        <p:spPr>
          <a:xfrm>
            <a:off x="304800" y="4127212"/>
            <a:ext cx="8686800" cy="292388"/>
          </a:xfrm>
          <a:prstGeom prst="rect">
            <a:avLst/>
          </a:prstGeom>
          <a:noFill/>
          <a:ln>
            <a:noFill/>
          </a:ln>
        </p:spPr>
        <p:txBody>
          <a:bodyPr anchorCtr="0" anchor="t" bIns="45700" lIns="91425" spcFirstLastPara="1" rIns="91425" wrap="square" tIns="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	3.	+8,000				+8,000</a:t>
            </a:r>
            <a:endParaRPr b="1" sz="1600">
              <a:solidFill>
                <a:schemeClr val="dk1"/>
              </a:solidFill>
              <a:latin typeface="Arial"/>
              <a:ea typeface="Arial"/>
              <a:cs typeface="Arial"/>
              <a:sym typeface="Arial"/>
            </a:endParaRPr>
          </a:p>
        </p:txBody>
      </p:sp>
      <p:cxnSp>
        <p:nvCxnSpPr>
          <p:cNvPr id="1429" name="Google Shape;1429;p42"/>
          <p:cNvCxnSpPr/>
          <p:nvPr/>
        </p:nvCxnSpPr>
        <p:spPr>
          <a:xfrm>
            <a:off x="990600" y="44958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430" name="Google Shape;1430;p42"/>
          <p:cNvSpPr txBox="1"/>
          <p:nvPr/>
        </p:nvSpPr>
        <p:spPr>
          <a:xfrm>
            <a:off x="304800" y="4584412"/>
            <a:ext cx="8686800" cy="292388"/>
          </a:xfrm>
          <a:prstGeom prst="rect">
            <a:avLst/>
          </a:prstGeom>
          <a:noFill/>
          <a:ln>
            <a:noFill/>
          </a:ln>
        </p:spPr>
        <p:txBody>
          <a:bodyPr anchorCtr="0" anchor="t" bIns="45700" lIns="91425" spcFirstLastPara="1" rIns="91425" wrap="square" tIns="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	4.	-850					-850</a:t>
            </a:r>
            <a:endParaRPr b="1" sz="1600">
              <a:solidFill>
                <a:schemeClr val="dk1"/>
              </a:solidFill>
              <a:latin typeface="Arial"/>
              <a:ea typeface="Arial"/>
              <a:cs typeface="Arial"/>
              <a:sym typeface="Arial"/>
            </a:endParaRPr>
          </a:p>
        </p:txBody>
      </p:sp>
      <p:cxnSp>
        <p:nvCxnSpPr>
          <p:cNvPr id="1431" name="Google Shape;1431;p42"/>
          <p:cNvCxnSpPr/>
          <p:nvPr/>
        </p:nvCxnSpPr>
        <p:spPr>
          <a:xfrm>
            <a:off x="990600" y="49530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432" name="Google Shape;1432;p42"/>
          <p:cNvSpPr txBox="1"/>
          <p:nvPr/>
        </p:nvSpPr>
        <p:spPr>
          <a:xfrm>
            <a:off x="304800" y="5041612"/>
            <a:ext cx="8686800" cy="292388"/>
          </a:xfrm>
          <a:prstGeom prst="rect">
            <a:avLst/>
          </a:prstGeom>
          <a:noFill/>
          <a:ln>
            <a:noFill/>
          </a:ln>
        </p:spPr>
        <p:txBody>
          <a:bodyPr anchorCtr="0" anchor="t" bIns="45700" lIns="91425" spcFirstLastPara="1" rIns="91425" wrap="square" tIns="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	5.	-1,000						-1,000</a:t>
            </a:r>
            <a:endParaRPr b="1" sz="1600">
              <a:solidFill>
                <a:schemeClr val="dk1"/>
              </a:solidFill>
              <a:latin typeface="Arial"/>
              <a:ea typeface="Arial"/>
              <a:cs typeface="Arial"/>
              <a:sym typeface="Arial"/>
            </a:endParaRPr>
          </a:p>
        </p:txBody>
      </p:sp>
      <p:sp>
        <p:nvSpPr>
          <p:cNvPr id="1433" name="Google Shape;1433;p42"/>
          <p:cNvSpPr/>
          <p:nvPr/>
        </p:nvSpPr>
        <p:spPr>
          <a:xfrm>
            <a:off x="1917192" y="5334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434" name="Google Shape;1434;p42"/>
          <p:cNvSpPr/>
          <p:nvPr/>
        </p:nvSpPr>
        <p:spPr>
          <a:xfrm>
            <a:off x="3364992" y="5334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435" name="Google Shape;1435;p42"/>
          <p:cNvSpPr/>
          <p:nvPr/>
        </p:nvSpPr>
        <p:spPr>
          <a:xfrm>
            <a:off x="4812792" y="5334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436" name="Google Shape;1436;p42"/>
          <p:cNvSpPr/>
          <p:nvPr/>
        </p:nvSpPr>
        <p:spPr>
          <a:xfrm>
            <a:off x="5955792" y="5334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437" name="Google Shape;1437;p42"/>
          <p:cNvSpPr/>
          <p:nvPr/>
        </p:nvSpPr>
        <p:spPr>
          <a:xfrm>
            <a:off x="6946392" y="5334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438" name="Google Shape;1438;p42"/>
          <p:cNvSpPr/>
          <p:nvPr/>
        </p:nvSpPr>
        <p:spPr>
          <a:xfrm>
            <a:off x="7936992" y="5334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cxnSp>
        <p:nvCxnSpPr>
          <p:cNvPr id="1439" name="Google Shape;1439;p42"/>
          <p:cNvCxnSpPr/>
          <p:nvPr/>
        </p:nvCxnSpPr>
        <p:spPr>
          <a:xfrm>
            <a:off x="990600" y="58674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440" name="Google Shape;1440;p42"/>
          <p:cNvSpPr/>
          <p:nvPr/>
        </p:nvSpPr>
        <p:spPr>
          <a:xfrm>
            <a:off x="1917192" y="5791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441" name="Google Shape;1441;p42"/>
          <p:cNvSpPr/>
          <p:nvPr/>
        </p:nvSpPr>
        <p:spPr>
          <a:xfrm>
            <a:off x="3364992" y="5791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442" name="Google Shape;1442;p42"/>
          <p:cNvSpPr/>
          <p:nvPr/>
        </p:nvSpPr>
        <p:spPr>
          <a:xfrm>
            <a:off x="4812792" y="5791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443" name="Google Shape;1443;p42"/>
          <p:cNvSpPr/>
          <p:nvPr/>
        </p:nvSpPr>
        <p:spPr>
          <a:xfrm>
            <a:off x="5955792" y="5791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444" name="Google Shape;1444;p42"/>
          <p:cNvSpPr/>
          <p:nvPr/>
        </p:nvSpPr>
        <p:spPr>
          <a:xfrm>
            <a:off x="6946392" y="5791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445" name="Google Shape;1445;p42"/>
          <p:cNvSpPr/>
          <p:nvPr/>
        </p:nvSpPr>
        <p:spPr>
          <a:xfrm>
            <a:off x="7936992" y="5791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cxnSp>
        <p:nvCxnSpPr>
          <p:cNvPr id="1446" name="Google Shape;1446;p42"/>
          <p:cNvCxnSpPr/>
          <p:nvPr/>
        </p:nvCxnSpPr>
        <p:spPr>
          <a:xfrm>
            <a:off x="990600" y="59436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447" name="Google Shape;1447;p42"/>
          <p:cNvSpPr/>
          <p:nvPr/>
        </p:nvSpPr>
        <p:spPr>
          <a:xfrm>
            <a:off x="1917192" y="58674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448" name="Google Shape;1448;p42"/>
          <p:cNvSpPr/>
          <p:nvPr/>
        </p:nvSpPr>
        <p:spPr>
          <a:xfrm>
            <a:off x="3364992" y="58674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449" name="Google Shape;1449;p42"/>
          <p:cNvSpPr/>
          <p:nvPr/>
        </p:nvSpPr>
        <p:spPr>
          <a:xfrm>
            <a:off x="4812792" y="58674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450" name="Google Shape;1450;p42"/>
          <p:cNvSpPr/>
          <p:nvPr/>
        </p:nvSpPr>
        <p:spPr>
          <a:xfrm>
            <a:off x="5955792" y="58674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451" name="Google Shape;1451;p42"/>
          <p:cNvSpPr/>
          <p:nvPr/>
        </p:nvSpPr>
        <p:spPr>
          <a:xfrm>
            <a:off x="6946392" y="58674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452" name="Google Shape;1452;p42"/>
          <p:cNvSpPr/>
          <p:nvPr/>
        </p:nvSpPr>
        <p:spPr>
          <a:xfrm>
            <a:off x="7936992" y="58674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453" name="Google Shape;1453;p42"/>
          <p:cNvSpPr txBox="1"/>
          <p:nvPr/>
        </p:nvSpPr>
        <p:spPr>
          <a:xfrm>
            <a:off x="304800" y="5498812"/>
            <a:ext cx="8686800" cy="292388"/>
          </a:xfrm>
          <a:prstGeom prst="rect">
            <a:avLst/>
          </a:prstGeom>
          <a:noFill/>
          <a:ln>
            <a:noFill/>
          </a:ln>
        </p:spPr>
        <p:txBody>
          <a:bodyPr anchorCtr="0" anchor="t" bIns="45700" lIns="91425" spcFirstLastPara="1" rIns="91425" wrap="square" tIns="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		$31,150	$7,000	$7,000	$25,000	$8,000	$850	$1,000</a:t>
            </a:r>
            <a:endParaRPr b="1" sz="1600">
              <a:solidFill>
                <a:schemeClr val="dk1"/>
              </a:solidFill>
              <a:latin typeface="Arial"/>
              <a:ea typeface="Arial"/>
              <a:cs typeface="Arial"/>
              <a:sym typeface="Arial"/>
            </a:endParaRPr>
          </a:p>
        </p:txBody>
      </p:sp>
      <p:pic>
        <p:nvPicPr>
          <p:cNvPr id="1454" name="Google Shape;1454;p42"/>
          <p:cNvPicPr preferRelativeResize="0"/>
          <p:nvPr/>
        </p:nvPicPr>
        <p:blipFill rotWithShape="1">
          <a:blip r:embed="rId3">
            <a:alphaModFix/>
          </a:blip>
          <a:srcRect b="0" l="0" r="0" t="0"/>
          <a:stretch/>
        </p:blipFill>
        <p:spPr>
          <a:xfrm>
            <a:off x="2493472" y="571501"/>
            <a:ext cx="409385" cy="344759"/>
          </a:xfrm>
          <a:prstGeom prst="rect">
            <a:avLst/>
          </a:prstGeom>
          <a:noFill/>
          <a:ln>
            <a:noFill/>
          </a:ln>
        </p:spPr>
      </p:pic>
      <p:sp>
        <p:nvSpPr>
          <p:cNvPr id="1455" name="Google Shape;1455;p42"/>
          <p:cNvSpPr txBox="1"/>
          <p:nvPr/>
        </p:nvSpPr>
        <p:spPr>
          <a:xfrm>
            <a:off x="4724400" y="5334000"/>
            <a:ext cx="152400" cy="523220"/>
          </a:xfrm>
          <a:prstGeom prst="rect">
            <a:avLst/>
          </a:prstGeom>
          <a:noFill/>
          <a:ln>
            <a:noFill/>
          </a:ln>
        </p:spPr>
        <p:txBody>
          <a:bodyPr anchorCtr="0" anchor="ctr" bIns="45700" lIns="0" spcFirstLastPara="1" rIns="0" wrap="square" tIns="91425">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a:p>
        </p:txBody>
      </p:sp>
      <p:sp>
        <p:nvSpPr>
          <p:cNvPr id="1456" name="Google Shape;1456;p42"/>
          <p:cNvSpPr txBox="1"/>
          <p:nvPr/>
        </p:nvSpPr>
        <p:spPr>
          <a:xfrm>
            <a:off x="5943600" y="5334000"/>
            <a:ext cx="152400" cy="523220"/>
          </a:xfrm>
          <a:prstGeom prst="rect">
            <a:avLst/>
          </a:prstGeom>
          <a:noFill/>
          <a:ln>
            <a:noFill/>
          </a:ln>
        </p:spPr>
        <p:txBody>
          <a:bodyPr anchorCtr="0" anchor="ctr" bIns="45700" lIns="0" spcFirstLastPara="1" rIns="0" wrap="square" tIns="91425">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a:p>
        </p:txBody>
      </p:sp>
      <p:sp>
        <p:nvSpPr>
          <p:cNvPr id="1457" name="Google Shape;1457;p42"/>
          <p:cNvSpPr txBox="1"/>
          <p:nvPr/>
        </p:nvSpPr>
        <p:spPr>
          <a:xfrm>
            <a:off x="1905000" y="5334000"/>
            <a:ext cx="152400" cy="523220"/>
          </a:xfrm>
          <a:prstGeom prst="rect">
            <a:avLst/>
          </a:prstGeom>
          <a:noFill/>
          <a:ln>
            <a:noFill/>
          </a:ln>
        </p:spPr>
        <p:txBody>
          <a:bodyPr anchorCtr="0" anchor="ctr" bIns="45700" lIns="0" spcFirstLastPara="1" rIns="0" wrap="square" tIns="91425">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b="1" sz="1600">
              <a:solidFill>
                <a:schemeClr val="dk1"/>
              </a:solidFill>
              <a:latin typeface="Arial"/>
              <a:ea typeface="Arial"/>
              <a:cs typeface="Arial"/>
              <a:sym typeface="Arial"/>
            </a:endParaRPr>
          </a:p>
        </p:txBody>
      </p:sp>
      <p:sp>
        <p:nvSpPr>
          <p:cNvPr id="1458" name="Google Shape;1458;p42"/>
          <p:cNvSpPr txBox="1"/>
          <p:nvPr/>
        </p:nvSpPr>
        <p:spPr>
          <a:xfrm>
            <a:off x="3352800" y="5334000"/>
            <a:ext cx="152400" cy="523220"/>
          </a:xfrm>
          <a:prstGeom prst="rect">
            <a:avLst/>
          </a:prstGeom>
          <a:noFill/>
          <a:ln>
            <a:noFill/>
          </a:ln>
        </p:spPr>
        <p:txBody>
          <a:bodyPr anchorCtr="0" anchor="ctr" bIns="45700" lIns="0" spcFirstLastPara="1" rIns="0" wrap="square" tIns="91425">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a:p>
        </p:txBody>
      </p:sp>
      <p:sp>
        <p:nvSpPr>
          <p:cNvPr id="1459" name="Google Shape;1459;p42"/>
          <p:cNvSpPr txBox="1"/>
          <p:nvPr/>
        </p:nvSpPr>
        <p:spPr>
          <a:xfrm>
            <a:off x="6934200" y="5334000"/>
            <a:ext cx="152400" cy="523220"/>
          </a:xfrm>
          <a:prstGeom prst="rect">
            <a:avLst/>
          </a:prstGeom>
          <a:noFill/>
          <a:ln>
            <a:noFill/>
          </a:ln>
        </p:spPr>
        <p:txBody>
          <a:bodyPr anchorCtr="0" anchor="ctr" bIns="45700" lIns="0" spcFirstLastPara="1" rIns="0" wrap="square" tIns="91425">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b="1" sz="1600">
              <a:solidFill>
                <a:schemeClr val="dk1"/>
              </a:solidFill>
              <a:latin typeface="Arial"/>
              <a:ea typeface="Arial"/>
              <a:cs typeface="Arial"/>
              <a:sym typeface="Arial"/>
            </a:endParaRPr>
          </a:p>
        </p:txBody>
      </p:sp>
      <p:sp>
        <p:nvSpPr>
          <p:cNvPr id="1460" name="Google Shape;1460;p42"/>
          <p:cNvSpPr txBox="1"/>
          <p:nvPr/>
        </p:nvSpPr>
        <p:spPr>
          <a:xfrm>
            <a:off x="7924800" y="5334000"/>
            <a:ext cx="152400" cy="523220"/>
          </a:xfrm>
          <a:prstGeom prst="rect">
            <a:avLst/>
          </a:prstGeom>
          <a:noFill/>
          <a:ln>
            <a:noFill/>
          </a:ln>
        </p:spPr>
        <p:txBody>
          <a:bodyPr anchorCtr="0" anchor="ctr" bIns="45700" lIns="0" spcFirstLastPara="1" rIns="0" wrap="square" tIns="91425">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b="1" sz="1600">
              <a:solidFill>
                <a:schemeClr val="dk1"/>
              </a:solidFill>
              <a:latin typeface="Arial"/>
              <a:ea typeface="Arial"/>
              <a:cs typeface="Arial"/>
              <a:sym typeface="Arial"/>
            </a:endParaRPr>
          </a:p>
        </p:txBody>
      </p:sp>
      <p:sp>
        <p:nvSpPr>
          <p:cNvPr id="1461" name="Google Shape;1461;p42"/>
          <p:cNvSpPr/>
          <p:nvPr/>
        </p:nvSpPr>
        <p:spPr>
          <a:xfrm rot="-5400000">
            <a:off x="6036516" y="3412283"/>
            <a:ext cx="182975" cy="5398009"/>
          </a:xfrm>
          <a:prstGeom prst="leftBrace">
            <a:avLst>
              <a:gd fmla="val 8333" name="adj1"/>
              <a:gd fmla="val 50482" name="adj2"/>
            </a:avLst>
          </a:prstGeom>
          <a:noFill/>
          <a:ln cap="sq" cmpd="sng" w="28575">
            <a:solidFill>
              <a:srgbClr val="73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462" name="Google Shape;1462;p42"/>
          <p:cNvSpPr/>
          <p:nvPr/>
        </p:nvSpPr>
        <p:spPr>
          <a:xfrm rot="-5400000">
            <a:off x="2093168" y="4905042"/>
            <a:ext cx="182974" cy="2412494"/>
          </a:xfrm>
          <a:prstGeom prst="leftBrace">
            <a:avLst>
              <a:gd fmla="val 8333" name="adj1"/>
              <a:gd fmla="val 50482" name="adj2"/>
            </a:avLst>
          </a:prstGeom>
          <a:noFill/>
          <a:ln cap="sq" cmpd="sng" w="28575">
            <a:solidFill>
              <a:srgbClr val="73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463" name="Google Shape;1463;p42"/>
          <p:cNvSpPr txBox="1"/>
          <p:nvPr/>
        </p:nvSpPr>
        <p:spPr>
          <a:xfrm>
            <a:off x="1524000" y="6248400"/>
            <a:ext cx="1295400"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730000"/>
                </a:solidFill>
                <a:latin typeface="Arial"/>
                <a:ea typeface="Arial"/>
                <a:cs typeface="Arial"/>
                <a:sym typeface="Arial"/>
              </a:rPr>
              <a:t>$18,050</a:t>
            </a:r>
            <a:endParaRPr b="1" sz="1600">
              <a:solidFill>
                <a:srgbClr val="730000"/>
              </a:solidFill>
              <a:latin typeface="Arial"/>
              <a:ea typeface="Arial"/>
              <a:cs typeface="Arial"/>
              <a:sym typeface="Arial"/>
            </a:endParaRPr>
          </a:p>
        </p:txBody>
      </p:sp>
      <p:sp>
        <p:nvSpPr>
          <p:cNvPr id="1464" name="Google Shape;1464;p42"/>
          <p:cNvSpPr txBox="1"/>
          <p:nvPr/>
        </p:nvSpPr>
        <p:spPr>
          <a:xfrm>
            <a:off x="5486400" y="6248400"/>
            <a:ext cx="1371600"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730000"/>
                </a:solidFill>
                <a:latin typeface="Arial"/>
                <a:ea typeface="Arial"/>
                <a:cs typeface="Arial"/>
                <a:sym typeface="Arial"/>
              </a:rPr>
              <a:t>$18,050</a:t>
            </a:r>
            <a:endParaRPr b="1" sz="1600">
              <a:solidFill>
                <a:srgbClr val="730000"/>
              </a:solidFill>
              <a:latin typeface="Arial"/>
              <a:ea typeface="Arial"/>
              <a:cs typeface="Arial"/>
              <a:sym typeface="Arial"/>
            </a:endParaRPr>
          </a:p>
        </p:txBody>
      </p:sp>
      <p:sp>
        <p:nvSpPr>
          <p:cNvPr id="1465" name="Google Shape;1465;p42"/>
          <p:cNvSpPr/>
          <p:nvPr/>
        </p:nvSpPr>
        <p:spPr>
          <a:xfrm>
            <a:off x="381000" y="4127212"/>
            <a:ext cx="8610600" cy="229046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466" name="Google Shape;1466;p42"/>
          <p:cNvSpPr/>
          <p:nvPr/>
        </p:nvSpPr>
        <p:spPr>
          <a:xfrm>
            <a:off x="1371600" y="6111287"/>
            <a:ext cx="7455408" cy="45879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467" name="Google Shape;1467;p42"/>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4 </a:t>
            </a:r>
            <a:endParaRPr b="1" i="1" sz="1600">
              <a:solidFill>
                <a:schemeClr val="lt2"/>
              </a:solidFill>
              <a:latin typeface="Arial"/>
              <a:ea typeface="Arial"/>
              <a:cs typeface="Arial"/>
              <a:sym typeface="Arial"/>
            </a:endParaRPr>
          </a:p>
        </p:txBody>
      </p:sp>
      <p:sp>
        <p:nvSpPr>
          <p:cNvPr id="1468" name="Google Shape;1468;p42"/>
          <p:cNvSpPr/>
          <p:nvPr/>
        </p:nvSpPr>
        <p:spPr>
          <a:xfrm>
            <a:off x="7162800" y="3048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469" name="Google Shape;1469;p42"/>
          <p:cNvSpPr/>
          <p:nvPr/>
        </p:nvSpPr>
        <p:spPr>
          <a:xfrm>
            <a:off x="8001000" y="3048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470" name="Google Shape;1470;p42"/>
          <p:cNvSpPr txBox="1"/>
          <p:nvPr/>
        </p:nvSpPr>
        <p:spPr>
          <a:xfrm>
            <a:off x="6019800" y="2590800"/>
            <a:ext cx="11430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Owner's Drawings</a:t>
            </a:r>
            <a:endParaRPr b="1" sz="1600">
              <a:solidFill>
                <a:schemeClr val="dk1"/>
              </a:solidFill>
              <a:latin typeface="Arial"/>
              <a:ea typeface="Arial"/>
              <a:cs typeface="Arial"/>
              <a:sym typeface="Arial"/>
            </a:endParaRPr>
          </a:p>
        </p:txBody>
      </p:sp>
      <p:sp>
        <p:nvSpPr>
          <p:cNvPr id="1471" name="Google Shape;1471;p42"/>
          <p:cNvSpPr txBox="1"/>
          <p:nvPr/>
        </p:nvSpPr>
        <p:spPr>
          <a:xfrm>
            <a:off x="7162800" y="2590800"/>
            <a:ext cx="8382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Rev.</a:t>
            </a:r>
            <a:endParaRPr b="1" sz="1600">
              <a:solidFill>
                <a:schemeClr val="dk1"/>
              </a:solidFill>
              <a:latin typeface="Arial"/>
              <a:ea typeface="Arial"/>
              <a:cs typeface="Arial"/>
              <a:sym typeface="Arial"/>
            </a:endParaRPr>
          </a:p>
        </p:txBody>
      </p:sp>
      <p:sp>
        <p:nvSpPr>
          <p:cNvPr id="1472" name="Google Shape;1472;p42"/>
          <p:cNvSpPr txBox="1"/>
          <p:nvPr/>
        </p:nvSpPr>
        <p:spPr>
          <a:xfrm>
            <a:off x="8001000" y="2590800"/>
            <a:ext cx="8382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Exp.</a:t>
            </a:r>
            <a:endParaRPr b="1" sz="1600">
              <a:solidFill>
                <a:schemeClr val="dk1"/>
              </a:solidFill>
              <a:latin typeface="Arial"/>
              <a:ea typeface="Arial"/>
              <a:cs typeface="Arial"/>
              <a:sym typeface="Arial"/>
            </a:endParaRPr>
          </a:p>
        </p:txBody>
      </p:sp>
      <p:sp>
        <p:nvSpPr>
          <p:cNvPr id="1473" name="Google Shape;1473;p42"/>
          <p:cNvSpPr txBox="1"/>
          <p:nvPr/>
        </p:nvSpPr>
        <p:spPr>
          <a:xfrm>
            <a:off x="7086600" y="25908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a:p>
        </p:txBody>
      </p:sp>
      <p:sp>
        <p:nvSpPr>
          <p:cNvPr id="1474" name="Google Shape;1474;p42"/>
          <p:cNvSpPr txBox="1"/>
          <p:nvPr/>
        </p:nvSpPr>
        <p:spPr>
          <a:xfrm>
            <a:off x="7924800" y="25908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b="1" sz="1600">
              <a:solidFill>
                <a:schemeClr val="dk1"/>
              </a:solidFill>
              <a:latin typeface="Arial"/>
              <a:ea typeface="Arial"/>
              <a:cs typeface="Arial"/>
              <a:sym typeface="Arial"/>
            </a:endParaRPr>
          </a:p>
        </p:txBody>
      </p:sp>
      <p:sp>
        <p:nvSpPr>
          <p:cNvPr id="1475" name="Google Shape;1475;p42"/>
          <p:cNvSpPr txBox="1"/>
          <p:nvPr/>
        </p:nvSpPr>
        <p:spPr>
          <a:xfrm>
            <a:off x="4800600" y="2590800"/>
            <a:ext cx="12954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Owner's Capital</a:t>
            </a:r>
            <a:endParaRPr b="1" sz="1600">
              <a:solidFill>
                <a:schemeClr val="dk1"/>
              </a:solidFill>
              <a:latin typeface="Arial"/>
              <a:ea typeface="Arial"/>
              <a:cs typeface="Arial"/>
              <a:sym typeface="Arial"/>
            </a:endParaRPr>
          </a:p>
        </p:txBody>
      </p:sp>
      <p:sp>
        <p:nvSpPr>
          <p:cNvPr id="1476" name="Google Shape;1476;p42"/>
          <p:cNvSpPr txBox="1"/>
          <p:nvPr/>
        </p:nvSpPr>
        <p:spPr>
          <a:xfrm>
            <a:off x="0" y="428624"/>
            <a:ext cx="3276600" cy="691039"/>
          </a:xfrm>
          <a:prstGeom prst="rect">
            <a:avLst/>
          </a:prstGeom>
          <a:solidFill>
            <a:srgbClr val="D8D8D8"/>
          </a:solidFill>
          <a:ln>
            <a:noFill/>
          </a:ln>
        </p:spPr>
        <p:txBody>
          <a:bodyPr anchorCtr="0" anchor="t" bIns="45700" lIns="0" spcFirstLastPara="1" rIns="91425" wrap="square" tIns="0">
            <a:noAutofit/>
          </a:bodyPr>
          <a:lstStyle/>
          <a:p>
            <a:pPr indent="0" lvl="0" marL="519113" marR="0" rtl="0" algn="l">
              <a:spcBef>
                <a:spcPts val="0"/>
              </a:spcBef>
              <a:spcAft>
                <a:spcPts val="0"/>
              </a:spcAft>
              <a:buNone/>
            </a:pPr>
            <a:r>
              <a:rPr b="1" lang="en-US" sz="4200">
                <a:solidFill>
                  <a:srgbClr val="FF9900"/>
                </a:solidFill>
                <a:latin typeface="Arial"/>
                <a:ea typeface="Arial"/>
                <a:cs typeface="Arial"/>
                <a:sym typeface="Arial"/>
              </a:rPr>
              <a:t>DO IT!</a:t>
            </a:r>
            <a:endParaRPr b="1" sz="4200">
              <a:solidFill>
                <a:srgbClr val="FF9900"/>
              </a:solidFill>
              <a:latin typeface="Arial"/>
              <a:ea typeface="Arial"/>
              <a:cs typeface="Arial"/>
              <a:sym typeface="Arial"/>
            </a:endParaRPr>
          </a:p>
        </p:txBody>
      </p:sp>
      <p:sp>
        <p:nvSpPr>
          <p:cNvPr id="1477" name="Google Shape;1477;p42"/>
          <p:cNvSpPr/>
          <p:nvPr/>
        </p:nvSpPr>
        <p:spPr>
          <a:xfrm>
            <a:off x="2286000" y="428626"/>
            <a:ext cx="762000" cy="691038"/>
          </a:xfrm>
          <a:prstGeom prst="ellipse">
            <a:avLst/>
          </a:prstGeom>
          <a:solidFill>
            <a:schemeClr val="accent3"/>
          </a:solidFill>
          <a:ln cap="sq" cmpd="sng" w="12700">
            <a:solidFill>
              <a:srgbClr val="7F7F7F"/>
            </a:solidFill>
            <a:prstDash val="dash"/>
            <a:round/>
            <a:headEnd len="sm" w="sm" type="none"/>
            <a:tailEnd len="sm" w="sm" type="none"/>
          </a:ln>
        </p:spPr>
        <p:txBody>
          <a:bodyPr anchorCtr="0" anchor="ctr" bIns="45700" lIns="91425" spcFirstLastPara="1" rIns="91425" wrap="square" tIns="0">
            <a:noAutofit/>
          </a:bodyPr>
          <a:lstStyle/>
          <a:p>
            <a:pPr indent="0" lvl="0" marL="0" marR="0" rtl="0" algn="ctr">
              <a:lnSpc>
                <a:spcPct val="100000"/>
              </a:lnSpc>
              <a:spcBef>
                <a:spcPts val="0"/>
              </a:spcBef>
              <a:spcAft>
                <a:spcPts val="0"/>
              </a:spcAft>
              <a:buClr>
                <a:srgbClr val="FF9900"/>
              </a:buClr>
              <a:buSzPts val="3200"/>
              <a:buFont typeface="Arial"/>
              <a:buNone/>
            </a:pPr>
            <a:r>
              <a:rPr b="1" i="0" lang="en-US" sz="3200" u="none" cap="none" strike="noStrike">
                <a:solidFill>
                  <a:srgbClr val="FF9900"/>
                </a:solidFill>
                <a:latin typeface="Arial"/>
                <a:ea typeface="Arial"/>
                <a:cs typeface="Arial"/>
                <a:sym typeface="Arial"/>
              </a:rPr>
              <a:t>4</a:t>
            </a:r>
            <a:endParaRPr/>
          </a:p>
        </p:txBody>
      </p:sp>
      <p:sp>
        <p:nvSpPr>
          <p:cNvPr id="1478" name="Google Shape;1478;p42"/>
          <p:cNvSpPr txBox="1"/>
          <p:nvPr/>
        </p:nvSpPr>
        <p:spPr>
          <a:xfrm>
            <a:off x="3276600" y="501929"/>
            <a:ext cx="5867400" cy="566928"/>
          </a:xfrm>
          <a:prstGeom prst="rect">
            <a:avLst/>
          </a:prstGeom>
          <a:solidFill>
            <a:srgbClr val="0027A4"/>
          </a:solidFill>
          <a:ln>
            <a:noFill/>
          </a:ln>
        </p:spPr>
        <p:txBody>
          <a:bodyPr anchorCtr="0" anchor="t" bIns="43225" lIns="86475" spcFirstLastPara="1" rIns="86475" wrap="square" tIns="43225">
            <a:noAutofit/>
          </a:bodyPr>
          <a:lstStyle/>
          <a:p>
            <a:pPr indent="0" lvl="0" marL="111120" marR="0" rtl="0" algn="l">
              <a:spcBef>
                <a:spcPts val="0"/>
              </a:spcBef>
              <a:spcAft>
                <a:spcPts val="0"/>
              </a:spcAft>
              <a:buNone/>
            </a:pPr>
            <a:r>
              <a:rPr b="1" lang="en-US" sz="2800">
                <a:solidFill>
                  <a:schemeClr val="lt1"/>
                </a:solidFill>
                <a:latin typeface="Arial"/>
                <a:ea typeface="Arial"/>
                <a:cs typeface="Arial"/>
                <a:sym typeface="Arial"/>
              </a:rPr>
              <a:t>Tabular Analysis</a:t>
            </a:r>
            <a:endParaRPr b="1" sz="2800">
              <a:solidFill>
                <a:schemeClr val="lt1"/>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6"/>
                                        </p:tgtEl>
                                        <p:attrNameLst>
                                          <p:attrName>style.visibility</p:attrName>
                                        </p:attrNameLst>
                                      </p:cBhvr>
                                      <p:to>
                                        <p:strVal val="visible"/>
                                      </p:to>
                                    </p:set>
                                    <p:animEffect filter="fade" transition="in">
                                      <p:cBhvr>
                                        <p:cTn dur="500"/>
                                        <p:tgtEl>
                                          <p:spTgt spid="14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2" name="Shape 1482"/>
        <p:cNvGrpSpPr/>
        <p:nvPr/>
      </p:nvGrpSpPr>
      <p:grpSpPr>
        <a:xfrm>
          <a:off x="0" y="0"/>
          <a:ext cx="0" cy="0"/>
          <a:chOff x="0" y="0"/>
          <a:chExt cx="0" cy="0"/>
        </a:xfrm>
      </p:grpSpPr>
      <p:cxnSp>
        <p:nvCxnSpPr>
          <p:cNvPr id="1483" name="Google Shape;1483;p43"/>
          <p:cNvCxnSpPr/>
          <p:nvPr/>
        </p:nvCxnSpPr>
        <p:spPr>
          <a:xfrm>
            <a:off x="990600" y="54102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484" name="Google Shape;1484;p43"/>
          <p:cNvSpPr txBox="1"/>
          <p:nvPr/>
        </p:nvSpPr>
        <p:spPr>
          <a:xfrm>
            <a:off x="304800" y="3212812"/>
            <a:ext cx="8686800" cy="292388"/>
          </a:xfrm>
          <a:prstGeom prst="rect">
            <a:avLst/>
          </a:prstGeom>
          <a:noFill/>
          <a:ln>
            <a:noFill/>
          </a:ln>
        </p:spPr>
        <p:txBody>
          <a:bodyPr anchorCtr="0" anchor="t" bIns="45700" lIns="91425" spcFirstLastPara="1" rIns="91425" wrap="square" tIns="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	1.	+25,000			+25,000</a:t>
            </a:r>
            <a:endParaRPr b="1" sz="1600">
              <a:solidFill>
                <a:schemeClr val="dk1"/>
              </a:solidFill>
              <a:latin typeface="Arial"/>
              <a:ea typeface="Arial"/>
              <a:cs typeface="Arial"/>
              <a:sym typeface="Arial"/>
            </a:endParaRPr>
          </a:p>
        </p:txBody>
      </p:sp>
      <p:sp>
        <p:nvSpPr>
          <p:cNvPr id="1485" name="Google Shape;1485;p43"/>
          <p:cNvSpPr txBox="1"/>
          <p:nvPr/>
        </p:nvSpPr>
        <p:spPr>
          <a:xfrm>
            <a:off x="76200" y="2590800"/>
            <a:ext cx="9144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Trans-</a:t>
            </a:r>
            <a:endParaRPr/>
          </a:p>
          <a:p>
            <a:pPr indent="0" lvl="0" marL="0" marR="0" rtl="0" algn="ctr">
              <a:spcBef>
                <a:spcPts val="0"/>
              </a:spcBef>
              <a:spcAft>
                <a:spcPts val="0"/>
              </a:spcAft>
              <a:buNone/>
            </a:pPr>
            <a:r>
              <a:rPr b="1" lang="en-US" sz="1600">
                <a:solidFill>
                  <a:schemeClr val="dk1"/>
                </a:solidFill>
                <a:latin typeface="Arial"/>
                <a:ea typeface="Arial"/>
                <a:cs typeface="Arial"/>
                <a:sym typeface="Arial"/>
              </a:rPr>
              <a:t>action</a:t>
            </a:r>
            <a:endParaRPr/>
          </a:p>
        </p:txBody>
      </p:sp>
      <p:sp>
        <p:nvSpPr>
          <p:cNvPr id="1486" name="Google Shape;1486;p43"/>
          <p:cNvSpPr txBox="1"/>
          <p:nvPr/>
        </p:nvSpPr>
        <p:spPr>
          <a:xfrm>
            <a:off x="914400" y="2590800"/>
            <a:ext cx="9144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Cash   </a:t>
            </a:r>
            <a:endParaRPr b="1" sz="1600">
              <a:solidFill>
                <a:schemeClr val="dk1"/>
              </a:solidFill>
              <a:latin typeface="Arial"/>
              <a:ea typeface="Arial"/>
              <a:cs typeface="Arial"/>
              <a:sym typeface="Arial"/>
            </a:endParaRPr>
          </a:p>
        </p:txBody>
      </p:sp>
      <p:sp>
        <p:nvSpPr>
          <p:cNvPr id="1487" name="Google Shape;1487;p43"/>
          <p:cNvSpPr txBox="1"/>
          <p:nvPr/>
        </p:nvSpPr>
        <p:spPr>
          <a:xfrm>
            <a:off x="1981200" y="2590800"/>
            <a:ext cx="13716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Equipment</a:t>
            </a:r>
            <a:endParaRPr/>
          </a:p>
        </p:txBody>
      </p:sp>
      <p:sp>
        <p:nvSpPr>
          <p:cNvPr id="1488" name="Google Shape;1488;p43"/>
          <p:cNvSpPr txBox="1"/>
          <p:nvPr/>
        </p:nvSpPr>
        <p:spPr>
          <a:xfrm>
            <a:off x="3505200" y="2590800"/>
            <a:ext cx="13716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Accounts</a:t>
            </a:r>
            <a:endParaRPr/>
          </a:p>
          <a:p>
            <a:pPr indent="0" lvl="0" marL="0" marR="0" rtl="0" algn="ctr">
              <a:spcBef>
                <a:spcPts val="0"/>
              </a:spcBef>
              <a:spcAft>
                <a:spcPts val="0"/>
              </a:spcAft>
              <a:buNone/>
            </a:pPr>
            <a:r>
              <a:rPr b="1" lang="en-US" sz="1600">
                <a:solidFill>
                  <a:schemeClr val="dk1"/>
                </a:solidFill>
                <a:latin typeface="Arial"/>
                <a:ea typeface="Arial"/>
                <a:cs typeface="Arial"/>
                <a:sym typeface="Arial"/>
              </a:rPr>
              <a:t>Payable</a:t>
            </a:r>
            <a:endParaRPr/>
          </a:p>
        </p:txBody>
      </p:sp>
      <p:cxnSp>
        <p:nvCxnSpPr>
          <p:cNvPr id="1489" name="Google Shape;1489;p43"/>
          <p:cNvCxnSpPr/>
          <p:nvPr/>
        </p:nvCxnSpPr>
        <p:spPr>
          <a:xfrm>
            <a:off x="978408" y="31242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490" name="Google Shape;1490;p43"/>
          <p:cNvSpPr/>
          <p:nvPr/>
        </p:nvSpPr>
        <p:spPr>
          <a:xfrm>
            <a:off x="1905000" y="3048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491" name="Google Shape;1491;p43"/>
          <p:cNvSpPr/>
          <p:nvPr/>
        </p:nvSpPr>
        <p:spPr>
          <a:xfrm>
            <a:off x="3352800" y="3048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492" name="Google Shape;1492;p43"/>
          <p:cNvSpPr/>
          <p:nvPr/>
        </p:nvSpPr>
        <p:spPr>
          <a:xfrm>
            <a:off x="4800600" y="3048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493" name="Google Shape;1493;p43"/>
          <p:cNvSpPr/>
          <p:nvPr/>
        </p:nvSpPr>
        <p:spPr>
          <a:xfrm>
            <a:off x="5943600" y="3048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494" name="Google Shape;1494;p43"/>
          <p:cNvSpPr txBox="1"/>
          <p:nvPr/>
        </p:nvSpPr>
        <p:spPr>
          <a:xfrm>
            <a:off x="914399" y="2286000"/>
            <a:ext cx="7924801" cy="26161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	Assets	=    Liabilities +	Owner's Equity</a:t>
            </a:r>
            <a:endParaRPr b="1" sz="1600">
              <a:solidFill>
                <a:schemeClr val="dk1"/>
              </a:solidFill>
              <a:latin typeface="Arial"/>
              <a:ea typeface="Arial"/>
              <a:cs typeface="Arial"/>
              <a:sym typeface="Arial"/>
            </a:endParaRPr>
          </a:p>
        </p:txBody>
      </p:sp>
      <p:cxnSp>
        <p:nvCxnSpPr>
          <p:cNvPr id="1495" name="Google Shape;1495;p43"/>
          <p:cNvCxnSpPr/>
          <p:nvPr/>
        </p:nvCxnSpPr>
        <p:spPr>
          <a:xfrm>
            <a:off x="914400" y="25908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496" name="Google Shape;1496;p43"/>
          <p:cNvSpPr txBox="1"/>
          <p:nvPr/>
        </p:nvSpPr>
        <p:spPr>
          <a:xfrm>
            <a:off x="4724400" y="25908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a:p>
        </p:txBody>
      </p:sp>
      <p:sp>
        <p:nvSpPr>
          <p:cNvPr id="1497" name="Google Shape;1497;p43"/>
          <p:cNvSpPr txBox="1"/>
          <p:nvPr/>
        </p:nvSpPr>
        <p:spPr>
          <a:xfrm>
            <a:off x="5867400" y="25908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a:p>
        </p:txBody>
      </p:sp>
      <p:sp>
        <p:nvSpPr>
          <p:cNvPr id="1498" name="Google Shape;1498;p43"/>
          <p:cNvSpPr txBox="1"/>
          <p:nvPr/>
        </p:nvSpPr>
        <p:spPr>
          <a:xfrm>
            <a:off x="1828800" y="25908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b="1" sz="1600">
              <a:solidFill>
                <a:schemeClr val="dk1"/>
              </a:solidFill>
              <a:latin typeface="Arial"/>
              <a:ea typeface="Arial"/>
              <a:cs typeface="Arial"/>
              <a:sym typeface="Arial"/>
            </a:endParaRPr>
          </a:p>
        </p:txBody>
      </p:sp>
      <p:sp>
        <p:nvSpPr>
          <p:cNvPr id="1499" name="Google Shape;1499;p43"/>
          <p:cNvSpPr txBox="1"/>
          <p:nvPr/>
        </p:nvSpPr>
        <p:spPr>
          <a:xfrm>
            <a:off x="3352800" y="25908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a:p>
        </p:txBody>
      </p:sp>
      <p:cxnSp>
        <p:nvCxnSpPr>
          <p:cNvPr id="1500" name="Google Shape;1500;p43"/>
          <p:cNvCxnSpPr/>
          <p:nvPr/>
        </p:nvCxnSpPr>
        <p:spPr>
          <a:xfrm>
            <a:off x="990600" y="35814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501" name="Google Shape;1501;p43"/>
          <p:cNvSpPr txBox="1"/>
          <p:nvPr/>
        </p:nvSpPr>
        <p:spPr>
          <a:xfrm>
            <a:off x="533400" y="1371600"/>
            <a:ext cx="8001000" cy="824008"/>
          </a:xfrm>
          <a:prstGeom prst="rect">
            <a:avLst/>
          </a:prstGeom>
          <a:noFill/>
          <a:ln>
            <a:noFill/>
          </a:ln>
        </p:spPr>
        <p:txBody>
          <a:bodyPr anchorCtr="0" anchor="t" bIns="45700" lIns="91425" spcFirstLastPara="1" rIns="91425" wrap="square" tIns="45700">
            <a:spAutoFit/>
          </a:bodyPr>
          <a:lstStyle/>
          <a:p>
            <a:pPr indent="-341313" lvl="0" marL="341313" marR="0" rtl="0" algn="l">
              <a:lnSpc>
                <a:spcPct val="125000"/>
              </a:lnSpc>
              <a:spcBef>
                <a:spcPts val="0"/>
              </a:spcBef>
              <a:spcAft>
                <a:spcPts val="0"/>
              </a:spcAft>
              <a:buClr>
                <a:schemeClr val="dk1"/>
              </a:buClr>
              <a:buSzPts val="2000"/>
              <a:buFont typeface="Comic Sans MS"/>
              <a:buAutoNum type="arabicPeriod" startAt="3"/>
            </a:pPr>
            <a:r>
              <a:rPr b="1" lang="en-US" sz="2000">
                <a:solidFill>
                  <a:schemeClr val="dk1"/>
                </a:solidFill>
                <a:latin typeface="Arial"/>
                <a:ea typeface="Arial"/>
                <a:cs typeface="Arial"/>
                <a:sym typeface="Arial"/>
              </a:rPr>
              <a:t>The company received $8,000 cash in exchange for services performed.</a:t>
            </a:r>
            <a:endParaRPr/>
          </a:p>
        </p:txBody>
      </p:sp>
      <p:sp>
        <p:nvSpPr>
          <p:cNvPr id="1502" name="Google Shape;1502;p43"/>
          <p:cNvSpPr txBox="1"/>
          <p:nvPr/>
        </p:nvSpPr>
        <p:spPr>
          <a:xfrm>
            <a:off x="304800" y="3670012"/>
            <a:ext cx="8686800" cy="292388"/>
          </a:xfrm>
          <a:prstGeom prst="rect">
            <a:avLst/>
          </a:prstGeom>
          <a:noFill/>
          <a:ln>
            <a:noFill/>
          </a:ln>
        </p:spPr>
        <p:txBody>
          <a:bodyPr anchorCtr="0" anchor="t" bIns="45700" lIns="91425" spcFirstLastPara="1" rIns="91425" wrap="square" tIns="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	2.		+7,000	+7,000</a:t>
            </a:r>
            <a:endParaRPr b="1" sz="1600">
              <a:solidFill>
                <a:schemeClr val="dk1"/>
              </a:solidFill>
              <a:latin typeface="Arial"/>
              <a:ea typeface="Arial"/>
              <a:cs typeface="Arial"/>
              <a:sym typeface="Arial"/>
            </a:endParaRPr>
          </a:p>
        </p:txBody>
      </p:sp>
      <p:cxnSp>
        <p:nvCxnSpPr>
          <p:cNvPr id="1503" name="Google Shape;1503;p43"/>
          <p:cNvCxnSpPr/>
          <p:nvPr/>
        </p:nvCxnSpPr>
        <p:spPr>
          <a:xfrm>
            <a:off x="990600" y="40386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504" name="Google Shape;1504;p43"/>
          <p:cNvSpPr txBox="1"/>
          <p:nvPr/>
        </p:nvSpPr>
        <p:spPr>
          <a:xfrm>
            <a:off x="304800" y="4127212"/>
            <a:ext cx="8686800" cy="292388"/>
          </a:xfrm>
          <a:prstGeom prst="rect">
            <a:avLst/>
          </a:prstGeom>
          <a:noFill/>
          <a:ln>
            <a:noFill/>
          </a:ln>
        </p:spPr>
        <p:txBody>
          <a:bodyPr anchorCtr="0" anchor="t" bIns="45700" lIns="91425" spcFirstLastPara="1" rIns="91425" wrap="square" tIns="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	3.	+8,000					+8,000</a:t>
            </a:r>
            <a:endParaRPr b="1" sz="1600">
              <a:solidFill>
                <a:schemeClr val="dk1"/>
              </a:solidFill>
              <a:latin typeface="Arial"/>
              <a:ea typeface="Arial"/>
              <a:cs typeface="Arial"/>
              <a:sym typeface="Arial"/>
            </a:endParaRPr>
          </a:p>
        </p:txBody>
      </p:sp>
      <p:cxnSp>
        <p:nvCxnSpPr>
          <p:cNvPr id="1505" name="Google Shape;1505;p43"/>
          <p:cNvCxnSpPr/>
          <p:nvPr/>
        </p:nvCxnSpPr>
        <p:spPr>
          <a:xfrm>
            <a:off x="990600" y="44958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506" name="Google Shape;1506;p43"/>
          <p:cNvSpPr txBox="1"/>
          <p:nvPr/>
        </p:nvSpPr>
        <p:spPr>
          <a:xfrm>
            <a:off x="304800" y="4584412"/>
            <a:ext cx="8686800" cy="292388"/>
          </a:xfrm>
          <a:prstGeom prst="rect">
            <a:avLst/>
          </a:prstGeom>
          <a:noFill/>
          <a:ln>
            <a:noFill/>
          </a:ln>
        </p:spPr>
        <p:txBody>
          <a:bodyPr anchorCtr="0" anchor="t" bIns="45700" lIns="91425" spcFirstLastPara="1" rIns="91425" wrap="square" tIns="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	4.	-850					-850</a:t>
            </a:r>
            <a:endParaRPr b="1" sz="1600">
              <a:solidFill>
                <a:schemeClr val="dk1"/>
              </a:solidFill>
              <a:latin typeface="Arial"/>
              <a:ea typeface="Arial"/>
              <a:cs typeface="Arial"/>
              <a:sym typeface="Arial"/>
            </a:endParaRPr>
          </a:p>
        </p:txBody>
      </p:sp>
      <p:cxnSp>
        <p:nvCxnSpPr>
          <p:cNvPr id="1507" name="Google Shape;1507;p43"/>
          <p:cNvCxnSpPr/>
          <p:nvPr/>
        </p:nvCxnSpPr>
        <p:spPr>
          <a:xfrm>
            <a:off x="990600" y="49530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508" name="Google Shape;1508;p43"/>
          <p:cNvSpPr txBox="1"/>
          <p:nvPr/>
        </p:nvSpPr>
        <p:spPr>
          <a:xfrm>
            <a:off x="304800" y="5041612"/>
            <a:ext cx="8686800" cy="292388"/>
          </a:xfrm>
          <a:prstGeom prst="rect">
            <a:avLst/>
          </a:prstGeom>
          <a:noFill/>
          <a:ln>
            <a:noFill/>
          </a:ln>
        </p:spPr>
        <p:txBody>
          <a:bodyPr anchorCtr="0" anchor="t" bIns="45700" lIns="91425" spcFirstLastPara="1" rIns="91425" wrap="square" tIns="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	5.	-1,000						-1,000</a:t>
            </a:r>
            <a:endParaRPr b="1" sz="1600">
              <a:solidFill>
                <a:schemeClr val="dk1"/>
              </a:solidFill>
              <a:latin typeface="Arial"/>
              <a:ea typeface="Arial"/>
              <a:cs typeface="Arial"/>
              <a:sym typeface="Arial"/>
            </a:endParaRPr>
          </a:p>
        </p:txBody>
      </p:sp>
      <p:sp>
        <p:nvSpPr>
          <p:cNvPr id="1509" name="Google Shape;1509;p43"/>
          <p:cNvSpPr/>
          <p:nvPr/>
        </p:nvSpPr>
        <p:spPr>
          <a:xfrm>
            <a:off x="1917192" y="5334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510" name="Google Shape;1510;p43"/>
          <p:cNvSpPr/>
          <p:nvPr/>
        </p:nvSpPr>
        <p:spPr>
          <a:xfrm>
            <a:off x="3364992" y="5334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511" name="Google Shape;1511;p43"/>
          <p:cNvSpPr/>
          <p:nvPr/>
        </p:nvSpPr>
        <p:spPr>
          <a:xfrm>
            <a:off x="4812792" y="5334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512" name="Google Shape;1512;p43"/>
          <p:cNvSpPr/>
          <p:nvPr/>
        </p:nvSpPr>
        <p:spPr>
          <a:xfrm>
            <a:off x="5955792" y="5334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513" name="Google Shape;1513;p43"/>
          <p:cNvSpPr/>
          <p:nvPr/>
        </p:nvSpPr>
        <p:spPr>
          <a:xfrm>
            <a:off x="6946392" y="5334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514" name="Google Shape;1514;p43"/>
          <p:cNvSpPr/>
          <p:nvPr/>
        </p:nvSpPr>
        <p:spPr>
          <a:xfrm>
            <a:off x="7936992" y="5334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cxnSp>
        <p:nvCxnSpPr>
          <p:cNvPr id="1515" name="Google Shape;1515;p43"/>
          <p:cNvCxnSpPr/>
          <p:nvPr/>
        </p:nvCxnSpPr>
        <p:spPr>
          <a:xfrm>
            <a:off x="990600" y="58674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516" name="Google Shape;1516;p43"/>
          <p:cNvSpPr/>
          <p:nvPr/>
        </p:nvSpPr>
        <p:spPr>
          <a:xfrm>
            <a:off x="1917192" y="5791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517" name="Google Shape;1517;p43"/>
          <p:cNvSpPr/>
          <p:nvPr/>
        </p:nvSpPr>
        <p:spPr>
          <a:xfrm>
            <a:off x="3364992" y="5791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518" name="Google Shape;1518;p43"/>
          <p:cNvSpPr/>
          <p:nvPr/>
        </p:nvSpPr>
        <p:spPr>
          <a:xfrm>
            <a:off x="4812792" y="5791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519" name="Google Shape;1519;p43"/>
          <p:cNvSpPr/>
          <p:nvPr/>
        </p:nvSpPr>
        <p:spPr>
          <a:xfrm>
            <a:off x="5955792" y="5791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520" name="Google Shape;1520;p43"/>
          <p:cNvSpPr/>
          <p:nvPr/>
        </p:nvSpPr>
        <p:spPr>
          <a:xfrm>
            <a:off x="6946392" y="5791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521" name="Google Shape;1521;p43"/>
          <p:cNvSpPr/>
          <p:nvPr/>
        </p:nvSpPr>
        <p:spPr>
          <a:xfrm>
            <a:off x="7936992" y="5791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cxnSp>
        <p:nvCxnSpPr>
          <p:cNvPr id="1522" name="Google Shape;1522;p43"/>
          <p:cNvCxnSpPr/>
          <p:nvPr/>
        </p:nvCxnSpPr>
        <p:spPr>
          <a:xfrm>
            <a:off x="990600" y="59436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523" name="Google Shape;1523;p43"/>
          <p:cNvSpPr/>
          <p:nvPr/>
        </p:nvSpPr>
        <p:spPr>
          <a:xfrm>
            <a:off x="1917192" y="58674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524" name="Google Shape;1524;p43"/>
          <p:cNvSpPr/>
          <p:nvPr/>
        </p:nvSpPr>
        <p:spPr>
          <a:xfrm>
            <a:off x="3364992" y="58674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525" name="Google Shape;1525;p43"/>
          <p:cNvSpPr/>
          <p:nvPr/>
        </p:nvSpPr>
        <p:spPr>
          <a:xfrm>
            <a:off x="4812792" y="58674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526" name="Google Shape;1526;p43"/>
          <p:cNvSpPr/>
          <p:nvPr/>
        </p:nvSpPr>
        <p:spPr>
          <a:xfrm>
            <a:off x="5955792" y="58674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527" name="Google Shape;1527;p43"/>
          <p:cNvSpPr/>
          <p:nvPr/>
        </p:nvSpPr>
        <p:spPr>
          <a:xfrm>
            <a:off x="6946392" y="58674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528" name="Google Shape;1528;p43"/>
          <p:cNvSpPr/>
          <p:nvPr/>
        </p:nvSpPr>
        <p:spPr>
          <a:xfrm>
            <a:off x="7936992" y="58674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529" name="Google Shape;1529;p43"/>
          <p:cNvSpPr txBox="1"/>
          <p:nvPr/>
        </p:nvSpPr>
        <p:spPr>
          <a:xfrm>
            <a:off x="304800" y="5498812"/>
            <a:ext cx="8686800" cy="292388"/>
          </a:xfrm>
          <a:prstGeom prst="rect">
            <a:avLst/>
          </a:prstGeom>
          <a:noFill/>
          <a:ln>
            <a:noFill/>
          </a:ln>
        </p:spPr>
        <p:txBody>
          <a:bodyPr anchorCtr="0" anchor="t" bIns="45700" lIns="91425" spcFirstLastPara="1" rIns="91425" wrap="square" tIns="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		$31,150	$7,000	$7,000	$25,000	$8,000	$850	$1,000</a:t>
            </a:r>
            <a:endParaRPr b="1" sz="1600">
              <a:solidFill>
                <a:schemeClr val="dk1"/>
              </a:solidFill>
              <a:latin typeface="Arial"/>
              <a:ea typeface="Arial"/>
              <a:cs typeface="Arial"/>
              <a:sym typeface="Arial"/>
            </a:endParaRPr>
          </a:p>
        </p:txBody>
      </p:sp>
      <p:sp>
        <p:nvSpPr>
          <p:cNvPr id="1530" name="Google Shape;1530;p43"/>
          <p:cNvSpPr txBox="1"/>
          <p:nvPr/>
        </p:nvSpPr>
        <p:spPr>
          <a:xfrm>
            <a:off x="4724400" y="5334000"/>
            <a:ext cx="152400" cy="523220"/>
          </a:xfrm>
          <a:prstGeom prst="rect">
            <a:avLst/>
          </a:prstGeom>
          <a:noFill/>
          <a:ln>
            <a:noFill/>
          </a:ln>
        </p:spPr>
        <p:txBody>
          <a:bodyPr anchorCtr="0" anchor="ctr" bIns="45700" lIns="0" spcFirstLastPara="1" rIns="0" wrap="square" tIns="91425">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a:p>
        </p:txBody>
      </p:sp>
      <p:sp>
        <p:nvSpPr>
          <p:cNvPr id="1531" name="Google Shape;1531;p43"/>
          <p:cNvSpPr txBox="1"/>
          <p:nvPr/>
        </p:nvSpPr>
        <p:spPr>
          <a:xfrm>
            <a:off x="5943600" y="5334000"/>
            <a:ext cx="152400" cy="523220"/>
          </a:xfrm>
          <a:prstGeom prst="rect">
            <a:avLst/>
          </a:prstGeom>
          <a:noFill/>
          <a:ln>
            <a:noFill/>
          </a:ln>
        </p:spPr>
        <p:txBody>
          <a:bodyPr anchorCtr="0" anchor="ctr" bIns="45700" lIns="0" spcFirstLastPara="1" rIns="0" wrap="square" tIns="91425">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a:p>
        </p:txBody>
      </p:sp>
      <p:sp>
        <p:nvSpPr>
          <p:cNvPr id="1532" name="Google Shape;1532;p43"/>
          <p:cNvSpPr txBox="1"/>
          <p:nvPr/>
        </p:nvSpPr>
        <p:spPr>
          <a:xfrm>
            <a:off x="1905000" y="5334000"/>
            <a:ext cx="152400" cy="523220"/>
          </a:xfrm>
          <a:prstGeom prst="rect">
            <a:avLst/>
          </a:prstGeom>
          <a:noFill/>
          <a:ln>
            <a:noFill/>
          </a:ln>
        </p:spPr>
        <p:txBody>
          <a:bodyPr anchorCtr="0" anchor="ctr" bIns="45700" lIns="0" spcFirstLastPara="1" rIns="0" wrap="square" tIns="91425">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b="1" sz="1600">
              <a:solidFill>
                <a:schemeClr val="dk1"/>
              </a:solidFill>
              <a:latin typeface="Arial"/>
              <a:ea typeface="Arial"/>
              <a:cs typeface="Arial"/>
              <a:sym typeface="Arial"/>
            </a:endParaRPr>
          </a:p>
        </p:txBody>
      </p:sp>
      <p:sp>
        <p:nvSpPr>
          <p:cNvPr id="1533" name="Google Shape;1533;p43"/>
          <p:cNvSpPr txBox="1"/>
          <p:nvPr/>
        </p:nvSpPr>
        <p:spPr>
          <a:xfrm>
            <a:off x="3352800" y="5334000"/>
            <a:ext cx="152400" cy="523220"/>
          </a:xfrm>
          <a:prstGeom prst="rect">
            <a:avLst/>
          </a:prstGeom>
          <a:noFill/>
          <a:ln>
            <a:noFill/>
          </a:ln>
        </p:spPr>
        <p:txBody>
          <a:bodyPr anchorCtr="0" anchor="ctr" bIns="45700" lIns="0" spcFirstLastPara="1" rIns="0" wrap="square" tIns="91425">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a:p>
        </p:txBody>
      </p:sp>
      <p:sp>
        <p:nvSpPr>
          <p:cNvPr id="1534" name="Google Shape;1534;p43"/>
          <p:cNvSpPr txBox="1"/>
          <p:nvPr/>
        </p:nvSpPr>
        <p:spPr>
          <a:xfrm>
            <a:off x="6934200" y="5334000"/>
            <a:ext cx="152400" cy="523220"/>
          </a:xfrm>
          <a:prstGeom prst="rect">
            <a:avLst/>
          </a:prstGeom>
          <a:noFill/>
          <a:ln>
            <a:noFill/>
          </a:ln>
        </p:spPr>
        <p:txBody>
          <a:bodyPr anchorCtr="0" anchor="ctr" bIns="45700" lIns="0" spcFirstLastPara="1" rIns="0" wrap="square" tIns="91425">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b="1" sz="1600">
              <a:solidFill>
                <a:schemeClr val="dk1"/>
              </a:solidFill>
              <a:latin typeface="Arial"/>
              <a:ea typeface="Arial"/>
              <a:cs typeface="Arial"/>
              <a:sym typeface="Arial"/>
            </a:endParaRPr>
          </a:p>
        </p:txBody>
      </p:sp>
      <p:sp>
        <p:nvSpPr>
          <p:cNvPr id="1535" name="Google Shape;1535;p43"/>
          <p:cNvSpPr txBox="1"/>
          <p:nvPr/>
        </p:nvSpPr>
        <p:spPr>
          <a:xfrm>
            <a:off x="7924800" y="5334000"/>
            <a:ext cx="152400" cy="523220"/>
          </a:xfrm>
          <a:prstGeom prst="rect">
            <a:avLst/>
          </a:prstGeom>
          <a:noFill/>
          <a:ln>
            <a:noFill/>
          </a:ln>
        </p:spPr>
        <p:txBody>
          <a:bodyPr anchorCtr="0" anchor="ctr" bIns="45700" lIns="0" spcFirstLastPara="1" rIns="0" wrap="square" tIns="91425">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b="1" sz="1600">
              <a:solidFill>
                <a:schemeClr val="dk1"/>
              </a:solidFill>
              <a:latin typeface="Arial"/>
              <a:ea typeface="Arial"/>
              <a:cs typeface="Arial"/>
              <a:sym typeface="Arial"/>
            </a:endParaRPr>
          </a:p>
        </p:txBody>
      </p:sp>
      <p:sp>
        <p:nvSpPr>
          <p:cNvPr id="1536" name="Google Shape;1536;p43"/>
          <p:cNvSpPr/>
          <p:nvPr/>
        </p:nvSpPr>
        <p:spPr>
          <a:xfrm rot="-5400000">
            <a:off x="6036516" y="3412283"/>
            <a:ext cx="182975" cy="5398009"/>
          </a:xfrm>
          <a:prstGeom prst="leftBrace">
            <a:avLst>
              <a:gd fmla="val 8333" name="adj1"/>
              <a:gd fmla="val 50482" name="adj2"/>
            </a:avLst>
          </a:prstGeom>
          <a:noFill/>
          <a:ln cap="sq" cmpd="sng" w="28575">
            <a:solidFill>
              <a:srgbClr val="73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537" name="Google Shape;1537;p43"/>
          <p:cNvSpPr/>
          <p:nvPr/>
        </p:nvSpPr>
        <p:spPr>
          <a:xfrm rot="-5400000">
            <a:off x="2093168" y="4905042"/>
            <a:ext cx="182974" cy="2412494"/>
          </a:xfrm>
          <a:prstGeom prst="leftBrace">
            <a:avLst>
              <a:gd fmla="val 8333" name="adj1"/>
              <a:gd fmla="val 50482" name="adj2"/>
            </a:avLst>
          </a:prstGeom>
          <a:noFill/>
          <a:ln cap="sq" cmpd="sng" w="28575">
            <a:solidFill>
              <a:srgbClr val="73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538" name="Google Shape;1538;p43"/>
          <p:cNvSpPr txBox="1"/>
          <p:nvPr/>
        </p:nvSpPr>
        <p:spPr>
          <a:xfrm>
            <a:off x="1524000" y="6248400"/>
            <a:ext cx="1295400"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730000"/>
                </a:solidFill>
                <a:latin typeface="Arial"/>
                <a:ea typeface="Arial"/>
                <a:cs typeface="Arial"/>
                <a:sym typeface="Arial"/>
              </a:rPr>
              <a:t>$18,050</a:t>
            </a:r>
            <a:endParaRPr b="1" sz="1600">
              <a:solidFill>
                <a:srgbClr val="730000"/>
              </a:solidFill>
              <a:latin typeface="Arial"/>
              <a:ea typeface="Arial"/>
              <a:cs typeface="Arial"/>
              <a:sym typeface="Arial"/>
            </a:endParaRPr>
          </a:p>
        </p:txBody>
      </p:sp>
      <p:sp>
        <p:nvSpPr>
          <p:cNvPr id="1539" name="Google Shape;1539;p43"/>
          <p:cNvSpPr txBox="1"/>
          <p:nvPr/>
        </p:nvSpPr>
        <p:spPr>
          <a:xfrm>
            <a:off x="5486400" y="6248400"/>
            <a:ext cx="1371600"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730000"/>
                </a:solidFill>
                <a:latin typeface="Arial"/>
                <a:ea typeface="Arial"/>
                <a:cs typeface="Arial"/>
                <a:sym typeface="Arial"/>
              </a:rPr>
              <a:t>$18,050</a:t>
            </a:r>
            <a:endParaRPr b="1" sz="1600">
              <a:solidFill>
                <a:srgbClr val="730000"/>
              </a:solidFill>
              <a:latin typeface="Arial"/>
              <a:ea typeface="Arial"/>
              <a:cs typeface="Arial"/>
              <a:sym typeface="Arial"/>
            </a:endParaRPr>
          </a:p>
        </p:txBody>
      </p:sp>
      <p:sp>
        <p:nvSpPr>
          <p:cNvPr id="1540" name="Google Shape;1540;p43"/>
          <p:cNvSpPr/>
          <p:nvPr/>
        </p:nvSpPr>
        <p:spPr>
          <a:xfrm>
            <a:off x="381000" y="4584412"/>
            <a:ext cx="8610600" cy="183326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541" name="Google Shape;1541;p43"/>
          <p:cNvSpPr/>
          <p:nvPr/>
        </p:nvSpPr>
        <p:spPr>
          <a:xfrm>
            <a:off x="1371600" y="6111287"/>
            <a:ext cx="7455408" cy="45879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542" name="Google Shape;1542;p43"/>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4 </a:t>
            </a:r>
            <a:endParaRPr b="1" i="1" sz="1600">
              <a:solidFill>
                <a:schemeClr val="lt2"/>
              </a:solidFill>
              <a:latin typeface="Arial"/>
              <a:ea typeface="Arial"/>
              <a:cs typeface="Arial"/>
              <a:sym typeface="Arial"/>
            </a:endParaRPr>
          </a:p>
        </p:txBody>
      </p:sp>
      <p:sp>
        <p:nvSpPr>
          <p:cNvPr id="1543" name="Google Shape;1543;p43"/>
          <p:cNvSpPr/>
          <p:nvPr/>
        </p:nvSpPr>
        <p:spPr>
          <a:xfrm>
            <a:off x="7162800" y="3048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544" name="Google Shape;1544;p43"/>
          <p:cNvSpPr/>
          <p:nvPr/>
        </p:nvSpPr>
        <p:spPr>
          <a:xfrm>
            <a:off x="8001000" y="3048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545" name="Google Shape;1545;p43"/>
          <p:cNvSpPr txBox="1"/>
          <p:nvPr/>
        </p:nvSpPr>
        <p:spPr>
          <a:xfrm>
            <a:off x="6019800" y="2590800"/>
            <a:ext cx="11430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Owner's Drawings</a:t>
            </a:r>
            <a:endParaRPr b="1" sz="1600">
              <a:solidFill>
                <a:schemeClr val="dk1"/>
              </a:solidFill>
              <a:latin typeface="Arial"/>
              <a:ea typeface="Arial"/>
              <a:cs typeface="Arial"/>
              <a:sym typeface="Arial"/>
            </a:endParaRPr>
          </a:p>
        </p:txBody>
      </p:sp>
      <p:sp>
        <p:nvSpPr>
          <p:cNvPr id="1546" name="Google Shape;1546;p43"/>
          <p:cNvSpPr txBox="1"/>
          <p:nvPr/>
        </p:nvSpPr>
        <p:spPr>
          <a:xfrm>
            <a:off x="7162800" y="2590800"/>
            <a:ext cx="8382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Rev.</a:t>
            </a:r>
            <a:endParaRPr b="1" sz="1600">
              <a:solidFill>
                <a:schemeClr val="dk1"/>
              </a:solidFill>
              <a:latin typeface="Arial"/>
              <a:ea typeface="Arial"/>
              <a:cs typeface="Arial"/>
              <a:sym typeface="Arial"/>
            </a:endParaRPr>
          </a:p>
        </p:txBody>
      </p:sp>
      <p:sp>
        <p:nvSpPr>
          <p:cNvPr id="1547" name="Google Shape;1547;p43"/>
          <p:cNvSpPr txBox="1"/>
          <p:nvPr/>
        </p:nvSpPr>
        <p:spPr>
          <a:xfrm>
            <a:off x="8001000" y="2590800"/>
            <a:ext cx="8382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Exp.</a:t>
            </a:r>
            <a:endParaRPr b="1" sz="1600">
              <a:solidFill>
                <a:schemeClr val="dk1"/>
              </a:solidFill>
              <a:latin typeface="Arial"/>
              <a:ea typeface="Arial"/>
              <a:cs typeface="Arial"/>
              <a:sym typeface="Arial"/>
            </a:endParaRPr>
          </a:p>
        </p:txBody>
      </p:sp>
      <p:sp>
        <p:nvSpPr>
          <p:cNvPr id="1548" name="Google Shape;1548;p43"/>
          <p:cNvSpPr txBox="1"/>
          <p:nvPr/>
        </p:nvSpPr>
        <p:spPr>
          <a:xfrm>
            <a:off x="7086600" y="25908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a:p>
        </p:txBody>
      </p:sp>
      <p:sp>
        <p:nvSpPr>
          <p:cNvPr id="1549" name="Google Shape;1549;p43"/>
          <p:cNvSpPr txBox="1"/>
          <p:nvPr/>
        </p:nvSpPr>
        <p:spPr>
          <a:xfrm>
            <a:off x="7924800" y="25908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b="1" sz="1600">
              <a:solidFill>
                <a:schemeClr val="dk1"/>
              </a:solidFill>
              <a:latin typeface="Arial"/>
              <a:ea typeface="Arial"/>
              <a:cs typeface="Arial"/>
              <a:sym typeface="Arial"/>
            </a:endParaRPr>
          </a:p>
        </p:txBody>
      </p:sp>
      <p:sp>
        <p:nvSpPr>
          <p:cNvPr id="1550" name="Google Shape;1550;p43"/>
          <p:cNvSpPr txBox="1"/>
          <p:nvPr/>
        </p:nvSpPr>
        <p:spPr>
          <a:xfrm>
            <a:off x="4800600" y="2590800"/>
            <a:ext cx="12954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Owner's Capital</a:t>
            </a:r>
            <a:endParaRPr b="1" sz="1600">
              <a:solidFill>
                <a:schemeClr val="dk1"/>
              </a:solidFill>
              <a:latin typeface="Arial"/>
              <a:ea typeface="Arial"/>
              <a:cs typeface="Arial"/>
              <a:sym typeface="Arial"/>
            </a:endParaRPr>
          </a:p>
        </p:txBody>
      </p:sp>
      <p:sp>
        <p:nvSpPr>
          <p:cNvPr id="1551" name="Google Shape;1551;p43"/>
          <p:cNvSpPr txBox="1"/>
          <p:nvPr/>
        </p:nvSpPr>
        <p:spPr>
          <a:xfrm>
            <a:off x="0" y="428624"/>
            <a:ext cx="3276600" cy="691039"/>
          </a:xfrm>
          <a:prstGeom prst="rect">
            <a:avLst/>
          </a:prstGeom>
          <a:solidFill>
            <a:srgbClr val="D8D8D8"/>
          </a:solidFill>
          <a:ln>
            <a:noFill/>
          </a:ln>
        </p:spPr>
        <p:txBody>
          <a:bodyPr anchorCtr="0" anchor="t" bIns="45700" lIns="0" spcFirstLastPara="1" rIns="91425" wrap="square" tIns="0">
            <a:noAutofit/>
          </a:bodyPr>
          <a:lstStyle/>
          <a:p>
            <a:pPr indent="0" lvl="0" marL="519113" marR="0" rtl="0" algn="l">
              <a:spcBef>
                <a:spcPts val="0"/>
              </a:spcBef>
              <a:spcAft>
                <a:spcPts val="0"/>
              </a:spcAft>
              <a:buNone/>
            </a:pPr>
            <a:r>
              <a:rPr b="1" lang="en-US" sz="4200">
                <a:solidFill>
                  <a:srgbClr val="FF9900"/>
                </a:solidFill>
                <a:latin typeface="Arial"/>
                <a:ea typeface="Arial"/>
                <a:cs typeface="Arial"/>
                <a:sym typeface="Arial"/>
              </a:rPr>
              <a:t>DO IT!</a:t>
            </a:r>
            <a:endParaRPr b="1" sz="4200">
              <a:solidFill>
                <a:srgbClr val="FF9900"/>
              </a:solidFill>
              <a:latin typeface="Arial"/>
              <a:ea typeface="Arial"/>
              <a:cs typeface="Arial"/>
              <a:sym typeface="Arial"/>
            </a:endParaRPr>
          </a:p>
        </p:txBody>
      </p:sp>
      <p:sp>
        <p:nvSpPr>
          <p:cNvPr id="1552" name="Google Shape;1552;p43"/>
          <p:cNvSpPr/>
          <p:nvPr/>
        </p:nvSpPr>
        <p:spPr>
          <a:xfrm>
            <a:off x="2286000" y="428626"/>
            <a:ext cx="762000" cy="691038"/>
          </a:xfrm>
          <a:prstGeom prst="ellipse">
            <a:avLst/>
          </a:prstGeom>
          <a:solidFill>
            <a:schemeClr val="accent3"/>
          </a:solidFill>
          <a:ln cap="sq" cmpd="sng" w="12700">
            <a:solidFill>
              <a:srgbClr val="7F7F7F"/>
            </a:solidFill>
            <a:prstDash val="dash"/>
            <a:round/>
            <a:headEnd len="sm" w="sm" type="none"/>
            <a:tailEnd len="sm" w="sm" type="none"/>
          </a:ln>
        </p:spPr>
        <p:txBody>
          <a:bodyPr anchorCtr="0" anchor="ctr" bIns="45700" lIns="91425" spcFirstLastPara="1" rIns="91425" wrap="square" tIns="0">
            <a:noAutofit/>
          </a:bodyPr>
          <a:lstStyle/>
          <a:p>
            <a:pPr indent="0" lvl="0" marL="0" marR="0" rtl="0" algn="ctr">
              <a:lnSpc>
                <a:spcPct val="100000"/>
              </a:lnSpc>
              <a:spcBef>
                <a:spcPts val="0"/>
              </a:spcBef>
              <a:spcAft>
                <a:spcPts val="0"/>
              </a:spcAft>
              <a:buClr>
                <a:srgbClr val="FF9900"/>
              </a:buClr>
              <a:buSzPts val="3200"/>
              <a:buFont typeface="Arial"/>
              <a:buNone/>
            </a:pPr>
            <a:r>
              <a:rPr b="1" i="0" lang="en-US" sz="3200" u="none" cap="none" strike="noStrike">
                <a:solidFill>
                  <a:srgbClr val="FF9900"/>
                </a:solidFill>
                <a:latin typeface="Arial"/>
                <a:ea typeface="Arial"/>
                <a:cs typeface="Arial"/>
                <a:sym typeface="Arial"/>
              </a:rPr>
              <a:t>4</a:t>
            </a:r>
            <a:endParaRPr/>
          </a:p>
        </p:txBody>
      </p:sp>
      <p:sp>
        <p:nvSpPr>
          <p:cNvPr id="1553" name="Google Shape;1553;p43"/>
          <p:cNvSpPr txBox="1"/>
          <p:nvPr/>
        </p:nvSpPr>
        <p:spPr>
          <a:xfrm>
            <a:off x="3276600" y="501929"/>
            <a:ext cx="5867400" cy="566928"/>
          </a:xfrm>
          <a:prstGeom prst="rect">
            <a:avLst/>
          </a:prstGeom>
          <a:solidFill>
            <a:srgbClr val="0027A4"/>
          </a:solidFill>
          <a:ln>
            <a:noFill/>
          </a:ln>
        </p:spPr>
        <p:txBody>
          <a:bodyPr anchorCtr="0" anchor="t" bIns="43225" lIns="86475" spcFirstLastPara="1" rIns="86475" wrap="square" tIns="43225">
            <a:noAutofit/>
          </a:bodyPr>
          <a:lstStyle/>
          <a:p>
            <a:pPr indent="0" lvl="0" marL="111120" marR="0" rtl="0" algn="l">
              <a:spcBef>
                <a:spcPts val="0"/>
              </a:spcBef>
              <a:spcAft>
                <a:spcPts val="0"/>
              </a:spcAft>
              <a:buNone/>
            </a:pPr>
            <a:r>
              <a:rPr b="1" lang="en-US" sz="2800">
                <a:solidFill>
                  <a:schemeClr val="lt1"/>
                </a:solidFill>
                <a:latin typeface="Arial"/>
                <a:ea typeface="Arial"/>
                <a:cs typeface="Arial"/>
                <a:sym typeface="Arial"/>
              </a:rPr>
              <a:t>Tabular Analysis</a:t>
            </a:r>
            <a:endParaRPr b="1" sz="2800">
              <a:solidFill>
                <a:schemeClr val="lt1"/>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4"/>
                                        </p:tgtEl>
                                        <p:attrNameLst>
                                          <p:attrName>style.visibility</p:attrName>
                                        </p:attrNameLst>
                                      </p:cBhvr>
                                      <p:to>
                                        <p:strVal val="visible"/>
                                      </p:to>
                                    </p:set>
                                    <p:animEffect filter="fade" transition="in">
                                      <p:cBhvr>
                                        <p:cTn dur="500"/>
                                        <p:tgtEl>
                                          <p:spTgt spid="15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7" name="Shape 1557"/>
        <p:cNvGrpSpPr/>
        <p:nvPr/>
      </p:nvGrpSpPr>
      <p:grpSpPr>
        <a:xfrm>
          <a:off x="0" y="0"/>
          <a:ext cx="0" cy="0"/>
          <a:chOff x="0" y="0"/>
          <a:chExt cx="0" cy="0"/>
        </a:xfrm>
      </p:grpSpPr>
      <p:cxnSp>
        <p:nvCxnSpPr>
          <p:cNvPr id="1558" name="Google Shape;1558;p44"/>
          <p:cNvCxnSpPr/>
          <p:nvPr/>
        </p:nvCxnSpPr>
        <p:spPr>
          <a:xfrm>
            <a:off x="990600" y="54102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559" name="Google Shape;1559;p44"/>
          <p:cNvSpPr txBox="1"/>
          <p:nvPr/>
        </p:nvSpPr>
        <p:spPr>
          <a:xfrm>
            <a:off x="304800" y="3212812"/>
            <a:ext cx="8686800" cy="292388"/>
          </a:xfrm>
          <a:prstGeom prst="rect">
            <a:avLst/>
          </a:prstGeom>
          <a:noFill/>
          <a:ln>
            <a:noFill/>
          </a:ln>
        </p:spPr>
        <p:txBody>
          <a:bodyPr anchorCtr="0" anchor="t" bIns="45700" lIns="91425" spcFirstLastPara="1" rIns="91425" wrap="square" tIns="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	1.	+25,000			+25,000</a:t>
            </a:r>
            <a:endParaRPr b="1" sz="1600">
              <a:solidFill>
                <a:schemeClr val="dk1"/>
              </a:solidFill>
              <a:latin typeface="Arial"/>
              <a:ea typeface="Arial"/>
              <a:cs typeface="Arial"/>
              <a:sym typeface="Arial"/>
            </a:endParaRPr>
          </a:p>
        </p:txBody>
      </p:sp>
      <p:sp>
        <p:nvSpPr>
          <p:cNvPr id="1560" name="Google Shape;1560;p44"/>
          <p:cNvSpPr txBox="1"/>
          <p:nvPr/>
        </p:nvSpPr>
        <p:spPr>
          <a:xfrm>
            <a:off x="76200" y="2590800"/>
            <a:ext cx="9144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Trans-</a:t>
            </a:r>
            <a:endParaRPr/>
          </a:p>
          <a:p>
            <a:pPr indent="0" lvl="0" marL="0" marR="0" rtl="0" algn="ctr">
              <a:spcBef>
                <a:spcPts val="0"/>
              </a:spcBef>
              <a:spcAft>
                <a:spcPts val="0"/>
              </a:spcAft>
              <a:buNone/>
            </a:pPr>
            <a:r>
              <a:rPr b="1" lang="en-US" sz="1600">
                <a:solidFill>
                  <a:schemeClr val="dk1"/>
                </a:solidFill>
                <a:latin typeface="Arial"/>
                <a:ea typeface="Arial"/>
                <a:cs typeface="Arial"/>
                <a:sym typeface="Arial"/>
              </a:rPr>
              <a:t>action</a:t>
            </a:r>
            <a:endParaRPr/>
          </a:p>
        </p:txBody>
      </p:sp>
      <p:sp>
        <p:nvSpPr>
          <p:cNvPr id="1561" name="Google Shape;1561;p44"/>
          <p:cNvSpPr txBox="1"/>
          <p:nvPr/>
        </p:nvSpPr>
        <p:spPr>
          <a:xfrm>
            <a:off x="914400" y="2590800"/>
            <a:ext cx="9144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Cash   </a:t>
            </a:r>
            <a:endParaRPr b="1" sz="1600">
              <a:solidFill>
                <a:schemeClr val="dk1"/>
              </a:solidFill>
              <a:latin typeface="Arial"/>
              <a:ea typeface="Arial"/>
              <a:cs typeface="Arial"/>
              <a:sym typeface="Arial"/>
            </a:endParaRPr>
          </a:p>
        </p:txBody>
      </p:sp>
      <p:sp>
        <p:nvSpPr>
          <p:cNvPr id="1562" name="Google Shape;1562;p44"/>
          <p:cNvSpPr txBox="1"/>
          <p:nvPr/>
        </p:nvSpPr>
        <p:spPr>
          <a:xfrm>
            <a:off x="1981200" y="2590800"/>
            <a:ext cx="13716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Equipment</a:t>
            </a:r>
            <a:endParaRPr/>
          </a:p>
        </p:txBody>
      </p:sp>
      <p:sp>
        <p:nvSpPr>
          <p:cNvPr id="1563" name="Google Shape;1563;p44"/>
          <p:cNvSpPr txBox="1"/>
          <p:nvPr/>
        </p:nvSpPr>
        <p:spPr>
          <a:xfrm>
            <a:off x="3505200" y="2590800"/>
            <a:ext cx="13716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Accounts</a:t>
            </a:r>
            <a:endParaRPr/>
          </a:p>
          <a:p>
            <a:pPr indent="0" lvl="0" marL="0" marR="0" rtl="0" algn="ctr">
              <a:spcBef>
                <a:spcPts val="0"/>
              </a:spcBef>
              <a:spcAft>
                <a:spcPts val="0"/>
              </a:spcAft>
              <a:buNone/>
            </a:pPr>
            <a:r>
              <a:rPr b="1" lang="en-US" sz="1600">
                <a:solidFill>
                  <a:schemeClr val="dk1"/>
                </a:solidFill>
                <a:latin typeface="Arial"/>
                <a:ea typeface="Arial"/>
                <a:cs typeface="Arial"/>
                <a:sym typeface="Arial"/>
              </a:rPr>
              <a:t>Payable</a:t>
            </a:r>
            <a:endParaRPr/>
          </a:p>
        </p:txBody>
      </p:sp>
      <p:cxnSp>
        <p:nvCxnSpPr>
          <p:cNvPr id="1564" name="Google Shape;1564;p44"/>
          <p:cNvCxnSpPr/>
          <p:nvPr/>
        </p:nvCxnSpPr>
        <p:spPr>
          <a:xfrm>
            <a:off x="978408" y="31242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565" name="Google Shape;1565;p44"/>
          <p:cNvSpPr/>
          <p:nvPr/>
        </p:nvSpPr>
        <p:spPr>
          <a:xfrm>
            <a:off x="1905000" y="3048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566" name="Google Shape;1566;p44"/>
          <p:cNvSpPr/>
          <p:nvPr/>
        </p:nvSpPr>
        <p:spPr>
          <a:xfrm>
            <a:off x="3352800" y="3048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567" name="Google Shape;1567;p44"/>
          <p:cNvSpPr/>
          <p:nvPr/>
        </p:nvSpPr>
        <p:spPr>
          <a:xfrm>
            <a:off x="4800600" y="3048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568" name="Google Shape;1568;p44"/>
          <p:cNvSpPr/>
          <p:nvPr/>
        </p:nvSpPr>
        <p:spPr>
          <a:xfrm>
            <a:off x="5943600" y="3048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569" name="Google Shape;1569;p44"/>
          <p:cNvSpPr txBox="1"/>
          <p:nvPr/>
        </p:nvSpPr>
        <p:spPr>
          <a:xfrm>
            <a:off x="914399" y="2286000"/>
            <a:ext cx="7924801" cy="26161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	Assets	=    Liabilities +	Owner's Equity</a:t>
            </a:r>
            <a:endParaRPr b="1" sz="1600">
              <a:solidFill>
                <a:schemeClr val="dk1"/>
              </a:solidFill>
              <a:latin typeface="Arial"/>
              <a:ea typeface="Arial"/>
              <a:cs typeface="Arial"/>
              <a:sym typeface="Arial"/>
            </a:endParaRPr>
          </a:p>
        </p:txBody>
      </p:sp>
      <p:cxnSp>
        <p:nvCxnSpPr>
          <p:cNvPr id="1570" name="Google Shape;1570;p44"/>
          <p:cNvCxnSpPr/>
          <p:nvPr/>
        </p:nvCxnSpPr>
        <p:spPr>
          <a:xfrm>
            <a:off x="914400" y="25908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571" name="Google Shape;1571;p44"/>
          <p:cNvSpPr txBox="1"/>
          <p:nvPr/>
        </p:nvSpPr>
        <p:spPr>
          <a:xfrm>
            <a:off x="4724400" y="25908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a:p>
        </p:txBody>
      </p:sp>
      <p:sp>
        <p:nvSpPr>
          <p:cNvPr id="1572" name="Google Shape;1572;p44"/>
          <p:cNvSpPr txBox="1"/>
          <p:nvPr/>
        </p:nvSpPr>
        <p:spPr>
          <a:xfrm>
            <a:off x="5867400" y="25908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a:p>
        </p:txBody>
      </p:sp>
      <p:sp>
        <p:nvSpPr>
          <p:cNvPr id="1573" name="Google Shape;1573;p44"/>
          <p:cNvSpPr txBox="1"/>
          <p:nvPr/>
        </p:nvSpPr>
        <p:spPr>
          <a:xfrm>
            <a:off x="1828800" y="25908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b="1" sz="1600">
              <a:solidFill>
                <a:schemeClr val="dk1"/>
              </a:solidFill>
              <a:latin typeface="Arial"/>
              <a:ea typeface="Arial"/>
              <a:cs typeface="Arial"/>
              <a:sym typeface="Arial"/>
            </a:endParaRPr>
          </a:p>
        </p:txBody>
      </p:sp>
      <p:sp>
        <p:nvSpPr>
          <p:cNvPr id="1574" name="Google Shape;1574;p44"/>
          <p:cNvSpPr txBox="1"/>
          <p:nvPr/>
        </p:nvSpPr>
        <p:spPr>
          <a:xfrm>
            <a:off x="3352800" y="25908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a:p>
        </p:txBody>
      </p:sp>
      <p:cxnSp>
        <p:nvCxnSpPr>
          <p:cNvPr id="1575" name="Google Shape;1575;p44"/>
          <p:cNvCxnSpPr/>
          <p:nvPr/>
        </p:nvCxnSpPr>
        <p:spPr>
          <a:xfrm>
            <a:off x="990600" y="35814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576" name="Google Shape;1576;p44"/>
          <p:cNvSpPr txBox="1"/>
          <p:nvPr/>
        </p:nvSpPr>
        <p:spPr>
          <a:xfrm>
            <a:off x="533400" y="1371600"/>
            <a:ext cx="8001000" cy="439287"/>
          </a:xfrm>
          <a:prstGeom prst="rect">
            <a:avLst/>
          </a:prstGeom>
          <a:noFill/>
          <a:ln>
            <a:noFill/>
          </a:ln>
        </p:spPr>
        <p:txBody>
          <a:bodyPr anchorCtr="0" anchor="t" bIns="45700" lIns="91425" spcFirstLastPara="1" rIns="91425" wrap="square" tIns="45700">
            <a:spAutoFit/>
          </a:bodyPr>
          <a:lstStyle/>
          <a:p>
            <a:pPr indent="-341313" lvl="0" marL="341313" marR="0" rtl="0" algn="l">
              <a:lnSpc>
                <a:spcPct val="125000"/>
              </a:lnSpc>
              <a:spcBef>
                <a:spcPts val="0"/>
              </a:spcBef>
              <a:spcAft>
                <a:spcPts val="0"/>
              </a:spcAft>
              <a:buClr>
                <a:schemeClr val="dk1"/>
              </a:buClr>
              <a:buSzPts val="2000"/>
              <a:buFont typeface="Comic Sans MS"/>
              <a:buAutoNum type="arabicPeriod" startAt="4"/>
            </a:pPr>
            <a:r>
              <a:rPr b="1" lang="en-US" sz="2000">
                <a:solidFill>
                  <a:schemeClr val="dk1"/>
                </a:solidFill>
                <a:latin typeface="Arial"/>
                <a:ea typeface="Arial"/>
                <a:cs typeface="Arial"/>
                <a:sym typeface="Arial"/>
              </a:rPr>
              <a:t>The company paid $850 for this month’s rent.</a:t>
            </a:r>
            <a:endParaRPr b="1" sz="2000">
              <a:solidFill>
                <a:schemeClr val="dk1"/>
              </a:solidFill>
              <a:latin typeface="Arial"/>
              <a:ea typeface="Arial"/>
              <a:cs typeface="Arial"/>
              <a:sym typeface="Arial"/>
            </a:endParaRPr>
          </a:p>
        </p:txBody>
      </p:sp>
      <p:sp>
        <p:nvSpPr>
          <p:cNvPr id="1577" name="Google Shape;1577;p44"/>
          <p:cNvSpPr txBox="1"/>
          <p:nvPr/>
        </p:nvSpPr>
        <p:spPr>
          <a:xfrm>
            <a:off x="304800" y="3670012"/>
            <a:ext cx="8686800" cy="292388"/>
          </a:xfrm>
          <a:prstGeom prst="rect">
            <a:avLst/>
          </a:prstGeom>
          <a:noFill/>
          <a:ln>
            <a:noFill/>
          </a:ln>
        </p:spPr>
        <p:txBody>
          <a:bodyPr anchorCtr="0" anchor="t" bIns="45700" lIns="91425" spcFirstLastPara="1" rIns="91425" wrap="square" tIns="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	2.		+7,000	+7,000</a:t>
            </a:r>
            <a:endParaRPr b="1" sz="1600">
              <a:solidFill>
                <a:schemeClr val="dk1"/>
              </a:solidFill>
              <a:latin typeface="Arial"/>
              <a:ea typeface="Arial"/>
              <a:cs typeface="Arial"/>
              <a:sym typeface="Arial"/>
            </a:endParaRPr>
          </a:p>
        </p:txBody>
      </p:sp>
      <p:cxnSp>
        <p:nvCxnSpPr>
          <p:cNvPr id="1578" name="Google Shape;1578;p44"/>
          <p:cNvCxnSpPr/>
          <p:nvPr/>
        </p:nvCxnSpPr>
        <p:spPr>
          <a:xfrm>
            <a:off x="990600" y="40386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579" name="Google Shape;1579;p44"/>
          <p:cNvSpPr txBox="1"/>
          <p:nvPr/>
        </p:nvSpPr>
        <p:spPr>
          <a:xfrm>
            <a:off x="304800" y="4127212"/>
            <a:ext cx="8686800" cy="292388"/>
          </a:xfrm>
          <a:prstGeom prst="rect">
            <a:avLst/>
          </a:prstGeom>
          <a:noFill/>
          <a:ln>
            <a:noFill/>
          </a:ln>
        </p:spPr>
        <p:txBody>
          <a:bodyPr anchorCtr="0" anchor="t" bIns="45700" lIns="91425" spcFirstLastPara="1" rIns="91425" wrap="square" tIns="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	3.	+8,000					+8,000</a:t>
            </a:r>
            <a:endParaRPr b="1" sz="1600">
              <a:solidFill>
                <a:schemeClr val="dk1"/>
              </a:solidFill>
              <a:latin typeface="Arial"/>
              <a:ea typeface="Arial"/>
              <a:cs typeface="Arial"/>
              <a:sym typeface="Arial"/>
            </a:endParaRPr>
          </a:p>
        </p:txBody>
      </p:sp>
      <p:cxnSp>
        <p:nvCxnSpPr>
          <p:cNvPr id="1580" name="Google Shape;1580;p44"/>
          <p:cNvCxnSpPr/>
          <p:nvPr/>
        </p:nvCxnSpPr>
        <p:spPr>
          <a:xfrm>
            <a:off x="990600" y="44958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581" name="Google Shape;1581;p44"/>
          <p:cNvSpPr txBox="1"/>
          <p:nvPr/>
        </p:nvSpPr>
        <p:spPr>
          <a:xfrm>
            <a:off x="304800" y="4584412"/>
            <a:ext cx="8686800" cy="292388"/>
          </a:xfrm>
          <a:prstGeom prst="rect">
            <a:avLst/>
          </a:prstGeom>
          <a:noFill/>
          <a:ln>
            <a:noFill/>
          </a:ln>
        </p:spPr>
        <p:txBody>
          <a:bodyPr anchorCtr="0" anchor="t" bIns="45700" lIns="91425" spcFirstLastPara="1" rIns="91425" wrap="square" tIns="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	4.	-850						-850</a:t>
            </a:r>
            <a:endParaRPr b="1" sz="1600">
              <a:solidFill>
                <a:schemeClr val="dk1"/>
              </a:solidFill>
              <a:latin typeface="Arial"/>
              <a:ea typeface="Arial"/>
              <a:cs typeface="Arial"/>
              <a:sym typeface="Arial"/>
            </a:endParaRPr>
          </a:p>
        </p:txBody>
      </p:sp>
      <p:cxnSp>
        <p:nvCxnSpPr>
          <p:cNvPr id="1582" name="Google Shape;1582;p44"/>
          <p:cNvCxnSpPr/>
          <p:nvPr/>
        </p:nvCxnSpPr>
        <p:spPr>
          <a:xfrm>
            <a:off x="990600" y="49530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583" name="Google Shape;1583;p44"/>
          <p:cNvSpPr txBox="1"/>
          <p:nvPr/>
        </p:nvSpPr>
        <p:spPr>
          <a:xfrm>
            <a:off x="304800" y="5041612"/>
            <a:ext cx="8686800" cy="292388"/>
          </a:xfrm>
          <a:prstGeom prst="rect">
            <a:avLst/>
          </a:prstGeom>
          <a:noFill/>
          <a:ln>
            <a:noFill/>
          </a:ln>
        </p:spPr>
        <p:txBody>
          <a:bodyPr anchorCtr="0" anchor="t" bIns="45700" lIns="91425" spcFirstLastPara="1" rIns="91425" wrap="square" tIns="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	5.	-1,000						-1,000</a:t>
            </a:r>
            <a:endParaRPr b="1" sz="1600">
              <a:solidFill>
                <a:schemeClr val="dk1"/>
              </a:solidFill>
              <a:latin typeface="Arial"/>
              <a:ea typeface="Arial"/>
              <a:cs typeface="Arial"/>
              <a:sym typeface="Arial"/>
            </a:endParaRPr>
          </a:p>
        </p:txBody>
      </p:sp>
      <p:sp>
        <p:nvSpPr>
          <p:cNvPr id="1584" name="Google Shape;1584;p44"/>
          <p:cNvSpPr/>
          <p:nvPr/>
        </p:nvSpPr>
        <p:spPr>
          <a:xfrm>
            <a:off x="1917192" y="5334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585" name="Google Shape;1585;p44"/>
          <p:cNvSpPr/>
          <p:nvPr/>
        </p:nvSpPr>
        <p:spPr>
          <a:xfrm>
            <a:off x="3364992" y="5334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586" name="Google Shape;1586;p44"/>
          <p:cNvSpPr/>
          <p:nvPr/>
        </p:nvSpPr>
        <p:spPr>
          <a:xfrm>
            <a:off x="4812792" y="5334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587" name="Google Shape;1587;p44"/>
          <p:cNvSpPr/>
          <p:nvPr/>
        </p:nvSpPr>
        <p:spPr>
          <a:xfrm>
            <a:off x="5955792" y="5334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588" name="Google Shape;1588;p44"/>
          <p:cNvSpPr/>
          <p:nvPr/>
        </p:nvSpPr>
        <p:spPr>
          <a:xfrm>
            <a:off x="6946392" y="5334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589" name="Google Shape;1589;p44"/>
          <p:cNvSpPr/>
          <p:nvPr/>
        </p:nvSpPr>
        <p:spPr>
          <a:xfrm>
            <a:off x="7936992" y="5334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cxnSp>
        <p:nvCxnSpPr>
          <p:cNvPr id="1590" name="Google Shape;1590;p44"/>
          <p:cNvCxnSpPr/>
          <p:nvPr/>
        </p:nvCxnSpPr>
        <p:spPr>
          <a:xfrm>
            <a:off x="990600" y="58674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591" name="Google Shape;1591;p44"/>
          <p:cNvSpPr/>
          <p:nvPr/>
        </p:nvSpPr>
        <p:spPr>
          <a:xfrm>
            <a:off x="1917192" y="5791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592" name="Google Shape;1592;p44"/>
          <p:cNvSpPr/>
          <p:nvPr/>
        </p:nvSpPr>
        <p:spPr>
          <a:xfrm>
            <a:off x="3364992" y="5791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593" name="Google Shape;1593;p44"/>
          <p:cNvSpPr/>
          <p:nvPr/>
        </p:nvSpPr>
        <p:spPr>
          <a:xfrm>
            <a:off x="4812792" y="5791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594" name="Google Shape;1594;p44"/>
          <p:cNvSpPr/>
          <p:nvPr/>
        </p:nvSpPr>
        <p:spPr>
          <a:xfrm>
            <a:off x="5955792" y="5791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595" name="Google Shape;1595;p44"/>
          <p:cNvSpPr/>
          <p:nvPr/>
        </p:nvSpPr>
        <p:spPr>
          <a:xfrm>
            <a:off x="6946392" y="5791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596" name="Google Shape;1596;p44"/>
          <p:cNvSpPr/>
          <p:nvPr/>
        </p:nvSpPr>
        <p:spPr>
          <a:xfrm>
            <a:off x="7936992" y="5791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cxnSp>
        <p:nvCxnSpPr>
          <p:cNvPr id="1597" name="Google Shape;1597;p44"/>
          <p:cNvCxnSpPr/>
          <p:nvPr/>
        </p:nvCxnSpPr>
        <p:spPr>
          <a:xfrm>
            <a:off x="990600" y="59436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598" name="Google Shape;1598;p44"/>
          <p:cNvSpPr/>
          <p:nvPr/>
        </p:nvSpPr>
        <p:spPr>
          <a:xfrm>
            <a:off x="1917192" y="58674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599" name="Google Shape;1599;p44"/>
          <p:cNvSpPr/>
          <p:nvPr/>
        </p:nvSpPr>
        <p:spPr>
          <a:xfrm>
            <a:off x="3364992" y="58674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600" name="Google Shape;1600;p44"/>
          <p:cNvSpPr/>
          <p:nvPr/>
        </p:nvSpPr>
        <p:spPr>
          <a:xfrm>
            <a:off x="4812792" y="58674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601" name="Google Shape;1601;p44"/>
          <p:cNvSpPr/>
          <p:nvPr/>
        </p:nvSpPr>
        <p:spPr>
          <a:xfrm>
            <a:off x="5955792" y="58674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602" name="Google Shape;1602;p44"/>
          <p:cNvSpPr/>
          <p:nvPr/>
        </p:nvSpPr>
        <p:spPr>
          <a:xfrm>
            <a:off x="6946392" y="58674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603" name="Google Shape;1603;p44"/>
          <p:cNvSpPr/>
          <p:nvPr/>
        </p:nvSpPr>
        <p:spPr>
          <a:xfrm>
            <a:off x="7936992" y="58674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604" name="Google Shape;1604;p44"/>
          <p:cNvSpPr txBox="1"/>
          <p:nvPr/>
        </p:nvSpPr>
        <p:spPr>
          <a:xfrm>
            <a:off x="304800" y="5498812"/>
            <a:ext cx="8686800" cy="292388"/>
          </a:xfrm>
          <a:prstGeom prst="rect">
            <a:avLst/>
          </a:prstGeom>
          <a:noFill/>
          <a:ln>
            <a:noFill/>
          </a:ln>
        </p:spPr>
        <p:txBody>
          <a:bodyPr anchorCtr="0" anchor="t" bIns="45700" lIns="91425" spcFirstLastPara="1" rIns="91425" wrap="square" tIns="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		$31,150	$7,000	$7,000	$25,000	$8,000	$850	$1,000</a:t>
            </a:r>
            <a:endParaRPr b="1" sz="1600">
              <a:solidFill>
                <a:schemeClr val="dk1"/>
              </a:solidFill>
              <a:latin typeface="Arial"/>
              <a:ea typeface="Arial"/>
              <a:cs typeface="Arial"/>
              <a:sym typeface="Arial"/>
            </a:endParaRPr>
          </a:p>
        </p:txBody>
      </p:sp>
      <p:pic>
        <p:nvPicPr>
          <p:cNvPr id="1605" name="Google Shape;1605;p44"/>
          <p:cNvPicPr preferRelativeResize="0"/>
          <p:nvPr/>
        </p:nvPicPr>
        <p:blipFill rotWithShape="1">
          <a:blip r:embed="rId3">
            <a:alphaModFix/>
          </a:blip>
          <a:srcRect b="0" l="0" r="0" t="0"/>
          <a:stretch/>
        </p:blipFill>
        <p:spPr>
          <a:xfrm>
            <a:off x="2493472" y="571501"/>
            <a:ext cx="409385" cy="344759"/>
          </a:xfrm>
          <a:prstGeom prst="rect">
            <a:avLst/>
          </a:prstGeom>
          <a:noFill/>
          <a:ln>
            <a:noFill/>
          </a:ln>
        </p:spPr>
      </p:pic>
      <p:sp>
        <p:nvSpPr>
          <p:cNvPr id="1606" name="Google Shape;1606;p44"/>
          <p:cNvSpPr txBox="1"/>
          <p:nvPr/>
        </p:nvSpPr>
        <p:spPr>
          <a:xfrm>
            <a:off x="4724400" y="5334000"/>
            <a:ext cx="152400" cy="523220"/>
          </a:xfrm>
          <a:prstGeom prst="rect">
            <a:avLst/>
          </a:prstGeom>
          <a:noFill/>
          <a:ln>
            <a:noFill/>
          </a:ln>
        </p:spPr>
        <p:txBody>
          <a:bodyPr anchorCtr="0" anchor="ctr" bIns="45700" lIns="0" spcFirstLastPara="1" rIns="0" wrap="square" tIns="91425">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a:p>
        </p:txBody>
      </p:sp>
      <p:sp>
        <p:nvSpPr>
          <p:cNvPr id="1607" name="Google Shape;1607;p44"/>
          <p:cNvSpPr txBox="1"/>
          <p:nvPr/>
        </p:nvSpPr>
        <p:spPr>
          <a:xfrm>
            <a:off x="5943600" y="5334000"/>
            <a:ext cx="152400" cy="523220"/>
          </a:xfrm>
          <a:prstGeom prst="rect">
            <a:avLst/>
          </a:prstGeom>
          <a:noFill/>
          <a:ln>
            <a:noFill/>
          </a:ln>
        </p:spPr>
        <p:txBody>
          <a:bodyPr anchorCtr="0" anchor="ctr" bIns="45700" lIns="0" spcFirstLastPara="1" rIns="0" wrap="square" tIns="91425">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a:p>
        </p:txBody>
      </p:sp>
      <p:sp>
        <p:nvSpPr>
          <p:cNvPr id="1608" name="Google Shape;1608;p44"/>
          <p:cNvSpPr txBox="1"/>
          <p:nvPr/>
        </p:nvSpPr>
        <p:spPr>
          <a:xfrm>
            <a:off x="1905000" y="5334000"/>
            <a:ext cx="152400" cy="523220"/>
          </a:xfrm>
          <a:prstGeom prst="rect">
            <a:avLst/>
          </a:prstGeom>
          <a:noFill/>
          <a:ln>
            <a:noFill/>
          </a:ln>
        </p:spPr>
        <p:txBody>
          <a:bodyPr anchorCtr="0" anchor="ctr" bIns="45700" lIns="0" spcFirstLastPara="1" rIns="0" wrap="square" tIns="91425">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b="1" sz="1600">
              <a:solidFill>
                <a:schemeClr val="dk1"/>
              </a:solidFill>
              <a:latin typeface="Arial"/>
              <a:ea typeface="Arial"/>
              <a:cs typeface="Arial"/>
              <a:sym typeface="Arial"/>
            </a:endParaRPr>
          </a:p>
        </p:txBody>
      </p:sp>
      <p:sp>
        <p:nvSpPr>
          <p:cNvPr id="1609" name="Google Shape;1609;p44"/>
          <p:cNvSpPr txBox="1"/>
          <p:nvPr/>
        </p:nvSpPr>
        <p:spPr>
          <a:xfrm>
            <a:off x="3352800" y="5334000"/>
            <a:ext cx="152400" cy="523220"/>
          </a:xfrm>
          <a:prstGeom prst="rect">
            <a:avLst/>
          </a:prstGeom>
          <a:noFill/>
          <a:ln>
            <a:noFill/>
          </a:ln>
        </p:spPr>
        <p:txBody>
          <a:bodyPr anchorCtr="0" anchor="ctr" bIns="45700" lIns="0" spcFirstLastPara="1" rIns="0" wrap="square" tIns="91425">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a:p>
        </p:txBody>
      </p:sp>
      <p:sp>
        <p:nvSpPr>
          <p:cNvPr id="1610" name="Google Shape;1610;p44"/>
          <p:cNvSpPr txBox="1"/>
          <p:nvPr/>
        </p:nvSpPr>
        <p:spPr>
          <a:xfrm>
            <a:off x="6934200" y="5334000"/>
            <a:ext cx="152400" cy="523220"/>
          </a:xfrm>
          <a:prstGeom prst="rect">
            <a:avLst/>
          </a:prstGeom>
          <a:noFill/>
          <a:ln>
            <a:noFill/>
          </a:ln>
        </p:spPr>
        <p:txBody>
          <a:bodyPr anchorCtr="0" anchor="ctr" bIns="45700" lIns="0" spcFirstLastPara="1" rIns="0" wrap="square" tIns="91425">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b="1" sz="1600">
              <a:solidFill>
                <a:schemeClr val="dk1"/>
              </a:solidFill>
              <a:latin typeface="Arial"/>
              <a:ea typeface="Arial"/>
              <a:cs typeface="Arial"/>
              <a:sym typeface="Arial"/>
            </a:endParaRPr>
          </a:p>
        </p:txBody>
      </p:sp>
      <p:sp>
        <p:nvSpPr>
          <p:cNvPr id="1611" name="Google Shape;1611;p44"/>
          <p:cNvSpPr txBox="1"/>
          <p:nvPr/>
        </p:nvSpPr>
        <p:spPr>
          <a:xfrm>
            <a:off x="7924800" y="5334000"/>
            <a:ext cx="152400" cy="523220"/>
          </a:xfrm>
          <a:prstGeom prst="rect">
            <a:avLst/>
          </a:prstGeom>
          <a:noFill/>
          <a:ln>
            <a:noFill/>
          </a:ln>
        </p:spPr>
        <p:txBody>
          <a:bodyPr anchorCtr="0" anchor="ctr" bIns="45700" lIns="0" spcFirstLastPara="1" rIns="0" wrap="square" tIns="91425">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b="1" sz="1600">
              <a:solidFill>
                <a:schemeClr val="dk1"/>
              </a:solidFill>
              <a:latin typeface="Arial"/>
              <a:ea typeface="Arial"/>
              <a:cs typeface="Arial"/>
              <a:sym typeface="Arial"/>
            </a:endParaRPr>
          </a:p>
        </p:txBody>
      </p:sp>
      <p:sp>
        <p:nvSpPr>
          <p:cNvPr id="1612" name="Google Shape;1612;p44"/>
          <p:cNvSpPr/>
          <p:nvPr/>
        </p:nvSpPr>
        <p:spPr>
          <a:xfrm rot="-5400000">
            <a:off x="6036516" y="3412283"/>
            <a:ext cx="182975" cy="5398009"/>
          </a:xfrm>
          <a:prstGeom prst="leftBrace">
            <a:avLst>
              <a:gd fmla="val 8333" name="adj1"/>
              <a:gd fmla="val 50482" name="adj2"/>
            </a:avLst>
          </a:prstGeom>
          <a:noFill/>
          <a:ln cap="sq" cmpd="sng" w="28575">
            <a:solidFill>
              <a:srgbClr val="73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613" name="Google Shape;1613;p44"/>
          <p:cNvSpPr/>
          <p:nvPr/>
        </p:nvSpPr>
        <p:spPr>
          <a:xfrm rot="-5400000">
            <a:off x="2093168" y="4905042"/>
            <a:ext cx="182974" cy="2412494"/>
          </a:xfrm>
          <a:prstGeom prst="leftBrace">
            <a:avLst>
              <a:gd fmla="val 8333" name="adj1"/>
              <a:gd fmla="val 50482" name="adj2"/>
            </a:avLst>
          </a:prstGeom>
          <a:noFill/>
          <a:ln cap="sq" cmpd="sng" w="28575">
            <a:solidFill>
              <a:srgbClr val="73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614" name="Google Shape;1614;p44"/>
          <p:cNvSpPr txBox="1"/>
          <p:nvPr/>
        </p:nvSpPr>
        <p:spPr>
          <a:xfrm>
            <a:off x="1524000" y="6248400"/>
            <a:ext cx="1295400"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730000"/>
                </a:solidFill>
                <a:latin typeface="Arial"/>
                <a:ea typeface="Arial"/>
                <a:cs typeface="Arial"/>
                <a:sym typeface="Arial"/>
              </a:rPr>
              <a:t>$18,050</a:t>
            </a:r>
            <a:endParaRPr b="1" sz="1600">
              <a:solidFill>
                <a:srgbClr val="730000"/>
              </a:solidFill>
              <a:latin typeface="Arial"/>
              <a:ea typeface="Arial"/>
              <a:cs typeface="Arial"/>
              <a:sym typeface="Arial"/>
            </a:endParaRPr>
          </a:p>
        </p:txBody>
      </p:sp>
      <p:sp>
        <p:nvSpPr>
          <p:cNvPr id="1615" name="Google Shape;1615;p44"/>
          <p:cNvSpPr txBox="1"/>
          <p:nvPr/>
        </p:nvSpPr>
        <p:spPr>
          <a:xfrm>
            <a:off x="5486400" y="6248400"/>
            <a:ext cx="1371600"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730000"/>
                </a:solidFill>
                <a:latin typeface="Arial"/>
                <a:ea typeface="Arial"/>
                <a:cs typeface="Arial"/>
                <a:sym typeface="Arial"/>
              </a:rPr>
              <a:t>$18,050</a:t>
            </a:r>
            <a:endParaRPr b="1" sz="1600">
              <a:solidFill>
                <a:srgbClr val="730000"/>
              </a:solidFill>
              <a:latin typeface="Arial"/>
              <a:ea typeface="Arial"/>
              <a:cs typeface="Arial"/>
              <a:sym typeface="Arial"/>
            </a:endParaRPr>
          </a:p>
        </p:txBody>
      </p:sp>
      <p:sp>
        <p:nvSpPr>
          <p:cNvPr id="1616" name="Google Shape;1616;p44"/>
          <p:cNvSpPr/>
          <p:nvPr/>
        </p:nvSpPr>
        <p:spPr>
          <a:xfrm>
            <a:off x="381000" y="5041612"/>
            <a:ext cx="8610600" cy="137606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617" name="Google Shape;1617;p44"/>
          <p:cNvSpPr/>
          <p:nvPr/>
        </p:nvSpPr>
        <p:spPr>
          <a:xfrm>
            <a:off x="1371600" y="6111287"/>
            <a:ext cx="7455408" cy="45879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618" name="Google Shape;1618;p44"/>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4 </a:t>
            </a:r>
            <a:endParaRPr b="1" i="1" sz="1600">
              <a:solidFill>
                <a:schemeClr val="lt2"/>
              </a:solidFill>
              <a:latin typeface="Arial"/>
              <a:ea typeface="Arial"/>
              <a:cs typeface="Arial"/>
              <a:sym typeface="Arial"/>
            </a:endParaRPr>
          </a:p>
        </p:txBody>
      </p:sp>
      <p:sp>
        <p:nvSpPr>
          <p:cNvPr id="1619" name="Google Shape;1619;p44"/>
          <p:cNvSpPr/>
          <p:nvPr/>
        </p:nvSpPr>
        <p:spPr>
          <a:xfrm>
            <a:off x="7162800" y="3048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620" name="Google Shape;1620;p44"/>
          <p:cNvSpPr/>
          <p:nvPr/>
        </p:nvSpPr>
        <p:spPr>
          <a:xfrm>
            <a:off x="8001000" y="3048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621" name="Google Shape;1621;p44"/>
          <p:cNvSpPr txBox="1"/>
          <p:nvPr/>
        </p:nvSpPr>
        <p:spPr>
          <a:xfrm>
            <a:off x="6019800" y="2590800"/>
            <a:ext cx="11430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Owner's Drawings</a:t>
            </a:r>
            <a:endParaRPr b="1" sz="1600">
              <a:solidFill>
                <a:schemeClr val="dk1"/>
              </a:solidFill>
              <a:latin typeface="Arial"/>
              <a:ea typeface="Arial"/>
              <a:cs typeface="Arial"/>
              <a:sym typeface="Arial"/>
            </a:endParaRPr>
          </a:p>
        </p:txBody>
      </p:sp>
      <p:sp>
        <p:nvSpPr>
          <p:cNvPr id="1622" name="Google Shape;1622;p44"/>
          <p:cNvSpPr txBox="1"/>
          <p:nvPr/>
        </p:nvSpPr>
        <p:spPr>
          <a:xfrm>
            <a:off x="7162800" y="2590800"/>
            <a:ext cx="8382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Rev.</a:t>
            </a:r>
            <a:endParaRPr b="1" sz="1600">
              <a:solidFill>
                <a:schemeClr val="dk1"/>
              </a:solidFill>
              <a:latin typeface="Arial"/>
              <a:ea typeface="Arial"/>
              <a:cs typeface="Arial"/>
              <a:sym typeface="Arial"/>
            </a:endParaRPr>
          </a:p>
        </p:txBody>
      </p:sp>
      <p:sp>
        <p:nvSpPr>
          <p:cNvPr id="1623" name="Google Shape;1623;p44"/>
          <p:cNvSpPr txBox="1"/>
          <p:nvPr/>
        </p:nvSpPr>
        <p:spPr>
          <a:xfrm>
            <a:off x="8001000" y="2590800"/>
            <a:ext cx="8382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Exp.</a:t>
            </a:r>
            <a:endParaRPr b="1" sz="1600">
              <a:solidFill>
                <a:schemeClr val="dk1"/>
              </a:solidFill>
              <a:latin typeface="Arial"/>
              <a:ea typeface="Arial"/>
              <a:cs typeface="Arial"/>
              <a:sym typeface="Arial"/>
            </a:endParaRPr>
          </a:p>
        </p:txBody>
      </p:sp>
      <p:sp>
        <p:nvSpPr>
          <p:cNvPr id="1624" name="Google Shape;1624;p44"/>
          <p:cNvSpPr txBox="1"/>
          <p:nvPr/>
        </p:nvSpPr>
        <p:spPr>
          <a:xfrm>
            <a:off x="7086600" y="25908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a:p>
        </p:txBody>
      </p:sp>
      <p:sp>
        <p:nvSpPr>
          <p:cNvPr id="1625" name="Google Shape;1625;p44"/>
          <p:cNvSpPr txBox="1"/>
          <p:nvPr/>
        </p:nvSpPr>
        <p:spPr>
          <a:xfrm>
            <a:off x="7924800" y="25908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b="1" sz="1600">
              <a:solidFill>
                <a:schemeClr val="dk1"/>
              </a:solidFill>
              <a:latin typeface="Arial"/>
              <a:ea typeface="Arial"/>
              <a:cs typeface="Arial"/>
              <a:sym typeface="Arial"/>
            </a:endParaRPr>
          </a:p>
        </p:txBody>
      </p:sp>
      <p:sp>
        <p:nvSpPr>
          <p:cNvPr id="1626" name="Google Shape;1626;p44"/>
          <p:cNvSpPr txBox="1"/>
          <p:nvPr/>
        </p:nvSpPr>
        <p:spPr>
          <a:xfrm>
            <a:off x="4800600" y="2590800"/>
            <a:ext cx="12954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Owner's Capital</a:t>
            </a:r>
            <a:endParaRPr b="1" sz="1600">
              <a:solidFill>
                <a:schemeClr val="dk1"/>
              </a:solidFill>
              <a:latin typeface="Arial"/>
              <a:ea typeface="Arial"/>
              <a:cs typeface="Arial"/>
              <a:sym typeface="Arial"/>
            </a:endParaRPr>
          </a:p>
        </p:txBody>
      </p:sp>
      <p:sp>
        <p:nvSpPr>
          <p:cNvPr id="1627" name="Google Shape;1627;p44"/>
          <p:cNvSpPr txBox="1"/>
          <p:nvPr/>
        </p:nvSpPr>
        <p:spPr>
          <a:xfrm>
            <a:off x="0" y="428624"/>
            <a:ext cx="3276600" cy="691039"/>
          </a:xfrm>
          <a:prstGeom prst="rect">
            <a:avLst/>
          </a:prstGeom>
          <a:solidFill>
            <a:srgbClr val="D8D8D8"/>
          </a:solidFill>
          <a:ln>
            <a:noFill/>
          </a:ln>
        </p:spPr>
        <p:txBody>
          <a:bodyPr anchorCtr="0" anchor="t" bIns="45700" lIns="0" spcFirstLastPara="1" rIns="91425" wrap="square" tIns="0">
            <a:noAutofit/>
          </a:bodyPr>
          <a:lstStyle/>
          <a:p>
            <a:pPr indent="0" lvl="0" marL="519113" marR="0" rtl="0" algn="l">
              <a:spcBef>
                <a:spcPts val="0"/>
              </a:spcBef>
              <a:spcAft>
                <a:spcPts val="0"/>
              </a:spcAft>
              <a:buNone/>
            </a:pPr>
            <a:r>
              <a:rPr b="1" lang="en-US" sz="4200">
                <a:solidFill>
                  <a:srgbClr val="FF9900"/>
                </a:solidFill>
                <a:latin typeface="Arial"/>
                <a:ea typeface="Arial"/>
                <a:cs typeface="Arial"/>
                <a:sym typeface="Arial"/>
              </a:rPr>
              <a:t>DO IT!</a:t>
            </a:r>
            <a:endParaRPr b="1" sz="4200">
              <a:solidFill>
                <a:srgbClr val="FF9900"/>
              </a:solidFill>
              <a:latin typeface="Arial"/>
              <a:ea typeface="Arial"/>
              <a:cs typeface="Arial"/>
              <a:sym typeface="Arial"/>
            </a:endParaRPr>
          </a:p>
        </p:txBody>
      </p:sp>
      <p:sp>
        <p:nvSpPr>
          <p:cNvPr id="1628" name="Google Shape;1628;p44"/>
          <p:cNvSpPr/>
          <p:nvPr/>
        </p:nvSpPr>
        <p:spPr>
          <a:xfrm>
            <a:off x="2286000" y="428626"/>
            <a:ext cx="762000" cy="691038"/>
          </a:xfrm>
          <a:prstGeom prst="ellipse">
            <a:avLst/>
          </a:prstGeom>
          <a:solidFill>
            <a:schemeClr val="accent3"/>
          </a:solidFill>
          <a:ln cap="sq" cmpd="sng" w="12700">
            <a:solidFill>
              <a:srgbClr val="7F7F7F"/>
            </a:solidFill>
            <a:prstDash val="dash"/>
            <a:round/>
            <a:headEnd len="sm" w="sm" type="none"/>
            <a:tailEnd len="sm" w="sm" type="none"/>
          </a:ln>
        </p:spPr>
        <p:txBody>
          <a:bodyPr anchorCtr="0" anchor="ctr" bIns="45700" lIns="91425" spcFirstLastPara="1" rIns="91425" wrap="square" tIns="0">
            <a:noAutofit/>
          </a:bodyPr>
          <a:lstStyle/>
          <a:p>
            <a:pPr indent="0" lvl="0" marL="0" marR="0" rtl="0" algn="ctr">
              <a:lnSpc>
                <a:spcPct val="100000"/>
              </a:lnSpc>
              <a:spcBef>
                <a:spcPts val="0"/>
              </a:spcBef>
              <a:spcAft>
                <a:spcPts val="0"/>
              </a:spcAft>
              <a:buClr>
                <a:srgbClr val="FF9900"/>
              </a:buClr>
              <a:buSzPts val="3200"/>
              <a:buFont typeface="Arial"/>
              <a:buNone/>
            </a:pPr>
            <a:r>
              <a:rPr b="1" i="0" lang="en-US" sz="3200" u="none" cap="none" strike="noStrike">
                <a:solidFill>
                  <a:srgbClr val="FF9900"/>
                </a:solidFill>
                <a:latin typeface="Arial"/>
                <a:ea typeface="Arial"/>
                <a:cs typeface="Arial"/>
                <a:sym typeface="Arial"/>
              </a:rPr>
              <a:t>4</a:t>
            </a:r>
            <a:endParaRPr/>
          </a:p>
        </p:txBody>
      </p:sp>
      <p:sp>
        <p:nvSpPr>
          <p:cNvPr id="1629" name="Google Shape;1629;p44"/>
          <p:cNvSpPr txBox="1"/>
          <p:nvPr/>
        </p:nvSpPr>
        <p:spPr>
          <a:xfrm>
            <a:off x="3276600" y="501929"/>
            <a:ext cx="5867400" cy="566928"/>
          </a:xfrm>
          <a:prstGeom prst="rect">
            <a:avLst/>
          </a:prstGeom>
          <a:solidFill>
            <a:srgbClr val="0027A4"/>
          </a:solidFill>
          <a:ln>
            <a:noFill/>
          </a:ln>
        </p:spPr>
        <p:txBody>
          <a:bodyPr anchorCtr="0" anchor="t" bIns="43225" lIns="86475" spcFirstLastPara="1" rIns="86475" wrap="square" tIns="43225">
            <a:noAutofit/>
          </a:bodyPr>
          <a:lstStyle/>
          <a:p>
            <a:pPr indent="0" lvl="0" marL="111120" marR="0" rtl="0" algn="l">
              <a:spcBef>
                <a:spcPts val="0"/>
              </a:spcBef>
              <a:spcAft>
                <a:spcPts val="0"/>
              </a:spcAft>
              <a:buNone/>
            </a:pPr>
            <a:r>
              <a:rPr b="1" lang="en-US" sz="2800">
                <a:solidFill>
                  <a:schemeClr val="lt1"/>
                </a:solidFill>
                <a:latin typeface="Arial"/>
                <a:ea typeface="Arial"/>
                <a:cs typeface="Arial"/>
                <a:sym typeface="Arial"/>
              </a:rPr>
              <a:t>Tabular Analysis</a:t>
            </a:r>
            <a:endParaRPr b="1" sz="2800">
              <a:solidFill>
                <a:schemeClr val="lt1"/>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1"/>
                                        </p:tgtEl>
                                        <p:attrNameLst>
                                          <p:attrName>style.visibility</p:attrName>
                                        </p:attrNameLst>
                                      </p:cBhvr>
                                      <p:to>
                                        <p:strVal val="visible"/>
                                      </p:to>
                                    </p:set>
                                    <p:animEffect filter="fade" transition="in">
                                      <p:cBhvr>
                                        <p:cTn dur="500"/>
                                        <p:tgtEl>
                                          <p:spTgt spid="15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3" name="Shape 1633"/>
        <p:cNvGrpSpPr/>
        <p:nvPr/>
      </p:nvGrpSpPr>
      <p:grpSpPr>
        <a:xfrm>
          <a:off x="0" y="0"/>
          <a:ext cx="0" cy="0"/>
          <a:chOff x="0" y="0"/>
          <a:chExt cx="0" cy="0"/>
        </a:xfrm>
      </p:grpSpPr>
      <p:cxnSp>
        <p:nvCxnSpPr>
          <p:cNvPr id="1634" name="Google Shape;1634;p45"/>
          <p:cNvCxnSpPr/>
          <p:nvPr/>
        </p:nvCxnSpPr>
        <p:spPr>
          <a:xfrm>
            <a:off x="990600" y="54102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635" name="Google Shape;1635;p45"/>
          <p:cNvSpPr txBox="1"/>
          <p:nvPr/>
        </p:nvSpPr>
        <p:spPr>
          <a:xfrm>
            <a:off x="304800" y="3212812"/>
            <a:ext cx="8686800" cy="292388"/>
          </a:xfrm>
          <a:prstGeom prst="rect">
            <a:avLst/>
          </a:prstGeom>
          <a:noFill/>
          <a:ln>
            <a:noFill/>
          </a:ln>
        </p:spPr>
        <p:txBody>
          <a:bodyPr anchorCtr="0" anchor="t" bIns="45700" lIns="91425" spcFirstLastPara="1" rIns="91425" wrap="square" tIns="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	1.	+25,000			+25,000</a:t>
            </a:r>
            <a:endParaRPr b="1" sz="1600">
              <a:solidFill>
                <a:schemeClr val="dk1"/>
              </a:solidFill>
              <a:latin typeface="Arial"/>
              <a:ea typeface="Arial"/>
              <a:cs typeface="Arial"/>
              <a:sym typeface="Arial"/>
            </a:endParaRPr>
          </a:p>
        </p:txBody>
      </p:sp>
      <p:sp>
        <p:nvSpPr>
          <p:cNvPr id="1636" name="Google Shape;1636;p45"/>
          <p:cNvSpPr txBox="1"/>
          <p:nvPr/>
        </p:nvSpPr>
        <p:spPr>
          <a:xfrm>
            <a:off x="76200" y="2590800"/>
            <a:ext cx="9144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Trans-</a:t>
            </a:r>
            <a:endParaRPr/>
          </a:p>
          <a:p>
            <a:pPr indent="0" lvl="0" marL="0" marR="0" rtl="0" algn="ctr">
              <a:spcBef>
                <a:spcPts val="0"/>
              </a:spcBef>
              <a:spcAft>
                <a:spcPts val="0"/>
              </a:spcAft>
              <a:buNone/>
            </a:pPr>
            <a:r>
              <a:rPr b="1" lang="en-US" sz="1600">
                <a:solidFill>
                  <a:schemeClr val="dk1"/>
                </a:solidFill>
                <a:latin typeface="Arial"/>
                <a:ea typeface="Arial"/>
                <a:cs typeface="Arial"/>
                <a:sym typeface="Arial"/>
              </a:rPr>
              <a:t>action</a:t>
            </a:r>
            <a:endParaRPr/>
          </a:p>
        </p:txBody>
      </p:sp>
      <p:sp>
        <p:nvSpPr>
          <p:cNvPr id="1637" name="Google Shape;1637;p45"/>
          <p:cNvSpPr txBox="1"/>
          <p:nvPr/>
        </p:nvSpPr>
        <p:spPr>
          <a:xfrm>
            <a:off x="914400" y="2590800"/>
            <a:ext cx="9144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Cash   </a:t>
            </a:r>
            <a:endParaRPr b="1" sz="1600">
              <a:solidFill>
                <a:schemeClr val="dk1"/>
              </a:solidFill>
              <a:latin typeface="Arial"/>
              <a:ea typeface="Arial"/>
              <a:cs typeface="Arial"/>
              <a:sym typeface="Arial"/>
            </a:endParaRPr>
          </a:p>
        </p:txBody>
      </p:sp>
      <p:sp>
        <p:nvSpPr>
          <p:cNvPr id="1638" name="Google Shape;1638;p45"/>
          <p:cNvSpPr txBox="1"/>
          <p:nvPr/>
        </p:nvSpPr>
        <p:spPr>
          <a:xfrm>
            <a:off x="1981200" y="2590800"/>
            <a:ext cx="13716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Equipment</a:t>
            </a:r>
            <a:endParaRPr/>
          </a:p>
        </p:txBody>
      </p:sp>
      <p:sp>
        <p:nvSpPr>
          <p:cNvPr id="1639" name="Google Shape;1639;p45"/>
          <p:cNvSpPr txBox="1"/>
          <p:nvPr/>
        </p:nvSpPr>
        <p:spPr>
          <a:xfrm>
            <a:off x="3505200" y="2590800"/>
            <a:ext cx="13716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Accounts</a:t>
            </a:r>
            <a:endParaRPr/>
          </a:p>
          <a:p>
            <a:pPr indent="0" lvl="0" marL="0" marR="0" rtl="0" algn="ctr">
              <a:spcBef>
                <a:spcPts val="0"/>
              </a:spcBef>
              <a:spcAft>
                <a:spcPts val="0"/>
              </a:spcAft>
              <a:buNone/>
            </a:pPr>
            <a:r>
              <a:rPr b="1" lang="en-US" sz="1600">
                <a:solidFill>
                  <a:schemeClr val="dk1"/>
                </a:solidFill>
                <a:latin typeface="Arial"/>
                <a:ea typeface="Arial"/>
                <a:cs typeface="Arial"/>
                <a:sym typeface="Arial"/>
              </a:rPr>
              <a:t>Payable</a:t>
            </a:r>
            <a:endParaRPr/>
          </a:p>
        </p:txBody>
      </p:sp>
      <p:cxnSp>
        <p:nvCxnSpPr>
          <p:cNvPr id="1640" name="Google Shape;1640;p45"/>
          <p:cNvCxnSpPr/>
          <p:nvPr/>
        </p:nvCxnSpPr>
        <p:spPr>
          <a:xfrm>
            <a:off x="978408" y="31242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641" name="Google Shape;1641;p45"/>
          <p:cNvSpPr/>
          <p:nvPr/>
        </p:nvSpPr>
        <p:spPr>
          <a:xfrm>
            <a:off x="1905000" y="3048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642" name="Google Shape;1642;p45"/>
          <p:cNvSpPr/>
          <p:nvPr/>
        </p:nvSpPr>
        <p:spPr>
          <a:xfrm>
            <a:off x="3352800" y="3048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643" name="Google Shape;1643;p45"/>
          <p:cNvSpPr/>
          <p:nvPr/>
        </p:nvSpPr>
        <p:spPr>
          <a:xfrm>
            <a:off x="4800600" y="3048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644" name="Google Shape;1644;p45"/>
          <p:cNvSpPr/>
          <p:nvPr/>
        </p:nvSpPr>
        <p:spPr>
          <a:xfrm>
            <a:off x="5943600" y="3048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645" name="Google Shape;1645;p45"/>
          <p:cNvSpPr txBox="1"/>
          <p:nvPr/>
        </p:nvSpPr>
        <p:spPr>
          <a:xfrm>
            <a:off x="914399" y="2286000"/>
            <a:ext cx="7924801" cy="26161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	Assets	=    Liabilities +	Owner's Equity</a:t>
            </a:r>
            <a:endParaRPr b="1" sz="1600">
              <a:solidFill>
                <a:schemeClr val="dk1"/>
              </a:solidFill>
              <a:latin typeface="Arial"/>
              <a:ea typeface="Arial"/>
              <a:cs typeface="Arial"/>
              <a:sym typeface="Arial"/>
            </a:endParaRPr>
          </a:p>
        </p:txBody>
      </p:sp>
      <p:cxnSp>
        <p:nvCxnSpPr>
          <p:cNvPr id="1646" name="Google Shape;1646;p45"/>
          <p:cNvCxnSpPr/>
          <p:nvPr/>
        </p:nvCxnSpPr>
        <p:spPr>
          <a:xfrm>
            <a:off x="914400" y="25908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647" name="Google Shape;1647;p45"/>
          <p:cNvSpPr txBox="1"/>
          <p:nvPr/>
        </p:nvSpPr>
        <p:spPr>
          <a:xfrm>
            <a:off x="4724400" y="25908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a:p>
        </p:txBody>
      </p:sp>
      <p:sp>
        <p:nvSpPr>
          <p:cNvPr id="1648" name="Google Shape;1648;p45"/>
          <p:cNvSpPr txBox="1"/>
          <p:nvPr/>
        </p:nvSpPr>
        <p:spPr>
          <a:xfrm>
            <a:off x="5867400" y="25908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a:p>
        </p:txBody>
      </p:sp>
      <p:sp>
        <p:nvSpPr>
          <p:cNvPr id="1649" name="Google Shape;1649;p45"/>
          <p:cNvSpPr txBox="1"/>
          <p:nvPr/>
        </p:nvSpPr>
        <p:spPr>
          <a:xfrm>
            <a:off x="1828800" y="25908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b="1" sz="1600">
              <a:solidFill>
                <a:schemeClr val="dk1"/>
              </a:solidFill>
              <a:latin typeface="Arial"/>
              <a:ea typeface="Arial"/>
              <a:cs typeface="Arial"/>
              <a:sym typeface="Arial"/>
            </a:endParaRPr>
          </a:p>
        </p:txBody>
      </p:sp>
      <p:sp>
        <p:nvSpPr>
          <p:cNvPr id="1650" name="Google Shape;1650;p45"/>
          <p:cNvSpPr txBox="1"/>
          <p:nvPr/>
        </p:nvSpPr>
        <p:spPr>
          <a:xfrm>
            <a:off x="3352800" y="25908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a:p>
        </p:txBody>
      </p:sp>
      <p:cxnSp>
        <p:nvCxnSpPr>
          <p:cNvPr id="1651" name="Google Shape;1651;p45"/>
          <p:cNvCxnSpPr/>
          <p:nvPr/>
        </p:nvCxnSpPr>
        <p:spPr>
          <a:xfrm>
            <a:off x="990600" y="35814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652" name="Google Shape;1652;p45"/>
          <p:cNvSpPr txBox="1"/>
          <p:nvPr/>
        </p:nvSpPr>
        <p:spPr>
          <a:xfrm>
            <a:off x="533399" y="1371600"/>
            <a:ext cx="8392887" cy="477054"/>
          </a:xfrm>
          <a:prstGeom prst="rect">
            <a:avLst/>
          </a:prstGeom>
          <a:noFill/>
          <a:ln>
            <a:noFill/>
          </a:ln>
        </p:spPr>
        <p:txBody>
          <a:bodyPr anchorCtr="0" anchor="t" bIns="45700" lIns="91425" spcFirstLastPara="1" rIns="91425" wrap="square" tIns="45700">
            <a:spAutoFit/>
          </a:bodyPr>
          <a:lstStyle/>
          <a:p>
            <a:pPr indent="-341313" lvl="0" marL="341313" marR="0" rtl="0" algn="l">
              <a:lnSpc>
                <a:spcPct val="125000"/>
              </a:lnSpc>
              <a:spcBef>
                <a:spcPts val="0"/>
              </a:spcBef>
              <a:spcAft>
                <a:spcPts val="0"/>
              </a:spcAft>
              <a:buClr>
                <a:schemeClr val="dk1"/>
              </a:buClr>
              <a:buSzPts val="2000"/>
              <a:buFont typeface="Comic Sans MS"/>
              <a:buAutoNum type="arabicPeriod" startAt="5"/>
            </a:pPr>
            <a:r>
              <a:rPr b="1" lang="en-US" sz="2000">
                <a:solidFill>
                  <a:schemeClr val="dk1"/>
                </a:solidFill>
                <a:latin typeface="Arial"/>
                <a:ea typeface="Arial"/>
                <a:cs typeface="Arial"/>
                <a:sym typeface="Arial"/>
              </a:rPr>
              <a:t>The owner withdrew $1,000 cash for personal use.</a:t>
            </a:r>
            <a:endParaRPr b="1" sz="2000">
              <a:solidFill>
                <a:schemeClr val="dk1"/>
              </a:solidFill>
              <a:latin typeface="Arial"/>
              <a:ea typeface="Arial"/>
              <a:cs typeface="Arial"/>
              <a:sym typeface="Arial"/>
            </a:endParaRPr>
          </a:p>
        </p:txBody>
      </p:sp>
      <p:sp>
        <p:nvSpPr>
          <p:cNvPr id="1653" name="Google Shape;1653;p45"/>
          <p:cNvSpPr txBox="1"/>
          <p:nvPr/>
        </p:nvSpPr>
        <p:spPr>
          <a:xfrm>
            <a:off x="304800" y="3670012"/>
            <a:ext cx="8686800" cy="292388"/>
          </a:xfrm>
          <a:prstGeom prst="rect">
            <a:avLst/>
          </a:prstGeom>
          <a:noFill/>
          <a:ln>
            <a:noFill/>
          </a:ln>
        </p:spPr>
        <p:txBody>
          <a:bodyPr anchorCtr="0" anchor="t" bIns="45700" lIns="91425" spcFirstLastPara="1" rIns="91425" wrap="square" tIns="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	2.		+7,000	+7,000</a:t>
            </a:r>
            <a:endParaRPr b="1" sz="1600">
              <a:solidFill>
                <a:schemeClr val="dk1"/>
              </a:solidFill>
              <a:latin typeface="Arial"/>
              <a:ea typeface="Arial"/>
              <a:cs typeface="Arial"/>
              <a:sym typeface="Arial"/>
            </a:endParaRPr>
          </a:p>
        </p:txBody>
      </p:sp>
      <p:cxnSp>
        <p:nvCxnSpPr>
          <p:cNvPr id="1654" name="Google Shape;1654;p45"/>
          <p:cNvCxnSpPr/>
          <p:nvPr/>
        </p:nvCxnSpPr>
        <p:spPr>
          <a:xfrm>
            <a:off x="990600" y="40386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655" name="Google Shape;1655;p45"/>
          <p:cNvSpPr txBox="1"/>
          <p:nvPr/>
        </p:nvSpPr>
        <p:spPr>
          <a:xfrm>
            <a:off x="304800" y="4127212"/>
            <a:ext cx="8686800" cy="292388"/>
          </a:xfrm>
          <a:prstGeom prst="rect">
            <a:avLst/>
          </a:prstGeom>
          <a:noFill/>
          <a:ln>
            <a:noFill/>
          </a:ln>
        </p:spPr>
        <p:txBody>
          <a:bodyPr anchorCtr="0" anchor="t" bIns="45700" lIns="91425" spcFirstLastPara="1" rIns="91425" wrap="square" tIns="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	3.	+8,000					+8,000</a:t>
            </a:r>
            <a:endParaRPr b="1" sz="1600">
              <a:solidFill>
                <a:schemeClr val="dk1"/>
              </a:solidFill>
              <a:latin typeface="Arial"/>
              <a:ea typeface="Arial"/>
              <a:cs typeface="Arial"/>
              <a:sym typeface="Arial"/>
            </a:endParaRPr>
          </a:p>
        </p:txBody>
      </p:sp>
      <p:cxnSp>
        <p:nvCxnSpPr>
          <p:cNvPr id="1656" name="Google Shape;1656;p45"/>
          <p:cNvCxnSpPr/>
          <p:nvPr/>
        </p:nvCxnSpPr>
        <p:spPr>
          <a:xfrm>
            <a:off x="990600" y="44958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657" name="Google Shape;1657;p45"/>
          <p:cNvSpPr txBox="1"/>
          <p:nvPr/>
        </p:nvSpPr>
        <p:spPr>
          <a:xfrm>
            <a:off x="304800" y="4584412"/>
            <a:ext cx="8686800" cy="292388"/>
          </a:xfrm>
          <a:prstGeom prst="rect">
            <a:avLst/>
          </a:prstGeom>
          <a:noFill/>
          <a:ln>
            <a:noFill/>
          </a:ln>
        </p:spPr>
        <p:txBody>
          <a:bodyPr anchorCtr="0" anchor="t" bIns="45700" lIns="91425" spcFirstLastPara="1" rIns="91425" wrap="square" tIns="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	4.	-850						-850</a:t>
            </a:r>
            <a:endParaRPr b="1" sz="1600">
              <a:solidFill>
                <a:schemeClr val="dk1"/>
              </a:solidFill>
              <a:latin typeface="Arial"/>
              <a:ea typeface="Arial"/>
              <a:cs typeface="Arial"/>
              <a:sym typeface="Arial"/>
            </a:endParaRPr>
          </a:p>
        </p:txBody>
      </p:sp>
      <p:cxnSp>
        <p:nvCxnSpPr>
          <p:cNvPr id="1658" name="Google Shape;1658;p45"/>
          <p:cNvCxnSpPr/>
          <p:nvPr/>
        </p:nvCxnSpPr>
        <p:spPr>
          <a:xfrm>
            <a:off x="990600" y="49530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659" name="Google Shape;1659;p45"/>
          <p:cNvSpPr txBox="1"/>
          <p:nvPr/>
        </p:nvSpPr>
        <p:spPr>
          <a:xfrm>
            <a:off x="304800" y="5041612"/>
            <a:ext cx="8686800" cy="292388"/>
          </a:xfrm>
          <a:prstGeom prst="rect">
            <a:avLst/>
          </a:prstGeom>
          <a:noFill/>
          <a:ln>
            <a:noFill/>
          </a:ln>
        </p:spPr>
        <p:txBody>
          <a:bodyPr anchorCtr="0" anchor="t" bIns="45700" lIns="91425" spcFirstLastPara="1" rIns="91425" wrap="square" tIns="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	5.	-1,000				-1,000</a:t>
            </a:r>
            <a:endParaRPr b="1" sz="1600">
              <a:solidFill>
                <a:schemeClr val="dk1"/>
              </a:solidFill>
              <a:latin typeface="Arial"/>
              <a:ea typeface="Arial"/>
              <a:cs typeface="Arial"/>
              <a:sym typeface="Arial"/>
            </a:endParaRPr>
          </a:p>
        </p:txBody>
      </p:sp>
      <p:sp>
        <p:nvSpPr>
          <p:cNvPr id="1660" name="Google Shape;1660;p45"/>
          <p:cNvSpPr/>
          <p:nvPr/>
        </p:nvSpPr>
        <p:spPr>
          <a:xfrm>
            <a:off x="1917192" y="5334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661" name="Google Shape;1661;p45"/>
          <p:cNvSpPr/>
          <p:nvPr/>
        </p:nvSpPr>
        <p:spPr>
          <a:xfrm>
            <a:off x="3364992" y="5334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662" name="Google Shape;1662;p45"/>
          <p:cNvSpPr/>
          <p:nvPr/>
        </p:nvSpPr>
        <p:spPr>
          <a:xfrm>
            <a:off x="4812792" y="5334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663" name="Google Shape;1663;p45"/>
          <p:cNvSpPr/>
          <p:nvPr/>
        </p:nvSpPr>
        <p:spPr>
          <a:xfrm>
            <a:off x="5955792" y="5334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cxnSp>
        <p:nvCxnSpPr>
          <p:cNvPr id="1664" name="Google Shape;1664;p45"/>
          <p:cNvCxnSpPr/>
          <p:nvPr/>
        </p:nvCxnSpPr>
        <p:spPr>
          <a:xfrm>
            <a:off x="990600" y="58674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665" name="Google Shape;1665;p45"/>
          <p:cNvSpPr/>
          <p:nvPr/>
        </p:nvSpPr>
        <p:spPr>
          <a:xfrm>
            <a:off x="1917192" y="5791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666" name="Google Shape;1666;p45"/>
          <p:cNvSpPr/>
          <p:nvPr/>
        </p:nvSpPr>
        <p:spPr>
          <a:xfrm>
            <a:off x="3364992" y="5791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667" name="Google Shape;1667;p45"/>
          <p:cNvSpPr/>
          <p:nvPr/>
        </p:nvSpPr>
        <p:spPr>
          <a:xfrm>
            <a:off x="4812792" y="5791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668" name="Google Shape;1668;p45"/>
          <p:cNvSpPr/>
          <p:nvPr/>
        </p:nvSpPr>
        <p:spPr>
          <a:xfrm>
            <a:off x="5955792" y="57912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cxnSp>
        <p:nvCxnSpPr>
          <p:cNvPr id="1669" name="Google Shape;1669;p45"/>
          <p:cNvCxnSpPr/>
          <p:nvPr/>
        </p:nvCxnSpPr>
        <p:spPr>
          <a:xfrm>
            <a:off x="990600" y="5943600"/>
            <a:ext cx="7848601" cy="0"/>
          </a:xfrm>
          <a:prstGeom prst="straightConnector1">
            <a:avLst/>
          </a:prstGeom>
          <a:solidFill>
            <a:schemeClr val="accent1"/>
          </a:solidFill>
          <a:ln cap="sq" cmpd="sng" w="19050">
            <a:solidFill>
              <a:schemeClr val="dk1"/>
            </a:solidFill>
            <a:prstDash val="solid"/>
            <a:round/>
            <a:headEnd len="sm" w="sm" type="none"/>
            <a:tailEnd len="sm" w="sm" type="none"/>
          </a:ln>
        </p:spPr>
      </p:cxnSp>
      <p:sp>
        <p:nvSpPr>
          <p:cNvPr id="1670" name="Google Shape;1670;p45"/>
          <p:cNvSpPr/>
          <p:nvPr/>
        </p:nvSpPr>
        <p:spPr>
          <a:xfrm>
            <a:off x="1917192" y="58674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671" name="Google Shape;1671;p45"/>
          <p:cNvSpPr/>
          <p:nvPr/>
        </p:nvSpPr>
        <p:spPr>
          <a:xfrm>
            <a:off x="3364992" y="58674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672" name="Google Shape;1672;p45"/>
          <p:cNvSpPr/>
          <p:nvPr/>
        </p:nvSpPr>
        <p:spPr>
          <a:xfrm>
            <a:off x="4812792" y="58674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673" name="Google Shape;1673;p45"/>
          <p:cNvSpPr/>
          <p:nvPr/>
        </p:nvSpPr>
        <p:spPr>
          <a:xfrm>
            <a:off x="5955792" y="58674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674" name="Google Shape;1674;p45"/>
          <p:cNvSpPr txBox="1"/>
          <p:nvPr/>
        </p:nvSpPr>
        <p:spPr>
          <a:xfrm>
            <a:off x="304800" y="5498812"/>
            <a:ext cx="8686800" cy="292388"/>
          </a:xfrm>
          <a:prstGeom prst="rect">
            <a:avLst/>
          </a:prstGeom>
          <a:noFill/>
          <a:ln>
            <a:noFill/>
          </a:ln>
        </p:spPr>
        <p:txBody>
          <a:bodyPr anchorCtr="0" anchor="t" bIns="45700" lIns="91425" spcFirstLastPara="1" rIns="91425" wrap="square" tIns="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		$31,150	$7,000	$7,000	$25,000	$1,000	$8,000	$850</a:t>
            </a:r>
            <a:endParaRPr b="1" sz="1600">
              <a:solidFill>
                <a:schemeClr val="dk1"/>
              </a:solidFill>
              <a:latin typeface="Arial"/>
              <a:ea typeface="Arial"/>
              <a:cs typeface="Arial"/>
              <a:sym typeface="Arial"/>
            </a:endParaRPr>
          </a:p>
        </p:txBody>
      </p:sp>
      <p:pic>
        <p:nvPicPr>
          <p:cNvPr id="1675" name="Google Shape;1675;p45"/>
          <p:cNvPicPr preferRelativeResize="0"/>
          <p:nvPr/>
        </p:nvPicPr>
        <p:blipFill rotWithShape="1">
          <a:blip r:embed="rId3">
            <a:alphaModFix/>
          </a:blip>
          <a:srcRect b="0" l="0" r="0" t="0"/>
          <a:stretch/>
        </p:blipFill>
        <p:spPr>
          <a:xfrm>
            <a:off x="2493472" y="571501"/>
            <a:ext cx="409385" cy="344759"/>
          </a:xfrm>
          <a:prstGeom prst="rect">
            <a:avLst/>
          </a:prstGeom>
          <a:noFill/>
          <a:ln>
            <a:noFill/>
          </a:ln>
        </p:spPr>
      </p:pic>
      <p:sp>
        <p:nvSpPr>
          <p:cNvPr id="1676" name="Google Shape;1676;p45"/>
          <p:cNvSpPr txBox="1"/>
          <p:nvPr/>
        </p:nvSpPr>
        <p:spPr>
          <a:xfrm>
            <a:off x="4724400" y="5334000"/>
            <a:ext cx="152400" cy="523220"/>
          </a:xfrm>
          <a:prstGeom prst="rect">
            <a:avLst/>
          </a:prstGeom>
          <a:noFill/>
          <a:ln>
            <a:noFill/>
          </a:ln>
        </p:spPr>
        <p:txBody>
          <a:bodyPr anchorCtr="0" anchor="ctr" bIns="45700" lIns="0" spcFirstLastPara="1" rIns="0" wrap="square" tIns="91425">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a:p>
        </p:txBody>
      </p:sp>
      <p:sp>
        <p:nvSpPr>
          <p:cNvPr id="1677" name="Google Shape;1677;p45"/>
          <p:cNvSpPr txBox="1"/>
          <p:nvPr/>
        </p:nvSpPr>
        <p:spPr>
          <a:xfrm>
            <a:off x="5943600" y="5334000"/>
            <a:ext cx="152400" cy="523220"/>
          </a:xfrm>
          <a:prstGeom prst="rect">
            <a:avLst/>
          </a:prstGeom>
          <a:noFill/>
          <a:ln>
            <a:noFill/>
          </a:ln>
        </p:spPr>
        <p:txBody>
          <a:bodyPr anchorCtr="0" anchor="ctr" bIns="45700" lIns="0" spcFirstLastPara="1" rIns="0" wrap="square" tIns="91425">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a:p>
        </p:txBody>
      </p:sp>
      <p:sp>
        <p:nvSpPr>
          <p:cNvPr id="1678" name="Google Shape;1678;p45"/>
          <p:cNvSpPr txBox="1"/>
          <p:nvPr/>
        </p:nvSpPr>
        <p:spPr>
          <a:xfrm>
            <a:off x="1905000" y="5334000"/>
            <a:ext cx="152400" cy="523220"/>
          </a:xfrm>
          <a:prstGeom prst="rect">
            <a:avLst/>
          </a:prstGeom>
          <a:noFill/>
          <a:ln>
            <a:noFill/>
          </a:ln>
        </p:spPr>
        <p:txBody>
          <a:bodyPr anchorCtr="0" anchor="ctr" bIns="45700" lIns="0" spcFirstLastPara="1" rIns="0" wrap="square" tIns="91425">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b="1" sz="1600">
              <a:solidFill>
                <a:schemeClr val="dk1"/>
              </a:solidFill>
              <a:latin typeface="Arial"/>
              <a:ea typeface="Arial"/>
              <a:cs typeface="Arial"/>
              <a:sym typeface="Arial"/>
            </a:endParaRPr>
          </a:p>
        </p:txBody>
      </p:sp>
      <p:sp>
        <p:nvSpPr>
          <p:cNvPr id="1679" name="Google Shape;1679;p45"/>
          <p:cNvSpPr txBox="1"/>
          <p:nvPr/>
        </p:nvSpPr>
        <p:spPr>
          <a:xfrm>
            <a:off x="3352800" y="5334000"/>
            <a:ext cx="152400" cy="523220"/>
          </a:xfrm>
          <a:prstGeom prst="rect">
            <a:avLst/>
          </a:prstGeom>
          <a:noFill/>
          <a:ln>
            <a:noFill/>
          </a:ln>
        </p:spPr>
        <p:txBody>
          <a:bodyPr anchorCtr="0" anchor="ctr" bIns="45700" lIns="0" spcFirstLastPara="1" rIns="0" wrap="square" tIns="91425">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a:p>
        </p:txBody>
      </p:sp>
      <p:sp>
        <p:nvSpPr>
          <p:cNvPr id="1680" name="Google Shape;1680;p45"/>
          <p:cNvSpPr txBox="1"/>
          <p:nvPr/>
        </p:nvSpPr>
        <p:spPr>
          <a:xfrm>
            <a:off x="7086600" y="5334000"/>
            <a:ext cx="152400" cy="523220"/>
          </a:xfrm>
          <a:prstGeom prst="rect">
            <a:avLst/>
          </a:prstGeom>
          <a:noFill/>
          <a:ln>
            <a:noFill/>
          </a:ln>
        </p:spPr>
        <p:txBody>
          <a:bodyPr anchorCtr="0" anchor="ctr" bIns="45700" lIns="0" spcFirstLastPara="1" rIns="0" wrap="square" tIns="91425">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b="1" sz="1600">
              <a:solidFill>
                <a:schemeClr val="dk1"/>
              </a:solidFill>
              <a:latin typeface="Arial"/>
              <a:ea typeface="Arial"/>
              <a:cs typeface="Arial"/>
              <a:sym typeface="Arial"/>
            </a:endParaRPr>
          </a:p>
        </p:txBody>
      </p:sp>
      <p:sp>
        <p:nvSpPr>
          <p:cNvPr id="1681" name="Google Shape;1681;p45"/>
          <p:cNvSpPr/>
          <p:nvPr/>
        </p:nvSpPr>
        <p:spPr>
          <a:xfrm rot="-5400000">
            <a:off x="6036516" y="3412283"/>
            <a:ext cx="182975" cy="5398009"/>
          </a:xfrm>
          <a:prstGeom prst="leftBrace">
            <a:avLst>
              <a:gd fmla="val 8333" name="adj1"/>
              <a:gd fmla="val 50482" name="adj2"/>
            </a:avLst>
          </a:prstGeom>
          <a:noFill/>
          <a:ln cap="sq" cmpd="sng" w="28575">
            <a:solidFill>
              <a:srgbClr val="73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682" name="Google Shape;1682;p45"/>
          <p:cNvSpPr/>
          <p:nvPr/>
        </p:nvSpPr>
        <p:spPr>
          <a:xfrm rot="-5400000">
            <a:off x="2093168" y="4905042"/>
            <a:ext cx="182974" cy="2412494"/>
          </a:xfrm>
          <a:prstGeom prst="leftBrace">
            <a:avLst>
              <a:gd fmla="val 8333" name="adj1"/>
              <a:gd fmla="val 50482" name="adj2"/>
            </a:avLst>
          </a:prstGeom>
          <a:noFill/>
          <a:ln cap="sq" cmpd="sng" w="28575">
            <a:solidFill>
              <a:srgbClr val="73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683" name="Google Shape;1683;p45"/>
          <p:cNvSpPr txBox="1"/>
          <p:nvPr/>
        </p:nvSpPr>
        <p:spPr>
          <a:xfrm>
            <a:off x="1524000" y="6248400"/>
            <a:ext cx="1295400"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730000"/>
                </a:solidFill>
                <a:latin typeface="Arial"/>
                <a:ea typeface="Arial"/>
                <a:cs typeface="Arial"/>
                <a:sym typeface="Arial"/>
              </a:rPr>
              <a:t>$38,150</a:t>
            </a:r>
            <a:endParaRPr b="1" sz="1600">
              <a:solidFill>
                <a:srgbClr val="730000"/>
              </a:solidFill>
              <a:latin typeface="Arial"/>
              <a:ea typeface="Arial"/>
              <a:cs typeface="Arial"/>
              <a:sym typeface="Arial"/>
            </a:endParaRPr>
          </a:p>
        </p:txBody>
      </p:sp>
      <p:sp>
        <p:nvSpPr>
          <p:cNvPr id="1684" name="Google Shape;1684;p45"/>
          <p:cNvSpPr txBox="1"/>
          <p:nvPr/>
        </p:nvSpPr>
        <p:spPr>
          <a:xfrm>
            <a:off x="5486400" y="6248400"/>
            <a:ext cx="1371600"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730000"/>
                </a:solidFill>
                <a:latin typeface="Arial"/>
                <a:ea typeface="Arial"/>
                <a:cs typeface="Arial"/>
                <a:sym typeface="Arial"/>
              </a:rPr>
              <a:t>$38,150</a:t>
            </a:r>
            <a:endParaRPr b="1" sz="1600">
              <a:solidFill>
                <a:srgbClr val="730000"/>
              </a:solidFill>
              <a:latin typeface="Arial"/>
              <a:ea typeface="Arial"/>
              <a:cs typeface="Arial"/>
              <a:sym typeface="Arial"/>
            </a:endParaRPr>
          </a:p>
        </p:txBody>
      </p:sp>
      <p:sp>
        <p:nvSpPr>
          <p:cNvPr id="1685" name="Google Shape;1685;p45"/>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4 </a:t>
            </a:r>
            <a:endParaRPr b="1" i="1" sz="1600">
              <a:solidFill>
                <a:schemeClr val="lt2"/>
              </a:solidFill>
              <a:latin typeface="Arial"/>
              <a:ea typeface="Arial"/>
              <a:cs typeface="Arial"/>
              <a:sym typeface="Arial"/>
            </a:endParaRPr>
          </a:p>
        </p:txBody>
      </p:sp>
      <p:sp>
        <p:nvSpPr>
          <p:cNvPr id="1686" name="Google Shape;1686;p45"/>
          <p:cNvSpPr/>
          <p:nvPr/>
        </p:nvSpPr>
        <p:spPr>
          <a:xfrm>
            <a:off x="7162800" y="3048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687" name="Google Shape;1687;p45"/>
          <p:cNvSpPr/>
          <p:nvPr/>
        </p:nvSpPr>
        <p:spPr>
          <a:xfrm>
            <a:off x="8001000" y="3048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688" name="Google Shape;1688;p45"/>
          <p:cNvSpPr txBox="1"/>
          <p:nvPr/>
        </p:nvSpPr>
        <p:spPr>
          <a:xfrm>
            <a:off x="6019800" y="2590800"/>
            <a:ext cx="11430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Owner's Drawings</a:t>
            </a:r>
            <a:endParaRPr b="1" sz="1600">
              <a:solidFill>
                <a:schemeClr val="dk1"/>
              </a:solidFill>
              <a:latin typeface="Arial"/>
              <a:ea typeface="Arial"/>
              <a:cs typeface="Arial"/>
              <a:sym typeface="Arial"/>
            </a:endParaRPr>
          </a:p>
        </p:txBody>
      </p:sp>
      <p:sp>
        <p:nvSpPr>
          <p:cNvPr id="1689" name="Google Shape;1689;p45"/>
          <p:cNvSpPr txBox="1"/>
          <p:nvPr/>
        </p:nvSpPr>
        <p:spPr>
          <a:xfrm>
            <a:off x="7162800" y="2590800"/>
            <a:ext cx="8382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Rev.</a:t>
            </a:r>
            <a:endParaRPr b="1" sz="1600">
              <a:solidFill>
                <a:schemeClr val="dk1"/>
              </a:solidFill>
              <a:latin typeface="Arial"/>
              <a:ea typeface="Arial"/>
              <a:cs typeface="Arial"/>
              <a:sym typeface="Arial"/>
            </a:endParaRPr>
          </a:p>
        </p:txBody>
      </p:sp>
      <p:sp>
        <p:nvSpPr>
          <p:cNvPr id="1690" name="Google Shape;1690;p45"/>
          <p:cNvSpPr txBox="1"/>
          <p:nvPr/>
        </p:nvSpPr>
        <p:spPr>
          <a:xfrm>
            <a:off x="8001000" y="2590800"/>
            <a:ext cx="8382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Exp.</a:t>
            </a:r>
            <a:endParaRPr b="1" sz="1600">
              <a:solidFill>
                <a:schemeClr val="dk1"/>
              </a:solidFill>
              <a:latin typeface="Arial"/>
              <a:ea typeface="Arial"/>
              <a:cs typeface="Arial"/>
              <a:sym typeface="Arial"/>
            </a:endParaRPr>
          </a:p>
        </p:txBody>
      </p:sp>
      <p:sp>
        <p:nvSpPr>
          <p:cNvPr id="1691" name="Google Shape;1691;p45"/>
          <p:cNvSpPr txBox="1"/>
          <p:nvPr/>
        </p:nvSpPr>
        <p:spPr>
          <a:xfrm>
            <a:off x="7086600" y="25908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a:p>
        </p:txBody>
      </p:sp>
      <p:sp>
        <p:nvSpPr>
          <p:cNvPr id="1692" name="Google Shape;1692;p45"/>
          <p:cNvSpPr txBox="1"/>
          <p:nvPr/>
        </p:nvSpPr>
        <p:spPr>
          <a:xfrm>
            <a:off x="7924800" y="2590800"/>
            <a:ext cx="152400" cy="52322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b="1" sz="1600">
              <a:solidFill>
                <a:schemeClr val="dk1"/>
              </a:solidFill>
              <a:latin typeface="Arial"/>
              <a:ea typeface="Arial"/>
              <a:cs typeface="Arial"/>
              <a:sym typeface="Arial"/>
            </a:endParaRPr>
          </a:p>
        </p:txBody>
      </p:sp>
      <p:sp>
        <p:nvSpPr>
          <p:cNvPr id="1693" name="Google Shape;1693;p45"/>
          <p:cNvSpPr txBox="1"/>
          <p:nvPr/>
        </p:nvSpPr>
        <p:spPr>
          <a:xfrm>
            <a:off x="4800600" y="2590800"/>
            <a:ext cx="1295400" cy="5232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Owner's Capital</a:t>
            </a:r>
            <a:endParaRPr b="1" sz="1600">
              <a:solidFill>
                <a:schemeClr val="dk1"/>
              </a:solidFill>
              <a:latin typeface="Arial"/>
              <a:ea typeface="Arial"/>
              <a:cs typeface="Arial"/>
              <a:sym typeface="Arial"/>
            </a:endParaRPr>
          </a:p>
        </p:txBody>
      </p:sp>
      <p:sp>
        <p:nvSpPr>
          <p:cNvPr id="1694" name="Google Shape;1694;p45"/>
          <p:cNvSpPr txBox="1"/>
          <p:nvPr/>
        </p:nvSpPr>
        <p:spPr>
          <a:xfrm>
            <a:off x="0" y="428624"/>
            <a:ext cx="3276600" cy="691039"/>
          </a:xfrm>
          <a:prstGeom prst="rect">
            <a:avLst/>
          </a:prstGeom>
          <a:solidFill>
            <a:srgbClr val="D8D8D8"/>
          </a:solidFill>
          <a:ln>
            <a:noFill/>
          </a:ln>
        </p:spPr>
        <p:txBody>
          <a:bodyPr anchorCtr="0" anchor="t" bIns="45700" lIns="0" spcFirstLastPara="1" rIns="91425" wrap="square" tIns="0">
            <a:noAutofit/>
          </a:bodyPr>
          <a:lstStyle/>
          <a:p>
            <a:pPr indent="0" lvl="0" marL="519113" marR="0" rtl="0" algn="l">
              <a:spcBef>
                <a:spcPts val="0"/>
              </a:spcBef>
              <a:spcAft>
                <a:spcPts val="0"/>
              </a:spcAft>
              <a:buNone/>
            </a:pPr>
            <a:r>
              <a:rPr b="1" lang="en-US" sz="4200">
                <a:solidFill>
                  <a:srgbClr val="FF9900"/>
                </a:solidFill>
                <a:latin typeface="Arial"/>
                <a:ea typeface="Arial"/>
                <a:cs typeface="Arial"/>
                <a:sym typeface="Arial"/>
              </a:rPr>
              <a:t>DO IT!</a:t>
            </a:r>
            <a:endParaRPr b="1" sz="4200">
              <a:solidFill>
                <a:srgbClr val="FF9900"/>
              </a:solidFill>
              <a:latin typeface="Arial"/>
              <a:ea typeface="Arial"/>
              <a:cs typeface="Arial"/>
              <a:sym typeface="Arial"/>
            </a:endParaRPr>
          </a:p>
        </p:txBody>
      </p:sp>
      <p:sp>
        <p:nvSpPr>
          <p:cNvPr id="1695" name="Google Shape;1695;p45"/>
          <p:cNvSpPr/>
          <p:nvPr/>
        </p:nvSpPr>
        <p:spPr>
          <a:xfrm>
            <a:off x="2286000" y="428626"/>
            <a:ext cx="762000" cy="691038"/>
          </a:xfrm>
          <a:prstGeom prst="ellipse">
            <a:avLst/>
          </a:prstGeom>
          <a:solidFill>
            <a:schemeClr val="accent3"/>
          </a:solidFill>
          <a:ln cap="sq" cmpd="sng" w="12700">
            <a:solidFill>
              <a:srgbClr val="7F7F7F"/>
            </a:solidFill>
            <a:prstDash val="dash"/>
            <a:round/>
            <a:headEnd len="sm" w="sm" type="none"/>
            <a:tailEnd len="sm" w="sm" type="none"/>
          </a:ln>
        </p:spPr>
        <p:txBody>
          <a:bodyPr anchorCtr="0" anchor="ctr" bIns="45700" lIns="91425" spcFirstLastPara="1" rIns="91425" wrap="square" tIns="0">
            <a:noAutofit/>
          </a:bodyPr>
          <a:lstStyle/>
          <a:p>
            <a:pPr indent="0" lvl="0" marL="0" marR="0" rtl="0" algn="ctr">
              <a:lnSpc>
                <a:spcPct val="100000"/>
              </a:lnSpc>
              <a:spcBef>
                <a:spcPts val="0"/>
              </a:spcBef>
              <a:spcAft>
                <a:spcPts val="0"/>
              </a:spcAft>
              <a:buClr>
                <a:srgbClr val="FF9900"/>
              </a:buClr>
              <a:buSzPts val="3200"/>
              <a:buFont typeface="Arial"/>
              <a:buNone/>
            </a:pPr>
            <a:r>
              <a:rPr b="1" i="0" lang="en-US" sz="3200" u="none" cap="none" strike="noStrike">
                <a:solidFill>
                  <a:srgbClr val="FF9900"/>
                </a:solidFill>
                <a:latin typeface="Arial"/>
                <a:ea typeface="Arial"/>
                <a:cs typeface="Arial"/>
                <a:sym typeface="Arial"/>
              </a:rPr>
              <a:t>4</a:t>
            </a:r>
            <a:endParaRPr/>
          </a:p>
        </p:txBody>
      </p:sp>
      <p:sp>
        <p:nvSpPr>
          <p:cNvPr id="1696" name="Google Shape;1696;p45"/>
          <p:cNvSpPr txBox="1"/>
          <p:nvPr/>
        </p:nvSpPr>
        <p:spPr>
          <a:xfrm>
            <a:off x="3276600" y="501929"/>
            <a:ext cx="5867400" cy="566928"/>
          </a:xfrm>
          <a:prstGeom prst="rect">
            <a:avLst/>
          </a:prstGeom>
          <a:solidFill>
            <a:srgbClr val="0027A4"/>
          </a:solidFill>
          <a:ln>
            <a:noFill/>
          </a:ln>
        </p:spPr>
        <p:txBody>
          <a:bodyPr anchorCtr="0" anchor="t" bIns="43225" lIns="86475" spcFirstLastPara="1" rIns="86475" wrap="square" tIns="43225">
            <a:noAutofit/>
          </a:bodyPr>
          <a:lstStyle/>
          <a:p>
            <a:pPr indent="0" lvl="0" marL="111120" marR="0" rtl="0" algn="l">
              <a:spcBef>
                <a:spcPts val="0"/>
              </a:spcBef>
              <a:spcAft>
                <a:spcPts val="0"/>
              </a:spcAft>
              <a:buNone/>
            </a:pPr>
            <a:r>
              <a:rPr b="1" lang="en-US" sz="2800">
                <a:solidFill>
                  <a:schemeClr val="lt1"/>
                </a:solidFill>
                <a:latin typeface="Arial"/>
                <a:ea typeface="Arial"/>
                <a:cs typeface="Arial"/>
                <a:sym typeface="Arial"/>
              </a:rPr>
              <a:t>Tabular Analysis</a:t>
            </a:r>
            <a:endParaRPr b="1" sz="2800">
              <a:solidFill>
                <a:schemeClr val="lt1"/>
              </a:solidFill>
              <a:latin typeface="Arial"/>
              <a:ea typeface="Arial"/>
              <a:cs typeface="Arial"/>
              <a:sym typeface="Arial"/>
            </a:endParaRPr>
          </a:p>
        </p:txBody>
      </p:sp>
      <p:sp>
        <p:nvSpPr>
          <p:cNvPr id="1697" name="Google Shape;1697;p45"/>
          <p:cNvSpPr/>
          <p:nvPr/>
        </p:nvSpPr>
        <p:spPr>
          <a:xfrm>
            <a:off x="7162800" y="5334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698" name="Google Shape;1698;p45"/>
          <p:cNvSpPr/>
          <p:nvPr/>
        </p:nvSpPr>
        <p:spPr>
          <a:xfrm>
            <a:off x="8001000" y="53340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699" name="Google Shape;1699;p45"/>
          <p:cNvSpPr/>
          <p:nvPr/>
        </p:nvSpPr>
        <p:spPr>
          <a:xfrm>
            <a:off x="7162800" y="58674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700" name="Google Shape;1700;p45"/>
          <p:cNvSpPr/>
          <p:nvPr/>
        </p:nvSpPr>
        <p:spPr>
          <a:xfrm>
            <a:off x="8001000" y="5867400"/>
            <a:ext cx="76200" cy="152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
        <p:nvSpPr>
          <p:cNvPr id="1701" name="Google Shape;1701;p45"/>
          <p:cNvSpPr txBox="1"/>
          <p:nvPr/>
        </p:nvSpPr>
        <p:spPr>
          <a:xfrm>
            <a:off x="8001000" y="5334000"/>
            <a:ext cx="152400" cy="523220"/>
          </a:xfrm>
          <a:prstGeom prst="rect">
            <a:avLst/>
          </a:prstGeom>
          <a:noFill/>
          <a:ln>
            <a:noFill/>
          </a:ln>
        </p:spPr>
        <p:txBody>
          <a:bodyPr anchorCtr="0" anchor="ctr" bIns="45700" lIns="0" spcFirstLastPara="1" rIns="0" wrap="square" tIns="91425">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a:t>
            </a:r>
            <a:endParaRPr b="1" sz="1600">
              <a:solidFill>
                <a:schemeClr val="dk1"/>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9"/>
                                        </p:tgtEl>
                                        <p:attrNameLst>
                                          <p:attrName>style.visibility</p:attrName>
                                        </p:attrNameLst>
                                      </p:cBhvr>
                                      <p:to>
                                        <p:strVal val="visible"/>
                                      </p:to>
                                    </p:set>
                                    <p:animEffect filter="fade" transition="in">
                                      <p:cBhvr>
                                        <p:cTn dur="500"/>
                                        <p:tgtEl>
                                          <p:spTgt spid="16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4"/>
                                        </p:tgtEl>
                                        <p:attrNameLst>
                                          <p:attrName>style.visibility</p:attrName>
                                        </p:attrNameLst>
                                      </p:cBhvr>
                                      <p:to>
                                        <p:strVal val="visible"/>
                                      </p:to>
                                    </p:set>
                                    <p:animEffect filter="fade" transition="in">
                                      <p:cBhvr>
                                        <p:cTn dur="500"/>
                                        <p:tgtEl>
                                          <p:spTgt spid="167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682"/>
                                        </p:tgtEl>
                                        <p:attrNameLst>
                                          <p:attrName>style.visibility</p:attrName>
                                        </p:attrNameLst>
                                      </p:cBhvr>
                                      <p:to>
                                        <p:strVal val="visible"/>
                                      </p:to>
                                    </p:set>
                                    <p:animEffect filter="fade" transition="in">
                                      <p:cBhvr>
                                        <p:cTn dur="500"/>
                                        <p:tgtEl>
                                          <p:spTgt spid="168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83"/>
                                        </p:tgtEl>
                                        <p:attrNameLst>
                                          <p:attrName>style.visibility</p:attrName>
                                        </p:attrNameLst>
                                      </p:cBhvr>
                                      <p:to>
                                        <p:strVal val="visible"/>
                                      </p:to>
                                    </p:set>
                                    <p:animEffect filter="fade" transition="in">
                                      <p:cBhvr>
                                        <p:cTn dur="500"/>
                                        <p:tgtEl>
                                          <p:spTgt spid="1683"/>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681"/>
                                        </p:tgtEl>
                                        <p:attrNameLst>
                                          <p:attrName>style.visibility</p:attrName>
                                        </p:attrNameLst>
                                      </p:cBhvr>
                                      <p:to>
                                        <p:strVal val="visible"/>
                                      </p:to>
                                    </p:set>
                                    <p:animEffect filter="fade" transition="in">
                                      <p:cBhvr>
                                        <p:cTn dur="500"/>
                                        <p:tgtEl>
                                          <p:spTgt spid="168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684"/>
                                        </p:tgtEl>
                                        <p:attrNameLst>
                                          <p:attrName>style.visibility</p:attrName>
                                        </p:attrNameLst>
                                      </p:cBhvr>
                                      <p:to>
                                        <p:strVal val="visible"/>
                                      </p:to>
                                    </p:set>
                                    <p:animEffect filter="fade" transition="in">
                                      <p:cBhvr>
                                        <p:cTn dur="500"/>
                                        <p:tgtEl>
                                          <p:spTgt spid="16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5" name="Shape 1705"/>
        <p:cNvGrpSpPr/>
        <p:nvPr/>
      </p:nvGrpSpPr>
      <p:grpSpPr>
        <a:xfrm>
          <a:off x="0" y="0"/>
          <a:ext cx="0" cy="0"/>
          <a:chOff x="0" y="0"/>
          <a:chExt cx="0" cy="0"/>
        </a:xfrm>
      </p:grpSpPr>
      <p:sp>
        <p:nvSpPr>
          <p:cNvPr id="1706" name="Google Shape;1706;p46"/>
          <p:cNvSpPr txBox="1"/>
          <p:nvPr/>
        </p:nvSpPr>
        <p:spPr>
          <a:xfrm>
            <a:off x="685800" y="1568450"/>
            <a:ext cx="7772400" cy="4889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2600"/>
              <a:buFont typeface="Noto Sans Symbols"/>
              <a:buNone/>
            </a:pPr>
            <a:r>
              <a:rPr b="1" lang="en-US" sz="2600">
                <a:solidFill>
                  <a:schemeClr val="dk1"/>
                </a:solidFill>
                <a:latin typeface="Arial"/>
                <a:ea typeface="Arial"/>
                <a:cs typeface="Arial"/>
                <a:sym typeface="Arial"/>
              </a:rPr>
              <a:t>Companies prepare four financial statements :</a:t>
            </a:r>
            <a:endParaRPr/>
          </a:p>
        </p:txBody>
      </p:sp>
      <p:sp>
        <p:nvSpPr>
          <p:cNvPr id="1707" name="Google Shape;1707;p46"/>
          <p:cNvSpPr/>
          <p:nvPr/>
        </p:nvSpPr>
        <p:spPr>
          <a:xfrm>
            <a:off x="4724400" y="3200400"/>
            <a:ext cx="1752600" cy="1905000"/>
          </a:xfrm>
          <a:prstGeom prst="foldedCorner">
            <a:avLst>
              <a:gd fmla="val 12500" name="adj"/>
            </a:avLst>
          </a:prstGeom>
          <a:solidFill>
            <a:srgbClr val="F9EFA5"/>
          </a:solidFill>
          <a:ln cap="sq"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rial"/>
                <a:ea typeface="Arial"/>
                <a:cs typeface="Arial"/>
                <a:sym typeface="Arial"/>
              </a:rPr>
              <a:t>Balance Sheet</a:t>
            </a:r>
            <a:endParaRPr/>
          </a:p>
        </p:txBody>
      </p:sp>
      <p:sp>
        <p:nvSpPr>
          <p:cNvPr id="1708" name="Google Shape;1708;p46"/>
          <p:cNvSpPr/>
          <p:nvPr/>
        </p:nvSpPr>
        <p:spPr>
          <a:xfrm>
            <a:off x="762000" y="3200400"/>
            <a:ext cx="1752600" cy="1905000"/>
          </a:xfrm>
          <a:prstGeom prst="foldedCorner">
            <a:avLst>
              <a:gd fmla="val 12500" name="adj"/>
            </a:avLst>
          </a:prstGeom>
          <a:solidFill>
            <a:srgbClr val="F9EFA5"/>
          </a:solidFill>
          <a:ln cap="sq"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Noto Sans Symbols"/>
              <a:buNone/>
            </a:pPr>
            <a:r>
              <a:rPr b="1" lang="en-US" sz="2400">
                <a:solidFill>
                  <a:schemeClr val="dk1"/>
                </a:solidFill>
                <a:latin typeface="Arial"/>
                <a:ea typeface="Arial"/>
                <a:cs typeface="Arial"/>
                <a:sym typeface="Arial"/>
              </a:rPr>
              <a:t>Income Statement</a:t>
            </a:r>
            <a:endParaRPr/>
          </a:p>
        </p:txBody>
      </p:sp>
      <p:sp>
        <p:nvSpPr>
          <p:cNvPr id="1709" name="Google Shape;1709;p46"/>
          <p:cNvSpPr/>
          <p:nvPr/>
        </p:nvSpPr>
        <p:spPr>
          <a:xfrm>
            <a:off x="6705600" y="3200400"/>
            <a:ext cx="1752600" cy="1905000"/>
          </a:xfrm>
          <a:prstGeom prst="foldedCorner">
            <a:avLst>
              <a:gd fmla="val 12500" name="adj"/>
            </a:avLst>
          </a:prstGeom>
          <a:solidFill>
            <a:srgbClr val="F9EFA5"/>
          </a:solidFill>
          <a:ln cap="sq"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rial"/>
                <a:ea typeface="Arial"/>
                <a:cs typeface="Arial"/>
                <a:sym typeface="Arial"/>
              </a:rPr>
              <a:t>Statement of Cash Flows</a:t>
            </a:r>
            <a:endParaRPr/>
          </a:p>
        </p:txBody>
      </p:sp>
      <p:sp>
        <p:nvSpPr>
          <p:cNvPr id="1710" name="Google Shape;1710;p46"/>
          <p:cNvSpPr/>
          <p:nvPr/>
        </p:nvSpPr>
        <p:spPr>
          <a:xfrm>
            <a:off x="2743200" y="3200400"/>
            <a:ext cx="1752600" cy="1905000"/>
          </a:xfrm>
          <a:prstGeom prst="foldedCorner">
            <a:avLst>
              <a:gd fmla="val 12500" name="adj"/>
            </a:avLst>
          </a:prstGeom>
          <a:solidFill>
            <a:srgbClr val="F9EFA5"/>
          </a:solidFill>
          <a:ln cap="sq"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rial"/>
                <a:ea typeface="Arial"/>
                <a:cs typeface="Arial"/>
                <a:sym typeface="Arial"/>
              </a:rPr>
              <a:t>Owner’s Equity Statement</a:t>
            </a:r>
            <a:endParaRPr b="1" sz="2400">
              <a:solidFill>
                <a:schemeClr val="dk1"/>
              </a:solidFill>
              <a:latin typeface="Arial"/>
              <a:ea typeface="Arial"/>
              <a:cs typeface="Arial"/>
              <a:sym typeface="Arial"/>
            </a:endParaRPr>
          </a:p>
        </p:txBody>
      </p:sp>
      <p:sp>
        <p:nvSpPr>
          <p:cNvPr id="1711" name="Google Shape;1711;p46"/>
          <p:cNvSpPr/>
          <p:nvPr/>
        </p:nvSpPr>
        <p:spPr>
          <a:xfrm>
            <a:off x="1371600" y="2209800"/>
            <a:ext cx="457200" cy="762000"/>
          </a:xfrm>
          <a:prstGeom prst="downArrow">
            <a:avLst>
              <a:gd fmla="val 50000" name="adj1"/>
              <a:gd fmla="val 83333" name="adj2"/>
            </a:avLst>
          </a:prstGeom>
          <a:solidFill>
            <a:srgbClr val="730000"/>
          </a:solidFill>
          <a:ln cap="sq"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lt2"/>
              </a:buClr>
              <a:buSzPts val="2400"/>
              <a:buFont typeface="Noto Sans Symbols"/>
              <a:buNone/>
            </a:pPr>
            <a:r>
              <a:t/>
            </a:r>
            <a:endParaRPr b="0" sz="2400">
              <a:solidFill>
                <a:srgbClr val="0000BF"/>
              </a:solidFill>
              <a:latin typeface="Arial"/>
              <a:ea typeface="Arial"/>
              <a:cs typeface="Arial"/>
              <a:sym typeface="Arial"/>
            </a:endParaRPr>
          </a:p>
        </p:txBody>
      </p:sp>
      <p:sp>
        <p:nvSpPr>
          <p:cNvPr id="1712" name="Google Shape;1712;p46"/>
          <p:cNvSpPr/>
          <p:nvPr/>
        </p:nvSpPr>
        <p:spPr>
          <a:xfrm>
            <a:off x="0" y="405765"/>
            <a:ext cx="2540000" cy="677228"/>
          </a:xfrm>
          <a:prstGeom prst="rect">
            <a:avLst/>
          </a:prstGeom>
          <a:solidFill>
            <a:srgbClr val="D8D8D8"/>
          </a:solidFill>
          <a:ln>
            <a:noFill/>
          </a:ln>
        </p:spPr>
        <p:txBody>
          <a:bodyPr anchorCtr="0" anchor="ctr" bIns="43225" lIns="86475" spcFirstLastPara="1" rIns="86475" wrap="square" tIns="43225">
            <a:noAutofit/>
          </a:bodyPr>
          <a:lstStyle/>
          <a:p>
            <a:pPr indent="0" lvl="0" marL="231775" marR="0" rtl="0" algn="l">
              <a:spcBef>
                <a:spcPts val="0"/>
              </a:spcBef>
              <a:spcAft>
                <a:spcPts val="0"/>
              </a:spcAft>
              <a:buNone/>
            </a:pPr>
            <a:r>
              <a:rPr b="1" lang="en-US" sz="1700">
                <a:solidFill>
                  <a:schemeClr val="dk1"/>
                </a:solidFill>
                <a:latin typeface="Arial"/>
                <a:ea typeface="Arial"/>
                <a:cs typeface="Arial"/>
                <a:sym typeface="Arial"/>
              </a:rPr>
              <a:t>LEARNING</a:t>
            </a:r>
            <a:endParaRPr/>
          </a:p>
          <a:p>
            <a:pPr indent="0" lvl="0" marL="231775" marR="0" rtl="0" algn="l">
              <a:spcBef>
                <a:spcPts val="0"/>
              </a:spcBef>
              <a:spcAft>
                <a:spcPts val="0"/>
              </a:spcAft>
              <a:buNone/>
            </a:pPr>
            <a:r>
              <a:rPr b="1" lang="en-US" sz="1700">
                <a:solidFill>
                  <a:schemeClr val="dk1"/>
                </a:solidFill>
                <a:latin typeface="Arial"/>
                <a:ea typeface="Arial"/>
                <a:cs typeface="Arial"/>
                <a:sym typeface="Arial"/>
              </a:rPr>
              <a:t>OBJECTIVE</a:t>
            </a:r>
            <a:endParaRPr/>
          </a:p>
        </p:txBody>
      </p:sp>
      <p:sp>
        <p:nvSpPr>
          <p:cNvPr id="1713" name="Google Shape;1713;p46"/>
          <p:cNvSpPr/>
          <p:nvPr/>
        </p:nvSpPr>
        <p:spPr>
          <a:xfrm>
            <a:off x="2540000" y="274320"/>
            <a:ext cx="6604000" cy="928688"/>
          </a:xfrm>
          <a:prstGeom prst="rect">
            <a:avLst/>
          </a:prstGeom>
          <a:solidFill>
            <a:srgbClr val="0027A4"/>
          </a:solidFill>
          <a:ln>
            <a:noFill/>
          </a:ln>
        </p:spPr>
        <p:txBody>
          <a:bodyPr anchorCtr="0" anchor="ctr" bIns="43225" lIns="86475" spcFirstLastPara="1" rIns="86475" wrap="square" tIns="34575">
            <a:noAutofit/>
          </a:bodyPr>
          <a:lstStyle/>
          <a:p>
            <a:pPr indent="0" lvl="0" marL="111120" marR="0" rtl="0" algn="l">
              <a:spcBef>
                <a:spcPts val="0"/>
              </a:spcBef>
              <a:spcAft>
                <a:spcPts val="0"/>
              </a:spcAft>
              <a:buNone/>
            </a:pPr>
            <a:r>
              <a:rPr b="1" lang="en-US" sz="2300">
                <a:solidFill>
                  <a:schemeClr val="lt1"/>
                </a:solidFill>
                <a:latin typeface="Arial"/>
                <a:ea typeface="Arial"/>
                <a:cs typeface="Arial"/>
                <a:sym typeface="Arial"/>
              </a:rPr>
              <a:t>Describe the four financial statements </a:t>
            </a:r>
            <a:endParaRPr b="1" sz="2300">
              <a:solidFill>
                <a:schemeClr val="lt1"/>
              </a:solidFill>
              <a:latin typeface="Arial"/>
              <a:ea typeface="Arial"/>
              <a:cs typeface="Arial"/>
              <a:sym typeface="Arial"/>
            </a:endParaRPr>
          </a:p>
          <a:p>
            <a:pPr indent="0" lvl="0" marL="111120" marR="0" rtl="0" algn="l">
              <a:spcBef>
                <a:spcPts val="0"/>
              </a:spcBef>
              <a:spcAft>
                <a:spcPts val="0"/>
              </a:spcAft>
              <a:buNone/>
            </a:pPr>
            <a:r>
              <a:rPr b="1" lang="en-US" sz="2300">
                <a:solidFill>
                  <a:schemeClr val="lt1"/>
                </a:solidFill>
                <a:latin typeface="Arial"/>
                <a:ea typeface="Arial"/>
                <a:cs typeface="Arial"/>
                <a:sym typeface="Arial"/>
              </a:rPr>
              <a:t>and how they are prepared.</a:t>
            </a:r>
            <a:endParaRPr/>
          </a:p>
        </p:txBody>
      </p:sp>
      <p:sp>
        <p:nvSpPr>
          <p:cNvPr id="1714" name="Google Shape;1714;p46"/>
          <p:cNvSpPr/>
          <p:nvPr/>
        </p:nvSpPr>
        <p:spPr>
          <a:xfrm>
            <a:off x="1828800" y="485775"/>
            <a:ext cx="522514" cy="514350"/>
          </a:xfrm>
          <a:prstGeom prst="ellipse">
            <a:avLst/>
          </a:prstGeom>
          <a:solidFill>
            <a:srgbClr val="FF9900"/>
          </a:solidFill>
          <a:ln>
            <a:noFill/>
          </a:ln>
        </p:spPr>
        <p:txBody>
          <a:bodyPr anchorCtr="0" anchor="ctr" bIns="43225" lIns="86475" spcFirstLastPara="1" rIns="86475" wrap="square" tIns="0">
            <a:noAutofit/>
          </a:bodyPr>
          <a:lstStyle/>
          <a:p>
            <a:pPr indent="0" lvl="0" marL="0" marR="0" rtl="0" algn="ctr">
              <a:spcBef>
                <a:spcPts val="0"/>
              </a:spcBef>
              <a:spcAft>
                <a:spcPts val="0"/>
              </a:spcAft>
              <a:buNone/>
            </a:pPr>
            <a:r>
              <a:rPr b="1" lang="en-US" sz="2500">
                <a:solidFill>
                  <a:schemeClr val="lt1"/>
                </a:solidFill>
                <a:latin typeface="Arial"/>
                <a:ea typeface="Arial"/>
                <a:cs typeface="Arial"/>
                <a:sym typeface="Arial"/>
              </a:rPr>
              <a:t>5</a:t>
            </a:r>
            <a:endParaRPr b="1" sz="2500">
              <a:solidFill>
                <a:schemeClr val="lt1"/>
              </a:solidFill>
              <a:latin typeface="Arial"/>
              <a:ea typeface="Arial"/>
              <a:cs typeface="Arial"/>
              <a:sym typeface="Arial"/>
            </a:endParaRPr>
          </a:p>
        </p:txBody>
      </p:sp>
      <p:sp>
        <p:nvSpPr>
          <p:cNvPr id="1715" name="Google Shape;1715;p46"/>
          <p:cNvSpPr/>
          <p:nvPr/>
        </p:nvSpPr>
        <p:spPr>
          <a:xfrm>
            <a:off x="3352800" y="2209800"/>
            <a:ext cx="457200" cy="762000"/>
          </a:xfrm>
          <a:prstGeom prst="downArrow">
            <a:avLst>
              <a:gd fmla="val 50000" name="adj1"/>
              <a:gd fmla="val 83333" name="adj2"/>
            </a:avLst>
          </a:prstGeom>
          <a:solidFill>
            <a:srgbClr val="730000"/>
          </a:solidFill>
          <a:ln cap="sq"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lt2"/>
              </a:buClr>
              <a:buSzPts val="2400"/>
              <a:buFont typeface="Noto Sans Symbols"/>
              <a:buNone/>
            </a:pPr>
            <a:r>
              <a:t/>
            </a:r>
            <a:endParaRPr b="0" sz="2400">
              <a:solidFill>
                <a:srgbClr val="0000BF"/>
              </a:solidFill>
              <a:latin typeface="Arial"/>
              <a:ea typeface="Arial"/>
              <a:cs typeface="Arial"/>
              <a:sym typeface="Arial"/>
            </a:endParaRPr>
          </a:p>
        </p:txBody>
      </p:sp>
      <p:sp>
        <p:nvSpPr>
          <p:cNvPr id="1716" name="Google Shape;1716;p46"/>
          <p:cNvSpPr/>
          <p:nvPr/>
        </p:nvSpPr>
        <p:spPr>
          <a:xfrm>
            <a:off x="5334000" y="2209800"/>
            <a:ext cx="457200" cy="762000"/>
          </a:xfrm>
          <a:prstGeom prst="downArrow">
            <a:avLst>
              <a:gd fmla="val 50000" name="adj1"/>
              <a:gd fmla="val 83333" name="adj2"/>
            </a:avLst>
          </a:prstGeom>
          <a:solidFill>
            <a:srgbClr val="730000"/>
          </a:solidFill>
          <a:ln cap="sq"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lt2"/>
              </a:buClr>
              <a:buSzPts val="2400"/>
              <a:buFont typeface="Noto Sans Symbols"/>
              <a:buNone/>
            </a:pPr>
            <a:r>
              <a:t/>
            </a:r>
            <a:endParaRPr b="0" sz="2400">
              <a:solidFill>
                <a:srgbClr val="0000BF"/>
              </a:solidFill>
              <a:latin typeface="Arial"/>
              <a:ea typeface="Arial"/>
              <a:cs typeface="Arial"/>
              <a:sym typeface="Arial"/>
            </a:endParaRPr>
          </a:p>
        </p:txBody>
      </p:sp>
      <p:sp>
        <p:nvSpPr>
          <p:cNvPr id="1717" name="Google Shape;1717;p46"/>
          <p:cNvSpPr/>
          <p:nvPr/>
        </p:nvSpPr>
        <p:spPr>
          <a:xfrm>
            <a:off x="7315200" y="2209800"/>
            <a:ext cx="457200" cy="762000"/>
          </a:xfrm>
          <a:prstGeom prst="downArrow">
            <a:avLst>
              <a:gd fmla="val 50000" name="adj1"/>
              <a:gd fmla="val 83333" name="adj2"/>
            </a:avLst>
          </a:prstGeom>
          <a:solidFill>
            <a:srgbClr val="730000"/>
          </a:solidFill>
          <a:ln cap="sq"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lt2"/>
              </a:buClr>
              <a:buSzPts val="2400"/>
              <a:buFont typeface="Noto Sans Symbols"/>
              <a:buNone/>
            </a:pPr>
            <a:r>
              <a:t/>
            </a:r>
            <a:endParaRPr b="0" sz="2400">
              <a:solidFill>
                <a:srgbClr val="0000BF"/>
              </a:solidFill>
              <a:latin typeface="Arial"/>
              <a:ea typeface="Arial"/>
              <a:cs typeface="Arial"/>
              <a:sym typeface="Arial"/>
            </a:endParaRPr>
          </a:p>
        </p:txBody>
      </p:sp>
      <p:sp>
        <p:nvSpPr>
          <p:cNvPr id="1718" name="Google Shape;1718;p46"/>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5 </a:t>
            </a:r>
            <a:endParaRPr b="1" i="1" sz="1600">
              <a:solidFill>
                <a:schemeClr val="lt2"/>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8"/>
                                        </p:tgtEl>
                                        <p:attrNameLst>
                                          <p:attrName>style.visibility</p:attrName>
                                        </p:attrNameLst>
                                      </p:cBhvr>
                                      <p:to>
                                        <p:strVal val="visible"/>
                                      </p:to>
                                    </p:set>
                                    <p:animEffect filter="fade" transition="in">
                                      <p:cBhvr>
                                        <p:cTn dur="500"/>
                                        <p:tgtEl>
                                          <p:spTgt spid="17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0"/>
                                        </p:tgtEl>
                                        <p:attrNameLst>
                                          <p:attrName>style.visibility</p:attrName>
                                        </p:attrNameLst>
                                      </p:cBhvr>
                                      <p:to>
                                        <p:strVal val="visible"/>
                                      </p:to>
                                    </p:set>
                                    <p:animEffect filter="fade" transition="in">
                                      <p:cBhvr>
                                        <p:cTn dur="500"/>
                                        <p:tgtEl>
                                          <p:spTgt spid="17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7"/>
                                        </p:tgtEl>
                                        <p:attrNameLst>
                                          <p:attrName>style.visibility</p:attrName>
                                        </p:attrNameLst>
                                      </p:cBhvr>
                                      <p:to>
                                        <p:strVal val="visible"/>
                                      </p:to>
                                    </p:set>
                                    <p:animEffect filter="fade" transition="in">
                                      <p:cBhvr>
                                        <p:cTn dur="500"/>
                                        <p:tgtEl>
                                          <p:spTgt spid="17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9"/>
                                        </p:tgtEl>
                                        <p:attrNameLst>
                                          <p:attrName>style.visibility</p:attrName>
                                        </p:attrNameLst>
                                      </p:cBhvr>
                                      <p:to>
                                        <p:strVal val="visible"/>
                                      </p:to>
                                    </p:set>
                                    <p:animEffect filter="fade" transition="in">
                                      <p:cBhvr>
                                        <p:cTn dur="500"/>
                                        <p:tgtEl>
                                          <p:spTgt spid="17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2" name="Shape 1722"/>
        <p:cNvGrpSpPr/>
        <p:nvPr/>
      </p:nvGrpSpPr>
      <p:grpSpPr>
        <a:xfrm>
          <a:off x="0" y="0"/>
          <a:ext cx="0" cy="0"/>
          <a:chOff x="0" y="0"/>
          <a:chExt cx="0" cy="0"/>
        </a:xfrm>
      </p:grpSpPr>
      <p:cxnSp>
        <p:nvCxnSpPr>
          <p:cNvPr id="1723" name="Google Shape;1723;p47"/>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724" name="Google Shape;1724;p47"/>
          <p:cNvSpPr/>
          <p:nvPr/>
        </p:nvSpPr>
        <p:spPr>
          <a:xfrm>
            <a:off x="533400" y="304800"/>
            <a:ext cx="80772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Financial Statements</a:t>
            </a:r>
            <a:endParaRPr/>
          </a:p>
        </p:txBody>
      </p:sp>
      <p:sp>
        <p:nvSpPr>
          <p:cNvPr id="1725" name="Google Shape;1725;p47"/>
          <p:cNvSpPr/>
          <p:nvPr/>
        </p:nvSpPr>
        <p:spPr>
          <a:xfrm>
            <a:off x="457200" y="1981200"/>
            <a:ext cx="8001000" cy="2667000"/>
          </a:xfrm>
          <a:prstGeom prst="rect">
            <a:avLst/>
          </a:prstGeom>
          <a:solidFill>
            <a:schemeClr val="lt1"/>
          </a:solidFill>
          <a:ln>
            <a:noFill/>
          </a:ln>
        </p:spPr>
        <p:txBody>
          <a:bodyPr anchorCtr="0" anchor="t" bIns="46025" lIns="182550" spcFirstLastPara="1" rIns="182550" wrap="square" tIns="46025">
            <a:noAutofit/>
          </a:bodyPr>
          <a:lstStyle/>
          <a:p>
            <a:pPr indent="0" lvl="0" marL="0" marR="0" rtl="0" algn="l">
              <a:lnSpc>
                <a:spcPct val="120000"/>
              </a:lnSpc>
              <a:spcBef>
                <a:spcPts val="0"/>
              </a:spcBef>
              <a:spcAft>
                <a:spcPts val="0"/>
              </a:spcAft>
              <a:buClr>
                <a:schemeClr val="dk1"/>
              </a:buClr>
              <a:buSzPts val="2200"/>
              <a:buFont typeface="Noto Sans Symbols"/>
              <a:buNone/>
            </a:pPr>
            <a:r>
              <a:rPr b="0" lang="en-US" sz="2200">
                <a:solidFill>
                  <a:schemeClr val="dk1"/>
                </a:solidFill>
                <a:latin typeface="Arial"/>
                <a:ea typeface="Arial"/>
                <a:cs typeface="Arial"/>
                <a:sym typeface="Arial"/>
              </a:rPr>
              <a:t>Net income will result during a time period when:</a:t>
            </a:r>
            <a:endParaRPr/>
          </a:p>
          <a:p>
            <a:pPr indent="-455612" lvl="1" marL="685800" marR="0" rtl="0" algn="l">
              <a:lnSpc>
                <a:spcPct val="120000"/>
              </a:lnSpc>
              <a:spcBef>
                <a:spcPts val="1100"/>
              </a:spcBef>
              <a:spcAft>
                <a:spcPts val="0"/>
              </a:spcAft>
              <a:buClr>
                <a:schemeClr val="dk1"/>
              </a:buClr>
              <a:buSzPts val="2200"/>
              <a:buFont typeface="Noto Sans Symbols"/>
              <a:buAutoNum type="alphaLcPeriod"/>
            </a:pPr>
            <a:r>
              <a:rPr b="0" i="0" lang="en-US" sz="2200" u="none" cap="none" strike="noStrike">
                <a:solidFill>
                  <a:schemeClr val="dk1"/>
                </a:solidFill>
                <a:latin typeface="Arial"/>
                <a:ea typeface="Arial"/>
                <a:cs typeface="Arial"/>
                <a:sym typeface="Arial"/>
              </a:rPr>
              <a:t>assets exceed liabilities.</a:t>
            </a:r>
            <a:endParaRPr/>
          </a:p>
          <a:p>
            <a:pPr indent="-455612" lvl="1" marL="685800" marR="0" rtl="0" algn="l">
              <a:lnSpc>
                <a:spcPct val="120000"/>
              </a:lnSpc>
              <a:spcBef>
                <a:spcPts val="1100"/>
              </a:spcBef>
              <a:spcAft>
                <a:spcPts val="0"/>
              </a:spcAft>
              <a:buClr>
                <a:schemeClr val="dk1"/>
              </a:buClr>
              <a:buSzPts val="2200"/>
              <a:buFont typeface="Noto Sans Symbols"/>
              <a:buAutoNum type="alphaLcPeriod"/>
            </a:pPr>
            <a:r>
              <a:rPr b="0" i="0" lang="en-US" sz="2200" u="none" cap="none" strike="noStrike">
                <a:solidFill>
                  <a:schemeClr val="dk1"/>
                </a:solidFill>
                <a:latin typeface="Arial"/>
                <a:ea typeface="Arial"/>
                <a:cs typeface="Arial"/>
                <a:sym typeface="Arial"/>
              </a:rPr>
              <a:t>assets exceed revenues.</a:t>
            </a:r>
            <a:endParaRPr/>
          </a:p>
          <a:p>
            <a:pPr indent="-455612" lvl="1" marL="685800" marR="0" rtl="0" algn="l">
              <a:lnSpc>
                <a:spcPct val="120000"/>
              </a:lnSpc>
              <a:spcBef>
                <a:spcPts val="1100"/>
              </a:spcBef>
              <a:spcAft>
                <a:spcPts val="0"/>
              </a:spcAft>
              <a:buClr>
                <a:schemeClr val="dk1"/>
              </a:buClr>
              <a:buSzPts val="2200"/>
              <a:buFont typeface="Noto Sans Symbols"/>
              <a:buAutoNum type="alphaLcPeriod"/>
            </a:pPr>
            <a:r>
              <a:rPr b="0" i="0" lang="en-US" sz="2200" u="none" cap="none" strike="noStrike">
                <a:solidFill>
                  <a:schemeClr val="dk1"/>
                </a:solidFill>
                <a:latin typeface="Arial"/>
                <a:ea typeface="Arial"/>
                <a:cs typeface="Arial"/>
                <a:sym typeface="Arial"/>
              </a:rPr>
              <a:t>expenses exceed revenues.</a:t>
            </a:r>
            <a:endParaRPr/>
          </a:p>
          <a:p>
            <a:pPr indent="-455613" lvl="1" marL="685800" marR="0" rtl="0" algn="l">
              <a:lnSpc>
                <a:spcPct val="120000"/>
              </a:lnSpc>
              <a:spcBef>
                <a:spcPts val="1100"/>
              </a:spcBef>
              <a:spcAft>
                <a:spcPts val="0"/>
              </a:spcAft>
              <a:buClr>
                <a:schemeClr val="dk1"/>
              </a:buClr>
              <a:buSzPts val="2200"/>
              <a:buFont typeface="Noto Sans Symbols"/>
              <a:buAutoNum type="alphaLcPeriod"/>
            </a:pPr>
            <a:r>
              <a:rPr b="0" i="0" lang="en-US" sz="2200" u="none" cap="none" strike="noStrike">
                <a:solidFill>
                  <a:schemeClr val="dk1"/>
                </a:solidFill>
                <a:latin typeface="Arial"/>
                <a:ea typeface="Arial"/>
                <a:cs typeface="Arial"/>
                <a:sym typeface="Arial"/>
              </a:rPr>
              <a:t>revenues exceed expenses.</a:t>
            </a:r>
            <a:endParaRPr/>
          </a:p>
        </p:txBody>
      </p:sp>
      <p:sp>
        <p:nvSpPr>
          <p:cNvPr id="1726" name="Google Shape;1726;p47"/>
          <p:cNvSpPr/>
          <p:nvPr/>
        </p:nvSpPr>
        <p:spPr>
          <a:xfrm>
            <a:off x="533400" y="1295400"/>
            <a:ext cx="5334000" cy="551433"/>
          </a:xfrm>
          <a:prstGeom prst="rect">
            <a:avLst/>
          </a:prstGeom>
          <a:noFill/>
          <a:ln>
            <a:noFill/>
          </a:ln>
        </p:spPr>
        <p:txBody>
          <a:bodyPr anchorCtr="0" anchor="t" bIns="44450" lIns="90475" spcFirstLastPara="1" rIns="90475" wrap="square" tIns="44450">
            <a:spAutoFit/>
          </a:bodyPr>
          <a:lstStyle/>
          <a:p>
            <a:pPr indent="0" lvl="0" marL="0" marR="0" rtl="0" algn="l">
              <a:spcBef>
                <a:spcPts val="0"/>
              </a:spcBef>
              <a:spcAft>
                <a:spcPts val="0"/>
              </a:spcAft>
              <a:buNone/>
            </a:pPr>
            <a:r>
              <a:rPr b="1" lang="en-US" sz="3000">
                <a:solidFill>
                  <a:schemeClr val="dk1"/>
                </a:solidFill>
                <a:latin typeface="Arial"/>
                <a:ea typeface="Arial"/>
                <a:cs typeface="Arial"/>
                <a:sym typeface="Arial"/>
              </a:rPr>
              <a:t>Question</a:t>
            </a:r>
            <a:endParaRPr/>
          </a:p>
        </p:txBody>
      </p:sp>
      <p:sp>
        <p:nvSpPr>
          <p:cNvPr id="1727" name="Google Shape;1727;p47"/>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5 </a:t>
            </a:r>
            <a:endParaRPr b="1" i="1" sz="1600">
              <a:solidFill>
                <a:schemeClr val="lt2"/>
              </a:solidFill>
              <a:latin typeface="Arial"/>
              <a:ea typeface="Arial"/>
              <a:cs typeface="Arial"/>
              <a:sym typeface="Arial"/>
            </a:endParaRPr>
          </a:p>
        </p:txBody>
      </p:sp>
      <p:sp>
        <p:nvSpPr>
          <p:cNvPr id="1728" name="Google Shape;1728;p47"/>
          <p:cNvSpPr/>
          <p:nvPr/>
        </p:nvSpPr>
        <p:spPr>
          <a:xfrm>
            <a:off x="152400" y="4267200"/>
            <a:ext cx="609600" cy="457200"/>
          </a:xfrm>
          <a:prstGeom prst="notchedRightArrow">
            <a:avLst>
              <a:gd fmla="val 50000" name="adj1"/>
              <a:gd fmla="val 50000" name="adj2"/>
            </a:avLst>
          </a:prstGeom>
          <a:solidFill>
            <a:srgbClr val="0000BF"/>
          </a:solidFill>
          <a:ln cap="sq"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8"/>
                                        </p:tgtEl>
                                        <p:attrNameLst>
                                          <p:attrName>style.visibility</p:attrName>
                                        </p:attrNameLst>
                                      </p:cBhvr>
                                      <p:to>
                                        <p:strVal val="visible"/>
                                      </p:to>
                                    </p:set>
                                    <p:animEffect filter="fade" transition="in">
                                      <p:cBhvr>
                                        <p:cTn dur="500"/>
                                        <p:tgtEl>
                                          <p:spTgt spid="17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2" name="Shape 1732"/>
        <p:cNvGrpSpPr/>
        <p:nvPr/>
      </p:nvGrpSpPr>
      <p:grpSpPr>
        <a:xfrm>
          <a:off x="0" y="0"/>
          <a:ext cx="0" cy="0"/>
          <a:chOff x="0" y="0"/>
          <a:chExt cx="0" cy="0"/>
        </a:xfrm>
      </p:grpSpPr>
      <p:pic>
        <p:nvPicPr>
          <p:cNvPr id="1733" name="Google Shape;1733;p48"/>
          <p:cNvPicPr preferRelativeResize="0"/>
          <p:nvPr/>
        </p:nvPicPr>
        <p:blipFill rotWithShape="1">
          <a:blip r:embed="rId3">
            <a:alphaModFix/>
          </a:blip>
          <a:srcRect b="0" l="0" r="0" t="0"/>
          <a:stretch/>
        </p:blipFill>
        <p:spPr>
          <a:xfrm>
            <a:off x="914400" y="1219200"/>
            <a:ext cx="7124701" cy="5401852"/>
          </a:xfrm>
          <a:prstGeom prst="rect">
            <a:avLst/>
          </a:prstGeom>
          <a:noFill/>
          <a:ln>
            <a:noFill/>
          </a:ln>
        </p:spPr>
      </p:pic>
      <p:sp>
        <p:nvSpPr>
          <p:cNvPr id="1734" name="Google Shape;1734;p48"/>
          <p:cNvSpPr/>
          <p:nvPr/>
        </p:nvSpPr>
        <p:spPr>
          <a:xfrm>
            <a:off x="4953000" y="209550"/>
            <a:ext cx="3962400" cy="677108"/>
          </a:xfrm>
          <a:prstGeom prst="rect">
            <a:avLst/>
          </a:prstGeom>
          <a:solidFill>
            <a:schemeClr val="lt1"/>
          </a:solidFill>
          <a:ln cap="sq" cmpd="sng" w="28575">
            <a:solidFill>
              <a:schemeClr val="dk1"/>
            </a:solidFill>
            <a:prstDash val="solid"/>
            <a:miter lim="800000"/>
            <a:headEnd len="sm" w="sm" type="none"/>
            <a:tailEnd len="sm" w="sm" type="none"/>
          </a:ln>
        </p:spPr>
        <p:txBody>
          <a:bodyPr anchorCtr="0" anchor="t" bIns="91425" lIns="91425" spcFirstLastPara="1" rIns="91425" wrap="square" tIns="91425">
            <a:sp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Net income is needed to determine the ending balance in owner’s equity.</a:t>
            </a:r>
            <a:endParaRPr sz="1600">
              <a:solidFill>
                <a:schemeClr val="dk1"/>
              </a:solidFill>
              <a:latin typeface="Arial"/>
              <a:ea typeface="Arial"/>
              <a:cs typeface="Arial"/>
              <a:sym typeface="Arial"/>
            </a:endParaRPr>
          </a:p>
        </p:txBody>
      </p:sp>
      <p:cxnSp>
        <p:nvCxnSpPr>
          <p:cNvPr id="1735" name="Google Shape;1735;p48"/>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736" name="Google Shape;1736;p48"/>
          <p:cNvSpPr/>
          <p:nvPr/>
        </p:nvSpPr>
        <p:spPr>
          <a:xfrm>
            <a:off x="533400" y="304800"/>
            <a:ext cx="80772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Financial Statements</a:t>
            </a:r>
            <a:endParaRPr/>
          </a:p>
        </p:txBody>
      </p:sp>
      <p:sp>
        <p:nvSpPr>
          <p:cNvPr id="1737" name="Google Shape;1737;p48"/>
          <p:cNvSpPr/>
          <p:nvPr/>
        </p:nvSpPr>
        <p:spPr>
          <a:xfrm>
            <a:off x="8077200" y="1143000"/>
            <a:ext cx="381000" cy="2667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lt2"/>
              </a:buClr>
              <a:buSzPts val="2400"/>
              <a:buFont typeface="Noto Sans Symbols"/>
              <a:buNone/>
            </a:pPr>
            <a:r>
              <a:t/>
            </a:r>
            <a:endParaRPr b="0" sz="2400">
              <a:solidFill>
                <a:schemeClr val="dk1"/>
              </a:solidFill>
              <a:latin typeface="Arial"/>
              <a:ea typeface="Arial"/>
              <a:cs typeface="Arial"/>
              <a:sym typeface="Arial"/>
            </a:endParaRPr>
          </a:p>
        </p:txBody>
      </p:sp>
      <p:sp>
        <p:nvSpPr>
          <p:cNvPr id="1738" name="Google Shape;1738;p48"/>
          <p:cNvSpPr/>
          <p:nvPr/>
        </p:nvSpPr>
        <p:spPr>
          <a:xfrm>
            <a:off x="8229600" y="5105400"/>
            <a:ext cx="381000" cy="1219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lt2"/>
              </a:buClr>
              <a:buSzPts val="2400"/>
              <a:buFont typeface="Noto Sans Symbols"/>
              <a:buNone/>
            </a:pPr>
            <a:r>
              <a:t/>
            </a:r>
            <a:endParaRPr b="0" sz="2400">
              <a:solidFill>
                <a:schemeClr val="dk1"/>
              </a:solidFill>
              <a:latin typeface="Arial"/>
              <a:ea typeface="Arial"/>
              <a:cs typeface="Arial"/>
              <a:sym typeface="Arial"/>
            </a:endParaRPr>
          </a:p>
        </p:txBody>
      </p:sp>
      <p:sp>
        <p:nvSpPr>
          <p:cNvPr id="1739" name="Google Shape;1739;p48"/>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5 </a:t>
            </a:r>
            <a:endParaRPr b="1" i="1" sz="1600">
              <a:solidFill>
                <a:schemeClr val="lt2"/>
              </a:solidFill>
              <a:latin typeface="Arial"/>
              <a:ea typeface="Arial"/>
              <a:cs typeface="Arial"/>
              <a:sym typeface="Arial"/>
            </a:endParaRPr>
          </a:p>
        </p:txBody>
      </p:sp>
      <p:sp>
        <p:nvSpPr>
          <p:cNvPr id="1740" name="Google Shape;1740;p48"/>
          <p:cNvSpPr/>
          <p:nvPr/>
        </p:nvSpPr>
        <p:spPr>
          <a:xfrm>
            <a:off x="7162800" y="2679700"/>
            <a:ext cx="1752600" cy="5969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100"/>
              <a:buFont typeface="Noto Sans Symbols"/>
              <a:buNone/>
            </a:pPr>
            <a:r>
              <a:rPr b="1" lang="en-US" sz="1100">
                <a:solidFill>
                  <a:schemeClr val="dk1"/>
                </a:solidFill>
                <a:latin typeface="Arial"/>
                <a:ea typeface="Arial"/>
                <a:cs typeface="Arial"/>
                <a:sym typeface="Arial"/>
              </a:rPr>
              <a:t>Illustration 1-9</a:t>
            </a:r>
            <a:endParaRPr b="1" sz="11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1100"/>
              <a:buFont typeface="Noto Sans Symbols"/>
              <a:buNone/>
            </a:pPr>
            <a:r>
              <a:rPr b="0" lang="en-US" sz="1100">
                <a:solidFill>
                  <a:schemeClr val="dk1"/>
                </a:solidFill>
                <a:latin typeface="Arial"/>
                <a:ea typeface="Arial"/>
                <a:cs typeface="Arial"/>
                <a:sym typeface="Arial"/>
              </a:rPr>
              <a:t>Financial statements and</a:t>
            </a:r>
            <a:endParaRPr/>
          </a:p>
          <a:p>
            <a:pPr indent="0" lvl="0" marL="0" marR="0" rtl="0" algn="l">
              <a:spcBef>
                <a:spcPts val="0"/>
              </a:spcBef>
              <a:spcAft>
                <a:spcPts val="0"/>
              </a:spcAft>
              <a:buClr>
                <a:schemeClr val="dk1"/>
              </a:buClr>
              <a:buSzPts val="1100"/>
              <a:buFont typeface="Noto Sans Symbols"/>
              <a:buNone/>
            </a:pPr>
            <a:r>
              <a:rPr b="0" lang="en-US" sz="1100">
                <a:solidFill>
                  <a:schemeClr val="dk1"/>
                </a:solidFill>
                <a:latin typeface="Arial"/>
                <a:ea typeface="Arial"/>
                <a:cs typeface="Arial"/>
                <a:sym typeface="Arial"/>
              </a:rPr>
              <a:t>their interrelationships</a:t>
            </a:r>
            <a:endParaRPr/>
          </a:p>
        </p:txBody>
      </p:sp>
      <p:sp>
        <p:nvSpPr>
          <p:cNvPr id="1741" name="Google Shape;1741;p48"/>
          <p:cNvSpPr/>
          <p:nvPr/>
        </p:nvSpPr>
        <p:spPr>
          <a:xfrm>
            <a:off x="914400" y="1219200"/>
            <a:ext cx="6772656" cy="762000"/>
          </a:xfrm>
          <a:prstGeom prst="rect">
            <a:avLst/>
          </a:prstGeom>
          <a:solidFill>
            <a:srgbClr val="0027A4"/>
          </a:solidFill>
          <a:ln cap="sq"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500">
                <a:solidFill>
                  <a:schemeClr val="accent3"/>
                </a:solidFill>
                <a:latin typeface="Arial"/>
                <a:ea typeface="Arial"/>
                <a:cs typeface="Arial"/>
                <a:sym typeface="Arial"/>
              </a:rPr>
              <a:t>SOFTBYTE</a:t>
            </a:r>
            <a:endParaRPr/>
          </a:p>
          <a:p>
            <a:pPr indent="0" lvl="0" marL="0" marR="0" rtl="0" algn="ctr">
              <a:spcBef>
                <a:spcPts val="0"/>
              </a:spcBef>
              <a:spcAft>
                <a:spcPts val="0"/>
              </a:spcAft>
              <a:buNone/>
            </a:pPr>
            <a:r>
              <a:rPr lang="en-US" sz="1500">
                <a:solidFill>
                  <a:schemeClr val="accent3"/>
                </a:solidFill>
                <a:latin typeface="Arial"/>
                <a:ea typeface="Arial"/>
                <a:cs typeface="Arial"/>
                <a:sym typeface="Arial"/>
              </a:rPr>
              <a:t>Income Statement</a:t>
            </a:r>
            <a:endParaRPr/>
          </a:p>
          <a:p>
            <a:pPr indent="0" lvl="0" marL="0" marR="0" rtl="0" algn="ctr">
              <a:spcBef>
                <a:spcPts val="0"/>
              </a:spcBef>
              <a:spcAft>
                <a:spcPts val="0"/>
              </a:spcAft>
              <a:buNone/>
            </a:pPr>
            <a:r>
              <a:rPr lang="en-US" sz="1500">
                <a:solidFill>
                  <a:schemeClr val="accent3"/>
                </a:solidFill>
                <a:latin typeface="Arial"/>
                <a:ea typeface="Arial"/>
                <a:cs typeface="Arial"/>
                <a:sym typeface="Arial"/>
              </a:rPr>
              <a:t>For the Month Ended September 30, 2017</a:t>
            </a:r>
            <a:endParaRPr b="0" i="0" sz="1500" u="none" cap="none" strike="noStrike">
              <a:solidFill>
                <a:schemeClr val="accent3"/>
              </a:solidFill>
              <a:latin typeface="Arial"/>
              <a:ea typeface="Arial"/>
              <a:cs typeface="Arial"/>
              <a:sym typeface="Arial"/>
            </a:endParaRPr>
          </a:p>
        </p:txBody>
      </p:sp>
      <p:sp>
        <p:nvSpPr>
          <p:cNvPr id="1742" name="Google Shape;1742;p48"/>
          <p:cNvSpPr/>
          <p:nvPr/>
        </p:nvSpPr>
        <p:spPr>
          <a:xfrm>
            <a:off x="914400" y="4215384"/>
            <a:ext cx="6772656" cy="762000"/>
          </a:xfrm>
          <a:prstGeom prst="rect">
            <a:avLst/>
          </a:prstGeom>
          <a:solidFill>
            <a:srgbClr val="0027A4"/>
          </a:solidFill>
          <a:ln cap="sq"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500">
                <a:solidFill>
                  <a:schemeClr val="accent3"/>
                </a:solidFill>
                <a:latin typeface="Arial"/>
                <a:ea typeface="Arial"/>
                <a:cs typeface="Arial"/>
                <a:sym typeface="Arial"/>
              </a:rPr>
              <a:t>SOFTBYTE</a:t>
            </a:r>
            <a:endParaRPr/>
          </a:p>
          <a:p>
            <a:pPr indent="0" lvl="0" marL="0" marR="0" rtl="0" algn="ctr">
              <a:spcBef>
                <a:spcPts val="0"/>
              </a:spcBef>
              <a:spcAft>
                <a:spcPts val="0"/>
              </a:spcAft>
              <a:buNone/>
            </a:pPr>
            <a:r>
              <a:rPr lang="en-US" sz="1500">
                <a:solidFill>
                  <a:schemeClr val="accent3"/>
                </a:solidFill>
                <a:latin typeface="Arial"/>
                <a:ea typeface="Arial"/>
                <a:cs typeface="Arial"/>
                <a:sym typeface="Arial"/>
              </a:rPr>
              <a:t>Owner’s Equity Statement</a:t>
            </a:r>
            <a:endParaRPr sz="1500">
              <a:solidFill>
                <a:schemeClr val="accent3"/>
              </a:solidFill>
              <a:latin typeface="Arial"/>
              <a:ea typeface="Arial"/>
              <a:cs typeface="Arial"/>
              <a:sym typeface="Arial"/>
            </a:endParaRPr>
          </a:p>
          <a:p>
            <a:pPr indent="0" lvl="0" marL="0" marR="0" rtl="0" algn="ctr">
              <a:spcBef>
                <a:spcPts val="0"/>
              </a:spcBef>
              <a:spcAft>
                <a:spcPts val="0"/>
              </a:spcAft>
              <a:buNone/>
            </a:pPr>
            <a:r>
              <a:rPr lang="en-US" sz="1500">
                <a:solidFill>
                  <a:schemeClr val="accent3"/>
                </a:solidFill>
                <a:latin typeface="Arial"/>
                <a:ea typeface="Arial"/>
                <a:cs typeface="Arial"/>
                <a:sym typeface="Arial"/>
              </a:rPr>
              <a:t>For the Month Ended September 30, 2017</a:t>
            </a:r>
            <a:endParaRPr b="0" i="0" sz="1500" u="none" cap="none" strike="noStrike">
              <a:solidFill>
                <a:schemeClr val="accent3"/>
              </a:solidFill>
              <a:latin typeface="Arial"/>
              <a:ea typeface="Arial"/>
              <a:cs typeface="Arial"/>
              <a:sym typeface="Arial"/>
            </a:endParaRPr>
          </a:p>
        </p:txBody>
      </p:sp>
    </p:spTree>
  </p:cSld>
  <p:clrMapOvr>
    <a:masterClrMapping/>
  </p:clrMapOvr>
  <p:transition>
    <p:wipe dir="r"/>
  </p:transition>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6" name="Shape 1746"/>
        <p:cNvGrpSpPr/>
        <p:nvPr/>
      </p:nvGrpSpPr>
      <p:grpSpPr>
        <a:xfrm>
          <a:off x="0" y="0"/>
          <a:ext cx="0" cy="0"/>
          <a:chOff x="0" y="0"/>
          <a:chExt cx="0" cy="0"/>
        </a:xfrm>
      </p:grpSpPr>
      <p:sp>
        <p:nvSpPr>
          <p:cNvPr id="1747" name="Google Shape;1747;p49"/>
          <p:cNvSpPr/>
          <p:nvPr/>
        </p:nvSpPr>
        <p:spPr>
          <a:xfrm>
            <a:off x="152400" y="2376607"/>
            <a:ext cx="1625221" cy="1661993"/>
          </a:xfrm>
          <a:prstGeom prst="rect">
            <a:avLst/>
          </a:prstGeom>
          <a:solidFill>
            <a:schemeClr val="lt1"/>
          </a:solidFill>
          <a:ln cap="sq" cmpd="sng" w="28575">
            <a:solidFill>
              <a:schemeClr val="dk1"/>
            </a:solidFill>
            <a:prstDash val="solid"/>
            <a:miter lim="800000"/>
            <a:headEnd len="sm" w="sm" type="none"/>
            <a:tailEnd len="sm" w="sm" type="none"/>
          </a:ln>
        </p:spPr>
        <p:txBody>
          <a:bodyPr anchorCtr="0" anchor="t" bIns="91425" lIns="91425" spcFirstLastPara="1" rIns="91425" wrap="square" tIns="91425">
            <a:sp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The ending balance in owner’s equity is needed in preparing the balance sheet.</a:t>
            </a:r>
            <a:endParaRPr/>
          </a:p>
        </p:txBody>
      </p:sp>
      <p:sp>
        <p:nvSpPr>
          <p:cNvPr id="1748" name="Google Shape;1748;p49"/>
          <p:cNvSpPr/>
          <p:nvPr/>
        </p:nvSpPr>
        <p:spPr>
          <a:xfrm>
            <a:off x="7391400" y="2406650"/>
            <a:ext cx="1295400" cy="2603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r">
              <a:spcBef>
                <a:spcPts val="0"/>
              </a:spcBef>
              <a:spcAft>
                <a:spcPts val="0"/>
              </a:spcAft>
              <a:buClr>
                <a:schemeClr val="dk1"/>
              </a:buClr>
              <a:buSzPts val="1100"/>
              <a:buFont typeface="Noto Sans Symbols"/>
              <a:buNone/>
            </a:pPr>
            <a:r>
              <a:rPr b="1" lang="en-US" sz="1100">
                <a:solidFill>
                  <a:schemeClr val="dk1"/>
                </a:solidFill>
                <a:latin typeface="Arial"/>
                <a:ea typeface="Arial"/>
                <a:cs typeface="Arial"/>
                <a:sym typeface="Arial"/>
              </a:rPr>
              <a:t>Illustration 1-9</a:t>
            </a:r>
            <a:endParaRPr b="1" sz="1100">
              <a:solidFill>
                <a:schemeClr val="dk1"/>
              </a:solidFill>
              <a:latin typeface="Arial"/>
              <a:ea typeface="Arial"/>
              <a:cs typeface="Arial"/>
              <a:sym typeface="Arial"/>
            </a:endParaRPr>
          </a:p>
        </p:txBody>
      </p:sp>
      <p:pic>
        <p:nvPicPr>
          <p:cNvPr id="1749" name="Google Shape;1749;p49"/>
          <p:cNvPicPr preferRelativeResize="0"/>
          <p:nvPr/>
        </p:nvPicPr>
        <p:blipFill rotWithShape="1">
          <a:blip r:embed="rId3">
            <a:alphaModFix/>
          </a:blip>
          <a:srcRect b="0" l="0" r="0" t="0"/>
          <a:stretch/>
        </p:blipFill>
        <p:spPr>
          <a:xfrm>
            <a:off x="1905000" y="336511"/>
            <a:ext cx="7002604" cy="6140489"/>
          </a:xfrm>
          <a:prstGeom prst="rect">
            <a:avLst/>
          </a:prstGeom>
          <a:noFill/>
          <a:ln>
            <a:noFill/>
          </a:ln>
        </p:spPr>
      </p:pic>
      <p:sp>
        <p:nvSpPr>
          <p:cNvPr id="1750" name="Google Shape;1750;p49"/>
          <p:cNvSpPr/>
          <p:nvPr/>
        </p:nvSpPr>
        <p:spPr>
          <a:xfrm>
            <a:off x="279779" y="5385881"/>
            <a:ext cx="1625221" cy="76944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100"/>
              <a:buFont typeface="Noto Sans Symbols"/>
              <a:buNone/>
            </a:pPr>
            <a:r>
              <a:rPr b="1" lang="en-US" sz="1100">
                <a:solidFill>
                  <a:schemeClr val="dk1"/>
                </a:solidFill>
                <a:latin typeface="Arial"/>
                <a:ea typeface="Arial"/>
                <a:cs typeface="Arial"/>
                <a:sym typeface="Arial"/>
              </a:rPr>
              <a:t>Illustration 1-9</a:t>
            </a:r>
            <a:endParaRPr b="1" sz="11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1100"/>
              <a:buFont typeface="Noto Sans Symbols"/>
              <a:buNone/>
            </a:pPr>
            <a:r>
              <a:rPr b="0" lang="en-US" sz="1100">
                <a:solidFill>
                  <a:schemeClr val="dk1"/>
                </a:solidFill>
                <a:latin typeface="Arial"/>
                <a:ea typeface="Arial"/>
                <a:cs typeface="Arial"/>
                <a:sym typeface="Arial"/>
              </a:rPr>
              <a:t>Financial statements and their interrelationships</a:t>
            </a:r>
            <a:endParaRPr/>
          </a:p>
        </p:txBody>
      </p:sp>
      <p:sp>
        <p:nvSpPr>
          <p:cNvPr id="1751" name="Google Shape;1751;p49"/>
          <p:cNvSpPr/>
          <p:nvPr/>
        </p:nvSpPr>
        <p:spPr>
          <a:xfrm>
            <a:off x="1905000" y="336510"/>
            <a:ext cx="6656832" cy="758952"/>
          </a:xfrm>
          <a:prstGeom prst="rect">
            <a:avLst/>
          </a:prstGeom>
          <a:solidFill>
            <a:srgbClr val="0027A4"/>
          </a:solidFill>
          <a:ln cap="sq"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500">
                <a:solidFill>
                  <a:schemeClr val="accent3"/>
                </a:solidFill>
                <a:latin typeface="Arial"/>
                <a:ea typeface="Arial"/>
                <a:cs typeface="Arial"/>
                <a:sym typeface="Arial"/>
              </a:rPr>
              <a:t>SOFTBYTE</a:t>
            </a:r>
            <a:endParaRPr/>
          </a:p>
          <a:p>
            <a:pPr indent="0" lvl="0" marL="0" marR="0" rtl="0" algn="ctr">
              <a:spcBef>
                <a:spcPts val="0"/>
              </a:spcBef>
              <a:spcAft>
                <a:spcPts val="0"/>
              </a:spcAft>
              <a:buNone/>
            </a:pPr>
            <a:r>
              <a:rPr lang="en-US" sz="1500">
                <a:solidFill>
                  <a:schemeClr val="accent3"/>
                </a:solidFill>
                <a:latin typeface="Arial"/>
                <a:ea typeface="Arial"/>
                <a:cs typeface="Arial"/>
                <a:sym typeface="Arial"/>
              </a:rPr>
              <a:t>Owner’s Equity Statement</a:t>
            </a:r>
            <a:endParaRPr sz="1500">
              <a:solidFill>
                <a:schemeClr val="accent3"/>
              </a:solidFill>
              <a:latin typeface="Arial"/>
              <a:ea typeface="Arial"/>
              <a:cs typeface="Arial"/>
              <a:sym typeface="Arial"/>
            </a:endParaRPr>
          </a:p>
          <a:p>
            <a:pPr indent="0" lvl="0" marL="0" marR="0" rtl="0" algn="ctr">
              <a:spcBef>
                <a:spcPts val="0"/>
              </a:spcBef>
              <a:spcAft>
                <a:spcPts val="0"/>
              </a:spcAft>
              <a:buNone/>
            </a:pPr>
            <a:r>
              <a:rPr lang="en-US" sz="1500">
                <a:solidFill>
                  <a:schemeClr val="accent3"/>
                </a:solidFill>
                <a:latin typeface="Arial"/>
                <a:ea typeface="Arial"/>
                <a:cs typeface="Arial"/>
                <a:sym typeface="Arial"/>
              </a:rPr>
              <a:t>For the Month Ended September 30, 2017</a:t>
            </a:r>
            <a:endParaRPr b="0" i="0" sz="1500" u="none" cap="none" strike="noStrike">
              <a:solidFill>
                <a:schemeClr val="accent3"/>
              </a:solidFill>
              <a:latin typeface="Arial"/>
              <a:ea typeface="Arial"/>
              <a:cs typeface="Arial"/>
              <a:sym typeface="Arial"/>
            </a:endParaRPr>
          </a:p>
        </p:txBody>
      </p:sp>
      <p:sp>
        <p:nvSpPr>
          <p:cNvPr id="1752" name="Google Shape;1752;p49"/>
          <p:cNvSpPr/>
          <p:nvPr/>
        </p:nvSpPr>
        <p:spPr>
          <a:xfrm>
            <a:off x="1905000" y="2715768"/>
            <a:ext cx="6656832" cy="758952"/>
          </a:xfrm>
          <a:prstGeom prst="rect">
            <a:avLst/>
          </a:prstGeom>
          <a:solidFill>
            <a:srgbClr val="0027A4"/>
          </a:solidFill>
          <a:ln cap="sq"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500">
                <a:solidFill>
                  <a:schemeClr val="accent3"/>
                </a:solidFill>
                <a:latin typeface="Arial"/>
                <a:ea typeface="Arial"/>
                <a:cs typeface="Arial"/>
                <a:sym typeface="Arial"/>
              </a:rPr>
              <a:t>SOFTBYTE</a:t>
            </a:r>
            <a:endParaRPr/>
          </a:p>
          <a:p>
            <a:pPr indent="0" lvl="0" marL="0" marR="0" rtl="0" algn="ctr">
              <a:spcBef>
                <a:spcPts val="0"/>
              </a:spcBef>
              <a:spcAft>
                <a:spcPts val="0"/>
              </a:spcAft>
              <a:buNone/>
            </a:pPr>
            <a:r>
              <a:rPr lang="en-US" sz="1500">
                <a:solidFill>
                  <a:schemeClr val="accent3"/>
                </a:solidFill>
                <a:latin typeface="Arial"/>
                <a:ea typeface="Arial"/>
                <a:cs typeface="Arial"/>
                <a:sym typeface="Arial"/>
              </a:rPr>
              <a:t>Balance Sheet</a:t>
            </a:r>
            <a:endParaRPr sz="1500">
              <a:solidFill>
                <a:schemeClr val="accent3"/>
              </a:solidFill>
              <a:latin typeface="Arial"/>
              <a:ea typeface="Arial"/>
              <a:cs typeface="Arial"/>
              <a:sym typeface="Arial"/>
            </a:endParaRPr>
          </a:p>
          <a:p>
            <a:pPr indent="0" lvl="0" marL="0" marR="0" rtl="0" algn="ctr">
              <a:spcBef>
                <a:spcPts val="0"/>
              </a:spcBef>
              <a:spcAft>
                <a:spcPts val="0"/>
              </a:spcAft>
              <a:buNone/>
            </a:pPr>
            <a:r>
              <a:rPr lang="en-US" sz="1500">
                <a:solidFill>
                  <a:schemeClr val="accent3"/>
                </a:solidFill>
                <a:latin typeface="Arial"/>
                <a:ea typeface="Arial"/>
                <a:cs typeface="Arial"/>
                <a:sym typeface="Arial"/>
              </a:rPr>
              <a:t>September 30, 2017</a:t>
            </a:r>
            <a:endParaRPr b="0" i="0" sz="1500" u="none" cap="none" strike="noStrike">
              <a:solidFill>
                <a:schemeClr val="accent3"/>
              </a:solidFill>
              <a:latin typeface="Arial"/>
              <a:ea typeface="Arial"/>
              <a:cs typeface="Arial"/>
              <a:sym typeface="Arial"/>
            </a:endParaRPr>
          </a:p>
        </p:txBody>
      </p:sp>
    </p:spTree>
  </p:cSld>
  <p:clrMapOvr>
    <a:masterClrMapping/>
  </p:clrMapOvr>
  <p:transition>
    <p:wipe dir="r"/>
  </p:transition>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6" name="Shape 1756"/>
        <p:cNvGrpSpPr/>
        <p:nvPr/>
      </p:nvGrpSpPr>
      <p:grpSpPr>
        <a:xfrm>
          <a:off x="0" y="0"/>
          <a:ext cx="0" cy="0"/>
          <a:chOff x="0" y="0"/>
          <a:chExt cx="0" cy="0"/>
        </a:xfrm>
      </p:grpSpPr>
      <p:cxnSp>
        <p:nvCxnSpPr>
          <p:cNvPr id="1757" name="Google Shape;1757;p50"/>
          <p:cNvCxnSpPr/>
          <p:nvPr/>
        </p:nvCxnSpPr>
        <p:spPr>
          <a:xfrm>
            <a:off x="304800" y="1371600"/>
            <a:ext cx="2410968" cy="0"/>
          </a:xfrm>
          <a:prstGeom prst="straightConnector1">
            <a:avLst/>
          </a:prstGeom>
          <a:noFill/>
          <a:ln cap="sq" cmpd="sng" w="57150">
            <a:solidFill>
              <a:schemeClr val="dk1"/>
            </a:solidFill>
            <a:prstDash val="solid"/>
            <a:round/>
            <a:headEnd len="sm" w="sm" type="none"/>
            <a:tailEnd len="sm" w="sm" type="none"/>
          </a:ln>
        </p:spPr>
      </p:cxnSp>
      <p:pic>
        <p:nvPicPr>
          <p:cNvPr id="1758" name="Google Shape;1758;p50"/>
          <p:cNvPicPr preferRelativeResize="0"/>
          <p:nvPr/>
        </p:nvPicPr>
        <p:blipFill rotWithShape="1">
          <a:blip r:embed="rId3">
            <a:alphaModFix/>
          </a:blip>
          <a:srcRect b="0" l="0" r="0" t="0"/>
          <a:stretch/>
        </p:blipFill>
        <p:spPr>
          <a:xfrm>
            <a:off x="2438401" y="327697"/>
            <a:ext cx="6400800" cy="6149872"/>
          </a:xfrm>
          <a:prstGeom prst="rect">
            <a:avLst/>
          </a:prstGeom>
          <a:noFill/>
          <a:ln>
            <a:noFill/>
          </a:ln>
        </p:spPr>
      </p:pic>
      <p:sp>
        <p:nvSpPr>
          <p:cNvPr id="1759" name="Google Shape;1759;p50"/>
          <p:cNvSpPr/>
          <p:nvPr/>
        </p:nvSpPr>
        <p:spPr>
          <a:xfrm>
            <a:off x="342900" y="2071759"/>
            <a:ext cx="2095500" cy="1415772"/>
          </a:xfrm>
          <a:prstGeom prst="rect">
            <a:avLst/>
          </a:prstGeom>
          <a:solidFill>
            <a:schemeClr val="lt1"/>
          </a:solidFill>
          <a:ln cap="sq" cmpd="sng" w="28575">
            <a:solidFill>
              <a:schemeClr val="dk1"/>
            </a:solidFill>
            <a:prstDash val="solid"/>
            <a:miter lim="800000"/>
            <a:headEnd len="sm" w="sm" type="none"/>
            <a:tailEnd len="sm" w="sm" type="none"/>
          </a:ln>
        </p:spPr>
        <p:txBody>
          <a:bodyPr anchorCtr="0" anchor="t" bIns="91425" lIns="91425" spcFirstLastPara="1" rIns="91425" wrap="square" tIns="91425">
            <a:spAutoFit/>
          </a:bodyPr>
          <a:lstStyle/>
          <a:p>
            <a:pPr indent="0" lvl="0" marL="0" marR="0" rtl="0" algn="l">
              <a:spcBef>
                <a:spcPts val="0"/>
              </a:spcBef>
              <a:spcAft>
                <a:spcPts val="0"/>
              </a:spcAft>
              <a:buClr>
                <a:schemeClr val="dk1"/>
              </a:buClr>
              <a:buSzPts val="1600"/>
              <a:buFont typeface="Noto Sans Symbols"/>
              <a:buNone/>
            </a:pPr>
            <a:r>
              <a:rPr b="0" lang="en-US" sz="1600">
                <a:solidFill>
                  <a:schemeClr val="dk1"/>
                </a:solidFill>
                <a:latin typeface="Arial"/>
                <a:ea typeface="Arial"/>
                <a:cs typeface="Arial"/>
                <a:sym typeface="Arial"/>
              </a:rPr>
              <a:t>Balance sheet and income statement are needed to prepare statement of cash flows.</a:t>
            </a:r>
            <a:endParaRPr/>
          </a:p>
        </p:txBody>
      </p:sp>
      <p:sp>
        <p:nvSpPr>
          <p:cNvPr id="1760" name="Google Shape;1760;p50"/>
          <p:cNvSpPr/>
          <p:nvPr/>
        </p:nvSpPr>
        <p:spPr>
          <a:xfrm>
            <a:off x="2438400" y="4343400"/>
            <a:ext cx="76200" cy="19812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761" name="Google Shape;1761;p50"/>
          <p:cNvSpPr/>
          <p:nvPr/>
        </p:nvSpPr>
        <p:spPr>
          <a:xfrm>
            <a:off x="2706624" y="304800"/>
            <a:ext cx="5861304" cy="649224"/>
          </a:xfrm>
          <a:prstGeom prst="rect">
            <a:avLst/>
          </a:prstGeom>
          <a:solidFill>
            <a:srgbClr val="0027A4"/>
          </a:solidFill>
          <a:ln cap="sq"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200">
                <a:solidFill>
                  <a:schemeClr val="accent3"/>
                </a:solidFill>
                <a:latin typeface="Arial"/>
                <a:ea typeface="Arial"/>
                <a:cs typeface="Arial"/>
                <a:sym typeface="Arial"/>
              </a:rPr>
              <a:t>SOFTBYTE</a:t>
            </a:r>
            <a:endParaRPr/>
          </a:p>
          <a:p>
            <a:pPr indent="0" lvl="0" marL="0" marR="0" rtl="0" algn="ctr">
              <a:spcBef>
                <a:spcPts val="0"/>
              </a:spcBef>
              <a:spcAft>
                <a:spcPts val="0"/>
              </a:spcAft>
              <a:buNone/>
            </a:pPr>
            <a:r>
              <a:rPr lang="en-US" sz="1200">
                <a:solidFill>
                  <a:schemeClr val="accent3"/>
                </a:solidFill>
                <a:latin typeface="Arial"/>
                <a:ea typeface="Arial"/>
                <a:cs typeface="Arial"/>
                <a:sym typeface="Arial"/>
              </a:rPr>
              <a:t>Balance Sheet</a:t>
            </a:r>
            <a:endParaRPr sz="1200">
              <a:solidFill>
                <a:schemeClr val="accent3"/>
              </a:solidFill>
              <a:latin typeface="Arial"/>
              <a:ea typeface="Arial"/>
              <a:cs typeface="Arial"/>
              <a:sym typeface="Arial"/>
            </a:endParaRPr>
          </a:p>
          <a:p>
            <a:pPr indent="0" lvl="0" marL="0" marR="0" rtl="0" algn="ctr">
              <a:spcBef>
                <a:spcPts val="0"/>
              </a:spcBef>
              <a:spcAft>
                <a:spcPts val="0"/>
              </a:spcAft>
              <a:buNone/>
            </a:pPr>
            <a:r>
              <a:rPr lang="en-US" sz="1200">
                <a:solidFill>
                  <a:schemeClr val="accent3"/>
                </a:solidFill>
                <a:latin typeface="Arial"/>
                <a:ea typeface="Arial"/>
                <a:cs typeface="Arial"/>
                <a:sym typeface="Arial"/>
              </a:rPr>
              <a:t>September 30, 2017</a:t>
            </a:r>
            <a:endParaRPr b="0" i="0" sz="1200" u="none" cap="none" strike="noStrike">
              <a:solidFill>
                <a:schemeClr val="accent3"/>
              </a:solidFill>
              <a:latin typeface="Arial"/>
              <a:ea typeface="Arial"/>
              <a:cs typeface="Arial"/>
              <a:sym typeface="Arial"/>
            </a:endParaRPr>
          </a:p>
        </p:txBody>
      </p:sp>
      <p:sp>
        <p:nvSpPr>
          <p:cNvPr id="1762" name="Google Shape;1762;p50"/>
          <p:cNvSpPr/>
          <p:nvPr/>
        </p:nvSpPr>
        <p:spPr>
          <a:xfrm>
            <a:off x="2715768" y="3465576"/>
            <a:ext cx="5861304" cy="649224"/>
          </a:xfrm>
          <a:prstGeom prst="rect">
            <a:avLst/>
          </a:prstGeom>
          <a:solidFill>
            <a:srgbClr val="0027A4"/>
          </a:solidFill>
          <a:ln cap="sq"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200">
                <a:solidFill>
                  <a:schemeClr val="accent3"/>
                </a:solidFill>
                <a:latin typeface="Arial"/>
                <a:ea typeface="Arial"/>
                <a:cs typeface="Arial"/>
                <a:sym typeface="Arial"/>
              </a:rPr>
              <a:t>SOFTBYTE</a:t>
            </a:r>
            <a:endParaRPr/>
          </a:p>
          <a:p>
            <a:pPr indent="0" lvl="0" marL="0" marR="0" rtl="0" algn="ctr">
              <a:spcBef>
                <a:spcPts val="0"/>
              </a:spcBef>
              <a:spcAft>
                <a:spcPts val="0"/>
              </a:spcAft>
              <a:buNone/>
            </a:pPr>
            <a:r>
              <a:rPr lang="en-US" sz="1200">
                <a:solidFill>
                  <a:schemeClr val="accent3"/>
                </a:solidFill>
                <a:latin typeface="Arial"/>
                <a:ea typeface="Arial"/>
                <a:cs typeface="Arial"/>
                <a:sym typeface="Arial"/>
              </a:rPr>
              <a:t>Statement of Cash Flows</a:t>
            </a:r>
            <a:endParaRPr sz="1200">
              <a:solidFill>
                <a:schemeClr val="accent3"/>
              </a:solidFill>
              <a:latin typeface="Arial"/>
              <a:ea typeface="Arial"/>
              <a:cs typeface="Arial"/>
              <a:sym typeface="Arial"/>
            </a:endParaRPr>
          </a:p>
          <a:p>
            <a:pPr indent="0" lvl="0" marL="0" marR="0" rtl="0" algn="ctr">
              <a:spcBef>
                <a:spcPts val="0"/>
              </a:spcBef>
              <a:spcAft>
                <a:spcPts val="0"/>
              </a:spcAft>
              <a:buNone/>
            </a:pPr>
            <a:r>
              <a:rPr lang="en-US" sz="1200">
                <a:solidFill>
                  <a:schemeClr val="accent3"/>
                </a:solidFill>
                <a:latin typeface="Arial"/>
                <a:ea typeface="Arial"/>
                <a:cs typeface="Arial"/>
                <a:sym typeface="Arial"/>
              </a:rPr>
              <a:t>For the Month Ended September 30, 2017</a:t>
            </a:r>
            <a:endParaRPr b="0" i="0" sz="1200" u="none" cap="none" strike="noStrike">
              <a:solidFill>
                <a:schemeClr val="accent3"/>
              </a:solidFill>
              <a:latin typeface="Arial"/>
              <a:ea typeface="Arial"/>
              <a:cs typeface="Arial"/>
              <a:sym typeface="Arial"/>
            </a:endParaRPr>
          </a:p>
        </p:txBody>
      </p:sp>
      <p:sp>
        <p:nvSpPr>
          <p:cNvPr id="1763" name="Google Shape;1763;p50"/>
          <p:cNvSpPr/>
          <p:nvPr/>
        </p:nvSpPr>
        <p:spPr>
          <a:xfrm>
            <a:off x="813179" y="5385881"/>
            <a:ext cx="1625221" cy="76944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100"/>
              <a:buFont typeface="Noto Sans Symbols"/>
              <a:buNone/>
            </a:pPr>
            <a:r>
              <a:rPr b="1" lang="en-US" sz="1100">
                <a:solidFill>
                  <a:schemeClr val="dk1"/>
                </a:solidFill>
                <a:latin typeface="Arial"/>
                <a:ea typeface="Arial"/>
                <a:cs typeface="Arial"/>
                <a:sym typeface="Arial"/>
              </a:rPr>
              <a:t>Illustration 1-9</a:t>
            </a:r>
            <a:endParaRPr b="1" sz="11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1100"/>
              <a:buFont typeface="Noto Sans Symbols"/>
              <a:buNone/>
            </a:pPr>
            <a:r>
              <a:rPr b="0" lang="en-US" sz="1100">
                <a:solidFill>
                  <a:schemeClr val="dk1"/>
                </a:solidFill>
                <a:latin typeface="Arial"/>
                <a:ea typeface="Arial"/>
                <a:cs typeface="Arial"/>
                <a:sym typeface="Arial"/>
              </a:rPr>
              <a:t>Financial statements and their interrelationships</a:t>
            </a:r>
            <a:endParaRPr/>
          </a:p>
        </p:txBody>
      </p:sp>
      <p:sp>
        <p:nvSpPr>
          <p:cNvPr id="1764" name="Google Shape;1764;p50"/>
          <p:cNvSpPr/>
          <p:nvPr/>
        </p:nvSpPr>
        <p:spPr>
          <a:xfrm>
            <a:off x="228600" y="304800"/>
            <a:ext cx="22860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000">
                <a:solidFill>
                  <a:srgbClr val="0000BF"/>
                </a:solidFill>
                <a:latin typeface="Arial"/>
                <a:ea typeface="Arial"/>
                <a:cs typeface="Arial"/>
                <a:sym typeface="Arial"/>
              </a:rPr>
              <a:t>Financial Statements</a:t>
            </a:r>
            <a:endParaRPr/>
          </a:p>
        </p:txBody>
      </p:sp>
    </p:spTree>
  </p:cSld>
  <p:clrMapOvr>
    <a:masterClrMapping/>
  </p:clrMapOvr>
  <p:transition>
    <p:wipe dir="r"/>
  </p:transition>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8" name="Shape 1768"/>
        <p:cNvGrpSpPr/>
        <p:nvPr/>
      </p:nvGrpSpPr>
      <p:grpSpPr>
        <a:xfrm>
          <a:off x="0" y="0"/>
          <a:ext cx="0" cy="0"/>
          <a:chOff x="0" y="0"/>
          <a:chExt cx="0" cy="0"/>
        </a:xfrm>
      </p:grpSpPr>
      <p:sp>
        <p:nvSpPr>
          <p:cNvPr id="1769" name="Google Shape;1769;p51"/>
          <p:cNvSpPr txBox="1"/>
          <p:nvPr/>
        </p:nvSpPr>
        <p:spPr>
          <a:xfrm>
            <a:off x="533400" y="1295400"/>
            <a:ext cx="7848600" cy="2092881"/>
          </a:xfrm>
          <a:prstGeom prst="rect">
            <a:avLst/>
          </a:prstGeom>
          <a:noFill/>
          <a:ln>
            <a:noFill/>
          </a:ln>
        </p:spPr>
        <p:txBody>
          <a:bodyPr anchorCtr="0" anchor="t" bIns="45700" lIns="91425" spcFirstLastPara="1" rIns="91425" wrap="square" tIns="45700">
            <a:spAutoFit/>
          </a:bodyPr>
          <a:lstStyle/>
          <a:p>
            <a:pPr indent="-457200" lvl="0" marL="676275" marR="0" rtl="0" algn="l">
              <a:lnSpc>
                <a:spcPct val="125000"/>
              </a:lnSpc>
              <a:spcBef>
                <a:spcPts val="0"/>
              </a:spcBef>
              <a:spcAft>
                <a:spcPts val="0"/>
              </a:spcAft>
              <a:buClr>
                <a:srgbClr val="800000"/>
              </a:buClr>
              <a:buSzPts val="1760"/>
              <a:buFont typeface="Noto Sans Symbols"/>
              <a:buChar char="◆"/>
            </a:pPr>
            <a:r>
              <a:rPr b="0" lang="en-US" sz="2200">
                <a:solidFill>
                  <a:schemeClr val="dk1"/>
                </a:solidFill>
                <a:latin typeface="Arial"/>
                <a:ea typeface="Arial"/>
                <a:cs typeface="Arial"/>
                <a:sym typeface="Arial"/>
              </a:rPr>
              <a:t>Reports the revenues and expenses for a specific period of time. </a:t>
            </a:r>
            <a:endParaRPr/>
          </a:p>
          <a:p>
            <a:pPr indent="-457200" lvl="0" marL="676275" marR="0" rtl="0" algn="l">
              <a:lnSpc>
                <a:spcPct val="125000"/>
              </a:lnSpc>
              <a:spcBef>
                <a:spcPts val="1200"/>
              </a:spcBef>
              <a:spcAft>
                <a:spcPts val="0"/>
              </a:spcAft>
              <a:buClr>
                <a:srgbClr val="800000"/>
              </a:buClr>
              <a:buSzPts val="1760"/>
              <a:buFont typeface="Noto Sans Symbols"/>
              <a:buChar char="◆"/>
            </a:pPr>
            <a:r>
              <a:rPr b="0" lang="en-US" sz="2200">
                <a:solidFill>
                  <a:schemeClr val="dk1"/>
                </a:solidFill>
                <a:latin typeface="Arial"/>
                <a:ea typeface="Arial"/>
                <a:cs typeface="Arial"/>
                <a:sym typeface="Arial"/>
              </a:rPr>
              <a:t>Lists revenues first, followed by expenses. </a:t>
            </a:r>
            <a:endParaRPr/>
          </a:p>
          <a:p>
            <a:pPr indent="-457200" lvl="0" marL="676275" marR="0" rtl="0" algn="l">
              <a:lnSpc>
                <a:spcPct val="125000"/>
              </a:lnSpc>
              <a:spcBef>
                <a:spcPts val="1200"/>
              </a:spcBef>
              <a:spcAft>
                <a:spcPts val="0"/>
              </a:spcAft>
              <a:buClr>
                <a:srgbClr val="800000"/>
              </a:buClr>
              <a:buSzPts val="1760"/>
              <a:buFont typeface="Noto Sans Symbols"/>
              <a:buChar char="◆"/>
            </a:pPr>
            <a:r>
              <a:rPr b="0" lang="en-US" sz="2200">
                <a:solidFill>
                  <a:schemeClr val="dk1"/>
                </a:solidFill>
                <a:latin typeface="Arial"/>
                <a:ea typeface="Arial"/>
                <a:cs typeface="Arial"/>
                <a:sym typeface="Arial"/>
              </a:rPr>
              <a:t>Shows net income (or net loss). </a:t>
            </a:r>
            <a:endParaRPr/>
          </a:p>
        </p:txBody>
      </p:sp>
      <p:cxnSp>
        <p:nvCxnSpPr>
          <p:cNvPr id="1770" name="Google Shape;1770;p51"/>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771" name="Google Shape;1771;p51"/>
          <p:cNvSpPr/>
          <p:nvPr/>
        </p:nvSpPr>
        <p:spPr>
          <a:xfrm>
            <a:off x="533400" y="304800"/>
            <a:ext cx="80772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Income Statement</a:t>
            </a:r>
            <a:endParaRPr b="1" sz="3200">
              <a:solidFill>
                <a:srgbClr val="0000BF"/>
              </a:solidFill>
              <a:latin typeface="Arial"/>
              <a:ea typeface="Arial"/>
              <a:cs typeface="Arial"/>
              <a:sym typeface="Arial"/>
            </a:endParaRPr>
          </a:p>
        </p:txBody>
      </p:sp>
      <p:sp>
        <p:nvSpPr>
          <p:cNvPr id="1772" name="Google Shape;1772;p51"/>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5 </a:t>
            </a:r>
            <a:endParaRPr b="1" i="1" sz="1600">
              <a:solidFill>
                <a:schemeClr val="lt2"/>
              </a:solidFill>
              <a:latin typeface="Arial"/>
              <a:ea typeface="Arial"/>
              <a:cs typeface="Arial"/>
              <a:sym typeface="Arial"/>
            </a:endParaRPr>
          </a:p>
        </p:txBody>
      </p:sp>
      <p:pic>
        <p:nvPicPr>
          <p:cNvPr id="1773" name="Google Shape;1773;p51"/>
          <p:cNvPicPr preferRelativeResize="0"/>
          <p:nvPr/>
        </p:nvPicPr>
        <p:blipFill rotWithShape="1">
          <a:blip r:embed="rId3">
            <a:alphaModFix/>
          </a:blip>
          <a:srcRect b="0" l="0" r="0" t="0"/>
          <a:stretch/>
        </p:blipFill>
        <p:spPr>
          <a:xfrm>
            <a:off x="5175932" y="3657600"/>
            <a:ext cx="3053668" cy="1857723"/>
          </a:xfrm>
          <a:prstGeom prst="rect">
            <a:avLst/>
          </a:prstGeom>
          <a:noFill/>
          <a:ln cap="flat" cmpd="sng" w="28575">
            <a:solidFill>
              <a:schemeClr val="dk1"/>
            </a:solidFill>
            <a:prstDash val="solid"/>
            <a:miter lim="800000"/>
            <a:headEnd len="sm" w="sm" type="none"/>
            <a:tailEnd len="sm" w="sm" type="none"/>
          </a:ln>
        </p:spPr>
      </p:pic>
      <p:sp>
        <p:nvSpPr>
          <p:cNvPr id="1774" name="Google Shape;1774;p51"/>
          <p:cNvSpPr txBox="1"/>
          <p:nvPr/>
        </p:nvSpPr>
        <p:spPr>
          <a:xfrm>
            <a:off x="533400" y="3400773"/>
            <a:ext cx="4038600" cy="2631490"/>
          </a:xfrm>
          <a:prstGeom prst="rect">
            <a:avLst/>
          </a:prstGeom>
          <a:noFill/>
          <a:ln>
            <a:noFill/>
          </a:ln>
        </p:spPr>
        <p:txBody>
          <a:bodyPr anchorCtr="0" anchor="t" bIns="45700" lIns="91425" spcFirstLastPara="1" rIns="91425" wrap="square" tIns="45700">
            <a:spAutoFit/>
          </a:bodyPr>
          <a:lstStyle/>
          <a:p>
            <a:pPr indent="-457200" lvl="0" marL="676275" marR="0" rtl="0" algn="l">
              <a:lnSpc>
                <a:spcPct val="125000"/>
              </a:lnSpc>
              <a:spcBef>
                <a:spcPts val="0"/>
              </a:spcBef>
              <a:spcAft>
                <a:spcPts val="0"/>
              </a:spcAft>
              <a:buClr>
                <a:srgbClr val="800000"/>
              </a:buClr>
              <a:buSzPts val="1760"/>
              <a:buFont typeface="Noto Sans Symbols"/>
              <a:buChar char="◆"/>
            </a:pPr>
            <a:r>
              <a:rPr b="0" lang="en-US" sz="2200">
                <a:solidFill>
                  <a:schemeClr val="dk1"/>
                </a:solidFill>
                <a:latin typeface="Arial"/>
                <a:ea typeface="Arial"/>
                <a:cs typeface="Arial"/>
                <a:sym typeface="Arial"/>
              </a:rPr>
              <a:t>Does not include investment and withdrawal transactions between the owner and the business in measuring net income.</a:t>
            </a:r>
            <a:endParaRPr b="0" sz="2200">
              <a:solidFill>
                <a:schemeClr val="dk1"/>
              </a:solidFill>
              <a:latin typeface="Arial"/>
              <a:ea typeface="Arial"/>
              <a:cs typeface="Arial"/>
              <a:sym typeface="Arial"/>
            </a:endParaRPr>
          </a:p>
        </p:txBody>
      </p:sp>
    </p:spTree>
  </p:cSld>
  <p:clrMapOvr>
    <a:masterClrMapping/>
  </p:clrMapOvr>
  <p:transition>
    <p:wipe dir="r"/>
  </p:transition>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8" name="Shape 1778"/>
        <p:cNvGrpSpPr/>
        <p:nvPr/>
      </p:nvGrpSpPr>
      <p:grpSpPr>
        <a:xfrm>
          <a:off x="0" y="0"/>
          <a:ext cx="0" cy="0"/>
          <a:chOff x="0" y="0"/>
          <a:chExt cx="0" cy="0"/>
        </a:xfrm>
      </p:grpSpPr>
      <p:sp>
        <p:nvSpPr>
          <p:cNvPr id="1779" name="Google Shape;1779;p52"/>
          <p:cNvSpPr txBox="1"/>
          <p:nvPr/>
        </p:nvSpPr>
        <p:spPr>
          <a:xfrm>
            <a:off x="533400" y="1295400"/>
            <a:ext cx="7848600" cy="1938992"/>
          </a:xfrm>
          <a:prstGeom prst="rect">
            <a:avLst/>
          </a:prstGeom>
          <a:noFill/>
          <a:ln>
            <a:noFill/>
          </a:ln>
        </p:spPr>
        <p:txBody>
          <a:bodyPr anchorCtr="0" anchor="t" bIns="45700" lIns="91425" spcFirstLastPara="1" rIns="91425" wrap="square" tIns="45700">
            <a:spAutoFit/>
          </a:bodyPr>
          <a:lstStyle/>
          <a:p>
            <a:pPr indent="-457200" lvl="0" marL="676275" marR="0" rtl="0" algn="l">
              <a:lnSpc>
                <a:spcPct val="125000"/>
              </a:lnSpc>
              <a:spcBef>
                <a:spcPts val="0"/>
              </a:spcBef>
              <a:spcAft>
                <a:spcPts val="0"/>
              </a:spcAft>
              <a:buClr>
                <a:srgbClr val="800000"/>
              </a:buClr>
              <a:buSzPts val="1760"/>
              <a:buFont typeface="Noto Sans Symbols"/>
              <a:buChar char="◆"/>
            </a:pPr>
            <a:r>
              <a:rPr b="0" lang="en-US" sz="2200">
                <a:solidFill>
                  <a:schemeClr val="dk1"/>
                </a:solidFill>
                <a:latin typeface="Arial"/>
                <a:ea typeface="Arial"/>
                <a:cs typeface="Arial"/>
                <a:sym typeface="Arial"/>
              </a:rPr>
              <a:t>Reports the changes in owner’s equity for a specific period of time. </a:t>
            </a:r>
            <a:endParaRPr/>
          </a:p>
          <a:p>
            <a:pPr indent="-457200" lvl="0" marL="676275" marR="0" rtl="0" algn="l">
              <a:lnSpc>
                <a:spcPct val="125000"/>
              </a:lnSpc>
              <a:spcBef>
                <a:spcPts val="1200"/>
              </a:spcBef>
              <a:spcAft>
                <a:spcPts val="0"/>
              </a:spcAft>
              <a:buClr>
                <a:srgbClr val="800000"/>
              </a:buClr>
              <a:buSzPts val="1760"/>
              <a:buFont typeface="Noto Sans Symbols"/>
              <a:buChar char="◆"/>
            </a:pPr>
            <a:r>
              <a:rPr b="0" lang="en-US" sz="2200">
                <a:solidFill>
                  <a:schemeClr val="dk1"/>
                </a:solidFill>
                <a:latin typeface="Arial"/>
                <a:ea typeface="Arial"/>
                <a:cs typeface="Arial"/>
                <a:sym typeface="Arial"/>
              </a:rPr>
              <a:t>The time period is the same as that covered by the income statement.</a:t>
            </a:r>
            <a:endParaRPr/>
          </a:p>
        </p:txBody>
      </p:sp>
      <p:cxnSp>
        <p:nvCxnSpPr>
          <p:cNvPr id="1780" name="Google Shape;1780;p52"/>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781" name="Google Shape;1781;p52"/>
          <p:cNvSpPr/>
          <p:nvPr/>
        </p:nvSpPr>
        <p:spPr>
          <a:xfrm>
            <a:off x="533400" y="304800"/>
            <a:ext cx="80772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Owner’s Equity Statement</a:t>
            </a:r>
            <a:endParaRPr b="1" sz="3200">
              <a:solidFill>
                <a:srgbClr val="0000BF"/>
              </a:solidFill>
              <a:latin typeface="Arial"/>
              <a:ea typeface="Arial"/>
              <a:cs typeface="Arial"/>
              <a:sym typeface="Arial"/>
            </a:endParaRPr>
          </a:p>
        </p:txBody>
      </p:sp>
      <p:sp>
        <p:nvSpPr>
          <p:cNvPr id="1782" name="Google Shape;1782;p52"/>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5 </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6" name="Shape 1786"/>
        <p:cNvGrpSpPr/>
        <p:nvPr/>
      </p:nvGrpSpPr>
      <p:grpSpPr>
        <a:xfrm>
          <a:off x="0" y="0"/>
          <a:ext cx="0" cy="0"/>
          <a:chOff x="0" y="0"/>
          <a:chExt cx="0" cy="0"/>
        </a:xfrm>
      </p:grpSpPr>
      <p:sp>
        <p:nvSpPr>
          <p:cNvPr id="1787" name="Google Shape;1787;p53"/>
          <p:cNvSpPr txBox="1"/>
          <p:nvPr/>
        </p:nvSpPr>
        <p:spPr>
          <a:xfrm>
            <a:off x="533400" y="1295400"/>
            <a:ext cx="7848600" cy="4362733"/>
          </a:xfrm>
          <a:prstGeom prst="rect">
            <a:avLst/>
          </a:prstGeom>
          <a:noFill/>
          <a:ln>
            <a:noFill/>
          </a:ln>
        </p:spPr>
        <p:txBody>
          <a:bodyPr anchorCtr="0" anchor="t" bIns="45700" lIns="91425" spcFirstLastPara="1" rIns="91425" wrap="square" tIns="45700">
            <a:spAutoFit/>
          </a:bodyPr>
          <a:lstStyle/>
          <a:p>
            <a:pPr indent="-457200" lvl="0" marL="676275" marR="0" rtl="0" algn="l">
              <a:lnSpc>
                <a:spcPct val="125000"/>
              </a:lnSpc>
              <a:spcBef>
                <a:spcPts val="0"/>
              </a:spcBef>
              <a:spcAft>
                <a:spcPts val="0"/>
              </a:spcAft>
              <a:buClr>
                <a:srgbClr val="800000"/>
              </a:buClr>
              <a:buSzPts val="1760"/>
              <a:buFont typeface="Noto Sans Symbols"/>
              <a:buChar char="◆"/>
            </a:pPr>
            <a:r>
              <a:rPr b="0" lang="en-US" sz="2200">
                <a:solidFill>
                  <a:schemeClr val="dk1"/>
                </a:solidFill>
                <a:latin typeface="Arial"/>
                <a:ea typeface="Arial"/>
                <a:cs typeface="Arial"/>
                <a:sym typeface="Arial"/>
              </a:rPr>
              <a:t>Reports the assets, liabilities, and owner's equity at a specific date.</a:t>
            </a:r>
            <a:endParaRPr/>
          </a:p>
          <a:p>
            <a:pPr indent="-457200" lvl="0" marL="676275" marR="0" rtl="0" algn="l">
              <a:lnSpc>
                <a:spcPct val="125000"/>
              </a:lnSpc>
              <a:spcBef>
                <a:spcPts val="1200"/>
              </a:spcBef>
              <a:spcAft>
                <a:spcPts val="0"/>
              </a:spcAft>
              <a:buClr>
                <a:srgbClr val="800000"/>
              </a:buClr>
              <a:buSzPts val="1760"/>
              <a:buFont typeface="Noto Sans Symbols"/>
              <a:buChar char="◆"/>
            </a:pPr>
            <a:r>
              <a:rPr b="0" lang="en-US" sz="2200">
                <a:solidFill>
                  <a:schemeClr val="dk1"/>
                </a:solidFill>
                <a:latin typeface="Arial"/>
                <a:ea typeface="Arial"/>
                <a:cs typeface="Arial"/>
                <a:sym typeface="Arial"/>
              </a:rPr>
              <a:t>Lists assets at the top, followed by liabilities and owner’s equity. </a:t>
            </a:r>
            <a:endParaRPr/>
          </a:p>
          <a:p>
            <a:pPr indent="-457200" lvl="0" marL="676275" marR="0" rtl="0" algn="l">
              <a:lnSpc>
                <a:spcPct val="125000"/>
              </a:lnSpc>
              <a:spcBef>
                <a:spcPts val="1200"/>
              </a:spcBef>
              <a:spcAft>
                <a:spcPts val="0"/>
              </a:spcAft>
              <a:buClr>
                <a:srgbClr val="800000"/>
              </a:buClr>
              <a:buSzPts val="1760"/>
              <a:buFont typeface="Noto Sans Symbols"/>
              <a:buChar char="◆"/>
            </a:pPr>
            <a:r>
              <a:rPr b="0" lang="en-US" sz="2200">
                <a:solidFill>
                  <a:schemeClr val="dk1"/>
                </a:solidFill>
                <a:latin typeface="Arial"/>
                <a:ea typeface="Arial"/>
                <a:cs typeface="Arial"/>
                <a:sym typeface="Arial"/>
              </a:rPr>
              <a:t>Total assets must equal total liabilities and owner's equity.</a:t>
            </a:r>
            <a:endParaRPr/>
          </a:p>
          <a:p>
            <a:pPr indent="-457200" lvl="0" marL="676275" marR="0" rtl="0" algn="l">
              <a:lnSpc>
                <a:spcPct val="125000"/>
              </a:lnSpc>
              <a:spcBef>
                <a:spcPts val="1200"/>
              </a:spcBef>
              <a:spcAft>
                <a:spcPts val="0"/>
              </a:spcAft>
              <a:buClr>
                <a:srgbClr val="800000"/>
              </a:buClr>
              <a:buSzPts val="1760"/>
              <a:buFont typeface="Noto Sans Symbols"/>
              <a:buChar char="◆"/>
            </a:pPr>
            <a:r>
              <a:rPr b="0" lang="en-US" sz="2200">
                <a:solidFill>
                  <a:schemeClr val="dk1"/>
                </a:solidFill>
                <a:latin typeface="Arial"/>
                <a:ea typeface="Arial"/>
                <a:cs typeface="Arial"/>
                <a:sym typeface="Arial"/>
              </a:rPr>
              <a:t>Is a snapshot of the company’s financial condition at a specific moment in time (usually the month-end or year-end).</a:t>
            </a:r>
            <a:endParaRPr/>
          </a:p>
        </p:txBody>
      </p:sp>
      <p:cxnSp>
        <p:nvCxnSpPr>
          <p:cNvPr id="1788" name="Google Shape;1788;p53"/>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789" name="Google Shape;1789;p53"/>
          <p:cNvSpPr/>
          <p:nvPr/>
        </p:nvSpPr>
        <p:spPr>
          <a:xfrm>
            <a:off x="533400" y="304800"/>
            <a:ext cx="80772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Balance Sheet</a:t>
            </a:r>
            <a:endParaRPr b="1" sz="3200">
              <a:solidFill>
                <a:srgbClr val="0000BF"/>
              </a:solidFill>
              <a:latin typeface="Arial"/>
              <a:ea typeface="Arial"/>
              <a:cs typeface="Arial"/>
              <a:sym typeface="Arial"/>
            </a:endParaRPr>
          </a:p>
        </p:txBody>
      </p:sp>
      <p:sp>
        <p:nvSpPr>
          <p:cNvPr id="1790" name="Google Shape;1790;p53"/>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5 </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4" name="Shape 1794"/>
        <p:cNvGrpSpPr/>
        <p:nvPr/>
      </p:nvGrpSpPr>
      <p:grpSpPr>
        <a:xfrm>
          <a:off x="0" y="0"/>
          <a:ext cx="0" cy="0"/>
          <a:chOff x="0" y="0"/>
          <a:chExt cx="0" cy="0"/>
        </a:xfrm>
      </p:grpSpPr>
      <p:sp>
        <p:nvSpPr>
          <p:cNvPr id="1795" name="Google Shape;1795;p54"/>
          <p:cNvSpPr txBox="1"/>
          <p:nvPr/>
        </p:nvSpPr>
        <p:spPr>
          <a:xfrm>
            <a:off x="533400" y="1295400"/>
            <a:ext cx="7848600" cy="3593291"/>
          </a:xfrm>
          <a:prstGeom prst="rect">
            <a:avLst/>
          </a:prstGeom>
          <a:noFill/>
          <a:ln>
            <a:noFill/>
          </a:ln>
        </p:spPr>
        <p:txBody>
          <a:bodyPr anchorCtr="0" anchor="t" bIns="45700" lIns="91425" spcFirstLastPara="1" rIns="91425" wrap="square" tIns="45700">
            <a:spAutoFit/>
          </a:bodyPr>
          <a:lstStyle/>
          <a:p>
            <a:pPr indent="-457200" lvl="0" marL="676275" marR="0" rtl="0" algn="l">
              <a:lnSpc>
                <a:spcPct val="125000"/>
              </a:lnSpc>
              <a:spcBef>
                <a:spcPts val="0"/>
              </a:spcBef>
              <a:spcAft>
                <a:spcPts val="0"/>
              </a:spcAft>
              <a:buClr>
                <a:srgbClr val="800000"/>
              </a:buClr>
              <a:buSzPts val="1760"/>
              <a:buFont typeface="Noto Sans Symbols"/>
              <a:buChar char="◆"/>
            </a:pPr>
            <a:r>
              <a:rPr b="0" lang="en-US" sz="2200">
                <a:solidFill>
                  <a:schemeClr val="dk1"/>
                </a:solidFill>
                <a:latin typeface="Arial"/>
                <a:ea typeface="Arial"/>
                <a:cs typeface="Arial"/>
                <a:sym typeface="Arial"/>
              </a:rPr>
              <a:t>Information on the cash receipts and payments for a specific period of time.</a:t>
            </a:r>
            <a:endParaRPr/>
          </a:p>
          <a:p>
            <a:pPr indent="-457200" lvl="0" marL="676275" marR="0" rtl="0" algn="l">
              <a:lnSpc>
                <a:spcPct val="125000"/>
              </a:lnSpc>
              <a:spcBef>
                <a:spcPts val="1200"/>
              </a:spcBef>
              <a:spcAft>
                <a:spcPts val="0"/>
              </a:spcAft>
              <a:buClr>
                <a:srgbClr val="800000"/>
              </a:buClr>
              <a:buSzPts val="1760"/>
              <a:buFont typeface="Noto Sans Symbols"/>
              <a:buChar char="◆"/>
            </a:pPr>
            <a:r>
              <a:rPr b="0" lang="en-US" sz="2200">
                <a:solidFill>
                  <a:schemeClr val="dk1"/>
                </a:solidFill>
                <a:latin typeface="Arial"/>
                <a:ea typeface="Arial"/>
                <a:cs typeface="Arial"/>
                <a:sym typeface="Arial"/>
              </a:rPr>
              <a:t>Answers the following:</a:t>
            </a:r>
            <a:endParaRPr/>
          </a:p>
          <a:p>
            <a:pPr indent="-457200" lvl="1" marL="1377950" marR="0" rtl="0" algn="l">
              <a:lnSpc>
                <a:spcPct val="125000"/>
              </a:lnSpc>
              <a:spcBef>
                <a:spcPts val="1200"/>
              </a:spcBef>
              <a:spcAft>
                <a:spcPts val="0"/>
              </a:spcAft>
              <a:buClr>
                <a:srgbClr val="730000"/>
              </a:buClr>
              <a:buSzPts val="1680"/>
              <a:buFont typeface="Arial"/>
              <a:buChar char="►"/>
            </a:pPr>
            <a:r>
              <a:rPr b="0" i="0" lang="en-US" sz="2100" u="none" cap="none" strike="noStrike">
                <a:solidFill>
                  <a:schemeClr val="dk1"/>
                </a:solidFill>
                <a:latin typeface="Arial"/>
                <a:ea typeface="Arial"/>
                <a:cs typeface="Arial"/>
                <a:sym typeface="Arial"/>
              </a:rPr>
              <a:t>Where did cash come from?</a:t>
            </a:r>
            <a:endParaRPr/>
          </a:p>
          <a:p>
            <a:pPr indent="-457200" lvl="1" marL="1377950" marR="0" rtl="0" algn="l">
              <a:lnSpc>
                <a:spcPct val="125000"/>
              </a:lnSpc>
              <a:spcBef>
                <a:spcPts val="1200"/>
              </a:spcBef>
              <a:spcAft>
                <a:spcPts val="0"/>
              </a:spcAft>
              <a:buClr>
                <a:srgbClr val="730000"/>
              </a:buClr>
              <a:buSzPts val="1680"/>
              <a:buFont typeface="Arial"/>
              <a:buChar char="►"/>
            </a:pPr>
            <a:r>
              <a:rPr b="0" i="0" lang="en-US" sz="2100" u="none" cap="none" strike="noStrike">
                <a:solidFill>
                  <a:schemeClr val="dk1"/>
                </a:solidFill>
                <a:latin typeface="Arial"/>
                <a:ea typeface="Arial"/>
                <a:cs typeface="Arial"/>
                <a:sym typeface="Arial"/>
              </a:rPr>
              <a:t>What was cash used for?</a:t>
            </a:r>
            <a:endParaRPr/>
          </a:p>
          <a:p>
            <a:pPr indent="-457200" lvl="1" marL="1377950" marR="0" rtl="0" algn="l">
              <a:lnSpc>
                <a:spcPct val="125000"/>
              </a:lnSpc>
              <a:spcBef>
                <a:spcPts val="1200"/>
              </a:spcBef>
              <a:spcAft>
                <a:spcPts val="0"/>
              </a:spcAft>
              <a:buClr>
                <a:srgbClr val="730000"/>
              </a:buClr>
              <a:buSzPts val="1680"/>
              <a:buFont typeface="Arial"/>
              <a:buChar char="►"/>
            </a:pPr>
            <a:r>
              <a:rPr b="0" i="0" lang="en-US" sz="2100" u="none" cap="none" strike="noStrike">
                <a:solidFill>
                  <a:schemeClr val="dk1"/>
                </a:solidFill>
                <a:latin typeface="Arial"/>
                <a:ea typeface="Arial"/>
                <a:cs typeface="Arial"/>
                <a:sym typeface="Arial"/>
              </a:rPr>
              <a:t>What was the change in the </a:t>
            </a:r>
            <a:endParaRPr/>
          </a:p>
          <a:p>
            <a:pPr indent="0" lvl="1" marL="1371600" marR="0" rtl="0" algn="l">
              <a:lnSpc>
                <a:spcPct val="125000"/>
              </a:lnSpc>
              <a:spcBef>
                <a:spcPts val="0"/>
              </a:spcBef>
              <a:spcAft>
                <a:spcPts val="0"/>
              </a:spcAft>
              <a:buClr>
                <a:srgbClr val="730000"/>
              </a:buClr>
              <a:buSzPts val="1680"/>
              <a:buFont typeface="Noto Sans Symbols"/>
              <a:buNone/>
            </a:pPr>
            <a:r>
              <a:rPr b="0" i="0" lang="en-US" sz="2100" u="none" cap="none" strike="noStrike">
                <a:solidFill>
                  <a:schemeClr val="dk1"/>
                </a:solidFill>
                <a:latin typeface="Arial"/>
                <a:ea typeface="Arial"/>
                <a:cs typeface="Arial"/>
                <a:sym typeface="Arial"/>
              </a:rPr>
              <a:t>cash balance?</a:t>
            </a:r>
            <a:endParaRPr b="0" i="0" sz="2100" u="none" cap="none" strike="noStrike">
              <a:solidFill>
                <a:schemeClr val="dk1"/>
              </a:solidFill>
              <a:latin typeface="Arial"/>
              <a:ea typeface="Arial"/>
              <a:cs typeface="Arial"/>
              <a:sym typeface="Arial"/>
            </a:endParaRPr>
          </a:p>
        </p:txBody>
      </p:sp>
      <p:cxnSp>
        <p:nvCxnSpPr>
          <p:cNvPr id="1796" name="Google Shape;1796;p54"/>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797" name="Google Shape;1797;p54"/>
          <p:cNvSpPr/>
          <p:nvPr/>
        </p:nvSpPr>
        <p:spPr>
          <a:xfrm>
            <a:off x="533400" y="304800"/>
            <a:ext cx="80772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Statement of Cash Flows</a:t>
            </a:r>
            <a:endParaRPr b="1" sz="3200">
              <a:solidFill>
                <a:srgbClr val="0000BF"/>
              </a:solidFill>
              <a:latin typeface="Arial"/>
              <a:ea typeface="Arial"/>
              <a:cs typeface="Arial"/>
              <a:sym typeface="Arial"/>
            </a:endParaRPr>
          </a:p>
        </p:txBody>
      </p:sp>
      <p:sp>
        <p:nvSpPr>
          <p:cNvPr id="1798" name="Google Shape;1798;p54"/>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5 </a:t>
            </a:r>
            <a:endParaRPr b="1" i="1" sz="1600">
              <a:solidFill>
                <a:schemeClr val="lt2"/>
              </a:solidFill>
              <a:latin typeface="Arial"/>
              <a:ea typeface="Arial"/>
              <a:cs typeface="Arial"/>
              <a:sym typeface="Arial"/>
            </a:endParaRPr>
          </a:p>
        </p:txBody>
      </p:sp>
    </p:spTree>
  </p:cSld>
  <p:clrMapOvr>
    <a:masterClrMapping/>
  </p:clrMapOvr>
  <p:transition>
    <p:wipe dir="r"/>
  </p:transition>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2" name="Shape 1802"/>
        <p:cNvGrpSpPr/>
        <p:nvPr/>
      </p:nvGrpSpPr>
      <p:grpSpPr>
        <a:xfrm>
          <a:off x="0" y="0"/>
          <a:ext cx="0" cy="0"/>
          <a:chOff x="0" y="0"/>
          <a:chExt cx="0" cy="0"/>
        </a:xfrm>
      </p:grpSpPr>
      <p:sp>
        <p:nvSpPr>
          <p:cNvPr id="1803" name="Google Shape;1803;p55"/>
          <p:cNvSpPr/>
          <p:nvPr/>
        </p:nvSpPr>
        <p:spPr>
          <a:xfrm>
            <a:off x="501650" y="1905000"/>
            <a:ext cx="8001000" cy="3276600"/>
          </a:xfrm>
          <a:prstGeom prst="rect">
            <a:avLst/>
          </a:prstGeom>
          <a:solidFill>
            <a:schemeClr val="lt1"/>
          </a:solidFill>
          <a:ln>
            <a:noFill/>
          </a:ln>
        </p:spPr>
        <p:txBody>
          <a:bodyPr anchorCtr="0" anchor="t" bIns="46025" lIns="182550" spcFirstLastPara="1" rIns="182550" wrap="square" tIns="46025">
            <a:noAutofit/>
          </a:bodyPr>
          <a:lstStyle/>
          <a:p>
            <a:pPr indent="0" lvl="0" marL="0" marR="0" rtl="0" algn="l">
              <a:lnSpc>
                <a:spcPct val="120000"/>
              </a:lnSpc>
              <a:spcBef>
                <a:spcPts val="0"/>
              </a:spcBef>
              <a:spcAft>
                <a:spcPts val="0"/>
              </a:spcAft>
              <a:buClr>
                <a:schemeClr val="dk1"/>
              </a:buClr>
              <a:buSzPts val="2300"/>
              <a:buFont typeface="Noto Sans Symbols"/>
              <a:buNone/>
            </a:pPr>
            <a:r>
              <a:rPr b="0" lang="en-US" sz="2300">
                <a:solidFill>
                  <a:schemeClr val="dk1"/>
                </a:solidFill>
                <a:latin typeface="Arial"/>
                <a:ea typeface="Arial"/>
                <a:cs typeface="Arial"/>
                <a:sym typeface="Arial"/>
              </a:rPr>
              <a:t>Which of the following financial statements is prepared as of a specific date?  </a:t>
            </a:r>
            <a:endParaRPr/>
          </a:p>
          <a:p>
            <a:pPr indent="-455613" lvl="1" marL="685800" marR="0" rtl="0" algn="l">
              <a:lnSpc>
                <a:spcPct val="120000"/>
              </a:lnSpc>
              <a:spcBef>
                <a:spcPts val="1150"/>
              </a:spcBef>
              <a:spcAft>
                <a:spcPts val="0"/>
              </a:spcAft>
              <a:buClr>
                <a:schemeClr val="dk1"/>
              </a:buClr>
              <a:buSzPts val="2300"/>
              <a:buFont typeface="Noto Sans Symbols"/>
              <a:buAutoNum type="alphaLcPeriod"/>
            </a:pPr>
            <a:r>
              <a:rPr b="0" i="0" lang="en-US" sz="2300" u="none" cap="none" strike="noStrike">
                <a:solidFill>
                  <a:schemeClr val="dk1"/>
                </a:solidFill>
                <a:latin typeface="Arial"/>
                <a:ea typeface="Arial"/>
                <a:cs typeface="Arial"/>
                <a:sym typeface="Arial"/>
              </a:rPr>
              <a:t>Balance sheet. </a:t>
            </a:r>
            <a:endParaRPr/>
          </a:p>
          <a:p>
            <a:pPr indent="-455613" lvl="1" marL="685800" marR="0" rtl="0" algn="l">
              <a:lnSpc>
                <a:spcPct val="120000"/>
              </a:lnSpc>
              <a:spcBef>
                <a:spcPts val="1150"/>
              </a:spcBef>
              <a:spcAft>
                <a:spcPts val="0"/>
              </a:spcAft>
              <a:buClr>
                <a:schemeClr val="dk1"/>
              </a:buClr>
              <a:buSzPts val="2300"/>
              <a:buFont typeface="Noto Sans Symbols"/>
              <a:buAutoNum type="alphaLcPeriod"/>
            </a:pPr>
            <a:r>
              <a:rPr b="0" i="0" lang="en-US" sz="2300" u="none" cap="none" strike="noStrike">
                <a:solidFill>
                  <a:schemeClr val="dk1"/>
                </a:solidFill>
                <a:latin typeface="Arial"/>
                <a:ea typeface="Arial"/>
                <a:cs typeface="Arial"/>
                <a:sym typeface="Arial"/>
              </a:rPr>
              <a:t>Income statement. </a:t>
            </a:r>
            <a:endParaRPr/>
          </a:p>
          <a:p>
            <a:pPr indent="-455613" lvl="1" marL="685800" marR="0" rtl="0" algn="l">
              <a:lnSpc>
                <a:spcPct val="120000"/>
              </a:lnSpc>
              <a:spcBef>
                <a:spcPts val="1150"/>
              </a:spcBef>
              <a:spcAft>
                <a:spcPts val="0"/>
              </a:spcAft>
              <a:buClr>
                <a:schemeClr val="dk1"/>
              </a:buClr>
              <a:buSzPts val="2300"/>
              <a:buFont typeface="Noto Sans Symbols"/>
              <a:buAutoNum type="alphaLcPeriod"/>
            </a:pPr>
            <a:r>
              <a:rPr b="0" i="0" lang="en-US" sz="2300" u="none" cap="none" strike="noStrike">
                <a:solidFill>
                  <a:schemeClr val="dk1"/>
                </a:solidFill>
                <a:latin typeface="Arial"/>
                <a:ea typeface="Arial"/>
                <a:cs typeface="Arial"/>
                <a:sym typeface="Arial"/>
              </a:rPr>
              <a:t>Owner's equity statement. </a:t>
            </a:r>
            <a:endParaRPr/>
          </a:p>
          <a:p>
            <a:pPr indent="-455613" lvl="1" marL="685800" marR="0" rtl="0" algn="l">
              <a:lnSpc>
                <a:spcPct val="120000"/>
              </a:lnSpc>
              <a:spcBef>
                <a:spcPts val="1150"/>
              </a:spcBef>
              <a:spcAft>
                <a:spcPts val="0"/>
              </a:spcAft>
              <a:buClr>
                <a:schemeClr val="dk1"/>
              </a:buClr>
              <a:buSzPts val="2300"/>
              <a:buFont typeface="Noto Sans Symbols"/>
              <a:buAutoNum type="alphaLcPeriod"/>
            </a:pPr>
            <a:r>
              <a:rPr b="0" i="0" lang="en-US" sz="2300" u="none" cap="none" strike="noStrike">
                <a:solidFill>
                  <a:schemeClr val="dk1"/>
                </a:solidFill>
                <a:latin typeface="Arial"/>
                <a:ea typeface="Arial"/>
                <a:cs typeface="Arial"/>
                <a:sym typeface="Arial"/>
              </a:rPr>
              <a:t>Statement of cash flows.</a:t>
            </a:r>
            <a:endParaRPr/>
          </a:p>
        </p:txBody>
      </p:sp>
      <p:cxnSp>
        <p:nvCxnSpPr>
          <p:cNvPr id="1804" name="Google Shape;1804;p55"/>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805" name="Google Shape;1805;p55"/>
          <p:cNvSpPr/>
          <p:nvPr/>
        </p:nvSpPr>
        <p:spPr>
          <a:xfrm>
            <a:off x="533400" y="304800"/>
            <a:ext cx="80772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Financial Statements</a:t>
            </a:r>
            <a:endParaRPr/>
          </a:p>
        </p:txBody>
      </p:sp>
      <p:sp>
        <p:nvSpPr>
          <p:cNvPr id="1806" name="Google Shape;1806;p55"/>
          <p:cNvSpPr/>
          <p:nvPr/>
        </p:nvSpPr>
        <p:spPr>
          <a:xfrm>
            <a:off x="533400" y="1295400"/>
            <a:ext cx="5334000" cy="551433"/>
          </a:xfrm>
          <a:prstGeom prst="rect">
            <a:avLst/>
          </a:prstGeom>
          <a:noFill/>
          <a:ln>
            <a:noFill/>
          </a:ln>
        </p:spPr>
        <p:txBody>
          <a:bodyPr anchorCtr="0" anchor="t" bIns="44450" lIns="90475" spcFirstLastPara="1" rIns="90475" wrap="square" tIns="44450">
            <a:spAutoFit/>
          </a:bodyPr>
          <a:lstStyle/>
          <a:p>
            <a:pPr indent="0" lvl="0" marL="0" marR="0" rtl="0" algn="l">
              <a:spcBef>
                <a:spcPts val="0"/>
              </a:spcBef>
              <a:spcAft>
                <a:spcPts val="0"/>
              </a:spcAft>
              <a:buNone/>
            </a:pPr>
            <a:r>
              <a:rPr b="1" lang="en-US" sz="3000">
                <a:solidFill>
                  <a:schemeClr val="dk1"/>
                </a:solidFill>
                <a:latin typeface="Arial"/>
                <a:ea typeface="Arial"/>
                <a:cs typeface="Arial"/>
                <a:sym typeface="Arial"/>
              </a:rPr>
              <a:t>Question</a:t>
            </a:r>
            <a:endParaRPr/>
          </a:p>
        </p:txBody>
      </p:sp>
      <p:sp>
        <p:nvSpPr>
          <p:cNvPr id="1807" name="Google Shape;1807;p55"/>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5 </a:t>
            </a:r>
            <a:endParaRPr b="1" i="1" sz="1600">
              <a:solidFill>
                <a:schemeClr val="lt2"/>
              </a:solidFill>
              <a:latin typeface="Arial"/>
              <a:ea typeface="Arial"/>
              <a:cs typeface="Arial"/>
              <a:sym typeface="Arial"/>
            </a:endParaRPr>
          </a:p>
        </p:txBody>
      </p:sp>
      <p:sp>
        <p:nvSpPr>
          <p:cNvPr id="1808" name="Google Shape;1808;p55"/>
          <p:cNvSpPr/>
          <p:nvPr/>
        </p:nvSpPr>
        <p:spPr>
          <a:xfrm>
            <a:off x="152400" y="2971800"/>
            <a:ext cx="609600" cy="457200"/>
          </a:xfrm>
          <a:prstGeom prst="notchedRightArrow">
            <a:avLst>
              <a:gd fmla="val 50000" name="adj1"/>
              <a:gd fmla="val 50000" name="adj2"/>
            </a:avLst>
          </a:prstGeom>
          <a:solidFill>
            <a:srgbClr val="0000BF"/>
          </a:solidFill>
          <a:ln cap="sq"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8"/>
                                        </p:tgtEl>
                                        <p:attrNameLst>
                                          <p:attrName>style.visibility</p:attrName>
                                        </p:attrNameLst>
                                      </p:cBhvr>
                                      <p:to>
                                        <p:strVal val="visible"/>
                                      </p:to>
                                    </p:set>
                                    <p:animEffect filter="fade" transition="in">
                                      <p:cBhvr>
                                        <p:cTn dur="500"/>
                                        <p:tgtEl>
                                          <p:spTgt spid="18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2" name="Shape 1812"/>
        <p:cNvGrpSpPr/>
        <p:nvPr/>
      </p:nvGrpSpPr>
      <p:grpSpPr>
        <a:xfrm>
          <a:off x="0" y="0"/>
          <a:ext cx="0" cy="0"/>
          <a:chOff x="0" y="0"/>
          <a:chExt cx="0" cy="0"/>
        </a:xfrm>
      </p:grpSpPr>
      <p:sp>
        <p:nvSpPr>
          <p:cNvPr id="1813" name="Google Shape;1813;p56"/>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5 </a:t>
            </a:r>
            <a:endParaRPr b="1" i="1" sz="1600">
              <a:solidFill>
                <a:schemeClr val="lt2"/>
              </a:solidFill>
              <a:latin typeface="Arial"/>
              <a:ea typeface="Arial"/>
              <a:cs typeface="Arial"/>
              <a:sym typeface="Arial"/>
            </a:endParaRPr>
          </a:p>
        </p:txBody>
      </p:sp>
      <p:pic>
        <p:nvPicPr>
          <p:cNvPr id="1814" name="Google Shape;1814;p56"/>
          <p:cNvPicPr preferRelativeResize="0"/>
          <p:nvPr/>
        </p:nvPicPr>
        <p:blipFill rotWithShape="1">
          <a:blip r:embed="rId3">
            <a:alphaModFix/>
          </a:blip>
          <a:srcRect b="0" l="0" r="0" t="0"/>
          <a:stretch/>
        </p:blipFill>
        <p:spPr>
          <a:xfrm>
            <a:off x="381000" y="833439"/>
            <a:ext cx="8382000" cy="3772246"/>
          </a:xfrm>
          <a:prstGeom prst="rect">
            <a:avLst/>
          </a:prstGeom>
          <a:noFill/>
          <a:ln>
            <a:noFill/>
          </a:ln>
        </p:spPr>
      </p:pic>
    </p:spTree>
  </p:cSld>
  <p:clrMapOvr>
    <a:masterClrMapping/>
  </p:clrMapOvr>
  <p:transition>
    <p:wipe dir="r"/>
  </p:transition>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8" name="Shape 1818"/>
        <p:cNvGrpSpPr/>
        <p:nvPr/>
      </p:nvGrpSpPr>
      <p:grpSpPr>
        <a:xfrm>
          <a:off x="0" y="0"/>
          <a:ext cx="0" cy="0"/>
          <a:chOff x="0" y="0"/>
          <a:chExt cx="0" cy="0"/>
        </a:xfrm>
      </p:grpSpPr>
      <p:pic>
        <p:nvPicPr>
          <p:cNvPr id="1819" name="Google Shape;1819;p57"/>
          <p:cNvPicPr preferRelativeResize="0"/>
          <p:nvPr/>
        </p:nvPicPr>
        <p:blipFill rotWithShape="1">
          <a:blip r:embed="rId3">
            <a:alphaModFix/>
          </a:blip>
          <a:srcRect b="0" l="0" r="0" t="0"/>
          <a:stretch/>
        </p:blipFill>
        <p:spPr>
          <a:xfrm>
            <a:off x="2493472" y="459473"/>
            <a:ext cx="409385" cy="344759"/>
          </a:xfrm>
          <a:prstGeom prst="rect">
            <a:avLst/>
          </a:prstGeom>
          <a:noFill/>
          <a:ln>
            <a:noFill/>
          </a:ln>
        </p:spPr>
      </p:pic>
      <p:pic>
        <p:nvPicPr>
          <p:cNvPr id="1820" name="Google Shape;1820;p57"/>
          <p:cNvPicPr preferRelativeResize="0"/>
          <p:nvPr/>
        </p:nvPicPr>
        <p:blipFill rotWithShape="1">
          <a:blip r:embed="rId3">
            <a:alphaModFix/>
          </a:blip>
          <a:srcRect b="0" l="0" r="0" t="0"/>
          <a:stretch/>
        </p:blipFill>
        <p:spPr>
          <a:xfrm>
            <a:off x="2493472" y="459473"/>
            <a:ext cx="409385" cy="344759"/>
          </a:xfrm>
          <a:prstGeom prst="rect">
            <a:avLst/>
          </a:prstGeom>
          <a:noFill/>
          <a:ln>
            <a:noFill/>
          </a:ln>
        </p:spPr>
      </p:pic>
      <p:sp>
        <p:nvSpPr>
          <p:cNvPr id="1821" name="Google Shape;1821;p57"/>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5 </a:t>
            </a:r>
            <a:endParaRPr b="1" i="1" sz="1600">
              <a:solidFill>
                <a:schemeClr val="lt2"/>
              </a:solidFill>
              <a:latin typeface="Arial"/>
              <a:ea typeface="Arial"/>
              <a:cs typeface="Arial"/>
              <a:sym typeface="Arial"/>
            </a:endParaRPr>
          </a:p>
        </p:txBody>
      </p:sp>
      <p:sp>
        <p:nvSpPr>
          <p:cNvPr id="1822" name="Google Shape;1822;p57"/>
          <p:cNvSpPr txBox="1"/>
          <p:nvPr/>
        </p:nvSpPr>
        <p:spPr>
          <a:xfrm>
            <a:off x="0" y="316596"/>
            <a:ext cx="3276600" cy="691039"/>
          </a:xfrm>
          <a:prstGeom prst="rect">
            <a:avLst/>
          </a:prstGeom>
          <a:solidFill>
            <a:srgbClr val="D8D8D8"/>
          </a:solidFill>
          <a:ln>
            <a:noFill/>
          </a:ln>
        </p:spPr>
        <p:txBody>
          <a:bodyPr anchorCtr="0" anchor="t" bIns="45700" lIns="0" spcFirstLastPara="1" rIns="91425" wrap="square" tIns="0">
            <a:noAutofit/>
          </a:bodyPr>
          <a:lstStyle/>
          <a:p>
            <a:pPr indent="0" lvl="0" marL="519113" marR="0" rtl="0" algn="l">
              <a:spcBef>
                <a:spcPts val="0"/>
              </a:spcBef>
              <a:spcAft>
                <a:spcPts val="0"/>
              </a:spcAft>
              <a:buNone/>
            </a:pPr>
            <a:r>
              <a:rPr b="1" lang="en-US" sz="4200">
                <a:solidFill>
                  <a:srgbClr val="FF9900"/>
                </a:solidFill>
                <a:latin typeface="Arial"/>
                <a:ea typeface="Arial"/>
                <a:cs typeface="Arial"/>
                <a:sym typeface="Arial"/>
              </a:rPr>
              <a:t>DO IT!</a:t>
            </a:r>
            <a:endParaRPr b="1" sz="4200">
              <a:solidFill>
                <a:srgbClr val="FF9900"/>
              </a:solidFill>
              <a:latin typeface="Arial"/>
              <a:ea typeface="Arial"/>
              <a:cs typeface="Arial"/>
              <a:sym typeface="Arial"/>
            </a:endParaRPr>
          </a:p>
        </p:txBody>
      </p:sp>
      <p:sp>
        <p:nvSpPr>
          <p:cNvPr id="1823" name="Google Shape;1823;p57"/>
          <p:cNvSpPr/>
          <p:nvPr/>
        </p:nvSpPr>
        <p:spPr>
          <a:xfrm>
            <a:off x="2286000" y="316598"/>
            <a:ext cx="762000" cy="691038"/>
          </a:xfrm>
          <a:prstGeom prst="ellipse">
            <a:avLst/>
          </a:prstGeom>
          <a:solidFill>
            <a:schemeClr val="accent3"/>
          </a:solidFill>
          <a:ln cap="sq" cmpd="sng" w="12700">
            <a:solidFill>
              <a:srgbClr val="7F7F7F"/>
            </a:solidFill>
            <a:prstDash val="dash"/>
            <a:round/>
            <a:headEnd len="sm" w="sm" type="none"/>
            <a:tailEnd len="sm" w="sm" type="none"/>
          </a:ln>
        </p:spPr>
        <p:txBody>
          <a:bodyPr anchorCtr="0" anchor="ctr" bIns="45700" lIns="91425" spcFirstLastPara="1" rIns="91425" wrap="square" tIns="0">
            <a:noAutofit/>
          </a:bodyPr>
          <a:lstStyle/>
          <a:p>
            <a:pPr indent="0" lvl="0" marL="0" marR="0" rtl="0" algn="ctr">
              <a:lnSpc>
                <a:spcPct val="100000"/>
              </a:lnSpc>
              <a:spcBef>
                <a:spcPts val="0"/>
              </a:spcBef>
              <a:spcAft>
                <a:spcPts val="0"/>
              </a:spcAft>
              <a:buClr>
                <a:srgbClr val="FF9900"/>
              </a:buClr>
              <a:buSzPts val="3200"/>
              <a:buFont typeface="Arial"/>
              <a:buNone/>
            </a:pPr>
            <a:r>
              <a:rPr b="1" i="0" lang="en-US" sz="3200" u="none" cap="none" strike="noStrike">
                <a:solidFill>
                  <a:srgbClr val="FF9900"/>
                </a:solidFill>
                <a:latin typeface="Arial"/>
                <a:ea typeface="Arial"/>
                <a:cs typeface="Arial"/>
                <a:sym typeface="Arial"/>
              </a:rPr>
              <a:t>5</a:t>
            </a:r>
            <a:endParaRPr/>
          </a:p>
        </p:txBody>
      </p:sp>
      <p:sp>
        <p:nvSpPr>
          <p:cNvPr id="1824" name="Google Shape;1824;p57"/>
          <p:cNvSpPr txBox="1"/>
          <p:nvPr/>
        </p:nvSpPr>
        <p:spPr>
          <a:xfrm>
            <a:off x="3276600" y="389901"/>
            <a:ext cx="5867400" cy="566928"/>
          </a:xfrm>
          <a:prstGeom prst="rect">
            <a:avLst/>
          </a:prstGeom>
          <a:solidFill>
            <a:srgbClr val="0027A4"/>
          </a:solidFill>
          <a:ln>
            <a:noFill/>
          </a:ln>
        </p:spPr>
        <p:txBody>
          <a:bodyPr anchorCtr="0" anchor="t" bIns="43225" lIns="86475" spcFirstLastPara="1" rIns="86475" wrap="square" tIns="43225">
            <a:noAutofit/>
          </a:bodyPr>
          <a:lstStyle/>
          <a:p>
            <a:pPr indent="0" lvl="0" marL="111120" marR="0" rtl="0" algn="l">
              <a:spcBef>
                <a:spcPts val="0"/>
              </a:spcBef>
              <a:spcAft>
                <a:spcPts val="0"/>
              </a:spcAft>
              <a:buNone/>
            </a:pPr>
            <a:r>
              <a:rPr b="1" lang="en-US" sz="2800">
                <a:solidFill>
                  <a:schemeClr val="lt1"/>
                </a:solidFill>
                <a:latin typeface="Arial"/>
                <a:ea typeface="Arial"/>
                <a:cs typeface="Arial"/>
                <a:sym typeface="Arial"/>
              </a:rPr>
              <a:t>Financial Statement Items</a:t>
            </a:r>
            <a:endParaRPr b="1" sz="2800">
              <a:solidFill>
                <a:schemeClr val="lt1"/>
              </a:solidFill>
              <a:latin typeface="Arial"/>
              <a:ea typeface="Arial"/>
              <a:cs typeface="Arial"/>
              <a:sym typeface="Arial"/>
            </a:endParaRPr>
          </a:p>
        </p:txBody>
      </p:sp>
      <p:sp>
        <p:nvSpPr>
          <p:cNvPr id="1825" name="Google Shape;1825;p57"/>
          <p:cNvSpPr/>
          <p:nvPr/>
        </p:nvSpPr>
        <p:spPr>
          <a:xfrm>
            <a:off x="457200" y="1237111"/>
            <a:ext cx="8305800" cy="3792833"/>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000">
                <a:solidFill>
                  <a:schemeClr val="dk1"/>
                </a:solidFill>
                <a:latin typeface="Arial"/>
                <a:ea typeface="Arial"/>
                <a:cs typeface="Arial"/>
                <a:sym typeface="Arial"/>
              </a:rPr>
              <a:t>Presented below is selected information related to Flanagan Company at December 31, 2017. Flanagan reports financial information monthly.</a:t>
            </a:r>
            <a:endParaRPr/>
          </a:p>
          <a:p>
            <a:pPr indent="0" lvl="0" marL="0" marR="0" rtl="0" algn="l">
              <a:lnSpc>
                <a:spcPct val="120000"/>
              </a:lnSpc>
              <a:spcBef>
                <a:spcPts val="200"/>
              </a:spcBef>
              <a:spcAft>
                <a:spcPts val="0"/>
              </a:spcAft>
              <a:buNone/>
            </a:pPr>
            <a:r>
              <a:rPr lang="en-US" sz="1900">
                <a:solidFill>
                  <a:schemeClr val="dk1"/>
                </a:solidFill>
                <a:latin typeface="Arial"/>
                <a:ea typeface="Arial"/>
                <a:cs typeface="Arial"/>
                <a:sym typeface="Arial"/>
              </a:rPr>
              <a:t>Equipment 	$10,000 	Utilities Expense 	$ 4,000</a:t>
            </a:r>
            <a:endParaRPr/>
          </a:p>
          <a:p>
            <a:pPr indent="0" lvl="0" marL="0" marR="0" rtl="0" algn="l">
              <a:spcBef>
                <a:spcPts val="200"/>
              </a:spcBef>
              <a:spcAft>
                <a:spcPts val="0"/>
              </a:spcAft>
              <a:buNone/>
            </a:pPr>
            <a:r>
              <a:rPr lang="en-US" sz="1900">
                <a:solidFill>
                  <a:schemeClr val="dk1"/>
                </a:solidFill>
                <a:latin typeface="Arial"/>
                <a:ea typeface="Arial"/>
                <a:cs typeface="Arial"/>
                <a:sym typeface="Arial"/>
              </a:rPr>
              <a:t>Cash 	8,000 	Accounts Receivable 	9,000</a:t>
            </a:r>
            <a:endParaRPr sz="1900">
              <a:solidFill>
                <a:schemeClr val="dk1"/>
              </a:solidFill>
              <a:latin typeface="Arial"/>
              <a:ea typeface="Arial"/>
              <a:cs typeface="Arial"/>
              <a:sym typeface="Arial"/>
            </a:endParaRPr>
          </a:p>
          <a:p>
            <a:pPr indent="0" lvl="0" marL="0" marR="0" rtl="0" algn="l">
              <a:spcBef>
                <a:spcPts val="200"/>
              </a:spcBef>
              <a:spcAft>
                <a:spcPts val="0"/>
              </a:spcAft>
              <a:buNone/>
            </a:pPr>
            <a:r>
              <a:rPr lang="en-US" sz="1900">
                <a:solidFill>
                  <a:schemeClr val="dk1"/>
                </a:solidFill>
                <a:latin typeface="Arial"/>
                <a:ea typeface="Arial"/>
                <a:cs typeface="Arial"/>
                <a:sym typeface="Arial"/>
              </a:rPr>
              <a:t>Service Revenue 	36,000 	Salaries and Wages Expense 	7,000</a:t>
            </a:r>
            <a:endParaRPr sz="1900">
              <a:solidFill>
                <a:schemeClr val="dk1"/>
              </a:solidFill>
              <a:latin typeface="Arial"/>
              <a:ea typeface="Arial"/>
              <a:cs typeface="Arial"/>
              <a:sym typeface="Arial"/>
            </a:endParaRPr>
          </a:p>
          <a:p>
            <a:pPr indent="0" lvl="0" marL="0" marR="0" rtl="0" algn="l">
              <a:spcBef>
                <a:spcPts val="200"/>
              </a:spcBef>
              <a:spcAft>
                <a:spcPts val="0"/>
              </a:spcAft>
              <a:buNone/>
            </a:pPr>
            <a:r>
              <a:rPr lang="en-US" sz="1900">
                <a:solidFill>
                  <a:schemeClr val="dk1"/>
                </a:solidFill>
                <a:latin typeface="Arial"/>
                <a:ea typeface="Arial"/>
                <a:cs typeface="Arial"/>
                <a:sym typeface="Arial"/>
              </a:rPr>
              <a:t>Rent Expense 	11,000 	Notes Payable 	16,500</a:t>
            </a:r>
            <a:endParaRPr sz="1900">
              <a:solidFill>
                <a:schemeClr val="dk1"/>
              </a:solidFill>
              <a:latin typeface="Arial"/>
              <a:ea typeface="Arial"/>
              <a:cs typeface="Arial"/>
              <a:sym typeface="Arial"/>
            </a:endParaRPr>
          </a:p>
          <a:p>
            <a:pPr indent="0" lvl="0" marL="0" marR="0" rtl="0" algn="l">
              <a:spcBef>
                <a:spcPts val="200"/>
              </a:spcBef>
              <a:spcAft>
                <a:spcPts val="0"/>
              </a:spcAft>
              <a:buNone/>
            </a:pPr>
            <a:r>
              <a:rPr lang="en-US" sz="1900">
                <a:solidFill>
                  <a:schemeClr val="dk1"/>
                </a:solidFill>
                <a:latin typeface="Arial"/>
                <a:ea typeface="Arial"/>
                <a:cs typeface="Arial"/>
                <a:sym typeface="Arial"/>
              </a:rPr>
              <a:t>Accounts Payable 	2,000 	Owner’s Drawings 	5,000</a:t>
            </a:r>
            <a:endParaRPr sz="1900">
              <a:solidFill>
                <a:schemeClr val="dk1"/>
              </a:solidFill>
              <a:latin typeface="Arial"/>
              <a:ea typeface="Arial"/>
              <a:cs typeface="Arial"/>
              <a:sym typeface="Arial"/>
            </a:endParaRPr>
          </a:p>
          <a:p>
            <a:pPr indent="-463550" lvl="0" marL="463550" marR="0" rtl="0" algn="l">
              <a:lnSpc>
                <a:spcPct val="120000"/>
              </a:lnSpc>
              <a:spcBef>
                <a:spcPts val="1200"/>
              </a:spcBef>
              <a:spcAft>
                <a:spcPts val="0"/>
              </a:spcAft>
              <a:buNone/>
            </a:pPr>
            <a:r>
              <a:rPr lang="en-US" sz="2000">
                <a:solidFill>
                  <a:schemeClr val="dk1"/>
                </a:solidFill>
                <a:latin typeface="Arial"/>
                <a:ea typeface="Arial"/>
                <a:cs typeface="Arial"/>
                <a:sym typeface="Arial"/>
              </a:rPr>
              <a:t>(a) 	Determine the total assets of at December 31, 2017.</a:t>
            </a:r>
            <a:endParaRPr/>
          </a:p>
          <a:p>
            <a:pPr indent="-463550" lvl="0" marL="463550" marR="0" rtl="0" algn="l">
              <a:lnSpc>
                <a:spcPct val="120000"/>
              </a:lnSpc>
              <a:spcBef>
                <a:spcPts val="200"/>
              </a:spcBef>
              <a:spcAft>
                <a:spcPts val="0"/>
              </a:spcAft>
              <a:buNone/>
            </a:pPr>
            <a:r>
              <a:rPr lang="en-US" sz="2000">
                <a:solidFill>
                  <a:schemeClr val="dk1"/>
                </a:solidFill>
                <a:latin typeface="Arial"/>
                <a:ea typeface="Arial"/>
                <a:cs typeface="Arial"/>
                <a:sym typeface="Arial"/>
              </a:rPr>
              <a:t>(b) 	Determine the net income reported for December 2017.</a:t>
            </a:r>
            <a:endParaRPr/>
          </a:p>
          <a:p>
            <a:pPr indent="-463550" lvl="0" marL="463550" marR="0" rtl="0" algn="l">
              <a:lnSpc>
                <a:spcPct val="120000"/>
              </a:lnSpc>
              <a:spcBef>
                <a:spcPts val="200"/>
              </a:spcBef>
              <a:spcAft>
                <a:spcPts val="0"/>
              </a:spcAft>
              <a:buNone/>
            </a:pPr>
            <a:r>
              <a:rPr lang="en-US" sz="2000">
                <a:solidFill>
                  <a:schemeClr val="dk1"/>
                </a:solidFill>
                <a:latin typeface="Arial"/>
                <a:ea typeface="Arial"/>
                <a:cs typeface="Arial"/>
                <a:sym typeface="Arial"/>
              </a:rPr>
              <a:t>(c) 	Determine the owner’s equity at December 31, 2017.</a:t>
            </a:r>
            <a:endParaRPr/>
          </a:p>
        </p:txBody>
      </p:sp>
    </p:spTree>
  </p:cSld>
  <p:clrMapOvr>
    <a:masterClrMapping/>
  </p:clrMapOvr>
  <p:transition>
    <p:wipe dir="r"/>
  </p:transition>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9" name="Shape 1829"/>
        <p:cNvGrpSpPr/>
        <p:nvPr/>
      </p:nvGrpSpPr>
      <p:grpSpPr>
        <a:xfrm>
          <a:off x="0" y="0"/>
          <a:ext cx="0" cy="0"/>
          <a:chOff x="0" y="0"/>
          <a:chExt cx="0" cy="0"/>
        </a:xfrm>
      </p:grpSpPr>
      <p:pic>
        <p:nvPicPr>
          <p:cNvPr id="1830" name="Google Shape;1830;p58"/>
          <p:cNvPicPr preferRelativeResize="0"/>
          <p:nvPr/>
        </p:nvPicPr>
        <p:blipFill rotWithShape="1">
          <a:blip r:embed="rId3">
            <a:alphaModFix/>
          </a:blip>
          <a:srcRect b="0" l="0" r="0" t="0"/>
          <a:stretch/>
        </p:blipFill>
        <p:spPr>
          <a:xfrm>
            <a:off x="2493472" y="459473"/>
            <a:ext cx="409385" cy="344759"/>
          </a:xfrm>
          <a:prstGeom prst="rect">
            <a:avLst/>
          </a:prstGeom>
          <a:noFill/>
          <a:ln>
            <a:noFill/>
          </a:ln>
        </p:spPr>
      </p:pic>
      <p:pic>
        <p:nvPicPr>
          <p:cNvPr id="1831" name="Google Shape;1831;p58"/>
          <p:cNvPicPr preferRelativeResize="0"/>
          <p:nvPr/>
        </p:nvPicPr>
        <p:blipFill rotWithShape="1">
          <a:blip r:embed="rId3">
            <a:alphaModFix/>
          </a:blip>
          <a:srcRect b="0" l="0" r="0" t="0"/>
          <a:stretch/>
        </p:blipFill>
        <p:spPr>
          <a:xfrm>
            <a:off x="2493472" y="459473"/>
            <a:ext cx="409385" cy="344759"/>
          </a:xfrm>
          <a:prstGeom prst="rect">
            <a:avLst/>
          </a:prstGeom>
          <a:noFill/>
          <a:ln>
            <a:noFill/>
          </a:ln>
        </p:spPr>
      </p:pic>
      <p:sp>
        <p:nvSpPr>
          <p:cNvPr id="1832" name="Google Shape;1832;p58"/>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5 </a:t>
            </a:r>
            <a:endParaRPr b="1" i="1" sz="1600">
              <a:solidFill>
                <a:schemeClr val="lt2"/>
              </a:solidFill>
              <a:latin typeface="Arial"/>
              <a:ea typeface="Arial"/>
              <a:cs typeface="Arial"/>
              <a:sym typeface="Arial"/>
            </a:endParaRPr>
          </a:p>
        </p:txBody>
      </p:sp>
      <p:sp>
        <p:nvSpPr>
          <p:cNvPr id="1833" name="Google Shape;1833;p58"/>
          <p:cNvSpPr txBox="1"/>
          <p:nvPr/>
        </p:nvSpPr>
        <p:spPr>
          <a:xfrm>
            <a:off x="0" y="316596"/>
            <a:ext cx="3276600" cy="691039"/>
          </a:xfrm>
          <a:prstGeom prst="rect">
            <a:avLst/>
          </a:prstGeom>
          <a:solidFill>
            <a:srgbClr val="D8D8D8"/>
          </a:solidFill>
          <a:ln>
            <a:noFill/>
          </a:ln>
        </p:spPr>
        <p:txBody>
          <a:bodyPr anchorCtr="0" anchor="t" bIns="45700" lIns="0" spcFirstLastPara="1" rIns="91425" wrap="square" tIns="0">
            <a:noAutofit/>
          </a:bodyPr>
          <a:lstStyle/>
          <a:p>
            <a:pPr indent="0" lvl="0" marL="519113" marR="0" rtl="0" algn="l">
              <a:spcBef>
                <a:spcPts val="0"/>
              </a:spcBef>
              <a:spcAft>
                <a:spcPts val="0"/>
              </a:spcAft>
              <a:buNone/>
            </a:pPr>
            <a:r>
              <a:rPr b="1" lang="en-US" sz="4200">
                <a:solidFill>
                  <a:srgbClr val="FF9900"/>
                </a:solidFill>
                <a:latin typeface="Arial"/>
                <a:ea typeface="Arial"/>
                <a:cs typeface="Arial"/>
                <a:sym typeface="Arial"/>
              </a:rPr>
              <a:t>DO IT!</a:t>
            </a:r>
            <a:endParaRPr b="1" sz="4200">
              <a:solidFill>
                <a:srgbClr val="FF9900"/>
              </a:solidFill>
              <a:latin typeface="Arial"/>
              <a:ea typeface="Arial"/>
              <a:cs typeface="Arial"/>
              <a:sym typeface="Arial"/>
            </a:endParaRPr>
          </a:p>
        </p:txBody>
      </p:sp>
      <p:sp>
        <p:nvSpPr>
          <p:cNvPr id="1834" name="Google Shape;1834;p58"/>
          <p:cNvSpPr/>
          <p:nvPr/>
        </p:nvSpPr>
        <p:spPr>
          <a:xfrm>
            <a:off x="2286000" y="316598"/>
            <a:ext cx="762000" cy="691038"/>
          </a:xfrm>
          <a:prstGeom prst="ellipse">
            <a:avLst/>
          </a:prstGeom>
          <a:solidFill>
            <a:schemeClr val="accent3"/>
          </a:solidFill>
          <a:ln cap="sq" cmpd="sng" w="12700">
            <a:solidFill>
              <a:srgbClr val="7F7F7F"/>
            </a:solidFill>
            <a:prstDash val="dash"/>
            <a:round/>
            <a:headEnd len="sm" w="sm" type="none"/>
            <a:tailEnd len="sm" w="sm" type="none"/>
          </a:ln>
        </p:spPr>
        <p:txBody>
          <a:bodyPr anchorCtr="0" anchor="ctr" bIns="45700" lIns="91425" spcFirstLastPara="1" rIns="91425" wrap="square" tIns="0">
            <a:noAutofit/>
          </a:bodyPr>
          <a:lstStyle/>
          <a:p>
            <a:pPr indent="0" lvl="0" marL="0" marR="0" rtl="0" algn="ctr">
              <a:lnSpc>
                <a:spcPct val="100000"/>
              </a:lnSpc>
              <a:spcBef>
                <a:spcPts val="0"/>
              </a:spcBef>
              <a:spcAft>
                <a:spcPts val="0"/>
              </a:spcAft>
              <a:buClr>
                <a:srgbClr val="FF9900"/>
              </a:buClr>
              <a:buSzPts val="3200"/>
              <a:buFont typeface="Arial"/>
              <a:buNone/>
            </a:pPr>
            <a:r>
              <a:rPr b="1" i="0" lang="en-US" sz="3200" u="none" cap="none" strike="noStrike">
                <a:solidFill>
                  <a:srgbClr val="FF9900"/>
                </a:solidFill>
                <a:latin typeface="Arial"/>
                <a:ea typeface="Arial"/>
                <a:cs typeface="Arial"/>
                <a:sym typeface="Arial"/>
              </a:rPr>
              <a:t>5</a:t>
            </a:r>
            <a:endParaRPr/>
          </a:p>
        </p:txBody>
      </p:sp>
      <p:sp>
        <p:nvSpPr>
          <p:cNvPr id="1835" name="Google Shape;1835;p58"/>
          <p:cNvSpPr txBox="1"/>
          <p:nvPr/>
        </p:nvSpPr>
        <p:spPr>
          <a:xfrm>
            <a:off x="3276600" y="389901"/>
            <a:ext cx="5867400" cy="566928"/>
          </a:xfrm>
          <a:prstGeom prst="rect">
            <a:avLst/>
          </a:prstGeom>
          <a:solidFill>
            <a:srgbClr val="0027A4"/>
          </a:solidFill>
          <a:ln>
            <a:noFill/>
          </a:ln>
        </p:spPr>
        <p:txBody>
          <a:bodyPr anchorCtr="0" anchor="t" bIns="43225" lIns="86475" spcFirstLastPara="1" rIns="86475" wrap="square" tIns="43225">
            <a:noAutofit/>
          </a:bodyPr>
          <a:lstStyle/>
          <a:p>
            <a:pPr indent="0" lvl="0" marL="111120" marR="0" rtl="0" algn="l">
              <a:spcBef>
                <a:spcPts val="0"/>
              </a:spcBef>
              <a:spcAft>
                <a:spcPts val="0"/>
              </a:spcAft>
              <a:buNone/>
            </a:pPr>
            <a:r>
              <a:rPr b="1" lang="en-US" sz="2800">
                <a:solidFill>
                  <a:schemeClr val="lt1"/>
                </a:solidFill>
                <a:latin typeface="Arial"/>
                <a:ea typeface="Arial"/>
                <a:cs typeface="Arial"/>
                <a:sym typeface="Arial"/>
              </a:rPr>
              <a:t>Financial Statement Items</a:t>
            </a:r>
            <a:endParaRPr b="1" sz="2800">
              <a:solidFill>
                <a:schemeClr val="lt1"/>
              </a:solidFill>
              <a:latin typeface="Arial"/>
              <a:ea typeface="Arial"/>
              <a:cs typeface="Arial"/>
              <a:sym typeface="Arial"/>
            </a:endParaRPr>
          </a:p>
        </p:txBody>
      </p:sp>
      <p:sp>
        <p:nvSpPr>
          <p:cNvPr id="1836" name="Google Shape;1836;p58"/>
          <p:cNvSpPr/>
          <p:nvPr/>
        </p:nvSpPr>
        <p:spPr>
          <a:xfrm>
            <a:off x="457200" y="1237111"/>
            <a:ext cx="8305800" cy="3002873"/>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000">
                <a:solidFill>
                  <a:schemeClr val="dk1"/>
                </a:solidFill>
                <a:latin typeface="Arial"/>
                <a:ea typeface="Arial"/>
                <a:cs typeface="Arial"/>
                <a:sym typeface="Arial"/>
              </a:rPr>
              <a:t>Presented below is selected information related to Flanagan Company at December 31, 2017. Flanagan reports financial information monthly.</a:t>
            </a:r>
            <a:endParaRPr/>
          </a:p>
          <a:p>
            <a:pPr indent="0" lvl="0" marL="0" marR="0" rtl="0" algn="l">
              <a:lnSpc>
                <a:spcPct val="120000"/>
              </a:lnSpc>
              <a:spcBef>
                <a:spcPts val="200"/>
              </a:spcBef>
              <a:spcAft>
                <a:spcPts val="0"/>
              </a:spcAft>
              <a:buNone/>
            </a:pPr>
            <a:r>
              <a:rPr lang="en-US" sz="1900">
                <a:solidFill>
                  <a:schemeClr val="dk1"/>
                </a:solidFill>
                <a:latin typeface="Arial"/>
                <a:ea typeface="Arial"/>
                <a:cs typeface="Arial"/>
                <a:sym typeface="Arial"/>
              </a:rPr>
              <a:t>Equipment 	$10,000 	Utilities Expense 	$ 4,000</a:t>
            </a:r>
            <a:endParaRPr/>
          </a:p>
          <a:p>
            <a:pPr indent="0" lvl="0" marL="0" marR="0" rtl="0" algn="l">
              <a:spcBef>
                <a:spcPts val="200"/>
              </a:spcBef>
              <a:spcAft>
                <a:spcPts val="0"/>
              </a:spcAft>
              <a:buNone/>
            </a:pPr>
            <a:r>
              <a:rPr lang="en-US" sz="1900">
                <a:solidFill>
                  <a:schemeClr val="dk1"/>
                </a:solidFill>
                <a:latin typeface="Arial"/>
                <a:ea typeface="Arial"/>
                <a:cs typeface="Arial"/>
                <a:sym typeface="Arial"/>
              </a:rPr>
              <a:t>Cash 	8,000 	Accounts Receivable 	9,000</a:t>
            </a:r>
            <a:endParaRPr sz="1900">
              <a:solidFill>
                <a:schemeClr val="dk1"/>
              </a:solidFill>
              <a:latin typeface="Arial"/>
              <a:ea typeface="Arial"/>
              <a:cs typeface="Arial"/>
              <a:sym typeface="Arial"/>
            </a:endParaRPr>
          </a:p>
          <a:p>
            <a:pPr indent="0" lvl="0" marL="0" marR="0" rtl="0" algn="l">
              <a:spcBef>
                <a:spcPts val="200"/>
              </a:spcBef>
              <a:spcAft>
                <a:spcPts val="0"/>
              </a:spcAft>
              <a:buNone/>
            </a:pPr>
            <a:r>
              <a:rPr lang="en-US" sz="1900">
                <a:solidFill>
                  <a:schemeClr val="dk1"/>
                </a:solidFill>
                <a:latin typeface="Arial"/>
                <a:ea typeface="Arial"/>
                <a:cs typeface="Arial"/>
                <a:sym typeface="Arial"/>
              </a:rPr>
              <a:t>Service Revenue 	36,000 	Salaries and Wages Expense 	7,000</a:t>
            </a:r>
            <a:endParaRPr sz="1900">
              <a:solidFill>
                <a:schemeClr val="dk1"/>
              </a:solidFill>
              <a:latin typeface="Arial"/>
              <a:ea typeface="Arial"/>
              <a:cs typeface="Arial"/>
              <a:sym typeface="Arial"/>
            </a:endParaRPr>
          </a:p>
          <a:p>
            <a:pPr indent="0" lvl="0" marL="0" marR="0" rtl="0" algn="l">
              <a:spcBef>
                <a:spcPts val="200"/>
              </a:spcBef>
              <a:spcAft>
                <a:spcPts val="0"/>
              </a:spcAft>
              <a:buNone/>
            </a:pPr>
            <a:r>
              <a:rPr lang="en-US" sz="1900">
                <a:solidFill>
                  <a:schemeClr val="dk1"/>
                </a:solidFill>
                <a:latin typeface="Arial"/>
                <a:ea typeface="Arial"/>
                <a:cs typeface="Arial"/>
                <a:sym typeface="Arial"/>
              </a:rPr>
              <a:t>Rent Expense 	11,000 	Notes Payable 	16,500</a:t>
            </a:r>
            <a:endParaRPr sz="1900">
              <a:solidFill>
                <a:schemeClr val="dk1"/>
              </a:solidFill>
              <a:latin typeface="Arial"/>
              <a:ea typeface="Arial"/>
              <a:cs typeface="Arial"/>
              <a:sym typeface="Arial"/>
            </a:endParaRPr>
          </a:p>
          <a:p>
            <a:pPr indent="0" lvl="0" marL="0" marR="0" rtl="0" algn="l">
              <a:spcBef>
                <a:spcPts val="200"/>
              </a:spcBef>
              <a:spcAft>
                <a:spcPts val="0"/>
              </a:spcAft>
              <a:buNone/>
            </a:pPr>
            <a:r>
              <a:rPr lang="en-US" sz="1900">
                <a:solidFill>
                  <a:schemeClr val="dk1"/>
                </a:solidFill>
                <a:latin typeface="Arial"/>
                <a:ea typeface="Arial"/>
                <a:cs typeface="Arial"/>
                <a:sym typeface="Arial"/>
              </a:rPr>
              <a:t>Accounts Payable 	2,000 	Owner’s Drawings 	5,000</a:t>
            </a:r>
            <a:endParaRPr sz="1900">
              <a:solidFill>
                <a:schemeClr val="dk1"/>
              </a:solidFill>
              <a:latin typeface="Arial"/>
              <a:ea typeface="Arial"/>
              <a:cs typeface="Arial"/>
              <a:sym typeface="Arial"/>
            </a:endParaRPr>
          </a:p>
          <a:p>
            <a:pPr indent="-463550" lvl="0" marL="463550" marR="0" rtl="0" algn="l">
              <a:lnSpc>
                <a:spcPct val="120000"/>
              </a:lnSpc>
              <a:spcBef>
                <a:spcPts val="1200"/>
              </a:spcBef>
              <a:spcAft>
                <a:spcPts val="0"/>
              </a:spcAft>
              <a:buNone/>
            </a:pPr>
            <a:r>
              <a:rPr b="1" lang="en-US" sz="2000">
                <a:solidFill>
                  <a:schemeClr val="dk1"/>
                </a:solidFill>
                <a:latin typeface="Arial"/>
                <a:ea typeface="Arial"/>
                <a:cs typeface="Arial"/>
                <a:sym typeface="Arial"/>
              </a:rPr>
              <a:t>(a) 	Determine the total assets of at December 31, 2017.</a:t>
            </a:r>
            <a:endParaRPr b="1" sz="2000">
              <a:solidFill>
                <a:schemeClr val="dk1"/>
              </a:solidFill>
              <a:latin typeface="Arial"/>
              <a:ea typeface="Arial"/>
              <a:cs typeface="Arial"/>
              <a:sym typeface="Arial"/>
            </a:endParaRPr>
          </a:p>
        </p:txBody>
      </p:sp>
      <p:sp>
        <p:nvSpPr>
          <p:cNvPr id="1837" name="Google Shape;1837;p58"/>
          <p:cNvSpPr/>
          <p:nvPr/>
        </p:nvSpPr>
        <p:spPr>
          <a:xfrm>
            <a:off x="914400" y="4308322"/>
            <a:ext cx="5562600" cy="1800493"/>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000">
                <a:solidFill>
                  <a:schemeClr val="dk1"/>
                </a:solidFill>
                <a:latin typeface="Arial"/>
                <a:ea typeface="Arial"/>
                <a:cs typeface="Arial"/>
                <a:sym typeface="Arial"/>
              </a:rPr>
              <a:t>The total assets are $27,000, comprised of </a:t>
            </a:r>
            <a:endParaRPr sz="2000">
              <a:solidFill>
                <a:schemeClr val="dk1"/>
              </a:solidFill>
              <a:latin typeface="Arial"/>
              <a:ea typeface="Arial"/>
              <a:cs typeface="Arial"/>
              <a:sym typeface="Arial"/>
            </a:endParaRPr>
          </a:p>
          <a:p>
            <a:pPr indent="-450850" lvl="0" marL="682625" marR="0" rtl="0" algn="l">
              <a:lnSpc>
                <a:spcPct val="120000"/>
              </a:lnSpc>
              <a:spcBef>
                <a:spcPts val="600"/>
              </a:spcBef>
              <a:spcAft>
                <a:spcPts val="0"/>
              </a:spcAft>
              <a:buClr>
                <a:schemeClr val="dk1"/>
              </a:buClr>
              <a:buSzPts val="2000"/>
              <a:buFont typeface="Arial"/>
              <a:buChar char="•"/>
            </a:pPr>
            <a:r>
              <a:rPr lang="en-US" sz="2000">
                <a:solidFill>
                  <a:schemeClr val="dk1"/>
                </a:solidFill>
                <a:latin typeface="Arial"/>
                <a:ea typeface="Arial"/>
                <a:cs typeface="Arial"/>
                <a:sym typeface="Arial"/>
              </a:rPr>
              <a:t>Cash $8,000, </a:t>
            </a:r>
            <a:endParaRPr sz="2000">
              <a:solidFill>
                <a:schemeClr val="dk1"/>
              </a:solidFill>
              <a:latin typeface="Arial"/>
              <a:ea typeface="Arial"/>
              <a:cs typeface="Arial"/>
              <a:sym typeface="Arial"/>
            </a:endParaRPr>
          </a:p>
          <a:p>
            <a:pPr indent="-450850" lvl="0" marL="682625" marR="0" rtl="0" algn="l">
              <a:lnSpc>
                <a:spcPct val="120000"/>
              </a:lnSpc>
              <a:spcBef>
                <a:spcPts val="600"/>
              </a:spcBef>
              <a:spcAft>
                <a:spcPts val="0"/>
              </a:spcAft>
              <a:buClr>
                <a:schemeClr val="dk1"/>
              </a:buClr>
              <a:buSzPts val="2000"/>
              <a:buFont typeface="Arial"/>
              <a:buChar char="•"/>
            </a:pPr>
            <a:r>
              <a:rPr lang="en-US" sz="2000">
                <a:solidFill>
                  <a:schemeClr val="dk1"/>
                </a:solidFill>
                <a:latin typeface="Arial"/>
                <a:ea typeface="Arial"/>
                <a:cs typeface="Arial"/>
                <a:sym typeface="Arial"/>
              </a:rPr>
              <a:t>Accounts Receivable $9,000, and </a:t>
            </a:r>
            <a:endParaRPr sz="2000">
              <a:solidFill>
                <a:schemeClr val="dk1"/>
              </a:solidFill>
              <a:latin typeface="Arial"/>
              <a:ea typeface="Arial"/>
              <a:cs typeface="Arial"/>
              <a:sym typeface="Arial"/>
            </a:endParaRPr>
          </a:p>
          <a:p>
            <a:pPr indent="-450850" lvl="0" marL="682625" marR="0" rtl="0" algn="l">
              <a:lnSpc>
                <a:spcPct val="120000"/>
              </a:lnSpc>
              <a:spcBef>
                <a:spcPts val="600"/>
              </a:spcBef>
              <a:spcAft>
                <a:spcPts val="0"/>
              </a:spcAft>
              <a:buClr>
                <a:schemeClr val="dk1"/>
              </a:buClr>
              <a:buSzPts val="2000"/>
              <a:buFont typeface="Arial"/>
              <a:buChar char="•"/>
            </a:pPr>
            <a:r>
              <a:rPr lang="en-US" sz="2000">
                <a:solidFill>
                  <a:schemeClr val="dk1"/>
                </a:solidFill>
                <a:latin typeface="Arial"/>
                <a:ea typeface="Arial"/>
                <a:cs typeface="Arial"/>
                <a:sym typeface="Arial"/>
              </a:rPr>
              <a:t>Equipment $10,000.</a:t>
            </a:r>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7"/>
                                        </p:tgtEl>
                                        <p:attrNameLst>
                                          <p:attrName>style.visibility</p:attrName>
                                        </p:attrNameLst>
                                      </p:cBhvr>
                                      <p:to>
                                        <p:strVal val="visible"/>
                                      </p:to>
                                    </p:set>
                                    <p:animEffect filter="fade" transition="in">
                                      <p:cBhvr>
                                        <p:cTn dur="500"/>
                                        <p:tgtEl>
                                          <p:spTgt spid="18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1" name="Shape 1841"/>
        <p:cNvGrpSpPr/>
        <p:nvPr/>
      </p:nvGrpSpPr>
      <p:grpSpPr>
        <a:xfrm>
          <a:off x="0" y="0"/>
          <a:ext cx="0" cy="0"/>
          <a:chOff x="0" y="0"/>
          <a:chExt cx="0" cy="0"/>
        </a:xfrm>
      </p:grpSpPr>
      <p:pic>
        <p:nvPicPr>
          <p:cNvPr id="1842" name="Google Shape;1842;p59"/>
          <p:cNvPicPr preferRelativeResize="0"/>
          <p:nvPr/>
        </p:nvPicPr>
        <p:blipFill rotWithShape="1">
          <a:blip r:embed="rId3">
            <a:alphaModFix/>
          </a:blip>
          <a:srcRect b="0" l="0" r="0" t="0"/>
          <a:stretch/>
        </p:blipFill>
        <p:spPr>
          <a:xfrm>
            <a:off x="2493472" y="459473"/>
            <a:ext cx="409385" cy="344759"/>
          </a:xfrm>
          <a:prstGeom prst="rect">
            <a:avLst/>
          </a:prstGeom>
          <a:noFill/>
          <a:ln>
            <a:noFill/>
          </a:ln>
        </p:spPr>
      </p:pic>
      <p:pic>
        <p:nvPicPr>
          <p:cNvPr id="1843" name="Google Shape;1843;p59"/>
          <p:cNvPicPr preferRelativeResize="0"/>
          <p:nvPr/>
        </p:nvPicPr>
        <p:blipFill rotWithShape="1">
          <a:blip r:embed="rId3">
            <a:alphaModFix/>
          </a:blip>
          <a:srcRect b="0" l="0" r="0" t="0"/>
          <a:stretch/>
        </p:blipFill>
        <p:spPr>
          <a:xfrm>
            <a:off x="2493472" y="459473"/>
            <a:ext cx="409385" cy="344759"/>
          </a:xfrm>
          <a:prstGeom prst="rect">
            <a:avLst/>
          </a:prstGeom>
          <a:noFill/>
          <a:ln>
            <a:noFill/>
          </a:ln>
        </p:spPr>
      </p:pic>
      <p:sp>
        <p:nvSpPr>
          <p:cNvPr id="1844" name="Google Shape;1844;p59"/>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5 </a:t>
            </a:r>
            <a:endParaRPr b="1" i="1" sz="1600">
              <a:solidFill>
                <a:schemeClr val="lt2"/>
              </a:solidFill>
              <a:latin typeface="Arial"/>
              <a:ea typeface="Arial"/>
              <a:cs typeface="Arial"/>
              <a:sym typeface="Arial"/>
            </a:endParaRPr>
          </a:p>
        </p:txBody>
      </p:sp>
      <p:sp>
        <p:nvSpPr>
          <p:cNvPr id="1845" name="Google Shape;1845;p59"/>
          <p:cNvSpPr txBox="1"/>
          <p:nvPr/>
        </p:nvSpPr>
        <p:spPr>
          <a:xfrm>
            <a:off x="0" y="316596"/>
            <a:ext cx="3276600" cy="691039"/>
          </a:xfrm>
          <a:prstGeom prst="rect">
            <a:avLst/>
          </a:prstGeom>
          <a:solidFill>
            <a:srgbClr val="D8D8D8"/>
          </a:solidFill>
          <a:ln>
            <a:noFill/>
          </a:ln>
        </p:spPr>
        <p:txBody>
          <a:bodyPr anchorCtr="0" anchor="t" bIns="45700" lIns="0" spcFirstLastPara="1" rIns="91425" wrap="square" tIns="0">
            <a:noAutofit/>
          </a:bodyPr>
          <a:lstStyle/>
          <a:p>
            <a:pPr indent="0" lvl="0" marL="519113" marR="0" rtl="0" algn="l">
              <a:spcBef>
                <a:spcPts val="0"/>
              </a:spcBef>
              <a:spcAft>
                <a:spcPts val="0"/>
              </a:spcAft>
              <a:buNone/>
            </a:pPr>
            <a:r>
              <a:rPr b="1" lang="en-US" sz="4200">
                <a:solidFill>
                  <a:srgbClr val="FF9900"/>
                </a:solidFill>
                <a:latin typeface="Arial"/>
                <a:ea typeface="Arial"/>
                <a:cs typeface="Arial"/>
                <a:sym typeface="Arial"/>
              </a:rPr>
              <a:t>DO IT!</a:t>
            </a:r>
            <a:endParaRPr b="1" sz="4200">
              <a:solidFill>
                <a:srgbClr val="FF9900"/>
              </a:solidFill>
              <a:latin typeface="Arial"/>
              <a:ea typeface="Arial"/>
              <a:cs typeface="Arial"/>
              <a:sym typeface="Arial"/>
            </a:endParaRPr>
          </a:p>
        </p:txBody>
      </p:sp>
      <p:sp>
        <p:nvSpPr>
          <p:cNvPr id="1846" name="Google Shape;1846;p59"/>
          <p:cNvSpPr/>
          <p:nvPr/>
        </p:nvSpPr>
        <p:spPr>
          <a:xfrm>
            <a:off x="2286000" y="316598"/>
            <a:ext cx="762000" cy="691038"/>
          </a:xfrm>
          <a:prstGeom prst="ellipse">
            <a:avLst/>
          </a:prstGeom>
          <a:solidFill>
            <a:schemeClr val="accent3"/>
          </a:solidFill>
          <a:ln cap="sq" cmpd="sng" w="12700">
            <a:solidFill>
              <a:srgbClr val="7F7F7F"/>
            </a:solidFill>
            <a:prstDash val="dash"/>
            <a:round/>
            <a:headEnd len="sm" w="sm" type="none"/>
            <a:tailEnd len="sm" w="sm" type="none"/>
          </a:ln>
        </p:spPr>
        <p:txBody>
          <a:bodyPr anchorCtr="0" anchor="ctr" bIns="45700" lIns="91425" spcFirstLastPara="1" rIns="91425" wrap="square" tIns="0">
            <a:noAutofit/>
          </a:bodyPr>
          <a:lstStyle/>
          <a:p>
            <a:pPr indent="0" lvl="0" marL="0" marR="0" rtl="0" algn="ctr">
              <a:lnSpc>
                <a:spcPct val="100000"/>
              </a:lnSpc>
              <a:spcBef>
                <a:spcPts val="0"/>
              </a:spcBef>
              <a:spcAft>
                <a:spcPts val="0"/>
              </a:spcAft>
              <a:buClr>
                <a:srgbClr val="FF9900"/>
              </a:buClr>
              <a:buSzPts val="3200"/>
              <a:buFont typeface="Arial"/>
              <a:buNone/>
            </a:pPr>
            <a:r>
              <a:rPr b="1" i="0" lang="en-US" sz="3200" u="none" cap="none" strike="noStrike">
                <a:solidFill>
                  <a:srgbClr val="FF9900"/>
                </a:solidFill>
                <a:latin typeface="Arial"/>
                <a:ea typeface="Arial"/>
                <a:cs typeface="Arial"/>
                <a:sym typeface="Arial"/>
              </a:rPr>
              <a:t>5</a:t>
            </a:r>
            <a:endParaRPr/>
          </a:p>
        </p:txBody>
      </p:sp>
      <p:sp>
        <p:nvSpPr>
          <p:cNvPr id="1847" name="Google Shape;1847;p59"/>
          <p:cNvSpPr txBox="1"/>
          <p:nvPr/>
        </p:nvSpPr>
        <p:spPr>
          <a:xfrm>
            <a:off x="3276600" y="389901"/>
            <a:ext cx="5867400" cy="566928"/>
          </a:xfrm>
          <a:prstGeom prst="rect">
            <a:avLst/>
          </a:prstGeom>
          <a:solidFill>
            <a:srgbClr val="0027A4"/>
          </a:solidFill>
          <a:ln>
            <a:noFill/>
          </a:ln>
        </p:spPr>
        <p:txBody>
          <a:bodyPr anchorCtr="0" anchor="t" bIns="43225" lIns="86475" spcFirstLastPara="1" rIns="86475" wrap="square" tIns="43225">
            <a:noAutofit/>
          </a:bodyPr>
          <a:lstStyle/>
          <a:p>
            <a:pPr indent="0" lvl="0" marL="111120" marR="0" rtl="0" algn="l">
              <a:spcBef>
                <a:spcPts val="0"/>
              </a:spcBef>
              <a:spcAft>
                <a:spcPts val="0"/>
              </a:spcAft>
              <a:buNone/>
            </a:pPr>
            <a:r>
              <a:rPr b="1" lang="en-US" sz="2800">
                <a:solidFill>
                  <a:schemeClr val="lt1"/>
                </a:solidFill>
                <a:latin typeface="Arial"/>
                <a:ea typeface="Arial"/>
                <a:cs typeface="Arial"/>
                <a:sym typeface="Arial"/>
              </a:rPr>
              <a:t>Financial Statement Items</a:t>
            </a:r>
            <a:endParaRPr b="1" sz="2800">
              <a:solidFill>
                <a:schemeClr val="lt1"/>
              </a:solidFill>
              <a:latin typeface="Arial"/>
              <a:ea typeface="Arial"/>
              <a:cs typeface="Arial"/>
              <a:sym typeface="Arial"/>
            </a:endParaRPr>
          </a:p>
        </p:txBody>
      </p:sp>
      <p:sp>
        <p:nvSpPr>
          <p:cNvPr id="1848" name="Google Shape;1848;p59"/>
          <p:cNvSpPr/>
          <p:nvPr/>
        </p:nvSpPr>
        <p:spPr>
          <a:xfrm>
            <a:off x="457200" y="1237111"/>
            <a:ext cx="8305800" cy="3002873"/>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000">
                <a:solidFill>
                  <a:schemeClr val="dk1"/>
                </a:solidFill>
                <a:latin typeface="Arial"/>
                <a:ea typeface="Arial"/>
                <a:cs typeface="Arial"/>
                <a:sym typeface="Arial"/>
              </a:rPr>
              <a:t>Presented below is selected information related to Flanagan Company at December 31, 2017. Flanagan reports financial information monthly.</a:t>
            </a:r>
            <a:endParaRPr/>
          </a:p>
          <a:p>
            <a:pPr indent="0" lvl="0" marL="0" marR="0" rtl="0" algn="l">
              <a:lnSpc>
                <a:spcPct val="120000"/>
              </a:lnSpc>
              <a:spcBef>
                <a:spcPts val="200"/>
              </a:spcBef>
              <a:spcAft>
                <a:spcPts val="0"/>
              </a:spcAft>
              <a:buNone/>
            </a:pPr>
            <a:r>
              <a:rPr lang="en-US" sz="1900">
                <a:solidFill>
                  <a:schemeClr val="dk1"/>
                </a:solidFill>
                <a:latin typeface="Arial"/>
                <a:ea typeface="Arial"/>
                <a:cs typeface="Arial"/>
                <a:sym typeface="Arial"/>
              </a:rPr>
              <a:t>Equipment 	$10,000 	Utilities Expense 	$ 4,000</a:t>
            </a:r>
            <a:endParaRPr/>
          </a:p>
          <a:p>
            <a:pPr indent="0" lvl="0" marL="0" marR="0" rtl="0" algn="l">
              <a:spcBef>
                <a:spcPts val="200"/>
              </a:spcBef>
              <a:spcAft>
                <a:spcPts val="0"/>
              </a:spcAft>
              <a:buNone/>
            </a:pPr>
            <a:r>
              <a:rPr lang="en-US" sz="1900">
                <a:solidFill>
                  <a:schemeClr val="dk1"/>
                </a:solidFill>
                <a:latin typeface="Arial"/>
                <a:ea typeface="Arial"/>
                <a:cs typeface="Arial"/>
                <a:sym typeface="Arial"/>
              </a:rPr>
              <a:t>Cash 	8,000 	Accounts Receivable 	9,000</a:t>
            </a:r>
            <a:endParaRPr sz="1900">
              <a:solidFill>
                <a:schemeClr val="dk1"/>
              </a:solidFill>
              <a:latin typeface="Arial"/>
              <a:ea typeface="Arial"/>
              <a:cs typeface="Arial"/>
              <a:sym typeface="Arial"/>
            </a:endParaRPr>
          </a:p>
          <a:p>
            <a:pPr indent="0" lvl="0" marL="0" marR="0" rtl="0" algn="l">
              <a:spcBef>
                <a:spcPts val="200"/>
              </a:spcBef>
              <a:spcAft>
                <a:spcPts val="0"/>
              </a:spcAft>
              <a:buNone/>
            </a:pPr>
            <a:r>
              <a:rPr lang="en-US" sz="1900">
                <a:solidFill>
                  <a:schemeClr val="dk1"/>
                </a:solidFill>
                <a:latin typeface="Arial"/>
                <a:ea typeface="Arial"/>
                <a:cs typeface="Arial"/>
                <a:sym typeface="Arial"/>
              </a:rPr>
              <a:t>Service Revenue 	36,000 	Salaries and Wages Expense 	7,000</a:t>
            </a:r>
            <a:endParaRPr sz="1900">
              <a:solidFill>
                <a:schemeClr val="dk1"/>
              </a:solidFill>
              <a:latin typeface="Arial"/>
              <a:ea typeface="Arial"/>
              <a:cs typeface="Arial"/>
              <a:sym typeface="Arial"/>
            </a:endParaRPr>
          </a:p>
          <a:p>
            <a:pPr indent="0" lvl="0" marL="0" marR="0" rtl="0" algn="l">
              <a:spcBef>
                <a:spcPts val="200"/>
              </a:spcBef>
              <a:spcAft>
                <a:spcPts val="0"/>
              </a:spcAft>
              <a:buNone/>
            </a:pPr>
            <a:r>
              <a:rPr lang="en-US" sz="1900">
                <a:solidFill>
                  <a:schemeClr val="dk1"/>
                </a:solidFill>
                <a:latin typeface="Arial"/>
                <a:ea typeface="Arial"/>
                <a:cs typeface="Arial"/>
                <a:sym typeface="Arial"/>
              </a:rPr>
              <a:t>Rent Expense 	11,000 	Notes Payable 	16,500</a:t>
            </a:r>
            <a:endParaRPr sz="1900">
              <a:solidFill>
                <a:schemeClr val="dk1"/>
              </a:solidFill>
              <a:latin typeface="Arial"/>
              <a:ea typeface="Arial"/>
              <a:cs typeface="Arial"/>
              <a:sym typeface="Arial"/>
            </a:endParaRPr>
          </a:p>
          <a:p>
            <a:pPr indent="0" lvl="0" marL="0" marR="0" rtl="0" algn="l">
              <a:spcBef>
                <a:spcPts val="200"/>
              </a:spcBef>
              <a:spcAft>
                <a:spcPts val="0"/>
              </a:spcAft>
              <a:buNone/>
            </a:pPr>
            <a:r>
              <a:rPr lang="en-US" sz="1900">
                <a:solidFill>
                  <a:schemeClr val="dk1"/>
                </a:solidFill>
                <a:latin typeface="Arial"/>
                <a:ea typeface="Arial"/>
                <a:cs typeface="Arial"/>
                <a:sym typeface="Arial"/>
              </a:rPr>
              <a:t>Accounts Payable 	2,000 	Owner’s Drawings 	5,000</a:t>
            </a:r>
            <a:endParaRPr sz="1900">
              <a:solidFill>
                <a:schemeClr val="dk1"/>
              </a:solidFill>
              <a:latin typeface="Arial"/>
              <a:ea typeface="Arial"/>
              <a:cs typeface="Arial"/>
              <a:sym typeface="Arial"/>
            </a:endParaRPr>
          </a:p>
          <a:p>
            <a:pPr indent="-463550" lvl="0" marL="463550" marR="0" rtl="0" algn="l">
              <a:lnSpc>
                <a:spcPct val="120000"/>
              </a:lnSpc>
              <a:spcBef>
                <a:spcPts val="1200"/>
              </a:spcBef>
              <a:spcAft>
                <a:spcPts val="0"/>
              </a:spcAft>
              <a:buNone/>
            </a:pPr>
            <a:r>
              <a:rPr b="1" lang="en-US" sz="2000">
                <a:solidFill>
                  <a:schemeClr val="dk1"/>
                </a:solidFill>
                <a:latin typeface="Arial"/>
                <a:ea typeface="Arial"/>
                <a:cs typeface="Arial"/>
                <a:sym typeface="Arial"/>
              </a:rPr>
              <a:t>(b) 	Determine the net income reported for December 2017.</a:t>
            </a:r>
            <a:endParaRPr b="1" sz="2000">
              <a:solidFill>
                <a:schemeClr val="dk1"/>
              </a:solidFill>
              <a:latin typeface="Arial"/>
              <a:ea typeface="Arial"/>
              <a:cs typeface="Arial"/>
              <a:sym typeface="Arial"/>
            </a:endParaRPr>
          </a:p>
        </p:txBody>
      </p:sp>
      <p:pic>
        <p:nvPicPr>
          <p:cNvPr id="1849" name="Google Shape;1849;p59"/>
          <p:cNvPicPr preferRelativeResize="0"/>
          <p:nvPr/>
        </p:nvPicPr>
        <p:blipFill rotWithShape="1">
          <a:blip r:embed="rId4">
            <a:alphaModFix/>
          </a:blip>
          <a:srcRect b="0" l="0" r="0" t="0"/>
          <a:stretch/>
        </p:blipFill>
        <p:spPr>
          <a:xfrm>
            <a:off x="761999" y="4279407"/>
            <a:ext cx="7315201" cy="2349993"/>
          </a:xfrm>
          <a:prstGeom prst="rect">
            <a:avLst/>
          </a:prstGeom>
          <a:noFill/>
          <a:ln>
            <a:noFill/>
          </a:ln>
        </p:spPr>
      </p:pic>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9"/>
                                        </p:tgtEl>
                                        <p:attrNameLst>
                                          <p:attrName>style.visibility</p:attrName>
                                        </p:attrNameLst>
                                      </p:cBhvr>
                                      <p:to>
                                        <p:strVal val="visible"/>
                                      </p:to>
                                    </p:set>
                                    <p:animEffect filter="fade" transition="in">
                                      <p:cBhvr>
                                        <p:cTn dur="500"/>
                                        <p:tgtEl>
                                          <p:spTgt spid="18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3" name="Shape 1853"/>
        <p:cNvGrpSpPr/>
        <p:nvPr/>
      </p:nvGrpSpPr>
      <p:grpSpPr>
        <a:xfrm>
          <a:off x="0" y="0"/>
          <a:ext cx="0" cy="0"/>
          <a:chOff x="0" y="0"/>
          <a:chExt cx="0" cy="0"/>
        </a:xfrm>
      </p:grpSpPr>
      <p:pic>
        <p:nvPicPr>
          <p:cNvPr id="1854" name="Google Shape;1854;p60"/>
          <p:cNvPicPr preferRelativeResize="0"/>
          <p:nvPr/>
        </p:nvPicPr>
        <p:blipFill rotWithShape="1">
          <a:blip r:embed="rId3">
            <a:alphaModFix/>
          </a:blip>
          <a:srcRect b="0" l="0" r="0" t="0"/>
          <a:stretch/>
        </p:blipFill>
        <p:spPr>
          <a:xfrm>
            <a:off x="2493472" y="459473"/>
            <a:ext cx="409385" cy="344759"/>
          </a:xfrm>
          <a:prstGeom prst="rect">
            <a:avLst/>
          </a:prstGeom>
          <a:noFill/>
          <a:ln>
            <a:noFill/>
          </a:ln>
        </p:spPr>
      </p:pic>
      <p:pic>
        <p:nvPicPr>
          <p:cNvPr id="1855" name="Google Shape;1855;p60"/>
          <p:cNvPicPr preferRelativeResize="0"/>
          <p:nvPr/>
        </p:nvPicPr>
        <p:blipFill rotWithShape="1">
          <a:blip r:embed="rId3">
            <a:alphaModFix/>
          </a:blip>
          <a:srcRect b="0" l="0" r="0" t="0"/>
          <a:stretch/>
        </p:blipFill>
        <p:spPr>
          <a:xfrm>
            <a:off x="2493472" y="459473"/>
            <a:ext cx="409385" cy="344759"/>
          </a:xfrm>
          <a:prstGeom prst="rect">
            <a:avLst/>
          </a:prstGeom>
          <a:noFill/>
          <a:ln>
            <a:noFill/>
          </a:ln>
        </p:spPr>
      </p:pic>
      <p:sp>
        <p:nvSpPr>
          <p:cNvPr id="1856" name="Google Shape;1856;p60"/>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5 </a:t>
            </a:r>
            <a:endParaRPr b="1" i="1" sz="1600">
              <a:solidFill>
                <a:schemeClr val="lt2"/>
              </a:solidFill>
              <a:latin typeface="Arial"/>
              <a:ea typeface="Arial"/>
              <a:cs typeface="Arial"/>
              <a:sym typeface="Arial"/>
            </a:endParaRPr>
          </a:p>
        </p:txBody>
      </p:sp>
      <p:sp>
        <p:nvSpPr>
          <p:cNvPr id="1857" name="Google Shape;1857;p60"/>
          <p:cNvSpPr txBox="1"/>
          <p:nvPr/>
        </p:nvSpPr>
        <p:spPr>
          <a:xfrm>
            <a:off x="0" y="316596"/>
            <a:ext cx="3276600" cy="691039"/>
          </a:xfrm>
          <a:prstGeom prst="rect">
            <a:avLst/>
          </a:prstGeom>
          <a:solidFill>
            <a:srgbClr val="D8D8D8"/>
          </a:solidFill>
          <a:ln>
            <a:noFill/>
          </a:ln>
        </p:spPr>
        <p:txBody>
          <a:bodyPr anchorCtr="0" anchor="t" bIns="45700" lIns="0" spcFirstLastPara="1" rIns="91425" wrap="square" tIns="0">
            <a:noAutofit/>
          </a:bodyPr>
          <a:lstStyle/>
          <a:p>
            <a:pPr indent="0" lvl="0" marL="519113" marR="0" rtl="0" algn="l">
              <a:spcBef>
                <a:spcPts val="0"/>
              </a:spcBef>
              <a:spcAft>
                <a:spcPts val="0"/>
              </a:spcAft>
              <a:buNone/>
            </a:pPr>
            <a:r>
              <a:rPr b="1" lang="en-US" sz="4200">
                <a:solidFill>
                  <a:srgbClr val="FF9900"/>
                </a:solidFill>
                <a:latin typeface="Arial"/>
                <a:ea typeface="Arial"/>
                <a:cs typeface="Arial"/>
                <a:sym typeface="Arial"/>
              </a:rPr>
              <a:t>DO IT!</a:t>
            </a:r>
            <a:endParaRPr b="1" sz="4200">
              <a:solidFill>
                <a:srgbClr val="FF9900"/>
              </a:solidFill>
              <a:latin typeface="Arial"/>
              <a:ea typeface="Arial"/>
              <a:cs typeface="Arial"/>
              <a:sym typeface="Arial"/>
            </a:endParaRPr>
          </a:p>
        </p:txBody>
      </p:sp>
      <p:sp>
        <p:nvSpPr>
          <p:cNvPr id="1858" name="Google Shape;1858;p60"/>
          <p:cNvSpPr/>
          <p:nvPr/>
        </p:nvSpPr>
        <p:spPr>
          <a:xfrm>
            <a:off x="2286000" y="316598"/>
            <a:ext cx="762000" cy="691038"/>
          </a:xfrm>
          <a:prstGeom prst="ellipse">
            <a:avLst/>
          </a:prstGeom>
          <a:solidFill>
            <a:schemeClr val="accent3"/>
          </a:solidFill>
          <a:ln cap="sq" cmpd="sng" w="12700">
            <a:solidFill>
              <a:srgbClr val="7F7F7F"/>
            </a:solidFill>
            <a:prstDash val="dash"/>
            <a:round/>
            <a:headEnd len="sm" w="sm" type="none"/>
            <a:tailEnd len="sm" w="sm" type="none"/>
          </a:ln>
        </p:spPr>
        <p:txBody>
          <a:bodyPr anchorCtr="0" anchor="ctr" bIns="45700" lIns="91425" spcFirstLastPara="1" rIns="91425" wrap="square" tIns="0">
            <a:noAutofit/>
          </a:bodyPr>
          <a:lstStyle/>
          <a:p>
            <a:pPr indent="0" lvl="0" marL="0" marR="0" rtl="0" algn="ctr">
              <a:lnSpc>
                <a:spcPct val="100000"/>
              </a:lnSpc>
              <a:spcBef>
                <a:spcPts val="0"/>
              </a:spcBef>
              <a:spcAft>
                <a:spcPts val="0"/>
              </a:spcAft>
              <a:buClr>
                <a:srgbClr val="FF9900"/>
              </a:buClr>
              <a:buSzPts val="3200"/>
              <a:buFont typeface="Arial"/>
              <a:buNone/>
            </a:pPr>
            <a:r>
              <a:rPr b="1" i="0" lang="en-US" sz="3200" u="none" cap="none" strike="noStrike">
                <a:solidFill>
                  <a:srgbClr val="FF9900"/>
                </a:solidFill>
                <a:latin typeface="Arial"/>
                <a:ea typeface="Arial"/>
                <a:cs typeface="Arial"/>
                <a:sym typeface="Arial"/>
              </a:rPr>
              <a:t>5</a:t>
            </a:r>
            <a:endParaRPr/>
          </a:p>
        </p:txBody>
      </p:sp>
      <p:sp>
        <p:nvSpPr>
          <p:cNvPr id="1859" name="Google Shape;1859;p60"/>
          <p:cNvSpPr txBox="1"/>
          <p:nvPr/>
        </p:nvSpPr>
        <p:spPr>
          <a:xfrm>
            <a:off x="3276600" y="389901"/>
            <a:ext cx="5867400" cy="566928"/>
          </a:xfrm>
          <a:prstGeom prst="rect">
            <a:avLst/>
          </a:prstGeom>
          <a:solidFill>
            <a:srgbClr val="0027A4"/>
          </a:solidFill>
          <a:ln>
            <a:noFill/>
          </a:ln>
        </p:spPr>
        <p:txBody>
          <a:bodyPr anchorCtr="0" anchor="t" bIns="43225" lIns="86475" spcFirstLastPara="1" rIns="86475" wrap="square" tIns="43225">
            <a:noAutofit/>
          </a:bodyPr>
          <a:lstStyle/>
          <a:p>
            <a:pPr indent="0" lvl="0" marL="111120" marR="0" rtl="0" algn="l">
              <a:spcBef>
                <a:spcPts val="0"/>
              </a:spcBef>
              <a:spcAft>
                <a:spcPts val="0"/>
              </a:spcAft>
              <a:buNone/>
            </a:pPr>
            <a:r>
              <a:rPr b="1" lang="en-US" sz="2800">
                <a:solidFill>
                  <a:schemeClr val="lt1"/>
                </a:solidFill>
                <a:latin typeface="Arial"/>
                <a:ea typeface="Arial"/>
                <a:cs typeface="Arial"/>
                <a:sym typeface="Arial"/>
              </a:rPr>
              <a:t>Financial Statement Items</a:t>
            </a:r>
            <a:endParaRPr b="1" sz="2800">
              <a:solidFill>
                <a:schemeClr val="lt1"/>
              </a:solidFill>
              <a:latin typeface="Arial"/>
              <a:ea typeface="Arial"/>
              <a:cs typeface="Arial"/>
              <a:sym typeface="Arial"/>
            </a:endParaRPr>
          </a:p>
        </p:txBody>
      </p:sp>
      <p:sp>
        <p:nvSpPr>
          <p:cNvPr id="1860" name="Google Shape;1860;p60"/>
          <p:cNvSpPr/>
          <p:nvPr/>
        </p:nvSpPr>
        <p:spPr>
          <a:xfrm>
            <a:off x="457200" y="1237111"/>
            <a:ext cx="8305800" cy="3002873"/>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000">
                <a:solidFill>
                  <a:schemeClr val="dk1"/>
                </a:solidFill>
                <a:latin typeface="Arial"/>
                <a:ea typeface="Arial"/>
                <a:cs typeface="Arial"/>
                <a:sym typeface="Arial"/>
              </a:rPr>
              <a:t>Presented below is selected information related to Flanagan Company at December 31, 2017. Flanagan reports financial information monthly.</a:t>
            </a:r>
            <a:endParaRPr/>
          </a:p>
          <a:p>
            <a:pPr indent="0" lvl="0" marL="0" marR="0" rtl="0" algn="l">
              <a:lnSpc>
                <a:spcPct val="120000"/>
              </a:lnSpc>
              <a:spcBef>
                <a:spcPts val="200"/>
              </a:spcBef>
              <a:spcAft>
                <a:spcPts val="0"/>
              </a:spcAft>
              <a:buNone/>
            </a:pPr>
            <a:r>
              <a:rPr lang="en-US" sz="1900">
                <a:solidFill>
                  <a:schemeClr val="dk1"/>
                </a:solidFill>
                <a:latin typeface="Arial"/>
                <a:ea typeface="Arial"/>
                <a:cs typeface="Arial"/>
                <a:sym typeface="Arial"/>
              </a:rPr>
              <a:t>Equipment 	$10,000 	Utilities Expense 	$ 4,000</a:t>
            </a:r>
            <a:endParaRPr/>
          </a:p>
          <a:p>
            <a:pPr indent="0" lvl="0" marL="0" marR="0" rtl="0" algn="l">
              <a:spcBef>
                <a:spcPts val="200"/>
              </a:spcBef>
              <a:spcAft>
                <a:spcPts val="0"/>
              </a:spcAft>
              <a:buNone/>
            </a:pPr>
            <a:r>
              <a:rPr lang="en-US" sz="1900">
                <a:solidFill>
                  <a:schemeClr val="dk1"/>
                </a:solidFill>
                <a:latin typeface="Arial"/>
                <a:ea typeface="Arial"/>
                <a:cs typeface="Arial"/>
                <a:sym typeface="Arial"/>
              </a:rPr>
              <a:t>Cash 	8,000 	Accounts Receivable 	9,000</a:t>
            </a:r>
            <a:endParaRPr sz="1900">
              <a:solidFill>
                <a:schemeClr val="dk1"/>
              </a:solidFill>
              <a:latin typeface="Arial"/>
              <a:ea typeface="Arial"/>
              <a:cs typeface="Arial"/>
              <a:sym typeface="Arial"/>
            </a:endParaRPr>
          </a:p>
          <a:p>
            <a:pPr indent="0" lvl="0" marL="0" marR="0" rtl="0" algn="l">
              <a:spcBef>
                <a:spcPts val="200"/>
              </a:spcBef>
              <a:spcAft>
                <a:spcPts val="0"/>
              </a:spcAft>
              <a:buNone/>
            </a:pPr>
            <a:r>
              <a:rPr lang="en-US" sz="1900">
                <a:solidFill>
                  <a:schemeClr val="dk1"/>
                </a:solidFill>
                <a:latin typeface="Arial"/>
                <a:ea typeface="Arial"/>
                <a:cs typeface="Arial"/>
                <a:sym typeface="Arial"/>
              </a:rPr>
              <a:t>Service Revenue 	36,000 	Salaries and Wages Expense 	7,000</a:t>
            </a:r>
            <a:endParaRPr sz="1900">
              <a:solidFill>
                <a:schemeClr val="dk1"/>
              </a:solidFill>
              <a:latin typeface="Arial"/>
              <a:ea typeface="Arial"/>
              <a:cs typeface="Arial"/>
              <a:sym typeface="Arial"/>
            </a:endParaRPr>
          </a:p>
          <a:p>
            <a:pPr indent="0" lvl="0" marL="0" marR="0" rtl="0" algn="l">
              <a:spcBef>
                <a:spcPts val="200"/>
              </a:spcBef>
              <a:spcAft>
                <a:spcPts val="0"/>
              </a:spcAft>
              <a:buNone/>
            </a:pPr>
            <a:r>
              <a:rPr lang="en-US" sz="1900">
                <a:solidFill>
                  <a:schemeClr val="dk1"/>
                </a:solidFill>
                <a:latin typeface="Arial"/>
                <a:ea typeface="Arial"/>
                <a:cs typeface="Arial"/>
                <a:sym typeface="Arial"/>
              </a:rPr>
              <a:t>Rent Expense 	11,000 	Notes Payable 	16,500</a:t>
            </a:r>
            <a:endParaRPr sz="1900">
              <a:solidFill>
                <a:schemeClr val="dk1"/>
              </a:solidFill>
              <a:latin typeface="Arial"/>
              <a:ea typeface="Arial"/>
              <a:cs typeface="Arial"/>
              <a:sym typeface="Arial"/>
            </a:endParaRPr>
          </a:p>
          <a:p>
            <a:pPr indent="0" lvl="0" marL="0" marR="0" rtl="0" algn="l">
              <a:spcBef>
                <a:spcPts val="200"/>
              </a:spcBef>
              <a:spcAft>
                <a:spcPts val="0"/>
              </a:spcAft>
              <a:buNone/>
            </a:pPr>
            <a:r>
              <a:rPr lang="en-US" sz="1900">
                <a:solidFill>
                  <a:schemeClr val="dk1"/>
                </a:solidFill>
                <a:latin typeface="Arial"/>
                <a:ea typeface="Arial"/>
                <a:cs typeface="Arial"/>
                <a:sym typeface="Arial"/>
              </a:rPr>
              <a:t>Accounts Payable 	2,000 	Owner’s Drawings 	5,000</a:t>
            </a:r>
            <a:endParaRPr sz="1900">
              <a:solidFill>
                <a:schemeClr val="dk1"/>
              </a:solidFill>
              <a:latin typeface="Arial"/>
              <a:ea typeface="Arial"/>
              <a:cs typeface="Arial"/>
              <a:sym typeface="Arial"/>
            </a:endParaRPr>
          </a:p>
          <a:p>
            <a:pPr indent="-463550" lvl="0" marL="463550" marR="0" rtl="0" algn="l">
              <a:lnSpc>
                <a:spcPct val="120000"/>
              </a:lnSpc>
              <a:spcBef>
                <a:spcPts val="1200"/>
              </a:spcBef>
              <a:spcAft>
                <a:spcPts val="0"/>
              </a:spcAft>
              <a:buNone/>
            </a:pPr>
            <a:r>
              <a:rPr b="1" lang="en-US" sz="2000">
                <a:solidFill>
                  <a:schemeClr val="dk1"/>
                </a:solidFill>
                <a:latin typeface="Arial"/>
                <a:ea typeface="Arial"/>
                <a:cs typeface="Arial"/>
                <a:sym typeface="Arial"/>
              </a:rPr>
              <a:t>(c) 	Determine the owner’s equity at December 31, 2017.</a:t>
            </a:r>
            <a:endParaRPr/>
          </a:p>
        </p:txBody>
      </p:sp>
      <p:pic>
        <p:nvPicPr>
          <p:cNvPr id="1861" name="Google Shape;1861;p60"/>
          <p:cNvPicPr preferRelativeResize="0"/>
          <p:nvPr/>
        </p:nvPicPr>
        <p:blipFill rotWithShape="1">
          <a:blip r:embed="rId4">
            <a:alphaModFix/>
          </a:blip>
          <a:srcRect b="0" l="0" r="0" t="0"/>
          <a:stretch/>
        </p:blipFill>
        <p:spPr>
          <a:xfrm>
            <a:off x="457200" y="4303112"/>
            <a:ext cx="8248650" cy="1792888"/>
          </a:xfrm>
          <a:prstGeom prst="rect">
            <a:avLst/>
          </a:prstGeom>
          <a:noFill/>
          <a:ln>
            <a:noFill/>
          </a:ln>
        </p:spPr>
      </p:pic>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1"/>
                                        </p:tgtEl>
                                        <p:attrNameLst>
                                          <p:attrName>style.visibility</p:attrName>
                                        </p:attrNameLst>
                                      </p:cBhvr>
                                      <p:to>
                                        <p:strVal val="visible"/>
                                      </p:to>
                                    </p:set>
                                    <p:animEffect filter="fade" transition="in">
                                      <p:cBhvr>
                                        <p:cTn dur="500"/>
                                        <p:tgtEl>
                                          <p:spTgt spid="18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5" name="Shape 1865"/>
        <p:cNvGrpSpPr/>
        <p:nvPr/>
      </p:nvGrpSpPr>
      <p:grpSpPr>
        <a:xfrm>
          <a:off x="0" y="0"/>
          <a:ext cx="0" cy="0"/>
          <a:chOff x="0" y="0"/>
          <a:chExt cx="0" cy="0"/>
        </a:xfrm>
      </p:grpSpPr>
      <p:sp>
        <p:nvSpPr>
          <p:cNvPr id="1866" name="Google Shape;1866;p61"/>
          <p:cNvSpPr/>
          <p:nvPr/>
        </p:nvSpPr>
        <p:spPr>
          <a:xfrm>
            <a:off x="4724400" y="3962400"/>
            <a:ext cx="4038600" cy="2209800"/>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t" bIns="91425" lIns="182875" spcFirstLastPara="1" rIns="182875" wrap="square" tIns="91425">
            <a:noAutofit/>
          </a:bodyPr>
          <a:lstStyle/>
          <a:p>
            <a:pPr indent="0" lvl="0" marL="0" marR="0" rtl="0" algn="ctr">
              <a:lnSpc>
                <a:spcPct val="120000"/>
              </a:lnSpc>
              <a:spcBef>
                <a:spcPts val="0"/>
              </a:spcBef>
              <a:spcAft>
                <a:spcPts val="0"/>
              </a:spcAft>
              <a:buNone/>
            </a:pPr>
            <a:r>
              <a:rPr b="1" lang="en-US" sz="2300">
                <a:solidFill>
                  <a:srgbClr val="0000BF"/>
                </a:solidFill>
                <a:latin typeface="Arial"/>
                <a:ea typeface="Arial"/>
                <a:cs typeface="Arial"/>
                <a:sym typeface="Arial"/>
              </a:rPr>
              <a:t>Forensic</a:t>
            </a:r>
            <a:r>
              <a:rPr b="1" lang="en-US" sz="2300">
                <a:solidFill>
                  <a:srgbClr val="800000"/>
                </a:solidFill>
                <a:latin typeface="Arial"/>
                <a:ea typeface="Arial"/>
                <a:cs typeface="Arial"/>
                <a:sym typeface="Arial"/>
              </a:rPr>
              <a:t> </a:t>
            </a:r>
            <a:r>
              <a:rPr b="1" lang="en-US" sz="2300">
                <a:solidFill>
                  <a:srgbClr val="0000BF"/>
                </a:solidFill>
                <a:latin typeface="Arial"/>
                <a:ea typeface="Arial"/>
                <a:cs typeface="Arial"/>
                <a:sym typeface="Arial"/>
              </a:rPr>
              <a:t>Accounting</a:t>
            </a:r>
            <a:endParaRPr/>
          </a:p>
          <a:p>
            <a:pPr indent="0" lvl="0" marL="0" marR="0" rtl="0" algn="ctr">
              <a:lnSpc>
                <a:spcPct val="120000"/>
              </a:lnSpc>
              <a:spcBef>
                <a:spcPts val="600"/>
              </a:spcBef>
              <a:spcAft>
                <a:spcPts val="0"/>
              </a:spcAft>
              <a:buNone/>
            </a:pPr>
            <a:r>
              <a:rPr lang="en-US" sz="2000">
                <a:solidFill>
                  <a:schemeClr val="dk1"/>
                </a:solidFill>
                <a:latin typeface="Arial"/>
                <a:ea typeface="Arial"/>
                <a:cs typeface="Arial"/>
                <a:sym typeface="Arial"/>
              </a:rPr>
              <a:t>Uses accounting, auditing, and investigative skills to conduct investigations into theft and fraud.</a:t>
            </a:r>
            <a:endParaRPr/>
          </a:p>
        </p:txBody>
      </p:sp>
      <p:sp>
        <p:nvSpPr>
          <p:cNvPr id="1867" name="Google Shape;1867;p61"/>
          <p:cNvSpPr/>
          <p:nvPr/>
        </p:nvSpPr>
        <p:spPr>
          <a:xfrm>
            <a:off x="381000" y="3962400"/>
            <a:ext cx="4038600" cy="2209800"/>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t" bIns="91425" lIns="182875" spcFirstLastPara="1" rIns="182875" wrap="square" tIns="91425">
            <a:noAutofit/>
          </a:bodyPr>
          <a:lstStyle/>
          <a:p>
            <a:pPr indent="0" lvl="0" marL="0" marR="0" rtl="0" algn="ctr">
              <a:lnSpc>
                <a:spcPct val="120000"/>
              </a:lnSpc>
              <a:spcBef>
                <a:spcPts val="0"/>
              </a:spcBef>
              <a:spcAft>
                <a:spcPts val="0"/>
              </a:spcAft>
              <a:buNone/>
            </a:pPr>
            <a:r>
              <a:rPr b="1" lang="en-US" sz="2300">
                <a:solidFill>
                  <a:srgbClr val="0000BF"/>
                </a:solidFill>
                <a:latin typeface="Arial"/>
                <a:ea typeface="Arial"/>
                <a:cs typeface="Arial"/>
                <a:sym typeface="Arial"/>
              </a:rPr>
              <a:t>Governmental</a:t>
            </a:r>
            <a:r>
              <a:rPr b="1" lang="en-US" sz="2300">
                <a:solidFill>
                  <a:srgbClr val="800000"/>
                </a:solidFill>
                <a:latin typeface="Arial"/>
                <a:ea typeface="Arial"/>
                <a:cs typeface="Arial"/>
                <a:sym typeface="Arial"/>
              </a:rPr>
              <a:t> </a:t>
            </a:r>
            <a:r>
              <a:rPr b="1" lang="en-US" sz="2300">
                <a:solidFill>
                  <a:srgbClr val="0000BF"/>
                </a:solidFill>
                <a:latin typeface="Arial"/>
                <a:ea typeface="Arial"/>
                <a:cs typeface="Arial"/>
                <a:sym typeface="Arial"/>
              </a:rPr>
              <a:t>Accounting</a:t>
            </a:r>
            <a:endParaRPr/>
          </a:p>
          <a:p>
            <a:pPr indent="0" lvl="0" marL="0" marR="0" rtl="0" algn="ctr">
              <a:lnSpc>
                <a:spcPct val="120000"/>
              </a:lnSpc>
              <a:spcBef>
                <a:spcPts val="600"/>
              </a:spcBef>
              <a:spcAft>
                <a:spcPts val="0"/>
              </a:spcAft>
              <a:buNone/>
            </a:pPr>
            <a:r>
              <a:rPr lang="en-US" sz="2000">
                <a:solidFill>
                  <a:schemeClr val="dk1"/>
                </a:solidFill>
                <a:latin typeface="Arial"/>
                <a:ea typeface="Arial"/>
                <a:cs typeface="Arial"/>
                <a:sym typeface="Arial"/>
              </a:rPr>
              <a:t>Careers with the IRS, the FBI, the SEC, public colleges and universities, and in state and local governments.</a:t>
            </a:r>
            <a:endParaRPr sz="2000">
              <a:solidFill>
                <a:schemeClr val="dk1"/>
              </a:solidFill>
              <a:latin typeface="Arial"/>
              <a:ea typeface="Arial"/>
              <a:cs typeface="Arial"/>
              <a:sym typeface="Arial"/>
            </a:endParaRPr>
          </a:p>
        </p:txBody>
      </p:sp>
      <p:sp>
        <p:nvSpPr>
          <p:cNvPr id="1868" name="Google Shape;1868;p61"/>
          <p:cNvSpPr/>
          <p:nvPr/>
        </p:nvSpPr>
        <p:spPr>
          <a:xfrm>
            <a:off x="4724400" y="1524000"/>
            <a:ext cx="4038600" cy="2209800"/>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t" bIns="91425" lIns="182875" spcFirstLastPara="1" rIns="182875" wrap="square" tIns="91425">
            <a:noAutofit/>
          </a:bodyPr>
          <a:lstStyle/>
          <a:p>
            <a:pPr indent="0" lvl="0" marL="0" marR="0" rtl="0" algn="ctr">
              <a:lnSpc>
                <a:spcPct val="120000"/>
              </a:lnSpc>
              <a:spcBef>
                <a:spcPts val="0"/>
              </a:spcBef>
              <a:spcAft>
                <a:spcPts val="0"/>
              </a:spcAft>
              <a:buNone/>
            </a:pPr>
            <a:r>
              <a:rPr b="1" lang="en-US" sz="2300">
                <a:solidFill>
                  <a:srgbClr val="0000BF"/>
                </a:solidFill>
                <a:latin typeface="Arial"/>
                <a:ea typeface="Arial"/>
                <a:cs typeface="Arial"/>
                <a:sym typeface="Arial"/>
              </a:rPr>
              <a:t>Private</a:t>
            </a:r>
            <a:r>
              <a:rPr b="1" lang="en-US" sz="2300">
                <a:solidFill>
                  <a:srgbClr val="800000"/>
                </a:solidFill>
                <a:latin typeface="Arial"/>
                <a:ea typeface="Arial"/>
                <a:cs typeface="Arial"/>
                <a:sym typeface="Arial"/>
              </a:rPr>
              <a:t> </a:t>
            </a:r>
            <a:r>
              <a:rPr b="1" lang="en-US" sz="2300">
                <a:solidFill>
                  <a:srgbClr val="0000BF"/>
                </a:solidFill>
                <a:latin typeface="Arial"/>
                <a:ea typeface="Arial"/>
                <a:cs typeface="Arial"/>
                <a:sym typeface="Arial"/>
              </a:rPr>
              <a:t>Accounting</a:t>
            </a:r>
            <a:endParaRPr/>
          </a:p>
          <a:p>
            <a:pPr indent="0" lvl="0" marL="0" marR="0" rtl="0" algn="ctr">
              <a:lnSpc>
                <a:spcPct val="120000"/>
              </a:lnSpc>
              <a:spcBef>
                <a:spcPts val="600"/>
              </a:spcBef>
              <a:spcAft>
                <a:spcPts val="0"/>
              </a:spcAft>
              <a:buNone/>
            </a:pPr>
            <a:r>
              <a:rPr lang="en-US" sz="2000">
                <a:solidFill>
                  <a:schemeClr val="dk1"/>
                </a:solidFill>
                <a:latin typeface="Arial"/>
                <a:ea typeface="Arial"/>
                <a:cs typeface="Arial"/>
                <a:sym typeface="Arial"/>
              </a:rPr>
              <a:t>Careers in industry working in cost accounting, budgeting, accounting information systems, and taxation.</a:t>
            </a:r>
            <a:endParaRPr/>
          </a:p>
        </p:txBody>
      </p:sp>
      <p:sp>
        <p:nvSpPr>
          <p:cNvPr id="1869" name="Google Shape;1869;p61"/>
          <p:cNvSpPr/>
          <p:nvPr/>
        </p:nvSpPr>
        <p:spPr>
          <a:xfrm>
            <a:off x="381000" y="1524000"/>
            <a:ext cx="4038600" cy="2209800"/>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t" bIns="91425" lIns="182875" spcFirstLastPara="1" rIns="182875" wrap="square" tIns="91425">
            <a:noAutofit/>
          </a:bodyPr>
          <a:lstStyle/>
          <a:p>
            <a:pPr indent="0" lvl="0" marL="0" marR="0" rtl="0" algn="ctr">
              <a:lnSpc>
                <a:spcPct val="120000"/>
              </a:lnSpc>
              <a:spcBef>
                <a:spcPts val="0"/>
              </a:spcBef>
              <a:spcAft>
                <a:spcPts val="0"/>
              </a:spcAft>
              <a:buClr>
                <a:srgbClr val="0000BF"/>
              </a:buClr>
              <a:buSzPts val="2300"/>
              <a:buFont typeface="Noto Sans Symbols"/>
              <a:buNone/>
            </a:pPr>
            <a:r>
              <a:rPr b="1" lang="en-US" sz="2300">
                <a:solidFill>
                  <a:srgbClr val="0000BF"/>
                </a:solidFill>
                <a:latin typeface="Arial"/>
                <a:ea typeface="Arial"/>
                <a:cs typeface="Arial"/>
                <a:sym typeface="Arial"/>
              </a:rPr>
              <a:t>Public Accounting</a:t>
            </a:r>
            <a:endParaRPr/>
          </a:p>
          <a:p>
            <a:pPr indent="0" lvl="0" marL="0" marR="0" rtl="0" algn="ctr">
              <a:lnSpc>
                <a:spcPct val="120000"/>
              </a:lnSpc>
              <a:spcBef>
                <a:spcPts val="600"/>
              </a:spcBef>
              <a:spcAft>
                <a:spcPts val="0"/>
              </a:spcAft>
              <a:buClr>
                <a:schemeClr val="dk1"/>
              </a:buClr>
              <a:buSzPts val="2000"/>
              <a:buFont typeface="Noto Sans Symbols"/>
              <a:buNone/>
            </a:pPr>
            <a:r>
              <a:rPr b="0" lang="en-US" sz="2000">
                <a:solidFill>
                  <a:schemeClr val="dk1"/>
                </a:solidFill>
                <a:latin typeface="Arial"/>
                <a:ea typeface="Arial"/>
                <a:cs typeface="Arial"/>
                <a:sym typeface="Arial"/>
              </a:rPr>
              <a:t>Careers in auditing, taxation, and management consulting serving the general public.</a:t>
            </a:r>
            <a:endParaRPr/>
          </a:p>
        </p:txBody>
      </p:sp>
      <p:sp>
        <p:nvSpPr>
          <p:cNvPr id="1870" name="Google Shape;1870;p61"/>
          <p:cNvSpPr/>
          <p:nvPr/>
        </p:nvSpPr>
        <p:spPr>
          <a:xfrm>
            <a:off x="0" y="405765"/>
            <a:ext cx="2540000" cy="677228"/>
          </a:xfrm>
          <a:prstGeom prst="rect">
            <a:avLst/>
          </a:prstGeom>
          <a:solidFill>
            <a:srgbClr val="D8D8D8"/>
          </a:solidFill>
          <a:ln>
            <a:noFill/>
          </a:ln>
        </p:spPr>
        <p:txBody>
          <a:bodyPr anchorCtr="0" anchor="ctr" bIns="43225" lIns="86475" spcFirstLastPara="1" rIns="86475" wrap="square" tIns="43225">
            <a:noAutofit/>
          </a:bodyPr>
          <a:lstStyle/>
          <a:p>
            <a:pPr indent="0" lvl="0" marL="231775" marR="0" rtl="0" algn="l">
              <a:spcBef>
                <a:spcPts val="0"/>
              </a:spcBef>
              <a:spcAft>
                <a:spcPts val="0"/>
              </a:spcAft>
              <a:buNone/>
            </a:pPr>
            <a:r>
              <a:rPr b="1" lang="en-US" sz="1700">
                <a:solidFill>
                  <a:schemeClr val="dk1"/>
                </a:solidFill>
                <a:latin typeface="Arial"/>
                <a:ea typeface="Arial"/>
                <a:cs typeface="Arial"/>
                <a:sym typeface="Arial"/>
              </a:rPr>
              <a:t>LEARNING</a:t>
            </a:r>
            <a:endParaRPr/>
          </a:p>
          <a:p>
            <a:pPr indent="0" lvl="0" marL="231775" marR="0" rtl="0" algn="l">
              <a:spcBef>
                <a:spcPts val="0"/>
              </a:spcBef>
              <a:spcAft>
                <a:spcPts val="0"/>
              </a:spcAft>
              <a:buNone/>
            </a:pPr>
            <a:r>
              <a:rPr b="1" lang="en-US" sz="1700">
                <a:solidFill>
                  <a:schemeClr val="dk1"/>
                </a:solidFill>
                <a:latin typeface="Arial"/>
                <a:ea typeface="Arial"/>
                <a:cs typeface="Arial"/>
                <a:sym typeface="Arial"/>
              </a:rPr>
              <a:t>OBJECTIVE</a:t>
            </a:r>
            <a:endParaRPr/>
          </a:p>
        </p:txBody>
      </p:sp>
      <p:sp>
        <p:nvSpPr>
          <p:cNvPr id="1871" name="Google Shape;1871;p61"/>
          <p:cNvSpPr/>
          <p:nvPr/>
        </p:nvSpPr>
        <p:spPr>
          <a:xfrm>
            <a:off x="2540000" y="274320"/>
            <a:ext cx="6604000" cy="928688"/>
          </a:xfrm>
          <a:prstGeom prst="rect">
            <a:avLst/>
          </a:prstGeom>
          <a:solidFill>
            <a:srgbClr val="0027A4"/>
          </a:solidFill>
          <a:ln>
            <a:noFill/>
          </a:ln>
        </p:spPr>
        <p:txBody>
          <a:bodyPr anchorCtr="0" anchor="ctr" bIns="43225" lIns="86475" spcFirstLastPara="1" rIns="86475" wrap="square" tIns="34575">
            <a:noAutofit/>
          </a:bodyPr>
          <a:lstStyle/>
          <a:p>
            <a:pPr indent="0" lvl="0" marL="111120" marR="0" rtl="0" algn="l">
              <a:spcBef>
                <a:spcPts val="0"/>
              </a:spcBef>
              <a:spcAft>
                <a:spcPts val="0"/>
              </a:spcAft>
              <a:buNone/>
            </a:pPr>
            <a:r>
              <a:rPr b="1" lang="en-US" sz="2300">
                <a:solidFill>
                  <a:schemeClr val="lt1"/>
                </a:solidFill>
                <a:latin typeface="Arial"/>
                <a:ea typeface="Arial"/>
                <a:cs typeface="Arial"/>
                <a:sym typeface="Arial"/>
              </a:rPr>
              <a:t>APPENDIX 1A: Explain the career opportunities in accounting.</a:t>
            </a:r>
            <a:endParaRPr b="1" sz="2300">
              <a:solidFill>
                <a:schemeClr val="lt1"/>
              </a:solidFill>
              <a:latin typeface="Arial"/>
              <a:ea typeface="Arial"/>
              <a:cs typeface="Arial"/>
              <a:sym typeface="Arial"/>
            </a:endParaRPr>
          </a:p>
        </p:txBody>
      </p:sp>
      <p:sp>
        <p:nvSpPr>
          <p:cNvPr id="1872" name="Google Shape;1872;p61"/>
          <p:cNvSpPr/>
          <p:nvPr/>
        </p:nvSpPr>
        <p:spPr>
          <a:xfrm>
            <a:off x="1872343" y="485775"/>
            <a:ext cx="522514" cy="514350"/>
          </a:xfrm>
          <a:prstGeom prst="ellipse">
            <a:avLst/>
          </a:prstGeom>
          <a:solidFill>
            <a:srgbClr val="FF9900"/>
          </a:solidFill>
          <a:ln>
            <a:noFill/>
          </a:ln>
        </p:spPr>
        <p:txBody>
          <a:bodyPr anchorCtr="0" anchor="ctr" bIns="43225" lIns="86475" spcFirstLastPara="1" rIns="86475" wrap="square" tIns="0">
            <a:noAutofit/>
          </a:bodyPr>
          <a:lstStyle/>
          <a:p>
            <a:pPr indent="0" lvl="0" marL="0" marR="0" rtl="0" algn="ctr">
              <a:spcBef>
                <a:spcPts val="0"/>
              </a:spcBef>
              <a:spcAft>
                <a:spcPts val="0"/>
              </a:spcAft>
              <a:buNone/>
            </a:pPr>
            <a:r>
              <a:rPr b="1" lang="en-US" sz="2500">
                <a:solidFill>
                  <a:schemeClr val="lt1"/>
                </a:solidFill>
                <a:latin typeface="Arial"/>
                <a:ea typeface="Arial"/>
                <a:cs typeface="Arial"/>
                <a:sym typeface="Arial"/>
              </a:rPr>
              <a:t>6</a:t>
            </a:r>
            <a:endParaRPr/>
          </a:p>
        </p:txBody>
      </p:sp>
      <p:sp>
        <p:nvSpPr>
          <p:cNvPr id="1873" name="Google Shape;1873;p61"/>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6</a:t>
            </a:r>
            <a:endParaRPr b="1" i="1" sz="1600">
              <a:solidFill>
                <a:schemeClr val="lt2"/>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8"/>
                                        </p:tgtEl>
                                        <p:attrNameLst>
                                          <p:attrName>style.visibility</p:attrName>
                                        </p:attrNameLst>
                                      </p:cBhvr>
                                      <p:to>
                                        <p:strVal val="visible"/>
                                      </p:to>
                                    </p:set>
                                    <p:animEffect filter="fade" transition="in">
                                      <p:cBhvr>
                                        <p:cTn dur="500"/>
                                        <p:tgtEl>
                                          <p:spTgt spid="18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7"/>
                                        </p:tgtEl>
                                        <p:attrNameLst>
                                          <p:attrName>style.visibility</p:attrName>
                                        </p:attrNameLst>
                                      </p:cBhvr>
                                      <p:to>
                                        <p:strVal val="visible"/>
                                      </p:to>
                                    </p:set>
                                    <p:animEffect filter="fade" transition="in">
                                      <p:cBhvr>
                                        <p:cTn dur="500"/>
                                        <p:tgtEl>
                                          <p:spTgt spid="18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6"/>
                                        </p:tgtEl>
                                        <p:attrNameLst>
                                          <p:attrName>style.visibility</p:attrName>
                                        </p:attrNameLst>
                                      </p:cBhvr>
                                      <p:to>
                                        <p:strVal val="visible"/>
                                      </p:to>
                                    </p:set>
                                    <p:animEffect filter="fade" transition="in">
                                      <p:cBhvr>
                                        <p:cTn dur="500"/>
                                        <p:tgtEl>
                                          <p:spTgt spid="18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7" name="Shape 1877"/>
        <p:cNvGrpSpPr/>
        <p:nvPr/>
      </p:nvGrpSpPr>
      <p:grpSpPr>
        <a:xfrm>
          <a:off x="0" y="0"/>
          <a:ext cx="0" cy="0"/>
          <a:chOff x="0" y="0"/>
          <a:chExt cx="0" cy="0"/>
        </a:xfrm>
      </p:grpSpPr>
      <p:pic>
        <p:nvPicPr>
          <p:cNvPr id="1878" name="Google Shape;1878;p62"/>
          <p:cNvPicPr preferRelativeResize="0"/>
          <p:nvPr/>
        </p:nvPicPr>
        <p:blipFill rotWithShape="1">
          <a:blip r:embed="rId3">
            <a:alphaModFix/>
          </a:blip>
          <a:srcRect b="0" l="0" r="0" t="0"/>
          <a:stretch/>
        </p:blipFill>
        <p:spPr>
          <a:xfrm>
            <a:off x="304801" y="1907334"/>
            <a:ext cx="8534400" cy="1597866"/>
          </a:xfrm>
          <a:prstGeom prst="rect">
            <a:avLst/>
          </a:prstGeom>
          <a:noFill/>
          <a:ln>
            <a:noFill/>
          </a:ln>
        </p:spPr>
      </p:pic>
      <p:sp>
        <p:nvSpPr>
          <p:cNvPr id="1879" name="Google Shape;1879;p62"/>
          <p:cNvSpPr/>
          <p:nvPr/>
        </p:nvSpPr>
        <p:spPr>
          <a:xfrm>
            <a:off x="228600" y="1295400"/>
            <a:ext cx="8181975" cy="4154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Noto Sans Symbols"/>
              <a:buNone/>
            </a:pPr>
            <a:r>
              <a:rPr b="0" lang="en-US" sz="2000">
                <a:solidFill>
                  <a:schemeClr val="dk1"/>
                </a:solidFill>
                <a:latin typeface="Arial"/>
                <a:ea typeface="Arial"/>
                <a:cs typeface="Arial"/>
                <a:sym typeface="Arial"/>
              </a:rPr>
              <a:t>Salary estimates for jobs in public and corporate accounting</a:t>
            </a:r>
            <a:endParaRPr/>
          </a:p>
        </p:txBody>
      </p:sp>
      <p:sp>
        <p:nvSpPr>
          <p:cNvPr id="1880" name="Google Shape;1880;p62"/>
          <p:cNvSpPr/>
          <p:nvPr/>
        </p:nvSpPr>
        <p:spPr>
          <a:xfrm>
            <a:off x="7467600" y="1630363"/>
            <a:ext cx="1371600" cy="27463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Clr>
                <a:schemeClr val="dk1"/>
              </a:buClr>
              <a:buSzPts val="1200"/>
              <a:buFont typeface="Noto Sans Symbols"/>
              <a:buNone/>
            </a:pPr>
            <a:r>
              <a:rPr b="1" lang="en-US" sz="1200">
                <a:solidFill>
                  <a:schemeClr val="dk1"/>
                </a:solidFill>
                <a:latin typeface="Arial"/>
                <a:ea typeface="Arial"/>
                <a:cs typeface="Arial"/>
                <a:sym typeface="Arial"/>
              </a:rPr>
              <a:t>Illustration 1A-1</a:t>
            </a:r>
            <a:endParaRPr/>
          </a:p>
        </p:txBody>
      </p:sp>
      <p:sp>
        <p:nvSpPr>
          <p:cNvPr id="1881" name="Google Shape;1881;p62"/>
          <p:cNvSpPr/>
          <p:nvPr/>
        </p:nvSpPr>
        <p:spPr>
          <a:xfrm>
            <a:off x="228600" y="3851702"/>
            <a:ext cx="7467600" cy="4154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Upper-level management salaries in corporate accounting</a:t>
            </a:r>
            <a:endParaRPr/>
          </a:p>
        </p:txBody>
      </p:sp>
      <p:sp>
        <p:nvSpPr>
          <p:cNvPr id="1882" name="Google Shape;1882;p62"/>
          <p:cNvSpPr/>
          <p:nvPr/>
        </p:nvSpPr>
        <p:spPr>
          <a:xfrm>
            <a:off x="7467600" y="4191000"/>
            <a:ext cx="1371600" cy="27463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Clr>
                <a:schemeClr val="dk1"/>
              </a:buClr>
              <a:buSzPts val="1200"/>
              <a:buFont typeface="Noto Sans Symbols"/>
              <a:buNone/>
            </a:pPr>
            <a:r>
              <a:rPr b="1" lang="en-US" sz="1200">
                <a:solidFill>
                  <a:schemeClr val="dk1"/>
                </a:solidFill>
                <a:latin typeface="Arial"/>
                <a:ea typeface="Arial"/>
                <a:cs typeface="Arial"/>
                <a:sym typeface="Arial"/>
              </a:rPr>
              <a:t>Illustration 1A-2</a:t>
            </a:r>
            <a:endParaRPr/>
          </a:p>
        </p:txBody>
      </p:sp>
      <p:sp>
        <p:nvSpPr>
          <p:cNvPr id="1883" name="Google Shape;1883;p62"/>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6 </a:t>
            </a:r>
            <a:endParaRPr b="1" i="1" sz="1600">
              <a:solidFill>
                <a:schemeClr val="lt2"/>
              </a:solidFill>
              <a:latin typeface="Arial"/>
              <a:ea typeface="Arial"/>
              <a:cs typeface="Arial"/>
              <a:sym typeface="Arial"/>
            </a:endParaRPr>
          </a:p>
        </p:txBody>
      </p:sp>
      <p:cxnSp>
        <p:nvCxnSpPr>
          <p:cNvPr id="1884" name="Google Shape;1884;p62"/>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885" name="Google Shape;1885;p62"/>
          <p:cNvSpPr/>
          <p:nvPr/>
        </p:nvSpPr>
        <p:spPr>
          <a:xfrm>
            <a:off x="533400" y="304800"/>
            <a:ext cx="80772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“Show Me the Money”</a:t>
            </a:r>
            <a:endParaRPr b="1" sz="3200">
              <a:solidFill>
                <a:srgbClr val="0000BF"/>
              </a:solidFill>
              <a:latin typeface="Arial"/>
              <a:ea typeface="Arial"/>
              <a:cs typeface="Arial"/>
              <a:sym typeface="Arial"/>
            </a:endParaRPr>
          </a:p>
        </p:txBody>
      </p:sp>
      <p:pic>
        <p:nvPicPr>
          <p:cNvPr id="1886" name="Google Shape;1886;p62"/>
          <p:cNvPicPr preferRelativeResize="0"/>
          <p:nvPr/>
        </p:nvPicPr>
        <p:blipFill rotWithShape="1">
          <a:blip r:embed="rId4">
            <a:alphaModFix/>
          </a:blip>
          <a:srcRect b="0" l="0" r="0" t="0"/>
          <a:stretch/>
        </p:blipFill>
        <p:spPr>
          <a:xfrm>
            <a:off x="304800" y="4495800"/>
            <a:ext cx="8534401" cy="1620267"/>
          </a:xfrm>
          <a:prstGeom prst="rect">
            <a:avLst/>
          </a:prstGeom>
          <a:noFill/>
          <a:ln>
            <a:noFill/>
          </a:ln>
        </p:spPr>
      </p:pic>
    </p:spTree>
  </p:cSld>
  <p:clrMapOvr>
    <a:masterClrMapping/>
  </p:clrMapOvr>
  <p:transition>
    <p:wipe dir="r"/>
  </p:transition>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0" name="Shape 1890"/>
        <p:cNvGrpSpPr/>
        <p:nvPr/>
      </p:nvGrpSpPr>
      <p:grpSpPr>
        <a:xfrm>
          <a:off x="0" y="0"/>
          <a:ext cx="0" cy="0"/>
          <a:chOff x="0" y="0"/>
          <a:chExt cx="0" cy="0"/>
        </a:xfrm>
      </p:grpSpPr>
      <p:sp>
        <p:nvSpPr>
          <p:cNvPr id="1891" name="Google Shape;1891;p63"/>
          <p:cNvSpPr/>
          <p:nvPr/>
        </p:nvSpPr>
        <p:spPr>
          <a:xfrm>
            <a:off x="533400" y="2514600"/>
            <a:ext cx="2590800" cy="462307"/>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Clr>
                <a:srgbClr val="800000"/>
              </a:buClr>
              <a:buSzPts val="2400"/>
              <a:buFont typeface="Noto Sans Symbols"/>
              <a:buNone/>
            </a:pPr>
            <a:r>
              <a:rPr b="1" lang="en-US" sz="2400">
                <a:solidFill>
                  <a:srgbClr val="800000"/>
                </a:solidFill>
                <a:latin typeface="Arial"/>
                <a:ea typeface="Arial"/>
                <a:cs typeface="Arial"/>
                <a:sym typeface="Arial"/>
              </a:rPr>
              <a:t>Key Points</a:t>
            </a:r>
            <a:endParaRPr/>
          </a:p>
        </p:txBody>
      </p:sp>
      <p:sp>
        <p:nvSpPr>
          <p:cNvPr id="1892" name="Google Shape;1892;p63"/>
          <p:cNvSpPr/>
          <p:nvPr/>
        </p:nvSpPr>
        <p:spPr>
          <a:xfrm>
            <a:off x="533400" y="3048000"/>
            <a:ext cx="7924800" cy="3219984"/>
          </a:xfrm>
          <a:prstGeom prst="rect">
            <a:avLst/>
          </a:prstGeom>
          <a:noFill/>
          <a:ln>
            <a:noFill/>
          </a:ln>
        </p:spPr>
        <p:txBody>
          <a:bodyPr anchorCtr="0" anchor="t" bIns="45700" lIns="91425" spcFirstLastPara="1" rIns="91425" wrap="square" tIns="45700">
            <a:spAutoFit/>
          </a:bodyPr>
          <a:lstStyle/>
          <a:p>
            <a:pPr indent="0" lvl="0" marL="0" marR="0" rtl="0" algn="l">
              <a:lnSpc>
                <a:spcPct val="114000"/>
              </a:lnSpc>
              <a:spcBef>
                <a:spcPts val="0"/>
              </a:spcBef>
              <a:spcAft>
                <a:spcPts val="0"/>
              </a:spcAft>
              <a:buClr>
                <a:schemeClr val="accent2"/>
              </a:buClr>
              <a:buSzPts val="1425"/>
              <a:buFont typeface="Noto Sans Symbols"/>
              <a:buNone/>
            </a:pPr>
            <a:r>
              <a:rPr b="0" lang="en-US" sz="1900">
                <a:solidFill>
                  <a:schemeClr val="dk1"/>
                </a:solidFill>
                <a:latin typeface="Arial"/>
                <a:ea typeface="Arial"/>
                <a:cs typeface="Arial"/>
                <a:sym typeface="Arial"/>
              </a:rPr>
              <a:t>Following are the key similarities and differences between GAAP and IFRS as related to accounting fundamentals.</a:t>
            </a:r>
            <a:endParaRPr b="0" sz="1900">
              <a:solidFill>
                <a:schemeClr val="dk1"/>
              </a:solidFill>
              <a:latin typeface="Arial"/>
              <a:ea typeface="Arial"/>
              <a:cs typeface="Arial"/>
              <a:sym typeface="Arial"/>
            </a:endParaRPr>
          </a:p>
          <a:p>
            <a:pPr indent="0" lvl="1" marL="0" marR="0" rtl="0" algn="l">
              <a:lnSpc>
                <a:spcPct val="114000"/>
              </a:lnSpc>
              <a:spcBef>
                <a:spcPts val="1050"/>
              </a:spcBef>
              <a:spcAft>
                <a:spcPts val="0"/>
              </a:spcAft>
              <a:buClr>
                <a:srgbClr val="800000"/>
              </a:buClr>
              <a:buSzPts val="1680"/>
              <a:buFont typeface="Noto Sans Symbols"/>
              <a:buNone/>
            </a:pPr>
            <a:r>
              <a:rPr b="1" i="0" lang="en-US" sz="2100" u="none" cap="none" strike="noStrike">
                <a:solidFill>
                  <a:schemeClr val="dk1"/>
                </a:solidFill>
                <a:latin typeface="Arial"/>
                <a:ea typeface="Arial"/>
                <a:cs typeface="Arial"/>
                <a:sym typeface="Arial"/>
              </a:rPr>
              <a:t>Similarities</a:t>
            </a:r>
            <a:endParaRPr/>
          </a:p>
          <a:p>
            <a:pPr indent="-457200" lvl="1" marL="685800" marR="0" rtl="0" algn="l">
              <a:lnSpc>
                <a:spcPct val="114000"/>
              </a:lnSpc>
              <a:spcBef>
                <a:spcPts val="950"/>
              </a:spcBef>
              <a:spcAft>
                <a:spcPts val="0"/>
              </a:spcAft>
              <a:buClr>
                <a:srgbClr val="800000"/>
              </a:buClr>
              <a:buSzPts val="1520"/>
              <a:buFont typeface="Noto Sans Symbols"/>
              <a:buChar char="◆"/>
            </a:pPr>
            <a:r>
              <a:rPr b="0" i="0" lang="en-US" sz="1900" u="none" cap="none" strike="noStrike">
                <a:solidFill>
                  <a:schemeClr val="dk1"/>
                </a:solidFill>
                <a:latin typeface="Arial"/>
                <a:ea typeface="Arial"/>
                <a:cs typeface="Arial"/>
                <a:sym typeface="Arial"/>
              </a:rPr>
              <a:t>The basic techniques for recording business transactions are the same for U.S. and international companies.</a:t>
            </a:r>
            <a:endParaRPr/>
          </a:p>
          <a:p>
            <a:pPr indent="-457200" lvl="1" marL="685800" marR="0" rtl="0" algn="l">
              <a:lnSpc>
                <a:spcPct val="114000"/>
              </a:lnSpc>
              <a:spcBef>
                <a:spcPts val="950"/>
              </a:spcBef>
              <a:spcAft>
                <a:spcPts val="0"/>
              </a:spcAft>
              <a:buClr>
                <a:srgbClr val="800000"/>
              </a:buClr>
              <a:buSzPts val="1520"/>
              <a:buFont typeface="Noto Sans Symbols"/>
              <a:buChar char="◆"/>
            </a:pPr>
            <a:r>
              <a:rPr b="0" i="0" lang="en-US" sz="1900" u="none" cap="none" strike="noStrike">
                <a:solidFill>
                  <a:schemeClr val="dk1"/>
                </a:solidFill>
                <a:latin typeface="Arial"/>
                <a:ea typeface="Arial"/>
                <a:cs typeface="Arial"/>
                <a:sym typeface="Arial"/>
              </a:rPr>
              <a:t>Both international and U.S. accounting standards emphasize transparency in financial reporting. Both sets of standards are primarily driven by meeting the needs of investors and creditors.</a:t>
            </a:r>
            <a:endParaRPr/>
          </a:p>
        </p:txBody>
      </p:sp>
      <p:sp>
        <p:nvSpPr>
          <p:cNvPr id="1893" name="Google Shape;1893;p63"/>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7 </a:t>
            </a:r>
            <a:endParaRPr b="1" i="1" sz="1600">
              <a:solidFill>
                <a:schemeClr val="lt2"/>
              </a:solidFill>
              <a:latin typeface="Arial"/>
              <a:ea typeface="Arial"/>
              <a:cs typeface="Arial"/>
              <a:sym typeface="Arial"/>
            </a:endParaRPr>
          </a:p>
        </p:txBody>
      </p:sp>
      <p:sp>
        <p:nvSpPr>
          <p:cNvPr id="1894" name="Google Shape;1894;p63"/>
          <p:cNvSpPr/>
          <p:nvPr/>
        </p:nvSpPr>
        <p:spPr>
          <a:xfrm>
            <a:off x="0" y="1564957"/>
            <a:ext cx="2540000" cy="677228"/>
          </a:xfrm>
          <a:prstGeom prst="rect">
            <a:avLst/>
          </a:prstGeom>
          <a:solidFill>
            <a:srgbClr val="D8D8D8"/>
          </a:solidFill>
          <a:ln>
            <a:noFill/>
          </a:ln>
        </p:spPr>
        <p:txBody>
          <a:bodyPr anchorCtr="0" anchor="ctr" bIns="43225" lIns="86475" spcFirstLastPara="1" rIns="86475" wrap="square" tIns="43225">
            <a:noAutofit/>
          </a:bodyPr>
          <a:lstStyle/>
          <a:p>
            <a:pPr indent="0" lvl="0" marL="231775" marR="0" rtl="0" algn="l">
              <a:spcBef>
                <a:spcPts val="0"/>
              </a:spcBef>
              <a:spcAft>
                <a:spcPts val="0"/>
              </a:spcAft>
              <a:buNone/>
            </a:pPr>
            <a:r>
              <a:rPr b="1" lang="en-US" sz="1700">
                <a:solidFill>
                  <a:schemeClr val="dk1"/>
                </a:solidFill>
                <a:latin typeface="Arial"/>
                <a:ea typeface="Arial"/>
                <a:cs typeface="Arial"/>
                <a:sym typeface="Arial"/>
              </a:rPr>
              <a:t>LEARNING</a:t>
            </a:r>
            <a:endParaRPr/>
          </a:p>
          <a:p>
            <a:pPr indent="0" lvl="0" marL="231775" marR="0" rtl="0" algn="l">
              <a:spcBef>
                <a:spcPts val="0"/>
              </a:spcBef>
              <a:spcAft>
                <a:spcPts val="0"/>
              </a:spcAft>
              <a:buNone/>
            </a:pPr>
            <a:r>
              <a:rPr b="1" lang="en-US" sz="1700">
                <a:solidFill>
                  <a:schemeClr val="dk1"/>
                </a:solidFill>
                <a:latin typeface="Arial"/>
                <a:ea typeface="Arial"/>
                <a:cs typeface="Arial"/>
                <a:sym typeface="Arial"/>
              </a:rPr>
              <a:t>OBJECTIVE</a:t>
            </a:r>
            <a:endParaRPr/>
          </a:p>
        </p:txBody>
      </p:sp>
      <p:sp>
        <p:nvSpPr>
          <p:cNvPr id="1895" name="Google Shape;1895;p63"/>
          <p:cNvSpPr/>
          <p:nvPr/>
        </p:nvSpPr>
        <p:spPr>
          <a:xfrm>
            <a:off x="2540000" y="1433512"/>
            <a:ext cx="6604000" cy="928688"/>
          </a:xfrm>
          <a:prstGeom prst="rect">
            <a:avLst/>
          </a:prstGeom>
          <a:solidFill>
            <a:srgbClr val="0027A4"/>
          </a:solidFill>
          <a:ln>
            <a:noFill/>
          </a:ln>
        </p:spPr>
        <p:txBody>
          <a:bodyPr anchorCtr="0" anchor="ctr" bIns="43225" lIns="86475" spcFirstLastPara="1" rIns="86475" wrap="square" tIns="34575">
            <a:noAutofit/>
          </a:bodyPr>
          <a:lstStyle/>
          <a:p>
            <a:pPr indent="0" lvl="0" marL="111120" marR="0" rtl="0" algn="l">
              <a:lnSpc>
                <a:spcPct val="110000"/>
              </a:lnSpc>
              <a:spcBef>
                <a:spcPts val="0"/>
              </a:spcBef>
              <a:spcAft>
                <a:spcPts val="0"/>
              </a:spcAft>
              <a:buNone/>
            </a:pPr>
            <a:r>
              <a:rPr b="1" lang="en-US" sz="2000">
                <a:solidFill>
                  <a:schemeClr val="lt1"/>
                </a:solidFill>
                <a:latin typeface="Arial"/>
                <a:ea typeface="Arial"/>
                <a:cs typeface="Arial"/>
                <a:sym typeface="Arial"/>
              </a:rPr>
              <a:t>Describe the impact of international accounting standards on U.S. financial reporting.</a:t>
            </a:r>
            <a:endParaRPr/>
          </a:p>
        </p:txBody>
      </p:sp>
      <p:sp>
        <p:nvSpPr>
          <p:cNvPr id="1896" name="Google Shape;1896;p63"/>
          <p:cNvSpPr/>
          <p:nvPr/>
        </p:nvSpPr>
        <p:spPr>
          <a:xfrm>
            <a:off x="1828800" y="1644967"/>
            <a:ext cx="522514" cy="514350"/>
          </a:xfrm>
          <a:prstGeom prst="ellipse">
            <a:avLst/>
          </a:prstGeom>
          <a:solidFill>
            <a:srgbClr val="FF9900"/>
          </a:solidFill>
          <a:ln>
            <a:noFill/>
          </a:ln>
        </p:spPr>
        <p:txBody>
          <a:bodyPr anchorCtr="0" anchor="ctr" bIns="43225" lIns="86475" spcFirstLastPara="1" rIns="86475" wrap="square" tIns="0">
            <a:noAutofit/>
          </a:bodyPr>
          <a:lstStyle/>
          <a:p>
            <a:pPr indent="0" lvl="0" marL="0" marR="0" rtl="0" algn="ctr">
              <a:spcBef>
                <a:spcPts val="0"/>
              </a:spcBef>
              <a:spcAft>
                <a:spcPts val="0"/>
              </a:spcAft>
              <a:buNone/>
            </a:pPr>
            <a:r>
              <a:rPr b="1" lang="en-US" sz="2500">
                <a:solidFill>
                  <a:schemeClr val="lt1"/>
                </a:solidFill>
                <a:latin typeface="Arial"/>
                <a:ea typeface="Arial"/>
                <a:cs typeface="Arial"/>
                <a:sym typeface="Arial"/>
              </a:rPr>
              <a:t>7</a:t>
            </a:r>
            <a:endParaRPr b="1" sz="2500">
              <a:solidFill>
                <a:schemeClr val="lt1"/>
              </a:solidFill>
              <a:latin typeface="Arial"/>
              <a:ea typeface="Arial"/>
              <a:cs typeface="Arial"/>
              <a:sym typeface="Arial"/>
            </a:endParaRPr>
          </a:p>
        </p:txBody>
      </p:sp>
      <p:pic>
        <p:nvPicPr>
          <p:cNvPr id="1897" name="Google Shape;1897;p63"/>
          <p:cNvPicPr preferRelativeResize="0"/>
          <p:nvPr/>
        </p:nvPicPr>
        <p:blipFill rotWithShape="1">
          <a:blip r:embed="rId3">
            <a:alphaModFix/>
          </a:blip>
          <a:srcRect b="0" l="0" r="0" t="0"/>
          <a:stretch/>
        </p:blipFill>
        <p:spPr>
          <a:xfrm>
            <a:off x="0" y="0"/>
            <a:ext cx="9144000" cy="1354377"/>
          </a:xfrm>
          <a:prstGeom prst="rect">
            <a:avLst/>
          </a:prstGeom>
          <a:noFill/>
          <a:ln>
            <a:noFill/>
          </a:ln>
        </p:spPr>
      </p:pic>
    </p:spTree>
  </p:cSld>
  <p:clrMapOvr>
    <a:masterClrMapping/>
  </p:clrMapOvr>
  <p:transition>
    <p:wipe dir="r"/>
  </p:transition>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1" name="Shape 1901"/>
        <p:cNvGrpSpPr/>
        <p:nvPr/>
      </p:nvGrpSpPr>
      <p:grpSpPr>
        <a:xfrm>
          <a:off x="0" y="0"/>
          <a:ext cx="0" cy="0"/>
          <a:chOff x="0" y="0"/>
          <a:chExt cx="0" cy="0"/>
        </a:xfrm>
      </p:grpSpPr>
      <p:sp>
        <p:nvSpPr>
          <p:cNvPr id="1902" name="Google Shape;1902;p64"/>
          <p:cNvSpPr/>
          <p:nvPr/>
        </p:nvSpPr>
        <p:spPr>
          <a:xfrm>
            <a:off x="533400" y="1447800"/>
            <a:ext cx="2590800" cy="462307"/>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b="1" lang="en-US" sz="2400">
                <a:solidFill>
                  <a:srgbClr val="800000"/>
                </a:solidFill>
                <a:latin typeface="Arial"/>
                <a:ea typeface="Arial"/>
                <a:cs typeface="Arial"/>
                <a:sym typeface="Arial"/>
              </a:rPr>
              <a:t>Key Points</a:t>
            </a:r>
            <a:endParaRPr/>
          </a:p>
        </p:txBody>
      </p:sp>
      <p:sp>
        <p:nvSpPr>
          <p:cNvPr id="1903" name="Google Shape;1903;p64"/>
          <p:cNvSpPr/>
          <p:nvPr/>
        </p:nvSpPr>
        <p:spPr>
          <a:xfrm>
            <a:off x="533400" y="1981200"/>
            <a:ext cx="7924800" cy="4323491"/>
          </a:xfrm>
          <a:prstGeom prst="rect">
            <a:avLst/>
          </a:prstGeom>
          <a:noFill/>
          <a:ln>
            <a:noFill/>
          </a:ln>
        </p:spPr>
        <p:txBody>
          <a:bodyPr anchorCtr="0" anchor="t" bIns="45700" lIns="91425" spcFirstLastPara="1" rIns="91425" wrap="square" tIns="45700">
            <a:spAutoFit/>
          </a:bodyPr>
          <a:lstStyle/>
          <a:p>
            <a:pPr indent="0" lvl="1" marL="0" marR="0" rtl="0" algn="l">
              <a:lnSpc>
                <a:spcPct val="115000"/>
              </a:lnSpc>
              <a:spcBef>
                <a:spcPts val="0"/>
              </a:spcBef>
              <a:spcAft>
                <a:spcPts val="0"/>
              </a:spcAft>
              <a:buClr>
                <a:srgbClr val="800000"/>
              </a:buClr>
              <a:buSzPts val="1680"/>
              <a:buFont typeface="Noto Sans Symbols"/>
              <a:buNone/>
            </a:pPr>
            <a:r>
              <a:rPr b="1" i="0" lang="en-US" sz="2100" u="none" cap="none" strike="noStrike">
                <a:solidFill>
                  <a:schemeClr val="dk1"/>
                </a:solidFill>
                <a:latin typeface="Arial"/>
                <a:ea typeface="Arial"/>
                <a:cs typeface="Arial"/>
                <a:sym typeface="Arial"/>
              </a:rPr>
              <a:t>Similarities</a:t>
            </a:r>
            <a:endParaRPr b="1" i="0" sz="2100" u="none" cap="none" strike="noStrike">
              <a:solidFill>
                <a:schemeClr val="dk1"/>
              </a:solidFill>
              <a:latin typeface="Arial"/>
              <a:ea typeface="Arial"/>
              <a:cs typeface="Arial"/>
              <a:sym typeface="Arial"/>
            </a:endParaRPr>
          </a:p>
          <a:p>
            <a:pPr indent="-450850" lvl="1" marL="682625" marR="0" rtl="0" algn="l">
              <a:lnSpc>
                <a:spcPct val="115000"/>
              </a:lnSpc>
              <a:spcBef>
                <a:spcPts val="950"/>
              </a:spcBef>
              <a:spcAft>
                <a:spcPts val="0"/>
              </a:spcAft>
              <a:buClr>
                <a:srgbClr val="800000"/>
              </a:buClr>
              <a:buSzPts val="1520"/>
              <a:buFont typeface="Noto Sans Symbols"/>
              <a:buChar char="◆"/>
            </a:pPr>
            <a:r>
              <a:rPr b="0" i="0" lang="en-US" sz="1900" u="none" cap="none" strike="noStrike">
                <a:solidFill>
                  <a:schemeClr val="dk1"/>
                </a:solidFill>
                <a:latin typeface="Arial"/>
                <a:ea typeface="Arial"/>
                <a:cs typeface="Arial"/>
                <a:sym typeface="Arial"/>
              </a:rPr>
              <a:t>The three most common forms of business organizations, proprietorships, partnerships, and corporations, are also found in countries that use international accounting standards.</a:t>
            </a:r>
            <a:endParaRPr b="1" i="0" sz="2200" u="none" cap="none" strike="noStrike">
              <a:solidFill>
                <a:schemeClr val="dk1"/>
              </a:solidFill>
              <a:latin typeface="Arial"/>
              <a:ea typeface="Arial"/>
              <a:cs typeface="Arial"/>
              <a:sym typeface="Arial"/>
            </a:endParaRPr>
          </a:p>
          <a:p>
            <a:pPr indent="0" lvl="1" marL="0" marR="0" rtl="0" algn="l">
              <a:lnSpc>
                <a:spcPct val="115000"/>
              </a:lnSpc>
              <a:spcBef>
                <a:spcPts val="1050"/>
              </a:spcBef>
              <a:spcAft>
                <a:spcPts val="0"/>
              </a:spcAft>
              <a:buClr>
                <a:srgbClr val="800000"/>
              </a:buClr>
              <a:buSzPts val="1680"/>
              <a:buFont typeface="Noto Sans Symbols"/>
              <a:buNone/>
            </a:pPr>
            <a:r>
              <a:rPr b="1" i="0" lang="en-US" sz="2100" u="none" cap="none" strike="noStrike">
                <a:solidFill>
                  <a:schemeClr val="dk1"/>
                </a:solidFill>
                <a:latin typeface="Arial"/>
                <a:ea typeface="Arial"/>
                <a:cs typeface="Arial"/>
                <a:sym typeface="Arial"/>
              </a:rPr>
              <a:t>Differences</a:t>
            </a:r>
            <a:endParaRPr/>
          </a:p>
          <a:p>
            <a:pPr indent="-457200" lvl="1" marL="685800" marR="0" rtl="0" algn="l">
              <a:lnSpc>
                <a:spcPct val="115000"/>
              </a:lnSpc>
              <a:spcBef>
                <a:spcPts val="950"/>
              </a:spcBef>
              <a:spcAft>
                <a:spcPts val="0"/>
              </a:spcAft>
              <a:buClr>
                <a:srgbClr val="800000"/>
              </a:buClr>
              <a:buSzPts val="1520"/>
              <a:buFont typeface="Noto Sans Symbols"/>
              <a:buChar char="◆"/>
            </a:pPr>
            <a:r>
              <a:rPr b="0" i="0" lang="en-US" sz="1900" u="none" cap="none" strike="noStrike">
                <a:solidFill>
                  <a:schemeClr val="dk1"/>
                </a:solidFill>
                <a:latin typeface="Arial"/>
                <a:ea typeface="Arial"/>
                <a:cs typeface="Arial"/>
                <a:sym typeface="Arial"/>
              </a:rPr>
              <a:t>International standards are referred to as International Financial Reporting Standards (IFRS), developed by the International Accounting Standards Board. Accounting standards in the United States are referred to as generally accepted accounting principles (GAAP) and are developed by the Financial Accounting Standards Board.</a:t>
            </a:r>
            <a:endParaRPr/>
          </a:p>
        </p:txBody>
      </p:sp>
      <p:sp>
        <p:nvSpPr>
          <p:cNvPr id="1904" name="Google Shape;1904;p64"/>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7 </a:t>
            </a:r>
            <a:endParaRPr b="1" i="1" sz="1600">
              <a:solidFill>
                <a:schemeClr val="lt2"/>
              </a:solidFill>
              <a:latin typeface="Arial"/>
              <a:ea typeface="Arial"/>
              <a:cs typeface="Arial"/>
              <a:sym typeface="Arial"/>
            </a:endParaRPr>
          </a:p>
        </p:txBody>
      </p:sp>
      <p:pic>
        <p:nvPicPr>
          <p:cNvPr id="1905" name="Google Shape;1905;p64"/>
          <p:cNvPicPr preferRelativeResize="0"/>
          <p:nvPr/>
        </p:nvPicPr>
        <p:blipFill rotWithShape="1">
          <a:blip r:embed="rId3">
            <a:alphaModFix/>
          </a:blip>
          <a:srcRect b="0" l="0" r="0" t="0"/>
          <a:stretch/>
        </p:blipFill>
        <p:spPr>
          <a:xfrm>
            <a:off x="0" y="0"/>
            <a:ext cx="9144000" cy="1354377"/>
          </a:xfrm>
          <a:prstGeom prst="rect">
            <a:avLst/>
          </a:prstGeom>
          <a:noFill/>
          <a:ln>
            <a:noFill/>
          </a:ln>
        </p:spPr>
      </p:pic>
    </p:spTree>
  </p:cSld>
  <p:clrMapOvr>
    <a:masterClrMapping/>
  </p:clrMapOvr>
  <p:transition>
    <p:wipe dir="r"/>
  </p:transition>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9" name="Shape 1909"/>
        <p:cNvGrpSpPr/>
        <p:nvPr/>
      </p:nvGrpSpPr>
      <p:grpSpPr>
        <a:xfrm>
          <a:off x="0" y="0"/>
          <a:ext cx="0" cy="0"/>
          <a:chOff x="0" y="0"/>
          <a:chExt cx="0" cy="0"/>
        </a:xfrm>
      </p:grpSpPr>
      <p:sp>
        <p:nvSpPr>
          <p:cNvPr id="1910" name="Google Shape;1910;p65"/>
          <p:cNvSpPr/>
          <p:nvPr/>
        </p:nvSpPr>
        <p:spPr>
          <a:xfrm>
            <a:off x="533400" y="1447800"/>
            <a:ext cx="2590800" cy="462307"/>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b="1" lang="en-US" sz="2400">
                <a:solidFill>
                  <a:srgbClr val="800000"/>
                </a:solidFill>
                <a:latin typeface="Arial"/>
                <a:ea typeface="Arial"/>
                <a:cs typeface="Arial"/>
                <a:sym typeface="Arial"/>
              </a:rPr>
              <a:t>Key Points</a:t>
            </a:r>
            <a:endParaRPr/>
          </a:p>
        </p:txBody>
      </p:sp>
      <p:sp>
        <p:nvSpPr>
          <p:cNvPr id="1911" name="Google Shape;1911;p65"/>
          <p:cNvSpPr/>
          <p:nvPr/>
        </p:nvSpPr>
        <p:spPr>
          <a:xfrm>
            <a:off x="533400" y="1981200"/>
            <a:ext cx="7924800" cy="3446328"/>
          </a:xfrm>
          <a:prstGeom prst="rect">
            <a:avLst/>
          </a:prstGeom>
          <a:noFill/>
          <a:ln>
            <a:noFill/>
          </a:ln>
        </p:spPr>
        <p:txBody>
          <a:bodyPr anchorCtr="0" anchor="t" bIns="45700" lIns="91425" spcFirstLastPara="1" rIns="91425" wrap="square" tIns="45700">
            <a:spAutoFit/>
          </a:bodyPr>
          <a:lstStyle/>
          <a:p>
            <a:pPr indent="0" lvl="1" marL="0" marR="0" rtl="0" algn="l">
              <a:lnSpc>
                <a:spcPct val="115000"/>
              </a:lnSpc>
              <a:spcBef>
                <a:spcPts val="0"/>
              </a:spcBef>
              <a:spcAft>
                <a:spcPts val="0"/>
              </a:spcAft>
              <a:buClr>
                <a:srgbClr val="800000"/>
              </a:buClr>
              <a:buSzPts val="1680"/>
              <a:buFont typeface="Noto Sans Symbols"/>
              <a:buNone/>
            </a:pPr>
            <a:r>
              <a:rPr b="1" i="0" lang="en-US" sz="2100" u="none" cap="none" strike="noStrike">
                <a:solidFill>
                  <a:schemeClr val="dk1"/>
                </a:solidFill>
                <a:latin typeface="Arial"/>
                <a:ea typeface="Arial"/>
                <a:cs typeface="Arial"/>
                <a:sym typeface="Arial"/>
              </a:rPr>
              <a:t>Differences</a:t>
            </a:r>
            <a:endParaRPr/>
          </a:p>
          <a:p>
            <a:pPr indent="-457200" lvl="1" marL="685800" marR="0" rtl="0" algn="l">
              <a:lnSpc>
                <a:spcPct val="115000"/>
              </a:lnSpc>
              <a:spcBef>
                <a:spcPts val="950"/>
              </a:spcBef>
              <a:spcAft>
                <a:spcPts val="0"/>
              </a:spcAft>
              <a:buClr>
                <a:srgbClr val="800000"/>
              </a:buClr>
              <a:buSzPts val="1520"/>
              <a:buFont typeface="Noto Sans Symbols"/>
              <a:buChar char="◆"/>
            </a:pPr>
            <a:r>
              <a:rPr b="0" i="0" lang="en-US" sz="1900" u="none" cap="none" strike="noStrike">
                <a:solidFill>
                  <a:schemeClr val="dk1"/>
                </a:solidFill>
                <a:latin typeface="Arial"/>
                <a:ea typeface="Arial"/>
                <a:cs typeface="Arial"/>
                <a:sym typeface="Arial"/>
              </a:rPr>
              <a:t>IFRS tends to be simpler in its accounting and disclosure requirements; some people say it is more “principles-based.” GAAP is more detailed; some people say it is more “rules-based.”</a:t>
            </a:r>
            <a:endParaRPr/>
          </a:p>
          <a:p>
            <a:pPr indent="-457200" lvl="1" marL="685800" marR="0" rtl="0" algn="l">
              <a:lnSpc>
                <a:spcPct val="115000"/>
              </a:lnSpc>
              <a:spcBef>
                <a:spcPts val="950"/>
              </a:spcBef>
              <a:spcAft>
                <a:spcPts val="0"/>
              </a:spcAft>
              <a:buClr>
                <a:srgbClr val="800000"/>
              </a:buClr>
              <a:buSzPts val="1520"/>
              <a:buFont typeface="Noto Sans Symbols"/>
              <a:buChar char="◆"/>
            </a:pPr>
            <a:r>
              <a:rPr b="0" i="0" lang="en-US" sz="1900" u="none" cap="none" strike="noStrike">
                <a:solidFill>
                  <a:schemeClr val="dk1"/>
                </a:solidFill>
                <a:latin typeface="Arial"/>
                <a:ea typeface="Arial"/>
                <a:cs typeface="Arial"/>
                <a:sym typeface="Arial"/>
              </a:rPr>
              <a:t>The internal control standards applicable to Sarbanes-Oxley (SOX) apply only to large public companies listed on U.S. exchanges. There is continuing debate as to whether non-U.S. companies should have to comply with this extra layer of regulation.</a:t>
            </a:r>
            <a:endParaRPr/>
          </a:p>
        </p:txBody>
      </p:sp>
      <p:sp>
        <p:nvSpPr>
          <p:cNvPr id="1912" name="Google Shape;1912;p65"/>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7 </a:t>
            </a:r>
            <a:endParaRPr b="1" i="1" sz="1600">
              <a:solidFill>
                <a:schemeClr val="lt2"/>
              </a:solidFill>
              <a:latin typeface="Arial"/>
              <a:ea typeface="Arial"/>
              <a:cs typeface="Arial"/>
              <a:sym typeface="Arial"/>
            </a:endParaRPr>
          </a:p>
        </p:txBody>
      </p:sp>
      <p:pic>
        <p:nvPicPr>
          <p:cNvPr id="1913" name="Google Shape;1913;p65"/>
          <p:cNvPicPr preferRelativeResize="0"/>
          <p:nvPr/>
        </p:nvPicPr>
        <p:blipFill rotWithShape="1">
          <a:blip r:embed="rId3">
            <a:alphaModFix/>
          </a:blip>
          <a:srcRect b="0" l="0" r="0" t="0"/>
          <a:stretch/>
        </p:blipFill>
        <p:spPr>
          <a:xfrm>
            <a:off x="0" y="0"/>
            <a:ext cx="9144000" cy="1354377"/>
          </a:xfrm>
          <a:prstGeom prst="rect">
            <a:avLst/>
          </a:prstGeom>
          <a:noFill/>
          <a:ln>
            <a:noFill/>
          </a:ln>
        </p:spPr>
      </p:pic>
    </p:spTree>
  </p:cSld>
  <p:clrMapOvr>
    <a:masterClrMapping/>
  </p:clrMapOvr>
  <p:transition>
    <p:wipe dir="r"/>
  </p:transition>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7" name="Shape 1917"/>
        <p:cNvGrpSpPr/>
        <p:nvPr/>
      </p:nvGrpSpPr>
      <p:grpSpPr>
        <a:xfrm>
          <a:off x="0" y="0"/>
          <a:ext cx="0" cy="0"/>
          <a:chOff x="0" y="0"/>
          <a:chExt cx="0" cy="0"/>
        </a:xfrm>
      </p:grpSpPr>
      <p:sp>
        <p:nvSpPr>
          <p:cNvPr id="1918" name="Google Shape;1918;p66"/>
          <p:cNvSpPr/>
          <p:nvPr/>
        </p:nvSpPr>
        <p:spPr>
          <a:xfrm>
            <a:off x="533400" y="1447800"/>
            <a:ext cx="3810000" cy="462307"/>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b="1" lang="en-US" sz="2400">
                <a:solidFill>
                  <a:srgbClr val="800000"/>
                </a:solidFill>
                <a:latin typeface="Arial"/>
                <a:ea typeface="Arial"/>
                <a:cs typeface="Arial"/>
                <a:sym typeface="Arial"/>
              </a:rPr>
              <a:t>Looking to the Future</a:t>
            </a:r>
            <a:endParaRPr/>
          </a:p>
        </p:txBody>
      </p:sp>
      <p:sp>
        <p:nvSpPr>
          <p:cNvPr id="1919" name="Google Shape;1919;p66"/>
          <p:cNvSpPr/>
          <p:nvPr/>
        </p:nvSpPr>
        <p:spPr>
          <a:xfrm>
            <a:off x="533400" y="1981200"/>
            <a:ext cx="7924800" cy="1072473"/>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800000"/>
              </a:buClr>
              <a:buSzPts val="1520"/>
              <a:buFont typeface="Noto Sans Symbols"/>
              <a:buNone/>
            </a:pPr>
            <a:r>
              <a:rPr b="0" lang="en-US" sz="1900">
                <a:solidFill>
                  <a:schemeClr val="dk1"/>
                </a:solidFill>
                <a:latin typeface="Arial"/>
                <a:ea typeface="Arial"/>
                <a:cs typeface="Arial"/>
                <a:sym typeface="Arial"/>
              </a:rPr>
              <a:t>Both the IASB and the FASB are hard at work developing standards that will lead to the elimination of major differences in the way certain transactions are accounted for and reported.</a:t>
            </a:r>
            <a:endParaRPr b="0" sz="1900">
              <a:solidFill>
                <a:schemeClr val="dk1"/>
              </a:solidFill>
              <a:latin typeface="Arial"/>
              <a:ea typeface="Arial"/>
              <a:cs typeface="Arial"/>
              <a:sym typeface="Arial"/>
            </a:endParaRPr>
          </a:p>
        </p:txBody>
      </p:sp>
      <p:sp>
        <p:nvSpPr>
          <p:cNvPr id="1920" name="Google Shape;1920;p66"/>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7 </a:t>
            </a:r>
            <a:endParaRPr b="1" i="1" sz="1600">
              <a:solidFill>
                <a:schemeClr val="lt2"/>
              </a:solidFill>
              <a:latin typeface="Arial"/>
              <a:ea typeface="Arial"/>
              <a:cs typeface="Arial"/>
              <a:sym typeface="Arial"/>
            </a:endParaRPr>
          </a:p>
        </p:txBody>
      </p:sp>
      <p:pic>
        <p:nvPicPr>
          <p:cNvPr id="1921" name="Google Shape;1921;p66"/>
          <p:cNvPicPr preferRelativeResize="0"/>
          <p:nvPr/>
        </p:nvPicPr>
        <p:blipFill rotWithShape="1">
          <a:blip r:embed="rId3">
            <a:alphaModFix/>
          </a:blip>
          <a:srcRect b="0" l="0" r="0" t="0"/>
          <a:stretch/>
        </p:blipFill>
        <p:spPr>
          <a:xfrm>
            <a:off x="0" y="0"/>
            <a:ext cx="9144000" cy="1354377"/>
          </a:xfrm>
          <a:prstGeom prst="rect">
            <a:avLst/>
          </a:prstGeom>
          <a:noFill/>
          <a:ln>
            <a:noFill/>
          </a:ln>
        </p:spPr>
      </p:pic>
    </p:spTree>
  </p:cSld>
  <p:clrMapOvr>
    <a:masterClrMapping/>
  </p:clrMapOvr>
  <p:transition>
    <p:wipe dir="r"/>
  </p:transition>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5" name="Shape 1925"/>
        <p:cNvGrpSpPr/>
        <p:nvPr/>
      </p:nvGrpSpPr>
      <p:grpSpPr>
        <a:xfrm>
          <a:off x="0" y="0"/>
          <a:ext cx="0" cy="0"/>
          <a:chOff x="0" y="0"/>
          <a:chExt cx="0" cy="0"/>
        </a:xfrm>
      </p:grpSpPr>
      <p:sp>
        <p:nvSpPr>
          <p:cNvPr id="1926" name="Google Shape;1926;p67"/>
          <p:cNvSpPr/>
          <p:nvPr/>
        </p:nvSpPr>
        <p:spPr>
          <a:xfrm>
            <a:off x="533400" y="1981200"/>
            <a:ext cx="7924800" cy="3016210"/>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Clr>
                <a:srgbClr val="800000"/>
              </a:buClr>
              <a:buSzPts val="1600"/>
              <a:buFont typeface="Noto Sans Symbols"/>
              <a:buNone/>
            </a:pPr>
            <a:r>
              <a:rPr b="0" lang="en-US" sz="2000">
                <a:solidFill>
                  <a:schemeClr val="dk1"/>
                </a:solidFill>
                <a:latin typeface="Arial"/>
                <a:ea typeface="Arial"/>
                <a:cs typeface="Arial"/>
                <a:sym typeface="Arial"/>
              </a:rPr>
              <a:t>Which of the following is </a:t>
            </a:r>
            <a:r>
              <a:rPr b="1" lang="en-US" sz="2000">
                <a:solidFill>
                  <a:schemeClr val="dk1"/>
                </a:solidFill>
                <a:latin typeface="Arial"/>
                <a:ea typeface="Arial"/>
                <a:cs typeface="Arial"/>
                <a:sym typeface="Arial"/>
              </a:rPr>
              <a:t>not </a:t>
            </a:r>
            <a:r>
              <a:rPr b="0" lang="en-US" sz="2000">
                <a:solidFill>
                  <a:schemeClr val="dk1"/>
                </a:solidFill>
                <a:latin typeface="Arial"/>
                <a:ea typeface="Arial"/>
                <a:cs typeface="Arial"/>
                <a:sym typeface="Arial"/>
              </a:rPr>
              <a:t>a reason why a single set of high-quality international accounting standards would be beneficial?</a:t>
            </a:r>
            <a:endParaRPr/>
          </a:p>
          <a:p>
            <a:pPr indent="-457200" lvl="1" marL="685800" marR="0" rtl="0" algn="l">
              <a:lnSpc>
                <a:spcPct val="125000"/>
              </a:lnSpc>
              <a:spcBef>
                <a:spcPts val="1000"/>
              </a:spcBef>
              <a:spcAft>
                <a:spcPts val="0"/>
              </a:spcAft>
              <a:buClr>
                <a:schemeClr val="dk1"/>
              </a:buClr>
              <a:buSzPts val="2000"/>
              <a:buFont typeface="Noto Sans Symbols"/>
              <a:buAutoNum type="alphaLcParenR"/>
            </a:pPr>
            <a:r>
              <a:rPr b="0" i="0" lang="en-US" sz="2000" u="none" cap="none" strike="noStrike">
                <a:solidFill>
                  <a:schemeClr val="dk1"/>
                </a:solidFill>
                <a:latin typeface="Arial"/>
                <a:ea typeface="Arial"/>
                <a:cs typeface="Arial"/>
                <a:sym typeface="Arial"/>
              </a:rPr>
              <a:t>Mergers and acquisition activity.</a:t>
            </a:r>
            <a:endParaRPr/>
          </a:p>
          <a:p>
            <a:pPr indent="-457200" lvl="1" marL="685800" marR="0" rtl="0" algn="l">
              <a:lnSpc>
                <a:spcPct val="125000"/>
              </a:lnSpc>
              <a:spcBef>
                <a:spcPts val="1000"/>
              </a:spcBef>
              <a:spcAft>
                <a:spcPts val="0"/>
              </a:spcAft>
              <a:buClr>
                <a:schemeClr val="dk1"/>
              </a:buClr>
              <a:buSzPts val="2000"/>
              <a:buFont typeface="Noto Sans Symbols"/>
              <a:buAutoNum type="alphaLcParenR"/>
            </a:pPr>
            <a:r>
              <a:rPr b="0" i="0" lang="en-US" sz="2000" u="none" cap="none" strike="noStrike">
                <a:solidFill>
                  <a:schemeClr val="dk1"/>
                </a:solidFill>
                <a:latin typeface="Arial"/>
                <a:ea typeface="Arial"/>
                <a:cs typeface="Arial"/>
                <a:sym typeface="Arial"/>
              </a:rPr>
              <a:t>Financial markets.</a:t>
            </a:r>
            <a:endParaRPr/>
          </a:p>
          <a:p>
            <a:pPr indent="-457200" lvl="1" marL="685800" marR="0" rtl="0" algn="l">
              <a:lnSpc>
                <a:spcPct val="125000"/>
              </a:lnSpc>
              <a:spcBef>
                <a:spcPts val="1000"/>
              </a:spcBef>
              <a:spcAft>
                <a:spcPts val="0"/>
              </a:spcAft>
              <a:buClr>
                <a:schemeClr val="dk1"/>
              </a:buClr>
              <a:buSzPts val="2000"/>
              <a:buFont typeface="Noto Sans Symbols"/>
              <a:buAutoNum type="alphaLcParenR"/>
            </a:pPr>
            <a:r>
              <a:rPr b="0" i="0" lang="en-US" sz="2000" u="none" cap="none" strike="noStrike">
                <a:solidFill>
                  <a:schemeClr val="dk1"/>
                </a:solidFill>
                <a:latin typeface="Arial"/>
                <a:ea typeface="Arial"/>
                <a:cs typeface="Arial"/>
                <a:sym typeface="Arial"/>
              </a:rPr>
              <a:t>Multinational corporations.</a:t>
            </a:r>
            <a:endParaRPr/>
          </a:p>
          <a:p>
            <a:pPr indent="-457200" lvl="1" marL="685800" marR="0" rtl="0" algn="l">
              <a:lnSpc>
                <a:spcPct val="125000"/>
              </a:lnSpc>
              <a:spcBef>
                <a:spcPts val="1000"/>
              </a:spcBef>
              <a:spcAft>
                <a:spcPts val="0"/>
              </a:spcAft>
              <a:buClr>
                <a:schemeClr val="dk1"/>
              </a:buClr>
              <a:buSzPts val="2000"/>
              <a:buFont typeface="Noto Sans Symbols"/>
              <a:buAutoNum type="alphaLcParenR"/>
            </a:pPr>
            <a:r>
              <a:rPr b="0" i="0" lang="en-US" sz="2000" u="none" cap="none" strike="noStrike">
                <a:solidFill>
                  <a:schemeClr val="dk1"/>
                </a:solidFill>
                <a:latin typeface="Arial"/>
                <a:ea typeface="Arial"/>
                <a:cs typeface="Arial"/>
                <a:sym typeface="Arial"/>
              </a:rPr>
              <a:t>GAAP is widely considered to be a superior reporting system.</a:t>
            </a:r>
            <a:endParaRPr/>
          </a:p>
        </p:txBody>
      </p:sp>
      <p:sp>
        <p:nvSpPr>
          <p:cNvPr id="1927" name="Google Shape;1927;p67"/>
          <p:cNvSpPr txBox="1"/>
          <p:nvPr/>
        </p:nvSpPr>
        <p:spPr>
          <a:xfrm>
            <a:off x="1905000" y="414338"/>
            <a:ext cx="4114800" cy="582211"/>
          </a:xfrm>
          <a:prstGeom prst="rect">
            <a:avLst/>
          </a:prstGeom>
          <a:noFill/>
          <a:ln>
            <a:noFill/>
          </a:ln>
        </p:spPr>
        <p:txBody>
          <a:bodyPr anchorCtr="0" anchor="t" bIns="44450" lIns="90475" spcFirstLastPara="1" rIns="90475" wrap="square" tIns="44450">
            <a:spAutoFit/>
          </a:bodyPr>
          <a:lstStyle/>
          <a:p>
            <a:pPr indent="0" lvl="0" marL="114300" marR="0" rtl="0" algn="ctr">
              <a:spcBef>
                <a:spcPts val="0"/>
              </a:spcBef>
              <a:spcAft>
                <a:spcPts val="0"/>
              </a:spcAft>
              <a:buClr>
                <a:schemeClr val="lt1"/>
              </a:buClr>
              <a:buSzPts val="3200"/>
              <a:buFont typeface="Noto Sans Symbols"/>
              <a:buNone/>
            </a:pPr>
            <a:r>
              <a:rPr b="1" lang="en-US" sz="3200">
                <a:solidFill>
                  <a:schemeClr val="lt1"/>
                </a:solidFill>
                <a:latin typeface="Arial"/>
                <a:ea typeface="Arial"/>
                <a:cs typeface="Arial"/>
                <a:sym typeface="Arial"/>
              </a:rPr>
              <a:t>A Look at IFRS</a:t>
            </a:r>
            <a:endParaRPr/>
          </a:p>
        </p:txBody>
      </p:sp>
      <p:sp>
        <p:nvSpPr>
          <p:cNvPr id="1928" name="Google Shape;1928;p67"/>
          <p:cNvSpPr/>
          <p:nvPr/>
        </p:nvSpPr>
        <p:spPr>
          <a:xfrm>
            <a:off x="533400" y="1447800"/>
            <a:ext cx="4648200" cy="462307"/>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Clr>
                <a:schemeClr val="dk1"/>
              </a:buClr>
              <a:buSzPts val="2400"/>
              <a:buFont typeface="Noto Sans Symbols"/>
              <a:buNone/>
            </a:pPr>
            <a:r>
              <a:rPr b="1" lang="en-US" sz="2400">
                <a:solidFill>
                  <a:schemeClr val="dk1"/>
                </a:solidFill>
                <a:latin typeface="Arial"/>
                <a:ea typeface="Arial"/>
                <a:cs typeface="Arial"/>
                <a:sym typeface="Arial"/>
              </a:rPr>
              <a:t>IFRS Self-Test Questions</a:t>
            </a:r>
            <a:endParaRPr b="1" sz="2400">
              <a:solidFill>
                <a:schemeClr val="dk1"/>
              </a:solidFill>
              <a:latin typeface="Arial"/>
              <a:ea typeface="Arial"/>
              <a:cs typeface="Arial"/>
              <a:sym typeface="Arial"/>
            </a:endParaRPr>
          </a:p>
        </p:txBody>
      </p:sp>
      <p:sp>
        <p:nvSpPr>
          <p:cNvPr id="1929" name="Google Shape;1929;p67"/>
          <p:cNvSpPr/>
          <p:nvPr/>
        </p:nvSpPr>
        <p:spPr>
          <a:xfrm>
            <a:off x="152400" y="4516438"/>
            <a:ext cx="609600" cy="457200"/>
          </a:xfrm>
          <a:prstGeom prst="notchedRightArrow">
            <a:avLst>
              <a:gd fmla="val 50000" name="adj1"/>
              <a:gd fmla="val 50000" name="adj2"/>
            </a:avLst>
          </a:prstGeom>
          <a:solidFill>
            <a:srgbClr val="0000BF"/>
          </a:solidFill>
          <a:ln cap="sq"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1930" name="Google Shape;1930;p67"/>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7 </a:t>
            </a:r>
            <a:endParaRPr b="1" i="1" sz="1600">
              <a:solidFill>
                <a:schemeClr val="lt2"/>
              </a:solidFill>
              <a:latin typeface="Arial"/>
              <a:ea typeface="Arial"/>
              <a:cs typeface="Arial"/>
              <a:sym typeface="Arial"/>
            </a:endParaRPr>
          </a:p>
        </p:txBody>
      </p:sp>
      <p:pic>
        <p:nvPicPr>
          <p:cNvPr id="1931" name="Google Shape;1931;p67"/>
          <p:cNvPicPr preferRelativeResize="0"/>
          <p:nvPr/>
        </p:nvPicPr>
        <p:blipFill rotWithShape="1">
          <a:blip r:embed="rId3">
            <a:alphaModFix/>
          </a:blip>
          <a:srcRect b="0" l="0" r="0" t="0"/>
          <a:stretch/>
        </p:blipFill>
        <p:spPr>
          <a:xfrm>
            <a:off x="0" y="0"/>
            <a:ext cx="9144000" cy="1354377"/>
          </a:xfrm>
          <a:prstGeom prst="rect">
            <a:avLst/>
          </a:prstGeom>
          <a:noFill/>
          <a:ln>
            <a:noFill/>
          </a:ln>
        </p:spPr>
      </p:pic>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9"/>
                                        </p:tgtEl>
                                        <p:attrNameLst>
                                          <p:attrName>style.visibility</p:attrName>
                                        </p:attrNameLst>
                                      </p:cBhvr>
                                      <p:to>
                                        <p:strVal val="visible"/>
                                      </p:to>
                                    </p:set>
                                    <p:animEffect filter="fade" transition="in">
                                      <p:cBhvr>
                                        <p:cTn dur="500"/>
                                        <p:tgtEl>
                                          <p:spTgt spid="19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5" name="Shape 1935"/>
        <p:cNvGrpSpPr/>
        <p:nvPr/>
      </p:nvGrpSpPr>
      <p:grpSpPr>
        <a:xfrm>
          <a:off x="0" y="0"/>
          <a:ext cx="0" cy="0"/>
          <a:chOff x="0" y="0"/>
          <a:chExt cx="0" cy="0"/>
        </a:xfrm>
      </p:grpSpPr>
      <p:sp>
        <p:nvSpPr>
          <p:cNvPr id="1936" name="Google Shape;1936;p68"/>
          <p:cNvSpPr/>
          <p:nvPr/>
        </p:nvSpPr>
        <p:spPr>
          <a:xfrm>
            <a:off x="533400" y="1981200"/>
            <a:ext cx="7924800" cy="2631490"/>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Clr>
                <a:srgbClr val="800000"/>
              </a:buClr>
              <a:buSzPts val="1600"/>
              <a:buFont typeface="Noto Sans Symbols"/>
              <a:buNone/>
            </a:pPr>
            <a:r>
              <a:rPr b="0" lang="en-US" sz="2000">
                <a:solidFill>
                  <a:schemeClr val="dk1"/>
                </a:solidFill>
                <a:latin typeface="Arial"/>
                <a:ea typeface="Arial"/>
                <a:cs typeface="Arial"/>
                <a:sym typeface="Arial"/>
              </a:rPr>
              <a:t>The Sarbanes-Oxley Act determines:</a:t>
            </a:r>
            <a:endParaRPr/>
          </a:p>
          <a:p>
            <a:pPr indent="-457200" lvl="1" marL="685800" marR="0" rtl="0" algn="l">
              <a:lnSpc>
                <a:spcPct val="125000"/>
              </a:lnSpc>
              <a:spcBef>
                <a:spcPts val="1000"/>
              </a:spcBef>
              <a:spcAft>
                <a:spcPts val="0"/>
              </a:spcAft>
              <a:buClr>
                <a:schemeClr val="dk1"/>
              </a:buClr>
              <a:buSzPts val="2000"/>
              <a:buFont typeface="Noto Sans Symbols"/>
              <a:buAutoNum type="alphaLcParenR"/>
            </a:pPr>
            <a:r>
              <a:rPr b="0" i="0" lang="en-US" sz="2000" u="none" cap="none" strike="noStrike">
                <a:solidFill>
                  <a:schemeClr val="dk1"/>
                </a:solidFill>
                <a:latin typeface="Arial"/>
                <a:ea typeface="Arial"/>
                <a:cs typeface="Arial"/>
                <a:sym typeface="Arial"/>
              </a:rPr>
              <a:t>international tax regulations.</a:t>
            </a:r>
            <a:endParaRPr/>
          </a:p>
          <a:p>
            <a:pPr indent="-457200" lvl="1" marL="685800" marR="0" rtl="0" algn="l">
              <a:lnSpc>
                <a:spcPct val="125000"/>
              </a:lnSpc>
              <a:spcBef>
                <a:spcPts val="1000"/>
              </a:spcBef>
              <a:spcAft>
                <a:spcPts val="0"/>
              </a:spcAft>
              <a:buClr>
                <a:schemeClr val="dk1"/>
              </a:buClr>
              <a:buSzPts val="2000"/>
              <a:buFont typeface="Noto Sans Symbols"/>
              <a:buAutoNum type="alphaLcParenR"/>
            </a:pPr>
            <a:r>
              <a:rPr b="0" i="0" lang="en-US" sz="2000" u="none" cap="none" strike="noStrike">
                <a:solidFill>
                  <a:schemeClr val="dk1"/>
                </a:solidFill>
                <a:latin typeface="Arial"/>
                <a:ea typeface="Arial"/>
                <a:cs typeface="Arial"/>
                <a:sym typeface="Arial"/>
              </a:rPr>
              <a:t>internal control standards as enforced by the </a:t>
            </a:r>
            <a:r>
              <a:rPr b="1" i="0" lang="en-US" sz="2000" u="none" cap="none" strike="noStrike">
                <a:solidFill>
                  <a:schemeClr val="dk1"/>
                </a:solidFill>
                <a:latin typeface="Arial"/>
                <a:ea typeface="Arial"/>
                <a:cs typeface="Arial"/>
                <a:sym typeface="Arial"/>
              </a:rPr>
              <a:t>IASB</a:t>
            </a:r>
            <a:r>
              <a:rPr b="0" i="0" lang="en-US" sz="2000" u="none" cap="none" strike="noStrike">
                <a:solidFill>
                  <a:schemeClr val="dk1"/>
                </a:solidFill>
                <a:latin typeface="Arial"/>
                <a:ea typeface="Arial"/>
                <a:cs typeface="Arial"/>
                <a:sym typeface="Arial"/>
              </a:rPr>
              <a:t>.</a:t>
            </a:r>
            <a:endParaRPr/>
          </a:p>
          <a:p>
            <a:pPr indent="-457200" lvl="1" marL="685800" marR="0" rtl="0" algn="l">
              <a:lnSpc>
                <a:spcPct val="125000"/>
              </a:lnSpc>
              <a:spcBef>
                <a:spcPts val="1000"/>
              </a:spcBef>
              <a:spcAft>
                <a:spcPts val="0"/>
              </a:spcAft>
              <a:buClr>
                <a:schemeClr val="dk1"/>
              </a:buClr>
              <a:buSzPts val="2000"/>
              <a:buFont typeface="Noto Sans Symbols"/>
              <a:buAutoNum type="alphaLcParenR"/>
            </a:pPr>
            <a:r>
              <a:rPr b="0" i="0" lang="en-US" sz="2000" u="none" cap="none" strike="noStrike">
                <a:solidFill>
                  <a:schemeClr val="dk1"/>
                </a:solidFill>
                <a:latin typeface="Arial"/>
                <a:ea typeface="Arial"/>
                <a:cs typeface="Arial"/>
                <a:sym typeface="Arial"/>
              </a:rPr>
              <a:t>internal control standards of U.S. publicly traded companies.</a:t>
            </a:r>
            <a:endParaRPr/>
          </a:p>
          <a:p>
            <a:pPr indent="-457200" lvl="1" marL="685800" marR="0" rtl="0" algn="l">
              <a:lnSpc>
                <a:spcPct val="125000"/>
              </a:lnSpc>
              <a:spcBef>
                <a:spcPts val="1000"/>
              </a:spcBef>
              <a:spcAft>
                <a:spcPts val="0"/>
              </a:spcAft>
              <a:buClr>
                <a:schemeClr val="dk1"/>
              </a:buClr>
              <a:buSzPts val="2000"/>
              <a:buFont typeface="Noto Sans Symbols"/>
              <a:buAutoNum type="alphaLcParenR"/>
            </a:pPr>
            <a:r>
              <a:rPr b="0" i="0" lang="en-US" sz="2000" u="none" cap="none" strike="noStrike">
                <a:solidFill>
                  <a:schemeClr val="dk1"/>
                </a:solidFill>
                <a:latin typeface="Arial"/>
                <a:ea typeface="Arial"/>
                <a:cs typeface="Arial"/>
                <a:sym typeface="Arial"/>
              </a:rPr>
              <a:t>U.S. tax regulations.</a:t>
            </a:r>
            <a:endParaRPr/>
          </a:p>
        </p:txBody>
      </p:sp>
      <p:sp>
        <p:nvSpPr>
          <p:cNvPr id="1937" name="Google Shape;1937;p68"/>
          <p:cNvSpPr txBox="1"/>
          <p:nvPr/>
        </p:nvSpPr>
        <p:spPr>
          <a:xfrm>
            <a:off x="1905000" y="414338"/>
            <a:ext cx="4114800" cy="582211"/>
          </a:xfrm>
          <a:prstGeom prst="rect">
            <a:avLst/>
          </a:prstGeom>
          <a:noFill/>
          <a:ln>
            <a:noFill/>
          </a:ln>
        </p:spPr>
        <p:txBody>
          <a:bodyPr anchorCtr="0" anchor="t" bIns="44450" lIns="90475" spcFirstLastPara="1" rIns="90475" wrap="square" tIns="44450">
            <a:spAutoFit/>
          </a:bodyPr>
          <a:lstStyle/>
          <a:p>
            <a:pPr indent="0" lvl="0" marL="114300" marR="0" rtl="0" algn="ctr">
              <a:spcBef>
                <a:spcPts val="0"/>
              </a:spcBef>
              <a:spcAft>
                <a:spcPts val="0"/>
              </a:spcAft>
              <a:buClr>
                <a:schemeClr val="lt1"/>
              </a:buClr>
              <a:buSzPts val="3200"/>
              <a:buFont typeface="Noto Sans Symbols"/>
              <a:buNone/>
            </a:pPr>
            <a:r>
              <a:rPr b="1" lang="en-US" sz="3200">
                <a:solidFill>
                  <a:schemeClr val="lt1"/>
                </a:solidFill>
                <a:latin typeface="Arial"/>
                <a:ea typeface="Arial"/>
                <a:cs typeface="Arial"/>
                <a:sym typeface="Arial"/>
              </a:rPr>
              <a:t>A Look at IFRS</a:t>
            </a:r>
            <a:endParaRPr/>
          </a:p>
        </p:txBody>
      </p:sp>
      <p:sp>
        <p:nvSpPr>
          <p:cNvPr id="1938" name="Google Shape;1938;p68"/>
          <p:cNvSpPr/>
          <p:nvPr/>
        </p:nvSpPr>
        <p:spPr>
          <a:xfrm>
            <a:off x="152400" y="3602038"/>
            <a:ext cx="609600" cy="457200"/>
          </a:xfrm>
          <a:prstGeom prst="notchedRightArrow">
            <a:avLst>
              <a:gd fmla="val 50000" name="adj1"/>
              <a:gd fmla="val 50000" name="adj2"/>
            </a:avLst>
          </a:prstGeom>
          <a:solidFill>
            <a:srgbClr val="0000BF"/>
          </a:solidFill>
          <a:ln cap="sq"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1939" name="Google Shape;1939;p68"/>
          <p:cNvSpPr/>
          <p:nvPr/>
        </p:nvSpPr>
        <p:spPr>
          <a:xfrm>
            <a:off x="533400" y="1447800"/>
            <a:ext cx="4648200" cy="462307"/>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Clr>
                <a:schemeClr val="dk1"/>
              </a:buClr>
              <a:buSzPts val="2400"/>
              <a:buFont typeface="Noto Sans Symbols"/>
              <a:buNone/>
            </a:pPr>
            <a:r>
              <a:rPr b="1" lang="en-US" sz="2400">
                <a:solidFill>
                  <a:schemeClr val="dk1"/>
                </a:solidFill>
                <a:latin typeface="Arial"/>
                <a:ea typeface="Arial"/>
                <a:cs typeface="Arial"/>
                <a:sym typeface="Arial"/>
              </a:rPr>
              <a:t>IFRS Self-Test Questions</a:t>
            </a:r>
            <a:endParaRPr b="1" sz="2400">
              <a:solidFill>
                <a:schemeClr val="dk1"/>
              </a:solidFill>
              <a:latin typeface="Arial"/>
              <a:ea typeface="Arial"/>
              <a:cs typeface="Arial"/>
              <a:sym typeface="Arial"/>
            </a:endParaRPr>
          </a:p>
        </p:txBody>
      </p:sp>
      <p:sp>
        <p:nvSpPr>
          <p:cNvPr id="1940" name="Google Shape;1940;p68"/>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7 </a:t>
            </a:r>
            <a:endParaRPr b="1" i="1" sz="1600">
              <a:solidFill>
                <a:schemeClr val="lt2"/>
              </a:solidFill>
              <a:latin typeface="Arial"/>
              <a:ea typeface="Arial"/>
              <a:cs typeface="Arial"/>
              <a:sym typeface="Arial"/>
            </a:endParaRPr>
          </a:p>
        </p:txBody>
      </p:sp>
      <p:pic>
        <p:nvPicPr>
          <p:cNvPr id="1941" name="Google Shape;1941;p68"/>
          <p:cNvPicPr preferRelativeResize="0"/>
          <p:nvPr/>
        </p:nvPicPr>
        <p:blipFill rotWithShape="1">
          <a:blip r:embed="rId3">
            <a:alphaModFix/>
          </a:blip>
          <a:srcRect b="0" l="0" r="0" t="0"/>
          <a:stretch/>
        </p:blipFill>
        <p:spPr>
          <a:xfrm>
            <a:off x="0" y="0"/>
            <a:ext cx="9144000" cy="1354377"/>
          </a:xfrm>
          <a:prstGeom prst="rect">
            <a:avLst/>
          </a:prstGeom>
          <a:noFill/>
          <a:ln>
            <a:noFill/>
          </a:ln>
        </p:spPr>
      </p:pic>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8"/>
                                        </p:tgtEl>
                                        <p:attrNameLst>
                                          <p:attrName>style.visibility</p:attrName>
                                        </p:attrNameLst>
                                      </p:cBhvr>
                                      <p:to>
                                        <p:strVal val="visible"/>
                                      </p:to>
                                    </p:set>
                                    <p:animEffect filter="fade" transition="in">
                                      <p:cBhvr>
                                        <p:cTn dur="500"/>
                                        <p:tgtEl>
                                          <p:spTgt spid="19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5" name="Shape 1945"/>
        <p:cNvGrpSpPr/>
        <p:nvPr/>
      </p:nvGrpSpPr>
      <p:grpSpPr>
        <a:xfrm>
          <a:off x="0" y="0"/>
          <a:ext cx="0" cy="0"/>
          <a:chOff x="0" y="0"/>
          <a:chExt cx="0" cy="0"/>
        </a:xfrm>
      </p:grpSpPr>
      <p:sp>
        <p:nvSpPr>
          <p:cNvPr id="1946" name="Google Shape;1946;p69"/>
          <p:cNvSpPr/>
          <p:nvPr/>
        </p:nvSpPr>
        <p:spPr>
          <a:xfrm>
            <a:off x="533400" y="1981200"/>
            <a:ext cx="7924800" cy="2631490"/>
          </a:xfrm>
          <a:prstGeom prst="rect">
            <a:avLst/>
          </a:prstGeom>
          <a:noFill/>
          <a:ln>
            <a:noFill/>
          </a:ln>
        </p:spPr>
        <p:txBody>
          <a:bodyPr anchorCtr="0" anchor="t" bIns="45700" lIns="91425" spcFirstLastPara="1" rIns="91425" wrap="square" tIns="45700">
            <a:spAutoFit/>
          </a:bodyPr>
          <a:lstStyle/>
          <a:p>
            <a:pPr indent="-457200" lvl="0" marL="457200" marR="0" rtl="0" algn="l">
              <a:lnSpc>
                <a:spcPct val="125000"/>
              </a:lnSpc>
              <a:spcBef>
                <a:spcPts val="0"/>
              </a:spcBef>
              <a:spcAft>
                <a:spcPts val="0"/>
              </a:spcAft>
              <a:buClr>
                <a:srgbClr val="800000"/>
              </a:buClr>
              <a:buSzPts val="1600"/>
              <a:buFont typeface="Noto Sans Symbols"/>
              <a:buNone/>
            </a:pPr>
            <a:r>
              <a:rPr b="1" lang="en-US" sz="2000">
                <a:solidFill>
                  <a:schemeClr val="dk1"/>
                </a:solidFill>
                <a:latin typeface="Arial"/>
                <a:ea typeface="Arial"/>
                <a:cs typeface="Arial"/>
                <a:sym typeface="Arial"/>
              </a:rPr>
              <a:t>IFRS</a:t>
            </a:r>
            <a:r>
              <a:rPr b="0" lang="en-US" sz="2000">
                <a:solidFill>
                  <a:schemeClr val="dk1"/>
                </a:solidFill>
                <a:latin typeface="Arial"/>
                <a:ea typeface="Arial"/>
                <a:cs typeface="Arial"/>
                <a:sym typeface="Arial"/>
              </a:rPr>
              <a:t> is considered to be more:</a:t>
            </a:r>
            <a:endParaRPr/>
          </a:p>
          <a:p>
            <a:pPr indent="-457200" lvl="1" marL="685800" marR="0" rtl="0" algn="l">
              <a:lnSpc>
                <a:spcPct val="125000"/>
              </a:lnSpc>
              <a:spcBef>
                <a:spcPts val="1000"/>
              </a:spcBef>
              <a:spcAft>
                <a:spcPts val="0"/>
              </a:spcAft>
              <a:buClr>
                <a:schemeClr val="dk1"/>
              </a:buClr>
              <a:buSzPts val="2000"/>
              <a:buFont typeface="Noto Sans Symbols"/>
              <a:buAutoNum type="alphaLcParenR"/>
            </a:pPr>
            <a:r>
              <a:rPr b="0" i="0" lang="en-US" sz="2000" u="none" cap="none" strike="noStrike">
                <a:solidFill>
                  <a:schemeClr val="dk1"/>
                </a:solidFill>
                <a:latin typeface="Arial"/>
                <a:ea typeface="Arial"/>
                <a:cs typeface="Arial"/>
                <a:sym typeface="Arial"/>
              </a:rPr>
              <a:t>principles-based and less rules-based than </a:t>
            </a:r>
            <a:r>
              <a:rPr b="1" i="0" lang="en-US" sz="2000" u="none" cap="none" strike="noStrike">
                <a:solidFill>
                  <a:schemeClr val="dk1"/>
                </a:solidFill>
                <a:latin typeface="Arial"/>
                <a:ea typeface="Arial"/>
                <a:cs typeface="Arial"/>
                <a:sym typeface="Arial"/>
              </a:rPr>
              <a:t>GAAP</a:t>
            </a:r>
            <a:r>
              <a:rPr b="0" i="0" lang="en-US" sz="2000" u="none" cap="none" strike="noStrike">
                <a:solidFill>
                  <a:schemeClr val="dk1"/>
                </a:solidFill>
                <a:latin typeface="Arial"/>
                <a:ea typeface="Arial"/>
                <a:cs typeface="Arial"/>
                <a:sym typeface="Arial"/>
              </a:rPr>
              <a:t>.</a:t>
            </a:r>
            <a:endParaRPr/>
          </a:p>
          <a:p>
            <a:pPr indent="-457200" lvl="1" marL="685800" marR="0" rtl="0" algn="l">
              <a:lnSpc>
                <a:spcPct val="125000"/>
              </a:lnSpc>
              <a:spcBef>
                <a:spcPts val="1000"/>
              </a:spcBef>
              <a:spcAft>
                <a:spcPts val="0"/>
              </a:spcAft>
              <a:buClr>
                <a:schemeClr val="dk1"/>
              </a:buClr>
              <a:buSzPts val="2000"/>
              <a:buFont typeface="Noto Sans Symbols"/>
              <a:buAutoNum type="alphaLcParenR"/>
            </a:pPr>
            <a:r>
              <a:rPr b="0" i="0" lang="en-US" sz="2000" u="none" cap="none" strike="noStrike">
                <a:solidFill>
                  <a:schemeClr val="dk1"/>
                </a:solidFill>
                <a:latin typeface="Arial"/>
                <a:ea typeface="Arial"/>
                <a:cs typeface="Arial"/>
                <a:sym typeface="Arial"/>
              </a:rPr>
              <a:t>rules-based and less principles-based than </a:t>
            </a:r>
            <a:r>
              <a:rPr b="1" i="0" lang="en-US" sz="2000" u="none" cap="none" strike="noStrike">
                <a:solidFill>
                  <a:schemeClr val="dk1"/>
                </a:solidFill>
                <a:latin typeface="Arial"/>
                <a:ea typeface="Arial"/>
                <a:cs typeface="Arial"/>
                <a:sym typeface="Arial"/>
              </a:rPr>
              <a:t>GAAP</a:t>
            </a:r>
            <a:r>
              <a:rPr b="0" i="0" lang="en-US" sz="2000" u="none" cap="none" strike="noStrike">
                <a:solidFill>
                  <a:schemeClr val="dk1"/>
                </a:solidFill>
                <a:latin typeface="Arial"/>
                <a:ea typeface="Arial"/>
                <a:cs typeface="Arial"/>
                <a:sym typeface="Arial"/>
              </a:rPr>
              <a:t>.</a:t>
            </a:r>
            <a:endParaRPr/>
          </a:p>
          <a:p>
            <a:pPr indent="-457200" lvl="1" marL="685800" marR="0" rtl="0" algn="l">
              <a:lnSpc>
                <a:spcPct val="125000"/>
              </a:lnSpc>
              <a:spcBef>
                <a:spcPts val="1000"/>
              </a:spcBef>
              <a:spcAft>
                <a:spcPts val="0"/>
              </a:spcAft>
              <a:buClr>
                <a:schemeClr val="dk1"/>
              </a:buClr>
              <a:buSzPts val="2000"/>
              <a:buFont typeface="Noto Sans Symbols"/>
              <a:buAutoNum type="alphaLcParenR"/>
            </a:pPr>
            <a:r>
              <a:rPr b="0" i="0" lang="en-US" sz="2000" u="none" cap="none" strike="noStrike">
                <a:solidFill>
                  <a:schemeClr val="dk1"/>
                </a:solidFill>
                <a:latin typeface="Arial"/>
                <a:ea typeface="Arial"/>
                <a:cs typeface="Arial"/>
                <a:sym typeface="Arial"/>
              </a:rPr>
              <a:t>detailed than </a:t>
            </a:r>
            <a:r>
              <a:rPr b="1" i="0" lang="en-US" sz="2000" u="none" cap="none" strike="noStrike">
                <a:solidFill>
                  <a:schemeClr val="dk1"/>
                </a:solidFill>
                <a:latin typeface="Arial"/>
                <a:ea typeface="Arial"/>
                <a:cs typeface="Arial"/>
                <a:sym typeface="Arial"/>
              </a:rPr>
              <a:t>GAAP</a:t>
            </a:r>
            <a:r>
              <a:rPr b="0" i="0" lang="en-US" sz="2000" u="none" cap="none" strike="noStrike">
                <a:solidFill>
                  <a:schemeClr val="dk1"/>
                </a:solidFill>
                <a:latin typeface="Arial"/>
                <a:ea typeface="Arial"/>
                <a:cs typeface="Arial"/>
                <a:sym typeface="Arial"/>
              </a:rPr>
              <a:t>.</a:t>
            </a:r>
            <a:endParaRPr/>
          </a:p>
          <a:p>
            <a:pPr indent="-457200" lvl="1" marL="685800" marR="0" rtl="0" algn="l">
              <a:lnSpc>
                <a:spcPct val="125000"/>
              </a:lnSpc>
              <a:spcBef>
                <a:spcPts val="1000"/>
              </a:spcBef>
              <a:spcAft>
                <a:spcPts val="0"/>
              </a:spcAft>
              <a:buClr>
                <a:schemeClr val="dk1"/>
              </a:buClr>
              <a:buSzPts val="2000"/>
              <a:buFont typeface="Noto Sans Symbols"/>
              <a:buAutoNum type="alphaLcParenR"/>
            </a:pPr>
            <a:r>
              <a:rPr b="0" i="0" lang="en-US" sz="2000" u="none" cap="none" strike="noStrike">
                <a:solidFill>
                  <a:schemeClr val="dk1"/>
                </a:solidFill>
                <a:latin typeface="Arial"/>
                <a:ea typeface="Arial"/>
                <a:cs typeface="Arial"/>
                <a:sym typeface="Arial"/>
              </a:rPr>
              <a:t>None of the above.</a:t>
            </a:r>
            <a:endParaRPr/>
          </a:p>
        </p:txBody>
      </p:sp>
      <p:sp>
        <p:nvSpPr>
          <p:cNvPr id="1947" name="Google Shape;1947;p69"/>
          <p:cNvSpPr txBox="1"/>
          <p:nvPr/>
        </p:nvSpPr>
        <p:spPr>
          <a:xfrm>
            <a:off x="1905000" y="414338"/>
            <a:ext cx="4114800" cy="582211"/>
          </a:xfrm>
          <a:prstGeom prst="rect">
            <a:avLst/>
          </a:prstGeom>
          <a:noFill/>
          <a:ln>
            <a:noFill/>
          </a:ln>
        </p:spPr>
        <p:txBody>
          <a:bodyPr anchorCtr="0" anchor="t" bIns="44450" lIns="90475" spcFirstLastPara="1" rIns="90475" wrap="square" tIns="44450">
            <a:spAutoFit/>
          </a:bodyPr>
          <a:lstStyle/>
          <a:p>
            <a:pPr indent="0" lvl="0" marL="114300" marR="0" rtl="0" algn="ctr">
              <a:spcBef>
                <a:spcPts val="0"/>
              </a:spcBef>
              <a:spcAft>
                <a:spcPts val="0"/>
              </a:spcAft>
              <a:buClr>
                <a:schemeClr val="lt1"/>
              </a:buClr>
              <a:buSzPts val="3200"/>
              <a:buFont typeface="Noto Sans Symbols"/>
              <a:buNone/>
            </a:pPr>
            <a:r>
              <a:rPr b="1" lang="en-US" sz="3200">
                <a:solidFill>
                  <a:schemeClr val="lt1"/>
                </a:solidFill>
                <a:latin typeface="Arial"/>
                <a:ea typeface="Arial"/>
                <a:cs typeface="Arial"/>
                <a:sym typeface="Arial"/>
              </a:rPr>
              <a:t>A Look at IFRS</a:t>
            </a:r>
            <a:endParaRPr/>
          </a:p>
        </p:txBody>
      </p:sp>
      <p:sp>
        <p:nvSpPr>
          <p:cNvPr id="1948" name="Google Shape;1948;p69"/>
          <p:cNvSpPr/>
          <p:nvPr/>
        </p:nvSpPr>
        <p:spPr>
          <a:xfrm>
            <a:off x="152400" y="2533650"/>
            <a:ext cx="609600" cy="457200"/>
          </a:xfrm>
          <a:prstGeom prst="notchedRightArrow">
            <a:avLst>
              <a:gd fmla="val 50000" name="adj1"/>
              <a:gd fmla="val 50000" name="adj2"/>
            </a:avLst>
          </a:prstGeom>
          <a:solidFill>
            <a:srgbClr val="0000BF"/>
          </a:solidFill>
          <a:ln cap="sq"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1949" name="Google Shape;1949;p69"/>
          <p:cNvSpPr/>
          <p:nvPr/>
        </p:nvSpPr>
        <p:spPr>
          <a:xfrm>
            <a:off x="533400" y="1447800"/>
            <a:ext cx="4648200" cy="462307"/>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Clr>
                <a:schemeClr val="dk1"/>
              </a:buClr>
              <a:buSzPts val="2400"/>
              <a:buFont typeface="Noto Sans Symbols"/>
              <a:buNone/>
            </a:pPr>
            <a:r>
              <a:rPr b="1" lang="en-US" sz="2400">
                <a:solidFill>
                  <a:schemeClr val="dk1"/>
                </a:solidFill>
                <a:latin typeface="Arial"/>
                <a:ea typeface="Arial"/>
                <a:cs typeface="Arial"/>
                <a:sym typeface="Arial"/>
              </a:rPr>
              <a:t>IFRS Self-Test Questions</a:t>
            </a:r>
            <a:endParaRPr b="1" sz="2400">
              <a:solidFill>
                <a:schemeClr val="dk1"/>
              </a:solidFill>
              <a:latin typeface="Arial"/>
              <a:ea typeface="Arial"/>
              <a:cs typeface="Arial"/>
              <a:sym typeface="Arial"/>
            </a:endParaRPr>
          </a:p>
        </p:txBody>
      </p:sp>
      <p:sp>
        <p:nvSpPr>
          <p:cNvPr id="1950" name="Google Shape;1950;p69"/>
          <p:cNvSpPr txBox="1"/>
          <p:nvPr/>
        </p:nvSpPr>
        <p:spPr>
          <a:xfrm>
            <a:off x="8229600" y="6369050"/>
            <a:ext cx="762000" cy="336550"/>
          </a:xfrm>
          <a:prstGeom prst="rect">
            <a:avLst/>
          </a:prstGeom>
          <a:solidFill>
            <a:schemeClr val="lt1"/>
          </a:solidFill>
          <a:ln>
            <a:noFill/>
          </a:ln>
        </p:spPr>
        <p:txBody>
          <a:bodyPr anchorCtr="0" anchor="t" bIns="45700" lIns="91425" spcFirstLastPara="1" rIns="91425" wrap="square" tIns="45700">
            <a:spAutoFit/>
          </a:bodyPr>
          <a:lstStyle/>
          <a:p>
            <a:pPr indent="-457200" lvl="0" marL="457200" marR="0" rtl="0" algn="r">
              <a:spcBef>
                <a:spcPts val="0"/>
              </a:spcBef>
              <a:spcAft>
                <a:spcPts val="0"/>
              </a:spcAft>
              <a:buClr>
                <a:schemeClr val="lt2"/>
              </a:buClr>
              <a:buSzPts val="1600"/>
              <a:buFont typeface="Noto Sans Symbols"/>
              <a:buNone/>
            </a:pPr>
            <a:r>
              <a:rPr b="1" i="1" lang="en-US" sz="1600">
                <a:solidFill>
                  <a:schemeClr val="lt2"/>
                </a:solidFill>
                <a:latin typeface="Arial"/>
                <a:ea typeface="Arial"/>
                <a:cs typeface="Arial"/>
                <a:sym typeface="Arial"/>
              </a:rPr>
              <a:t>LO 7 </a:t>
            </a:r>
            <a:endParaRPr b="1" i="1" sz="1600">
              <a:solidFill>
                <a:schemeClr val="lt2"/>
              </a:solidFill>
              <a:latin typeface="Arial"/>
              <a:ea typeface="Arial"/>
              <a:cs typeface="Arial"/>
              <a:sym typeface="Arial"/>
            </a:endParaRPr>
          </a:p>
        </p:txBody>
      </p:sp>
      <p:pic>
        <p:nvPicPr>
          <p:cNvPr id="1951" name="Google Shape;1951;p69"/>
          <p:cNvPicPr preferRelativeResize="0"/>
          <p:nvPr/>
        </p:nvPicPr>
        <p:blipFill rotWithShape="1">
          <a:blip r:embed="rId3">
            <a:alphaModFix/>
          </a:blip>
          <a:srcRect b="0" l="0" r="0" t="0"/>
          <a:stretch/>
        </p:blipFill>
        <p:spPr>
          <a:xfrm>
            <a:off x="0" y="0"/>
            <a:ext cx="9144000" cy="1354377"/>
          </a:xfrm>
          <a:prstGeom prst="rect">
            <a:avLst/>
          </a:prstGeom>
          <a:noFill/>
          <a:ln>
            <a:noFill/>
          </a:ln>
        </p:spPr>
      </p:pic>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8"/>
                                        </p:tgtEl>
                                        <p:attrNameLst>
                                          <p:attrName>style.visibility</p:attrName>
                                        </p:attrNameLst>
                                      </p:cBhvr>
                                      <p:to>
                                        <p:strVal val="visible"/>
                                      </p:to>
                                    </p:set>
                                    <p:animEffect filter="fade" transition="in">
                                      <p:cBhvr>
                                        <p:cTn dur="500"/>
                                        <p:tgtEl>
                                          <p:spTgt spid="19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5" name="Shape 1955"/>
        <p:cNvGrpSpPr/>
        <p:nvPr/>
      </p:nvGrpSpPr>
      <p:grpSpPr>
        <a:xfrm>
          <a:off x="0" y="0"/>
          <a:ext cx="0" cy="0"/>
          <a:chOff x="0" y="0"/>
          <a:chExt cx="0" cy="0"/>
        </a:xfrm>
      </p:grpSpPr>
      <p:sp>
        <p:nvSpPr>
          <p:cNvPr id="1956" name="Google Shape;1956;p70"/>
          <p:cNvSpPr/>
          <p:nvPr/>
        </p:nvSpPr>
        <p:spPr>
          <a:xfrm>
            <a:off x="609600" y="1371600"/>
            <a:ext cx="8077200" cy="4060825"/>
          </a:xfrm>
          <a:prstGeom prst="rect">
            <a:avLst/>
          </a:prstGeom>
          <a:noFill/>
          <a:ln>
            <a:noFill/>
          </a:ln>
        </p:spPr>
        <p:txBody>
          <a:bodyPr anchorCtr="0" anchor="t" bIns="46025" lIns="92075" spcFirstLastPara="1" rIns="92075" wrap="square" tIns="46025">
            <a:spAutoFit/>
          </a:bodyPr>
          <a:lstStyle/>
          <a:p>
            <a:pPr indent="0" lvl="0" marL="0" marR="0" rtl="0" algn="l">
              <a:lnSpc>
                <a:spcPct val="130000"/>
              </a:lnSpc>
              <a:spcBef>
                <a:spcPts val="0"/>
              </a:spcBef>
              <a:spcAft>
                <a:spcPts val="0"/>
              </a:spcAft>
              <a:buClr>
                <a:schemeClr val="dk1"/>
              </a:buClr>
              <a:buSzPts val="2000"/>
              <a:buFont typeface="Noto Sans Symbols"/>
              <a:buNone/>
            </a:pPr>
            <a:r>
              <a:rPr b="0" lang="en-US" sz="2000">
                <a:solidFill>
                  <a:schemeClr val="dk1"/>
                </a:solidFill>
                <a:latin typeface="Arial"/>
                <a:ea typeface="Arial"/>
                <a:cs typeface="Arial"/>
                <a:sym typeface="Arial"/>
              </a:rPr>
              <a:t>“Copyright © 2015 John Wiley &amp; Sons, Inc. All rights reserved. Reproduction or translation of this work beyond that permitted in Section 117 of the 1976 United States Copyright Act without the express written permission of the copyright owner is unlawful. Request for further information should be addressed to the Permissions Department, John Wiley &amp; Sons, Inc. The purchaser may make back-up copies for his/her own use only and not for distribution or resale. The Publisher assumes no responsibility for errors, omissions, or damages, caused by the use of these programs or from the use of the information contained herein.”</a:t>
            </a:r>
            <a:endParaRPr/>
          </a:p>
        </p:txBody>
      </p:sp>
      <p:cxnSp>
        <p:nvCxnSpPr>
          <p:cNvPr id="1957" name="Google Shape;1957;p70"/>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958" name="Google Shape;1958;p70"/>
          <p:cNvSpPr/>
          <p:nvPr/>
        </p:nvSpPr>
        <p:spPr>
          <a:xfrm>
            <a:off x="533400" y="304800"/>
            <a:ext cx="80772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Copyright</a:t>
            </a:r>
            <a:endParaRPr b="1" sz="3200">
              <a:solidFill>
                <a:srgbClr val="0000BF"/>
              </a:solidFill>
              <a:latin typeface="Arial"/>
              <a:ea typeface="Arial"/>
              <a:cs typeface="Arial"/>
              <a:sym typeface="Arial"/>
            </a:endParaRPr>
          </a:p>
        </p:txBody>
      </p:sp>
    </p:spTree>
  </p:cSld>
  <p:clrMapOvr>
    <a:masterClrMapping/>
  </p:clrMapOvr>
  <p:transition>
    <p:wipe dir="r"/>
  </p:transition>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2" name="Shape 1962"/>
        <p:cNvGrpSpPr/>
        <p:nvPr/>
      </p:nvGrpSpPr>
      <p:grpSpPr>
        <a:xfrm>
          <a:off x="0" y="0"/>
          <a:ext cx="0" cy="0"/>
          <a:chOff x="0" y="0"/>
          <a:chExt cx="0" cy="0"/>
        </a:xfrm>
      </p:grpSpPr>
      <p:sp>
        <p:nvSpPr>
          <p:cNvPr id="1963" name="Google Shape;1963;g2b079975d1a_0_0"/>
          <p:cNvSpPr txBox="1"/>
          <p:nvPr/>
        </p:nvSpPr>
        <p:spPr>
          <a:xfrm>
            <a:off x="478950" y="1714500"/>
            <a:ext cx="73185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200" u="sng">
                <a:solidFill>
                  <a:schemeClr val="hlink"/>
                </a:solidFill>
                <a:hlinkClick r:id="rId3"/>
              </a:rPr>
              <a:t>https://drive.google.com/file/d/1-5fS_FGcPnReN_iG9dNzehtO3ONFO58F/view?usp=drivesdk </a:t>
            </a:r>
            <a:endParaRPr sz="22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vnglnc">
  <a:themeElements>
    <a:clrScheme name="">
      <a:dk1>
        <a:srgbClr val="000000"/>
      </a:dk1>
      <a:lt1>
        <a:srgbClr val="FFFFFF"/>
      </a:lt1>
      <a:dk2>
        <a:srgbClr val="0000FF"/>
      </a:dk2>
      <a:lt2>
        <a:srgbClr val="000000"/>
      </a:lt2>
      <a:accent1>
        <a:srgbClr val="00FFFF"/>
      </a:accent1>
      <a:accent2>
        <a:srgbClr val="FF0000"/>
      </a:accent2>
      <a:accent3>
        <a:srgbClr val="FFFFFF"/>
      </a:accent3>
      <a:accent4>
        <a:srgbClr val="000000"/>
      </a:accent4>
      <a:accent5>
        <a:srgbClr val="AAFFFF"/>
      </a:accent5>
      <a:accent6>
        <a:srgbClr val="E70000"/>
      </a:accent6>
      <a:hlink>
        <a:srgbClr val="000099"/>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1997-03-28T18:03:02Z</dcterms:created>
  <dc:creator>Coby Harmon</dc:creator>
</cp:coreProperties>
</file>