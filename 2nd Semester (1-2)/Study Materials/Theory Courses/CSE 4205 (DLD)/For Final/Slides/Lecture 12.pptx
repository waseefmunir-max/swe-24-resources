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Nunito"/>
      <p:regular r:id="rId48"/>
      <p:bold r:id="rId49"/>
      <p:italic r:id="rId50"/>
      <p:boldItalic r:id="rId51"/>
    </p:embeddedFont>
    <p:embeddedFont>
      <p:font typeface="Inter Tight"/>
      <p:regular r:id="rId52"/>
      <p:bold r:id="rId53"/>
      <p:italic r:id="rId54"/>
      <p:boldItalic r:id="rId55"/>
    </p:embeddedFont>
    <p:embeddedFont>
      <p:font typeface="Cambria Math"/>
      <p:regular r:id="rId56"/>
    </p:embeddedFont>
    <p:embeddedFont>
      <p:font typeface="Open Sans"/>
      <p:regular r:id="rId57"/>
      <p:bold r:id="rId58"/>
      <p:italic r:id="rId59"/>
      <p:boldItalic r:id="rId60"/>
    </p:embeddedFont>
    <p:embeddedFont>
      <p:font typeface="Inter Tight SemiBold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Nunito-regular.fntdata"/><Relationship Id="rId47" Type="http://schemas.openxmlformats.org/officeDocument/2006/relationships/slide" Target="slides/slide43.xml"/><Relationship Id="rId49" Type="http://schemas.openxmlformats.org/officeDocument/2006/relationships/font" Target="fonts/Nuni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InterTightSemiBold-bold.fntdata"/><Relationship Id="rId61" Type="http://schemas.openxmlformats.org/officeDocument/2006/relationships/font" Target="fonts/InterTightSemiBold-regular.fntdata"/><Relationship Id="rId20" Type="http://schemas.openxmlformats.org/officeDocument/2006/relationships/slide" Target="slides/slide16.xml"/><Relationship Id="rId64" Type="http://schemas.openxmlformats.org/officeDocument/2006/relationships/font" Target="fonts/InterTightSemiBold-boldItalic.fntdata"/><Relationship Id="rId63" Type="http://schemas.openxmlformats.org/officeDocument/2006/relationships/font" Target="fonts/InterTightSemiBold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Nunito-boldItalic.fntdata"/><Relationship Id="rId50" Type="http://schemas.openxmlformats.org/officeDocument/2006/relationships/font" Target="fonts/Nunito-italic.fntdata"/><Relationship Id="rId53" Type="http://schemas.openxmlformats.org/officeDocument/2006/relationships/font" Target="fonts/InterTight-bold.fntdata"/><Relationship Id="rId52" Type="http://schemas.openxmlformats.org/officeDocument/2006/relationships/font" Target="fonts/InterTight-regular.fntdata"/><Relationship Id="rId11" Type="http://schemas.openxmlformats.org/officeDocument/2006/relationships/slide" Target="slides/slide7.xml"/><Relationship Id="rId55" Type="http://schemas.openxmlformats.org/officeDocument/2006/relationships/font" Target="fonts/InterTight-boldItalic.fntdata"/><Relationship Id="rId10" Type="http://schemas.openxmlformats.org/officeDocument/2006/relationships/slide" Target="slides/slide6.xml"/><Relationship Id="rId54" Type="http://schemas.openxmlformats.org/officeDocument/2006/relationships/font" Target="fonts/InterTight-italic.fntdata"/><Relationship Id="rId13" Type="http://schemas.openxmlformats.org/officeDocument/2006/relationships/slide" Target="slides/slide9.xml"/><Relationship Id="rId57" Type="http://schemas.openxmlformats.org/officeDocument/2006/relationships/font" Target="fonts/OpenSans-regular.fntdata"/><Relationship Id="rId12" Type="http://schemas.openxmlformats.org/officeDocument/2006/relationships/slide" Target="slides/slide8.xml"/><Relationship Id="rId56" Type="http://schemas.openxmlformats.org/officeDocument/2006/relationships/font" Target="fonts/CambriaMath-regular.fntdata"/><Relationship Id="rId15" Type="http://schemas.openxmlformats.org/officeDocument/2006/relationships/slide" Target="slides/slide11.xml"/><Relationship Id="rId59" Type="http://schemas.openxmlformats.org/officeDocument/2006/relationships/font" Target="fonts/OpenSans-italic.fntdata"/><Relationship Id="rId14" Type="http://schemas.openxmlformats.org/officeDocument/2006/relationships/slide" Target="slides/slide10.xml"/><Relationship Id="rId58" Type="http://schemas.openxmlformats.org/officeDocument/2006/relationships/font" Target="fonts/Open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59828bc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759828bc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759828bc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759828bc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759828bcd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759828bcd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59828bcd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759828bcd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759828bcd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759828bcd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759828bcd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759828bcd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759828bcd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759828bcd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59828bcd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759828bcd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759828bcd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759828bcd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759828bcd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759828bcd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759828bcd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759828bcd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759828bcd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759828bc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759828bcd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759828bcd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759828bcd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759828bcd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759828bcd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759828bcd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759828bcd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759828bcd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759828bcd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759828bcd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759828bcd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759828bcd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759828bcd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759828bcd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59828bcd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759828bcd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759828bcd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759828bcd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759828bcde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759828bcd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59828bcd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759828bcd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759828bcd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759828bcd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759828bcde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759828bcd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759828bcde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759828bcde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759828bcde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759828bcde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759828bcde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759828bcde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759828bcde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759828bcde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759828bcde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759828bcde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759828bcd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759828bcd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759828bcde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759828bcde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759828bcde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759828bcde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759828bcde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759828bcde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759828bcde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759828bcde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759828bcde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759828bcde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6dde2e6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6dde2e6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759828bcde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759828bcde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759828bcde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759828bcde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6ae6cb7c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6ae6cb7c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youtube.com/watch?v=AaN72s5WfOM&amp;list=PLuYnCh-Sh1XdvuSGjQRi2jgUH9_CiVR8J" TargetMode="External"/><Relationship Id="rId4" Type="http://schemas.openxmlformats.org/officeDocument/2006/relationships/hyperlink" Target="https://www.youtube.com/watch?v=DBTna2ydmC0&amp;list=PLwjK_iyK4LLBC_so3odA64E2MLgIRKafl" TargetMode="External"/><Relationship Id="rId5" Type="http://schemas.openxmlformats.org/officeDocument/2006/relationships/hyperlink" Target="https://www.electronicsforu.com/technology-trends/learn-electronics/flip-flop-rs-jk-t-d" TargetMode="External"/><Relationship Id="rId6" Type="http://schemas.openxmlformats.org/officeDocument/2006/relationships/hyperlink" Target="https://www.geeksforgeeks.org/digital-logic/flip-flop-types-their-conversion-and-applications/" TargetMode="External"/><Relationship Id="rId7" Type="http://schemas.openxmlformats.org/officeDocument/2006/relationships/hyperlink" Target="https://www.idc-online.com/technical_references/pdfs/electronic_engineering/Flip_Flop_Conversion.pdf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Sequential Circuits I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Flip Flops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Sequential Circuits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with Memory Elements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</a:t>
            </a:r>
            <a:endParaRPr/>
          </a:p>
        </p:txBody>
      </p:sp>
      <p:cxnSp>
        <p:nvCxnSpPr>
          <p:cNvPr id="618" name="Google Shape;618;p27"/>
          <p:cNvCxnSpPr>
            <a:stCxn id="6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7"/>
          <p:cNvCxnSpPr>
            <a:endCxn id="6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2" name="Google Shape;622;p27"/>
          <p:cNvPicPr preferRelativeResize="0"/>
          <p:nvPr/>
        </p:nvPicPr>
        <p:blipFill rotWithShape="1">
          <a:blip r:embed="rId3">
            <a:alphaModFix/>
          </a:blip>
          <a:srcRect b="0" l="0" r="0" t="13322"/>
          <a:stretch/>
        </p:blipFill>
        <p:spPr>
          <a:xfrm>
            <a:off x="1199183" y="3189223"/>
            <a:ext cx="2096497" cy="1484427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7"/>
          <p:cNvSpPr txBox="1"/>
          <p:nvPr/>
        </p:nvSpPr>
        <p:spPr>
          <a:xfrm>
            <a:off x="487500" y="1194450"/>
            <a:ext cx="8169000" cy="3221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90" r="0" t="-2240"/>
            </a:stretch>
          </a:blipFill>
          <a:ln>
            <a:noFill/>
          </a:ln>
        </p:spPr>
        <p:txBody>
          <a:bodyPr anchorCtr="0" anchor="t" bIns="33825" lIns="67675" spcFirstLastPara="1" rIns="67675" wrap="square" tIns="33825">
            <a:normAutofit/>
          </a:bodyPr>
          <a:lstStyle/>
          <a:p>
            <a:pPr indent="0" lvl="0" marL="16923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7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4" name="Google Shape;624;p27"/>
          <p:cNvPicPr preferRelativeResize="0"/>
          <p:nvPr/>
        </p:nvPicPr>
        <p:blipFill rotWithShape="1">
          <a:blip r:embed="rId5">
            <a:alphaModFix/>
          </a:blip>
          <a:srcRect b="8256" l="2358" r="1415" t="2974"/>
          <a:stretch/>
        </p:blipFill>
        <p:spPr>
          <a:xfrm>
            <a:off x="4881888" y="3433829"/>
            <a:ext cx="2718950" cy="113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8"/>
          <p:cNvSpPr txBox="1"/>
          <p:nvPr>
            <p:ph type="title"/>
          </p:nvPr>
        </p:nvSpPr>
        <p:spPr>
          <a:xfrm>
            <a:off x="5627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Circuits</a:t>
            </a:r>
            <a:endParaRPr/>
          </a:p>
        </p:txBody>
      </p:sp>
      <p:cxnSp>
        <p:nvCxnSpPr>
          <p:cNvPr id="630" name="Google Shape;630;p28"/>
          <p:cNvCxnSpPr>
            <a:stCxn id="6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28"/>
          <p:cNvCxnSpPr>
            <a:endCxn id="6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28"/>
          <p:cNvSpPr txBox="1"/>
          <p:nvPr/>
        </p:nvSpPr>
        <p:spPr>
          <a:xfrm>
            <a:off x="455574" y="1242175"/>
            <a:ext cx="8143500" cy="3057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50" r="0" t="0"/>
            </a:stretch>
          </a:blipFill>
          <a:ln>
            <a:noFill/>
          </a:ln>
        </p:spPr>
        <p:txBody>
          <a:bodyPr anchorCtr="0" anchor="t" bIns="32125" lIns="64225" spcFirstLastPara="1" rIns="64225" wrap="square" tIns="32125">
            <a:normAutofit/>
          </a:bodyPr>
          <a:lstStyle/>
          <a:p>
            <a:pPr indent="0" lvl="0" marL="16062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9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5" name="Google Shape;6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8087" y="3452681"/>
            <a:ext cx="4580335" cy="118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9"/>
          <p:cNvSpPr txBox="1"/>
          <p:nvPr>
            <p:ph type="title"/>
          </p:nvPr>
        </p:nvSpPr>
        <p:spPr>
          <a:xfrm>
            <a:off x="5627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Sequence</a:t>
            </a:r>
            <a:endParaRPr/>
          </a:p>
        </p:txBody>
      </p:sp>
      <p:cxnSp>
        <p:nvCxnSpPr>
          <p:cNvPr id="641" name="Google Shape;641;p29"/>
          <p:cNvCxnSpPr>
            <a:stCxn id="64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29"/>
          <p:cNvCxnSpPr>
            <a:endCxn id="64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29"/>
          <p:cNvSpPr txBox="1"/>
          <p:nvPr/>
        </p:nvSpPr>
        <p:spPr>
          <a:xfrm>
            <a:off x="571800" y="1202675"/>
            <a:ext cx="80004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75" lIns="69550" spcFirstLastPara="1" rIns="69550" wrap="square" tIns="34775">
            <a:normAutofit/>
          </a:bodyPr>
          <a:lstStyle/>
          <a:p>
            <a:pPr indent="-173923" lvl="0" marL="17392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0"/>
              <a:buChar char="•"/>
            </a:pPr>
            <a:r>
              <a:rPr lang="en" sz="21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Sequential circuit includes </a:t>
            </a:r>
            <a:r>
              <a:rPr b="1" lang="en" sz="21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sequence </a:t>
            </a:r>
            <a:r>
              <a:rPr lang="en" sz="21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inputs, outputs and internal memory states</a:t>
            </a:r>
            <a:endParaRPr sz="21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923" lvl="1" marL="521768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826"/>
              <a:buChar char="•"/>
            </a:pPr>
            <a:r>
              <a:rPr lang="en" sz="18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time-sequence determines the behavior of a sequential circuit. </a:t>
            </a:r>
            <a:endParaRPr sz="18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974" lvl="1" marL="521768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t/>
            </a:r>
            <a:endParaRPr sz="18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50" lvl="0" marL="173923" rtl="0" algn="l">
              <a:lnSpc>
                <a:spcPct val="90000"/>
              </a:lnSpc>
              <a:spcBef>
                <a:spcPts val="761"/>
              </a:spcBef>
              <a:spcAft>
                <a:spcPts val="0"/>
              </a:spcAft>
              <a:buNone/>
            </a:pPr>
            <a:r>
              <a:t/>
            </a:r>
            <a:endParaRPr sz="21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50" lvl="0" marL="173923" rtl="0" algn="l">
              <a:lnSpc>
                <a:spcPct val="90000"/>
              </a:lnSpc>
              <a:spcBef>
                <a:spcPts val="761"/>
              </a:spcBef>
              <a:spcAft>
                <a:spcPts val="0"/>
              </a:spcAft>
              <a:buNone/>
            </a:pPr>
            <a:r>
              <a:t/>
            </a:r>
            <a:endParaRPr sz="21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iagram&#10;&#10;Description automatically generated" id="646" name="Google Shape;6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16" y="2335862"/>
            <a:ext cx="6438997" cy="228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Classification of </a:t>
            </a:r>
            <a:r>
              <a:rPr lang="en" sz="2700"/>
              <a:t>Sequential Circuits</a:t>
            </a:r>
            <a:endParaRPr sz="2700"/>
          </a:p>
        </p:txBody>
      </p:sp>
      <p:sp>
        <p:nvSpPr>
          <p:cNvPr id="652" name="Google Shape;652;p30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53" name="Google Shape;653;p30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or Asynchronous</a:t>
            </a:r>
            <a:endParaRPr/>
          </a:p>
        </p:txBody>
      </p:sp>
      <p:cxnSp>
        <p:nvCxnSpPr>
          <p:cNvPr id="654" name="Google Shape;654;p30"/>
          <p:cNvCxnSpPr>
            <a:stCxn id="65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Sequential Circuits</a:t>
            </a:r>
            <a:endParaRPr/>
          </a:p>
        </p:txBody>
      </p:sp>
      <p:cxnSp>
        <p:nvCxnSpPr>
          <p:cNvPr id="661" name="Google Shape;661;p31"/>
          <p:cNvCxnSpPr>
            <a:stCxn id="66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1"/>
          <p:cNvCxnSpPr>
            <a:endCxn id="66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31"/>
          <p:cNvSpPr txBox="1"/>
          <p:nvPr/>
        </p:nvSpPr>
        <p:spPr>
          <a:xfrm>
            <a:off x="571800" y="1202675"/>
            <a:ext cx="80004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75" lIns="69550" spcFirstLastPara="1" rIns="69550" wrap="square" tIns="347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" sz="2300">
                <a:latin typeface="Calibri"/>
                <a:ea typeface="Calibri"/>
                <a:cs typeface="Calibri"/>
                <a:sym typeface="Calibri"/>
              </a:rPr>
              <a:t>Two </a:t>
            </a:r>
            <a:r>
              <a:rPr i="1" lang="en" sz="2300">
                <a:latin typeface="Calibri"/>
                <a:ea typeface="Calibri"/>
                <a:cs typeface="Calibri"/>
                <a:sym typeface="Calibri"/>
              </a:rPr>
              <a:t>types of sequential circuit</a:t>
            </a: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 – based on </a:t>
            </a: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timing</a:t>
            </a: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 of their input signal 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Calibri"/>
              <a:buAutoNum type="arabicPeriod"/>
            </a:pP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Synchronous or clocked sequential circuit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Calibri"/>
              <a:buAutoNum type="arabicPeriod"/>
            </a:pPr>
            <a:r>
              <a:rPr lang="en" sz="1900">
                <a:latin typeface="Calibri"/>
                <a:ea typeface="Calibri"/>
                <a:cs typeface="Calibri"/>
                <a:sym typeface="Calibri"/>
              </a:rPr>
              <a:t>Asynchronous or unclocked sequential circuit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650" lvl="0" marL="173923" rtl="0" algn="l">
              <a:lnSpc>
                <a:spcPct val="90000"/>
              </a:lnSpc>
              <a:spcBef>
                <a:spcPts val="761"/>
              </a:spcBef>
              <a:spcAft>
                <a:spcPts val="0"/>
              </a:spcAft>
              <a:buNone/>
            </a:pPr>
            <a:r>
              <a:t/>
            </a:r>
            <a:endParaRPr sz="163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Sequential Circuits</a:t>
            </a:r>
            <a:endParaRPr/>
          </a:p>
        </p:txBody>
      </p:sp>
      <p:cxnSp>
        <p:nvCxnSpPr>
          <p:cNvPr id="671" name="Google Shape;671;p32"/>
          <p:cNvCxnSpPr>
            <a:stCxn id="67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2"/>
          <p:cNvCxnSpPr>
            <a:endCxn id="67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32"/>
          <p:cNvSpPr txBox="1"/>
          <p:nvPr/>
        </p:nvSpPr>
        <p:spPr>
          <a:xfrm>
            <a:off x="246600" y="1242801"/>
            <a:ext cx="8650800" cy="3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18288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 defined based on the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order/sequence</a:t>
            </a:r>
            <a:r>
              <a:rPr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input signals at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any instant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time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affected whenever the inputs change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synchronization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clock pulse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Latch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delayed memory element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delay is kept higher to provide storage attributes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Intentionally built with delay units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Drawback: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unstable states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times due to some undesirable feedbacks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Advantage: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faster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 the synchronous sequential circuit 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1225" y="1628800"/>
            <a:ext cx="1707600" cy="133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3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Sequential Circuits</a:t>
            </a:r>
            <a:endParaRPr/>
          </a:p>
        </p:txBody>
      </p:sp>
      <p:cxnSp>
        <p:nvCxnSpPr>
          <p:cNvPr id="682" name="Google Shape;682;p33"/>
          <p:cNvCxnSpPr>
            <a:stCxn id="68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3"/>
          <p:cNvCxnSpPr>
            <a:endCxn id="68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6" name="Google Shape;686;p33"/>
          <p:cNvSpPr txBox="1"/>
          <p:nvPr/>
        </p:nvSpPr>
        <p:spPr>
          <a:xfrm>
            <a:off x="146249" y="1278250"/>
            <a:ext cx="88515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850" lIns="69750" spcFirstLastPara="1" rIns="69750" wrap="square" tIns="34850">
            <a:normAutofit lnSpcReduction="20000"/>
          </a:bodyPr>
          <a:lstStyle/>
          <a:p>
            <a:pPr indent="-174388" lvl="1" marL="5231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 defined based on the input signals at </a:t>
            </a:r>
            <a:r>
              <a:rPr b="1" lang="en" sz="183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discrete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instants of time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b="1"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Flip-flop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FF0000"/>
              </a:buClr>
              <a:buSzPts val="1831"/>
              <a:buChar char="•"/>
            </a:pPr>
            <a:r>
              <a:rPr b="1" lang="en" sz="183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Synchronization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achieved through timing device 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2" marL="871941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526"/>
              <a:buChar char="•"/>
            </a:pPr>
            <a:r>
              <a:rPr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Also, known as </a:t>
            </a:r>
            <a:r>
              <a:rPr b="1"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clock </a:t>
            </a:r>
            <a:r>
              <a:rPr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 clock generator</a:t>
            </a:r>
            <a:endParaRPr sz="15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2" marL="871941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526"/>
              <a:buChar char="•"/>
            </a:pPr>
            <a:r>
              <a:rPr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generates a periodic train of clock pulses </a:t>
            </a:r>
            <a:endParaRPr sz="15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2" marL="871941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526"/>
              <a:buChar char="•"/>
            </a:pPr>
            <a:r>
              <a:rPr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clock pulse is ANDed with specific input signal</a:t>
            </a:r>
            <a:endParaRPr sz="15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pulse driven storage element 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2" marL="871941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526"/>
              <a:buChar char="•"/>
            </a:pPr>
            <a:r>
              <a:rPr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affected with arrival of each </a:t>
            </a:r>
            <a:r>
              <a:rPr b="1" lang="en" sz="152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pulse</a:t>
            </a:r>
            <a:endParaRPr sz="152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b="1"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pulse 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define </a:t>
            </a:r>
            <a:r>
              <a:rPr b="1" lang="en" sz="183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1"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changes will occur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b="1"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External inputs 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define</a:t>
            </a:r>
            <a:r>
              <a:rPr b="1" lang="en" sz="183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what 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changes will occur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b="1"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 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eliminate instability problem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388" lvl="1" marL="523165" rtl="0" algn="l">
              <a:lnSpc>
                <a:spcPct val="9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831"/>
              <a:buChar char="•"/>
            </a:pP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practice in electronic devi</a:t>
            </a:r>
            <a:r>
              <a:rPr lang="en" sz="1831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sz="183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</a:t>
            </a:r>
            <a:endParaRPr sz="18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53" lvl="0" marL="174389" rtl="0" algn="just">
              <a:lnSpc>
                <a:spcPct val="90000"/>
              </a:lnSpc>
              <a:spcBef>
                <a:spcPts val="763"/>
              </a:spcBef>
              <a:spcAft>
                <a:spcPts val="0"/>
              </a:spcAft>
              <a:buNone/>
            </a:pPr>
            <a:r>
              <a:t/>
            </a:r>
            <a:endParaRPr sz="21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9072" y="1858046"/>
            <a:ext cx="2520899" cy="157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3"/>
          <p:cNvPicPr preferRelativeResize="0"/>
          <p:nvPr/>
        </p:nvPicPr>
        <p:blipFill rotWithShape="1">
          <a:blip r:embed="rId4">
            <a:alphaModFix/>
          </a:blip>
          <a:srcRect b="0" l="38819" r="0" t="0"/>
          <a:stretch/>
        </p:blipFill>
        <p:spPr>
          <a:xfrm>
            <a:off x="5423190" y="2501389"/>
            <a:ext cx="716248" cy="344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4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Clocked Sequential Circuits</a:t>
            </a:r>
            <a:endParaRPr/>
          </a:p>
        </p:txBody>
      </p:sp>
      <p:cxnSp>
        <p:nvCxnSpPr>
          <p:cNvPr id="694" name="Google Shape;694;p34"/>
          <p:cNvCxnSpPr>
            <a:stCxn id="69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34"/>
          <p:cNvCxnSpPr>
            <a:endCxn id="6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8" name="Google Shape;69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149" y="1271326"/>
            <a:ext cx="4823700" cy="2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4"/>
          <p:cNvSpPr txBox="1"/>
          <p:nvPr/>
        </p:nvSpPr>
        <p:spPr>
          <a:xfrm>
            <a:off x="3080409" y="4317003"/>
            <a:ext cx="330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775" spcFirstLastPara="1" rIns="6877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4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" sz="135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Here, the storage element is a flip-flop </a:t>
            </a:r>
            <a:endParaRPr sz="1053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Flip Flops</a:t>
            </a:r>
            <a:endParaRPr sz="2700"/>
          </a:p>
        </p:txBody>
      </p:sp>
      <p:sp>
        <p:nvSpPr>
          <p:cNvPr id="705" name="Google Shape;705;p3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06" name="Google Shape;706;p3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7" name="Google Shape;707;p35"/>
          <p:cNvCxnSpPr>
            <a:stCxn id="705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" name="Google Shape;70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6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 Flops</a:t>
            </a:r>
            <a:endParaRPr/>
          </a:p>
        </p:txBody>
      </p:sp>
      <p:cxnSp>
        <p:nvCxnSpPr>
          <p:cNvPr id="714" name="Google Shape;714;p36"/>
          <p:cNvCxnSpPr>
            <a:stCxn id="71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6"/>
          <p:cNvCxnSpPr>
            <a:endCxn id="71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36"/>
          <p:cNvSpPr txBox="1"/>
          <p:nvPr/>
        </p:nvSpPr>
        <p:spPr>
          <a:xfrm>
            <a:off x="457200" y="1435596"/>
            <a:ext cx="9144000" cy="3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3515" lvl="0" marL="2286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0"/>
              <a:buChar char="•"/>
            </a:pPr>
            <a:r>
              <a:rPr b="1"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 elements </a:t>
            </a:r>
            <a:r>
              <a:rPr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clocked sequential circuit </a:t>
            </a:r>
            <a:endParaRPr sz="20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90"/>
              <a:buChar char="•"/>
            </a:pPr>
            <a:r>
              <a:rPr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binary/digital memory cell  that stores one bit of information</a:t>
            </a:r>
            <a:endParaRPr sz="20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90"/>
              <a:buChar char="•"/>
            </a:pPr>
            <a:r>
              <a:rPr b="1"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inputs – </a:t>
            </a:r>
            <a:r>
              <a:rPr b="1" lang="en" sz="20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1"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" sz="20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endParaRPr sz="20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515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90"/>
              <a:buChar char="•"/>
            </a:pPr>
            <a:r>
              <a:rPr b="1"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outputs </a:t>
            </a:r>
            <a:r>
              <a:rPr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1" lang="en" sz="20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normal (Q) </a:t>
            </a:r>
            <a:r>
              <a:rPr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0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complement (Q’) </a:t>
            </a:r>
            <a:r>
              <a:rPr lang="en" sz="20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of the bit stored</a:t>
            </a:r>
            <a:endParaRPr sz="20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20"/>
              <a:buChar char="•"/>
            </a:pPr>
            <a:r>
              <a:rPr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Q=1, Q’=0 : </a:t>
            </a:r>
            <a:r>
              <a:rPr b="1"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(1) </a:t>
            </a:r>
            <a:r>
              <a:rPr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and Q=0, Q’=1 : </a:t>
            </a:r>
            <a:r>
              <a:rPr b="1"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reset (0) </a:t>
            </a:r>
            <a:r>
              <a:rPr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</a:t>
            </a:r>
            <a:endParaRPr sz="17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20"/>
              <a:buChar char="•"/>
            </a:pPr>
            <a:r>
              <a:rPr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and Q’ can’t be same state at a time </a:t>
            </a:r>
            <a:endParaRPr sz="17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1" marL="68580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20"/>
              <a:buChar char="•"/>
            </a:pPr>
            <a:r>
              <a:rPr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it happens, it goes to </a:t>
            </a:r>
            <a:r>
              <a:rPr b="1" lang="en" sz="17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undefined state </a:t>
            </a:r>
            <a:endParaRPr sz="17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7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 Flops</a:t>
            </a:r>
            <a:endParaRPr/>
          </a:p>
        </p:txBody>
      </p:sp>
      <p:cxnSp>
        <p:nvCxnSpPr>
          <p:cNvPr id="724" name="Google Shape;724;p37"/>
          <p:cNvCxnSpPr>
            <a:stCxn id="72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7"/>
          <p:cNvCxnSpPr>
            <a:endCxn id="72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37"/>
          <p:cNvSpPr txBox="1"/>
          <p:nvPr/>
        </p:nvSpPr>
        <p:spPr>
          <a:xfrm>
            <a:off x="836550" y="1370350"/>
            <a:ext cx="7470900" cy="30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2475" lIns="64950" spcFirstLastPara="1" rIns="64950" wrap="square" tIns="32475">
            <a:normAutofit/>
          </a:bodyPr>
          <a:lstStyle/>
          <a:p>
            <a:pPr indent="-162411" lvl="0" marL="162411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9"/>
              <a:buChar char="•"/>
            </a:pPr>
            <a:r>
              <a:rPr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Implemented with </a:t>
            </a:r>
            <a:r>
              <a:rPr b="1"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NAND or NOR </a:t>
            </a:r>
            <a:r>
              <a:rPr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gates </a:t>
            </a:r>
            <a:r>
              <a:rPr b="1"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8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411" lvl="0" marL="162411" rtl="0" algn="l">
              <a:lnSpc>
                <a:spcPct val="9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989"/>
              <a:buChar char="•"/>
            </a:pPr>
            <a:r>
              <a:rPr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Differences in types of flip-flops:</a:t>
            </a:r>
            <a:endParaRPr sz="198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412" lvl="1" marL="487236" rtl="0" algn="l">
              <a:lnSpc>
                <a:spcPct val="90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1705"/>
              <a:buChar char="•"/>
            </a:pPr>
            <a:r>
              <a:rPr lang="en" sz="170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number of inputs and the manner in which the inputs affect the binary state</a:t>
            </a:r>
            <a:endParaRPr sz="170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411" lvl="0" marL="162411" rtl="0" algn="l">
              <a:lnSpc>
                <a:spcPct val="9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1989"/>
              <a:buChar char="•"/>
            </a:pPr>
            <a:r>
              <a:rPr b="1"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 triggered </a:t>
            </a:r>
            <a:r>
              <a:rPr lang="en" sz="198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</a:t>
            </a:r>
            <a:endParaRPr sz="198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624" y="2969625"/>
            <a:ext cx="3268530" cy="15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8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Latch</a:t>
            </a:r>
            <a:endParaRPr/>
          </a:p>
        </p:txBody>
      </p:sp>
      <p:cxnSp>
        <p:nvCxnSpPr>
          <p:cNvPr id="735" name="Google Shape;735;p38"/>
          <p:cNvCxnSpPr>
            <a:stCxn id="73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38"/>
          <p:cNvCxnSpPr>
            <a:endCxn id="73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9" name="Google Shape;739;p38"/>
          <p:cNvSpPr txBox="1"/>
          <p:nvPr/>
        </p:nvSpPr>
        <p:spPr>
          <a:xfrm>
            <a:off x="533400" y="1216025"/>
            <a:ext cx="7971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has two stable states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to store binary information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Binary memory element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Latches are basic storage elements that operate with signal levels (rather than signal transitions).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Level triggered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synchronized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clock pulses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0308" y="2859155"/>
            <a:ext cx="2797578" cy="181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Latch vs Flip Flops</a:t>
            </a:r>
            <a:endParaRPr/>
          </a:p>
        </p:txBody>
      </p:sp>
      <p:cxnSp>
        <p:nvCxnSpPr>
          <p:cNvPr id="746" name="Google Shape;746;p39"/>
          <p:cNvCxnSpPr>
            <a:stCxn id="74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39"/>
          <p:cNvCxnSpPr>
            <a:endCxn id="74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0" name="Google Shape;750;p39"/>
          <p:cNvSpPr txBox="1"/>
          <p:nvPr/>
        </p:nvSpPr>
        <p:spPr>
          <a:xfrm>
            <a:off x="594475" y="1328650"/>
            <a:ext cx="7698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state of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flip-flop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changes at active state of clock pulses and remains unaffected when the clock pulse is not active.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serves as a memory element in </a:t>
            </a:r>
            <a:r>
              <a:rPr lang="en" sz="1600">
                <a:solidFill>
                  <a:srgbClr val="273239"/>
                </a:solidFill>
              </a:rPr>
              <a:t>synchronous sequential circuits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1600"/>
              <a:buChar char="•"/>
            </a:pPr>
            <a:r>
              <a:rPr lang="en" sz="1600">
                <a:solidFill>
                  <a:srgbClr val="273239"/>
                </a:solidFill>
              </a:rPr>
              <a:t>It is applied with </a:t>
            </a:r>
            <a:r>
              <a:rPr b="1" lang="en" sz="1600">
                <a:solidFill>
                  <a:srgbClr val="FF0000"/>
                </a:solidFill>
              </a:rPr>
              <a:t>clock pulses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200"/>
              <a:buChar char="•"/>
            </a:pPr>
            <a:r>
              <a:rPr lang="en" sz="2200">
                <a:solidFill>
                  <a:srgbClr val="273239"/>
                </a:solidFill>
              </a:rPr>
              <a:t>In particular, the unclocked </a:t>
            </a:r>
            <a:r>
              <a:rPr b="1" lang="en" sz="2200">
                <a:solidFill>
                  <a:srgbClr val="273239"/>
                </a:solidFill>
              </a:rPr>
              <a:t>flip-flops</a:t>
            </a:r>
            <a:r>
              <a:rPr lang="en" sz="2200">
                <a:solidFill>
                  <a:srgbClr val="273239"/>
                </a:solidFill>
              </a:rPr>
              <a:t> (i.e., latches) changes its states of the output immediately based on the applied input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1600"/>
              <a:buChar char="•"/>
            </a:pPr>
            <a:r>
              <a:rPr lang="en" sz="1600">
                <a:solidFill>
                  <a:srgbClr val="273239"/>
                </a:solidFill>
              </a:rPr>
              <a:t>It serves as memory elements in asynchronous sequential circuits.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1600"/>
              <a:buChar char="•"/>
            </a:pPr>
            <a:r>
              <a:rPr lang="en" sz="1600">
                <a:solidFill>
                  <a:srgbClr val="273239"/>
                </a:solidFill>
              </a:rPr>
              <a:t>Sometimes it is applied </a:t>
            </a:r>
            <a:r>
              <a:rPr b="1" lang="en" sz="1600">
                <a:solidFill>
                  <a:srgbClr val="FF0000"/>
                </a:solidFill>
              </a:rPr>
              <a:t>enable input 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0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Types of Flip Flops</a:t>
            </a:r>
            <a:endParaRPr sz="2700"/>
          </a:p>
        </p:txBody>
      </p:sp>
      <p:sp>
        <p:nvSpPr>
          <p:cNvPr id="756" name="Google Shape;756;p40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7" name="Google Shape;757;p40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S-R, D, J-K, T</a:t>
            </a:r>
            <a:endParaRPr/>
          </a:p>
        </p:txBody>
      </p:sp>
      <p:cxnSp>
        <p:nvCxnSpPr>
          <p:cNvPr id="758" name="Google Shape;758;p40"/>
          <p:cNvCxnSpPr>
            <a:stCxn id="75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" name="Google Shape;759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1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Flip Flops</a:t>
            </a:r>
            <a:endParaRPr/>
          </a:p>
        </p:txBody>
      </p:sp>
      <p:cxnSp>
        <p:nvCxnSpPr>
          <p:cNvPr id="765" name="Google Shape;765;p41"/>
          <p:cNvCxnSpPr>
            <a:stCxn id="76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1"/>
          <p:cNvCxnSpPr>
            <a:endCxn id="76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9" name="Google Shape;769;p41"/>
          <p:cNvSpPr txBox="1"/>
          <p:nvPr/>
        </p:nvSpPr>
        <p:spPr>
          <a:xfrm>
            <a:off x="562700" y="1422525"/>
            <a:ext cx="78081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how the inputs and clock pulses cause transition between two states: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S-R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(Set-Reset) flip-flop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(Data) flip-flop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J-K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(J: set, K: reset) flip-flop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(Toggle) flip-flop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2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: SR Flip Flop</a:t>
            </a:r>
            <a:endParaRPr/>
          </a:p>
        </p:txBody>
      </p:sp>
      <p:cxnSp>
        <p:nvCxnSpPr>
          <p:cNvPr id="775" name="Google Shape;775;p42"/>
          <p:cNvCxnSpPr>
            <a:stCxn id="77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2"/>
          <p:cNvCxnSpPr>
            <a:endCxn id="77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9" name="Google Shape;779;p42"/>
          <p:cNvSpPr txBox="1"/>
          <p:nvPr/>
        </p:nvSpPr>
        <p:spPr>
          <a:xfrm>
            <a:off x="331950" y="1341125"/>
            <a:ext cx="86325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/>
          <a:p>
            <a:pPr indent="-182101" lvl="0" marL="1821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0"/>
              <a:buChar char="•"/>
            </a:pP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inputs – Set (S) and Reset (R)</a:t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1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Clr>
                <a:srgbClr val="000000"/>
              </a:buClr>
              <a:buSzPts val="2230"/>
              <a:buChar char="•"/>
            </a:pP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outputs – Q and Q’ (complement to each other)</a:t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1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Clr>
                <a:srgbClr val="000000"/>
              </a:buClr>
              <a:buSzPts val="2230"/>
              <a:buChar char="•"/>
            </a:pP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Made of </a:t>
            </a:r>
            <a:r>
              <a:rPr b="1" lang="en" sz="223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cross-coupled connection </a:t>
            </a: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output to input constituting a </a:t>
            </a:r>
            <a:r>
              <a:rPr b="1"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feedback path </a:t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466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None/>
            </a:pPr>
            <a:r>
              <a:t/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0" name="Google Shape;7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053" y="3074255"/>
            <a:ext cx="2426050" cy="125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3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: SR Latch with NOT Gates </a:t>
            </a:r>
            <a:r>
              <a:rPr lang="en" sz="1200"/>
              <a:t>(level edge Triggered)</a:t>
            </a:r>
            <a:endParaRPr sz="1200"/>
          </a:p>
        </p:txBody>
      </p:sp>
      <p:cxnSp>
        <p:nvCxnSpPr>
          <p:cNvPr id="786" name="Google Shape;786;p43"/>
          <p:cNvCxnSpPr>
            <a:stCxn id="78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43"/>
          <p:cNvCxnSpPr>
            <a:endCxn id="78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0" name="Google Shape;790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6252" y="2608389"/>
            <a:ext cx="1908600" cy="12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3"/>
          <p:cNvSpPr txBox="1"/>
          <p:nvPr/>
        </p:nvSpPr>
        <p:spPr>
          <a:xfrm>
            <a:off x="668388" y="1411925"/>
            <a:ext cx="7593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normAutofit/>
          </a:bodyPr>
          <a:lstStyle/>
          <a:p>
            <a:pPr indent="-155018" lvl="0" marL="15501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lang="en" sz="18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clocked or synchronized</a:t>
            </a:r>
            <a:endParaRPr sz="949"/>
          </a:p>
          <a:p>
            <a:pPr indent="-155017" lvl="1" marL="465052" marR="0" rtl="0" algn="l">
              <a:lnSpc>
                <a:spcPct val="90000"/>
              </a:lnSpc>
              <a:spcBef>
                <a:spcPts val="339"/>
              </a:spcBef>
              <a:spcAft>
                <a:spcPts val="0"/>
              </a:spcAft>
              <a:buClr>
                <a:srgbClr val="000000"/>
              </a:buClr>
              <a:buSzPts val="1627"/>
              <a:buFont typeface="Arial"/>
              <a:buChar char="•"/>
            </a:pPr>
            <a:r>
              <a:rPr b="0" i="0" lang="en" sz="162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Level triggered </a:t>
            </a:r>
            <a:endParaRPr sz="949"/>
          </a:p>
          <a:p>
            <a:pPr indent="-155017" lvl="1" marL="465052" marR="0" rtl="0" algn="l">
              <a:lnSpc>
                <a:spcPct val="90000"/>
              </a:lnSpc>
              <a:spcBef>
                <a:spcPts val="339"/>
              </a:spcBef>
              <a:spcAft>
                <a:spcPts val="0"/>
              </a:spcAft>
              <a:buClr>
                <a:srgbClr val="000000"/>
              </a:buClr>
              <a:buSzPts val="1627"/>
              <a:buFont typeface="Arial"/>
              <a:buChar char="•"/>
            </a:pPr>
            <a:r>
              <a:rPr b="0" i="0" lang="en" sz="162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sequential circuit </a:t>
            </a:r>
            <a:endParaRPr sz="949"/>
          </a:p>
          <a:p>
            <a:pPr indent="-51673" lvl="1" marL="465052" marR="0" rtl="0" algn="l">
              <a:lnSpc>
                <a:spcPct val="90000"/>
              </a:lnSpc>
              <a:spcBef>
                <a:spcPts val="339"/>
              </a:spcBef>
              <a:spcAft>
                <a:spcPts val="0"/>
              </a:spcAft>
              <a:buClr>
                <a:srgbClr val="000000"/>
              </a:buClr>
              <a:buSzPts val="1627"/>
              <a:buFont typeface="Arial"/>
              <a:buNone/>
            </a:pPr>
            <a:r>
              <a:t/>
            </a:r>
            <a:endParaRPr b="0" i="0" sz="16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2" name="Google Shape;79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5871" y="2554199"/>
            <a:ext cx="3502906" cy="13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3"/>
          <p:cNvSpPr txBox="1"/>
          <p:nvPr/>
        </p:nvSpPr>
        <p:spPr>
          <a:xfrm>
            <a:off x="1275639" y="4173015"/>
            <a:ext cx="6405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2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" sz="12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output of a NOR gate is zero (0) if any of the inputs are 1, irrespective of the other input. </a:t>
            </a:r>
            <a:endParaRPr sz="949"/>
          </a:p>
        </p:txBody>
      </p:sp>
      <p:sp>
        <p:nvSpPr>
          <p:cNvPr id="794" name="Google Shape;794;p43"/>
          <p:cNvSpPr txBox="1"/>
          <p:nvPr/>
        </p:nvSpPr>
        <p:spPr>
          <a:xfrm>
            <a:off x="7249219" y="3670355"/>
            <a:ext cx="12264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(after an undefined occurrence)</a:t>
            </a:r>
            <a:endParaRPr sz="949"/>
          </a:p>
        </p:txBody>
      </p:sp>
      <p:sp>
        <p:nvSpPr>
          <p:cNvPr id="795" name="Google Shape;795;p43"/>
          <p:cNvSpPr txBox="1"/>
          <p:nvPr/>
        </p:nvSpPr>
        <p:spPr>
          <a:xfrm>
            <a:off x="6792385" y="3310420"/>
            <a:ext cx="4980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(Set state) </a:t>
            </a:r>
            <a:endParaRPr sz="949"/>
          </a:p>
        </p:txBody>
      </p:sp>
      <p:sp>
        <p:nvSpPr>
          <p:cNvPr id="796" name="Google Shape;796;p43"/>
          <p:cNvSpPr txBox="1"/>
          <p:nvPr/>
        </p:nvSpPr>
        <p:spPr>
          <a:xfrm>
            <a:off x="6885939" y="3136158"/>
            <a:ext cx="5589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(Reset state)</a:t>
            </a:r>
            <a:endParaRPr sz="949"/>
          </a:p>
        </p:txBody>
      </p:sp>
      <p:sp>
        <p:nvSpPr>
          <p:cNvPr id="797" name="Google Shape;797;p43"/>
          <p:cNvSpPr txBox="1"/>
          <p:nvPr/>
        </p:nvSpPr>
        <p:spPr>
          <a:xfrm>
            <a:off x="7098439" y="2961896"/>
            <a:ext cx="6654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00" spcFirstLastPara="1" rIns="62000" wrap="square" tIns="31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(Memory state)</a:t>
            </a:r>
            <a:endParaRPr sz="949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4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: Clocked SR Flip Flop</a:t>
            </a:r>
            <a:endParaRPr sz="1200"/>
          </a:p>
        </p:txBody>
      </p:sp>
      <p:cxnSp>
        <p:nvCxnSpPr>
          <p:cNvPr id="803" name="Google Shape;803;p44"/>
          <p:cNvCxnSpPr>
            <a:stCxn id="80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4"/>
          <p:cNvCxnSpPr>
            <a:endCxn id="80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6" name="Google Shape;80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7" name="Google Shape;807;p44"/>
          <p:cNvSpPr txBox="1"/>
          <p:nvPr/>
        </p:nvSpPr>
        <p:spPr>
          <a:xfrm>
            <a:off x="908450" y="1327900"/>
            <a:ext cx="73107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700" lIns="61450" spcFirstLastPara="1" rIns="61450" wrap="square" tIns="30700">
            <a:normAutofit/>
          </a:bodyPr>
          <a:lstStyle/>
          <a:p>
            <a:pPr indent="-153659" lvl="0" marL="15365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82"/>
              <a:buChar char="•"/>
            </a:pPr>
            <a:r>
              <a:rPr lang="en" sz="188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Synchronous circuit </a:t>
            </a:r>
            <a:endParaRPr sz="18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3658" lvl="1" marL="460976" rtl="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rgbClr val="000000"/>
              </a:buClr>
              <a:buSzPts val="1613"/>
              <a:buChar char="•"/>
            </a:pPr>
            <a:r>
              <a:rPr lang="en" sz="16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Activated during a clock pulse is present </a:t>
            </a:r>
            <a:endParaRPr sz="16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3659" lvl="0" marL="153659" rtl="0" algn="l">
              <a:lnSpc>
                <a:spcPct val="90000"/>
              </a:lnSpc>
              <a:spcBef>
                <a:spcPts val="672"/>
              </a:spcBef>
              <a:spcAft>
                <a:spcPts val="0"/>
              </a:spcAft>
              <a:buClr>
                <a:srgbClr val="000000"/>
              </a:buClr>
              <a:buSzPts val="1882"/>
              <a:buChar char="•"/>
            </a:pPr>
            <a:r>
              <a:rPr lang="en" sz="188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a latch, a </a:t>
            </a:r>
            <a:r>
              <a:rPr b="1" lang="en" sz="188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flip-flop</a:t>
            </a:r>
            <a:r>
              <a:rPr lang="en" sz="188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 be produced including an additional input to control the behavior of the circuit </a:t>
            </a:r>
            <a:endParaRPr sz="18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8" name="Google Shape;808;p44"/>
          <p:cNvGrpSpPr/>
          <p:nvPr/>
        </p:nvGrpSpPr>
        <p:grpSpPr>
          <a:xfrm>
            <a:off x="1276842" y="2633978"/>
            <a:ext cx="3286330" cy="1508479"/>
            <a:chOff x="3319944" y="3779857"/>
            <a:chExt cx="4889644" cy="2244426"/>
          </a:xfrm>
        </p:grpSpPr>
        <p:pic>
          <p:nvPicPr>
            <p:cNvPr id="809" name="Google Shape;80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19944" y="3779857"/>
              <a:ext cx="4889644" cy="2244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44"/>
            <p:cNvSpPr txBox="1"/>
            <p:nvPr/>
          </p:nvSpPr>
          <p:spPr>
            <a:xfrm>
              <a:off x="6486861" y="4740487"/>
              <a:ext cx="556500" cy="32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30700" lIns="61450" spcFirstLastPara="1" rIns="61450" wrap="square" tIns="30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latch</a:t>
              </a:r>
              <a:endParaRPr sz="941"/>
            </a:p>
          </p:txBody>
        </p:sp>
      </p:grpSp>
      <p:pic>
        <p:nvPicPr>
          <p:cNvPr id="811" name="Google Shape;81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2400" y="2712832"/>
            <a:ext cx="3170639" cy="1430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5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 : SR Flip Flop</a:t>
            </a:r>
            <a:endParaRPr sz="1200"/>
          </a:p>
        </p:txBody>
      </p:sp>
      <p:cxnSp>
        <p:nvCxnSpPr>
          <p:cNvPr id="817" name="Google Shape;817;p45"/>
          <p:cNvCxnSpPr>
            <a:stCxn id="81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5"/>
          <p:cNvCxnSpPr>
            <a:endCxn id="81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45"/>
          <p:cNvSpPr txBox="1"/>
          <p:nvPr/>
        </p:nvSpPr>
        <p:spPr>
          <a:xfrm>
            <a:off x="614163" y="1202000"/>
            <a:ext cx="78879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00" lIns="64400" spcFirstLastPara="1" rIns="64400" wrap="square" tIns="32200">
            <a:normAutofit/>
          </a:bodyPr>
          <a:lstStyle/>
          <a:p>
            <a:pPr indent="-53678" lvl="1" marL="48310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1"/>
              <a:buFont typeface="Arial"/>
              <a:buNone/>
            </a:pPr>
            <a:r>
              <a:t/>
            </a:r>
            <a:endParaRPr b="0" i="0" sz="16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5"/>
          <p:cNvSpPr txBox="1"/>
          <p:nvPr/>
        </p:nvSpPr>
        <p:spPr>
          <a:xfrm>
            <a:off x="868133" y="1202000"/>
            <a:ext cx="76617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00" lIns="64400" spcFirstLastPara="1" rIns="64400" wrap="square" tIns="32200">
            <a:normAutofit/>
          </a:bodyPr>
          <a:lstStyle/>
          <a:p>
            <a:pPr indent="-161035" lvl="0" marL="16103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Logic symbol and truth table 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35" lvl="0" marL="161035" rtl="0" algn="l">
              <a:lnSpc>
                <a:spcPct val="90000"/>
              </a:lnSpc>
              <a:spcBef>
                <a:spcPts val="704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inputs – S, R and CLK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34" lvl="1" marL="483104" rtl="0" algn="l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ts val="1691"/>
              <a:buChar char="•"/>
            </a:pPr>
            <a:r>
              <a:rPr lang="en" sz="169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clock input is marked with a triangle denoting edge triggered flip-flop </a:t>
            </a:r>
            <a:endParaRPr sz="169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35" lvl="0" marL="161035" rtl="0" algn="l">
              <a:lnSpc>
                <a:spcPct val="90000"/>
              </a:lnSpc>
              <a:spcBef>
                <a:spcPts val="704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denotes output at n</a:t>
            </a:r>
            <a:r>
              <a:rPr baseline="30000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and Q</a:t>
            </a:r>
            <a:r>
              <a:rPr baseline="-25000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n+1 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denotes output at (n+1)</a:t>
            </a:r>
            <a:r>
              <a:rPr baseline="30000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3" name="Google Shape;823;p45"/>
          <p:cNvPicPr preferRelativeResize="0"/>
          <p:nvPr/>
        </p:nvPicPr>
        <p:blipFill rotWithShape="1">
          <a:blip r:embed="rId3">
            <a:alphaModFix/>
          </a:blip>
          <a:srcRect b="4471" l="0" r="0" t="0"/>
          <a:stretch/>
        </p:blipFill>
        <p:spPr>
          <a:xfrm>
            <a:off x="1740666" y="2721677"/>
            <a:ext cx="2282805" cy="12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3454" y="2716058"/>
            <a:ext cx="2962827" cy="152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6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 and Truth Table</a:t>
            </a:r>
            <a:endParaRPr sz="1200"/>
          </a:p>
        </p:txBody>
      </p:sp>
      <p:cxnSp>
        <p:nvCxnSpPr>
          <p:cNvPr id="830" name="Google Shape;830;p46"/>
          <p:cNvCxnSpPr>
            <a:stCxn id="8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46"/>
          <p:cNvCxnSpPr>
            <a:endCxn id="8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4" name="Google Shape;834;p46"/>
          <p:cNvSpPr txBox="1"/>
          <p:nvPr/>
        </p:nvSpPr>
        <p:spPr>
          <a:xfrm>
            <a:off x="907675" y="1583050"/>
            <a:ext cx="73539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Characteristic table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truth table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Truth table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present input(s)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0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present state(s)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input column and </a:t>
            </a:r>
            <a:r>
              <a:rPr b="1" lang="en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next state(s)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output column refers to a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characteristic table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refers to the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operational characteristics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flip-flop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7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Preset and Clear Inputs</a:t>
            </a:r>
            <a:endParaRPr sz="1200"/>
          </a:p>
        </p:txBody>
      </p:sp>
      <p:cxnSp>
        <p:nvCxnSpPr>
          <p:cNvPr id="840" name="Google Shape;840;p47"/>
          <p:cNvCxnSpPr>
            <a:stCxn id="84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7"/>
          <p:cNvCxnSpPr>
            <a:endCxn id="84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4" name="Google Shape;844;p47"/>
          <p:cNvSpPr txBox="1"/>
          <p:nvPr/>
        </p:nvSpPr>
        <p:spPr>
          <a:xfrm>
            <a:off x="457200" y="990600"/>
            <a:ext cx="90348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Initially, a circuit is </a:t>
            </a:r>
            <a:r>
              <a:rPr b="1" lang="en" sz="2100">
                <a:latin typeface="Calibri"/>
                <a:ea typeface="Calibri"/>
                <a:cs typeface="Calibri"/>
                <a:sym typeface="Calibri"/>
              </a:rPr>
              <a:t>uncertain 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with Q and Q’ states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They should be assigned with either </a:t>
            </a: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set 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reset 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state with direct or asynchronous inputs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Also, called as 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overriding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inputs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These inputs are individually named as </a:t>
            </a:r>
            <a:r>
              <a:rPr b="1" i="1" lang="en" sz="1700">
                <a:latin typeface="Calibri"/>
                <a:ea typeface="Calibri"/>
                <a:cs typeface="Calibri"/>
                <a:sym typeface="Calibri"/>
              </a:rPr>
              <a:t>preset (Pr)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" sz="1700">
                <a:latin typeface="Calibri"/>
                <a:ea typeface="Calibri"/>
                <a:cs typeface="Calibri"/>
                <a:sym typeface="Calibri"/>
              </a:rPr>
              <a:t>clear (Cr)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These inputs are not synchronized with clock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They can be applied at any time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700"/>
              <a:buChar char="•"/>
            </a:pPr>
            <a:r>
              <a:rPr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CLK = 0 or 1, doesn’t care at all [but, preferred to be applied when clock is inactive]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Pr=0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Cr=0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 must not be applied, as it leads to an uncertain state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Pr 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" sz="2100">
                <a:latin typeface="Calibri"/>
                <a:ea typeface="Calibri"/>
                <a:cs typeface="Calibri"/>
                <a:sym typeface="Calibri"/>
              </a:rPr>
              <a:t>Cr </a:t>
            </a: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inputs are used with bubbles considering them </a:t>
            </a:r>
            <a:r>
              <a:rPr b="1" lang="en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active low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8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2 : D Flip Flop</a:t>
            </a:r>
            <a:endParaRPr/>
          </a:p>
        </p:txBody>
      </p:sp>
      <p:cxnSp>
        <p:nvCxnSpPr>
          <p:cNvPr id="850" name="Google Shape;850;p48"/>
          <p:cNvCxnSpPr>
            <a:stCxn id="85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8"/>
          <p:cNvCxnSpPr>
            <a:endCxn id="85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4" name="Google Shape;854;p48"/>
          <p:cNvSpPr txBox="1"/>
          <p:nvPr/>
        </p:nvSpPr>
        <p:spPr>
          <a:xfrm>
            <a:off x="331950" y="1341125"/>
            <a:ext cx="86325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00" lIns="72825" spcFirstLastPara="1" rIns="72825" wrap="square" tIns="36400">
            <a:normAutofit/>
          </a:bodyPr>
          <a:lstStyle/>
          <a:p>
            <a:pPr indent="-182101" lvl="0" marL="1821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0"/>
              <a:buChar char="•"/>
            </a:pP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input – </a:t>
            </a: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Data/Delay (D)</a:t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1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Clr>
                <a:srgbClr val="000000"/>
              </a:buClr>
              <a:buSzPts val="2230"/>
              <a:buChar char="•"/>
            </a:pPr>
            <a:r>
              <a:rPr lang="en" sz="22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outputs – Q and Q’ (complement to each other)</a:t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1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Clr>
                <a:srgbClr val="000000"/>
              </a:buClr>
              <a:buSzPts val="2230"/>
              <a:buFont typeface="Calibri"/>
              <a:buChar char="•"/>
            </a:pP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Similar to S and R but R is complement of S to avoid the invalid condition.</a:t>
            </a:r>
            <a:endParaRPr sz="2230">
              <a:latin typeface="Calibri"/>
              <a:ea typeface="Calibri"/>
              <a:cs typeface="Calibri"/>
              <a:sym typeface="Calibri"/>
            </a:endParaRPr>
          </a:p>
          <a:p>
            <a:pPr indent="-40466" lvl="0" marL="182101" rtl="0" algn="l">
              <a:lnSpc>
                <a:spcPct val="90000"/>
              </a:lnSpc>
              <a:spcBef>
                <a:spcPts val="797"/>
              </a:spcBef>
              <a:spcAft>
                <a:spcPts val="0"/>
              </a:spcAft>
              <a:buNone/>
            </a:pPr>
            <a:r>
              <a:t/>
            </a:r>
            <a:endParaRPr sz="22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9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3 : JK Flip Flop</a:t>
            </a:r>
            <a:endParaRPr/>
          </a:p>
        </p:txBody>
      </p:sp>
      <p:cxnSp>
        <p:nvCxnSpPr>
          <p:cNvPr id="860" name="Google Shape;860;p49"/>
          <p:cNvCxnSpPr>
            <a:stCxn id="86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49"/>
          <p:cNvCxnSpPr>
            <a:endCxn id="86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4" name="Google Shape;864;p49"/>
          <p:cNvSpPr txBox="1"/>
          <p:nvPr/>
        </p:nvSpPr>
        <p:spPr>
          <a:xfrm>
            <a:off x="562700" y="1397000"/>
            <a:ext cx="7698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similar to an S-R flip-flop 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b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and K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behave like inputs </a:t>
            </a:r>
            <a:r>
              <a:rPr b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and R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set and reset the flip-flop 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difference is </a:t>
            </a:r>
            <a:r>
              <a:rPr b="1" lang="en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eliminating</a:t>
            </a: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undefined condition </a:t>
            </a:r>
            <a:r>
              <a:rPr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an S-R flip-flop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J=K=1, the flip-flop is said to be in a </a:t>
            </a:r>
            <a:r>
              <a:rPr b="1" i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toggle state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b="1" i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Toggling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means complementing the state in each clock pulse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0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3 : JK Flip Flop</a:t>
            </a:r>
            <a:endParaRPr/>
          </a:p>
        </p:txBody>
      </p:sp>
      <p:cxnSp>
        <p:nvCxnSpPr>
          <p:cNvPr id="870" name="Google Shape;870;p50"/>
          <p:cNvCxnSpPr>
            <a:stCxn id="8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0"/>
          <p:cNvCxnSpPr>
            <a:endCxn id="8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4" name="Google Shape;874;p50"/>
          <p:cNvSpPr txBox="1"/>
          <p:nvPr/>
        </p:nvSpPr>
        <p:spPr>
          <a:xfrm>
            <a:off x="347250" y="1226075"/>
            <a:ext cx="8966100" cy="3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675" lIns="75375" spcFirstLastPara="1" rIns="75375" wrap="square" tIns="37675">
            <a:normAutofit/>
          </a:bodyPr>
          <a:lstStyle/>
          <a:p>
            <a:pPr indent="-182103" lvl="0" marL="18845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8"/>
              <a:buChar char="•"/>
            </a:pPr>
            <a:r>
              <a:rPr lang="en" sz="22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</a:t>
            </a:r>
            <a:r>
              <a:rPr b="1" lang="en" sz="22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S-R flip flop</a:t>
            </a:r>
            <a:endParaRPr sz="220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4" lvl="1" marL="565362" rtl="0" algn="l">
              <a:lnSpc>
                <a:spcPct val="90000"/>
              </a:lnSpc>
              <a:spcBef>
                <a:spcPts val="412"/>
              </a:spcBef>
              <a:spcAft>
                <a:spcPts val="0"/>
              </a:spcAft>
              <a:buClr>
                <a:srgbClr val="000000"/>
              </a:buClr>
              <a:buSzPts val="1879"/>
              <a:buChar char="•"/>
            </a:pPr>
            <a:r>
              <a:rPr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Another </a:t>
            </a:r>
            <a:r>
              <a:rPr b="1"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level of feedback </a:t>
            </a:r>
            <a:r>
              <a:rPr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is included</a:t>
            </a:r>
            <a:endParaRPr sz="187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104" lvl="1" marL="565362" rtl="0" algn="l">
              <a:lnSpc>
                <a:spcPct val="90000"/>
              </a:lnSpc>
              <a:spcBef>
                <a:spcPts val="412"/>
              </a:spcBef>
              <a:spcAft>
                <a:spcPts val="0"/>
              </a:spcAft>
              <a:buClr>
                <a:srgbClr val="000000"/>
              </a:buClr>
              <a:buSzPts val="1879"/>
              <a:buChar char="•"/>
            </a:pPr>
            <a:r>
              <a:rPr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 </a:t>
            </a:r>
            <a:r>
              <a:rPr b="1"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and K </a:t>
            </a:r>
            <a:r>
              <a:rPr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J-K flip-flop are ANDed with </a:t>
            </a:r>
            <a:r>
              <a:rPr b="1"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Q’ and Q </a:t>
            </a:r>
            <a:r>
              <a:rPr lang="en" sz="187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respectively to obtain the inputs, S and R for S-R flip-flop</a:t>
            </a:r>
            <a:endParaRPr sz="187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2818" lvl="1" marL="565362" rtl="0" algn="l">
              <a:lnSpc>
                <a:spcPct val="90000"/>
              </a:lnSpc>
              <a:spcBef>
                <a:spcPts val="412"/>
              </a:spcBef>
              <a:spcAft>
                <a:spcPts val="0"/>
              </a:spcAft>
              <a:buNone/>
            </a:pPr>
            <a:r>
              <a:t/>
            </a:r>
            <a:endParaRPr sz="187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2818" lvl="1" marL="565362" rtl="0" algn="l">
              <a:lnSpc>
                <a:spcPct val="90000"/>
              </a:lnSpc>
              <a:spcBef>
                <a:spcPts val="412"/>
              </a:spcBef>
              <a:spcAft>
                <a:spcPts val="0"/>
              </a:spcAft>
              <a:buNone/>
            </a:pPr>
            <a:r>
              <a:t/>
            </a:r>
            <a:endParaRPr sz="187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5" name="Google Shape;87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0709" y="2486262"/>
            <a:ext cx="3447616" cy="2253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1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3 : JK Flip Flop</a:t>
            </a:r>
            <a:endParaRPr/>
          </a:p>
        </p:txBody>
      </p:sp>
      <p:cxnSp>
        <p:nvCxnSpPr>
          <p:cNvPr id="881" name="Google Shape;881;p51"/>
          <p:cNvCxnSpPr>
            <a:stCxn id="88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51"/>
          <p:cNvCxnSpPr>
            <a:endCxn id="88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5" name="Google Shape;885;p51"/>
          <p:cNvSpPr txBox="1"/>
          <p:nvPr/>
        </p:nvSpPr>
        <p:spPr>
          <a:xfrm>
            <a:off x="691380" y="1377200"/>
            <a:ext cx="7816800" cy="30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925" lIns="63800" spcFirstLastPara="1" rIns="63800" wrap="square" tIns="31925">
            <a:normAutofit/>
          </a:bodyPr>
          <a:lstStyle/>
          <a:p>
            <a:pPr indent="-53197" lvl="1" marL="4787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"/>
              <a:buFont typeface="Arial"/>
              <a:buNone/>
            </a:pPr>
            <a:r>
              <a:t/>
            </a:r>
            <a:endParaRPr b="0" i="0" sz="16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1"/>
          <p:cNvSpPr txBox="1"/>
          <p:nvPr/>
        </p:nvSpPr>
        <p:spPr>
          <a:xfrm>
            <a:off x="943067" y="1377200"/>
            <a:ext cx="7592700" cy="30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925" lIns="63800" spcFirstLastPara="1" rIns="63800" wrap="square" tIns="31925">
            <a:normAutofit/>
          </a:bodyPr>
          <a:lstStyle/>
          <a:p>
            <a:pPr indent="-159586" lvl="0" marL="15958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5"/>
              <a:buChar char="•"/>
            </a:pPr>
            <a:r>
              <a:rPr lang="en" sz="195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Circuit diagram and block diagram of a J-K flip flop with NAND gates </a:t>
            </a:r>
            <a:endParaRPr sz="19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197" lvl="1" marL="478761" rtl="0" algn="l">
              <a:lnSpc>
                <a:spcPct val="90000"/>
              </a:lnSpc>
              <a:spcBef>
                <a:spcPts val="349"/>
              </a:spcBef>
              <a:spcAft>
                <a:spcPts val="0"/>
              </a:spcAft>
              <a:buNone/>
            </a:pPr>
            <a:r>
              <a:t/>
            </a:r>
            <a:endParaRPr sz="16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197" lvl="1" marL="478761" rtl="0" algn="l">
              <a:lnSpc>
                <a:spcPct val="90000"/>
              </a:lnSpc>
              <a:spcBef>
                <a:spcPts val="349"/>
              </a:spcBef>
              <a:spcAft>
                <a:spcPts val="0"/>
              </a:spcAft>
              <a:buNone/>
            </a:pPr>
            <a:r>
              <a:t/>
            </a:r>
            <a:endParaRPr sz="16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7" name="Google Shape;88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63" y="2165612"/>
            <a:ext cx="3056373" cy="155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2482" y="2202927"/>
            <a:ext cx="1855453" cy="144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5197" y="2261122"/>
            <a:ext cx="2394767" cy="13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51"/>
          <p:cNvSpPr txBox="1"/>
          <p:nvPr/>
        </p:nvSpPr>
        <p:spPr>
          <a:xfrm>
            <a:off x="3747758" y="3587863"/>
            <a:ext cx="3084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925" lIns="63800" spcFirstLastPara="1" rIns="63800" wrap="square" tIns="3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circuit diagram in different orientation </a:t>
            </a:r>
            <a:endParaRPr sz="977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Race Around Condition</a:t>
            </a:r>
            <a:endParaRPr sz="2700"/>
          </a:p>
        </p:txBody>
      </p:sp>
      <p:sp>
        <p:nvSpPr>
          <p:cNvPr id="896" name="Google Shape;896;p52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97" name="Google Shape;897;p52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8" name="Google Shape;898;p52"/>
          <p:cNvCxnSpPr>
            <a:stCxn id="89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3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Around Condition</a:t>
            </a:r>
            <a:endParaRPr/>
          </a:p>
        </p:txBody>
      </p:sp>
      <p:cxnSp>
        <p:nvCxnSpPr>
          <p:cNvPr id="905" name="Google Shape;905;p53"/>
          <p:cNvCxnSpPr>
            <a:endCxn id="90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8" name="Google Shape;9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0119" y="2107064"/>
            <a:ext cx="2604829" cy="94824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53"/>
          <p:cNvSpPr txBox="1"/>
          <p:nvPr/>
        </p:nvSpPr>
        <p:spPr>
          <a:xfrm>
            <a:off x="799050" y="1306675"/>
            <a:ext cx="70983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0850" lIns="61725" spcFirstLastPara="1" rIns="61725" wrap="square" tIns="30850">
            <a:normAutofit/>
          </a:bodyPr>
          <a:lstStyle/>
          <a:p>
            <a:pPr indent="-154309" lvl="0" marL="15430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Assumption for basic J-K flip-flop: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9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00B050"/>
              </a:buClr>
              <a:buSzPts val="1620"/>
              <a:buChar char="•"/>
            </a:pPr>
            <a:r>
              <a:rPr lang="en" sz="162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The inputs will not be changed any more during a clock pulse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9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Pts val="1620"/>
              <a:buChar char="•"/>
            </a:pPr>
            <a:r>
              <a:rPr lang="en" sz="16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But, it is not true because of the feedback connections 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9" lvl="0" marL="154309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1890"/>
              <a:buChar char="•"/>
            </a:pPr>
            <a:r>
              <a:rPr lang="en" sz="18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Consider the scenario: </a:t>
            </a:r>
            <a:r>
              <a:rPr b="1" lang="en" sz="18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J=K=1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8" lvl="2" marL="771543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Pts val="1350"/>
              <a:buChar char="•"/>
            </a:pP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Q=1, after </a:t>
            </a:r>
            <a:r>
              <a:rPr b="1" lang="en" sz="135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△</a:t>
            </a:r>
            <a:r>
              <a:rPr b="1"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time</a:t>
            </a: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it will be Q=0</a:t>
            </a:r>
            <a:r>
              <a:rPr b="1"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8" lvl="2" marL="771543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Pts val="1350"/>
              <a:buChar char="•"/>
            </a:pP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Next, if Q=0, after another </a:t>
            </a:r>
            <a:r>
              <a:rPr b="1" lang="en" sz="135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△</a:t>
            </a:r>
            <a:r>
              <a:rPr b="1"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time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will be Q=1</a:t>
            </a:r>
            <a:r>
              <a:rPr b="1"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8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basically, </a:t>
            </a:r>
            <a:r>
              <a:rPr b="1"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during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output Q will oscillate between 0 and 1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8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And, </a:t>
            </a:r>
            <a:r>
              <a:rPr b="1"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1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baseline="-25000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lang="en" sz="13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time,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output Q is not certain.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308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Pts val="1350"/>
              <a:buChar char="•"/>
            </a:pP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situation is called “</a:t>
            </a:r>
            <a:r>
              <a:rPr b="1" i="1" lang="en" sz="1688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Race-Around Condition</a:t>
            </a:r>
            <a:r>
              <a:rPr lang="en" sz="135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6" lvl="1" marL="462925" rtl="0" algn="l">
              <a:lnSpc>
                <a:spcPct val="90000"/>
              </a:lnSpc>
              <a:spcBef>
                <a:spcPts val="338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3"/>
          <p:cNvSpPr txBox="1"/>
          <p:nvPr/>
        </p:nvSpPr>
        <p:spPr>
          <a:xfrm>
            <a:off x="6455822" y="3123555"/>
            <a:ext cx="1373700" cy="374100"/>
          </a:xfrm>
          <a:prstGeom prst="rect">
            <a:avLst/>
          </a:prstGeom>
          <a:noFill/>
          <a:ln cap="flat" cmpd="sng" w="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850" lIns="61725" spcFirstLastPara="1" rIns="61725" wrap="square" tIns="30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3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△</a:t>
            </a:r>
            <a:r>
              <a:rPr b="1" lang="en" sz="10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= propagation delay</a:t>
            </a:r>
            <a:endParaRPr sz="94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1" baseline="-25000" lang="en" sz="10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" sz="10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pulse duration </a:t>
            </a:r>
            <a:endParaRPr sz="945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Around Condition - Solutions</a:t>
            </a:r>
            <a:endParaRPr/>
          </a:p>
        </p:txBody>
      </p:sp>
      <p:cxnSp>
        <p:nvCxnSpPr>
          <p:cNvPr id="916" name="Google Shape;916;p54"/>
          <p:cNvCxnSpPr>
            <a:endCxn id="91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9" name="Google Shape;919;p54"/>
          <p:cNvSpPr txBox="1"/>
          <p:nvPr/>
        </p:nvSpPr>
        <p:spPr>
          <a:xfrm>
            <a:off x="899275" y="1426625"/>
            <a:ext cx="74358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2565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0"/>
              <a:buChar char="•"/>
            </a:pPr>
            <a:r>
              <a:rPr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" sz="239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△</a:t>
            </a:r>
            <a:r>
              <a:rPr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is in nanoseconds and t</a:t>
            </a:r>
            <a:r>
              <a:rPr baseline="-25000"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microseconds, output will be changed thousands of times within a clock pulse</a:t>
            </a:r>
            <a:endParaRPr sz="23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447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20"/>
              <a:buChar char="•"/>
            </a:pPr>
            <a:r>
              <a:rPr b="1" lang="en" sz="202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If t</a:t>
            </a:r>
            <a:r>
              <a:rPr b="1" baseline="-25000" lang="en" sz="202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  </a:t>
            </a:r>
            <a:r>
              <a:rPr b="1" lang="en" sz="202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b="1" lang="en" sz="2020">
                <a:solidFill>
                  <a:srgbClr val="00B050"/>
                </a:solidFill>
                <a:latin typeface="Cambria Math"/>
                <a:ea typeface="Cambria Math"/>
                <a:cs typeface="Cambria Math"/>
                <a:sym typeface="Cambria Math"/>
              </a:rPr>
              <a:t>△</a:t>
            </a:r>
            <a:r>
              <a:rPr b="1" lang="en" sz="202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  &lt; T, this race around condition could be avoided </a:t>
            </a:r>
            <a:endParaRPr sz="20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447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20"/>
              <a:buChar char="•"/>
            </a:pPr>
            <a:r>
              <a:rPr b="1" lang="en" sz="20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But, this small propagation delay is very difficult to achieve due to hardware limitation </a:t>
            </a:r>
            <a:endParaRPr sz="20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256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90"/>
              <a:buChar char="•"/>
            </a:pPr>
            <a:r>
              <a:rPr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Master-Slave (M-S) flip-flop</a:t>
            </a:r>
            <a:endParaRPr sz="23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256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90"/>
              <a:buChar char="•"/>
            </a:pPr>
            <a:r>
              <a:rPr lang="en" sz="23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Edge triggered flip-flop</a:t>
            </a:r>
            <a:endParaRPr sz="23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5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Slave JK Flip Flop</a:t>
            </a:r>
            <a:endParaRPr/>
          </a:p>
        </p:txBody>
      </p:sp>
      <p:cxnSp>
        <p:nvCxnSpPr>
          <p:cNvPr id="925" name="Google Shape;925;p55"/>
          <p:cNvCxnSpPr>
            <a:endCxn id="92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5"/>
          <p:cNvSpPr txBox="1"/>
          <p:nvPr/>
        </p:nvSpPr>
        <p:spPr>
          <a:xfrm>
            <a:off x="594600" y="1096499"/>
            <a:ext cx="79548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175" lIns="64400" spcFirstLastPara="1" rIns="64400" wrap="square" tIns="32175">
            <a:normAutofit/>
          </a:bodyPr>
          <a:lstStyle/>
          <a:p>
            <a:pPr indent="-161018" lvl="0" marL="16101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system of two flip-flops – master and slave flip-flops 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18" lvl="0" marL="161018" rtl="0" algn="l">
              <a:lnSpc>
                <a:spcPct val="90000"/>
              </a:lnSpc>
              <a:spcBef>
                <a:spcPts val="704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pulse 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applied to </a:t>
            </a:r>
            <a:r>
              <a:rPr b="1" lang="en" sz="1972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b="1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inverted form of the same clock 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applied to the </a:t>
            </a:r>
            <a:r>
              <a:rPr b="1" lang="en" sz="1972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slave</a:t>
            </a:r>
            <a:r>
              <a:rPr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18" lvl="0" marL="161018" rtl="0" algn="l">
              <a:lnSpc>
                <a:spcPct val="90000"/>
              </a:lnSpc>
              <a:spcBef>
                <a:spcPts val="704"/>
              </a:spcBef>
              <a:spcAft>
                <a:spcPts val="0"/>
              </a:spcAft>
              <a:buClr>
                <a:srgbClr val="000000"/>
              </a:buClr>
              <a:buSzPts val="1972"/>
              <a:buChar char="•"/>
            </a:pPr>
            <a:r>
              <a:rPr b="1" lang="en" sz="197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solve RAC problem?</a:t>
            </a:r>
            <a:endParaRPr sz="197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018" lvl="1" marL="483056" rtl="0" algn="l">
              <a:lnSpc>
                <a:spcPct val="90000"/>
              </a:lnSpc>
              <a:spcBef>
                <a:spcPts val="352"/>
              </a:spcBef>
              <a:spcAft>
                <a:spcPts val="0"/>
              </a:spcAft>
              <a:buClr>
                <a:srgbClr val="000000"/>
              </a:buClr>
              <a:buSzPts val="1690"/>
              <a:buChar char="•"/>
            </a:pPr>
            <a:r>
              <a:rPr lang="en" sz="16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CLK=1, gates 5 and 6 will not respond. Output Q and Q’ will only change when CLK=0. </a:t>
            </a:r>
            <a:endParaRPr sz="16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9" name="Google Shape;9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1759" y="2744708"/>
            <a:ext cx="3858026" cy="1896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6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Slave JK Flip Flop</a:t>
            </a:r>
            <a:endParaRPr/>
          </a:p>
        </p:txBody>
      </p:sp>
      <p:cxnSp>
        <p:nvCxnSpPr>
          <p:cNvPr id="935" name="Google Shape;935;p56"/>
          <p:cNvCxnSpPr>
            <a:endCxn id="93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8" name="Google Shape;938;p56"/>
          <p:cNvSpPr txBox="1"/>
          <p:nvPr/>
        </p:nvSpPr>
        <p:spPr>
          <a:xfrm>
            <a:off x="416847" y="1225797"/>
            <a:ext cx="8310300" cy="3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rmAutofit/>
          </a:bodyPr>
          <a:lstStyle/>
          <a:p>
            <a:pPr indent="-163660" lvl="1" marL="49098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8"/>
              <a:buChar char="•"/>
            </a:pPr>
            <a:r>
              <a:rPr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CLK=1, the master is enabled. Q</a:t>
            </a:r>
            <a:r>
              <a:rPr baseline="-25000"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output will respond the inputs J and K</a:t>
            </a:r>
            <a:endParaRPr sz="17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661" lvl="2" marL="818308" rtl="0" algn="l">
              <a:lnSpc>
                <a:spcPct val="90000"/>
              </a:lnSpc>
              <a:spcBef>
                <a:spcPts val="358"/>
              </a:spcBef>
              <a:spcAft>
                <a:spcPts val="0"/>
              </a:spcAft>
              <a:buClr>
                <a:srgbClr val="000000"/>
              </a:buClr>
              <a:buSzPts val="1432"/>
              <a:buChar char="•"/>
            </a:pPr>
            <a:r>
              <a:rPr lang="en" sz="14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Slave is disabled </a:t>
            </a:r>
            <a:endParaRPr sz="14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660" lvl="1" marL="490985" rtl="0" algn="l">
              <a:lnSpc>
                <a:spcPct val="90000"/>
              </a:lnSpc>
              <a:spcBef>
                <a:spcPts val="358"/>
              </a:spcBef>
              <a:spcAft>
                <a:spcPts val="0"/>
              </a:spcAft>
              <a:buClr>
                <a:srgbClr val="000000"/>
              </a:buClr>
              <a:buSzPts val="1718"/>
              <a:buChar char="•"/>
            </a:pPr>
            <a:r>
              <a:rPr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CLK=0, the slave is enabled. Q output will respond the outputs Q</a:t>
            </a:r>
            <a:r>
              <a:rPr baseline="-25000"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Q’</a:t>
            </a:r>
            <a:r>
              <a:rPr baseline="-25000" lang="en" sz="17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1" sz="171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661" lvl="2" marL="818308" rtl="0" algn="l">
              <a:lnSpc>
                <a:spcPct val="90000"/>
              </a:lnSpc>
              <a:spcBef>
                <a:spcPts val="358"/>
              </a:spcBef>
              <a:spcAft>
                <a:spcPts val="0"/>
              </a:spcAft>
              <a:buClr>
                <a:srgbClr val="000000"/>
              </a:buClr>
              <a:buSzPts val="1432"/>
              <a:buChar char="•"/>
            </a:pPr>
            <a:r>
              <a:rPr lang="en" sz="14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 is disabled </a:t>
            </a:r>
            <a:endParaRPr sz="14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2738" lvl="2" marL="818308" rtl="0" algn="l">
              <a:lnSpc>
                <a:spcPct val="90000"/>
              </a:lnSpc>
              <a:spcBef>
                <a:spcPts val="358"/>
              </a:spcBef>
              <a:spcAft>
                <a:spcPts val="0"/>
              </a:spcAft>
              <a:buNone/>
            </a:pPr>
            <a:r>
              <a:t/>
            </a:r>
            <a:endParaRPr sz="14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9" name="Google Shape;93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0757" y="2365549"/>
            <a:ext cx="4695464" cy="2308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7"/>
          <p:cNvSpPr txBox="1"/>
          <p:nvPr>
            <p:ph type="title"/>
          </p:nvPr>
        </p:nvSpPr>
        <p:spPr>
          <a:xfrm>
            <a:off x="562700" y="5899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 Slave Flip Flop</a:t>
            </a:r>
            <a:endParaRPr/>
          </a:p>
        </p:txBody>
      </p:sp>
      <p:cxnSp>
        <p:nvCxnSpPr>
          <p:cNvPr id="945" name="Google Shape;945;p57"/>
          <p:cNvCxnSpPr>
            <a:endCxn id="94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8" name="Google Shape;948;p57"/>
          <p:cNvSpPr txBox="1"/>
          <p:nvPr/>
        </p:nvSpPr>
        <p:spPr>
          <a:xfrm>
            <a:off x="381000" y="1447800"/>
            <a:ext cx="8556900" cy="2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The system of M-S flip-flop is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restricted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J-K M-S flip-flop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only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Also,</a:t>
            </a: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 S-R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M-S flip-flops are possible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In all of these cases, the </a:t>
            </a: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slave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is an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S-R flip-flop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whereas the </a:t>
            </a: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master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changes to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J-K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S-R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flip-flops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8"/>
          <p:cNvSpPr txBox="1"/>
          <p:nvPr>
            <p:ph type="title"/>
          </p:nvPr>
        </p:nvSpPr>
        <p:spPr>
          <a:xfrm>
            <a:off x="562700" y="15043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Around Condition – Edge Triggered Flip-Flop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4" name="Google Shape;954;p58"/>
          <p:cNvCxnSpPr>
            <a:endCxn id="95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58"/>
          <p:cNvSpPr txBox="1"/>
          <p:nvPr/>
        </p:nvSpPr>
        <p:spPr>
          <a:xfrm>
            <a:off x="326650" y="1633700"/>
            <a:ext cx="92511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175" spcFirstLastPara="1" rIns="76175" wrap="square" tIns="38075">
            <a:normAutofit/>
          </a:bodyPr>
          <a:lstStyle/>
          <a:p>
            <a:pPr indent="-184142" lvl="0" marL="19049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3"/>
              <a:buChar char="•"/>
            </a:pPr>
            <a:r>
              <a:rPr lang="en" sz="22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circuit has </a:t>
            </a:r>
            <a:r>
              <a:rPr b="1" lang="en" sz="22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single chance </a:t>
            </a:r>
            <a:r>
              <a:rPr lang="en" sz="22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accept inputs (e.g., J and K)</a:t>
            </a:r>
            <a:endParaRPr sz="22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44" lvl="1" marL="571478" rtl="0" algn="l">
              <a:lnSpc>
                <a:spcPct val="90000"/>
              </a:lnSpc>
              <a:spcBef>
                <a:spcPts val="417"/>
              </a:spcBef>
              <a:spcAft>
                <a:spcPts val="0"/>
              </a:spcAft>
              <a:buClr>
                <a:srgbClr val="FF0000"/>
              </a:buClr>
              <a:buSzPts val="1900"/>
              <a:buChar char="•"/>
            </a:pPr>
            <a:r>
              <a:rPr b="1" lang="en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During: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42" lvl="2" marL="952463" rtl="0" algn="l">
              <a:lnSpc>
                <a:spcPct val="90000"/>
              </a:lnSpc>
              <a:spcBef>
                <a:spcPts val="417"/>
              </a:spcBef>
              <a:spcAft>
                <a:spcPts val="0"/>
              </a:spcAft>
              <a:buClr>
                <a:srgbClr val="000000"/>
              </a:buClr>
              <a:buSzPts val="1567"/>
              <a:buChar char="•"/>
            </a:pPr>
            <a:r>
              <a:rPr b="1" lang="en" sz="15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Negative transition </a:t>
            </a:r>
            <a:r>
              <a:rPr lang="en" sz="15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clock pulse – negative edge triggered J-K flip-flop </a:t>
            </a:r>
            <a:endParaRPr sz="15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42" lvl="3" marL="1333448" rtl="0" algn="l">
              <a:lnSpc>
                <a:spcPct val="90000"/>
              </a:lnSpc>
              <a:spcBef>
                <a:spcPts val="41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Outputs are same M-S flip-flop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42" lvl="2" marL="952463" rtl="0" algn="l">
              <a:lnSpc>
                <a:spcPct val="90000"/>
              </a:lnSpc>
              <a:spcBef>
                <a:spcPts val="417"/>
              </a:spcBef>
              <a:spcAft>
                <a:spcPts val="0"/>
              </a:spcAft>
              <a:buClr>
                <a:srgbClr val="000000"/>
              </a:buClr>
              <a:buSzPts val="1567"/>
              <a:buChar char="•"/>
            </a:pPr>
            <a:r>
              <a:rPr b="1" lang="en" sz="15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Positive transition </a:t>
            </a:r>
            <a:r>
              <a:rPr lang="en" sz="15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clock pulse – positive edge triggered J-K flip-flop  </a:t>
            </a:r>
            <a:endParaRPr sz="15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8" name="Google Shape;95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9900" y="3091132"/>
            <a:ext cx="1984225" cy="16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9"/>
          <p:cNvSpPr txBox="1"/>
          <p:nvPr>
            <p:ph type="title"/>
          </p:nvPr>
        </p:nvSpPr>
        <p:spPr>
          <a:xfrm>
            <a:off x="562700" y="6661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 Flip Flop</a:t>
            </a:r>
            <a:endParaRPr/>
          </a:p>
        </p:txBody>
      </p:sp>
      <p:cxnSp>
        <p:nvCxnSpPr>
          <p:cNvPr id="964" name="Google Shape;964;p59"/>
          <p:cNvCxnSpPr>
            <a:endCxn id="96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7" name="Google Shape;967;p59"/>
          <p:cNvSpPr txBox="1"/>
          <p:nvPr/>
        </p:nvSpPr>
        <p:spPr>
          <a:xfrm>
            <a:off x="516600" y="1333400"/>
            <a:ext cx="9405600" cy="3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slight modification of the J-K flip-flop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and K inputs are tied together – </a:t>
            </a:r>
            <a:r>
              <a:rPr b="1"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have same input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Referred as </a:t>
            </a:r>
            <a:r>
              <a:rPr b="1" lang="en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flip-flop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b="1" lang="en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has the ability to toggle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input (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two outputs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Q’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states – </a:t>
            </a: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toggle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(T=1)</a:t>
            </a: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memory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(T=0)</a:t>
            </a: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states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Usage: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Counter, switching circuits 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/>
          <p:nvPr>
            <p:ph type="title"/>
          </p:nvPr>
        </p:nvSpPr>
        <p:spPr>
          <a:xfrm>
            <a:off x="562700" y="6661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Excitation Table</a:t>
            </a:r>
            <a:endParaRPr/>
          </a:p>
        </p:txBody>
      </p:sp>
      <p:cxnSp>
        <p:nvCxnSpPr>
          <p:cNvPr id="973" name="Google Shape;973;p60"/>
          <p:cNvCxnSpPr>
            <a:endCxn id="97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60"/>
          <p:cNvSpPr txBox="1"/>
          <p:nvPr/>
        </p:nvSpPr>
        <p:spPr>
          <a:xfrm>
            <a:off x="331700" y="1489525"/>
            <a:ext cx="8447400" cy="3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tabulation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figure out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possible input conditions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obtain the </a:t>
            </a: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desired output condition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required to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 sequential circuit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present state and next state of the flip-flop is specified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that we need to find out all possible input conditions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 and next states are meant the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conditions </a:t>
            </a: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applying the clock pulse respectively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1"/>
          <p:cNvSpPr txBox="1"/>
          <p:nvPr>
            <p:ph type="title"/>
          </p:nvPr>
        </p:nvSpPr>
        <p:spPr>
          <a:xfrm>
            <a:off x="562700" y="666150"/>
            <a:ext cx="7698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Excitation Table Summary</a:t>
            </a:r>
            <a:endParaRPr/>
          </a:p>
        </p:txBody>
      </p:sp>
      <p:cxnSp>
        <p:nvCxnSpPr>
          <p:cNvPr id="982" name="Google Shape;982;p61"/>
          <p:cNvCxnSpPr>
            <a:endCxn id="98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5" name="Google Shape;985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75" y="1824325"/>
            <a:ext cx="8224500" cy="21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2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Interconversion of Flip Flops</a:t>
            </a:r>
            <a:endParaRPr sz="2700"/>
          </a:p>
        </p:txBody>
      </p:sp>
      <p:sp>
        <p:nvSpPr>
          <p:cNvPr id="991" name="Google Shape;991;p62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992" name="Google Shape;992;p62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3" name="Google Shape;993;p62"/>
          <p:cNvCxnSpPr>
            <a:stCxn id="991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3"/>
          <p:cNvSpPr txBox="1"/>
          <p:nvPr>
            <p:ph type="title"/>
          </p:nvPr>
        </p:nvSpPr>
        <p:spPr>
          <a:xfrm>
            <a:off x="562700" y="513750"/>
            <a:ext cx="5555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Interconversion of Flip Flops</a:t>
            </a:r>
            <a:endParaRPr/>
          </a:p>
        </p:txBody>
      </p:sp>
      <p:cxnSp>
        <p:nvCxnSpPr>
          <p:cNvPr id="1000" name="Google Shape;1000;p63"/>
          <p:cNvCxnSpPr>
            <a:stCxn id="100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63"/>
          <p:cNvCxnSpPr>
            <a:endCxn id="100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4" name="Google Shape;1004;p63"/>
          <p:cNvSpPr txBox="1"/>
          <p:nvPr/>
        </p:nvSpPr>
        <p:spPr>
          <a:xfrm>
            <a:off x="363625" y="1002550"/>
            <a:ext cx="83601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00" spcFirstLastPara="1" rIns="69800" wrap="square" tIns="34900">
            <a:normAutofit/>
          </a:bodyPr>
          <a:lstStyle/>
          <a:p>
            <a:pPr indent="-174526" lvl="0" marL="17452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5"/>
              <a:buChar char="•"/>
            </a:pPr>
            <a:r>
              <a:rPr lang="en" sz="198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98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conversion logic </a:t>
            </a:r>
            <a:r>
              <a:rPr lang="en" sz="198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required to be designed for such conversions of flip-flops </a:t>
            </a:r>
            <a:endParaRPr sz="213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525" lvl="0" marL="174526" rtl="0" algn="l">
              <a:lnSpc>
                <a:spcPct val="90000"/>
              </a:lnSpc>
              <a:spcBef>
                <a:spcPts val="763"/>
              </a:spcBef>
              <a:spcAft>
                <a:spcPts val="0"/>
              </a:spcAft>
              <a:buClr>
                <a:srgbClr val="000000"/>
              </a:buClr>
              <a:buSzPts val="2138"/>
              <a:buChar char="•"/>
            </a:pPr>
            <a:r>
              <a:rPr lang="en" sz="213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sz="213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051" lvl="1" marL="698102" rtl="0" algn="l">
              <a:lnSpc>
                <a:spcPct val="90000"/>
              </a:lnSpc>
              <a:spcBef>
                <a:spcPts val="382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Calibri"/>
              <a:buAutoNum type="arabicPeriod"/>
            </a:pPr>
            <a:r>
              <a:rPr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 the characteristic table of the required Flip-flop </a:t>
            </a:r>
            <a:endParaRPr sz="18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051" lvl="1" marL="698102" rtl="0" algn="l">
              <a:lnSpc>
                <a:spcPct val="90000"/>
              </a:lnSpc>
              <a:spcBef>
                <a:spcPts val="382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Calibri"/>
              <a:buAutoNum type="arabicPeriod"/>
            </a:pPr>
            <a:r>
              <a:rPr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 the excitation table of the given Flip-flop </a:t>
            </a:r>
            <a:endParaRPr sz="18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051" lvl="1" marL="698102" rtl="0" algn="l">
              <a:lnSpc>
                <a:spcPct val="90000"/>
              </a:lnSpc>
              <a:spcBef>
                <a:spcPts val="382"/>
              </a:spcBef>
              <a:spcAft>
                <a:spcPts val="0"/>
              </a:spcAft>
              <a:buClr>
                <a:srgbClr val="000000"/>
              </a:buClr>
              <a:buSzPts val="1832"/>
              <a:buFont typeface="Calibri"/>
              <a:buAutoNum type="arabicPeriod"/>
            </a:pPr>
            <a:r>
              <a:rPr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Combine those tables make a final table including </a:t>
            </a:r>
            <a:r>
              <a:rPr b="1" lang="en" sz="1832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input(s) of desired flip-flop </a:t>
            </a:r>
            <a:r>
              <a:rPr lang="en" sz="1832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1832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32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 the inputs </a:t>
            </a:r>
            <a:r>
              <a:rPr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1832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input(s) of the given flip-flop</a:t>
            </a:r>
            <a:r>
              <a:rPr b="1" lang="en" sz="183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32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 the outputs</a:t>
            </a:r>
            <a:endParaRPr sz="183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5" name="Google Shape;1005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5575" y="2983928"/>
            <a:ext cx="5623500" cy="17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63"/>
          <p:cNvSpPr txBox="1"/>
          <p:nvPr/>
        </p:nvSpPr>
        <p:spPr>
          <a:xfrm>
            <a:off x="1391389" y="3531667"/>
            <a:ext cx="687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00" spcFirstLastPara="1" rIns="69800" wrap="square" tIns="34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Desired</a:t>
            </a:r>
            <a:endParaRPr sz="1069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4"/>
          <p:cNvSpPr txBox="1"/>
          <p:nvPr>
            <p:ph type="title"/>
          </p:nvPr>
        </p:nvSpPr>
        <p:spPr>
          <a:xfrm>
            <a:off x="562700" y="513750"/>
            <a:ext cx="8027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Interconversion of Flip Flops (example)</a:t>
            </a:r>
            <a:endParaRPr/>
          </a:p>
        </p:txBody>
      </p:sp>
      <p:cxnSp>
        <p:nvCxnSpPr>
          <p:cNvPr id="1012" name="Google Shape;1012;p64"/>
          <p:cNvCxnSpPr>
            <a:stCxn id="101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64"/>
          <p:cNvCxnSpPr>
            <a:endCxn id="101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6" name="Google Shape;1016;p64"/>
          <p:cNvSpPr txBox="1"/>
          <p:nvPr/>
        </p:nvSpPr>
        <p:spPr>
          <a:xfrm>
            <a:off x="1029216" y="1093875"/>
            <a:ext cx="79023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6675" spcFirstLastPara="1" rIns="66675" wrap="square" tIns="33325">
            <a:normAutofit/>
          </a:bodyPr>
          <a:lstStyle/>
          <a:p>
            <a:pPr indent="-166703" lvl="0" marL="16670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2"/>
              <a:buChar char="•"/>
            </a:pPr>
            <a:r>
              <a:rPr b="1"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an </a:t>
            </a:r>
            <a:r>
              <a:rPr b="1"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S-R</a:t>
            </a:r>
            <a:r>
              <a:rPr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flip-flop to a </a:t>
            </a:r>
            <a:r>
              <a:rPr b="1"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4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flip-flop</a:t>
            </a:r>
            <a:endParaRPr sz="204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6702" lvl="1" marL="500107" rtl="0" algn="l">
              <a:lnSpc>
                <a:spcPct val="9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750"/>
              <a:buChar char="•"/>
            </a:pPr>
            <a:r>
              <a:rPr lang="en" sz="175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Book [page 241-247]</a:t>
            </a:r>
            <a:r>
              <a:rPr lang="en" sz="17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5568" lvl="1" marL="500107" rtl="0" algn="l">
              <a:lnSpc>
                <a:spcPct val="9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7" name="Google Shape;101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216" y="1833109"/>
            <a:ext cx="3213839" cy="13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9216" y="3268088"/>
            <a:ext cx="3213837" cy="139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8339" y="1784782"/>
            <a:ext cx="3213838" cy="1401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0119" y="3418567"/>
            <a:ext cx="2757183" cy="11598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64"/>
          <p:cNvCxnSpPr/>
          <p:nvPr/>
        </p:nvCxnSpPr>
        <p:spPr>
          <a:xfrm>
            <a:off x="4195989" y="3316268"/>
            <a:ext cx="0" cy="180000"/>
          </a:xfrm>
          <a:prstGeom prst="straightConnector1">
            <a:avLst/>
          </a:prstGeom>
          <a:noFill/>
          <a:ln cap="flat" cmpd="sng" w="69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2" name="Google Shape;1022;p64"/>
          <p:cNvSpPr txBox="1"/>
          <p:nvPr/>
        </p:nvSpPr>
        <p:spPr>
          <a:xfrm>
            <a:off x="7862303" y="3861084"/>
            <a:ext cx="660000" cy="471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flat" cmpd="sng" w="6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325" lIns="66675" spcFirstLastPara="1" rIns="66675" wrap="square" tIns="33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3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021"/>
          </a:p>
        </p:txBody>
      </p:sp>
      <p:sp>
        <p:nvSpPr>
          <p:cNvPr id="1023" name="Google Shape;1023;p64"/>
          <p:cNvSpPr txBox="1"/>
          <p:nvPr/>
        </p:nvSpPr>
        <p:spPr>
          <a:xfrm>
            <a:off x="417974" y="1798352"/>
            <a:ext cx="615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6675" spcFirstLastPara="1" rIns="66675" wrap="square" tIns="33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 sz="1021"/>
          </a:p>
        </p:txBody>
      </p:sp>
      <p:sp>
        <p:nvSpPr>
          <p:cNvPr id="1024" name="Google Shape;1024;p64"/>
          <p:cNvSpPr txBox="1"/>
          <p:nvPr/>
        </p:nvSpPr>
        <p:spPr>
          <a:xfrm>
            <a:off x="417974" y="3217942"/>
            <a:ext cx="615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6675" spcFirstLastPara="1" rIns="66675" wrap="square" tIns="33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 sz="1021"/>
          </a:p>
        </p:txBody>
      </p:sp>
      <p:sp>
        <p:nvSpPr>
          <p:cNvPr id="1025" name="Google Shape;1025;p64"/>
          <p:cNvSpPr txBox="1"/>
          <p:nvPr/>
        </p:nvSpPr>
        <p:spPr>
          <a:xfrm>
            <a:off x="4395750" y="1798352"/>
            <a:ext cx="615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6675" spcFirstLastPara="1" rIns="66675" wrap="square" tIns="33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 sz="102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Extra Resources</a:t>
            </a:r>
            <a:endParaRPr sz="2700"/>
          </a:p>
        </p:txBody>
      </p:sp>
      <p:sp>
        <p:nvSpPr>
          <p:cNvPr id="1031" name="Google Shape;1031;p6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032" name="Google Shape;1032;p6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3" name="Google Shape;1033;p65"/>
          <p:cNvCxnSpPr>
            <a:stCxn id="1031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6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cxnSp>
        <p:nvCxnSpPr>
          <p:cNvPr id="1040" name="Google Shape;1040;p66"/>
          <p:cNvCxnSpPr>
            <a:stCxn id="104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66"/>
          <p:cNvCxnSpPr>
            <a:endCxn id="104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66"/>
          <p:cNvSpPr txBox="1"/>
          <p:nvPr/>
        </p:nvSpPr>
        <p:spPr>
          <a:xfrm>
            <a:off x="860150" y="1422575"/>
            <a:ext cx="6779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Digital Design (4th Edition), Chapter 5 (only relevant topics)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Neso Academy DLD: Sequential Circuit Playlist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(144 – 164)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All About Electronics Digital Electronics Playlist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(92 – 107, 113 – 117)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Electronics For You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Geeks For Geeks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7"/>
              </a:rPr>
              <a:t>Conversion PDF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4" name="Google Shape;1044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7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050" name="Google Shape;1050;p67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051" name="Google Shape;1051;p67"/>
          <p:cNvCxnSpPr>
            <a:endCxn id="1049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