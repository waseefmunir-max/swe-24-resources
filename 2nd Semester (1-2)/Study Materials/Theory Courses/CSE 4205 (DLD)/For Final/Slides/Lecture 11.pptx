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6858000" cy="9144000"/>
  <p:embeddedFontLst>
    <p:embeddedFont>
      <p:font typeface="Nunito"/>
      <p:regular r:id="rId47"/>
      <p:bold r:id="rId48"/>
      <p:italic r:id="rId49"/>
      <p:boldItalic r:id="rId50"/>
    </p:embeddedFont>
    <p:embeddedFont>
      <p:font typeface="Inter Tight"/>
      <p:regular r:id="rId51"/>
      <p:bold r:id="rId52"/>
      <p:italic r:id="rId53"/>
      <p:boldItalic r:id="rId54"/>
    </p:embeddedFont>
    <p:embeddedFont>
      <p:font typeface="Open Sans"/>
      <p:regular r:id="rId55"/>
      <p:bold r:id="rId56"/>
      <p:italic r:id="rId57"/>
      <p:boldItalic r:id="rId58"/>
    </p:embeddedFont>
    <p:embeddedFont>
      <p:font typeface="Inter Tight SemiBold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Nunito-bold.fntdata"/><Relationship Id="rId47" Type="http://schemas.openxmlformats.org/officeDocument/2006/relationships/font" Target="fonts/Nunito-regular.fntdata"/><Relationship Id="rId49" Type="http://schemas.openxmlformats.org/officeDocument/2006/relationships/font" Target="fonts/Nuni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InterTightSemiBold-boldItalic.fntdata"/><Relationship Id="rId61" Type="http://schemas.openxmlformats.org/officeDocument/2006/relationships/font" Target="fonts/InterTightSemiBold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InterTightSemiBold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nterTight-regular.fntdata"/><Relationship Id="rId50" Type="http://schemas.openxmlformats.org/officeDocument/2006/relationships/font" Target="fonts/Nunito-boldItalic.fntdata"/><Relationship Id="rId53" Type="http://schemas.openxmlformats.org/officeDocument/2006/relationships/font" Target="fonts/InterTight-italic.fntdata"/><Relationship Id="rId52" Type="http://schemas.openxmlformats.org/officeDocument/2006/relationships/font" Target="fonts/InterTight-bold.fntdata"/><Relationship Id="rId11" Type="http://schemas.openxmlformats.org/officeDocument/2006/relationships/slide" Target="slides/slide7.xml"/><Relationship Id="rId55" Type="http://schemas.openxmlformats.org/officeDocument/2006/relationships/font" Target="fonts/OpenSans-regular.fntdata"/><Relationship Id="rId10" Type="http://schemas.openxmlformats.org/officeDocument/2006/relationships/slide" Target="slides/slide6.xml"/><Relationship Id="rId54" Type="http://schemas.openxmlformats.org/officeDocument/2006/relationships/font" Target="fonts/InterTight-boldItalic.fntdata"/><Relationship Id="rId13" Type="http://schemas.openxmlformats.org/officeDocument/2006/relationships/slide" Target="slides/slide9.xml"/><Relationship Id="rId57" Type="http://schemas.openxmlformats.org/officeDocument/2006/relationships/font" Target="fonts/OpenSans-italic.fntdata"/><Relationship Id="rId12" Type="http://schemas.openxmlformats.org/officeDocument/2006/relationships/slide" Target="slides/slide8.xml"/><Relationship Id="rId56" Type="http://schemas.openxmlformats.org/officeDocument/2006/relationships/font" Target="fonts/OpenSans-bold.fntdata"/><Relationship Id="rId15" Type="http://schemas.openxmlformats.org/officeDocument/2006/relationships/slide" Target="slides/slide11.xml"/><Relationship Id="rId59" Type="http://schemas.openxmlformats.org/officeDocument/2006/relationships/font" Target="fonts/InterTightSemiBold-regular.fntdata"/><Relationship Id="rId14" Type="http://schemas.openxmlformats.org/officeDocument/2006/relationships/slide" Target="slides/slide10.xml"/><Relationship Id="rId58" Type="http://schemas.openxmlformats.org/officeDocument/2006/relationships/font" Target="fonts/OpenSan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6dde2e61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6dde2e61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dde2e612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6dde2e612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6e00f8225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6e00f8225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6e00f8225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6e00f8225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6e00f8225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6e00f8225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6e00f8225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6e00f8225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6e00f8225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6e00f8225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6dde2e612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6dde2e612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6dde2e612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6dde2e612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6e00f8225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6e00f8225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6e00f8225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6e00f8225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6dde2e612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6dde2e612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6dde2e612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6dde2e612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6e00f8225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6e00f8225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6e00f8225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6e00f8225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6e00f8225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6e00f8225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6e00f8225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36e00f8225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6e00f8225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6e00f8225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6e00f8225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6e00f8225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6e00f8225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6e00f8225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6e00f82252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6e00f8225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6e00f8225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6e00f8225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6e00f8225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6e00f8225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6e00f8225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6e00f8225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6e00f8225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6e00f8225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6e00f8225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6e00f8225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6e00f82252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36e00f82252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6e00f8225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6e00f8225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6dde2e612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6dde2e612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6dde2e612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6dde2e612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6e00f82252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36e00f82252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6dde2e612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6dde2e612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6e00f82252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6e00f82252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6dde2e612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6dde2e612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6dde2e612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6dde2e612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6dde2e612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6dde2e612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6dde2e612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6dde2e612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6dde2e612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6dde2e612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6ae6cb7c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6ae6cb7c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faculty.kfupm.edu.sa/COE/mudawar/coe202/lessons/Lesson6_1.pdf" TargetMode="External"/><Relationship Id="rId4" Type="http://schemas.openxmlformats.org/officeDocument/2006/relationships/hyperlink" Target="https://faculty.kfupm.edu.sa/coe/abouh/Lesson3_4.pdf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latin typeface="Inter Tight SemiBold"/>
                <a:ea typeface="Inter Tight SemiBold"/>
                <a:cs typeface="Inter Tight SemiBold"/>
                <a:sym typeface="Inter Tight SemiBold"/>
              </a:rPr>
              <a:t>Programmable Logic Devices (</a:t>
            </a:r>
            <a:r>
              <a:rPr b="0" lang="en" sz="5000">
                <a:latin typeface="Inter Tight SemiBold"/>
                <a:ea typeface="Inter Tight SemiBold"/>
                <a:cs typeface="Inter Tight SemiBold"/>
                <a:sym typeface="Inter Tight SemiBold"/>
              </a:rPr>
              <a:t>PLD</a:t>
            </a:r>
            <a:r>
              <a:rPr b="0" lang="en" sz="5000">
                <a:latin typeface="Inter Tight SemiBold"/>
                <a:ea typeface="Inter Tight SemiBold"/>
                <a:cs typeface="Inter Tight SemiBold"/>
                <a:sym typeface="Inter Tight SemiBold"/>
              </a:rPr>
              <a:t>)</a:t>
            </a:r>
            <a:endParaRPr b="0" sz="500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PLD</a:t>
            </a:r>
            <a:endParaRPr sz="38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cxnSp>
        <p:nvCxnSpPr>
          <p:cNvPr id="618" name="Google Shape;618;p27"/>
          <p:cNvCxnSpPr>
            <a:stCxn id="61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27"/>
          <p:cNvCxnSpPr>
            <a:endCxn id="61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p27"/>
          <p:cNvSpPr txBox="1"/>
          <p:nvPr/>
        </p:nvSpPr>
        <p:spPr>
          <a:xfrm>
            <a:off x="762000" y="1216025"/>
            <a:ext cx="7752000" cy="29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1135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the advent of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large-scale integration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technology, it is feasible to fabricate large circuits within a single chip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923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consequence – Programmable Logic Devices (PLD)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2" marL="11430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kind of LSI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923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combinational circuit to implement a set of Boolean functions 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1135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PLDs: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2" marL="11430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Reduced space requirements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2" marL="11430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Reduced power requirements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2" marL="11430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 security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2" marL="11430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Compact circuitry (Higher density)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2" marL="11430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Short design cycle – [Analysis, Design, Development, Testing, Deployment]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2" marL="11430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Higher switching speed (toggling speed)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7325" lvl="2" marL="11430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production cost for large quantity production  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8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PLD</a:t>
            </a:r>
            <a:endParaRPr/>
          </a:p>
        </p:txBody>
      </p:sp>
      <p:cxnSp>
        <p:nvCxnSpPr>
          <p:cNvPr id="628" name="Google Shape;628;p28"/>
          <p:cNvCxnSpPr>
            <a:stCxn id="62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28"/>
          <p:cNvCxnSpPr>
            <a:endCxn id="62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2" name="Google Shape;632;p28"/>
          <p:cNvSpPr txBox="1"/>
          <p:nvPr/>
        </p:nvSpPr>
        <p:spPr>
          <a:xfrm>
            <a:off x="852125" y="1158450"/>
            <a:ext cx="72033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Normally Boolean functions are expressed by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of product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forms or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of required minterms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can be used to generate 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minterms for 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inputs 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or more OR gates are required to generate the expected function 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 packages (PLDs) 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are developed with larger integration of </a:t>
            </a: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decoders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gates to generate one or more required outputs at a time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b="1"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Advantage: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the broad space, interconnections and power consumption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Specially they are used as a </a:t>
            </a:r>
            <a:r>
              <a:rPr b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memory device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spite of being </a:t>
            </a: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combinational circuit 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devices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3" name="Google Shape;633;p28"/>
          <p:cNvPicPr preferRelativeResize="0"/>
          <p:nvPr/>
        </p:nvPicPr>
        <p:blipFill rotWithShape="1">
          <a:blip r:embed="rId3">
            <a:alphaModFix/>
          </a:blip>
          <a:srcRect b="11692" l="0" r="22372" t="0"/>
          <a:stretch/>
        </p:blipFill>
        <p:spPr>
          <a:xfrm>
            <a:off x="6773000" y="3062400"/>
            <a:ext cx="1780100" cy="168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9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Structure of PLD</a:t>
            </a:r>
            <a:endParaRPr/>
          </a:p>
        </p:txBody>
      </p:sp>
      <p:cxnSp>
        <p:nvCxnSpPr>
          <p:cNvPr id="639" name="Google Shape;639;p29"/>
          <p:cNvCxnSpPr>
            <a:stCxn id="64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29"/>
          <p:cNvCxnSpPr>
            <a:endCxn id="64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3" name="Google Shape;64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900" y="1389335"/>
            <a:ext cx="7308200" cy="274443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29"/>
          <p:cNvSpPr txBox="1"/>
          <p:nvPr/>
        </p:nvSpPr>
        <p:spPr>
          <a:xfrm>
            <a:off x="2274277" y="3949099"/>
            <a:ext cx="255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Product term production</a:t>
            </a:r>
            <a:endParaRPr/>
          </a:p>
        </p:txBody>
      </p:sp>
      <p:sp>
        <p:nvSpPr>
          <p:cNvPr id="645" name="Google Shape;645;p29"/>
          <p:cNvSpPr txBox="1"/>
          <p:nvPr/>
        </p:nvSpPr>
        <p:spPr>
          <a:xfrm>
            <a:off x="5049857" y="3949099"/>
            <a:ext cx="22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Sum term production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0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Structure of PLD</a:t>
            </a:r>
            <a:endParaRPr/>
          </a:p>
        </p:txBody>
      </p:sp>
      <p:cxnSp>
        <p:nvCxnSpPr>
          <p:cNvPr id="651" name="Google Shape;651;p30"/>
          <p:cNvCxnSpPr>
            <a:stCxn id="65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30"/>
          <p:cNvCxnSpPr>
            <a:endCxn id="65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5" name="Google Shape;6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7813" y="1147047"/>
            <a:ext cx="3208376" cy="351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1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PLD Classification</a:t>
            </a:r>
            <a:endParaRPr/>
          </a:p>
        </p:txBody>
      </p:sp>
      <p:cxnSp>
        <p:nvCxnSpPr>
          <p:cNvPr id="661" name="Google Shape;661;p31"/>
          <p:cNvCxnSpPr>
            <a:stCxn id="66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31"/>
          <p:cNvCxnSpPr>
            <a:endCxn id="66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p31"/>
          <p:cNvSpPr txBox="1"/>
          <p:nvPr/>
        </p:nvSpPr>
        <p:spPr>
          <a:xfrm>
            <a:off x="838200" y="1825625"/>
            <a:ext cx="5259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 Only Memory (ROM)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Programmable Logic Array (PLA)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Programmable Array Logic (PAL)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2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PLD Classification</a:t>
            </a:r>
            <a:endParaRPr/>
          </a:p>
        </p:txBody>
      </p:sp>
      <p:cxnSp>
        <p:nvCxnSpPr>
          <p:cNvPr id="671" name="Google Shape;671;p32"/>
          <p:cNvCxnSpPr>
            <a:stCxn id="67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32"/>
          <p:cNvCxnSpPr>
            <a:endCxn id="67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4" name="Google Shape;674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5" name="Google Shape;6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841" y="1910648"/>
            <a:ext cx="8292319" cy="1610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3"/>
          <p:cNvSpPr txBox="1"/>
          <p:nvPr>
            <p:ph type="title"/>
          </p:nvPr>
        </p:nvSpPr>
        <p:spPr>
          <a:xfrm>
            <a:off x="715100" y="589950"/>
            <a:ext cx="6632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of Programmable Array</a:t>
            </a:r>
            <a:endParaRPr/>
          </a:p>
        </p:txBody>
      </p:sp>
      <p:cxnSp>
        <p:nvCxnSpPr>
          <p:cNvPr id="681" name="Google Shape;681;p33"/>
          <p:cNvCxnSpPr>
            <a:stCxn id="68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33"/>
          <p:cNvCxnSpPr>
            <a:endCxn id="68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4" name="Google Shape;68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5" name="Google Shape;685;p33"/>
          <p:cNvSpPr txBox="1"/>
          <p:nvPr/>
        </p:nvSpPr>
        <p:spPr>
          <a:xfrm>
            <a:off x="762000" y="1216025"/>
            <a:ext cx="79023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a </a:t>
            </a:r>
            <a:r>
              <a:rPr b="1" lang="en" sz="2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programmable array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connections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gates are </a:t>
            </a:r>
            <a:r>
              <a:rPr b="1" lang="en" sz="2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flexible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implement a 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programmable gate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 </a:t>
            </a: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fuse link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employed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programmable input to an 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gate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of the fuses are blown out to achieve the desired output of the gate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6" name="Google Shape;6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3987" y="3089976"/>
            <a:ext cx="3756026" cy="1119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4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Read Only Memory (ROM)</a:t>
            </a:r>
            <a:endParaRPr sz="3700"/>
          </a:p>
        </p:txBody>
      </p:sp>
      <p:sp>
        <p:nvSpPr>
          <p:cNvPr id="692" name="Google Shape;692;p34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93" name="Google Shape;693;p34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4" name="Google Shape;694;p34"/>
          <p:cNvCxnSpPr>
            <a:stCxn id="692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5" name="Google Shape;695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5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</a:t>
            </a:r>
            <a:endParaRPr/>
          </a:p>
        </p:txBody>
      </p:sp>
      <p:cxnSp>
        <p:nvCxnSpPr>
          <p:cNvPr id="701" name="Google Shape;701;p35"/>
          <p:cNvCxnSpPr>
            <a:stCxn id="70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35"/>
          <p:cNvCxnSpPr>
            <a:endCxn id="70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35"/>
          <p:cNvSpPr txBox="1"/>
          <p:nvPr/>
        </p:nvSpPr>
        <p:spPr>
          <a:xfrm>
            <a:off x="609600" y="1271750"/>
            <a:ext cx="7893600" cy="29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 Notation – 2</a:t>
            </a:r>
            <a:r>
              <a:rPr baseline="30000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x m ROM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input lines and m output lines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intermediate ANDed (</a:t>
            </a:r>
            <a:r>
              <a:rPr b="1" i="1"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product/minterm) terms which are </a:t>
            </a: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 outlines lines are </a:t>
            </a:r>
            <a:r>
              <a:rPr b="1" lang="en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programmable </a:t>
            </a:r>
            <a:r>
              <a:rPr b="1"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Also, this notation is considered as </a:t>
            </a: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total number of bits 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stored.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Also, 2</a:t>
            </a:r>
            <a:r>
              <a:rPr baseline="30000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denotes the 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number of addresses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m denotes 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total number of bits per word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level logic representation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sum of minterms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6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</a:t>
            </a:r>
            <a:endParaRPr/>
          </a:p>
        </p:txBody>
      </p:sp>
      <p:cxnSp>
        <p:nvCxnSpPr>
          <p:cNvPr id="711" name="Google Shape;711;p36"/>
          <p:cNvCxnSpPr>
            <a:stCxn id="71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36"/>
          <p:cNvCxnSpPr>
            <a:endCxn id="71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5" name="Google Shape;71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537" y="1507677"/>
            <a:ext cx="7880925" cy="2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7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</a:t>
            </a:r>
            <a:endParaRPr/>
          </a:p>
        </p:txBody>
      </p:sp>
      <p:cxnSp>
        <p:nvCxnSpPr>
          <p:cNvPr id="721" name="Google Shape;721;p37"/>
          <p:cNvCxnSpPr>
            <a:stCxn id="72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37"/>
          <p:cNvCxnSpPr>
            <a:endCxn id="72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5" name="Google Shape;725;p37"/>
          <p:cNvSpPr txBox="1"/>
          <p:nvPr/>
        </p:nvSpPr>
        <p:spPr>
          <a:xfrm>
            <a:off x="533400" y="1063625"/>
            <a:ext cx="8023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68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Once a pattern is established, it would not be erased even if power supply is off (</a:t>
            </a: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 volatile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combination of </a:t>
            </a: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input variables are called </a:t>
            </a: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addresses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address combination (one of the minterm) is connected with required output lines (</a:t>
            </a:r>
            <a:r>
              <a:rPr b="1" i="1" lang="en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 bit</a:t>
            </a:r>
            <a:r>
              <a:rPr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to make a specific word </a:t>
            </a:r>
            <a:r>
              <a:rPr b="1" i="1" lang="en" sz="19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– n-bit long address </a:t>
            </a:r>
            <a:endParaRPr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bit-combination of output lines is called a </a:t>
            </a:r>
            <a:r>
              <a:rPr b="1" i="1"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 –</a:t>
            </a:r>
            <a:r>
              <a:rPr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" sz="19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m-bit long word</a:t>
            </a:r>
            <a:endParaRPr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32x8 ROM = 2</a:t>
            </a:r>
            <a:r>
              <a:rPr baseline="30000"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x8 ROM = 5 input variables, 32 addresses and word length = 8</a:t>
            </a:r>
            <a:endParaRPr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38"/>
          <p:cNvGrpSpPr/>
          <p:nvPr/>
        </p:nvGrpSpPr>
        <p:grpSpPr>
          <a:xfrm>
            <a:off x="1917731" y="2923427"/>
            <a:ext cx="5679744" cy="1884748"/>
            <a:chOff x="2930856" y="3526361"/>
            <a:chExt cx="5679744" cy="1884748"/>
          </a:xfrm>
        </p:grpSpPr>
        <p:pic>
          <p:nvPicPr>
            <p:cNvPr id="731" name="Google Shape;731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30856" y="3526361"/>
              <a:ext cx="5679744" cy="16808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38"/>
            <p:cNvSpPr txBox="1"/>
            <p:nvPr/>
          </p:nvSpPr>
          <p:spPr>
            <a:xfrm>
              <a:off x="4378576" y="5041809"/>
              <a:ext cx="1078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Decoder</a:t>
              </a:r>
              <a:endParaRPr/>
            </a:p>
          </p:txBody>
        </p:sp>
      </p:grpSp>
      <p:sp>
        <p:nvSpPr>
          <p:cNvPr id="733" name="Google Shape;733;p38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 with Decoder</a:t>
            </a:r>
            <a:endParaRPr/>
          </a:p>
        </p:txBody>
      </p:sp>
      <p:cxnSp>
        <p:nvCxnSpPr>
          <p:cNvPr id="734" name="Google Shape;734;p38"/>
          <p:cNvCxnSpPr>
            <a:stCxn id="73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38"/>
          <p:cNvCxnSpPr>
            <a:endCxn id="73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7" name="Google Shape;737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8" name="Google Shape;738;p38"/>
          <p:cNvSpPr txBox="1"/>
          <p:nvPr/>
        </p:nvSpPr>
        <p:spPr>
          <a:xfrm>
            <a:off x="576150" y="1198725"/>
            <a:ext cx="7991700" cy="3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r>
              <a:rPr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could be used to implement a ROM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b="1"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Decoder –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combinational circuit that generates </a:t>
            </a:r>
            <a:r>
              <a:rPr b="1" lang="en" sz="21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" sz="21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" sz="21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number of minterms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n input variables 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minterm then is applied to required number of </a:t>
            </a:r>
            <a:r>
              <a:rPr b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gates 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b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fusible 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links which could be </a:t>
            </a:r>
            <a:r>
              <a:rPr b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blown up 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selectively as per requirement (shown in logic diagram)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9"/>
          <p:cNvSpPr txBox="1"/>
          <p:nvPr>
            <p:ph type="title"/>
          </p:nvPr>
        </p:nvSpPr>
        <p:spPr>
          <a:xfrm>
            <a:off x="715100" y="589950"/>
            <a:ext cx="503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baseline="30000" lang="en"/>
              <a:t>n</a:t>
            </a:r>
            <a:r>
              <a:rPr lang="en"/>
              <a:t> x m ROM Logic Diagram</a:t>
            </a:r>
            <a:endParaRPr/>
          </a:p>
        </p:txBody>
      </p:sp>
      <p:cxnSp>
        <p:nvCxnSpPr>
          <p:cNvPr id="744" name="Google Shape;744;p39"/>
          <p:cNvCxnSpPr>
            <a:stCxn id="74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39"/>
          <p:cNvCxnSpPr>
            <a:endCxn id="74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7" name="Google Shape;747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8" name="Google Shape;748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4798" y="1253500"/>
            <a:ext cx="5834400" cy="314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40"/>
          <p:cNvSpPr txBox="1"/>
          <p:nvPr>
            <p:ph type="title"/>
          </p:nvPr>
        </p:nvSpPr>
        <p:spPr>
          <a:xfrm>
            <a:off x="715100" y="589950"/>
            <a:ext cx="503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 Applications</a:t>
            </a:r>
            <a:endParaRPr/>
          </a:p>
        </p:txBody>
      </p:sp>
      <p:cxnSp>
        <p:nvCxnSpPr>
          <p:cNvPr id="754" name="Google Shape;754;p40"/>
          <p:cNvCxnSpPr>
            <a:stCxn id="75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40"/>
          <p:cNvCxnSpPr>
            <a:endCxn id="75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7" name="Google Shape;757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8" name="Google Shape;758;p40"/>
          <p:cNvSpPr txBox="1"/>
          <p:nvPr/>
        </p:nvSpPr>
        <p:spPr>
          <a:xfrm>
            <a:off x="498750" y="1200450"/>
            <a:ext cx="7977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Basically to design different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components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 digital computer system like: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 combinational circuit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Code conversion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pattern generation for characters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Multipliers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Look up table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Especially they are used as a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multiple-output combinational circuit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same set of inputs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Storage of a fixed bit pattern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memory storage ROM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Also, used with microprocessors and microcontrollers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1"/>
          <p:cNvSpPr txBox="1"/>
          <p:nvPr>
            <p:ph type="title"/>
          </p:nvPr>
        </p:nvSpPr>
        <p:spPr>
          <a:xfrm>
            <a:off x="715100" y="589950"/>
            <a:ext cx="503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 Example</a:t>
            </a:r>
            <a:endParaRPr/>
          </a:p>
        </p:txBody>
      </p:sp>
      <p:cxnSp>
        <p:nvCxnSpPr>
          <p:cNvPr id="764" name="Google Shape;764;p41"/>
          <p:cNvCxnSpPr>
            <a:stCxn id="76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41"/>
          <p:cNvCxnSpPr>
            <a:endCxn id="76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7" name="Google Shape;767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8" name="Google Shape;768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5" y="1106725"/>
            <a:ext cx="2451600" cy="6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41"/>
          <p:cNvSpPr txBox="1"/>
          <p:nvPr/>
        </p:nvSpPr>
        <p:spPr>
          <a:xfrm>
            <a:off x="3908825" y="1166275"/>
            <a:ext cx="445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8x2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ROM is required.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0" name="Google Shape;77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6988" y="2018400"/>
            <a:ext cx="5290024" cy="2566525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41"/>
          <p:cNvSpPr txBox="1"/>
          <p:nvPr/>
        </p:nvSpPr>
        <p:spPr>
          <a:xfrm>
            <a:off x="1968150" y="1615275"/>
            <a:ext cx="536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table or truth table for ROM:</a:t>
            </a:r>
            <a:endParaRPr sz="24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2"/>
          <p:cNvSpPr txBox="1"/>
          <p:nvPr>
            <p:ph type="title"/>
          </p:nvPr>
        </p:nvSpPr>
        <p:spPr>
          <a:xfrm>
            <a:off x="715100" y="589950"/>
            <a:ext cx="503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 Logic Diagram</a:t>
            </a:r>
            <a:endParaRPr/>
          </a:p>
        </p:txBody>
      </p:sp>
      <p:cxnSp>
        <p:nvCxnSpPr>
          <p:cNvPr id="777" name="Google Shape;777;p42"/>
          <p:cNvCxnSpPr>
            <a:stCxn id="77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42"/>
          <p:cNvCxnSpPr>
            <a:endCxn id="77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1" name="Google Shape;78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5599" y="1207911"/>
            <a:ext cx="5032800" cy="3249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3"/>
          <p:cNvSpPr txBox="1"/>
          <p:nvPr>
            <p:ph type="title"/>
          </p:nvPr>
        </p:nvSpPr>
        <p:spPr>
          <a:xfrm>
            <a:off x="715100" y="589950"/>
            <a:ext cx="503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 Types</a:t>
            </a:r>
            <a:endParaRPr/>
          </a:p>
        </p:txBody>
      </p:sp>
      <p:cxnSp>
        <p:nvCxnSpPr>
          <p:cNvPr id="787" name="Google Shape;787;p43"/>
          <p:cNvCxnSpPr>
            <a:stCxn id="78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43"/>
          <p:cNvCxnSpPr>
            <a:endCxn id="78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0" name="Google Shape;79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1" name="Google Shape;791;p43"/>
          <p:cNvSpPr txBox="1"/>
          <p:nvPr/>
        </p:nvSpPr>
        <p:spPr>
          <a:xfrm>
            <a:off x="705600" y="1309375"/>
            <a:ext cx="7732800" cy="3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7526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 of </a:t>
            </a:r>
            <a:r>
              <a:rPr b="1" i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programming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Mask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Programming: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Done by manufacturer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Field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Programming: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Done by user by means of following certain procedures and  having programming equipment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 of ROM (field programmable):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 – programmable only once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EPROM – erasable with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 light chamber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EEPROM – resettable to the original state of 1s and 0s with a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special electrical signal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4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Programmable Logic Array</a:t>
            </a:r>
            <a:r>
              <a:rPr lang="en" sz="2800"/>
              <a:t>(PLA)</a:t>
            </a:r>
            <a:endParaRPr sz="2800"/>
          </a:p>
        </p:txBody>
      </p:sp>
      <p:sp>
        <p:nvSpPr>
          <p:cNvPr id="797" name="Google Shape;797;p44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98" name="Google Shape;798;p44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9" name="Google Shape;799;p44"/>
          <p:cNvCxnSpPr>
            <a:stCxn id="797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5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</a:t>
            </a:r>
            <a:endParaRPr/>
          </a:p>
        </p:txBody>
      </p:sp>
      <p:cxnSp>
        <p:nvCxnSpPr>
          <p:cNvPr id="806" name="Google Shape;806;p45"/>
          <p:cNvCxnSpPr>
            <a:stCxn id="80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45"/>
          <p:cNvCxnSpPr>
            <a:endCxn id="80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9" name="Google Shape;80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0" name="Google Shape;810;p45"/>
          <p:cNvSpPr txBox="1"/>
          <p:nvPr/>
        </p:nvSpPr>
        <p:spPr>
          <a:xfrm>
            <a:off x="685800" y="1216025"/>
            <a:ext cx="7802100" cy="3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0193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Motivation: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combinational circuit may contain </a:t>
            </a:r>
            <a:r>
              <a:rPr b="1" i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don’t care conditions</a:t>
            </a: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will never occur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waste of memory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considering </a:t>
            </a:r>
            <a:r>
              <a:rPr b="1" i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don’t cares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valid </a:t>
            </a:r>
            <a:r>
              <a:rPr b="1" i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minterms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Code conversion from BCD to Excess 3 where 6 addresses will not be used for a 16x4 ROM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1455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waste of </a:t>
            </a:r>
            <a:r>
              <a:rPr b="1" i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6x4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locations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 (kind of LSI) is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more economical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use where don’t care cases are excessive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6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</a:t>
            </a:r>
            <a:endParaRPr/>
          </a:p>
        </p:txBody>
      </p:sp>
      <p:cxnSp>
        <p:nvCxnSpPr>
          <p:cNvPr id="816" name="Google Shape;816;p46"/>
          <p:cNvCxnSpPr>
            <a:stCxn id="81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46"/>
          <p:cNvCxnSpPr>
            <a:endCxn id="81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9" name="Google Shape;819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0" name="Google Shape;820;p46"/>
          <p:cNvSpPr txBox="1"/>
          <p:nvPr/>
        </p:nvSpPr>
        <p:spPr>
          <a:xfrm>
            <a:off x="457200" y="1216025"/>
            <a:ext cx="8099700" cy="3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41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 </a:t>
            </a:r>
            <a:r>
              <a:rPr b="1" lang="en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doesn’t produce all minterms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like ROM or decoder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Rather some </a:t>
            </a:r>
            <a:r>
              <a:rPr b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essential AND gates 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buffer/inverters are used to generate some required product terms 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product terms are used to realize the expected output functions in turn. 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Here, Boolean functions are implemented in </a:t>
            </a:r>
            <a:r>
              <a:rPr b="1" lang="en" sz="2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sum of products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 rather than </a:t>
            </a:r>
            <a:r>
              <a:rPr b="1" lang="en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sum of minterms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AND and OR gates are fabricated with </a:t>
            </a:r>
            <a:r>
              <a:rPr b="1" lang="en" sz="2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fusible links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inside the PLA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inputs to the AND and OR gates have fusible links 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 the outputs have inverter (NOT gate) with fusible links to be available both in </a:t>
            </a:r>
            <a:r>
              <a:rPr b="1" i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F’ 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required functions are realized opening (blowing off) required links 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7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</a:t>
            </a:r>
            <a:endParaRPr/>
          </a:p>
        </p:txBody>
      </p:sp>
      <p:cxnSp>
        <p:nvCxnSpPr>
          <p:cNvPr id="826" name="Google Shape;826;p47"/>
          <p:cNvCxnSpPr>
            <a:stCxn id="82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47"/>
          <p:cNvCxnSpPr>
            <a:endCxn id="82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0" name="Google Shape;830;p47"/>
          <p:cNvSpPr txBox="1"/>
          <p:nvPr/>
        </p:nvSpPr>
        <p:spPr>
          <a:xfrm>
            <a:off x="485025" y="1182750"/>
            <a:ext cx="8139600" cy="4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 notation: 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x 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number of inputs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number of product terms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number of outputs (or sum terms)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number of</a:t>
            </a:r>
            <a:r>
              <a:rPr b="1" i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programmable links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2n x 2p x 2m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basic difference between ROM and PLA is in the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number of the product term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baseline="30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(ROM) &gt;&gt; p (PLA)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16 x </a:t>
            </a:r>
            <a:r>
              <a:rPr b="1" lang="en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48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8 PLA. Here the number of product term is drastically reduced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8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 Block Diagram</a:t>
            </a:r>
            <a:endParaRPr/>
          </a:p>
        </p:txBody>
      </p:sp>
      <p:cxnSp>
        <p:nvCxnSpPr>
          <p:cNvPr id="836" name="Google Shape;836;p48"/>
          <p:cNvCxnSpPr>
            <a:stCxn id="83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48"/>
          <p:cNvCxnSpPr>
            <a:endCxn id="83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9" name="Google Shape;839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0" name="Google Shape;84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564" y="1796450"/>
            <a:ext cx="8212874" cy="2220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9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 Logic Diagram</a:t>
            </a:r>
            <a:endParaRPr/>
          </a:p>
        </p:txBody>
      </p:sp>
      <p:cxnSp>
        <p:nvCxnSpPr>
          <p:cNvPr id="846" name="Google Shape;846;p49"/>
          <p:cNvCxnSpPr>
            <a:stCxn id="84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49"/>
          <p:cNvCxnSpPr>
            <a:endCxn id="84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9" name="Google Shape;849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0" name="Google Shape;850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7800" y="1108350"/>
            <a:ext cx="3654300" cy="35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 Types</a:t>
            </a:r>
            <a:endParaRPr/>
          </a:p>
        </p:txBody>
      </p:sp>
      <p:cxnSp>
        <p:nvCxnSpPr>
          <p:cNvPr id="856" name="Google Shape;856;p50"/>
          <p:cNvCxnSpPr>
            <a:stCxn id="85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50"/>
          <p:cNvCxnSpPr>
            <a:endCxn id="85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9" name="Google Shape;85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0" name="Google Shape;860;p50"/>
          <p:cNvSpPr txBox="1"/>
          <p:nvPr/>
        </p:nvSpPr>
        <p:spPr>
          <a:xfrm>
            <a:off x="457200" y="1292225"/>
            <a:ext cx="81051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 of programming: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Mask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programming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must provide the PLA program table to the manufacturer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Field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programming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can program it by means of certain procedures and equipment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51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 Implementation</a:t>
            </a:r>
            <a:endParaRPr/>
          </a:p>
        </p:txBody>
      </p:sp>
      <p:cxnSp>
        <p:nvCxnSpPr>
          <p:cNvPr id="866" name="Google Shape;866;p51"/>
          <p:cNvCxnSpPr>
            <a:stCxn id="86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51"/>
          <p:cNvCxnSpPr>
            <a:endCxn id="86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0" name="Google Shape;870;p51"/>
          <p:cNvSpPr txBox="1"/>
          <p:nvPr/>
        </p:nvSpPr>
        <p:spPr>
          <a:xfrm>
            <a:off x="609600" y="1292225"/>
            <a:ext cx="8108400" cy="28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</a:pPr>
            <a:r>
              <a:rPr b="1" lang="en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Constraint: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minterms are not present in the AND array like ROM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SOP is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preferred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 SOM [</a:t>
            </a:r>
            <a:r>
              <a:rPr b="1" i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standard form over canonical form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</a:t>
            </a:r>
            <a:r>
              <a:rPr b="1" lang="en" sz="2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degree of simplification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Boolean functions is required to meet the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required number of product terms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Extra intelligence is required to choose between </a:t>
            </a:r>
            <a:r>
              <a:rPr b="1" i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F’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that the number of product terms does not exceed the number of AND gates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2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 Example</a:t>
            </a:r>
            <a:endParaRPr/>
          </a:p>
        </p:txBody>
      </p:sp>
      <p:cxnSp>
        <p:nvCxnSpPr>
          <p:cNvPr id="876" name="Google Shape;876;p52"/>
          <p:cNvCxnSpPr>
            <a:stCxn id="87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52"/>
          <p:cNvCxnSpPr>
            <a:endCxn id="87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9" name="Google Shape;879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0" name="Google Shape;880;p52"/>
          <p:cNvSpPr txBox="1"/>
          <p:nvPr/>
        </p:nvSpPr>
        <p:spPr>
          <a:xfrm>
            <a:off x="588925" y="1150025"/>
            <a:ext cx="8068500" cy="3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 a </a:t>
            </a:r>
            <a:r>
              <a:rPr b="1" i="1" lang="en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3 x 4 x 2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 to implement the following Boolean expressions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get required and reduced product terms,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simplified expressions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are: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1" name="Google Shape;88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4104" y="1528763"/>
            <a:ext cx="2834100" cy="6564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2" name="Google Shape;882;p52"/>
          <p:cNvGrpSpPr/>
          <p:nvPr/>
        </p:nvGrpSpPr>
        <p:grpSpPr>
          <a:xfrm>
            <a:off x="1693073" y="2901403"/>
            <a:ext cx="2621695" cy="1628960"/>
            <a:chOff x="838200" y="4001294"/>
            <a:chExt cx="3256764" cy="2023553"/>
          </a:xfrm>
        </p:grpSpPr>
        <p:pic>
          <p:nvPicPr>
            <p:cNvPr id="883" name="Google Shape;883;p52"/>
            <p:cNvPicPr preferRelativeResize="0"/>
            <p:nvPr/>
          </p:nvPicPr>
          <p:blipFill rotWithShape="1">
            <a:blip r:embed="rId4">
              <a:alphaModFix/>
            </a:blip>
            <a:srcRect b="19205" l="0" r="57875" t="0"/>
            <a:stretch/>
          </p:blipFill>
          <p:spPr>
            <a:xfrm>
              <a:off x="838200" y="4001294"/>
              <a:ext cx="3256764" cy="16433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4" name="Google Shape;884;p52"/>
            <p:cNvPicPr preferRelativeResize="0"/>
            <p:nvPr/>
          </p:nvPicPr>
          <p:blipFill rotWithShape="1">
            <a:blip r:embed="rId5">
              <a:alphaModFix/>
            </a:blip>
            <a:srcRect b="49112" l="0" r="0" t="0"/>
            <a:stretch/>
          </p:blipFill>
          <p:spPr>
            <a:xfrm>
              <a:off x="1377966" y="5644662"/>
              <a:ext cx="2177232" cy="38018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5" name="Google Shape;885;p52"/>
          <p:cNvGrpSpPr/>
          <p:nvPr/>
        </p:nvGrpSpPr>
        <p:grpSpPr>
          <a:xfrm>
            <a:off x="5308191" y="2901403"/>
            <a:ext cx="2576322" cy="1663948"/>
            <a:chOff x="4920933" y="4001294"/>
            <a:chExt cx="3200400" cy="2067016"/>
          </a:xfrm>
        </p:grpSpPr>
        <p:pic>
          <p:nvPicPr>
            <p:cNvPr id="886" name="Google Shape;886;p52"/>
            <p:cNvPicPr preferRelativeResize="0"/>
            <p:nvPr/>
          </p:nvPicPr>
          <p:blipFill rotWithShape="1">
            <a:blip r:embed="rId4">
              <a:alphaModFix/>
            </a:blip>
            <a:srcRect b="19205" l="58333" r="0" t="0"/>
            <a:stretch/>
          </p:blipFill>
          <p:spPr>
            <a:xfrm>
              <a:off x="4920933" y="4001294"/>
              <a:ext cx="3200400" cy="1522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7" name="Google Shape;887;p52"/>
            <p:cNvPicPr preferRelativeResize="0"/>
            <p:nvPr/>
          </p:nvPicPr>
          <p:blipFill rotWithShape="1">
            <a:blip r:embed="rId5">
              <a:alphaModFix/>
            </a:blip>
            <a:srcRect b="0" l="0" r="0" t="51026"/>
            <a:stretch/>
          </p:blipFill>
          <p:spPr>
            <a:xfrm>
              <a:off x="5458922" y="5703184"/>
              <a:ext cx="2343064" cy="3651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3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 Example</a:t>
            </a:r>
            <a:endParaRPr/>
          </a:p>
        </p:txBody>
      </p:sp>
      <p:cxnSp>
        <p:nvCxnSpPr>
          <p:cNvPr id="893" name="Google Shape;893;p53"/>
          <p:cNvCxnSpPr>
            <a:stCxn id="89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53"/>
          <p:cNvCxnSpPr>
            <a:endCxn id="89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6" name="Google Shape;896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7" name="Google Shape;897;p53"/>
          <p:cNvSpPr txBox="1"/>
          <p:nvPr/>
        </p:nvSpPr>
        <p:spPr>
          <a:xfrm>
            <a:off x="609600" y="1063625"/>
            <a:ext cx="10836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 program table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53"/>
          <p:cNvSpPr txBox="1"/>
          <p:nvPr/>
        </p:nvSpPr>
        <p:spPr>
          <a:xfrm>
            <a:off x="4478216" y="4141569"/>
            <a:ext cx="431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in its original form, </a:t>
            </a:r>
            <a:r>
              <a:rPr lang="en"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inverter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blown 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in its complement form, </a:t>
            </a:r>
            <a:r>
              <a:rPr lang="en"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inverted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used</a:t>
            </a:r>
            <a:endParaRPr/>
          </a:p>
        </p:txBody>
      </p:sp>
      <p:pic>
        <p:nvPicPr>
          <p:cNvPr id="899" name="Google Shape;89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9852" y="1799127"/>
            <a:ext cx="6684301" cy="238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4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 Implementation</a:t>
            </a:r>
            <a:endParaRPr/>
          </a:p>
        </p:txBody>
      </p:sp>
      <p:cxnSp>
        <p:nvCxnSpPr>
          <p:cNvPr id="905" name="Google Shape;905;p54"/>
          <p:cNvCxnSpPr>
            <a:stCxn id="90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p54"/>
          <p:cNvCxnSpPr>
            <a:endCxn id="90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Google Shape;908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9" name="Google Shape;909;p54"/>
          <p:cNvSpPr txBox="1"/>
          <p:nvPr/>
        </p:nvSpPr>
        <p:spPr>
          <a:xfrm>
            <a:off x="533400" y="1139825"/>
            <a:ext cx="8056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Internal connections of PLA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PLD notation: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0" name="Google Shape;91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7961" y="1540050"/>
            <a:ext cx="4568075" cy="30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5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Programmable Array Logic (PAL)</a:t>
            </a:r>
            <a:endParaRPr sz="2900"/>
          </a:p>
        </p:txBody>
      </p:sp>
      <p:sp>
        <p:nvSpPr>
          <p:cNvPr id="916" name="Google Shape;916;p55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17" name="Google Shape;917;p55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8" name="Google Shape;918;p55"/>
          <p:cNvCxnSpPr>
            <a:stCxn id="916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" name="Google Shape;919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6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PAL</a:t>
            </a:r>
            <a:endParaRPr/>
          </a:p>
        </p:txBody>
      </p:sp>
      <p:cxnSp>
        <p:nvCxnSpPr>
          <p:cNvPr id="925" name="Google Shape;925;p56"/>
          <p:cNvCxnSpPr>
            <a:stCxn id="92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56"/>
          <p:cNvCxnSpPr>
            <a:endCxn id="92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9" name="Google Shape;929;p56"/>
          <p:cNvSpPr txBox="1"/>
          <p:nvPr/>
        </p:nvSpPr>
        <p:spPr>
          <a:xfrm>
            <a:off x="457200" y="1292225"/>
            <a:ext cx="805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General structure of PAL is very similar to PLA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But,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difference between these is in a PAL device, only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 gates are programmable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whereas </a:t>
            </a:r>
            <a:r>
              <a:rPr b="1" lang="en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OR gates are fixed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 manufacturer.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PLA is less expensive,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more flexible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more easier than PAL  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7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PAL</a:t>
            </a:r>
            <a:endParaRPr/>
          </a:p>
        </p:txBody>
      </p:sp>
      <p:cxnSp>
        <p:nvCxnSpPr>
          <p:cNvPr id="935" name="Google Shape;935;p57"/>
          <p:cNvCxnSpPr>
            <a:stCxn id="93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57"/>
          <p:cNvCxnSpPr>
            <a:endCxn id="93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8" name="Google Shape;938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9" name="Google Shape;939;p57"/>
          <p:cNvSpPr txBox="1"/>
          <p:nvPr/>
        </p:nvSpPr>
        <p:spPr>
          <a:xfrm>
            <a:off x="533400" y="1216025"/>
            <a:ext cx="8023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External inputs are connected with the AND gates with programmable links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Whereas, </a:t>
            </a: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output of AND gates are fed to OR array with fixed connections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200"/>
              <a:buChar char="•"/>
            </a:pPr>
            <a:r>
              <a:rPr b="1" i="1" lang="en" sz="2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All the AND outputs are not fed to all OR gates 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Rather, few AND outputs are connected to an OR gate based on the manufacturer’s direction (Figure shown)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Similar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x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notation for PAL as PLA: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number of inputs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number of product terms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number of outputs (or sum terms)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8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PAL: General Structure</a:t>
            </a:r>
            <a:endParaRPr/>
          </a:p>
        </p:txBody>
      </p:sp>
      <p:cxnSp>
        <p:nvCxnSpPr>
          <p:cNvPr id="945" name="Google Shape;945;p58"/>
          <p:cNvCxnSpPr>
            <a:stCxn id="94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58"/>
          <p:cNvCxnSpPr>
            <a:endCxn id="94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8" name="Google Shape;948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9" name="Google Shape;949;p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00" y="1652848"/>
            <a:ext cx="8207400" cy="227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9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4 x 8 x 3 PAL</a:t>
            </a:r>
            <a:endParaRPr/>
          </a:p>
        </p:txBody>
      </p:sp>
      <p:cxnSp>
        <p:nvCxnSpPr>
          <p:cNvPr id="955" name="Google Shape;955;p59"/>
          <p:cNvCxnSpPr>
            <a:stCxn id="95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59"/>
          <p:cNvCxnSpPr>
            <a:endCxn id="95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8" name="Google Shape;958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9" name="Google Shape;959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0497" y="1152222"/>
            <a:ext cx="4983000" cy="3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0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PLDs</a:t>
            </a:r>
            <a:endParaRPr/>
          </a:p>
        </p:txBody>
      </p:sp>
      <p:cxnSp>
        <p:nvCxnSpPr>
          <p:cNvPr id="965" name="Google Shape;965;p60"/>
          <p:cNvCxnSpPr>
            <a:stCxn id="96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60"/>
          <p:cNvCxnSpPr>
            <a:endCxn id="96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8" name="Google Shape;968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60"/>
          <p:cNvSpPr txBox="1"/>
          <p:nvPr/>
        </p:nvSpPr>
        <p:spPr>
          <a:xfrm>
            <a:off x="685800" y="1368425"/>
            <a:ext cx="6736800" cy="22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Registered PAL devices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sequential circuits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Generic Array Logic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Devices (GAL)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Field Programmable Gate Array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(FPGA)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1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ALU</a:t>
            </a:r>
            <a:endParaRPr sz="3800"/>
          </a:p>
        </p:txBody>
      </p:sp>
      <p:sp>
        <p:nvSpPr>
          <p:cNvPr id="975" name="Google Shape;975;p61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76" name="Google Shape;976;p61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61"/>
          <p:cNvCxnSpPr>
            <a:stCxn id="975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8" name="Google Shape;978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62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 as Logic Device</a:t>
            </a:r>
            <a:endParaRPr/>
          </a:p>
        </p:txBody>
      </p:sp>
      <p:cxnSp>
        <p:nvCxnSpPr>
          <p:cNvPr id="984" name="Google Shape;984;p62"/>
          <p:cNvCxnSpPr>
            <a:stCxn id="98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62"/>
          <p:cNvCxnSpPr>
            <a:endCxn id="98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7" name="Google Shape;987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8" name="Google Shape;988;p62"/>
          <p:cNvSpPr txBox="1"/>
          <p:nvPr/>
        </p:nvSpPr>
        <p:spPr>
          <a:xfrm>
            <a:off x="533400" y="1292225"/>
            <a:ext cx="7803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ALU is a part of CPU that performs the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calculation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condition testing  </a:t>
            </a:r>
            <a:endParaRPr sz="1000"/>
          </a:p>
          <a:p>
            <a:pPr indent="-203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Considered as fundamental </a:t>
            </a:r>
            <a:r>
              <a:rPr b="1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building block</a:t>
            </a: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CPU</a:t>
            </a:r>
            <a:endParaRPr sz="1000"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9" name="Google Shape;989;p6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9773" y="2471774"/>
            <a:ext cx="3771900" cy="21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3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</a:t>
            </a:r>
            <a:endParaRPr/>
          </a:p>
        </p:txBody>
      </p:sp>
      <p:cxnSp>
        <p:nvCxnSpPr>
          <p:cNvPr id="995" name="Google Shape;995;p63"/>
          <p:cNvCxnSpPr>
            <a:stCxn id="99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63"/>
          <p:cNvCxnSpPr>
            <a:endCxn id="99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8" name="Google Shape;998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9" name="Google Shape;999;p63"/>
          <p:cNvSpPr txBox="1"/>
          <p:nvPr/>
        </p:nvSpPr>
        <p:spPr>
          <a:xfrm>
            <a:off x="533400" y="1292225"/>
            <a:ext cx="10836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Consists of millions of 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transistors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Performs: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Arithmetic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operations – Add, subtract, …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Logical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operations – AND, OR, Rotate, Shift, …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4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cxnSp>
        <p:nvCxnSpPr>
          <p:cNvPr id="1005" name="Google Shape;1005;p64"/>
          <p:cNvCxnSpPr>
            <a:stCxn id="100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64"/>
          <p:cNvCxnSpPr>
            <a:endCxn id="100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8" name="Google Shape;1008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9" name="Google Shape;1009;p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9750" y="1165726"/>
            <a:ext cx="3517500" cy="290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7764" y="1173274"/>
            <a:ext cx="2270836" cy="289483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64"/>
          <p:cNvSpPr txBox="1"/>
          <p:nvPr/>
        </p:nvSpPr>
        <p:spPr>
          <a:xfrm>
            <a:off x="1994167" y="4122475"/>
            <a:ext cx="211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Circuit Diagram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of 1-bit ALU</a:t>
            </a:r>
            <a:endParaRPr/>
          </a:p>
        </p:txBody>
      </p:sp>
      <p:sp>
        <p:nvSpPr>
          <p:cNvPr id="1012" name="Google Shape;1012;p64"/>
          <p:cNvSpPr txBox="1"/>
          <p:nvPr/>
        </p:nvSpPr>
        <p:spPr>
          <a:xfrm>
            <a:off x="5330946" y="4122475"/>
            <a:ext cx="261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Block Diagram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of multiple 1-bit ALUs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65"/>
          <p:cNvSpPr txBox="1"/>
          <p:nvPr>
            <p:ph type="title"/>
          </p:nvPr>
        </p:nvSpPr>
        <p:spPr>
          <a:xfrm>
            <a:off x="791300" y="894750"/>
            <a:ext cx="5912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cxnSp>
        <p:nvCxnSpPr>
          <p:cNvPr id="1018" name="Google Shape;1018;p65"/>
          <p:cNvCxnSpPr>
            <a:stCxn id="101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0" name="Google Shape;1020;p65"/>
          <p:cNvCxnSpPr>
            <a:endCxn id="101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1" name="Google Shape;1021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2" name="Google Shape;1022;p65"/>
          <p:cNvSpPr txBox="1"/>
          <p:nvPr/>
        </p:nvSpPr>
        <p:spPr>
          <a:xfrm>
            <a:off x="936350" y="1574975"/>
            <a:ext cx="53958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Note 1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Resource 1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6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1028" name="Google Shape;1028;p66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1029" name="Google Shape;1029;p66"/>
          <p:cNvCxnSpPr>
            <a:endCxn id="1027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0" name="Google Shape;1030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