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Nunito"/>
      <p:regular r:id="rId39"/>
      <p:bold r:id="rId40"/>
      <p:italic r:id="rId41"/>
      <p:boldItalic r:id="rId42"/>
    </p:embeddedFont>
    <p:embeddedFont>
      <p:font typeface="Inter Tight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  <p:embeddedFont>
      <p:font typeface="Inter Tight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44" Type="http://schemas.openxmlformats.org/officeDocument/2006/relationships/font" Target="fonts/InterTight-bold.fntdata"/><Relationship Id="rId43" Type="http://schemas.openxmlformats.org/officeDocument/2006/relationships/font" Target="fonts/InterTight-regular.fntdata"/><Relationship Id="rId46" Type="http://schemas.openxmlformats.org/officeDocument/2006/relationships/font" Target="fonts/InterTight-boldItalic.fntdata"/><Relationship Id="rId45" Type="http://schemas.openxmlformats.org/officeDocument/2006/relationships/font" Target="fonts/InterT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Nunito-regular.fntdata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TightSemiBold-regular.fntdata"/><Relationship Id="rId50" Type="http://schemas.openxmlformats.org/officeDocument/2006/relationships/font" Target="fonts/OpenSans-boldItalic.fntdata"/><Relationship Id="rId53" Type="http://schemas.openxmlformats.org/officeDocument/2006/relationships/font" Target="fonts/InterTightSemiBold-italic.fntdata"/><Relationship Id="rId52" Type="http://schemas.openxmlformats.org/officeDocument/2006/relationships/font" Target="fonts/InterTightSemi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InterTight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59828bc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759828bc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59d41864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759d41864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759d4186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759d4186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759828bc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759828bc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759d4186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759d4186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759d41864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759d4186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759828bcd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759828bcd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759d41864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759d41864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759d41864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759d41864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759d41864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759d41864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759d41864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759d41864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759d41864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759d41864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759d41864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759d41864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759d41864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759d41864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759d41864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759d41864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759d41864b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759d41864b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759d41864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759d41864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759d41864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759d41864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759d41864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759d41864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759d41864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759d41864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759d41864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759d41864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759d41864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759d41864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759d41864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759d41864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759d41864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759d41864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759d41864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759d41864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759d41864b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759d41864b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759828bcd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759828bcd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759828bcd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759828bcd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759d41864b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759d41864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759d41864b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759d41864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759d41864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759d41864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Sequential Circuits II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Registers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Registers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618" name="Google Shape;618;p27"/>
          <p:cNvCxnSpPr>
            <a:stCxn id="6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7"/>
          <p:cNvCxnSpPr>
            <a:endCxn id="6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27"/>
          <p:cNvSpPr txBox="1"/>
          <p:nvPr/>
        </p:nvSpPr>
        <p:spPr>
          <a:xfrm>
            <a:off x="464250" y="1230972"/>
            <a:ext cx="82152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50" lIns="67100" spcFirstLastPara="1" rIns="67100" wrap="square" tIns="33550">
            <a:normAutofit/>
          </a:bodyPr>
          <a:lstStyle/>
          <a:p>
            <a:pPr indent="-167767" lvl="0" marL="16776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5"/>
              <a:buChar char="•"/>
            </a:pPr>
            <a:r>
              <a:rPr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group of </a:t>
            </a:r>
            <a:r>
              <a:rPr b="1"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binary cells </a:t>
            </a:r>
            <a:r>
              <a:rPr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can hold </a:t>
            </a:r>
            <a:r>
              <a:rPr b="1"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binary information</a:t>
            </a:r>
            <a:endParaRPr sz="20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766" lvl="1" marL="503300" rtl="0" algn="l">
              <a:lnSpc>
                <a:spcPct val="90000"/>
              </a:lnSpc>
              <a:spcBef>
                <a:spcPts val="367"/>
              </a:spcBef>
              <a:spcAft>
                <a:spcPts val="0"/>
              </a:spcAft>
              <a:buClr>
                <a:srgbClr val="000000"/>
              </a:buClr>
              <a:buSzPts val="1761"/>
              <a:buChar char="•"/>
            </a:pPr>
            <a:r>
              <a:rPr lang="en" sz="176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Normally, </a:t>
            </a:r>
            <a:r>
              <a:rPr b="1" lang="en" sz="176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group of flip flops </a:t>
            </a:r>
            <a:r>
              <a:rPr lang="en" sz="176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makes a register</a:t>
            </a:r>
            <a:endParaRPr sz="176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766" lvl="2" marL="838834" rtl="0" algn="l">
              <a:lnSpc>
                <a:spcPct val="90000"/>
              </a:lnSpc>
              <a:spcBef>
                <a:spcPts val="367"/>
              </a:spcBef>
              <a:spcAft>
                <a:spcPts val="0"/>
              </a:spcAft>
              <a:buClr>
                <a:srgbClr val="000000"/>
              </a:buClr>
              <a:buSzPts val="1468"/>
              <a:buChar char="•"/>
            </a:pPr>
            <a:r>
              <a:rPr b="1" i="1"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1"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register </a:t>
            </a:r>
            <a:r>
              <a:rPr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</a:t>
            </a:r>
            <a:r>
              <a:rPr b="1" i="1"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1"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 flops </a:t>
            </a:r>
            <a:r>
              <a:rPr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hold </a:t>
            </a:r>
            <a:r>
              <a:rPr b="1" i="1"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46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of information </a:t>
            </a:r>
            <a:endParaRPr sz="146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767" lvl="0" marL="167767" rtl="0" algn="l">
              <a:lnSpc>
                <a:spcPct val="90000"/>
              </a:lnSpc>
              <a:spcBef>
                <a:spcPts val="734"/>
              </a:spcBef>
              <a:spcAft>
                <a:spcPts val="0"/>
              </a:spcAft>
              <a:buClr>
                <a:srgbClr val="000000"/>
              </a:buClr>
              <a:buSzPts val="2055"/>
              <a:buChar char="•"/>
            </a:pPr>
            <a:r>
              <a:rPr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register may have </a:t>
            </a:r>
            <a:r>
              <a:rPr b="1"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additional combinational circuit </a:t>
            </a:r>
            <a:r>
              <a:rPr lang="en" sz="20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performs data processing task</a:t>
            </a:r>
            <a:endParaRPr sz="20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161" y="2941380"/>
            <a:ext cx="3635433" cy="1482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a Register</a:t>
            </a:r>
            <a:endParaRPr/>
          </a:p>
        </p:txBody>
      </p:sp>
      <p:cxnSp>
        <p:nvCxnSpPr>
          <p:cNvPr id="629" name="Google Shape;629;p28"/>
          <p:cNvCxnSpPr>
            <a:stCxn id="63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8"/>
          <p:cNvCxnSpPr>
            <a:endCxn id="63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28"/>
          <p:cNvSpPr txBox="1"/>
          <p:nvPr/>
        </p:nvSpPr>
        <p:spPr>
          <a:xfrm>
            <a:off x="381000" y="1216025"/>
            <a:ext cx="820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Registers are considered as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MSI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flip flop has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common clock pulse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enable at the same instant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Generally,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negative edge triggered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master-slave type flip flop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 used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kinds of flip flops are called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gated latch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have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third input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activate them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Registers could be designed with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S-R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J-K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 flops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flip-flop is not preferred here.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Shift Register</a:t>
            </a:r>
            <a:endParaRPr sz="3800"/>
          </a:p>
        </p:txBody>
      </p:sp>
      <p:sp>
        <p:nvSpPr>
          <p:cNvPr id="639" name="Google Shape;639;p2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0" name="Google Shape;640;p2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29"/>
          <p:cNvCxnSpPr>
            <a:stCxn id="63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"/>
          <p:cNvSpPr txBox="1"/>
          <p:nvPr>
            <p:ph type="title"/>
          </p:nvPr>
        </p:nvSpPr>
        <p:spPr>
          <a:xfrm>
            <a:off x="562700" y="589950"/>
            <a:ext cx="5446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 Classification</a:t>
            </a:r>
            <a:endParaRPr/>
          </a:p>
        </p:txBody>
      </p:sp>
      <p:cxnSp>
        <p:nvCxnSpPr>
          <p:cNvPr id="648" name="Google Shape;648;p30"/>
          <p:cNvCxnSpPr>
            <a:stCxn id="64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0"/>
          <p:cNvCxnSpPr>
            <a:endCxn id="64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434800" y="1282950"/>
            <a:ext cx="8328300" cy="3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of shifting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capable of shifting its binary contents either to the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to the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 Shift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 Shift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shifting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Serial shifting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bit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a time for </a:t>
            </a:r>
            <a:r>
              <a:rPr b="1" lang="en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each clock pulse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a serial manner starting with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LSB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 shifting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data bits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 simultaneously during </a:t>
            </a:r>
            <a:r>
              <a:rPr b="1" lang="en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 single clock pulse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Quicker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 serial shifting operation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1"/>
          <p:cNvSpPr txBox="1"/>
          <p:nvPr>
            <p:ph type="title"/>
          </p:nvPr>
        </p:nvSpPr>
        <p:spPr>
          <a:xfrm>
            <a:off x="562700" y="589950"/>
            <a:ext cx="5446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 Classification</a:t>
            </a:r>
            <a:endParaRPr/>
          </a:p>
        </p:txBody>
      </p:sp>
      <p:cxnSp>
        <p:nvCxnSpPr>
          <p:cNvPr id="658" name="Google Shape;658;p31"/>
          <p:cNvCxnSpPr>
            <a:stCxn id="65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1"/>
          <p:cNvCxnSpPr>
            <a:endCxn id="65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31"/>
          <p:cNvSpPr txBox="1"/>
          <p:nvPr/>
        </p:nvSpPr>
        <p:spPr>
          <a:xfrm>
            <a:off x="381000" y="1292225"/>
            <a:ext cx="8175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Unidirectional Shift Register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 data in only one direction (Left or Right)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 Shift Register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 data in both right and left direction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Universal Shift Register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 data in </a:t>
            </a:r>
            <a:r>
              <a:rPr b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right and left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along with the necessary input and output terminals for </a:t>
            </a:r>
            <a:r>
              <a:rPr b="1" lang="en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 transfer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Basic Types of Registers</a:t>
            </a:r>
            <a:endParaRPr sz="3800"/>
          </a:p>
        </p:txBody>
      </p:sp>
      <p:sp>
        <p:nvSpPr>
          <p:cNvPr id="668" name="Google Shape;668;p32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69" name="Google Shape;669;p32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0" name="Google Shape;670;p32"/>
          <p:cNvCxnSpPr>
            <a:stCxn id="668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3"/>
          <p:cNvSpPr txBox="1"/>
          <p:nvPr>
            <p:ph type="title"/>
          </p:nvPr>
        </p:nvSpPr>
        <p:spPr>
          <a:xfrm>
            <a:off x="562700" y="589950"/>
            <a:ext cx="5261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Basic Types</a:t>
            </a:r>
            <a:endParaRPr/>
          </a:p>
        </p:txBody>
      </p:sp>
      <p:cxnSp>
        <p:nvCxnSpPr>
          <p:cNvPr id="677" name="Google Shape;677;p33"/>
          <p:cNvCxnSpPr>
            <a:stCxn id="67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3"/>
          <p:cNvCxnSpPr>
            <a:endCxn id="6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33"/>
          <p:cNvSpPr txBox="1"/>
          <p:nvPr/>
        </p:nvSpPr>
        <p:spPr>
          <a:xfrm>
            <a:off x="609600" y="1368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SISO (IC 74L91)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SIPO (IC 74164)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PISO (IC 74265)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PIPO (IC 74198)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2" name="Google Shape;682;p33"/>
          <p:cNvPicPr preferRelativeResize="0"/>
          <p:nvPr/>
        </p:nvPicPr>
        <p:blipFill rotWithShape="1">
          <a:blip r:embed="rId3">
            <a:alphaModFix/>
          </a:blip>
          <a:srcRect b="2496" l="70936" r="0" t="0"/>
          <a:stretch/>
        </p:blipFill>
        <p:spPr>
          <a:xfrm>
            <a:off x="6704854" y="1097400"/>
            <a:ext cx="1732572" cy="34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33"/>
          <p:cNvPicPr preferRelativeResize="0"/>
          <p:nvPr/>
        </p:nvPicPr>
        <p:blipFill rotWithShape="1">
          <a:blip r:embed="rId3">
            <a:alphaModFix/>
          </a:blip>
          <a:srcRect b="78409" l="0" r="60005" t="0"/>
          <a:stretch/>
        </p:blipFill>
        <p:spPr>
          <a:xfrm>
            <a:off x="4109725" y="1725541"/>
            <a:ext cx="2332739" cy="78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3"/>
          <p:cNvPicPr preferRelativeResize="0"/>
          <p:nvPr/>
        </p:nvPicPr>
        <p:blipFill rotWithShape="1">
          <a:blip r:embed="rId3">
            <a:alphaModFix/>
          </a:blip>
          <a:srcRect b="16165" l="0" r="69150" t="44674"/>
          <a:stretch/>
        </p:blipFill>
        <p:spPr>
          <a:xfrm>
            <a:off x="4584992" y="2704908"/>
            <a:ext cx="1799371" cy="142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SISO</a:t>
            </a:r>
            <a:endParaRPr sz="3800"/>
          </a:p>
        </p:txBody>
      </p:sp>
      <p:sp>
        <p:nvSpPr>
          <p:cNvPr id="690" name="Google Shape;690;p34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</a:t>
            </a:r>
            <a:endParaRPr/>
          </a:p>
        </p:txBody>
      </p:sp>
      <p:sp>
        <p:nvSpPr>
          <p:cNvPr id="691" name="Google Shape;691;p34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2" name="Google Shape;692;p34"/>
          <p:cNvCxnSpPr>
            <a:stCxn id="69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5"/>
          <p:cNvSpPr txBox="1"/>
          <p:nvPr>
            <p:ph type="title"/>
          </p:nvPr>
        </p:nvSpPr>
        <p:spPr>
          <a:xfrm>
            <a:off x="562700" y="589950"/>
            <a:ext cx="5261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</a:t>
            </a:r>
            <a:endParaRPr/>
          </a:p>
        </p:txBody>
      </p:sp>
      <p:cxnSp>
        <p:nvCxnSpPr>
          <p:cNvPr id="699" name="Google Shape;699;p35"/>
          <p:cNvCxnSpPr>
            <a:stCxn id="70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5"/>
          <p:cNvCxnSpPr>
            <a:endCxn id="70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416150" y="1275225"/>
            <a:ext cx="83469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data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serially through </a:t>
            </a: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single input line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data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also serially through </a:t>
            </a: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single output line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 new data bit is inserted into register from one end, on the other end, previously stored data bit will be shifted out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similar to the concept of “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direction of shifting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 shift register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shifts from right to left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 shift register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907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shifts from left to right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6"/>
          <p:cNvSpPr txBox="1"/>
          <p:nvPr>
            <p:ph type="title"/>
          </p:nvPr>
        </p:nvSpPr>
        <p:spPr>
          <a:xfrm>
            <a:off x="562700" y="589950"/>
            <a:ext cx="5261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</a:t>
            </a:r>
            <a:endParaRPr/>
          </a:p>
        </p:txBody>
      </p:sp>
      <p:cxnSp>
        <p:nvCxnSpPr>
          <p:cNvPr id="709" name="Google Shape;709;p36"/>
          <p:cNvCxnSpPr>
            <a:stCxn id="71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36"/>
          <p:cNvCxnSpPr>
            <a:endCxn id="71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p36"/>
          <p:cNvSpPr txBox="1"/>
          <p:nvPr/>
        </p:nvSpPr>
        <p:spPr>
          <a:xfrm>
            <a:off x="443200" y="1286425"/>
            <a:ext cx="8319900" cy="3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pulse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applied to all flip flops simultaneously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want to get complete data available in register, we have to wait until 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cycle for 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register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get the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last inserted bit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output from the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last flip flop (Q</a:t>
            </a:r>
            <a:r>
              <a:rPr b="1" baseline="-25000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we need to wait (n-1) clock cycles more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total (2n-1) clock cycles to achieve full data as output serially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the mean time, the register will be reset with output 0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7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 (Right Shift)</a:t>
            </a:r>
            <a:endParaRPr/>
          </a:p>
        </p:txBody>
      </p:sp>
      <p:cxnSp>
        <p:nvCxnSpPr>
          <p:cNvPr id="719" name="Google Shape;719;p37"/>
          <p:cNvCxnSpPr>
            <a:stCxn id="7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7"/>
          <p:cNvCxnSpPr>
            <a:endCxn id="7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3" name="Google Shape;723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700" y="1201998"/>
            <a:ext cx="7127100" cy="31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7"/>
          <p:cNvSpPr/>
          <p:nvPr/>
        </p:nvSpPr>
        <p:spPr>
          <a:xfrm>
            <a:off x="750992" y="1328786"/>
            <a:ext cx="512400" cy="587400"/>
          </a:xfrm>
          <a:prstGeom prst="rect">
            <a:avLst/>
          </a:prstGeom>
          <a:noFill/>
          <a:ln cap="flat" cmpd="sng" w="103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7113808" y="2964340"/>
            <a:ext cx="512400" cy="587400"/>
          </a:xfrm>
          <a:prstGeom prst="rect">
            <a:avLst/>
          </a:prstGeom>
          <a:noFill/>
          <a:ln cap="flat" cmpd="sng" w="103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7"/>
          <p:cNvSpPr/>
          <p:nvPr/>
        </p:nvSpPr>
        <p:spPr>
          <a:xfrm>
            <a:off x="6942998" y="1358674"/>
            <a:ext cx="512400" cy="587400"/>
          </a:xfrm>
          <a:prstGeom prst="rect">
            <a:avLst/>
          </a:prstGeom>
          <a:noFill/>
          <a:ln cap="flat" cmpd="sng" w="103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610062" y="2955795"/>
            <a:ext cx="512400" cy="587400"/>
          </a:xfrm>
          <a:prstGeom prst="rect">
            <a:avLst/>
          </a:prstGeom>
          <a:noFill/>
          <a:ln cap="flat" cmpd="sng" w="103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 txBox="1"/>
          <p:nvPr/>
        </p:nvSpPr>
        <p:spPr>
          <a:xfrm>
            <a:off x="7643731" y="1472507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63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Using D flip flop</a:t>
            </a:r>
            <a:endParaRPr sz="1138"/>
          </a:p>
        </p:txBody>
      </p:sp>
      <p:sp>
        <p:nvSpPr>
          <p:cNvPr id="729" name="Google Shape;729;p37"/>
          <p:cNvSpPr txBox="1"/>
          <p:nvPr/>
        </p:nvSpPr>
        <p:spPr>
          <a:xfrm>
            <a:off x="7767571" y="3133685"/>
            <a:ext cx="1433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Using JK flip flop</a:t>
            </a:r>
            <a:endParaRPr sz="1138"/>
          </a:p>
        </p:txBody>
      </p:sp>
      <p:sp>
        <p:nvSpPr>
          <p:cNvPr id="730" name="Google Shape;730;p37"/>
          <p:cNvSpPr txBox="1"/>
          <p:nvPr/>
        </p:nvSpPr>
        <p:spPr>
          <a:xfrm>
            <a:off x="1959449" y="2512921"/>
            <a:ext cx="508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1138"/>
          </a:p>
        </p:txBody>
      </p:sp>
      <p:sp>
        <p:nvSpPr>
          <p:cNvPr id="731" name="Google Shape;731;p37"/>
          <p:cNvSpPr txBox="1"/>
          <p:nvPr/>
        </p:nvSpPr>
        <p:spPr>
          <a:xfrm>
            <a:off x="6016284" y="2508650"/>
            <a:ext cx="423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LSB</a:t>
            </a:r>
            <a:endParaRPr sz="1138"/>
          </a:p>
        </p:txBody>
      </p:sp>
      <p:sp>
        <p:nvSpPr>
          <p:cNvPr id="732" name="Google Shape;732;p37"/>
          <p:cNvSpPr txBox="1"/>
          <p:nvPr/>
        </p:nvSpPr>
        <p:spPr>
          <a:xfrm>
            <a:off x="4312458" y="2659389"/>
            <a:ext cx="279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138"/>
          </a:p>
        </p:txBody>
      </p:sp>
      <p:sp>
        <p:nvSpPr>
          <p:cNvPr id="733" name="Google Shape;733;p37"/>
          <p:cNvSpPr/>
          <p:nvPr/>
        </p:nvSpPr>
        <p:spPr>
          <a:xfrm>
            <a:off x="3966560" y="2508650"/>
            <a:ext cx="279000" cy="296700"/>
          </a:xfrm>
          <a:prstGeom prst="rect">
            <a:avLst/>
          </a:prstGeom>
          <a:solidFill>
            <a:srgbClr val="FFFFFF"/>
          </a:solidFill>
          <a:ln cap="flat" cmpd="sng" w="103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8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 (Right Shift)</a:t>
            </a:r>
            <a:endParaRPr/>
          </a:p>
        </p:txBody>
      </p:sp>
      <p:cxnSp>
        <p:nvCxnSpPr>
          <p:cNvPr id="739" name="Google Shape;739;p38"/>
          <p:cNvCxnSpPr>
            <a:endCxn id="74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2" name="Google Shape;7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24" y="1147053"/>
            <a:ext cx="3295706" cy="33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3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7361" y="2147943"/>
            <a:ext cx="4671300" cy="15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38"/>
          <p:cNvSpPr txBox="1"/>
          <p:nvPr/>
        </p:nvSpPr>
        <p:spPr>
          <a:xfrm>
            <a:off x="4748500" y="153802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with Data “1011”</a:t>
            </a:r>
            <a:endParaRPr sz="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9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 (Left Shift)</a:t>
            </a:r>
            <a:endParaRPr/>
          </a:p>
        </p:txBody>
      </p:sp>
      <p:cxnSp>
        <p:nvCxnSpPr>
          <p:cNvPr id="750" name="Google Shape;750;p39"/>
          <p:cNvCxnSpPr>
            <a:endCxn id="75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3" name="Google Shape;753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306" y="1147050"/>
            <a:ext cx="5924700" cy="35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9"/>
          <p:cNvSpPr/>
          <p:nvPr/>
        </p:nvSpPr>
        <p:spPr>
          <a:xfrm>
            <a:off x="878161" y="1224412"/>
            <a:ext cx="524700" cy="618900"/>
          </a:xfrm>
          <a:prstGeom prst="rect">
            <a:avLst/>
          </a:prstGeom>
          <a:noFill/>
          <a:ln cap="flat" cmpd="sng" w="10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050" lIns="76075" spcFirstLastPara="1" rIns="76075" wrap="square" tIns="38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9"/>
          <p:cNvSpPr/>
          <p:nvPr/>
        </p:nvSpPr>
        <p:spPr>
          <a:xfrm>
            <a:off x="694475" y="3048034"/>
            <a:ext cx="524700" cy="618900"/>
          </a:xfrm>
          <a:prstGeom prst="rect">
            <a:avLst/>
          </a:prstGeom>
          <a:noFill/>
          <a:ln cap="flat" cmpd="sng" w="10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050" lIns="76075" spcFirstLastPara="1" rIns="76075" wrap="square" tIns="38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9"/>
          <p:cNvSpPr txBox="1"/>
          <p:nvPr/>
        </p:nvSpPr>
        <p:spPr>
          <a:xfrm>
            <a:off x="7044729" y="1424072"/>
            <a:ext cx="14193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50" lIns="76075" spcFirstLastPara="1" rIns="76075" wrap="square" tIns="38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Using D flip flop</a:t>
            </a:r>
            <a:endParaRPr sz="1165"/>
          </a:p>
        </p:txBody>
      </p:sp>
      <p:sp>
        <p:nvSpPr>
          <p:cNvPr id="757" name="Google Shape;757;p39"/>
          <p:cNvSpPr txBox="1"/>
          <p:nvPr/>
        </p:nvSpPr>
        <p:spPr>
          <a:xfrm>
            <a:off x="7040350" y="3125249"/>
            <a:ext cx="14679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50" lIns="76075" spcFirstLastPara="1" rIns="76075" wrap="square" tIns="38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Using JK flip flop</a:t>
            </a:r>
            <a:endParaRPr sz="1165"/>
          </a:p>
        </p:txBody>
      </p:sp>
      <p:sp>
        <p:nvSpPr>
          <p:cNvPr id="758" name="Google Shape;758;p39"/>
          <p:cNvSpPr txBox="1"/>
          <p:nvPr/>
        </p:nvSpPr>
        <p:spPr>
          <a:xfrm>
            <a:off x="5192659" y="2533184"/>
            <a:ext cx="520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50" lIns="76075" spcFirstLastPara="1" rIns="76075" wrap="square" tIns="38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1165"/>
          </a:p>
        </p:txBody>
      </p:sp>
      <p:sp>
        <p:nvSpPr>
          <p:cNvPr id="759" name="Google Shape;759;p39"/>
          <p:cNvSpPr txBox="1"/>
          <p:nvPr/>
        </p:nvSpPr>
        <p:spPr>
          <a:xfrm>
            <a:off x="1726754" y="2439942"/>
            <a:ext cx="905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50" lIns="76075" spcFirstLastPara="1" rIns="76075" wrap="square" tIns="38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LSB</a:t>
            </a:r>
            <a:endParaRPr sz="1165"/>
          </a:p>
        </p:txBody>
      </p:sp>
      <p:sp>
        <p:nvSpPr>
          <p:cNvPr id="760" name="Google Shape;760;p39"/>
          <p:cNvSpPr/>
          <p:nvPr/>
        </p:nvSpPr>
        <p:spPr>
          <a:xfrm>
            <a:off x="5977275" y="1233156"/>
            <a:ext cx="524700" cy="618900"/>
          </a:xfrm>
          <a:prstGeom prst="rect">
            <a:avLst/>
          </a:prstGeom>
          <a:noFill/>
          <a:ln cap="flat" cmpd="sng" w="10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050" lIns="76075" spcFirstLastPara="1" rIns="76075" wrap="square" tIns="38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6179519" y="3036045"/>
            <a:ext cx="524700" cy="618900"/>
          </a:xfrm>
          <a:prstGeom prst="rect">
            <a:avLst/>
          </a:prstGeom>
          <a:noFill/>
          <a:ln cap="flat" cmpd="sng" w="10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050" lIns="76075" spcFirstLastPara="1" rIns="76075" wrap="square" tIns="38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0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SISO (Left Shift)</a:t>
            </a:r>
            <a:endParaRPr/>
          </a:p>
        </p:txBody>
      </p:sp>
      <p:cxnSp>
        <p:nvCxnSpPr>
          <p:cNvPr id="767" name="Google Shape;767;p40"/>
          <p:cNvCxnSpPr>
            <a:endCxn id="76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0" name="Google Shape;770;p40"/>
          <p:cNvSpPr txBox="1"/>
          <p:nvPr/>
        </p:nvSpPr>
        <p:spPr>
          <a:xfrm>
            <a:off x="2919700" y="1461825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with Data “1110”</a:t>
            </a:r>
            <a:endParaRPr sz="600"/>
          </a:p>
        </p:txBody>
      </p:sp>
      <p:pic>
        <p:nvPicPr>
          <p:cNvPr id="771" name="Google Shape;7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457" y="2141944"/>
            <a:ext cx="8036574" cy="2197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1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8 bit SISO Register IC</a:t>
            </a:r>
            <a:endParaRPr/>
          </a:p>
        </p:txBody>
      </p:sp>
      <p:cxnSp>
        <p:nvCxnSpPr>
          <p:cNvPr id="777" name="Google Shape;777;p41"/>
          <p:cNvCxnSpPr>
            <a:endCxn id="7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0" name="Google Shape;780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4300" y="1280749"/>
            <a:ext cx="5015400" cy="31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2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SIPO</a:t>
            </a:r>
            <a:endParaRPr sz="3800"/>
          </a:p>
        </p:txBody>
      </p:sp>
      <p:sp>
        <p:nvSpPr>
          <p:cNvPr id="786" name="Google Shape;786;p42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</a:t>
            </a:r>
            <a:endParaRPr/>
          </a:p>
        </p:txBody>
      </p:sp>
      <p:sp>
        <p:nvSpPr>
          <p:cNvPr id="787" name="Google Shape;787;p42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8" name="Google Shape;788;p42"/>
          <p:cNvCxnSpPr>
            <a:stCxn id="78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3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SIPO </a:t>
            </a:r>
            <a:endParaRPr/>
          </a:p>
        </p:txBody>
      </p:sp>
      <p:cxnSp>
        <p:nvCxnSpPr>
          <p:cNvPr id="795" name="Google Shape;795;p43"/>
          <p:cNvCxnSpPr>
            <a:endCxn id="79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8" name="Google Shape;798;p43"/>
          <p:cNvSpPr txBox="1"/>
          <p:nvPr/>
        </p:nvSpPr>
        <p:spPr>
          <a:xfrm>
            <a:off x="457200" y="1292225"/>
            <a:ext cx="8147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Property: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is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shifted serially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</a:t>
            </a:r>
            <a:r>
              <a:rPr b="1" lang="e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shifted out in parallel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outputs should be available at the same time by connecting the output of each flip flop to an output pin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data is stored in the flip flops,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instantly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available in the output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Flop flops should be edge triggered or master slave flip flop </a:t>
            </a:r>
            <a:r>
              <a:rPr b="1" lang="en" sz="2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to avoid any kind of glitch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b="1" lang="e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 input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could be applied to reset all flip flops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During inserting (input) data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hold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set-up time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should be maintained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4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8 bit SIPO Register IC</a:t>
            </a:r>
            <a:endParaRPr/>
          </a:p>
        </p:txBody>
      </p:sp>
      <p:cxnSp>
        <p:nvCxnSpPr>
          <p:cNvPr id="804" name="Google Shape;804;p44"/>
          <p:cNvCxnSpPr>
            <a:endCxn id="80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6" name="Google Shape;80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7" name="Google Shape;807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150" y="1049600"/>
            <a:ext cx="5795700" cy="3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</a:t>
            </a:r>
            <a:r>
              <a:rPr lang="en" sz="3800"/>
              <a:t>ISO</a:t>
            </a:r>
            <a:endParaRPr sz="3800"/>
          </a:p>
        </p:txBody>
      </p:sp>
      <p:sp>
        <p:nvSpPr>
          <p:cNvPr id="813" name="Google Shape;813;p4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</a:t>
            </a:r>
            <a:endParaRPr/>
          </a:p>
        </p:txBody>
      </p:sp>
      <p:sp>
        <p:nvSpPr>
          <p:cNvPr id="814" name="Google Shape;814;p4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5" name="Google Shape;815;p45"/>
          <p:cNvCxnSpPr>
            <a:stCxn id="81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6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PISO </a:t>
            </a:r>
            <a:endParaRPr/>
          </a:p>
        </p:txBody>
      </p:sp>
      <p:cxnSp>
        <p:nvCxnSpPr>
          <p:cNvPr id="822" name="Google Shape;822;p46"/>
          <p:cNvCxnSpPr>
            <a:endCxn id="82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5" name="Google Shape;825;p46"/>
          <p:cNvSpPr txBox="1"/>
          <p:nvPr/>
        </p:nvSpPr>
        <p:spPr>
          <a:xfrm>
            <a:off x="389400" y="1421475"/>
            <a:ext cx="82374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Data is entered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parallel manner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into the register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input (Shift/Load)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required to allow the all input data bits either to enter into the register in parallel or to shift the data in serial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 signal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the gates to allow the data bits to shift right or left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signal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the other gates to allow the data bits at the parallel inputs to be entered 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7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PISO </a:t>
            </a:r>
            <a:endParaRPr/>
          </a:p>
        </p:txBody>
      </p:sp>
      <p:cxnSp>
        <p:nvCxnSpPr>
          <p:cNvPr id="831" name="Google Shape;831;p47"/>
          <p:cNvCxnSpPr>
            <a:endCxn id="83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4" name="Google Shape;834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450" y="1281550"/>
            <a:ext cx="6731100" cy="32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8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8 bit PISO Register IC</a:t>
            </a:r>
            <a:endParaRPr/>
          </a:p>
        </p:txBody>
      </p:sp>
      <p:cxnSp>
        <p:nvCxnSpPr>
          <p:cNvPr id="840" name="Google Shape;840;p48"/>
          <p:cNvCxnSpPr>
            <a:endCxn id="84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3" name="Google Shape;8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387" y="1147050"/>
            <a:ext cx="4575224" cy="20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4498" y="3228824"/>
            <a:ext cx="3594982" cy="14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</a:t>
            </a:r>
            <a:r>
              <a:rPr lang="en" sz="3800"/>
              <a:t>IPO</a:t>
            </a:r>
            <a:endParaRPr sz="3800"/>
          </a:p>
        </p:txBody>
      </p:sp>
      <p:sp>
        <p:nvSpPr>
          <p:cNvPr id="850" name="Google Shape;850;p4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</a:t>
            </a:r>
            <a:endParaRPr/>
          </a:p>
        </p:txBody>
      </p:sp>
      <p:sp>
        <p:nvSpPr>
          <p:cNvPr id="851" name="Google Shape;851;p4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2" name="Google Shape;852;p49"/>
          <p:cNvCxnSpPr>
            <a:stCxn id="85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0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PIPO </a:t>
            </a:r>
            <a:endParaRPr/>
          </a:p>
        </p:txBody>
      </p:sp>
      <p:cxnSp>
        <p:nvCxnSpPr>
          <p:cNvPr id="859" name="Google Shape;859;p50"/>
          <p:cNvCxnSpPr>
            <a:endCxn id="86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2" name="Google Shape;862;p50"/>
          <p:cNvSpPr txBox="1"/>
          <p:nvPr/>
        </p:nvSpPr>
        <p:spPr>
          <a:xfrm>
            <a:off x="381000" y="1292225"/>
            <a:ext cx="8283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Property: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can be shifted into or out of the register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parallel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b="1" lang="en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interconnection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the flip flops as no serial shift is required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data entry is accomplished at the parallel inputs, that data will be available at the parallel outputs instantly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application of </a:t>
            </a:r>
            <a:r>
              <a:rPr b="1"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clock pulse </a:t>
            </a: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required to perform this task as well 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pins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required in the IC to accommodate </a:t>
            </a:r>
            <a:r>
              <a:rPr b="1" lang="en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inputs and outputs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1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PIPO </a:t>
            </a:r>
            <a:endParaRPr/>
          </a:p>
        </p:txBody>
      </p:sp>
      <p:cxnSp>
        <p:nvCxnSpPr>
          <p:cNvPr id="868" name="Google Shape;868;p51"/>
          <p:cNvCxnSpPr>
            <a:endCxn id="86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1" name="Google Shape;871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358" y="1319460"/>
            <a:ext cx="8265300" cy="30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2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Register: 8 bit PIPO Register IC</a:t>
            </a:r>
            <a:endParaRPr/>
          </a:p>
        </p:txBody>
      </p:sp>
      <p:cxnSp>
        <p:nvCxnSpPr>
          <p:cNvPr id="877" name="Google Shape;877;p52"/>
          <p:cNvCxnSpPr>
            <a:endCxn id="8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0" name="Google Shape;880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249" y="1806500"/>
            <a:ext cx="7375500" cy="2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Bidirectional Shift Register</a:t>
            </a:r>
            <a:endParaRPr sz="2700"/>
          </a:p>
        </p:txBody>
      </p:sp>
      <p:sp>
        <p:nvSpPr>
          <p:cNvPr id="886" name="Google Shape;886;p53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87" name="Google Shape;887;p5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8" name="Google Shape;888;p53"/>
          <p:cNvCxnSpPr>
            <a:stCxn id="88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4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Bidirectional Shift Register</a:t>
            </a:r>
            <a:endParaRPr/>
          </a:p>
        </p:txBody>
      </p:sp>
      <p:cxnSp>
        <p:nvCxnSpPr>
          <p:cNvPr id="895" name="Google Shape;895;p54"/>
          <p:cNvCxnSpPr>
            <a:stCxn id="89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4"/>
          <p:cNvCxnSpPr>
            <a:endCxn id="89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9" name="Google Shape;899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902" y="1375448"/>
            <a:ext cx="5848200" cy="29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Universal Register</a:t>
            </a:r>
            <a:endParaRPr sz="2700"/>
          </a:p>
        </p:txBody>
      </p:sp>
      <p:sp>
        <p:nvSpPr>
          <p:cNvPr id="905" name="Google Shape;905;p5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06" name="Google Shape;906;p5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55"/>
          <p:cNvCxnSpPr>
            <a:stCxn id="905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Register</a:t>
            </a:r>
            <a:endParaRPr/>
          </a:p>
        </p:txBody>
      </p:sp>
      <p:cxnSp>
        <p:nvCxnSpPr>
          <p:cNvPr id="914" name="Google Shape;914;p56"/>
          <p:cNvCxnSpPr>
            <a:stCxn id="91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6"/>
          <p:cNvCxnSpPr>
            <a:endCxn id="91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8" name="Google Shape;918;p56"/>
          <p:cNvSpPr txBox="1"/>
          <p:nvPr/>
        </p:nvSpPr>
        <p:spPr>
          <a:xfrm>
            <a:off x="457200" y="1219200"/>
            <a:ext cx="81774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Right </a:t>
            </a: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Left </a:t>
            </a: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shift control input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</a:pP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To enable the shift operation in a particular direction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Parallel load control 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</a:pP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To enable a parallel transfer with </a:t>
            </a:r>
            <a:r>
              <a:rPr b="1" i="1" lang="en" sz="1900"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parallel input or output lines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Clear input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</a:pP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To reset the register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Another control input also can be applied to keep the data in the register unchanged 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7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bit Universal Register</a:t>
            </a:r>
            <a:endParaRPr/>
          </a:p>
        </p:txBody>
      </p:sp>
      <p:cxnSp>
        <p:nvCxnSpPr>
          <p:cNvPr id="924" name="Google Shape;924;p57"/>
          <p:cNvCxnSpPr>
            <a:stCxn id="92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7"/>
          <p:cNvCxnSpPr>
            <a:endCxn id="92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8" name="Google Shape;928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653" y="1100978"/>
            <a:ext cx="4870500" cy="33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0303" y="2113201"/>
            <a:ext cx="2574350" cy="1513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8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935" name="Google Shape;935;p58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936" name="Google Shape;936;p58"/>
          <p:cNvCxnSpPr>
            <a:endCxn id="934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