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6858000" cy="9144000"/>
  <p:embeddedFontLst>
    <p:embeddedFont>
      <p:font typeface="Nunito"/>
      <p:regular r:id="rId46"/>
      <p:bold r:id="rId47"/>
      <p:italic r:id="rId48"/>
      <p:boldItalic r:id="rId49"/>
    </p:embeddedFont>
    <p:embeddedFont>
      <p:font typeface="Inter Tight"/>
      <p:regular r:id="rId50"/>
      <p:bold r:id="rId51"/>
      <p:italic r:id="rId52"/>
      <p:boldItalic r:id="rId53"/>
    </p:embeddedFont>
    <p:embeddedFont>
      <p:font typeface="Open Sans"/>
      <p:regular r:id="rId54"/>
      <p:bold r:id="rId55"/>
      <p:italic r:id="rId56"/>
      <p:boldItalic r:id="rId57"/>
    </p:embeddedFont>
    <p:embeddedFont>
      <p:font typeface="Inter Tight SemiBold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Nunito-regular.fntdata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Nunito-italic.fntdata"/><Relationship Id="rId47" Type="http://schemas.openxmlformats.org/officeDocument/2006/relationships/font" Target="fonts/Nunito-bold.fntdata"/><Relationship Id="rId49" Type="http://schemas.openxmlformats.org/officeDocument/2006/relationships/font" Target="fonts/Nuni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1" Type="http://schemas.openxmlformats.org/officeDocument/2006/relationships/font" Target="fonts/InterTightSemiBold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InterTightSemiBold-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nterTight-bold.fntdata"/><Relationship Id="rId50" Type="http://schemas.openxmlformats.org/officeDocument/2006/relationships/font" Target="fonts/InterTight-regular.fntdata"/><Relationship Id="rId53" Type="http://schemas.openxmlformats.org/officeDocument/2006/relationships/font" Target="fonts/InterTight-boldItalic.fntdata"/><Relationship Id="rId52" Type="http://schemas.openxmlformats.org/officeDocument/2006/relationships/font" Target="fonts/InterTight-italic.fntdata"/><Relationship Id="rId11" Type="http://schemas.openxmlformats.org/officeDocument/2006/relationships/slide" Target="slides/slide7.xml"/><Relationship Id="rId55" Type="http://schemas.openxmlformats.org/officeDocument/2006/relationships/font" Target="fonts/OpenSans-bold.fntdata"/><Relationship Id="rId10" Type="http://schemas.openxmlformats.org/officeDocument/2006/relationships/slide" Target="slides/slide6.xml"/><Relationship Id="rId54" Type="http://schemas.openxmlformats.org/officeDocument/2006/relationships/font" Target="fonts/OpenSans-regular.fntdata"/><Relationship Id="rId13" Type="http://schemas.openxmlformats.org/officeDocument/2006/relationships/slide" Target="slides/slide9.xml"/><Relationship Id="rId57" Type="http://schemas.openxmlformats.org/officeDocument/2006/relationships/font" Target="fonts/OpenSans-boldItalic.fntdata"/><Relationship Id="rId12" Type="http://schemas.openxmlformats.org/officeDocument/2006/relationships/slide" Target="slides/slide8.xml"/><Relationship Id="rId56" Type="http://schemas.openxmlformats.org/officeDocument/2006/relationships/font" Target="fonts/OpenSans-italic.fntdata"/><Relationship Id="rId15" Type="http://schemas.openxmlformats.org/officeDocument/2006/relationships/slide" Target="slides/slide11.xml"/><Relationship Id="rId59" Type="http://schemas.openxmlformats.org/officeDocument/2006/relationships/font" Target="fonts/InterTightSemiBold-bold.fntdata"/><Relationship Id="rId14" Type="http://schemas.openxmlformats.org/officeDocument/2006/relationships/slide" Target="slides/slide10.xml"/><Relationship Id="rId58" Type="http://schemas.openxmlformats.org/officeDocument/2006/relationships/font" Target="fonts/InterTightSemiBold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126a3be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126a3be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759828bc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759828bc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759d41864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759d41864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759d41864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759d41864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59828bcd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759828bcd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7620be106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7620be106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759d41864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759d41864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7620be106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7620be106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7620be106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7620be106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7620be106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7620be106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7620be106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7620be106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7620be106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7620be106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7620be106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7620be106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7620be106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7620be106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7620be106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7620be106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7620be106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37620be106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7620be106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7620be106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7620be106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7620be106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7620be106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7620be106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7620be106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37620be106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7620be106f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7620be106f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7620be106f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7620be106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7620be106f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7620be106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7620be106f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7620be106f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7620be106f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7620be106f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620be106f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7620be106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7620be106f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37620be106f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759d41864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759d41864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759828bcd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759828bcd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7620be106f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7620be106f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7620be106f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7620be106f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7620be106f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7620be106f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7620be106f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7620be106f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759d41864b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759d41864b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759d41864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759d41864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759d41864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759d41864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7620be106f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7620be106f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759d41864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759d41864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7620be106f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37620be106f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11fba705b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11fba705b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82575" y="180750"/>
            <a:ext cx="9014125" cy="4782000"/>
            <a:chOff x="182575" y="180750"/>
            <a:chExt cx="9014125" cy="4782000"/>
          </a:xfrm>
        </p:grpSpPr>
        <p:sp>
          <p:nvSpPr>
            <p:cNvPr id="11" name="Google Shape;11;p2"/>
            <p:cNvSpPr/>
            <p:nvPr/>
          </p:nvSpPr>
          <p:spPr>
            <a:xfrm>
              <a:off x="8084900" y="1784100"/>
              <a:ext cx="11118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856075" y="641475"/>
            <a:ext cx="7431900" cy="38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1058900" y="15609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058900" y="3173088"/>
            <a:ext cx="7026000" cy="409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"/>
          <p:cNvGrpSpPr/>
          <p:nvPr/>
        </p:nvGrpSpPr>
        <p:grpSpPr>
          <a:xfrm>
            <a:off x="-231525" y="180750"/>
            <a:ext cx="9126225" cy="4782000"/>
            <a:chOff x="-231525" y="180750"/>
            <a:chExt cx="9126225" cy="4782000"/>
          </a:xfrm>
        </p:grpSpPr>
        <p:sp>
          <p:nvSpPr>
            <p:cNvPr id="35" name="Google Shape;35;p3"/>
            <p:cNvSpPr/>
            <p:nvPr/>
          </p:nvSpPr>
          <p:spPr>
            <a:xfrm>
              <a:off x="-231525" y="3273350"/>
              <a:ext cx="1743900" cy="8475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38" name="Google Shape;38;p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3"/>
          <p:cNvSpPr/>
          <p:nvPr/>
        </p:nvSpPr>
        <p:spPr>
          <a:xfrm>
            <a:off x="1140075" y="1022650"/>
            <a:ext cx="68637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61" name="Google Shape;61;p4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64" name="Google Shape;64;p4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4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4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4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4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" name="Google Shape;80;p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715100" y="1451850"/>
            <a:ext cx="40467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5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86" name="Google Shape;86;p5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89" name="Google Shape;89;p5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5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14" name="Google Shape;114;p6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17" name="Google Shape;117;p6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6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6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38" name="Google Shape;138;p7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1" name="Google Shape;141;p7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7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7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7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7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7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7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63" name="Google Shape;163;p8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66" name="Google Shape;166;p8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8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8"/>
          <p:cNvSpPr/>
          <p:nvPr/>
        </p:nvSpPr>
        <p:spPr>
          <a:xfrm>
            <a:off x="1013650" y="1022650"/>
            <a:ext cx="71166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87" name="Google Shape;187;p9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90" name="Google Shape;190;p9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9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9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9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9"/>
          <p:cNvSpPr/>
          <p:nvPr/>
        </p:nvSpPr>
        <p:spPr>
          <a:xfrm>
            <a:off x="1589850" y="1022650"/>
            <a:ext cx="59643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2241400" y="13540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241504" y="2261775"/>
            <a:ext cx="4867800" cy="1258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12" name="Google Shape;212;p10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15" name="Google Shape;215;p10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0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10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0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0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" name="Google Shape;231;p10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-334100" y="-138700"/>
            <a:ext cx="9228800" cy="5101450"/>
            <a:chOff x="-334100" y="-138700"/>
            <a:chExt cx="9228800" cy="5101450"/>
          </a:xfrm>
        </p:grpSpPr>
        <p:sp>
          <p:nvSpPr>
            <p:cNvPr id="236" name="Google Shape;236;p11"/>
            <p:cNvSpPr/>
            <p:nvPr/>
          </p:nvSpPr>
          <p:spPr>
            <a:xfrm>
              <a:off x="-334100" y="-1387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39" name="Google Shape;239;p11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11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7" name="Google Shape;257;p11"/>
          <p:cNvSpPr txBox="1"/>
          <p:nvPr>
            <p:ph idx="1" type="subTitle"/>
          </p:nvPr>
        </p:nvSpPr>
        <p:spPr>
          <a:xfrm>
            <a:off x="1284000" y="3333375"/>
            <a:ext cx="6576000" cy="7134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3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63" name="Google Shape;263;p13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5" name="Google Shape;265;p1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66" name="Google Shape;266;p1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1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1535775" y="3419063"/>
            <a:ext cx="60726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13"/>
          <p:cNvSpPr txBox="1"/>
          <p:nvPr>
            <p:ph idx="1" type="subTitle"/>
          </p:nvPr>
        </p:nvSpPr>
        <p:spPr>
          <a:xfrm>
            <a:off x="1535775" y="1123425"/>
            <a:ext cx="60726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288" name="Google Shape;288;p14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91" name="Google Shape;291;p1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1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1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1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5100" y="1253525"/>
            <a:ext cx="7704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13" name="Google Shape;313;p15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16" name="Google Shape;316;p15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5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5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15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5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5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5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5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1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5"/>
          <p:cNvSpPr txBox="1"/>
          <p:nvPr>
            <p:ph idx="1" type="subTitle"/>
          </p:nvPr>
        </p:nvSpPr>
        <p:spPr>
          <a:xfrm>
            <a:off x="715100" y="1253525"/>
            <a:ext cx="61194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338" name="Google Shape;338;p16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41" name="Google Shape;341;p16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16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16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16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16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6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6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1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6"/>
          <p:cNvSpPr txBox="1"/>
          <p:nvPr>
            <p:ph idx="1" type="subTitle"/>
          </p:nvPr>
        </p:nvSpPr>
        <p:spPr>
          <a:xfrm>
            <a:off x="7200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9" name="Google Shape;359;p16"/>
          <p:cNvSpPr txBox="1"/>
          <p:nvPr>
            <p:ph idx="2" type="subTitle"/>
          </p:nvPr>
        </p:nvSpPr>
        <p:spPr>
          <a:xfrm>
            <a:off x="7200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6"/>
          <p:cNvSpPr txBox="1"/>
          <p:nvPr>
            <p:ph idx="3" type="subTitle"/>
          </p:nvPr>
        </p:nvSpPr>
        <p:spPr>
          <a:xfrm>
            <a:off x="34038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4" type="subTitle"/>
          </p:nvPr>
        </p:nvSpPr>
        <p:spPr>
          <a:xfrm>
            <a:off x="60876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6"/>
          <p:cNvSpPr txBox="1"/>
          <p:nvPr>
            <p:ph idx="5" type="subTitle"/>
          </p:nvPr>
        </p:nvSpPr>
        <p:spPr>
          <a:xfrm>
            <a:off x="34038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3" name="Google Shape;363;p16"/>
          <p:cNvSpPr txBox="1"/>
          <p:nvPr>
            <p:ph idx="6" type="subTitle"/>
          </p:nvPr>
        </p:nvSpPr>
        <p:spPr>
          <a:xfrm>
            <a:off x="60876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4" name="Google Shape;364;p16"/>
          <p:cNvSpPr txBox="1"/>
          <p:nvPr>
            <p:ph idx="7" type="subTitle"/>
          </p:nvPr>
        </p:nvSpPr>
        <p:spPr>
          <a:xfrm>
            <a:off x="7200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6"/>
          <p:cNvSpPr txBox="1"/>
          <p:nvPr>
            <p:ph idx="8" type="subTitle"/>
          </p:nvPr>
        </p:nvSpPr>
        <p:spPr>
          <a:xfrm>
            <a:off x="34038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6"/>
          <p:cNvSpPr txBox="1"/>
          <p:nvPr>
            <p:ph idx="9" type="subTitle"/>
          </p:nvPr>
        </p:nvSpPr>
        <p:spPr>
          <a:xfrm>
            <a:off x="60876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8" name="Google Shape;36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7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71" name="Google Shape;371;p17"/>
            <p:cNvSpPr/>
            <p:nvPr/>
          </p:nvSpPr>
          <p:spPr>
            <a:xfrm>
              <a:off x="8355625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74" name="Google Shape;374;p17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7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7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7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7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7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1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/>
          <p:nvPr>
            <p:ph idx="1" type="subTitle"/>
          </p:nvPr>
        </p:nvSpPr>
        <p:spPr>
          <a:xfrm>
            <a:off x="180282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2" name="Google Shape;392;p17"/>
          <p:cNvSpPr txBox="1"/>
          <p:nvPr>
            <p:ph idx="2" type="subTitle"/>
          </p:nvPr>
        </p:nvSpPr>
        <p:spPr>
          <a:xfrm>
            <a:off x="1802812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3" type="subTitle"/>
          </p:nvPr>
        </p:nvSpPr>
        <p:spPr>
          <a:xfrm>
            <a:off x="5714187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4" type="subTitle"/>
          </p:nvPr>
        </p:nvSpPr>
        <p:spPr>
          <a:xfrm>
            <a:off x="1802800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5" type="subTitle"/>
          </p:nvPr>
        </p:nvSpPr>
        <p:spPr>
          <a:xfrm>
            <a:off x="5714175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6" type="subTitle"/>
          </p:nvPr>
        </p:nvSpPr>
        <p:spPr>
          <a:xfrm>
            <a:off x="180282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7" type="subTitle"/>
          </p:nvPr>
        </p:nvSpPr>
        <p:spPr>
          <a:xfrm>
            <a:off x="571419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8" name="Google Shape;398;p17"/>
          <p:cNvSpPr txBox="1"/>
          <p:nvPr>
            <p:ph idx="8" type="subTitle"/>
          </p:nvPr>
        </p:nvSpPr>
        <p:spPr>
          <a:xfrm>
            <a:off x="571419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9" name="Google Shape;399;p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403" name="Google Shape;403;p18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06" name="Google Shape;406;p18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8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2" name="Google Shape;422;p18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72000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72000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hasCustomPrompt="1" type="title"/>
          </p:nvPr>
        </p:nvSpPr>
        <p:spPr>
          <a:xfrm>
            <a:off x="1617001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8"/>
          <p:cNvSpPr txBox="1"/>
          <p:nvPr>
            <p:ph idx="3" type="subTitle"/>
          </p:nvPr>
        </p:nvSpPr>
        <p:spPr>
          <a:xfrm>
            <a:off x="33595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7" name="Google Shape;427;p18"/>
          <p:cNvSpPr txBox="1"/>
          <p:nvPr>
            <p:ph idx="4" type="subTitle"/>
          </p:nvPr>
        </p:nvSpPr>
        <p:spPr>
          <a:xfrm>
            <a:off x="33595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8"/>
          <p:cNvSpPr txBox="1"/>
          <p:nvPr>
            <p:ph hasCustomPrompt="1" idx="5" type="title"/>
          </p:nvPr>
        </p:nvSpPr>
        <p:spPr>
          <a:xfrm>
            <a:off x="4256539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9" name="Google Shape;429;p18"/>
          <p:cNvSpPr txBox="1"/>
          <p:nvPr>
            <p:ph idx="6" type="subTitle"/>
          </p:nvPr>
        </p:nvSpPr>
        <p:spPr>
          <a:xfrm>
            <a:off x="59990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7" type="subTitle"/>
          </p:nvPr>
        </p:nvSpPr>
        <p:spPr>
          <a:xfrm>
            <a:off x="59990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8"/>
          <p:cNvSpPr txBox="1"/>
          <p:nvPr>
            <p:ph hasCustomPrompt="1" idx="8" type="title"/>
          </p:nvPr>
        </p:nvSpPr>
        <p:spPr>
          <a:xfrm>
            <a:off x="6896076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2" name="Google Shape;432;p18"/>
          <p:cNvSpPr txBox="1"/>
          <p:nvPr>
            <p:ph idx="9" type="subTitle"/>
          </p:nvPr>
        </p:nvSpPr>
        <p:spPr>
          <a:xfrm>
            <a:off x="20398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13" type="subTitle"/>
          </p:nvPr>
        </p:nvSpPr>
        <p:spPr>
          <a:xfrm>
            <a:off x="20398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8"/>
          <p:cNvSpPr txBox="1"/>
          <p:nvPr>
            <p:ph hasCustomPrompt="1" idx="14" type="title"/>
          </p:nvPr>
        </p:nvSpPr>
        <p:spPr>
          <a:xfrm>
            <a:off x="2936770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5" name="Google Shape;435;p18"/>
          <p:cNvSpPr txBox="1"/>
          <p:nvPr>
            <p:ph idx="15" type="subTitle"/>
          </p:nvPr>
        </p:nvSpPr>
        <p:spPr>
          <a:xfrm>
            <a:off x="46793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18"/>
          <p:cNvSpPr txBox="1"/>
          <p:nvPr>
            <p:ph idx="16" type="subTitle"/>
          </p:nvPr>
        </p:nvSpPr>
        <p:spPr>
          <a:xfrm>
            <a:off x="46793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hasCustomPrompt="1" idx="17" type="title"/>
          </p:nvPr>
        </p:nvSpPr>
        <p:spPr>
          <a:xfrm>
            <a:off x="5576308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8" name="Google Shape;438;p18"/>
          <p:cNvSpPr txBox="1"/>
          <p:nvPr>
            <p:ph idx="18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9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442" name="Google Shape;442;p19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4" name="Google Shape;444;p19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45" name="Google Shape;445;p19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19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9"/>
          <p:cNvSpPr txBox="1"/>
          <p:nvPr>
            <p:ph idx="1" type="subTitle"/>
          </p:nvPr>
        </p:nvSpPr>
        <p:spPr>
          <a:xfrm>
            <a:off x="717550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" type="subTitle"/>
          </p:nvPr>
        </p:nvSpPr>
        <p:spPr>
          <a:xfrm>
            <a:off x="3375568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3" type="subTitle"/>
          </p:nvPr>
        </p:nvSpPr>
        <p:spPr>
          <a:xfrm>
            <a:off x="6033585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4" type="subTitle"/>
          </p:nvPr>
        </p:nvSpPr>
        <p:spPr>
          <a:xfrm>
            <a:off x="71755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5" type="subTitle"/>
          </p:nvPr>
        </p:nvSpPr>
        <p:spPr>
          <a:xfrm>
            <a:off x="3375585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6" type="subTitle"/>
          </p:nvPr>
        </p:nvSpPr>
        <p:spPr>
          <a:xfrm>
            <a:off x="603362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7" type="subTitle"/>
          </p:nvPr>
        </p:nvSpPr>
        <p:spPr>
          <a:xfrm>
            <a:off x="717550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8" type="subTitle"/>
          </p:nvPr>
        </p:nvSpPr>
        <p:spPr>
          <a:xfrm>
            <a:off x="3375568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0" name="Google Shape;470;p19"/>
          <p:cNvSpPr txBox="1"/>
          <p:nvPr>
            <p:ph idx="9" type="subTitle"/>
          </p:nvPr>
        </p:nvSpPr>
        <p:spPr>
          <a:xfrm>
            <a:off x="6033585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1" name="Google Shape;471;p19"/>
          <p:cNvSpPr txBox="1"/>
          <p:nvPr>
            <p:ph idx="13" type="subTitle"/>
          </p:nvPr>
        </p:nvSpPr>
        <p:spPr>
          <a:xfrm>
            <a:off x="71755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2" name="Google Shape;472;p19"/>
          <p:cNvSpPr txBox="1"/>
          <p:nvPr>
            <p:ph idx="14" type="subTitle"/>
          </p:nvPr>
        </p:nvSpPr>
        <p:spPr>
          <a:xfrm>
            <a:off x="3375585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3" name="Google Shape;473;p19"/>
          <p:cNvSpPr txBox="1"/>
          <p:nvPr>
            <p:ph idx="15" type="subTitle"/>
          </p:nvPr>
        </p:nvSpPr>
        <p:spPr>
          <a:xfrm>
            <a:off x="603362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20"/>
          <p:cNvGrpSpPr/>
          <p:nvPr/>
        </p:nvGrpSpPr>
        <p:grpSpPr>
          <a:xfrm>
            <a:off x="182575" y="180750"/>
            <a:ext cx="9070025" cy="5129650"/>
            <a:chOff x="182575" y="180750"/>
            <a:chExt cx="9070025" cy="5129650"/>
          </a:xfrm>
        </p:grpSpPr>
        <p:sp>
          <p:nvSpPr>
            <p:cNvPr id="478" name="Google Shape;478;p20"/>
            <p:cNvSpPr/>
            <p:nvPr/>
          </p:nvSpPr>
          <p:spPr>
            <a:xfrm>
              <a:off x="8302800" y="4231300"/>
              <a:ext cx="949800" cy="1079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81" name="Google Shape;481;p20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0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0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0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2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7" name="Google Shape;497;p20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8502150" y="409500"/>
            <a:ext cx="841200" cy="874200"/>
          </a:xfrm>
          <a:prstGeom prst="rect">
            <a:avLst/>
          </a:prstGeom>
          <a:solidFill>
            <a:srgbClr val="073763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503" name="Google Shape;503;p21"/>
            <p:cNvSpPr/>
            <p:nvPr/>
          </p:nvSpPr>
          <p:spPr>
            <a:xfrm>
              <a:off x="8355625" y="4002950"/>
              <a:ext cx="841200" cy="73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506" name="Google Shape;506;p21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1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rot="10800000">
              <a:off x="-108750" y="438100"/>
              <a:ext cx="876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1"/>
            <p:cNvCxnSpPr/>
            <p:nvPr/>
          </p:nvCxnSpPr>
          <p:spPr>
            <a:xfrm rot="10800000">
              <a:off x="-108775" y="438100"/>
              <a:ext cx="8554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21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2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27" name="Google Shape;527;p22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9" name="Google Shape;529;p2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30" name="Google Shape;530;p2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2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6" name="Google Shape;546;p22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22"/>
          <p:cNvSpPr txBox="1"/>
          <p:nvPr>
            <p:ph type="title"/>
          </p:nvPr>
        </p:nvSpPr>
        <p:spPr>
          <a:xfrm>
            <a:off x="2099142" y="5400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099100" y="1502551"/>
            <a:ext cx="49458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3"/>
          <p:cNvGrpSpPr/>
          <p:nvPr/>
        </p:nvGrpSpPr>
        <p:grpSpPr>
          <a:xfrm>
            <a:off x="269525" y="180750"/>
            <a:ext cx="8950625" cy="4782000"/>
            <a:chOff x="269525" y="180750"/>
            <a:chExt cx="8950625" cy="4782000"/>
          </a:xfrm>
        </p:grpSpPr>
        <p:sp>
          <p:nvSpPr>
            <p:cNvPr id="553" name="Google Shape;553;p23"/>
            <p:cNvSpPr/>
            <p:nvPr/>
          </p:nvSpPr>
          <p:spPr>
            <a:xfrm>
              <a:off x="763765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695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5" name="Google Shape;555;p2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56" name="Google Shape;556;p2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Google Shape;572;p2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76" name="Google Shape;576;p24"/>
            <p:cNvSpPr/>
            <p:nvPr/>
          </p:nvSpPr>
          <p:spPr>
            <a:xfrm>
              <a:off x="-334100" y="339735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79" name="Google Shape;579;p2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5" name="Google Shape;595;p24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gif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ctrTitle"/>
          </p:nvPr>
        </p:nvSpPr>
        <p:spPr>
          <a:xfrm>
            <a:off x="1058900" y="9513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Sequential Circuits III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Counters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602" name="Google Shape;602;p25"/>
          <p:cNvSpPr txBox="1"/>
          <p:nvPr>
            <p:ph idx="1" type="subTitle"/>
          </p:nvPr>
        </p:nvSpPr>
        <p:spPr>
          <a:xfrm>
            <a:off x="1058900" y="2715888"/>
            <a:ext cx="7026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CSE 4205: Digital Logic 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2418800" y="3395250"/>
            <a:ext cx="4306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Aashnan Rahman</a:t>
            </a:r>
            <a:endParaRPr b="1"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Junior Lecturer</a:t>
            </a:r>
            <a:endParaRPr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Department of Computer Science and Engineering (CSE)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Islamic University of Technology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Introduction</a:t>
            </a:r>
            <a:endParaRPr sz="3800"/>
          </a:p>
        </p:txBody>
      </p:sp>
      <p:sp>
        <p:nvSpPr>
          <p:cNvPr id="609" name="Google Shape;609;p2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2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1" name="Google Shape;611;p26"/>
          <p:cNvCxnSpPr>
            <a:stCxn id="60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cxnSp>
        <p:nvCxnSpPr>
          <p:cNvPr id="618" name="Google Shape;618;p27"/>
          <p:cNvCxnSpPr>
            <a:stCxn id="61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27"/>
          <p:cNvCxnSpPr>
            <a:endCxn id="61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" name="Google Shape;62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2" name="Google Shape;622;p27"/>
          <p:cNvSpPr txBox="1"/>
          <p:nvPr/>
        </p:nvSpPr>
        <p:spPr>
          <a:xfrm>
            <a:off x="464250" y="1230972"/>
            <a:ext cx="8215200" cy="3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550" lIns="67100" spcFirstLastPara="1" rIns="67100" wrap="square" tIns="33550">
            <a:normAutofit fontScale="77500" lnSpcReduction="20000"/>
          </a:bodyPr>
          <a:lstStyle/>
          <a:p>
            <a:pPr indent="-221679" lvl="0" marL="16776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The simplest type of </a:t>
            </a:r>
            <a:r>
              <a:rPr b="1" lang="en" sz="2800">
                <a:latin typeface="Calibri"/>
                <a:ea typeface="Calibri"/>
                <a:cs typeface="Calibri"/>
                <a:sym typeface="Calibri"/>
              </a:rPr>
              <a:t>MSI 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sequential circuit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82309" lvl="1" marL="5033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Made of one or more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flip flops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(building block of sequential circuit)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-221679" lvl="0" marL="16776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800">
                <a:latin typeface="Calibri"/>
                <a:ea typeface="Calibri"/>
                <a:cs typeface="Calibri"/>
                <a:sym typeface="Calibri"/>
              </a:rPr>
              <a:t>Definition: 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Basically, a counter changes its state in a prescribed sequence when input pulses are received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82309" lvl="1" marL="5033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Driven by a clock signal (common input pulse)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1679" lvl="0" marL="16776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Used to count number of pulses/cycles, to measure time and frequency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1679" lvl="0" marL="16776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Basically, we use </a:t>
            </a:r>
            <a:r>
              <a:rPr b="1" lang="en" sz="2800">
                <a:latin typeface="Calibri"/>
                <a:ea typeface="Calibri"/>
                <a:cs typeface="Calibri"/>
                <a:sym typeface="Calibri"/>
              </a:rPr>
              <a:t>T flip flop 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which has the toggling feature (input, T = 1) best suited for counting operation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82309" lvl="1" marL="5033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J-K flip flop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can be used with the toggle property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82309" lvl="1" marL="5033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S-R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D flip flops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also could be used with more complex designs </a:t>
            </a:r>
            <a:endParaRPr sz="2055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8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</a:t>
            </a:r>
            <a:endParaRPr/>
          </a:p>
        </p:txBody>
      </p:sp>
      <p:cxnSp>
        <p:nvCxnSpPr>
          <p:cNvPr id="628" name="Google Shape;628;p28"/>
          <p:cNvCxnSpPr>
            <a:stCxn id="62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28"/>
          <p:cNvCxnSpPr>
            <a:endCxn id="62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2" name="Google Shape;632;p28"/>
          <p:cNvSpPr txBox="1"/>
          <p:nvPr/>
        </p:nvSpPr>
        <p:spPr>
          <a:xfrm>
            <a:off x="533400" y="1292225"/>
            <a:ext cx="10836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Broadly categorized as: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Asynchronous and synchronous counter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and multimode counter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Modulus counter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of them has further classifications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9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Types</a:t>
            </a:r>
            <a:endParaRPr sz="3800"/>
          </a:p>
        </p:txBody>
      </p:sp>
      <p:sp>
        <p:nvSpPr>
          <p:cNvPr id="638" name="Google Shape;638;p29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39" name="Google Shape;639;p29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0" name="Google Shape;640;p29"/>
          <p:cNvCxnSpPr>
            <a:stCxn id="638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1" name="Google Shape;641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0"/>
          <p:cNvSpPr txBox="1"/>
          <p:nvPr>
            <p:ph type="title"/>
          </p:nvPr>
        </p:nvSpPr>
        <p:spPr>
          <a:xfrm>
            <a:off x="562700" y="589950"/>
            <a:ext cx="7799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Synchronous and Asynchronous Counter</a:t>
            </a:r>
            <a:endParaRPr/>
          </a:p>
        </p:txBody>
      </p:sp>
      <p:cxnSp>
        <p:nvCxnSpPr>
          <p:cNvPr id="647" name="Google Shape;647;p30"/>
          <p:cNvCxnSpPr>
            <a:stCxn id="64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30"/>
          <p:cNvCxnSpPr>
            <a:endCxn id="64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0" name="Google Shape;65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30"/>
          <p:cNvSpPr txBox="1"/>
          <p:nvPr/>
        </p:nvSpPr>
        <p:spPr>
          <a:xfrm>
            <a:off x="457200" y="1104314"/>
            <a:ext cx="10836600" cy="46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68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Asynchronous Counter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and straightforward </a:t>
            </a: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operation and construction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requires minimum amount of hardware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500"/>
              <a:buChar char="•"/>
            </a:pPr>
            <a:r>
              <a:rPr lang="en" sz="15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Each flip flop is triggered by the previous flip flop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So, the speed of this type of counter is limited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Settling time of the counter is the cumulative sum of individual settling times of flip flops 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Also known as </a:t>
            </a:r>
            <a:r>
              <a:rPr b="1" lang="e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ripple </a:t>
            </a: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serial</a:t>
            </a: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counter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Synchronous Counter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500"/>
              <a:buChar char="•"/>
            </a:pPr>
            <a:r>
              <a:rPr lang="en" sz="15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Clock pulses are simultaneously applied to all flip flops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So, settling time is very less than settling time of asynchronous counter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equal to the settling time of a single flip flop 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increase the speed of the counter, </a:t>
            </a: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sophisticated hardware </a:t>
            </a: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required 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Also known as </a:t>
            </a:r>
            <a:r>
              <a:rPr b="1" lang="e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 </a:t>
            </a: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counter 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1"/>
          <p:cNvSpPr txBox="1"/>
          <p:nvPr>
            <p:ph type="title"/>
          </p:nvPr>
        </p:nvSpPr>
        <p:spPr>
          <a:xfrm>
            <a:off x="562700" y="589950"/>
            <a:ext cx="7799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and Multimode Counter</a:t>
            </a:r>
            <a:endParaRPr/>
          </a:p>
        </p:txBody>
      </p:sp>
      <p:cxnSp>
        <p:nvCxnSpPr>
          <p:cNvPr id="657" name="Google Shape;657;p31"/>
          <p:cNvCxnSpPr>
            <a:stCxn id="65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31"/>
          <p:cNvCxnSpPr>
            <a:endCxn id="65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0" name="Google Shape;660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1" name="Google Shape;661;p31"/>
          <p:cNvSpPr txBox="1"/>
          <p:nvPr/>
        </p:nvSpPr>
        <p:spPr>
          <a:xfrm>
            <a:off x="533400" y="1216025"/>
            <a:ext cx="10836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b="1" lang="en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Modes of counting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Count-Up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of the counter advances by one with each clock pulse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Count-Down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of the counter reverses by one with each clock pulse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b="1" lang="en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Single-mode Counter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Either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count-up mode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count-down mode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in operation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b="1" lang="en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Multimode Counter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Both modes are in operation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2"/>
          <p:cNvSpPr txBox="1"/>
          <p:nvPr>
            <p:ph type="title"/>
          </p:nvPr>
        </p:nvSpPr>
        <p:spPr>
          <a:xfrm>
            <a:off x="562700" y="589950"/>
            <a:ext cx="54465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Modulus Counter</a:t>
            </a:r>
            <a:endParaRPr/>
          </a:p>
        </p:txBody>
      </p:sp>
      <p:cxnSp>
        <p:nvCxnSpPr>
          <p:cNvPr id="667" name="Google Shape;667;p32"/>
          <p:cNvCxnSpPr>
            <a:stCxn id="66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32"/>
          <p:cNvCxnSpPr>
            <a:endCxn id="66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0" name="Google Shape;67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1" name="Google Shape;671;p32"/>
          <p:cNvSpPr txBox="1"/>
          <p:nvPr/>
        </p:nvSpPr>
        <p:spPr>
          <a:xfrm>
            <a:off x="381000" y="1139825"/>
            <a:ext cx="8283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lang="en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defined by the number of states it is capable of counting.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define all states, if </a:t>
            </a:r>
            <a:r>
              <a:rPr b="1" i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 are required to represent each state, in total 2</a:t>
            </a:r>
            <a:r>
              <a:rPr baseline="30000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(=N) states are possible (maximum count)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b="1" lang="en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Types: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Mod-N or Mod-2</a:t>
            </a:r>
            <a:r>
              <a:rPr b="1" baseline="30000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can count to 2</a:t>
            </a:r>
            <a:r>
              <a:rPr baseline="30000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(=N)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we start counting with 0, it will end at (N-1)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b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Mod&lt;N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counts less than the maximum count (N)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3"/>
          <p:cNvSpPr txBox="1"/>
          <p:nvPr>
            <p:ph type="title"/>
          </p:nvPr>
        </p:nvSpPr>
        <p:spPr>
          <a:xfrm>
            <a:off x="562700" y="589950"/>
            <a:ext cx="54465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Asynchronous Counter</a:t>
            </a:r>
            <a:endParaRPr/>
          </a:p>
        </p:txBody>
      </p:sp>
      <p:cxnSp>
        <p:nvCxnSpPr>
          <p:cNvPr id="677" name="Google Shape;677;p33"/>
          <p:cNvCxnSpPr>
            <a:stCxn id="67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33"/>
          <p:cNvCxnSpPr>
            <a:endCxn id="67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33"/>
          <p:cNvSpPr txBox="1"/>
          <p:nvPr/>
        </p:nvSpPr>
        <p:spPr>
          <a:xfrm>
            <a:off x="381000" y="1139825"/>
            <a:ext cx="81759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0185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the flip flops are not driven by same clock pulse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500"/>
              <a:buChar char="•"/>
            </a:pPr>
            <a:r>
              <a:rPr b="1" lang="en" sz="15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Rather the clock pulse is applied to first (LSB position) flip flop 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423" lvl="3" marL="16002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" sz="13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the flip flop is synchronized with clock signal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Successive flop flops are triggered by the output of the previous flip flop 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423" lvl="3" marL="16002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the state changes from Q=1 to Q=0 </a:t>
            </a:r>
            <a:r>
              <a:rPr b="1"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negative edge triggered clock pulse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Cascading fashion  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0185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has cumulative settling time of all flip flops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limits the speed of the counter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delay caused by the </a:t>
            </a: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propagation delay </a:t>
            </a: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through the flip flops 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0185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causes the ripple through effect to change the states of the flip flops successively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 propagates through this counter in ripple fashion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 called as </a:t>
            </a:r>
            <a:r>
              <a:rPr b="1" lang="e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ripple </a:t>
            </a:r>
            <a:r>
              <a:rPr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counter 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4"/>
          <p:cNvSpPr txBox="1"/>
          <p:nvPr>
            <p:ph type="title"/>
          </p:nvPr>
        </p:nvSpPr>
        <p:spPr>
          <a:xfrm>
            <a:off x="562700" y="589950"/>
            <a:ext cx="64131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bit Asynchronous Up Counter</a:t>
            </a:r>
            <a:endParaRPr/>
          </a:p>
        </p:txBody>
      </p:sp>
      <p:cxnSp>
        <p:nvCxnSpPr>
          <p:cNvPr id="687" name="Google Shape;687;p34"/>
          <p:cNvCxnSpPr>
            <a:stCxn id="68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34"/>
          <p:cNvCxnSpPr>
            <a:endCxn id="68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0" name="Google Shape;69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1" name="Google Shape;691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426" y="1466509"/>
            <a:ext cx="5685900" cy="29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5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bit Asynchronous Up Counter </a:t>
            </a:r>
            <a:r>
              <a:rPr lang="en" sz="1900"/>
              <a:t>(Timing Diagram)</a:t>
            </a:r>
            <a:endParaRPr sz="1900"/>
          </a:p>
        </p:txBody>
      </p:sp>
      <p:cxnSp>
        <p:nvCxnSpPr>
          <p:cNvPr id="697" name="Google Shape;697;p35"/>
          <p:cNvCxnSpPr>
            <a:stCxn id="69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35"/>
          <p:cNvCxnSpPr>
            <a:endCxn id="69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0" name="Google Shape;700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1" name="Google Shape;701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074" y="1184600"/>
            <a:ext cx="6832800" cy="344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6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bit Asynchronous Up Counter </a:t>
            </a:r>
            <a:r>
              <a:rPr lang="en" sz="1900"/>
              <a:t>(Count Sequence)</a:t>
            </a:r>
            <a:endParaRPr sz="1900"/>
          </a:p>
        </p:txBody>
      </p:sp>
      <p:cxnSp>
        <p:nvCxnSpPr>
          <p:cNvPr id="707" name="Google Shape;707;p36"/>
          <p:cNvCxnSpPr>
            <a:stCxn id="70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36"/>
          <p:cNvCxnSpPr>
            <a:endCxn id="70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1" name="Google Shape;711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5449" y="1316901"/>
            <a:ext cx="5176200" cy="317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7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bit Asynchronous Down Counter </a:t>
            </a:r>
            <a:endParaRPr sz="1900"/>
          </a:p>
        </p:txBody>
      </p:sp>
      <p:cxnSp>
        <p:nvCxnSpPr>
          <p:cNvPr id="717" name="Google Shape;717;p37"/>
          <p:cNvCxnSpPr>
            <a:stCxn id="71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37"/>
          <p:cNvCxnSpPr>
            <a:endCxn id="71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0" name="Google Shape;720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1" name="Google Shape;721;p37"/>
          <p:cNvSpPr txBox="1"/>
          <p:nvPr/>
        </p:nvSpPr>
        <p:spPr>
          <a:xfrm>
            <a:off x="502026" y="1109200"/>
            <a:ext cx="8418000" cy="3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00" lIns="71025" spcFirstLastPara="1" rIns="71025" wrap="square" tIns="35500">
            <a:normAutofit lnSpcReduction="10000"/>
          </a:bodyPr>
          <a:lstStyle/>
          <a:p>
            <a:pPr indent="-177577" lvl="0" marL="17757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Char char="•"/>
            </a:pPr>
            <a:r>
              <a:rPr lang="en" sz="21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Counts downward starting from a maximum count of (2</a:t>
            </a:r>
            <a:r>
              <a:rPr baseline="30000" lang="en" sz="21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21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-1) to 0</a:t>
            </a:r>
            <a:endParaRPr sz="217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461" lvl="0" marL="177578" rtl="0" algn="l">
              <a:lnSpc>
                <a:spcPct val="90000"/>
              </a:lnSpc>
              <a:spcBef>
                <a:spcPts val="777"/>
              </a:spcBef>
              <a:spcAft>
                <a:spcPts val="0"/>
              </a:spcAft>
              <a:buNone/>
            </a:pPr>
            <a:r>
              <a:t/>
            </a:r>
            <a:endParaRPr sz="217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461" lvl="0" marL="177578" rtl="0" algn="l">
              <a:lnSpc>
                <a:spcPct val="90000"/>
              </a:lnSpc>
              <a:spcBef>
                <a:spcPts val="777"/>
              </a:spcBef>
              <a:spcAft>
                <a:spcPts val="0"/>
              </a:spcAft>
              <a:buNone/>
            </a:pPr>
            <a:r>
              <a:t/>
            </a:r>
            <a:endParaRPr sz="217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461" lvl="0" marL="177578" rtl="0" algn="l">
              <a:lnSpc>
                <a:spcPct val="90000"/>
              </a:lnSpc>
              <a:spcBef>
                <a:spcPts val="777"/>
              </a:spcBef>
              <a:spcAft>
                <a:spcPts val="0"/>
              </a:spcAft>
              <a:buNone/>
            </a:pPr>
            <a:r>
              <a:t/>
            </a:r>
            <a:endParaRPr sz="217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461" lvl="0" marL="177578" rtl="0" algn="l">
              <a:lnSpc>
                <a:spcPct val="90000"/>
              </a:lnSpc>
              <a:spcBef>
                <a:spcPts val="777"/>
              </a:spcBef>
              <a:spcAft>
                <a:spcPts val="0"/>
              </a:spcAft>
              <a:buNone/>
            </a:pPr>
            <a:r>
              <a:t/>
            </a:r>
            <a:endParaRPr sz="217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461" lvl="0" marL="177578" rtl="0" algn="l">
              <a:lnSpc>
                <a:spcPct val="90000"/>
              </a:lnSpc>
              <a:spcBef>
                <a:spcPts val="777"/>
              </a:spcBef>
              <a:spcAft>
                <a:spcPts val="0"/>
              </a:spcAft>
              <a:buNone/>
            </a:pPr>
            <a:r>
              <a:t/>
            </a:r>
            <a:endParaRPr sz="217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461" lvl="0" marL="177578" rtl="0" algn="l">
              <a:lnSpc>
                <a:spcPct val="90000"/>
              </a:lnSpc>
              <a:spcBef>
                <a:spcPts val="777"/>
              </a:spcBef>
              <a:spcAft>
                <a:spcPts val="0"/>
              </a:spcAft>
              <a:buNone/>
            </a:pPr>
            <a:r>
              <a:t/>
            </a:r>
            <a:endParaRPr sz="217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461" lvl="0" marL="177578" rtl="0" algn="l">
              <a:lnSpc>
                <a:spcPct val="90000"/>
              </a:lnSpc>
              <a:spcBef>
                <a:spcPts val="777"/>
              </a:spcBef>
              <a:spcAft>
                <a:spcPts val="0"/>
              </a:spcAft>
              <a:buNone/>
            </a:pPr>
            <a:r>
              <a:t/>
            </a:r>
            <a:endParaRPr sz="217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577" lvl="0" marL="177578" rtl="0" algn="l">
              <a:lnSpc>
                <a:spcPct val="90000"/>
              </a:lnSpc>
              <a:spcBef>
                <a:spcPts val="777"/>
              </a:spcBef>
              <a:spcAft>
                <a:spcPts val="0"/>
              </a:spcAft>
              <a:buClr>
                <a:srgbClr val="000000"/>
              </a:buClr>
              <a:buSzPts val="2175"/>
              <a:buChar char="•"/>
            </a:pPr>
            <a:r>
              <a:rPr b="1" lang="en" sz="21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Application: </a:t>
            </a:r>
            <a:r>
              <a:rPr lang="en" sz="21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Count-down timer</a:t>
            </a:r>
            <a:endParaRPr sz="217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577" lvl="0" marL="177578" rtl="0" algn="l">
              <a:lnSpc>
                <a:spcPct val="90000"/>
              </a:lnSpc>
              <a:spcBef>
                <a:spcPts val="777"/>
              </a:spcBef>
              <a:spcAft>
                <a:spcPts val="0"/>
              </a:spcAft>
              <a:buClr>
                <a:srgbClr val="000000"/>
              </a:buClr>
              <a:buSzPts val="2175"/>
              <a:buChar char="•"/>
            </a:pPr>
            <a:r>
              <a:rPr lang="en" sz="21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are </a:t>
            </a:r>
            <a:r>
              <a:rPr b="1" lang="en" sz="21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different ways </a:t>
            </a:r>
            <a:r>
              <a:rPr lang="en" sz="21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implement…</a:t>
            </a:r>
            <a:endParaRPr sz="217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2" name="Google Shape;72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3892" y="1510571"/>
            <a:ext cx="4604831" cy="2411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8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bit Asynchronous Down Counter (Way I)</a:t>
            </a:r>
            <a:endParaRPr sz="1900"/>
          </a:p>
        </p:txBody>
      </p:sp>
      <p:cxnSp>
        <p:nvCxnSpPr>
          <p:cNvPr id="728" name="Google Shape;728;p38"/>
          <p:cNvCxnSpPr>
            <a:stCxn id="72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38"/>
          <p:cNvCxnSpPr>
            <a:endCxn id="72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" name="Google Shape;731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2" name="Google Shape;732;p38"/>
          <p:cNvSpPr txBox="1"/>
          <p:nvPr/>
        </p:nvSpPr>
        <p:spPr>
          <a:xfrm>
            <a:off x="733800" y="1202000"/>
            <a:ext cx="7676400" cy="30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2375" lIns="64750" spcFirstLastPara="1" rIns="64750" wrap="square" tIns="32375">
            <a:normAutofit/>
          </a:bodyPr>
          <a:lstStyle/>
          <a:p>
            <a:pPr indent="-161937" lvl="0" marL="16193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3"/>
              <a:buChar char="•"/>
            </a:pPr>
            <a:r>
              <a:rPr lang="en" sz="198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same circuit as previous, only outputs of the counter may be taken from the </a:t>
            </a:r>
            <a:r>
              <a:rPr b="1" lang="en" sz="198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complement outputs (Q’) </a:t>
            </a:r>
            <a:r>
              <a:rPr lang="en" sz="198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the flip-flops </a:t>
            </a:r>
            <a:endParaRPr sz="198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936" lvl="1" marL="485808" rtl="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Rather than from the normal outputs (Q) for each flop-flops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937" lvl="0" marL="161936" rtl="0" algn="l">
              <a:lnSpc>
                <a:spcPct val="90000"/>
              </a:lnSpc>
              <a:spcBef>
                <a:spcPts val="708"/>
              </a:spcBef>
              <a:spcAft>
                <a:spcPts val="0"/>
              </a:spcAft>
              <a:buClr>
                <a:srgbClr val="000000"/>
              </a:buClr>
              <a:buSzPts val="1983"/>
              <a:buChar char="•"/>
            </a:pPr>
            <a:r>
              <a:rPr b="1" lang="en" sz="198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Starting count sequence </a:t>
            </a:r>
            <a:r>
              <a:rPr lang="en" sz="198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111</a:t>
            </a:r>
            <a:endParaRPr sz="198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936" lvl="1" marL="485808" rtl="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b="1" lang="e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each negative edge of the clock pulse 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count sequence will decrease  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3" name="Google Shape;73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9217" y="2887342"/>
            <a:ext cx="5325638" cy="1782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9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bit Asynchronous Down Counter (Way I)</a:t>
            </a:r>
            <a:endParaRPr sz="1900"/>
          </a:p>
        </p:txBody>
      </p:sp>
      <p:cxnSp>
        <p:nvCxnSpPr>
          <p:cNvPr id="739" name="Google Shape;739;p39"/>
          <p:cNvCxnSpPr>
            <a:stCxn id="74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39"/>
          <p:cNvCxnSpPr>
            <a:endCxn id="74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2" name="Google Shape;742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3" name="Google Shape;74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564" y="1125800"/>
            <a:ext cx="5094875" cy="360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0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bit Asynchronous Down Counter (Way 2)</a:t>
            </a:r>
            <a:endParaRPr sz="1900"/>
          </a:p>
        </p:txBody>
      </p:sp>
      <p:cxnSp>
        <p:nvCxnSpPr>
          <p:cNvPr id="749" name="Google Shape;749;p40"/>
          <p:cNvCxnSpPr>
            <a:stCxn id="75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1" name="Google Shape;751;p40"/>
          <p:cNvCxnSpPr>
            <a:endCxn id="75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2" name="Google Shape;752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3" name="Google Shape;753;p40"/>
          <p:cNvSpPr txBox="1"/>
          <p:nvPr/>
        </p:nvSpPr>
        <p:spPr>
          <a:xfrm>
            <a:off x="810150" y="1267223"/>
            <a:ext cx="7523700" cy="29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850" lIns="61700" spcFirstLastPara="1" rIns="61700" wrap="square" tIns="30850">
            <a:normAutofit/>
          </a:bodyPr>
          <a:lstStyle/>
          <a:p>
            <a:pPr indent="-154277" lvl="0" marL="15427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0"/>
              <a:buChar char="•"/>
            </a:pPr>
            <a:r>
              <a:rPr lang="en" sz="18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circuit will be slightly modified so that the </a:t>
            </a:r>
            <a:r>
              <a:rPr b="1" lang="en" sz="189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clock inputs of successive flip-flops will be driven by the Q’ output </a:t>
            </a:r>
            <a:r>
              <a:rPr lang="en" sz="18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preceding stages (flip-flops)</a:t>
            </a:r>
            <a:endParaRPr sz="18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278" lvl="1" marL="462832" rtl="0" algn="l">
              <a:lnSpc>
                <a:spcPct val="90000"/>
              </a:lnSpc>
              <a:spcBef>
                <a:spcPts val="337"/>
              </a:spcBef>
              <a:spcAft>
                <a:spcPts val="0"/>
              </a:spcAft>
              <a:buClr>
                <a:srgbClr val="000000"/>
              </a:buClr>
              <a:buSzPts val="1620"/>
              <a:buChar char="•"/>
            </a:pPr>
            <a:r>
              <a:rPr lang="en" sz="16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Rather than the Q outputs of previous flop-flops</a:t>
            </a:r>
            <a:endParaRPr sz="16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277" lvl="0" marL="154277" rtl="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1890"/>
              <a:buChar char="•"/>
            </a:pPr>
            <a:r>
              <a:rPr b="1" lang="en" sz="18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Starting count sequence </a:t>
            </a:r>
            <a:r>
              <a:rPr lang="en" sz="18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000</a:t>
            </a:r>
            <a:endParaRPr sz="18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278" lvl="1" marL="462832" rtl="0" algn="l">
              <a:lnSpc>
                <a:spcPct val="90000"/>
              </a:lnSpc>
              <a:spcBef>
                <a:spcPts val="337"/>
              </a:spcBef>
              <a:spcAft>
                <a:spcPts val="0"/>
              </a:spcAft>
              <a:buClr>
                <a:srgbClr val="000000"/>
              </a:buClr>
              <a:buSzPts val="1620"/>
              <a:buChar char="•"/>
            </a:pPr>
            <a:r>
              <a:rPr lang="en" sz="16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first </a:t>
            </a:r>
            <a:r>
              <a:rPr b="1" lang="en" sz="162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negative edge of the clock pulse</a:t>
            </a:r>
            <a:r>
              <a:rPr lang="en" sz="16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the counter content changes to 111 and decrease accordingly </a:t>
            </a:r>
            <a:endParaRPr sz="16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4" name="Google Shape;75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0055" y="2978758"/>
            <a:ext cx="4536944" cy="1631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1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bit Asynchronous Down Counter (Way 2)</a:t>
            </a:r>
            <a:endParaRPr sz="1900"/>
          </a:p>
        </p:txBody>
      </p:sp>
      <p:cxnSp>
        <p:nvCxnSpPr>
          <p:cNvPr id="760" name="Google Shape;760;p41"/>
          <p:cNvCxnSpPr>
            <a:stCxn id="76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41"/>
          <p:cNvCxnSpPr>
            <a:endCxn id="76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3" name="Google Shape;763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4" name="Google Shape;76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9187" y="1242600"/>
            <a:ext cx="4825625" cy="334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2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bit Asynchronous Down Counter (Way 3)</a:t>
            </a:r>
            <a:endParaRPr sz="1900"/>
          </a:p>
        </p:txBody>
      </p:sp>
      <p:cxnSp>
        <p:nvCxnSpPr>
          <p:cNvPr id="770" name="Google Shape;770;p42"/>
          <p:cNvCxnSpPr>
            <a:stCxn id="77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42"/>
          <p:cNvCxnSpPr>
            <a:endCxn id="77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3" name="Google Shape;773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4" name="Google Shape;774;p42"/>
          <p:cNvSpPr txBox="1"/>
          <p:nvPr/>
        </p:nvSpPr>
        <p:spPr>
          <a:xfrm>
            <a:off x="410299" y="1182125"/>
            <a:ext cx="85602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600" spcFirstLastPara="1" rIns="68600" wrap="square" tIns="34275">
            <a:normAutofit/>
          </a:bodyPr>
          <a:lstStyle/>
          <a:p>
            <a:pPr indent="-171501" lvl="0" marL="17150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1"/>
              <a:buChar char="•"/>
            </a:pPr>
            <a:r>
              <a:rPr lang="en" sz="21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circuit will be similar to the up-counter circuit replacing the negative edge triggering flip-flops to the </a:t>
            </a:r>
            <a:r>
              <a:rPr b="1" lang="en" sz="21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positive edge </a:t>
            </a:r>
            <a:r>
              <a:rPr lang="en" sz="21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triggering flip-flops </a:t>
            </a:r>
            <a:endParaRPr sz="21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501" lvl="1" marL="514505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1"/>
              <a:buChar char="•"/>
            </a:pPr>
            <a:r>
              <a:rPr lang="en" sz="18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flip-flop toggles their states with each positive edge transition of the clock pulse </a:t>
            </a:r>
            <a:endParaRPr sz="18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501" lvl="0" marL="171502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101"/>
              <a:buChar char="•"/>
            </a:pPr>
            <a:r>
              <a:rPr b="1" lang="en" sz="21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Starting count sequence </a:t>
            </a:r>
            <a:r>
              <a:rPr lang="en" sz="21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000</a:t>
            </a:r>
            <a:endParaRPr sz="21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501" lvl="1" marL="514505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1"/>
              <a:buChar char="•"/>
            </a:pPr>
            <a:r>
              <a:rPr lang="en" sz="18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first positive edge of the clock pulse, the counter content changes to 111 and decrease accordingly </a:t>
            </a:r>
            <a:endParaRPr sz="18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5" name="Google Shape;77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5837" y="3058778"/>
            <a:ext cx="4092325" cy="164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3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bit Asynchronous Down Counter (Way 3)</a:t>
            </a:r>
            <a:endParaRPr sz="1900"/>
          </a:p>
        </p:txBody>
      </p:sp>
      <p:cxnSp>
        <p:nvCxnSpPr>
          <p:cNvPr id="781" name="Google Shape;781;p43"/>
          <p:cNvCxnSpPr>
            <a:stCxn id="78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43"/>
          <p:cNvCxnSpPr>
            <a:endCxn id="78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4" name="Google Shape;784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5" name="Google Shape;78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762" y="1260676"/>
            <a:ext cx="6548475" cy="33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4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Asynchronous Up Down Counter </a:t>
            </a:r>
            <a:endParaRPr sz="1900"/>
          </a:p>
        </p:txBody>
      </p:sp>
      <p:cxnSp>
        <p:nvCxnSpPr>
          <p:cNvPr id="791" name="Google Shape;791;p44"/>
          <p:cNvCxnSpPr>
            <a:stCxn id="79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44"/>
          <p:cNvCxnSpPr>
            <a:endCxn id="79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4" name="Google Shape;794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5" name="Google Shape;795;p44"/>
          <p:cNvSpPr txBox="1"/>
          <p:nvPr/>
        </p:nvSpPr>
        <p:spPr>
          <a:xfrm>
            <a:off x="271074" y="1374950"/>
            <a:ext cx="8764800" cy="3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8859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combine the </a:t>
            </a: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 and down modes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a single up-down counter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431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 both upward as well as downward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431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also called the “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multimode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counter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859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up counter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the subsequent flip-flops are driven by the </a:t>
            </a:r>
            <a:r>
              <a:rPr b="1" lang="e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normal output (Q)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preceding flip-flops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859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down counter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the subsequent flip-flops are driven by the </a:t>
            </a:r>
            <a:r>
              <a:rPr b="1" lang="e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complemented output (Q’)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the preceding flip-flops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431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both cases, the </a:t>
            </a:r>
            <a:r>
              <a:rPr b="1" lang="en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first flip-flop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driven by the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original clock pulse generator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859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operation of such counter is controlled by </a:t>
            </a:r>
            <a:r>
              <a:rPr b="1" lang="e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up-down controller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431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select the mode – up or down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5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Asynchronous Up Down Counter </a:t>
            </a:r>
            <a:endParaRPr sz="1900"/>
          </a:p>
        </p:txBody>
      </p:sp>
      <p:cxnSp>
        <p:nvCxnSpPr>
          <p:cNvPr id="801" name="Google Shape;801;p45"/>
          <p:cNvCxnSpPr>
            <a:stCxn id="80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45"/>
          <p:cNvCxnSpPr>
            <a:endCxn id="80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4" name="Google Shape;804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5" name="Google Shape;805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051" y="1465049"/>
            <a:ext cx="7821900" cy="25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6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Asynchronous Up Down Counter </a:t>
            </a:r>
            <a:endParaRPr sz="1900"/>
          </a:p>
        </p:txBody>
      </p:sp>
      <p:cxnSp>
        <p:nvCxnSpPr>
          <p:cNvPr id="811" name="Google Shape;811;p46"/>
          <p:cNvCxnSpPr>
            <a:stCxn id="81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3" name="Google Shape;813;p46"/>
          <p:cNvCxnSpPr>
            <a:endCxn id="81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4" name="Google Shape;814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5" name="Google Shape;815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0448" y="1393450"/>
            <a:ext cx="5723100" cy="294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7"/>
          <p:cNvSpPr txBox="1"/>
          <p:nvPr>
            <p:ph type="title"/>
          </p:nvPr>
        </p:nvSpPr>
        <p:spPr>
          <a:xfrm>
            <a:off x="562700" y="970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Propagation Delay of Asynchronous Up Down Counter </a:t>
            </a:r>
            <a:endParaRPr sz="1900"/>
          </a:p>
        </p:txBody>
      </p:sp>
      <p:cxnSp>
        <p:nvCxnSpPr>
          <p:cNvPr id="821" name="Google Shape;821;p47"/>
          <p:cNvCxnSpPr>
            <a:stCxn id="82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47"/>
          <p:cNvCxnSpPr>
            <a:endCxn id="82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4" name="Google Shape;824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8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Synchronous Counter</a:t>
            </a:r>
            <a:endParaRPr sz="1900"/>
          </a:p>
        </p:txBody>
      </p:sp>
      <p:cxnSp>
        <p:nvCxnSpPr>
          <p:cNvPr id="830" name="Google Shape;830;p48"/>
          <p:cNvCxnSpPr>
            <a:stCxn id="83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48"/>
          <p:cNvCxnSpPr>
            <a:endCxn id="83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3" name="Google Shape;833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4" name="Google Shape;834;p48"/>
          <p:cNvSpPr txBox="1"/>
          <p:nvPr/>
        </p:nvSpPr>
        <p:spPr>
          <a:xfrm>
            <a:off x="381000" y="1368425"/>
            <a:ext cx="820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68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Char char="•"/>
            </a:pPr>
            <a:r>
              <a:rPr lang="en" sz="2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ripple action, asynchronous counter has larger delay times to set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problem will be solved if we use synchronous counter </a:t>
            </a:r>
            <a:endParaRPr sz="1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flip-flops are clocked synchronously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But, T inputs of different flip-flops could be varied based on necessity</a:t>
            </a:r>
            <a:endParaRPr b="1"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9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Synchronous Up Counter with Parallel Carry  </a:t>
            </a:r>
            <a:endParaRPr sz="2900"/>
          </a:p>
        </p:txBody>
      </p:sp>
      <p:cxnSp>
        <p:nvCxnSpPr>
          <p:cNvPr id="840" name="Google Shape;840;p49"/>
          <p:cNvCxnSpPr>
            <a:stCxn id="84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49"/>
          <p:cNvCxnSpPr>
            <a:endCxn id="84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3" name="Google Shape;843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4" name="Google Shape;844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1049" y="1383777"/>
            <a:ext cx="6561900" cy="28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50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Synchronous Up Counter with Ripple</a:t>
            </a:r>
            <a:endParaRPr sz="2900"/>
          </a:p>
        </p:txBody>
      </p:sp>
      <p:cxnSp>
        <p:nvCxnSpPr>
          <p:cNvPr id="850" name="Google Shape;850;p50"/>
          <p:cNvCxnSpPr>
            <a:stCxn id="85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50"/>
          <p:cNvCxnSpPr>
            <a:endCxn id="85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3" name="Google Shape;853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4" name="Google Shape;854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843" y="1333304"/>
            <a:ext cx="7902300" cy="277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1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Synchronous Down Counter</a:t>
            </a:r>
            <a:endParaRPr sz="2900"/>
          </a:p>
        </p:txBody>
      </p:sp>
      <p:cxnSp>
        <p:nvCxnSpPr>
          <p:cNvPr id="860" name="Google Shape;860;p51"/>
          <p:cNvCxnSpPr>
            <a:stCxn id="86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51"/>
          <p:cNvCxnSpPr>
            <a:endCxn id="86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3" name="Google Shape;863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4" name="Google Shape;864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100" y="1563200"/>
            <a:ext cx="7621800" cy="28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2"/>
          <p:cNvSpPr txBox="1"/>
          <p:nvPr>
            <p:ph type="title"/>
          </p:nvPr>
        </p:nvSpPr>
        <p:spPr>
          <a:xfrm>
            <a:off x="562700" y="589950"/>
            <a:ext cx="7782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0000"/>
                </a:solidFill>
              </a:rPr>
              <a:t>Synchronous Up–Down Counter</a:t>
            </a:r>
            <a:endParaRPr sz="2900">
              <a:solidFill>
                <a:srgbClr val="FF0000"/>
              </a:solidFill>
            </a:endParaRPr>
          </a:p>
        </p:txBody>
      </p:sp>
      <p:cxnSp>
        <p:nvCxnSpPr>
          <p:cNvPr id="870" name="Google Shape;870;p52"/>
          <p:cNvCxnSpPr>
            <a:stCxn id="87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52"/>
          <p:cNvCxnSpPr>
            <a:endCxn id="87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4" name="Google Shape;874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050" y="1794950"/>
            <a:ext cx="8194200" cy="210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Design Procedure</a:t>
            </a:r>
            <a:endParaRPr sz="3800"/>
          </a:p>
        </p:txBody>
      </p:sp>
      <p:sp>
        <p:nvSpPr>
          <p:cNvPr id="880" name="Google Shape;880;p53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81" name="Google Shape;881;p5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2" name="Google Shape;882;p53"/>
          <p:cNvCxnSpPr>
            <a:stCxn id="880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4"/>
          <p:cNvSpPr txBox="1"/>
          <p:nvPr>
            <p:ph type="title"/>
          </p:nvPr>
        </p:nvSpPr>
        <p:spPr>
          <a:xfrm>
            <a:off x="562700" y="589950"/>
            <a:ext cx="74802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Synchronous Counter: </a:t>
            </a:r>
            <a:r>
              <a:rPr lang="en"/>
              <a:t>Design</a:t>
            </a:r>
            <a:r>
              <a:rPr lang="en"/>
              <a:t> Procedure</a:t>
            </a:r>
            <a:endParaRPr/>
          </a:p>
        </p:txBody>
      </p:sp>
      <p:cxnSp>
        <p:nvCxnSpPr>
          <p:cNvPr id="889" name="Google Shape;889;p54"/>
          <p:cNvCxnSpPr>
            <a:stCxn id="89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54"/>
          <p:cNvCxnSpPr>
            <a:endCxn id="89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2" name="Google Shape;89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3" name="Google Shape;893;p54"/>
          <p:cNvSpPr txBox="1"/>
          <p:nvPr/>
        </p:nvSpPr>
        <p:spPr>
          <a:xfrm>
            <a:off x="433675" y="1292225"/>
            <a:ext cx="8315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685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the problem statement, draw the </a:t>
            </a: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 diagram </a:t>
            </a: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describes the operation of a counter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Derive the </a:t>
            </a: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 table </a:t>
            </a: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circuit excitation table </a:t>
            </a: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the state diagram maintaining the count sequence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 the </a:t>
            </a: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</a:t>
            </a: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flip-flops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 the flip-flop </a:t>
            </a: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its inputs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Prepare the </a:t>
            </a: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K-maps to get the simplified expressions </a:t>
            </a: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each inputs in term of the outputs and external inputs of flip-flops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 the circuit using the flip-flops and other gates corresponding to the simplified expressions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5"/>
          <p:cNvSpPr txBox="1"/>
          <p:nvPr>
            <p:ph type="title"/>
          </p:nvPr>
        </p:nvSpPr>
        <p:spPr>
          <a:xfrm>
            <a:off x="562700" y="589950"/>
            <a:ext cx="74802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Synchronous Counter: Design Procedure</a:t>
            </a:r>
            <a:endParaRPr/>
          </a:p>
        </p:txBody>
      </p:sp>
      <p:cxnSp>
        <p:nvCxnSpPr>
          <p:cNvPr id="899" name="Google Shape;899;p55"/>
          <p:cNvCxnSpPr>
            <a:stCxn id="90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55"/>
          <p:cNvCxnSpPr>
            <a:endCxn id="90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3" name="Google Shape;903;p55"/>
          <p:cNvSpPr txBox="1"/>
          <p:nvPr/>
        </p:nvSpPr>
        <p:spPr>
          <a:xfrm>
            <a:off x="402300" y="1508497"/>
            <a:ext cx="86442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825" lIns="67700" spcFirstLastPara="1" rIns="67700" wrap="square" tIns="33825">
            <a:normAutofit/>
          </a:bodyPr>
          <a:lstStyle/>
          <a:p>
            <a:pPr indent="-169259" lvl="0" marL="16925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3"/>
              <a:buChar char="•"/>
            </a:pPr>
            <a:r>
              <a:rPr b="1" lang="en" sz="207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 Diagram:</a:t>
            </a:r>
            <a:endParaRPr sz="207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614" lvl="0" marL="169259" rtl="0" algn="l">
              <a:lnSpc>
                <a:spcPct val="90000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t/>
            </a:r>
            <a:endParaRPr sz="207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614" lvl="0" marL="169259" rtl="0" algn="l">
              <a:lnSpc>
                <a:spcPct val="90000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t/>
            </a:r>
            <a:endParaRPr sz="207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614" lvl="0" marL="169259" rtl="0" algn="l">
              <a:lnSpc>
                <a:spcPct val="90000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t/>
            </a:r>
            <a:endParaRPr sz="207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9259" lvl="0" marL="169259" rtl="0" algn="l">
              <a:lnSpc>
                <a:spcPct val="9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2073"/>
              <a:buChar char="•"/>
            </a:pPr>
            <a:r>
              <a:rPr b="1" lang="en" sz="207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 Table and Circuit Excitation Table:</a:t>
            </a:r>
            <a:r>
              <a:rPr lang="en" sz="207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7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614" lvl="0" marL="169259" rtl="0" algn="l">
              <a:lnSpc>
                <a:spcPct val="90000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t/>
            </a:r>
            <a:endParaRPr sz="207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614" lvl="0" marL="169259" rtl="0" algn="l">
              <a:lnSpc>
                <a:spcPct val="90000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t/>
            </a:r>
            <a:endParaRPr sz="207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614" lvl="0" marL="169259" rtl="0" algn="l">
              <a:lnSpc>
                <a:spcPct val="90000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t/>
            </a:r>
            <a:endParaRPr sz="207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4" name="Google Shape;90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4595" y="1639529"/>
            <a:ext cx="2045492" cy="1248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9948" y="3508379"/>
            <a:ext cx="2621203" cy="109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0497" y="3332397"/>
            <a:ext cx="3513131" cy="1397895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55"/>
          <p:cNvSpPr txBox="1"/>
          <p:nvPr/>
        </p:nvSpPr>
        <p:spPr>
          <a:xfrm>
            <a:off x="457200" y="1066800"/>
            <a:ext cx="3000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73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MOD–3 Counter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6"/>
          <p:cNvSpPr txBox="1"/>
          <p:nvPr>
            <p:ph type="title"/>
          </p:nvPr>
        </p:nvSpPr>
        <p:spPr>
          <a:xfrm>
            <a:off x="562700" y="589950"/>
            <a:ext cx="74802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Synchronous Counter: Design Procedure</a:t>
            </a:r>
            <a:endParaRPr/>
          </a:p>
        </p:txBody>
      </p:sp>
      <p:cxnSp>
        <p:nvCxnSpPr>
          <p:cNvPr id="913" name="Google Shape;913;p56"/>
          <p:cNvCxnSpPr>
            <a:stCxn id="91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56"/>
          <p:cNvCxnSpPr>
            <a:endCxn id="91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6" name="Google Shape;916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7" name="Google Shape;917;p56"/>
          <p:cNvSpPr txBox="1"/>
          <p:nvPr/>
        </p:nvSpPr>
        <p:spPr>
          <a:xfrm>
            <a:off x="457200" y="1066800"/>
            <a:ext cx="3000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73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MOD–3 Counter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18" name="Google Shape;918;p56"/>
          <p:cNvSpPr txBox="1"/>
          <p:nvPr/>
        </p:nvSpPr>
        <p:spPr>
          <a:xfrm>
            <a:off x="863617" y="1652872"/>
            <a:ext cx="3775200" cy="3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50" lIns="66925" spcFirstLastPara="1" rIns="66925" wrap="square" tIns="33450">
            <a:normAutofit/>
          </a:bodyPr>
          <a:lstStyle/>
          <a:p>
            <a:pPr indent="-167322" lvl="0" marL="16732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9"/>
              <a:buChar char="•"/>
            </a:pPr>
            <a:r>
              <a:rPr b="1" lang="en" sz="204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K-map for simplification: </a:t>
            </a:r>
            <a:endParaRPr sz="204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83" lvl="0" marL="167321" rtl="0" algn="l">
              <a:lnSpc>
                <a:spcPct val="90000"/>
              </a:lnSpc>
              <a:spcBef>
                <a:spcPts val="732"/>
              </a:spcBef>
              <a:spcAft>
                <a:spcPts val="0"/>
              </a:spcAft>
              <a:buNone/>
            </a:pPr>
            <a:r>
              <a:t/>
            </a:r>
            <a:endParaRPr sz="204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83" lvl="0" marL="167321" rtl="0" algn="l">
              <a:lnSpc>
                <a:spcPct val="90000"/>
              </a:lnSpc>
              <a:spcBef>
                <a:spcPts val="732"/>
              </a:spcBef>
              <a:spcAft>
                <a:spcPts val="0"/>
              </a:spcAft>
              <a:buNone/>
            </a:pPr>
            <a:r>
              <a:t/>
            </a:r>
            <a:endParaRPr sz="204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83" lvl="0" marL="167321" rtl="0" algn="l">
              <a:lnSpc>
                <a:spcPct val="90000"/>
              </a:lnSpc>
              <a:spcBef>
                <a:spcPts val="732"/>
              </a:spcBef>
              <a:spcAft>
                <a:spcPts val="0"/>
              </a:spcAft>
              <a:buNone/>
            </a:pPr>
            <a:r>
              <a:t/>
            </a:r>
            <a:endParaRPr sz="204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83" lvl="0" marL="167321" rtl="0" algn="l">
              <a:lnSpc>
                <a:spcPct val="90000"/>
              </a:lnSpc>
              <a:spcBef>
                <a:spcPts val="732"/>
              </a:spcBef>
              <a:spcAft>
                <a:spcPts val="0"/>
              </a:spcAft>
              <a:buNone/>
            </a:pPr>
            <a:r>
              <a:t/>
            </a:r>
            <a:endParaRPr sz="204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83" lvl="0" marL="167321" rtl="0" algn="l">
              <a:lnSpc>
                <a:spcPct val="90000"/>
              </a:lnSpc>
              <a:spcBef>
                <a:spcPts val="732"/>
              </a:spcBef>
              <a:spcAft>
                <a:spcPts val="0"/>
              </a:spcAft>
              <a:buNone/>
            </a:pPr>
            <a:r>
              <a:t/>
            </a:r>
            <a:endParaRPr sz="204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83" lvl="0" marL="167321" rtl="0" algn="l">
              <a:lnSpc>
                <a:spcPct val="90000"/>
              </a:lnSpc>
              <a:spcBef>
                <a:spcPts val="732"/>
              </a:spcBef>
              <a:spcAft>
                <a:spcPts val="0"/>
              </a:spcAft>
              <a:buNone/>
            </a:pPr>
            <a:r>
              <a:t/>
            </a:r>
            <a:endParaRPr sz="204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6"/>
          <p:cNvSpPr txBox="1"/>
          <p:nvPr/>
        </p:nvSpPr>
        <p:spPr>
          <a:xfrm>
            <a:off x="4766608" y="1652872"/>
            <a:ext cx="3793800" cy="3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50" lIns="66925" spcFirstLastPara="1" rIns="66925" wrap="square" tIns="33450">
            <a:normAutofit/>
          </a:bodyPr>
          <a:lstStyle/>
          <a:p>
            <a:pPr indent="-167322" lvl="0" marL="16732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9"/>
              <a:buChar char="•"/>
            </a:pPr>
            <a:r>
              <a:rPr b="1" lang="en" sz="204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Logic Diagram:</a:t>
            </a:r>
            <a:endParaRPr sz="204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0" name="Google Shape;9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588" y="2457678"/>
            <a:ext cx="3691878" cy="177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0711" y="2143348"/>
            <a:ext cx="3109813" cy="2054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7"/>
          <p:cNvSpPr txBox="1"/>
          <p:nvPr>
            <p:ph type="title"/>
          </p:nvPr>
        </p:nvSpPr>
        <p:spPr>
          <a:xfrm>
            <a:off x="562700" y="589950"/>
            <a:ext cx="74802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Synchronous Counter: Propagation Delay</a:t>
            </a:r>
            <a:endParaRPr/>
          </a:p>
        </p:txBody>
      </p:sp>
      <p:cxnSp>
        <p:nvCxnSpPr>
          <p:cNvPr id="927" name="Google Shape;927;p57"/>
          <p:cNvCxnSpPr>
            <a:stCxn id="92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57"/>
          <p:cNvCxnSpPr>
            <a:endCxn id="92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8"/>
          <p:cNvSpPr txBox="1"/>
          <p:nvPr>
            <p:ph type="title"/>
          </p:nvPr>
        </p:nvSpPr>
        <p:spPr>
          <a:xfrm>
            <a:off x="562700" y="589950"/>
            <a:ext cx="74802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Synchronous-Asynchronous Counter</a:t>
            </a:r>
            <a:endParaRPr/>
          </a:p>
        </p:txBody>
      </p:sp>
      <p:cxnSp>
        <p:nvCxnSpPr>
          <p:cNvPr id="936" name="Google Shape;936;p58"/>
          <p:cNvCxnSpPr>
            <a:stCxn id="93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" name="Google Shape;938;p58"/>
          <p:cNvCxnSpPr>
            <a:endCxn id="93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9" name="Google Shape;939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0" name="Google Shape;940;p58"/>
          <p:cNvSpPr txBox="1"/>
          <p:nvPr/>
        </p:nvSpPr>
        <p:spPr>
          <a:xfrm>
            <a:off x="381000" y="1444625"/>
            <a:ext cx="8175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hybrid counters combines the good feature of these both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Simplicity of the asynchronous counter and speed of the synchronous counter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BCD synchronous-asynchronous counter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Explanation: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Self-study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Comparison between synchronous and asynchronous – Self Study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9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Ring Counter</a:t>
            </a:r>
            <a:endParaRPr sz="3800"/>
          </a:p>
        </p:txBody>
      </p:sp>
      <p:sp>
        <p:nvSpPr>
          <p:cNvPr id="946" name="Google Shape;946;p59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947" name="Google Shape;947;p59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8" name="Google Shape;948;p59"/>
          <p:cNvCxnSpPr>
            <a:stCxn id="946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9" name="Google Shape;949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60"/>
          <p:cNvSpPr txBox="1"/>
          <p:nvPr>
            <p:ph type="title"/>
          </p:nvPr>
        </p:nvSpPr>
        <p:spPr>
          <a:xfrm>
            <a:off x="562700" y="589950"/>
            <a:ext cx="5261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 Counter</a:t>
            </a:r>
            <a:endParaRPr/>
          </a:p>
        </p:txBody>
      </p:sp>
      <p:cxnSp>
        <p:nvCxnSpPr>
          <p:cNvPr id="955" name="Google Shape;955;p60"/>
          <p:cNvCxnSpPr>
            <a:stCxn id="95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60"/>
          <p:cNvCxnSpPr>
            <a:endCxn id="95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8" name="Google Shape;958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9" name="Google Shape;959;p60"/>
          <p:cNvSpPr txBox="1"/>
          <p:nvPr/>
        </p:nvSpPr>
        <p:spPr>
          <a:xfrm>
            <a:off x="416150" y="1275225"/>
            <a:ext cx="83469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0" name="Google Shape;96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691" y="1381245"/>
            <a:ext cx="8059758" cy="3027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1"/>
          <p:cNvSpPr txBox="1"/>
          <p:nvPr>
            <p:ph type="title"/>
          </p:nvPr>
        </p:nvSpPr>
        <p:spPr>
          <a:xfrm>
            <a:off x="562700" y="589950"/>
            <a:ext cx="5261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Bit Ring Counter with D FF</a:t>
            </a:r>
            <a:endParaRPr/>
          </a:p>
        </p:txBody>
      </p:sp>
      <p:cxnSp>
        <p:nvCxnSpPr>
          <p:cNvPr id="966" name="Google Shape;966;p61"/>
          <p:cNvCxnSpPr>
            <a:stCxn id="96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61"/>
          <p:cNvCxnSpPr>
            <a:endCxn id="96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0" name="Google Shape;97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835" y="1231939"/>
            <a:ext cx="7690326" cy="328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62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Johnson</a:t>
            </a:r>
            <a:r>
              <a:rPr lang="en" sz="3800"/>
              <a:t> Counter</a:t>
            </a:r>
            <a:endParaRPr sz="3800"/>
          </a:p>
        </p:txBody>
      </p:sp>
      <p:sp>
        <p:nvSpPr>
          <p:cNvPr id="976" name="Google Shape;976;p62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977" name="Google Shape;977;p62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8" name="Google Shape;978;p62"/>
          <p:cNvCxnSpPr>
            <a:stCxn id="976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9" name="Google Shape;979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3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Johnson Counter</a:t>
            </a:r>
            <a:endParaRPr/>
          </a:p>
        </p:txBody>
      </p:sp>
      <p:cxnSp>
        <p:nvCxnSpPr>
          <p:cNvPr id="985" name="Google Shape;985;p63"/>
          <p:cNvCxnSpPr>
            <a:endCxn id="98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7" name="Google Shape;987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8" name="Google Shape;98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3813" y="1199550"/>
            <a:ext cx="5516375" cy="340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64"/>
          <p:cNvSpPr txBox="1"/>
          <p:nvPr>
            <p:ph type="title"/>
          </p:nvPr>
        </p:nvSpPr>
        <p:spPr>
          <a:xfrm>
            <a:off x="562700" y="589950"/>
            <a:ext cx="6807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bit Johnson Counter with D FF</a:t>
            </a:r>
            <a:endParaRPr/>
          </a:p>
        </p:txBody>
      </p:sp>
      <p:cxnSp>
        <p:nvCxnSpPr>
          <p:cNvPr id="994" name="Google Shape;994;p64"/>
          <p:cNvCxnSpPr>
            <a:endCxn id="99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6" name="Google Shape;996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7" name="Google Shape;99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8724" y="1160049"/>
            <a:ext cx="5866550" cy="34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5"/>
          <p:cNvSpPr txBox="1"/>
          <p:nvPr>
            <p:ph idx="1" type="subTitle"/>
          </p:nvPr>
        </p:nvSpPr>
        <p:spPr>
          <a:xfrm>
            <a:off x="2241500" y="2869150"/>
            <a:ext cx="48678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 free to ask any questions</a:t>
            </a:r>
            <a:endParaRPr/>
          </a:p>
        </p:txBody>
      </p:sp>
      <p:sp>
        <p:nvSpPr>
          <p:cNvPr id="1003" name="Google Shape;1003;p65"/>
          <p:cNvSpPr txBox="1"/>
          <p:nvPr>
            <p:ph type="title"/>
          </p:nvPr>
        </p:nvSpPr>
        <p:spPr>
          <a:xfrm>
            <a:off x="2241400" y="18112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  <p:cxnSp>
        <p:nvCxnSpPr>
          <p:cNvPr id="1004" name="Google Shape;1004;p65"/>
          <p:cNvCxnSpPr>
            <a:endCxn id="1002" idx="2"/>
          </p:cNvCxnSpPr>
          <p:nvPr/>
        </p:nvCxnSpPr>
        <p:spPr>
          <a:xfrm rot="10800000">
            <a:off x="4675400" y="3520150"/>
            <a:ext cx="0" cy="17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5" name="Google Shape;1005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Conference Style Presentation by Slidesgo">
  <a:themeElements>
    <a:clrScheme name="Simple Light">
      <a:dk1>
        <a:srgbClr val="041E36"/>
      </a:dk1>
      <a:lt1>
        <a:srgbClr val="E5F1F5"/>
      </a:lt1>
      <a:dk2>
        <a:srgbClr val="1C45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