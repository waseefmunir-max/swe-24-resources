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Nunito"/>
      <p:regular r:id="rId55"/>
      <p:bold r:id="rId56"/>
      <p:italic r:id="rId57"/>
      <p:boldItalic r:id="rId58"/>
    </p:embeddedFont>
    <p:embeddedFont>
      <p:font typeface="Inter Tight"/>
      <p:regular r:id="rId59"/>
      <p:bold r:id="rId60"/>
      <p:italic r:id="rId61"/>
      <p:boldItalic r:id="rId62"/>
    </p:embeddedFont>
    <p:embeddedFont>
      <p:font typeface="Open Sans"/>
      <p:regular r:id="rId63"/>
      <p:bold r:id="rId64"/>
      <p:italic r:id="rId65"/>
      <p:boldItalic r:id="rId66"/>
    </p:embeddedFont>
    <p:embeddedFont>
      <p:font typeface="Inter Tight SemiBold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0" Type="http://schemas.openxmlformats.org/officeDocument/2006/relationships/font" Target="fonts/InterTightSemiBold-boldItalic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InterTight-boldItalic.fntdata"/><Relationship Id="rId61" Type="http://schemas.openxmlformats.org/officeDocument/2006/relationships/font" Target="fonts/InterTight-italic.fntdata"/><Relationship Id="rId20" Type="http://schemas.openxmlformats.org/officeDocument/2006/relationships/slide" Target="slides/slide16.xml"/><Relationship Id="rId64" Type="http://schemas.openxmlformats.org/officeDocument/2006/relationships/font" Target="fonts/OpenSans-bold.fntdata"/><Relationship Id="rId63" Type="http://schemas.openxmlformats.org/officeDocument/2006/relationships/font" Target="fonts/OpenSans-regular.fntdata"/><Relationship Id="rId22" Type="http://schemas.openxmlformats.org/officeDocument/2006/relationships/slide" Target="slides/slide18.xml"/><Relationship Id="rId66" Type="http://schemas.openxmlformats.org/officeDocument/2006/relationships/font" Target="fonts/OpenSans-boldItalic.fntdata"/><Relationship Id="rId21" Type="http://schemas.openxmlformats.org/officeDocument/2006/relationships/slide" Target="slides/slide17.xml"/><Relationship Id="rId65" Type="http://schemas.openxmlformats.org/officeDocument/2006/relationships/font" Target="fonts/OpenSans-italic.fntdata"/><Relationship Id="rId24" Type="http://schemas.openxmlformats.org/officeDocument/2006/relationships/slide" Target="slides/slide20.xml"/><Relationship Id="rId68" Type="http://schemas.openxmlformats.org/officeDocument/2006/relationships/font" Target="fonts/InterTightSemiBold-bold.fntdata"/><Relationship Id="rId23" Type="http://schemas.openxmlformats.org/officeDocument/2006/relationships/slide" Target="slides/slide19.xml"/><Relationship Id="rId67" Type="http://schemas.openxmlformats.org/officeDocument/2006/relationships/font" Target="fonts/InterTightSemiBold-regular.fntdata"/><Relationship Id="rId60" Type="http://schemas.openxmlformats.org/officeDocument/2006/relationships/font" Target="fonts/InterTight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InterTightSemiBold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Nunito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Nunito-italic.fntdata"/><Relationship Id="rId12" Type="http://schemas.openxmlformats.org/officeDocument/2006/relationships/slide" Target="slides/slide8.xml"/><Relationship Id="rId56" Type="http://schemas.openxmlformats.org/officeDocument/2006/relationships/font" Target="fonts/Nunito-bold.fntdata"/><Relationship Id="rId15" Type="http://schemas.openxmlformats.org/officeDocument/2006/relationships/slide" Target="slides/slide11.xml"/><Relationship Id="rId59" Type="http://schemas.openxmlformats.org/officeDocument/2006/relationships/font" Target="fonts/InterTight-regular.fntdata"/><Relationship Id="rId14" Type="http://schemas.openxmlformats.org/officeDocument/2006/relationships/slide" Target="slides/slide10.xml"/><Relationship Id="rId58" Type="http://schemas.openxmlformats.org/officeDocument/2006/relationships/font" Target="fonts/Nunito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86a9849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86a9849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5ed41d224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5ed41d224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5ecffff00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5ecffff00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5ed41d22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5ed41d22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5ed41d224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5ed41d224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5ed41d224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5ed41d224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5ed41d22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5ed41d22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5ed41d224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5ed41d224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5ed41d224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5ed41d224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5ed41d224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5ed41d224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5ed41d224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5ed41d224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5ed41d224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5ed41d224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5ed41d224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5ed41d224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5ed41d224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5ed41d224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5ed41d224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5ed41d224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5ed41d224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5ed41d224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5ed41d2245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5ed41d224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5ed41d2245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5ed41d2245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5ed41d2245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5ed41d2245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5ed41d2245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5ed41d224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5ecffff00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5ecffff00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5e10f8c9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5e10f8c9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5e10f8c9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5e10f8c9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5e10f8c9e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5e10f8c9e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5e10f8c9e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5e10f8c9e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5e10f8c9e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5e10f8c9e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5e10f8c9e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5e10f8c9e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5e10f8c9e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5e10f8c9e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5e10f8c9e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5e10f8c9e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5e10f8c9e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5e10f8c9e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5e10f8c9e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5e10f8c9e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67802a1b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67802a1b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67802a1bb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67802a1bb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67802a1bb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67802a1bb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67802a1bb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67802a1bb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67802a1bb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67802a1bb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67802a1bb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67802a1bb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67802a1bb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67802a1bb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67802a1bb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67802a1bb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67802a1bb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67802a1bb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67802a1bb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67802a1bb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67802a1bb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67802a1bb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67802a1bb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67802a1bb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67802a1bb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67802a1bb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6ae6cb7ca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36ae6cb7ca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6ae6cb7ca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6ae6cb7ca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6ae6cb7c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6ae6cb7c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jpg"/><Relationship Id="rId4" Type="http://schemas.openxmlformats.org/officeDocument/2006/relationships/image" Target="../media/image22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he-coep.vlabs.ac.in/exp/various-arithmetic-circuits/theory.html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Combinational Logic I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Logic Circuits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or no Memory?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" name="Google Shape;617;p27"/>
          <p:cNvCxnSpPr>
            <a:stCxn id="61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27"/>
          <p:cNvCxnSpPr>
            <a:endCxn id="61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3091050" y="993525"/>
            <a:ext cx="2961900" cy="545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LOGIC CIRCUIT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" name="Google Shape;622;p27"/>
          <p:cNvSpPr/>
          <p:nvPr/>
        </p:nvSpPr>
        <p:spPr>
          <a:xfrm>
            <a:off x="778100" y="2485000"/>
            <a:ext cx="2961900" cy="734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COMBINATIONAL LOGIC CIRCUIT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3" name="Google Shape;623;p27"/>
          <p:cNvSpPr/>
          <p:nvPr/>
        </p:nvSpPr>
        <p:spPr>
          <a:xfrm>
            <a:off x="5502500" y="2485000"/>
            <a:ext cx="2961900" cy="734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SEQUENTIAL LOGIC CIRCUIT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24" name="Google Shape;624;p27"/>
          <p:cNvCxnSpPr>
            <a:stCxn id="621" idx="2"/>
            <a:endCxn id="623" idx="0"/>
          </p:cNvCxnSpPr>
          <p:nvPr/>
        </p:nvCxnSpPr>
        <p:spPr>
          <a:xfrm flipH="1" rot="-5400000">
            <a:off x="5304600" y="806325"/>
            <a:ext cx="946200" cy="24114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5" name="Google Shape;625;p27"/>
          <p:cNvCxnSpPr>
            <a:stCxn id="621" idx="2"/>
            <a:endCxn id="622" idx="0"/>
          </p:cNvCxnSpPr>
          <p:nvPr/>
        </p:nvCxnSpPr>
        <p:spPr>
          <a:xfrm rot="5400000">
            <a:off x="2942400" y="855525"/>
            <a:ext cx="946200" cy="23130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6" name="Google Shape;626;p27"/>
          <p:cNvSpPr txBox="1"/>
          <p:nvPr/>
        </p:nvSpPr>
        <p:spPr>
          <a:xfrm>
            <a:off x="809350" y="3334675"/>
            <a:ext cx="2930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Output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depends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only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 the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current input combinations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p27"/>
          <p:cNvSpPr txBox="1"/>
          <p:nvPr/>
        </p:nvSpPr>
        <p:spPr>
          <a:xfrm>
            <a:off x="5440700" y="3299225"/>
            <a:ext cx="3023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Output depends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only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 the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current input combinations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state of the memory elements.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8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Combinational Circuit</a:t>
            </a:r>
            <a:endParaRPr sz="3800"/>
          </a:p>
        </p:txBody>
      </p:sp>
      <p:sp>
        <p:nvSpPr>
          <p:cNvPr id="633" name="Google Shape;633;p28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4" name="Google Shape;634;p28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5" name="Google Shape;635;p28"/>
          <p:cNvCxnSpPr>
            <a:stCxn id="633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9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Combinational circuits consists of interconnection of logic gates 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Logic gates react to the values of the signal at the inputs and produce required output based on the definition.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These input and output signal exists physically as analog signal which must be interpreted as a binary signal representing either logic-1 or logic-0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42" name="Google Shape;642;p29"/>
          <p:cNvSpPr txBox="1"/>
          <p:nvPr>
            <p:ph type="title"/>
          </p:nvPr>
        </p:nvSpPr>
        <p:spPr>
          <a:xfrm>
            <a:off x="7151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</a:t>
            </a:r>
            <a:endParaRPr/>
          </a:p>
        </p:txBody>
      </p:sp>
      <p:cxnSp>
        <p:nvCxnSpPr>
          <p:cNvPr id="643" name="Google Shape;643;p29"/>
          <p:cNvCxnSpPr>
            <a:stCxn id="64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29"/>
          <p:cNvCxnSpPr>
            <a:endCxn id="64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7" name="Google Shape;647;p29"/>
          <p:cNvSpPr txBox="1"/>
          <p:nvPr>
            <p:ph idx="1" type="body"/>
          </p:nvPr>
        </p:nvSpPr>
        <p:spPr>
          <a:xfrm>
            <a:off x="715100" y="2581548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But, In many application, the source and destination of the combination circuit are storage registers 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If the registers are included with the combinational circuit, then total circuit must be considered as a sequential circuit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48" name="Google Shape;648;p29"/>
          <p:cNvSpPr txBox="1"/>
          <p:nvPr>
            <p:ph idx="1" type="body"/>
          </p:nvPr>
        </p:nvSpPr>
        <p:spPr>
          <a:xfrm>
            <a:off x="751950" y="3564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Note: </a:t>
            </a:r>
            <a:r>
              <a:rPr lang="en" sz="1500">
                <a:solidFill>
                  <a:schemeClr val="dk1"/>
                </a:solidFill>
              </a:rPr>
              <a:t>A sequential circuit is circuit which has logic gates with feedback path or memory elements </a:t>
            </a:r>
            <a:endParaRPr sz="1500">
              <a:solidFill>
                <a:schemeClr val="dk1"/>
              </a:solidFill>
            </a:endParaRPr>
          </a:p>
          <a:p>
            <a:pPr indent="-2857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>
                <a:solidFill>
                  <a:schemeClr val="dk1"/>
                </a:solidFill>
              </a:rPr>
              <a:t>A feedback path is a connection from output of any logic gate partially forms an input to any previous gate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0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Block diagram of a combinational circuit with n input and m output binary variables: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4" name="Google Shape;654;p30"/>
          <p:cNvSpPr txBox="1"/>
          <p:nvPr>
            <p:ph type="title"/>
          </p:nvPr>
        </p:nvSpPr>
        <p:spPr>
          <a:xfrm>
            <a:off x="715100" y="8947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(block diagram)</a:t>
            </a:r>
            <a:endParaRPr/>
          </a:p>
        </p:txBody>
      </p:sp>
      <p:cxnSp>
        <p:nvCxnSpPr>
          <p:cNvPr id="655" name="Google Shape;655;p30"/>
          <p:cNvCxnSpPr>
            <a:stCxn id="65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0"/>
          <p:cNvCxnSpPr>
            <a:endCxn id="65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9" name="Google Shape;6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2138" y="1952450"/>
            <a:ext cx="4059725" cy="14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0"/>
          <p:cNvSpPr txBox="1"/>
          <p:nvPr/>
        </p:nvSpPr>
        <p:spPr>
          <a:xfrm>
            <a:off x="715088" y="3379025"/>
            <a:ext cx="7506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n input variables, there are 2</a:t>
            </a:r>
            <a:r>
              <a:rPr baseline="30000" lang="en" sz="1200"/>
              <a:t>n</a:t>
            </a:r>
            <a:r>
              <a:rPr lang="en" sz="1200"/>
              <a:t> possible combinations of the binary inputs (from external sources)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For each input combination, there is one possible value for each output variable (to external destinations)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 combinational circuit can be specified as a truth table that enlists output values for each input combination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 is also specified as a Boolean function expressed in terms of the n input variables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1"/>
          <p:cNvSpPr txBox="1"/>
          <p:nvPr>
            <p:ph type="title"/>
          </p:nvPr>
        </p:nvSpPr>
        <p:spPr>
          <a:xfrm>
            <a:off x="715100" y="8947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Circuits (block diagram)</a:t>
            </a:r>
            <a:endParaRPr/>
          </a:p>
        </p:txBody>
      </p:sp>
      <p:cxnSp>
        <p:nvCxnSpPr>
          <p:cNvPr id="666" name="Google Shape;666;p31"/>
          <p:cNvCxnSpPr>
            <a:stCxn id="66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1"/>
          <p:cNvCxnSpPr>
            <a:endCxn id="66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0" name="Google Shape;670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393" l="0" r="1546" t="0"/>
          <a:stretch/>
        </p:blipFill>
        <p:spPr>
          <a:xfrm>
            <a:off x="2510850" y="1625550"/>
            <a:ext cx="4122300" cy="25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2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Analysis of any combinational circuit starts with a logic diagram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Finally we will determine the function that the circuit implements, generates the truth table and feasibly explains the operation of the circuit.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If the function name or its explanation are already mentioned with logic circuit, then we need to verify it (verification)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Another way to analyze any circuit with logic simulation if the number of inputs is very large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6" name="Google Shape;676;p32"/>
          <p:cNvSpPr txBox="1"/>
          <p:nvPr>
            <p:ph type="title"/>
          </p:nvPr>
        </p:nvSpPr>
        <p:spPr>
          <a:xfrm>
            <a:off x="715100" y="8947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</p:txBody>
      </p:sp>
      <p:cxnSp>
        <p:nvCxnSpPr>
          <p:cNvPr id="677" name="Google Shape;677;p32"/>
          <p:cNvCxnSpPr>
            <a:stCxn id="67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2"/>
          <p:cNvCxnSpPr>
            <a:endCxn id="67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5" name="Google Shape;685;p33"/>
          <p:cNvCxnSpPr>
            <a:stCxn id="68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33"/>
          <p:cNvCxnSpPr>
            <a:endCxn id="68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33"/>
          <p:cNvSpPr txBox="1"/>
          <p:nvPr/>
        </p:nvSpPr>
        <p:spPr>
          <a:xfrm>
            <a:off x="715100" y="1574075"/>
            <a:ext cx="7516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Make sure that the given circuit is a combinational circuit, not sequential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To obtain Boolean function: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Label all the gate outputs that are the function of input variables with arbitrary symbols. Determine those functions. 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Also label the intermediate gate outputs that are the function of any input variables or previously defined symbols (i.e. already labeled gate outputs). Find those functions as well.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Repeat the process of step (b) until the output of the logic circuit is obtained 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By repeated substation of previously defined intermediate functions, obtain the output Boolean function in terms of input variables </a:t>
            </a:r>
            <a:endParaRPr sz="1200"/>
          </a:p>
        </p:txBody>
      </p:sp>
      <p:sp>
        <p:nvSpPr>
          <p:cNvPr id="690" name="Google Shape;690;p33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Analysis Procedure: To obtain boolean function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4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Analysis Procedure: To obtain boolean function</a:t>
            </a:r>
            <a:endParaRPr/>
          </a:p>
        </p:txBody>
      </p:sp>
      <p:cxnSp>
        <p:nvCxnSpPr>
          <p:cNvPr id="696" name="Google Shape;696;p34"/>
          <p:cNvCxnSpPr>
            <a:stCxn id="69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34"/>
          <p:cNvCxnSpPr>
            <a:endCxn id="69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0" name="Google Shape;700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4350" y="1571699"/>
            <a:ext cx="3495300" cy="27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5" name="Google Shape;705;p35"/>
          <p:cNvCxnSpPr>
            <a:stCxn id="70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35"/>
          <p:cNvCxnSpPr>
            <a:endCxn id="70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8" name="Google Shape;70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9" name="Google Shape;709;p35"/>
          <p:cNvSpPr txBox="1"/>
          <p:nvPr/>
        </p:nvSpPr>
        <p:spPr>
          <a:xfrm>
            <a:off x="922300" y="1698725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(a):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(b and c):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(d):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0" name="Google Shape;710;p35"/>
          <p:cNvGrpSpPr/>
          <p:nvPr/>
        </p:nvGrpSpPr>
        <p:grpSpPr>
          <a:xfrm>
            <a:off x="3211584" y="1749199"/>
            <a:ext cx="1450237" cy="702800"/>
            <a:chOff x="3673400" y="1971199"/>
            <a:chExt cx="1450237" cy="702800"/>
          </a:xfrm>
        </p:grpSpPr>
        <p:pic>
          <p:nvPicPr>
            <p:cNvPr id="711" name="Google Shape;71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73400" y="1971199"/>
              <a:ext cx="1450237" cy="70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p35"/>
            <p:cNvSpPr/>
            <p:nvPr/>
          </p:nvSpPr>
          <p:spPr>
            <a:xfrm>
              <a:off x="3673400" y="1971199"/>
              <a:ext cx="1450200" cy="2421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13" name="Google Shape;71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1575" y="2596950"/>
            <a:ext cx="1091281" cy="557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4" name="Google Shape;714;p35"/>
          <p:cNvGrpSpPr/>
          <p:nvPr/>
        </p:nvGrpSpPr>
        <p:grpSpPr>
          <a:xfrm>
            <a:off x="3211714" y="3421650"/>
            <a:ext cx="4708855" cy="839925"/>
            <a:chOff x="3207493" y="5186202"/>
            <a:chExt cx="8695947" cy="1551394"/>
          </a:xfrm>
        </p:grpSpPr>
        <p:pic>
          <p:nvPicPr>
            <p:cNvPr id="715" name="Google Shape;715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38451" y="5186202"/>
              <a:ext cx="8664989" cy="15352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35"/>
            <p:cNvSpPr/>
            <p:nvPr/>
          </p:nvSpPr>
          <p:spPr>
            <a:xfrm>
              <a:off x="3207493" y="6304396"/>
              <a:ext cx="4699500" cy="4332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7" name="Google Shape;717;p35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Analysis Procedure: To obtain boolean function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2" name="Google Shape;722;p36"/>
          <p:cNvCxnSpPr>
            <a:stCxn id="72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36"/>
          <p:cNvCxnSpPr>
            <a:endCxn id="72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" name="Google Shape;725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6" name="Google Shape;726;p36"/>
          <p:cNvSpPr txBox="1"/>
          <p:nvPr/>
        </p:nvSpPr>
        <p:spPr>
          <a:xfrm>
            <a:off x="715100" y="1574075"/>
            <a:ext cx="7516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Make sure that the given circuit is a combinational circuit, not sequential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To obtain the truth table from the logic diagram directly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Determine the number of input variables in the circuit 	</a:t>
            </a:r>
            <a:endParaRPr sz="1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</a:t>
            </a:r>
            <a:r>
              <a:rPr b="1" lang="en" sz="1200"/>
              <a:t>n</a:t>
            </a:r>
            <a:r>
              <a:rPr lang="en" sz="1200"/>
              <a:t> inputs, form the </a:t>
            </a:r>
            <a:r>
              <a:rPr b="1" lang="en" sz="1200"/>
              <a:t>2</a:t>
            </a:r>
            <a:r>
              <a:rPr b="1" baseline="30000" lang="en" sz="1200"/>
              <a:t>n</a:t>
            </a:r>
            <a:r>
              <a:rPr lang="en" sz="1200"/>
              <a:t> possible input combinations and list them as binary number from 0 to (</a:t>
            </a:r>
            <a:r>
              <a:rPr b="1" lang="en" sz="1200"/>
              <a:t>2</a:t>
            </a:r>
            <a:r>
              <a:rPr b="1" baseline="30000" lang="en" sz="1200"/>
              <a:t>n</a:t>
            </a:r>
            <a:r>
              <a:rPr lang="en" sz="1200"/>
              <a:t>-1).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Label the intermediate gate outputs that are the function of any input variables or previously labeled gate outputs 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Obtain the truth table for those intermediate outputs 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200"/>
              <a:t>Proceed to obtain for the outputs of those gates which are the function of previously defined values until the columns for all outputs are determined 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Otherwise, from the derived function, it can be obtained very easily.</a:t>
            </a:r>
            <a:endParaRPr sz="1200"/>
          </a:p>
        </p:txBody>
      </p:sp>
      <p:sp>
        <p:nvSpPr>
          <p:cNvPr id="727" name="Google Shape;727;p36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Analysis Procedure: To obtain Truth Table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2" name="Google Shape;732;p37"/>
          <p:cNvCxnSpPr>
            <a:stCxn id="73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7"/>
          <p:cNvCxnSpPr>
            <a:endCxn id="73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37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Analysis Procedure: To obtain Truth Table</a:t>
            </a:r>
            <a:endParaRPr/>
          </a:p>
        </p:txBody>
      </p:sp>
      <p:pic>
        <p:nvPicPr>
          <p:cNvPr id="737" name="Google Shape;737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8191" y="1565501"/>
            <a:ext cx="4227600" cy="23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7"/>
          <p:cNvSpPr txBox="1"/>
          <p:nvPr/>
        </p:nvSpPr>
        <p:spPr>
          <a:xfrm>
            <a:off x="2428500" y="4220537"/>
            <a:ext cx="428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b="1"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truth table is identical to the truth table of the full adder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3" name="Google Shape;743;p38"/>
          <p:cNvCxnSpPr>
            <a:stCxn id="74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38"/>
          <p:cNvCxnSpPr>
            <a:endCxn id="74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38"/>
          <p:cNvSpPr txBox="1"/>
          <p:nvPr/>
        </p:nvSpPr>
        <p:spPr>
          <a:xfrm>
            <a:off x="715100" y="1574075"/>
            <a:ext cx="7516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Design of a combinational circuit starts from a problem statement (design objective)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And it ends in a logic circuit diagram or a set of Boolean functions from where the logic diagram can be obtained.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There are some steps to be followed to achieve the requested combinational circuit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8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</a:t>
            </a:r>
            <a:r>
              <a:rPr lang="en" sz="2000"/>
              <a:t> Procedure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3" name="Google Shape;753;p39"/>
          <p:cNvCxnSpPr>
            <a:stCxn id="75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39"/>
          <p:cNvCxnSpPr>
            <a:endCxn id="75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6" name="Google Shape;75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7" name="Google Shape;757;p39"/>
          <p:cNvSpPr txBox="1"/>
          <p:nvPr/>
        </p:nvSpPr>
        <p:spPr>
          <a:xfrm>
            <a:off x="715100" y="1574075"/>
            <a:ext cx="7516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From the specification of the circuit, determine the required number of inputs and outputs. Assign a symbol to each input and output variables.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Derive the truth table from the specification that defines the required relationship between inputs and outputs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Input columns have </a:t>
            </a:r>
            <a:r>
              <a:rPr b="1" lang="en"/>
              <a:t>2</a:t>
            </a:r>
            <a:r>
              <a:rPr b="1" baseline="30000" lang="en"/>
              <a:t>n</a:t>
            </a:r>
            <a:r>
              <a:rPr b="1" lang="en"/>
              <a:t> </a:t>
            </a:r>
            <a:r>
              <a:rPr lang="en"/>
              <a:t>different combinations for </a:t>
            </a:r>
            <a:r>
              <a:rPr b="1" lang="en"/>
              <a:t>n</a:t>
            </a:r>
            <a:r>
              <a:rPr lang="en"/>
              <a:t> input variables.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Output values are determined from the problem statement.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 specifications may indicate that some input combinations will not occur – </a:t>
            </a:r>
            <a:r>
              <a:rPr b="1" lang="en"/>
              <a:t>don’t care con</a:t>
            </a:r>
            <a:r>
              <a:rPr b="1" lang="en"/>
              <a:t>ditions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Obtain the simplified Boolean functions for each output as a function of the input variables.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These output functions gives the exact definition of the circuit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These output functions should be simplified by any simplification method like k-map, tabular method, algebraic manipulation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	Draw the logic diagram and verify the correctness of the design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9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 Procedure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3" name="Google Shape;763;p40"/>
          <p:cNvCxnSpPr>
            <a:stCxn id="76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0"/>
          <p:cNvCxnSpPr>
            <a:endCxn id="76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7" name="Google Shape;767;p40"/>
          <p:cNvSpPr txBox="1"/>
          <p:nvPr/>
        </p:nvSpPr>
        <p:spPr>
          <a:xfrm>
            <a:off x="715100" y="1574075"/>
            <a:ext cx="7516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In a particular application, certain criteria will serve as a guide to choose an implementation among different alternatives</a:t>
            </a:r>
            <a:r>
              <a:rPr lang="en"/>
              <a:t>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 practical design method considers such constraints: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Minimum number of </a:t>
            </a:r>
            <a:r>
              <a:rPr b="1" lang="en"/>
              <a:t>gates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Minimum number of </a:t>
            </a:r>
            <a:r>
              <a:rPr b="1" lang="en"/>
              <a:t>inputs to a gate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Minimum </a:t>
            </a:r>
            <a:r>
              <a:rPr b="1" lang="en"/>
              <a:t>propagation time of the signal </a:t>
            </a:r>
            <a:r>
              <a:rPr lang="en"/>
              <a:t>through the circuit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Minimum number of </a:t>
            </a:r>
            <a:r>
              <a:rPr b="1" lang="en"/>
              <a:t>interconnections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Limitations of the </a:t>
            </a:r>
            <a:r>
              <a:rPr b="1" lang="en"/>
              <a:t>driving capabilities of each gate </a:t>
            </a:r>
            <a:r>
              <a:rPr lang="en"/>
              <a:t>(i.e. the number of gates to which this output may be connected)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Based on the application, those constraints will be prioritized.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So there is no general statement to constitute an acceptable implementation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Most of the cases, the implementation begins with producing the simplified Boolean functions in standard form. It may proceed to further steps to meet other performance criteria </a:t>
            </a:r>
            <a:endParaRPr/>
          </a:p>
        </p:txBody>
      </p:sp>
      <p:sp>
        <p:nvSpPr>
          <p:cNvPr id="768" name="Google Shape;768;p40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 Procedure: Considerations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3" name="Google Shape;773;p41"/>
          <p:cNvCxnSpPr>
            <a:stCxn id="77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41"/>
          <p:cNvCxnSpPr>
            <a:endCxn id="77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7" name="Google Shape;777;p41"/>
          <p:cNvSpPr txBox="1"/>
          <p:nvPr/>
        </p:nvSpPr>
        <p:spPr>
          <a:xfrm>
            <a:off x="715100" y="1574075"/>
            <a:ext cx="7516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C</a:t>
            </a:r>
            <a:r>
              <a:rPr b="1" lang="en"/>
              <a:t>ircuit specification: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 practical different digital systems may use different codes and they may need to exchange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So a code converter circuit is required between them to make these two systems compatible even though they uses different binary codes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Initial Consideration: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To convert from binary code A to binary code B, the input lines must have the bit combinations specified by code A.</a:t>
            </a:r>
            <a:endParaRPr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output lines must generate the corresponding bit combinations specified by code B.</a:t>
            </a:r>
            <a:endParaRPr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Now we have to design this combinational circuit assuming code A as BCD and code B as excess-3 for decimal digits.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1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 Procedure: Example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3" name="Google Shape;783;p42"/>
          <p:cNvCxnSpPr>
            <a:stCxn id="78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42"/>
          <p:cNvCxnSpPr>
            <a:endCxn id="78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" name="Google Shape;786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7" name="Google Shape;787;p42"/>
          <p:cNvSpPr txBox="1"/>
          <p:nvPr/>
        </p:nvSpPr>
        <p:spPr>
          <a:xfrm>
            <a:off x="715100" y="1574075"/>
            <a:ext cx="751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Truth Table </a:t>
            </a:r>
            <a:r>
              <a:rPr lang="en"/>
              <a:t>for 4 input and 4 output variables:</a:t>
            </a:r>
            <a:endParaRPr/>
          </a:p>
        </p:txBody>
      </p:sp>
      <p:sp>
        <p:nvSpPr>
          <p:cNvPr id="788" name="Google Shape;788;p42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 Procedure: Example</a:t>
            </a:r>
            <a:endParaRPr/>
          </a:p>
        </p:txBody>
      </p:sp>
      <p:pic>
        <p:nvPicPr>
          <p:cNvPr id="789" name="Google Shape;78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062" y="2062999"/>
            <a:ext cx="3693875" cy="24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4" name="Google Shape;794;p43"/>
          <p:cNvCxnSpPr>
            <a:stCxn id="79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43"/>
          <p:cNvCxnSpPr>
            <a:endCxn id="79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8" name="Google Shape;798;p43"/>
          <p:cNvSpPr txBox="1"/>
          <p:nvPr/>
        </p:nvSpPr>
        <p:spPr>
          <a:xfrm>
            <a:off x="715100" y="1574075"/>
            <a:ext cx="751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K-map</a:t>
            </a:r>
            <a:r>
              <a:rPr lang="en"/>
              <a:t> for 4 output variables to obtain their simplified Boolean functions:</a:t>
            </a:r>
            <a:endParaRPr/>
          </a:p>
        </p:txBody>
      </p:sp>
      <p:sp>
        <p:nvSpPr>
          <p:cNvPr id="799" name="Google Shape;799;p43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 Procedure: Example</a:t>
            </a:r>
            <a:endParaRPr/>
          </a:p>
        </p:txBody>
      </p:sp>
      <p:pic>
        <p:nvPicPr>
          <p:cNvPr id="800" name="Google Shape;800;p43"/>
          <p:cNvPicPr preferRelativeResize="0"/>
          <p:nvPr/>
        </p:nvPicPr>
        <p:blipFill rotWithShape="1">
          <a:blip r:embed="rId3">
            <a:alphaModFix/>
          </a:blip>
          <a:srcRect b="47933" l="4398" r="0" t="0"/>
          <a:stretch/>
        </p:blipFill>
        <p:spPr>
          <a:xfrm>
            <a:off x="926937" y="2099850"/>
            <a:ext cx="3686278" cy="19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43"/>
          <p:cNvPicPr preferRelativeResize="0"/>
          <p:nvPr/>
        </p:nvPicPr>
        <p:blipFill rotWithShape="1">
          <a:blip r:embed="rId4">
            <a:alphaModFix/>
          </a:blip>
          <a:srcRect b="0" l="4807" r="0" t="50130"/>
          <a:stretch/>
        </p:blipFill>
        <p:spPr>
          <a:xfrm>
            <a:off x="4558925" y="2166061"/>
            <a:ext cx="3658138" cy="1898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44"/>
          <p:cNvCxnSpPr>
            <a:stCxn id="80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4"/>
          <p:cNvCxnSpPr>
            <a:endCxn id="80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0" name="Google Shape;810;p44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 Procedure: Example</a:t>
            </a:r>
            <a:endParaRPr/>
          </a:p>
        </p:txBody>
      </p:sp>
      <p:sp>
        <p:nvSpPr>
          <p:cNvPr id="811" name="Google Shape;811;p44"/>
          <p:cNvSpPr txBox="1"/>
          <p:nvPr/>
        </p:nvSpPr>
        <p:spPr>
          <a:xfrm>
            <a:off x="789250" y="1636175"/>
            <a:ext cx="7442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level logic diagrams of each output variables can be produced directly from their respective simplified expression in SOP forms.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with multiple-output system, these expressions can be manipulated algebraically further to obtain flexibility of common gates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Here, gate implementation might require three or more level of gates	</a:t>
            </a:r>
            <a:endParaRPr/>
          </a:p>
        </p:txBody>
      </p:sp>
      <p:pic>
        <p:nvPicPr>
          <p:cNvPr id="812" name="Google Shape;81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6735" y="3031421"/>
            <a:ext cx="4250525" cy="13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7" name="Google Shape;817;p45"/>
          <p:cNvCxnSpPr>
            <a:stCxn id="81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5"/>
          <p:cNvCxnSpPr>
            <a:endCxn id="81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45"/>
          <p:cNvSpPr txBox="1"/>
          <p:nvPr>
            <p:ph type="title"/>
          </p:nvPr>
        </p:nvSpPr>
        <p:spPr>
          <a:xfrm>
            <a:off x="715100" y="970950"/>
            <a:ext cx="73839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 Procedure: Example</a:t>
            </a:r>
            <a:endParaRPr/>
          </a:p>
        </p:txBody>
      </p:sp>
      <p:pic>
        <p:nvPicPr>
          <p:cNvPr id="822" name="Google Shape;82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503" y="1622875"/>
            <a:ext cx="3770992" cy="28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Binary Adder </a:t>
            </a:r>
            <a:endParaRPr sz="3800"/>
          </a:p>
        </p:txBody>
      </p:sp>
      <p:sp>
        <p:nvSpPr>
          <p:cNvPr id="828" name="Google Shape;828;p4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9" name="Google Shape;829;p4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0" name="Google Shape;830;p46"/>
          <p:cNvCxnSpPr>
            <a:stCxn id="828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7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Adder</a:t>
            </a:r>
            <a:endParaRPr/>
          </a:p>
        </p:txBody>
      </p:sp>
      <p:cxnSp>
        <p:nvCxnSpPr>
          <p:cNvPr id="837" name="Google Shape;837;p47"/>
          <p:cNvCxnSpPr>
            <a:stCxn id="83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47"/>
          <p:cNvCxnSpPr>
            <a:endCxn id="83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1" name="Google Shape;841;p47"/>
          <p:cNvSpPr txBox="1"/>
          <p:nvPr/>
        </p:nvSpPr>
        <p:spPr>
          <a:xfrm>
            <a:off x="791850" y="1388850"/>
            <a:ext cx="816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undamental digital circuit used to perform binary addition</a:t>
            </a:r>
            <a:endParaRPr/>
          </a:p>
        </p:txBody>
      </p:sp>
      <p:sp>
        <p:nvSpPr>
          <p:cNvPr id="842" name="Google Shape;842;p47"/>
          <p:cNvSpPr/>
          <p:nvPr/>
        </p:nvSpPr>
        <p:spPr>
          <a:xfrm>
            <a:off x="3041800" y="1938000"/>
            <a:ext cx="2961900" cy="545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Binary Adder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3" name="Google Shape;843;p47"/>
          <p:cNvSpPr/>
          <p:nvPr/>
        </p:nvSpPr>
        <p:spPr>
          <a:xfrm>
            <a:off x="728850" y="3123765"/>
            <a:ext cx="2961900" cy="343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Half Adder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4" name="Google Shape;844;p47"/>
          <p:cNvSpPr/>
          <p:nvPr/>
        </p:nvSpPr>
        <p:spPr>
          <a:xfrm>
            <a:off x="5453250" y="3123765"/>
            <a:ext cx="2961900" cy="343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Full Adder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45" name="Google Shape;845;p47"/>
          <p:cNvCxnSpPr>
            <a:stCxn id="842" idx="2"/>
            <a:endCxn id="844" idx="0"/>
          </p:cNvCxnSpPr>
          <p:nvPr/>
        </p:nvCxnSpPr>
        <p:spPr>
          <a:xfrm flipH="1" rot="-5400000">
            <a:off x="5408200" y="1597950"/>
            <a:ext cx="640500" cy="24114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6" name="Google Shape;846;p47"/>
          <p:cNvCxnSpPr>
            <a:stCxn id="842" idx="2"/>
            <a:endCxn id="843" idx="0"/>
          </p:cNvCxnSpPr>
          <p:nvPr/>
        </p:nvCxnSpPr>
        <p:spPr>
          <a:xfrm rot="5400000">
            <a:off x="3046000" y="1647150"/>
            <a:ext cx="640500" cy="23130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7" name="Google Shape;847;p47"/>
          <p:cNvSpPr txBox="1"/>
          <p:nvPr/>
        </p:nvSpPr>
        <p:spPr>
          <a:xfrm>
            <a:off x="773875" y="3680550"/>
            <a:ext cx="29169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Adds 2 bit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8" name="Google Shape;848;p47"/>
          <p:cNvSpPr txBox="1"/>
          <p:nvPr/>
        </p:nvSpPr>
        <p:spPr>
          <a:xfrm>
            <a:off x="5498275" y="3680550"/>
            <a:ext cx="29169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Adds two bits and a carry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8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Half Adder</a:t>
            </a:r>
            <a:endParaRPr/>
          </a:p>
        </p:txBody>
      </p:sp>
      <p:cxnSp>
        <p:nvCxnSpPr>
          <p:cNvPr id="854" name="Google Shape;854;p48"/>
          <p:cNvCxnSpPr>
            <a:stCxn id="85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48"/>
          <p:cNvCxnSpPr>
            <a:endCxn id="85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7" name="Google Shape;85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8" name="Google Shape;858;p48"/>
          <p:cNvSpPr txBox="1"/>
          <p:nvPr/>
        </p:nvSpPr>
        <p:spPr>
          <a:xfrm>
            <a:off x="791850" y="1388850"/>
            <a:ext cx="81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binary input bits (augend and addend) and two binary output bits (sum and carry)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Two input and two output variables</a:t>
            </a:r>
            <a:endParaRPr sz="1200"/>
          </a:p>
        </p:txBody>
      </p:sp>
      <p:sp>
        <p:nvSpPr>
          <p:cNvPr id="859" name="Google Shape;859;p48"/>
          <p:cNvSpPr txBox="1"/>
          <p:nvPr/>
        </p:nvSpPr>
        <p:spPr>
          <a:xfrm>
            <a:off x="791850" y="1998450"/>
            <a:ext cx="81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of symbols – two inputs [x &amp; y] and two outputs [S &amp; C]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S</a:t>
            </a:r>
            <a:r>
              <a:rPr lang="en" sz="1200"/>
              <a:t> represents the LSB and </a:t>
            </a:r>
            <a:r>
              <a:rPr b="1" lang="en" sz="1200"/>
              <a:t>C </a:t>
            </a:r>
            <a:r>
              <a:rPr lang="en" sz="1200"/>
              <a:t>represents the MSB of the sum</a:t>
            </a:r>
            <a:endParaRPr sz="1200"/>
          </a:p>
        </p:txBody>
      </p:sp>
      <p:pic>
        <p:nvPicPr>
          <p:cNvPr id="860" name="Google Shape;8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9487" y="2626356"/>
            <a:ext cx="2525042" cy="197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9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Half Adder</a:t>
            </a:r>
            <a:endParaRPr/>
          </a:p>
        </p:txBody>
      </p:sp>
      <p:cxnSp>
        <p:nvCxnSpPr>
          <p:cNvPr id="866" name="Google Shape;866;p49"/>
          <p:cNvCxnSpPr>
            <a:stCxn id="86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49"/>
          <p:cNvCxnSpPr>
            <a:endCxn id="86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0" name="Google Shape;870;p49"/>
          <p:cNvSpPr txBox="1"/>
          <p:nvPr/>
        </p:nvSpPr>
        <p:spPr>
          <a:xfrm>
            <a:off x="791850" y="1388850"/>
            <a:ext cx="816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Simplified </a:t>
            </a:r>
            <a:r>
              <a:rPr b="1" lang="en"/>
              <a:t>Boolean Functions</a:t>
            </a:r>
            <a:r>
              <a:rPr lang="en"/>
              <a:t> for two outputs</a:t>
            </a:r>
            <a:endParaRPr sz="1200"/>
          </a:p>
        </p:txBody>
      </p:sp>
      <p:pic>
        <p:nvPicPr>
          <p:cNvPr id="871" name="Google Shape;871;p49"/>
          <p:cNvPicPr preferRelativeResize="0"/>
          <p:nvPr/>
        </p:nvPicPr>
        <p:blipFill rotWithShape="1">
          <a:blip r:embed="rId3">
            <a:alphaModFix/>
          </a:blip>
          <a:srcRect b="0" l="0" r="0" t="5980"/>
          <a:stretch/>
        </p:blipFill>
        <p:spPr>
          <a:xfrm>
            <a:off x="3813367" y="1789054"/>
            <a:ext cx="1517275" cy="611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49"/>
          <p:cNvSpPr txBox="1"/>
          <p:nvPr/>
        </p:nvSpPr>
        <p:spPr>
          <a:xfrm>
            <a:off x="833600" y="2400450"/>
            <a:ext cx="6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functions could be implemented in different ways as well.</a:t>
            </a:r>
            <a:endParaRPr/>
          </a:p>
        </p:txBody>
      </p:sp>
      <p:pic>
        <p:nvPicPr>
          <p:cNvPr id="873" name="Google Shape;873;p49"/>
          <p:cNvPicPr preferRelativeResize="0"/>
          <p:nvPr/>
        </p:nvPicPr>
        <p:blipFill rotWithShape="1">
          <a:blip r:embed="rId4">
            <a:alphaModFix/>
          </a:blip>
          <a:srcRect b="5405" l="0" r="0" t="5690"/>
          <a:stretch/>
        </p:blipFill>
        <p:spPr>
          <a:xfrm>
            <a:off x="2838578" y="2942795"/>
            <a:ext cx="3466850" cy="13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0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r>
              <a:rPr lang="en"/>
              <a:t> Adder</a:t>
            </a:r>
            <a:endParaRPr/>
          </a:p>
        </p:txBody>
      </p:sp>
      <p:cxnSp>
        <p:nvCxnSpPr>
          <p:cNvPr id="879" name="Google Shape;879;p50"/>
          <p:cNvCxnSpPr>
            <a:stCxn id="88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50"/>
          <p:cNvCxnSpPr>
            <a:endCxn id="88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3" name="Google Shape;883;p50"/>
          <p:cNvSpPr txBox="1"/>
          <p:nvPr/>
        </p:nvSpPr>
        <p:spPr>
          <a:xfrm>
            <a:off x="791850" y="1388850"/>
            <a:ext cx="81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addition of n-bit binary numbers, it requires the use of a full adder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Bit by bit addition will be occurred beginning from the LSB</a:t>
            </a:r>
            <a:endParaRPr sz="1200"/>
          </a:p>
        </p:txBody>
      </p:sp>
      <p:sp>
        <p:nvSpPr>
          <p:cNvPr id="884" name="Google Shape;884;p50"/>
          <p:cNvSpPr txBox="1"/>
          <p:nvPr/>
        </p:nvSpPr>
        <p:spPr>
          <a:xfrm>
            <a:off x="791850" y="1998450"/>
            <a:ext cx="816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full adder is a combinational circuit that performs the arithmetic sum of three input bits</a:t>
            </a:r>
            <a:endParaRPr sz="1200"/>
          </a:p>
        </p:txBody>
      </p:sp>
      <p:sp>
        <p:nvSpPr>
          <p:cNvPr id="885" name="Google Shape;885;p50"/>
          <p:cNvSpPr txBox="1"/>
          <p:nvPr/>
        </p:nvSpPr>
        <p:spPr>
          <a:xfrm>
            <a:off x="793489" y="2382414"/>
            <a:ext cx="8169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inputs (x, y and z) and two outputs (S and C)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x and y are two significant bits to be added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z represents the carry from the previous lower significant position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Two outputs are necessary because the arithmetic sum of three binary digits ranges in value from 0 to 3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 is the LSB of the sum and C is the MSB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1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Adder</a:t>
            </a:r>
            <a:endParaRPr/>
          </a:p>
        </p:txBody>
      </p:sp>
      <p:cxnSp>
        <p:nvCxnSpPr>
          <p:cNvPr id="891" name="Google Shape;891;p51"/>
          <p:cNvCxnSpPr>
            <a:stCxn id="892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51"/>
          <p:cNvCxnSpPr>
            <a:endCxn id="89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5" name="Google Shape;89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237" y="1555200"/>
            <a:ext cx="2682954" cy="27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1"/>
          <p:cNvPicPr preferRelativeResize="0"/>
          <p:nvPr/>
        </p:nvPicPr>
        <p:blipFill rotWithShape="1">
          <a:blip r:embed="rId4">
            <a:alphaModFix/>
          </a:blip>
          <a:srcRect b="0" l="4624" r="7625" t="0"/>
          <a:stretch/>
        </p:blipFill>
        <p:spPr>
          <a:xfrm>
            <a:off x="3910789" y="2061220"/>
            <a:ext cx="4376974" cy="1937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2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Adder (SoP)</a:t>
            </a:r>
            <a:endParaRPr/>
          </a:p>
        </p:txBody>
      </p:sp>
      <p:cxnSp>
        <p:nvCxnSpPr>
          <p:cNvPr id="902" name="Google Shape;902;p52"/>
          <p:cNvCxnSpPr>
            <a:stCxn id="90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52"/>
          <p:cNvCxnSpPr>
            <a:endCxn id="90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6" name="Google Shape;906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0" y="1451850"/>
            <a:ext cx="6772200" cy="29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3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Adder </a:t>
            </a:r>
            <a:r>
              <a:rPr lang="en" sz="2500"/>
              <a:t>(with Half Adder)</a:t>
            </a:r>
            <a:endParaRPr sz="2500"/>
          </a:p>
        </p:txBody>
      </p:sp>
      <p:cxnSp>
        <p:nvCxnSpPr>
          <p:cNvPr id="912" name="Google Shape;912;p53"/>
          <p:cNvCxnSpPr>
            <a:stCxn id="91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53"/>
          <p:cNvCxnSpPr>
            <a:endCxn id="91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6" name="Google Shape;916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341" r="5602" t="0"/>
          <a:stretch/>
        </p:blipFill>
        <p:spPr>
          <a:xfrm>
            <a:off x="1755753" y="1611796"/>
            <a:ext cx="5632500" cy="225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5543" y="3373323"/>
            <a:ext cx="2512904" cy="958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4554" y="4402992"/>
            <a:ext cx="3019875" cy="306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4"/>
          <p:cNvSpPr txBox="1"/>
          <p:nvPr>
            <p:ph type="title"/>
          </p:nvPr>
        </p:nvSpPr>
        <p:spPr>
          <a:xfrm>
            <a:off x="791300" y="894750"/>
            <a:ext cx="5130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Ripple Carry Adder</a:t>
            </a:r>
            <a:endParaRPr sz="2500"/>
          </a:p>
        </p:txBody>
      </p:sp>
      <p:cxnSp>
        <p:nvCxnSpPr>
          <p:cNvPr id="924" name="Google Shape;924;p54"/>
          <p:cNvCxnSpPr>
            <a:stCxn id="92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4"/>
          <p:cNvCxnSpPr>
            <a:endCxn id="92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p54"/>
          <p:cNvSpPr txBox="1"/>
          <p:nvPr/>
        </p:nvSpPr>
        <p:spPr>
          <a:xfrm>
            <a:off x="791850" y="1388850"/>
            <a:ext cx="816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chain of </a:t>
            </a:r>
            <a:r>
              <a:rPr b="1" lang="en"/>
              <a:t>n full adders </a:t>
            </a:r>
            <a:r>
              <a:rPr lang="en"/>
              <a:t>or </a:t>
            </a:r>
            <a:r>
              <a:rPr b="1" lang="en"/>
              <a:t>a chain of one half adder </a:t>
            </a:r>
            <a:r>
              <a:rPr lang="en"/>
              <a:t>and </a:t>
            </a:r>
            <a:r>
              <a:rPr b="1" lang="en"/>
              <a:t>(n – 1) full adders </a:t>
            </a:r>
            <a:r>
              <a:rPr lang="en"/>
              <a:t>in cascade.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Subscript 0 denotes the LSB and </a:t>
            </a:r>
            <a:r>
              <a:rPr b="1" lang="en"/>
              <a:t>(n-1) </a:t>
            </a:r>
            <a:r>
              <a:rPr lang="en"/>
              <a:t>denotes the MSB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 input carry C</a:t>
            </a:r>
            <a:r>
              <a:rPr baseline="-25000" lang="en"/>
              <a:t>0</a:t>
            </a:r>
            <a:r>
              <a:rPr lang="en"/>
              <a:t> in the least significant position of the first case must be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carry of any full adder is connected to the input carry of the next full adder in the chain</a:t>
            </a:r>
            <a:endParaRPr/>
          </a:p>
        </p:txBody>
      </p:sp>
      <p:sp>
        <p:nvSpPr>
          <p:cNvPr id="929" name="Google Shape;929;p54"/>
          <p:cNvSpPr txBox="1"/>
          <p:nvPr/>
        </p:nvSpPr>
        <p:spPr>
          <a:xfrm>
            <a:off x="791850" y="2493575"/>
            <a:ext cx="749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A=1011 and B=0011 will produce the sum, S=1110 with four bit adder as  follows:</a:t>
            </a:r>
            <a:endParaRPr/>
          </a:p>
        </p:txBody>
      </p:sp>
      <p:pic>
        <p:nvPicPr>
          <p:cNvPr id="930" name="Google Shape;93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2628" y="2951800"/>
            <a:ext cx="4158750" cy="15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5"/>
          <p:cNvSpPr txBox="1"/>
          <p:nvPr>
            <p:ph type="title"/>
          </p:nvPr>
        </p:nvSpPr>
        <p:spPr>
          <a:xfrm>
            <a:off x="791300" y="894750"/>
            <a:ext cx="5130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Ripple Carry Adder</a:t>
            </a:r>
            <a:endParaRPr sz="2500"/>
          </a:p>
        </p:txBody>
      </p:sp>
      <p:cxnSp>
        <p:nvCxnSpPr>
          <p:cNvPr id="936" name="Google Shape;936;p55"/>
          <p:cNvCxnSpPr>
            <a:stCxn id="93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55"/>
          <p:cNvCxnSpPr>
            <a:endCxn id="93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0" name="Google Shape;940;p55"/>
          <p:cNvSpPr txBox="1"/>
          <p:nvPr/>
        </p:nvSpPr>
        <p:spPr>
          <a:xfrm>
            <a:off x="791850" y="1388850"/>
            <a:ext cx="81699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follow the classical method, it would require a truth table with 2</a:t>
            </a:r>
            <a:r>
              <a:rPr baseline="30000" lang="en"/>
              <a:t>9</a:t>
            </a:r>
            <a:r>
              <a:rPr lang="en"/>
              <a:t>=512 entries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By using an iterative method of cascading a standard function, it is possible to obtain a simple and straightforward implementation.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All the carries must be generated to obtain correct sum at the outputs.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941" name="Google Shape;94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235" y="2527953"/>
            <a:ext cx="5079525" cy="16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6"/>
          <p:cNvSpPr txBox="1"/>
          <p:nvPr>
            <p:ph type="title"/>
          </p:nvPr>
        </p:nvSpPr>
        <p:spPr>
          <a:xfrm>
            <a:off x="791300" y="894750"/>
            <a:ext cx="5130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Carry Propagation</a:t>
            </a:r>
            <a:endParaRPr sz="2500"/>
          </a:p>
        </p:txBody>
      </p:sp>
      <p:cxnSp>
        <p:nvCxnSpPr>
          <p:cNvPr id="947" name="Google Shape;947;p56"/>
          <p:cNvCxnSpPr>
            <a:stCxn id="94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56"/>
          <p:cNvCxnSpPr>
            <a:endCxn id="94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1" name="Google Shape;951;p56"/>
          <p:cNvSpPr txBox="1"/>
          <p:nvPr/>
        </p:nvSpPr>
        <p:spPr>
          <a:xfrm>
            <a:off x="751050" y="1589300"/>
            <a:ext cx="7579800" cy="30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10" r="-169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7"/>
          <p:cNvSpPr txBox="1"/>
          <p:nvPr>
            <p:ph type="title"/>
          </p:nvPr>
        </p:nvSpPr>
        <p:spPr>
          <a:xfrm>
            <a:off x="791300" y="894750"/>
            <a:ext cx="6602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Carry Propagation with Full Adder</a:t>
            </a:r>
            <a:endParaRPr sz="2500"/>
          </a:p>
        </p:txBody>
      </p:sp>
      <p:cxnSp>
        <p:nvCxnSpPr>
          <p:cNvPr id="957" name="Google Shape;957;p57"/>
          <p:cNvCxnSpPr>
            <a:stCxn id="95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57"/>
          <p:cNvCxnSpPr>
            <a:endCxn id="95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1" name="Google Shape;961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400" y="1611175"/>
            <a:ext cx="7501200" cy="26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700" y="3580100"/>
            <a:ext cx="1438650" cy="11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8"/>
          <p:cNvSpPr txBox="1"/>
          <p:nvPr>
            <p:ph type="title"/>
          </p:nvPr>
        </p:nvSpPr>
        <p:spPr>
          <a:xfrm>
            <a:off x="791300" y="894750"/>
            <a:ext cx="7462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Carry Propagation with 4 bit Full Adder</a:t>
            </a:r>
            <a:endParaRPr sz="2500"/>
          </a:p>
        </p:txBody>
      </p:sp>
      <p:cxnSp>
        <p:nvCxnSpPr>
          <p:cNvPr id="968" name="Google Shape;968;p58"/>
          <p:cNvCxnSpPr>
            <a:stCxn id="96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58"/>
          <p:cNvCxnSpPr>
            <a:endCxn id="96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2" name="Google Shape;972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347" y="2272206"/>
            <a:ext cx="1781400" cy="6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3474" y="2894981"/>
            <a:ext cx="6277851" cy="762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9"/>
          <p:cNvSpPr txBox="1"/>
          <p:nvPr>
            <p:ph type="title"/>
          </p:nvPr>
        </p:nvSpPr>
        <p:spPr>
          <a:xfrm>
            <a:off x="791300" y="894750"/>
            <a:ext cx="7462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Carry Lookahead Generator Circuit</a:t>
            </a:r>
            <a:endParaRPr sz="2500"/>
          </a:p>
        </p:txBody>
      </p:sp>
      <p:cxnSp>
        <p:nvCxnSpPr>
          <p:cNvPr id="979" name="Google Shape;979;p59"/>
          <p:cNvCxnSpPr>
            <a:stCxn id="98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59"/>
          <p:cNvCxnSpPr>
            <a:endCxn id="98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3" name="Google Shape;983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0600" y="1680450"/>
            <a:ext cx="2782800" cy="276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0"/>
          <p:cNvSpPr txBox="1"/>
          <p:nvPr>
            <p:ph type="title"/>
          </p:nvPr>
        </p:nvSpPr>
        <p:spPr>
          <a:xfrm>
            <a:off x="791300" y="894750"/>
            <a:ext cx="74622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4-bit Binary Adder with Carry Lookahead</a:t>
            </a:r>
            <a:endParaRPr/>
          </a:p>
        </p:txBody>
      </p:sp>
      <p:cxnSp>
        <p:nvCxnSpPr>
          <p:cNvPr id="989" name="Google Shape;989;p60"/>
          <p:cNvCxnSpPr>
            <a:stCxn id="99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60"/>
          <p:cNvCxnSpPr>
            <a:endCxn id="99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3" name="Google Shape;993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099" y="1499871"/>
            <a:ext cx="2737800" cy="30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1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Binary Subtractor</a:t>
            </a:r>
            <a:endParaRPr sz="3800"/>
          </a:p>
        </p:txBody>
      </p:sp>
      <p:sp>
        <p:nvSpPr>
          <p:cNvPr id="999" name="Google Shape;999;p61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00" name="Google Shape;1000;p61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1" name="Google Shape;1001;p61"/>
          <p:cNvCxnSpPr>
            <a:stCxn id="99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2" name="Google Shape;1002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2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Subtractor</a:t>
            </a:r>
            <a:endParaRPr/>
          </a:p>
        </p:txBody>
      </p:sp>
      <p:cxnSp>
        <p:nvCxnSpPr>
          <p:cNvPr id="1008" name="Google Shape;1008;p62"/>
          <p:cNvCxnSpPr>
            <a:stCxn id="100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62"/>
          <p:cNvCxnSpPr>
            <a:endCxn id="100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1" name="Google Shape;1011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2" name="Google Shape;1012;p62"/>
          <p:cNvSpPr txBox="1"/>
          <p:nvPr/>
        </p:nvSpPr>
        <p:spPr>
          <a:xfrm>
            <a:off x="791850" y="1617450"/>
            <a:ext cx="7857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subtraction of two unsigned binary numbers – taking the complement of the subtrahend and adding it to the minuend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Complement of a number can be obtained by 1’s or 2’s complement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subtraction is a kind of addition operation – needs full adder for machine implementation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the minuend bit is smaller than the subtrahend bit, a 1 is borrowed from the next significant position – also must be conveyed to the next higher pair of bits by means of a binary signal from current stage to next higher stage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signed-complement system, addition and subtraction could be implemented using same circuit like unsigned number system.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Users should interpret the system wisely considering it is signed or unsigned number. So same circuit could be used to handle both types of arithmetic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3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Subtractor</a:t>
            </a:r>
            <a:endParaRPr/>
          </a:p>
        </p:txBody>
      </p:sp>
      <p:cxnSp>
        <p:nvCxnSpPr>
          <p:cNvPr id="1018" name="Google Shape;1018;p63"/>
          <p:cNvCxnSpPr>
            <a:stCxn id="10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63"/>
          <p:cNvCxnSpPr>
            <a:endCxn id="10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2" name="Google Shape;1022;p63"/>
          <p:cNvSpPr txBox="1"/>
          <p:nvPr/>
        </p:nvSpPr>
        <p:spPr>
          <a:xfrm>
            <a:off x="791850" y="1388850"/>
            <a:ext cx="816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digital circuit used to perform binary subtraction of two unsigned numbers</a:t>
            </a:r>
            <a:endParaRPr/>
          </a:p>
        </p:txBody>
      </p:sp>
      <p:sp>
        <p:nvSpPr>
          <p:cNvPr id="1023" name="Google Shape;1023;p63"/>
          <p:cNvSpPr/>
          <p:nvPr/>
        </p:nvSpPr>
        <p:spPr>
          <a:xfrm>
            <a:off x="3041800" y="1938000"/>
            <a:ext cx="2961900" cy="545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Binary Subtractor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4" name="Google Shape;1024;p63"/>
          <p:cNvSpPr/>
          <p:nvPr/>
        </p:nvSpPr>
        <p:spPr>
          <a:xfrm>
            <a:off x="728850" y="3123765"/>
            <a:ext cx="2961900" cy="343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Half Subtractor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5" name="Google Shape;1025;p63"/>
          <p:cNvSpPr/>
          <p:nvPr/>
        </p:nvSpPr>
        <p:spPr>
          <a:xfrm>
            <a:off x="5453250" y="3123765"/>
            <a:ext cx="2961900" cy="3438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Full Subtractor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26" name="Google Shape;1026;p63"/>
          <p:cNvCxnSpPr>
            <a:stCxn id="1023" idx="2"/>
            <a:endCxn id="1025" idx="0"/>
          </p:cNvCxnSpPr>
          <p:nvPr/>
        </p:nvCxnSpPr>
        <p:spPr>
          <a:xfrm flipH="1" rot="-5400000">
            <a:off x="5408200" y="1597950"/>
            <a:ext cx="640500" cy="24114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7" name="Google Shape;1027;p63"/>
          <p:cNvCxnSpPr>
            <a:stCxn id="1023" idx="2"/>
            <a:endCxn id="1024" idx="0"/>
          </p:cNvCxnSpPr>
          <p:nvPr/>
        </p:nvCxnSpPr>
        <p:spPr>
          <a:xfrm rot="5400000">
            <a:off x="3046000" y="1647150"/>
            <a:ext cx="640500" cy="23130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8" name="Google Shape;1028;p63"/>
          <p:cNvSpPr txBox="1"/>
          <p:nvPr/>
        </p:nvSpPr>
        <p:spPr>
          <a:xfrm>
            <a:off x="773875" y="3680550"/>
            <a:ext cx="29169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Subtracts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2 bit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9" name="Google Shape;1029;p63"/>
          <p:cNvSpPr txBox="1"/>
          <p:nvPr/>
        </p:nvSpPr>
        <p:spPr>
          <a:xfrm>
            <a:off x="5498275" y="3680550"/>
            <a:ext cx="29169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Subtracts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two bits and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considers borrow from last bit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4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Half Subtractor</a:t>
            </a:r>
            <a:endParaRPr/>
          </a:p>
        </p:txBody>
      </p:sp>
      <p:cxnSp>
        <p:nvCxnSpPr>
          <p:cNvPr id="1035" name="Google Shape;1035;p64"/>
          <p:cNvCxnSpPr>
            <a:stCxn id="1036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64"/>
          <p:cNvCxnSpPr>
            <a:endCxn id="1036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9" name="Google Shape;1039;p64"/>
          <p:cNvSpPr txBox="1"/>
          <p:nvPr/>
        </p:nvSpPr>
        <p:spPr>
          <a:xfrm>
            <a:off x="791850" y="1388850"/>
            <a:ext cx="779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ubtracts two bits and produces their differences and an output that specifies if a 1 is borrowed or not to next stage.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Designation of the input variables – minuend (x) and subtrahend (y)</a:t>
            </a:r>
            <a:endParaRPr/>
          </a:p>
        </p:txBody>
      </p:sp>
      <p:sp>
        <p:nvSpPr>
          <p:cNvPr id="1040" name="Google Shape;1040;p64"/>
          <p:cNvSpPr txBox="1"/>
          <p:nvPr/>
        </p:nvSpPr>
        <p:spPr>
          <a:xfrm>
            <a:off x="791850" y="2150850"/>
            <a:ext cx="816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of symbols – two inputs [x &amp; y] and two outputs [D &amp; B]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B</a:t>
            </a:r>
            <a:r>
              <a:rPr lang="en" sz="1200"/>
              <a:t>  represents the </a:t>
            </a:r>
            <a:r>
              <a:rPr lang="en" sz="1200"/>
              <a:t>borrow </a:t>
            </a:r>
            <a:r>
              <a:rPr lang="en" sz="1200"/>
              <a:t>and </a:t>
            </a:r>
            <a:r>
              <a:rPr b="1" lang="en" sz="1200"/>
              <a:t>D </a:t>
            </a:r>
            <a:r>
              <a:rPr lang="en" sz="1200"/>
              <a:t>represents the Difference</a:t>
            </a:r>
            <a:endParaRPr sz="1200"/>
          </a:p>
        </p:txBody>
      </p:sp>
      <p:pic>
        <p:nvPicPr>
          <p:cNvPr id="1041" name="Google Shape;104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0524" y="2859875"/>
            <a:ext cx="2802975" cy="16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65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Half Subtractor</a:t>
            </a:r>
            <a:endParaRPr/>
          </a:p>
        </p:txBody>
      </p:sp>
      <p:cxnSp>
        <p:nvCxnSpPr>
          <p:cNvPr id="1047" name="Google Shape;1047;p65"/>
          <p:cNvCxnSpPr>
            <a:stCxn id="104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65"/>
          <p:cNvCxnSpPr>
            <a:endCxn id="104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0" name="Google Shape;105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1" name="Google Shape;1051;p65"/>
          <p:cNvSpPr txBox="1"/>
          <p:nvPr/>
        </p:nvSpPr>
        <p:spPr>
          <a:xfrm>
            <a:off x="1107450" y="1515900"/>
            <a:ext cx="6929100" cy="2867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2" name="Google Shape;105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8663" y="3055951"/>
            <a:ext cx="2186675" cy="15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6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Subtractor</a:t>
            </a:r>
            <a:endParaRPr/>
          </a:p>
        </p:txBody>
      </p:sp>
      <p:cxnSp>
        <p:nvCxnSpPr>
          <p:cNvPr id="1058" name="Google Shape;1058;p66"/>
          <p:cNvCxnSpPr>
            <a:stCxn id="105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66"/>
          <p:cNvCxnSpPr>
            <a:endCxn id="105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2" name="Google Shape;1062;p66"/>
          <p:cNvSpPr txBox="1"/>
          <p:nvPr/>
        </p:nvSpPr>
        <p:spPr>
          <a:xfrm>
            <a:off x="791850" y="1998450"/>
            <a:ext cx="816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3" name="Google Shape;1063;p66"/>
          <p:cNvSpPr txBox="1"/>
          <p:nvPr/>
        </p:nvSpPr>
        <p:spPr>
          <a:xfrm>
            <a:off x="793489" y="2382414"/>
            <a:ext cx="816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6"/>
          <p:cNvSpPr txBox="1"/>
          <p:nvPr/>
        </p:nvSpPr>
        <p:spPr>
          <a:xfrm>
            <a:off x="916150" y="1451847"/>
            <a:ext cx="7535400" cy="307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30" r="-1200" t="-23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7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Subtractor</a:t>
            </a:r>
            <a:endParaRPr/>
          </a:p>
        </p:txBody>
      </p:sp>
      <p:cxnSp>
        <p:nvCxnSpPr>
          <p:cNvPr id="1070" name="Google Shape;1070;p67"/>
          <p:cNvCxnSpPr>
            <a:stCxn id="107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67"/>
          <p:cNvCxnSpPr>
            <a:endCxn id="107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4" name="Google Shape;1074;p67"/>
          <p:cNvSpPr txBox="1"/>
          <p:nvPr/>
        </p:nvSpPr>
        <p:spPr>
          <a:xfrm>
            <a:off x="862650" y="152987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Truth table of the full-subtractor: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K-map for full-subtractor to simplify: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5" name="Google Shape;107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3228" y="1377472"/>
            <a:ext cx="2519000" cy="150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1838" y="3306125"/>
            <a:ext cx="2342325" cy="9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68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Subtractor</a:t>
            </a:r>
            <a:endParaRPr/>
          </a:p>
        </p:txBody>
      </p:sp>
      <p:cxnSp>
        <p:nvCxnSpPr>
          <p:cNvPr id="1082" name="Google Shape;1082;p68"/>
          <p:cNvCxnSpPr>
            <a:stCxn id="108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68"/>
          <p:cNvCxnSpPr>
            <a:endCxn id="108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5" name="Google Shape;1085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6" name="Google Shape;1086;p68"/>
          <p:cNvSpPr txBox="1"/>
          <p:nvPr/>
        </p:nvSpPr>
        <p:spPr>
          <a:xfrm>
            <a:off x="994500" y="1451850"/>
            <a:ext cx="7155000" cy="296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-116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69"/>
          <p:cNvSpPr txBox="1"/>
          <p:nvPr>
            <p:ph type="title"/>
          </p:nvPr>
        </p:nvSpPr>
        <p:spPr>
          <a:xfrm>
            <a:off x="791300" y="8947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Subtractor</a:t>
            </a:r>
            <a:endParaRPr/>
          </a:p>
        </p:txBody>
      </p:sp>
      <p:cxnSp>
        <p:nvCxnSpPr>
          <p:cNvPr id="1092" name="Google Shape;1092;p69"/>
          <p:cNvCxnSpPr>
            <a:stCxn id="109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69"/>
          <p:cNvCxnSpPr>
            <a:endCxn id="109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" name="Google Shape;1095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6" name="Google Shape;1096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249" y="1854002"/>
            <a:ext cx="6793500" cy="26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0"/>
          <p:cNvSpPr txBox="1"/>
          <p:nvPr>
            <p:ph type="title"/>
          </p:nvPr>
        </p:nvSpPr>
        <p:spPr>
          <a:xfrm>
            <a:off x="791300" y="894750"/>
            <a:ext cx="591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bit Full Adder-Subtractor</a:t>
            </a:r>
            <a:endParaRPr/>
          </a:p>
        </p:txBody>
      </p:sp>
      <p:cxnSp>
        <p:nvCxnSpPr>
          <p:cNvPr id="1102" name="Google Shape;1102;p70"/>
          <p:cNvCxnSpPr>
            <a:stCxn id="110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70"/>
          <p:cNvCxnSpPr>
            <a:endCxn id="110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5" name="Google Shape;1105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6" name="Google Shape;1106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550" y="1635875"/>
            <a:ext cx="5316900" cy="26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71"/>
          <p:cNvSpPr txBox="1"/>
          <p:nvPr>
            <p:ph type="title"/>
          </p:nvPr>
        </p:nvSpPr>
        <p:spPr>
          <a:xfrm>
            <a:off x="791300" y="894750"/>
            <a:ext cx="591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Overflow</a:t>
            </a:r>
            <a:endParaRPr/>
          </a:p>
        </p:txBody>
      </p:sp>
      <p:cxnSp>
        <p:nvCxnSpPr>
          <p:cNvPr id="1112" name="Google Shape;1112;p71"/>
          <p:cNvCxnSpPr>
            <a:stCxn id="111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71"/>
          <p:cNvCxnSpPr>
            <a:endCxn id="111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6" name="Google Shape;1116;p71"/>
          <p:cNvSpPr txBox="1"/>
          <p:nvPr/>
        </p:nvSpPr>
        <p:spPr>
          <a:xfrm>
            <a:off x="883650" y="1598275"/>
            <a:ext cx="7376700" cy="28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161925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two numbers with </a:t>
            </a:r>
            <a:r>
              <a:rPr b="1" i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digits each are added and the sum is a number occupying </a:t>
            </a:r>
            <a:r>
              <a:rPr b="1" i="1" lang="e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 + 1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digits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in digital computers, as there is a finite number of bits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Overflow detection is required to handle this occurrence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possible with paper and pencil as there is no limit of space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b="1" lang="en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Only happens during addition</a:t>
            </a: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but not for subtraction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both numbers are either positive or negative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depends on the types of numbers: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Unsigned numbers: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Overflow detected by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end carry of the MSB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Signed numbers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range is maintained from max positive to min negative. If the sum crosses the range, an overflow occurs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3" marL="16002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(n+1)th bit indicates the sign bit of the result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 bit is treated as a part of a number and carry doesn’t indicate an overflow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72"/>
          <p:cNvSpPr txBox="1"/>
          <p:nvPr>
            <p:ph type="title"/>
          </p:nvPr>
        </p:nvSpPr>
        <p:spPr>
          <a:xfrm>
            <a:off x="791300" y="894750"/>
            <a:ext cx="591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Overflow</a:t>
            </a:r>
            <a:endParaRPr/>
          </a:p>
        </p:txBody>
      </p:sp>
      <p:cxnSp>
        <p:nvCxnSpPr>
          <p:cNvPr id="1122" name="Google Shape;1122;p72"/>
          <p:cNvCxnSpPr>
            <a:stCxn id="112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72"/>
          <p:cNvCxnSpPr>
            <a:endCxn id="112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" name="Google Shape;1125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6" name="Google Shape;1126;p7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739" y="1516226"/>
            <a:ext cx="6321900" cy="13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72"/>
          <p:cNvSpPr txBox="1"/>
          <p:nvPr/>
        </p:nvSpPr>
        <p:spPr>
          <a:xfrm>
            <a:off x="615125" y="3054125"/>
            <a:ext cx="7842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>
                <a:solidFill>
                  <a:srgbClr val="231F20"/>
                </a:solidFill>
                <a:latin typeface="Calibri"/>
                <a:ea typeface="Calibri"/>
                <a:cs typeface="Calibri"/>
                <a:sym typeface="Calibri"/>
              </a:rPr>
              <a:t>Note that the eight-bit result that should have been positive has a negative sign bit (i.e., the eighth bit) and the eight-bit result that should have been negative has a positive sign </a:t>
            </a:r>
            <a:r>
              <a:rPr b="0" i="0" lang="en" sz="1700">
                <a:solidFill>
                  <a:srgbClr val="231F20"/>
                </a:solidFill>
                <a:latin typeface="Times"/>
                <a:ea typeface="Times"/>
                <a:cs typeface="Times"/>
                <a:sym typeface="Times"/>
              </a:rPr>
              <a:t>bit. </a:t>
            </a:r>
            <a:r>
              <a:rPr lang="en" sz="1700">
                <a:solidFill>
                  <a:srgbClr val="231F20"/>
                </a:solidFill>
                <a:latin typeface="Times"/>
                <a:ea typeface="Times"/>
                <a:cs typeface="Times"/>
                <a:sym typeface="Times"/>
              </a:rPr>
              <a:t>As 9-bit storage is not possible, an overflow has occurred.</a:t>
            </a:r>
            <a:b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Overflow condition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carry in and out in the MSB position is not same. (Try +70 and +50 to check overflow) </a:t>
            </a:r>
            <a:endParaRPr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3"/>
          <p:cNvSpPr txBox="1"/>
          <p:nvPr>
            <p:ph type="title"/>
          </p:nvPr>
        </p:nvSpPr>
        <p:spPr>
          <a:xfrm>
            <a:off x="791300" y="894750"/>
            <a:ext cx="591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Resources</a:t>
            </a:r>
            <a:endParaRPr/>
          </a:p>
        </p:txBody>
      </p:sp>
      <p:cxnSp>
        <p:nvCxnSpPr>
          <p:cNvPr id="1133" name="Google Shape;1133;p73"/>
          <p:cNvCxnSpPr>
            <a:stCxn id="113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73"/>
          <p:cNvCxnSpPr>
            <a:endCxn id="113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7" name="Google Shape;1137;p73"/>
          <p:cNvSpPr txBox="1"/>
          <p:nvPr/>
        </p:nvSpPr>
        <p:spPr>
          <a:xfrm>
            <a:off x="936350" y="1574975"/>
            <a:ext cx="53958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Virtual Labs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4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1143" name="Google Shape;1143;p74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1144" name="Google Shape;1144;p74"/>
          <p:cNvCxnSpPr>
            <a:endCxn id="1142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5" name="Google Shape;114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