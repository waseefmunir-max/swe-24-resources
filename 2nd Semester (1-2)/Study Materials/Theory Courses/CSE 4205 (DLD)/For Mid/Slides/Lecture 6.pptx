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Nunito"/>
      <p:regular r:id="rId33"/>
      <p:bold r:id="rId34"/>
      <p:italic r:id="rId35"/>
      <p:boldItalic r:id="rId36"/>
    </p:embeddedFont>
    <p:embeddedFont>
      <p:font typeface="Inter T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  <p:embeddedFont>
      <p:font typeface="Inter Tight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001637-0A90-4260-875D-E840C32BD956}">
  <a:tblStyle styleId="{F7001637-0A90-4260-875D-E840C32BD9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Tight-bold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7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italic.fntdata"/><Relationship Id="rId24" Type="http://schemas.openxmlformats.org/officeDocument/2006/relationships/slide" Target="slides/slide19.xml"/><Relationship Id="rId46" Type="http://schemas.openxmlformats.org/officeDocument/2006/relationships/font" Target="fonts/InterTightSemiBold-bold.fntdata"/><Relationship Id="rId23" Type="http://schemas.openxmlformats.org/officeDocument/2006/relationships/slide" Target="slides/slide18.xml"/><Relationship Id="rId45" Type="http://schemas.openxmlformats.org/officeDocument/2006/relationships/font" Target="fonts/InterTight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InterTightSemiBold-boldItalic.fntdata"/><Relationship Id="rId25" Type="http://schemas.openxmlformats.org/officeDocument/2006/relationships/slide" Target="slides/slide20.xml"/><Relationship Id="rId47" Type="http://schemas.openxmlformats.org/officeDocument/2006/relationships/font" Target="fonts/InterTightSemiBold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Nunito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Nunito-italic.fntdata"/><Relationship Id="rId12" Type="http://schemas.openxmlformats.org/officeDocument/2006/relationships/slide" Target="slides/slide7.xml"/><Relationship Id="rId34" Type="http://schemas.openxmlformats.org/officeDocument/2006/relationships/font" Target="fonts/Nunito-bold.fntdata"/><Relationship Id="rId15" Type="http://schemas.openxmlformats.org/officeDocument/2006/relationships/slide" Target="slides/slide10.xml"/><Relationship Id="rId37" Type="http://schemas.openxmlformats.org/officeDocument/2006/relationships/font" Target="fonts/InterTight-regular.fntdata"/><Relationship Id="rId14" Type="http://schemas.openxmlformats.org/officeDocument/2006/relationships/slide" Target="slides/slide9.xml"/><Relationship Id="rId36" Type="http://schemas.openxmlformats.org/officeDocument/2006/relationships/font" Target="fonts/Nunito-boldItalic.fntdata"/><Relationship Id="rId17" Type="http://schemas.openxmlformats.org/officeDocument/2006/relationships/slide" Target="slides/slide12.xml"/><Relationship Id="rId39" Type="http://schemas.openxmlformats.org/officeDocument/2006/relationships/font" Target="fonts/InterTight-italic.fntdata"/><Relationship Id="rId16" Type="http://schemas.openxmlformats.org/officeDocument/2006/relationships/slide" Target="slides/slide11.xml"/><Relationship Id="rId38" Type="http://schemas.openxmlformats.org/officeDocument/2006/relationships/font" Target="fonts/InterTigh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5486a9849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5486a9849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5af591e6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5af591e6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5af591e60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5af591e60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5a79f492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5a79f492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5af591e60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5af591e60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5af591e60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5af591e60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5af591e60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5af591e60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5af591e60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5af591e60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5af591e601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5af591e60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5af591e60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5af591e60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5af591e60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5af591e60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5a79f4929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5a79f4929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5a79f4929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5a79f4929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5ecfffeff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5ecfffeff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5af591e60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5af591e60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5af591e60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5af591e60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5af591e60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5af591e60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5af591e60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5af591e60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5af591e601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5af591e60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5af591e601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5af591e601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5af591e601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5af591e601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5d81daa5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5d81daa5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5d81daa54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5d81daa54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54cb60bb7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54cb60bb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madformath.com/calculators/digital-systems/karnaugh-maps/karnaugh-map-solver" TargetMode="External"/><Relationship Id="rId4" Type="http://schemas.openxmlformats.org/officeDocument/2006/relationships/hyperlink" Target="https://www.geeksforgeeks.org/introduction-of-k-map-karnaugh-map/" TargetMode="External"/><Relationship Id="rId5" Type="http://schemas.openxmlformats.org/officeDocument/2006/relationships/hyperlink" Target="https://www.cs.umd.edu/~gasarch/COURSES/250/S22/slides/LOGIC/kmaps.pdf" TargetMode="External"/><Relationship Id="rId6" Type="http://schemas.openxmlformats.org/officeDocument/2006/relationships/hyperlink" Target="https://www.gatevidyalay.com/tag/karnaugh-map-questions-and-answers-pdf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Karnaugh Maps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Karnaugh Maps</a:t>
            </a:r>
            <a:endParaRPr sz="38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simplification made easy</a:t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Karnaugh maps (K-maps) </a:t>
            </a:r>
            <a:r>
              <a:rPr lang="en" sz="1500">
                <a:solidFill>
                  <a:schemeClr val="dk1"/>
                </a:solidFill>
              </a:rPr>
              <a:t>are a </a:t>
            </a:r>
            <a:r>
              <a:rPr b="1" lang="en" sz="1500">
                <a:solidFill>
                  <a:schemeClr val="dk1"/>
                </a:solidFill>
              </a:rPr>
              <a:t>visual method </a:t>
            </a:r>
            <a:r>
              <a:rPr lang="en" sz="1500">
                <a:solidFill>
                  <a:schemeClr val="dk1"/>
                </a:solidFill>
              </a:rPr>
              <a:t>used in digital logic design to </a:t>
            </a:r>
            <a:r>
              <a:rPr b="1" lang="en" sz="1500">
                <a:solidFill>
                  <a:schemeClr val="dk1"/>
                </a:solidFill>
              </a:rPr>
              <a:t>simplify Boolean algebra expressions</a:t>
            </a:r>
            <a:r>
              <a:rPr lang="en" sz="1500">
                <a:solidFill>
                  <a:schemeClr val="dk1"/>
                </a:solidFill>
              </a:rPr>
              <a:t>.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18" name="Google Shape;618;p27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Karnaugh Maps</a:t>
            </a:r>
            <a:endParaRPr/>
          </a:p>
        </p:txBody>
      </p:sp>
      <p:cxnSp>
        <p:nvCxnSpPr>
          <p:cNvPr id="619" name="Google Shape;619;p27"/>
          <p:cNvCxnSpPr>
            <a:stCxn id="62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27"/>
          <p:cNvCxnSpPr>
            <a:endCxn id="62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27"/>
          <p:cNvSpPr txBox="1"/>
          <p:nvPr>
            <p:ph idx="1" type="body"/>
          </p:nvPr>
        </p:nvSpPr>
        <p:spPr>
          <a:xfrm>
            <a:off x="715100" y="21376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They help </a:t>
            </a:r>
            <a:r>
              <a:rPr b="1" lang="en" sz="1500">
                <a:solidFill>
                  <a:schemeClr val="dk1"/>
                </a:solidFill>
              </a:rPr>
              <a:t>reduce logic circuits </a:t>
            </a:r>
            <a:r>
              <a:rPr lang="en" sz="1500">
                <a:solidFill>
                  <a:schemeClr val="dk1"/>
                </a:solidFill>
              </a:rPr>
              <a:t>by </a:t>
            </a:r>
            <a:r>
              <a:rPr b="1" lang="en" sz="1500">
                <a:solidFill>
                  <a:schemeClr val="dk1"/>
                </a:solidFill>
              </a:rPr>
              <a:t>minimizing the number of terms </a:t>
            </a:r>
            <a:r>
              <a:rPr lang="en" sz="1500">
                <a:solidFill>
                  <a:schemeClr val="dk1"/>
                </a:solidFill>
              </a:rPr>
              <a:t>and </a:t>
            </a:r>
            <a:r>
              <a:rPr b="1" lang="en" sz="1500">
                <a:solidFill>
                  <a:schemeClr val="dk1"/>
                </a:solidFill>
              </a:rPr>
              <a:t>variables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8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</a:rPr>
              <a:t>A few things before we proceed</a:t>
            </a:r>
            <a:endParaRPr sz="6000">
              <a:solidFill>
                <a:schemeClr val="dk1"/>
              </a:solidFill>
            </a:endParaRPr>
          </a:p>
        </p:txBody>
      </p:sp>
      <p:cxnSp>
        <p:nvCxnSpPr>
          <p:cNvPr id="629" name="Google Shape;629;p28"/>
          <p:cNvCxnSpPr>
            <a:stCxn id="63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28"/>
          <p:cNvCxnSpPr>
            <a:endCxn id="63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9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Gray code is a </a:t>
            </a:r>
            <a:r>
              <a:rPr b="1" lang="en" sz="1500">
                <a:solidFill>
                  <a:schemeClr val="dk1"/>
                </a:solidFill>
              </a:rPr>
              <a:t>binary coding system </a:t>
            </a:r>
            <a:r>
              <a:rPr lang="en" sz="1500">
                <a:solidFill>
                  <a:schemeClr val="dk1"/>
                </a:solidFill>
              </a:rPr>
              <a:t>where </a:t>
            </a:r>
            <a:r>
              <a:rPr b="1" lang="en" sz="1500">
                <a:solidFill>
                  <a:schemeClr val="dk1"/>
                </a:solidFill>
              </a:rPr>
              <a:t>consecutive values differ by only one bit</a:t>
            </a:r>
            <a:r>
              <a:rPr lang="en" sz="1500">
                <a:solidFill>
                  <a:schemeClr val="dk1"/>
                </a:solidFill>
              </a:rPr>
              <a:t>. This property </a:t>
            </a:r>
            <a:r>
              <a:rPr b="1" lang="en" sz="1500">
                <a:solidFill>
                  <a:schemeClr val="dk1"/>
                </a:solidFill>
              </a:rPr>
              <a:t>minimizes errors </a:t>
            </a:r>
            <a:r>
              <a:rPr lang="en" sz="1500">
                <a:solidFill>
                  <a:schemeClr val="dk1"/>
                </a:solidFill>
              </a:rPr>
              <a:t>when </a:t>
            </a:r>
            <a:r>
              <a:rPr b="1" lang="en" sz="1500">
                <a:solidFill>
                  <a:schemeClr val="dk1"/>
                </a:solidFill>
              </a:rPr>
              <a:t>transitioning between values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38" name="Google Shape;638;p29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Gray Code</a:t>
            </a:r>
            <a:endParaRPr/>
          </a:p>
        </p:txBody>
      </p:sp>
      <p:cxnSp>
        <p:nvCxnSpPr>
          <p:cNvPr id="639" name="Google Shape;639;p29"/>
          <p:cNvCxnSpPr>
            <a:stCxn id="64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29"/>
          <p:cNvCxnSpPr>
            <a:endCxn id="64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3" name="Google Shape;643;p29"/>
          <p:cNvPicPr preferRelativeResize="0"/>
          <p:nvPr/>
        </p:nvPicPr>
        <p:blipFill rotWithShape="1">
          <a:blip r:embed="rId3">
            <a:alphaModFix/>
          </a:blip>
          <a:srcRect b="44736" l="0" r="0" t="0"/>
          <a:stretch/>
        </p:blipFill>
        <p:spPr>
          <a:xfrm>
            <a:off x="2416100" y="2373525"/>
            <a:ext cx="4311775" cy="18701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8" name="Google Shape;648;p30"/>
          <p:cNvGraphicFramePr/>
          <p:nvPr/>
        </p:nvGraphicFramePr>
        <p:xfrm>
          <a:off x="6621100" y="8921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{F7001637-0A90-4260-875D-E840C32BD956}</a:tableStyleId>
              </a:tblPr>
              <a:tblGrid>
                <a:gridCol w="433525"/>
                <a:gridCol w="433525"/>
                <a:gridCol w="433525"/>
                <a:gridCol w="433525"/>
              </a:tblGrid>
              <a:tr h="2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649" name="Google Shape;649;p30"/>
          <p:cNvSpPr txBox="1"/>
          <p:nvPr>
            <p:ph type="title"/>
          </p:nvPr>
        </p:nvSpPr>
        <p:spPr>
          <a:xfrm>
            <a:off x="715100" y="7423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Truth Tables</a:t>
            </a:r>
            <a:endParaRPr/>
          </a:p>
        </p:txBody>
      </p:sp>
      <p:cxnSp>
        <p:nvCxnSpPr>
          <p:cNvPr id="650" name="Google Shape;650;p30"/>
          <p:cNvCxnSpPr>
            <a:stCxn id="65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30"/>
          <p:cNvCxnSpPr>
            <a:endCxn id="65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4" name="Google Shape;654;p30"/>
          <p:cNvSpPr txBox="1"/>
          <p:nvPr>
            <p:ph idx="1" type="body"/>
          </p:nvPr>
        </p:nvSpPr>
        <p:spPr>
          <a:xfrm>
            <a:off x="715100" y="1451850"/>
            <a:ext cx="54705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We won’t be drawing truth tables anymore, rather we will be only mentioning minterms/maxterms.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55" name="Google Shape;6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925" y="2400300"/>
            <a:ext cx="411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100" y="2873175"/>
            <a:ext cx="195262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1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Boolean expression can be simplified by Boolean algebra using </a:t>
            </a:r>
            <a:r>
              <a:rPr b="1" lang="en" sz="1500">
                <a:solidFill>
                  <a:schemeClr val="dk1"/>
                </a:solidFill>
              </a:rPr>
              <a:t>cut and try method, </a:t>
            </a:r>
            <a:r>
              <a:rPr lang="en" sz="1500">
                <a:solidFill>
                  <a:schemeClr val="dk1"/>
                </a:solidFill>
              </a:rPr>
              <a:t>but it’s </a:t>
            </a:r>
            <a:r>
              <a:rPr b="1" lang="en" sz="1500">
                <a:solidFill>
                  <a:schemeClr val="dk1"/>
                </a:solidFill>
              </a:rPr>
              <a:t>manual</a:t>
            </a:r>
            <a:r>
              <a:rPr lang="en" sz="1500">
                <a:solidFill>
                  <a:schemeClr val="dk1"/>
                </a:solidFill>
              </a:rPr>
              <a:t> and there are </a:t>
            </a:r>
            <a:r>
              <a:rPr b="1" lang="en" sz="1500">
                <a:solidFill>
                  <a:schemeClr val="dk1"/>
                </a:solidFill>
              </a:rPr>
              <a:t>no specific rules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62" name="Google Shape;662;p31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Karnaugh Maps</a:t>
            </a:r>
            <a:endParaRPr/>
          </a:p>
        </p:txBody>
      </p:sp>
      <p:cxnSp>
        <p:nvCxnSpPr>
          <p:cNvPr id="663" name="Google Shape;663;p31"/>
          <p:cNvCxnSpPr>
            <a:stCxn id="66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31"/>
          <p:cNvCxnSpPr>
            <a:endCxn id="66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7" name="Google Shape;667;p31"/>
          <p:cNvSpPr txBox="1"/>
          <p:nvPr>
            <p:ph idx="1" type="body"/>
          </p:nvPr>
        </p:nvSpPr>
        <p:spPr>
          <a:xfrm>
            <a:off x="715100" y="21376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K-map is a simple and straightforward way to minimize boolean function.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68" name="Google Shape;668;p31"/>
          <p:cNvSpPr txBox="1"/>
          <p:nvPr>
            <p:ph idx="1" type="body"/>
          </p:nvPr>
        </p:nvSpPr>
        <p:spPr>
          <a:xfrm>
            <a:off x="715100" y="2594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Can be regarded as pictorial form of a truth table.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2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Made up of </a:t>
            </a:r>
            <a:r>
              <a:rPr b="1" lang="en" sz="1500">
                <a:solidFill>
                  <a:schemeClr val="dk1"/>
                </a:solidFill>
              </a:rPr>
              <a:t>squares</a:t>
            </a:r>
            <a:r>
              <a:rPr lang="en" sz="1500">
                <a:solidFill>
                  <a:schemeClr val="dk1"/>
                </a:solidFill>
              </a:rPr>
              <a:t>, each square represents a </a:t>
            </a:r>
            <a:r>
              <a:rPr b="1" lang="en" sz="1500">
                <a:solidFill>
                  <a:schemeClr val="dk1"/>
                </a:solidFill>
              </a:rPr>
              <a:t>minterm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74" name="Google Shape;674;p32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Karnaugh Maps</a:t>
            </a:r>
            <a:endParaRPr/>
          </a:p>
        </p:txBody>
      </p:sp>
      <p:cxnSp>
        <p:nvCxnSpPr>
          <p:cNvPr id="675" name="Google Shape;675;p32"/>
          <p:cNvCxnSpPr>
            <a:stCxn id="67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32"/>
          <p:cNvCxnSpPr>
            <a:endCxn id="67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8" name="Google Shape;67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9" name="Google Shape;679;p32"/>
          <p:cNvSpPr txBox="1"/>
          <p:nvPr>
            <p:ph idx="1" type="body"/>
          </p:nvPr>
        </p:nvSpPr>
        <p:spPr>
          <a:xfrm>
            <a:off x="689326" y="1832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2.	 Pictorial representation of all possible ways a function may be expressed in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80" name="Google Shape;680;p32"/>
          <p:cNvSpPr txBox="1"/>
          <p:nvPr/>
        </p:nvSpPr>
        <p:spPr>
          <a:xfrm>
            <a:off x="1219200" y="2116791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standard form.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3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variable K-maps</a:t>
            </a:r>
            <a:endParaRPr/>
          </a:p>
        </p:txBody>
      </p:sp>
      <p:cxnSp>
        <p:nvCxnSpPr>
          <p:cNvPr id="686" name="Google Shape;686;p33"/>
          <p:cNvCxnSpPr>
            <a:stCxn id="68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33"/>
          <p:cNvCxnSpPr>
            <a:endCxn id="68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" name="Google Shape;689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0" name="Google Shape;690;p33"/>
          <p:cNvSpPr txBox="1"/>
          <p:nvPr/>
        </p:nvSpPr>
        <p:spPr>
          <a:xfrm>
            <a:off x="556050" y="1473025"/>
            <a:ext cx="7269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Two variables – Four minterms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Four Squares in K-map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Minterm corresponding to a square can be obtained from the concatenation of the row and column number 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91" name="Google Shape;69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8189" y="2677575"/>
            <a:ext cx="3215174" cy="1449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3"/>
          <p:cNvPicPr preferRelativeResize="0"/>
          <p:nvPr/>
        </p:nvPicPr>
        <p:blipFill rotWithShape="1">
          <a:blip r:embed="rId4">
            <a:alphaModFix/>
          </a:blip>
          <a:srcRect b="18347" l="0" r="0" t="0"/>
          <a:stretch/>
        </p:blipFill>
        <p:spPr>
          <a:xfrm>
            <a:off x="1440637" y="2751327"/>
            <a:ext cx="2722134" cy="1053068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33"/>
          <p:cNvSpPr txBox="1"/>
          <p:nvPr/>
        </p:nvSpPr>
        <p:spPr>
          <a:xfrm>
            <a:off x="765338" y="4203122"/>
            <a:ext cx="766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Note:</a:t>
            </a:r>
            <a:r>
              <a:rPr i="0" lang="en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square is marked with 1, if that minterm asserts the function  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variable K-maps</a:t>
            </a:r>
            <a:endParaRPr/>
          </a:p>
        </p:txBody>
      </p:sp>
      <p:cxnSp>
        <p:nvCxnSpPr>
          <p:cNvPr id="699" name="Google Shape;699;p34"/>
          <p:cNvCxnSpPr>
            <a:stCxn id="70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34"/>
          <p:cNvCxnSpPr>
            <a:endCxn id="70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Google Shape;702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3" name="Google Shape;703;p34"/>
          <p:cNvSpPr txBox="1"/>
          <p:nvPr/>
        </p:nvSpPr>
        <p:spPr>
          <a:xfrm>
            <a:off x="556050" y="1473025"/>
            <a:ext cx="7269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Three </a:t>
            </a: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variables – Eight minterms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Eight Squares in K-map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Minterms are expressed symbolically in binary equivalent sequence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but arranged in k-map as a sequence of reflected code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Only one-bit changes in value from one adjacent column to the next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Any two adjacent squares in the map differ by only one variable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04" name="Google Shape;704;p34"/>
          <p:cNvPicPr preferRelativeResize="0"/>
          <p:nvPr/>
        </p:nvPicPr>
        <p:blipFill rotWithShape="1">
          <a:blip r:embed="rId3">
            <a:alphaModFix/>
          </a:blip>
          <a:srcRect b="13291" l="0" r="0" t="5422"/>
          <a:stretch/>
        </p:blipFill>
        <p:spPr>
          <a:xfrm>
            <a:off x="2001562" y="3066225"/>
            <a:ext cx="5140875" cy="16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5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variable K-maps</a:t>
            </a:r>
            <a:endParaRPr/>
          </a:p>
        </p:txBody>
      </p:sp>
      <p:cxnSp>
        <p:nvCxnSpPr>
          <p:cNvPr id="710" name="Google Shape;710;p35"/>
          <p:cNvCxnSpPr>
            <a:stCxn id="71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35"/>
          <p:cNvCxnSpPr>
            <a:endCxn id="71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4" name="Google Shape;714;p35"/>
          <p:cNvSpPr txBox="1"/>
          <p:nvPr/>
        </p:nvSpPr>
        <p:spPr>
          <a:xfrm>
            <a:off x="697200" y="1383200"/>
            <a:ext cx="6707100" cy="2612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80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5" name="Google Shape;715;p35"/>
          <p:cNvGrpSpPr/>
          <p:nvPr/>
        </p:nvGrpSpPr>
        <p:grpSpPr>
          <a:xfrm>
            <a:off x="867500" y="3161151"/>
            <a:ext cx="7533918" cy="1544220"/>
            <a:chOff x="731451" y="4200488"/>
            <a:chExt cx="10569469" cy="1976475"/>
          </a:xfrm>
        </p:grpSpPr>
        <p:grpSp>
          <p:nvGrpSpPr>
            <p:cNvPr id="716" name="Google Shape;716;p35"/>
            <p:cNvGrpSpPr/>
            <p:nvPr/>
          </p:nvGrpSpPr>
          <p:grpSpPr>
            <a:xfrm>
              <a:off x="731451" y="4200488"/>
              <a:ext cx="6286070" cy="1976475"/>
              <a:chOff x="895565" y="3162421"/>
              <a:chExt cx="6286070" cy="1976475"/>
            </a:xfrm>
          </p:grpSpPr>
          <p:pic>
            <p:nvPicPr>
              <p:cNvPr id="717" name="Google Shape;717;p35"/>
              <p:cNvPicPr preferRelativeResize="0"/>
              <p:nvPr/>
            </p:nvPicPr>
            <p:blipFill rotWithShape="1">
              <a:blip r:embed="rId4">
                <a:alphaModFix/>
              </a:blip>
              <a:srcRect b="13291" l="0" r="0" t="5422"/>
              <a:stretch/>
            </p:blipFill>
            <p:spPr>
              <a:xfrm>
                <a:off x="895565" y="3162421"/>
                <a:ext cx="6286070" cy="19764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18" name="Google Shape;718;p35"/>
              <p:cNvSpPr/>
              <p:nvPr/>
            </p:nvSpPr>
            <p:spPr>
              <a:xfrm>
                <a:off x="1905000" y="4373880"/>
                <a:ext cx="899100" cy="381000"/>
              </a:xfrm>
              <a:prstGeom prst="rect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35"/>
              <p:cNvSpPr/>
              <p:nvPr/>
            </p:nvSpPr>
            <p:spPr>
              <a:xfrm>
                <a:off x="5303520" y="4373880"/>
                <a:ext cx="899100" cy="381000"/>
              </a:xfrm>
              <a:prstGeom prst="rect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0" name="Google Shape;720;p35"/>
            <p:cNvSpPr txBox="1"/>
            <p:nvPr/>
          </p:nvSpPr>
          <p:spPr>
            <a:xfrm>
              <a:off x="7474720" y="4476662"/>
              <a:ext cx="3826200" cy="14241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pic>
        <p:nvPicPr>
          <p:cNvPr id="721" name="Google Shape;72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6119" y="2335348"/>
            <a:ext cx="1068066" cy="640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6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variable K-maps</a:t>
            </a:r>
            <a:endParaRPr/>
          </a:p>
        </p:txBody>
      </p:sp>
      <p:cxnSp>
        <p:nvCxnSpPr>
          <p:cNvPr id="727" name="Google Shape;727;p36"/>
          <p:cNvCxnSpPr>
            <a:stCxn id="72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36"/>
          <p:cNvCxnSpPr>
            <a:endCxn id="72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0" name="Google Shape;73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1" name="Google Shape;731;p36"/>
          <p:cNvSpPr txBox="1"/>
          <p:nvPr/>
        </p:nvSpPr>
        <p:spPr>
          <a:xfrm>
            <a:off x="556050" y="1473025"/>
            <a:ext cx="72699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Four</a:t>
            </a: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 variables – Sixteen minterms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Sixteen squares in K-map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Both columns and rows are numbered in Gray code sequence 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Only one variable change in any two adjacent squares row-wise or column-wise.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The map is considered on the surface whose top and bottom edges and right and left edges are attached to each other to form adjacent squares 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Only one-bit changes in value from one adjacent column to the next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Any two adjacent squares in the map differ by only one variable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7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variable K-maps</a:t>
            </a:r>
            <a:endParaRPr/>
          </a:p>
        </p:txBody>
      </p:sp>
      <p:cxnSp>
        <p:nvCxnSpPr>
          <p:cNvPr id="737" name="Google Shape;737;p37"/>
          <p:cNvCxnSpPr>
            <a:stCxn id="73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37"/>
          <p:cNvCxnSpPr>
            <a:endCxn id="73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1" name="Google Shape;74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0950" y="1377475"/>
            <a:ext cx="5322100" cy="27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8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</a:rPr>
              <a:t>Implicants</a:t>
            </a:r>
            <a:endParaRPr sz="1500" u="sng">
              <a:solidFill>
                <a:schemeClr val="dk1"/>
              </a:solidFill>
            </a:endParaRPr>
          </a:p>
        </p:txBody>
      </p:sp>
      <p:sp>
        <p:nvSpPr>
          <p:cNvPr id="747" name="Google Shape;747;p38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cxnSp>
        <p:nvCxnSpPr>
          <p:cNvPr id="748" name="Google Shape;748;p38"/>
          <p:cNvCxnSpPr>
            <a:stCxn id="74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38"/>
          <p:cNvCxnSpPr>
            <a:endCxn id="74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1" name="Google Shape;751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2" name="Google Shape;752;p38"/>
          <p:cNvSpPr txBox="1"/>
          <p:nvPr>
            <p:ph idx="1" type="body"/>
          </p:nvPr>
        </p:nvSpPr>
        <p:spPr>
          <a:xfrm>
            <a:off x="715100" y="17566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</a:t>
            </a:r>
            <a:r>
              <a:rPr b="1" lang="en" sz="1500">
                <a:solidFill>
                  <a:schemeClr val="dk1"/>
                </a:solidFill>
              </a:rPr>
              <a:t>group </a:t>
            </a:r>
            <a:r>
              <a:rPr lang="en" sz="1500">
                <a:solidFill>
                  <a:schemeClr val="dk1"/>
                </a:solidFill>
              </a:rPr>
              <a:t>of </a:t>
            </a:r>
            <a:r>
              <a:rPr b="1" lang="en" sz="1500">
                <a:solidFill>
                  <a:schemeClr val="dk1"/>
                </a:solidFill>
              </a:rPr>
              <a:t>adjacent squares </a:t>
            </a:r>
            <a:r>
              <a:rPr lang="en" sz="1500">
                <a:solidFill>
                  <a:schemeClr val="dk1"/>
                </a:solidFill>
              </a:rPr>
              <a:t>in </a:t>
            </a:r>
            <a:r>
              <a:rPr b="1" lang="en" sz="1500">
                <a:solidFill>
                  <a:schemeClr val="dk1"/>
                </a:solidFill>
              </a:rPr>
              <a:t>K-map </a:t>
            </a:r>
            <a:r>
              <a:rPr lang="en" sz="1500">
                <a:solidFill>
                  <a:schemeClr val="dk1"/>
                </a:solidFill>
              </a:rPr>
              <a:t>consisting of </a:t>
            </a:r>
            <a:r>
              <a:rPr b="1" lang="en" sz="1500">
                <a:solidFill>
                  <a:schemeClr val="dk1"/>
                </a:solidFill>
              </a:rPr>
              <a:t>2</a:t>
            </a:r>
            <a:r>
              <a:rPr b="1" baseline="30000" lang="en" sz="1500">
                <a:solidFill>
                  <a:schemeClr val="dk1"/>
                </a:solidFill>
              </a:rPr>
              <a:t>n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1s</a:t>
            </a:r>
            <a:r>
              <a:rPr lang="en" sz="1500">
                <a:solidFill>
                  <a:schemeClr val="dk1"/>
                </a:solidFill>
              </a:rPr>
              <a:t> representing true </a:t>
            </a:r>
            <a:r>
              <a:rPr b="1" lang="en" sz="1500">
                <a:solidFill>
                  <a:schemeClr val="dk1"/>
                </a:solidFill>
              </a:rPr>
              <a:t>minterms </a:t>
            </a:r>
            <a:r>
              <a:rPr lang="en" sz="1500">
                <a:solidFill>
                  <a:schemeClr val="dk1"/>
                </a:solidFill>
              </a:rPr>
              <a:t>in the function.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53" name="Google Shape;753;p38"/>
          <p:cNvSpPr txBox="1"/>
          <p:nvPr>
            <p:ph idx="1" type="body"/>
          </p:nvPr>
        </p:nvSpPr>
        <p:spPr>
          <a:xfrm>
            <a:off x="715100" y="25186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</a:rPr>
              <a:t>Prime </a:t>
            </a:r>
            <a:r>
              <a:rPr b="1" lang="en" sz="1500" u="sng">
                <a:solidFill>
                  <a:schemeClr val="dk1"/>
                </a:solidFill>
              </a:rPr>
              <a:t>Implicants</a:t>
            </a:r>
            <a:endParaRPr sz="1500" u="sng">
              <a:solidFill>
                <a:schemeClr val="dk1"/>
              </a:solidFill>
            </a:endParaRPr>
          </a:p>
        </p:txBody>
      </p:sp>
      <p:sp>
        <p:nvSpPr>
          <p:cNvPr id="754" name="Google Shape;754;p38"/>
          <p:cNvSpPr txBox="1"/>
          <p:nvPr>
            <p:ph idx="1" type="body"/>
          </p:nvPr>
        </p:nvSpPr>
        <p:spPr>
          <a:xfrm>
            <a:off x="715100" y="28234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product term/implicant obtained by </a:t>
            </a:r>
            <a:r>
              <a:rPr b="1" lang="en" sz="1500">
                <a:solidFill>
                  <a:schemeClr val="dk1"/>
                </a:solidFill>
              </a:rPr>
              <a:t>combining the maximum possible </a:t>
            </a:r>
            <a:r>
              <a:rPr lang="en" sz="1500">
                <a:solidFill>
                  <a:schemeClr val="dk1"/>
                </a:solidFill>
              </a:rPr>
              <a:t>number of </a:t>
            </a:r>
            <a:r>
              <a:rPr b="1" lang="en" sz="1500">
                <a:solidFill>
                  <a:schemeClr val="dk1"/>
                </a:solidFill>
              </a:rPr>
              <a:t>adjacent squares</a:t>
            </a:r>
            <a:r>
              <a:rPr lang="en" sz="1500">
                <a:solidFill>
                  <a:schemeClr val="dk1"/>
                </a:solidFill>
              </a:rPr>
              <a:t> in the map.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55" name="Google Shape;755;p38"/>
          <p:cNvSpPr txBox="1"/>
          <p:nvPr>
            <p:ph idx="1" type="body"/>
          </p:nvPr>
        </p:nvSpPr>
        <p:spPr>
          <a:xfrm>
            <a:off x="715100" y="3636437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</a:rPr>
              <a:t>Essential </a:t>
            </a:r>
            <a:r>
              <a:rPr b="1" lang="en" sz="1500" u="sng">
                <a:solidFill>
                  <a:schemeClr val="dk1"/>
                </a:solidFill>
              </a:rPr>
              <a:t>Prime Implicants</a:t>
            </a:r>
            <a:endParaRPr sz="1500" u="sng">
              <a:solidFill>
                <a:schemeClr val="dk1"/>
              </a:solidFill>
            </a:endParaRPr>
          </a:p>
        </p:txBody>
      </p:sp>
      <p:sp>
        <p:nvSpPr>
          <p:cNvPr id="756" name="Google Shape;756;p38"/>
          <p:cNvSpPr txBox="1"/>
          <p:nvPr>
            <p:ph idx="1" type="body"/>
          </p:nvPr>
        </p:nvSpPr>
        <p:spPr>
          <a:xfrm>
            <a:off x="715100" y="3941237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Prime implicant that has </a:t>
            </a:r>
            <a:r>
              <a:rPr b="1" lang="en" sz="1500">
                <a:solidFill>
                  <a:schemeClr val="dk1"/>
                </a:solidFill>
              </a:rPr>
              <a:t>at least one minterm </a:t>
            </a:r>
            <a:r>
              <a:rPr lang="en" sz="1500">
                <a:solidFill>
                  <a:schemeClr val="dk1"/>
                </a:solidFill>
              </a:rPr>
              <a:t>which is </a:t>
            </a:r>
            <a:r>
              <a:rPr b="1" lang="en" sz="1500">
                <a:solidFill>
                  <a:schemeClr val="dk1"/>
                </a:solidFill>
              </a:rPr>
              <a:t>not covered </a:t>
            </a:r>
            <a:r>
              <a:rPr lang="en" sz="1500">
                <a:solidFill>
                  <a:schemeClr val="dk1"/>
                </a:solidFill>
              </a:rPr>
              <a:t>by any other </a:t>
            </a:r>
            <a:r>
              <a:rPr b="1" lang="en" sz="1500">
                <a:solidFill>
                  <a:schemeClr val="dk1"/>
                </a:solidFill>
              </a:rPr>
              <a:t>prime implicants</a:t>
            </a:r>
            <a:r>
              <a:rPr lang="en" sz="1500">
                <a:solidFill>
                  <a:schemeClr val="dk1"/>
                </a:solidFill>
              </a:rPr>
              <a:t>. This prime implicant </a:t>
            </a:r>
            <a:r>
              <a:rPr b="1" lang="en" sz="1500">
                <a:solidFill>
                  <a:schemeClr val="dk1"/>
                </a:solidFill>
              </a:rPr>
              <a:t>must be included </a:t>
            </a:r>
            <a:r>
              <a:rPr lang="en" sz="1500">
                <a:solidFill>
                  <a:schemeClr val="dk1"/>
                </a:solidFill>
              </a:rPr>
              <a:t>in the simplified expression.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1" name="Google Shape;761;p39"/>
          <p:cNvCxnSpPr>
            <a:stCxn id="76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39"/>
          <p:cNvCxnSpPr>
            <a:endCxn id="76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65" name="Google Shape;765;p39"/>
          <p:cNvGrpSpPr/>
          <p:nvPr/>
        </p:nvGrpSpPr>
        <p:grpSpPr>
          <a:xfrm>
            <a:off x="508374" y="990410"/>
            <a:ext cx="7269093" cy="3546072"/>
            <a:chOff x="1677144" y="2187574"/>
            <a:chExt cx="9930455" cy="4844361"/>
          </a:xfrm>
        </p:grpSpPr>
        <p:grpSp>
          <p:nvGrpSpPr>
            <p:cNvPr id="766" name="Google Shape;766;p39"/>
            <p:cNvGrpSpPr/>
            <p:nvPr/>
          </p:nvGrpSpPr>
          <p:grpSpPr>
            <a:xfrm>
              <a:off x="1677158" y="2187574"/>
              <a:ext cx="8837684" cy="4351338"/>
              <a:chOff x="1677158" y="2187574"/>
              <a:chExt cx="8837684" cy="4351338"/>
            </a:xfrm>
          </p:grpSpPr>
          <p:grpSp>
            <p:nvGrpSpPr>
              <p:cNvPr id="767" name="Google Shape;767;p39"/>
              <p:cNvGrpSpPr/>
              <p:nvPr/>
            </p:nvGrpSpPr>
            <p:grpSpPr>
              <a:xfrm>
                <a:off x="1677158" y="2187574"/>
                <a:ext cx="8837684" cy="4351338"/>
                <a:chOff x="2209800" y="2355581"/>
                <a:chExt cx="8837684" cy="4351338"/>
              </a:xfrm>
            </p:grpSpPr>
            <p:pic>
              <p:nvPicPr>
                <p:cNvPr id="768" name="Google Shape;768;p3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2209800" y="2355581"/>
                  <a:ext cx="8837684" cy="435133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69" name="Google Shape;769;p39"/>
                <p:cNvSpPr/>
                <p:nvPr/>
              </p:nvSpPr>
              <p:spPr>
                <a:xfrm>
                  <a:off x="3804283" y="3205191"/>
                  <a:ext cx="406500" cy="364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" name="Google Shape;770;p39"/>
                <p:cNvSpPr/>
                <p:nvPr/>
              </p:nvSpPr>
              <p:spPr>
                <a:xfrm>
                  <a:off x="4366597" y="3736153"/>
                  <a:ext cx="406500" cy="364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1" name="Google Shape;771;p39"/>
                <p:cNvSpPr txBox="1"/>
                <p:nvPr/>
              </p:nvSpPr>
              <p:spPr>
                <a:xfrm>
                  <a:off x="2987987" y="2988501"/>
                  <a:ext cx="680100" cy="369300"/>
                </a:xfrm>
                <a:prstGeom prst="rect">
                  <a:avLst/>
                </a:prstGeom>
                <a:blipFill rotWithShape="1">
                  <a:blip r:embed="rId4">
                    <a:alphaModFix/>
                  </a:blip>
                  <a:stretch>
                    <a:fillRect b="0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772" name="Google Shape;772;p39"/>
                <p:cNvSpPr txBox="1"/>
                <p:nvPr/>
              </p:nvSpPr>
              <p:spPr>
                <a:xfrm>
                  <a:off x="3786518" y="4253440"/>
                  <a:ext cx="577500" cy="369300"/>
                </a:xfrm>
                <a:prstGeom prst="rect">
                  <a:avLst/>
                </a:prstGeom>
                <a:blipFill rotWithShape="1">
                  <a:blip r:embed="rId5">
                    <a:alphaModFix/>
                  </a:blip>
                  <a:stretch>
                    <a:fillRect b="0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</p:grpSp>
          <p:sp>
            <p:nvSpPr>
              <p:cNvPr id="773" name="Google Shape;773;p39"/>
              <p:cNvSpPr/>
              <p:nvPr/>
            </p:nvSpPr>
            <p:spPr>
              <a:xfrm>
                <a:off x="8034866" y="4645850"/>
                <a:ext cx="406500" cy="364200"/>
              </a:xfrm>
              <a:prstGeom prst="ellipse">
                <a:avLst/>
              </a:prstGeom>
              <a:noFill/>
              <a:ln cap="flat" cmpd="sng" w="28575">
                <a:solidFill>
                  <a:srgbClr val="00206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39"/>
              <p:cNvSpPr/>
              <p:nvPr/>
            </p:nvSpPr>
            <p:spPr>
              <a:xfrm>
                <a:off x="8576725" y="4662786"/>
                <a:ext cx="406500" cy="364200"/>
              </a:xfrm>
              <a:prstGeom prst="ellipse">
                <a:avLst/>
              </a:prstGeom>
              <a:noFill/>
              <a:ln cap="flat" cmpd="sng" w="28575">
                <a:solidFill>
                  <a:srgbClr val="00206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9"/>
              <p:cNvSpPr/>
              <p:nvPr/>
            </p:nvSpPr>
            <p:spPr>
              <a:xfrm>
                <a:off x="8576728" y="3003318"/>
                <a:ext cx="406500" cy="364200"/>
              </a:xfrm>
              <a:prstGeom prst="ellipse">
                <a:avLst/>
              </a:prstGeom>
              <a:noFill/>
              <a:ln cap="flat" cmpd="sng" w="28575">
                <a:solidFill>
                  <a:srgbClr val="00206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6" name="Google Shape;776;p39"/>
            <p:cNvSpPr txBox="1"/>
            <p:nvPr/>
          </p:nvSpPr>
          <p:spPr>
            <a:xfrm>
              <a:off x="6898798" y="6317035"/>
              <a:ext cx="4708800" cy="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2. There are more alternatives of prime </a:t>
              </a:r>
              <a:endParaRPr sz="10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implicants to cover remaining  minterms</a:t>
              </a:r>
              <a:endParaRPr sz="1000"/>
            </a:p>
          </p:txBody>
        </p:sp>
        <p:sp>
          <p:nvSpPr>
            <p:cNvPr id="777" name="Google Shape;777;p39"/>
            <p:cNvSpPr txBox="1"/>
            <p:nvPr/>
          </p:nvSpPr>
          <p:spPr>
            <a:xfrm>
              <a:off x="1677144" y="6317035"/>
              <a:ext cx="4635900" cy="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1. The essential prime implicants are the</a:t>
              </a:r>
              <a:endParaRPr sz="10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only ways to cover some minterms</a:t>
              </a:r>
              <a:endParaRPr sz="1000"/>
            </a:p>
          </p:txBody>
        </p:sp>
      </p:grpSp>
      <p:pic>
        <p:nvPicPr>
          <p:cNvPr id="778" name="Google Shape;778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825" y="572625"/>
            <a:ext cx="525674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0451" y="419600"/>
            <a:ext cx="2364950" cy="99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4" name="Google Shape;784;p40"/>
          <p:cNvCxnSpPr>
            <a:stCxn id="78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40"/>
          <p:cNvCxnSpPr>
            <a:endCxn id="78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" name="Google Shape;787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8" name="Google Shape;788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2700" y="651976"/>
            <a:ext cx="4458600" cy="37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1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Simplification</a:t>
            </a:r>
            <a:endParaRPr/>
          </a:p>
        </p:txBody>
      </p:sp>
      <p:cxnSp>
        <p:nvCxnSpPr>
          <p:cNvPr id="794" name="Google Shape;794;p41"/>
          <p:cNvCxnSpPr>
            <a:stCxn id="79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41"/>
          <p:cNvCxnSpPr>
            <a:endCxn id="79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8" name="Google Shape;798;p41"/>
          <p:cNvSpPr txBox="1"/>
          <p:nvPr/>
        </p:nvSpPr>
        <p:spPr>
          <a:xfrm>
            <a:off x="879850" y="1451850"/>
            <a:ext cx="7499700" cy="3103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0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2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Simplification</a:t>
            </a:r>
            <a:endParaRPr/>
          </a:p>
        </p:txBody>
      </p:sp>
      <p:cxnSp>
        <p:nvCxnSpPr>
          <p:cNvPr id="804" name="Google Shape;804;p42"/>
          <p:cNvCxnSpPr>
            <a:stCxn id="80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2"/>
          <p:cNvCxnSpPr>
            <a:endCxn id="80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8" name="Google Shape;80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475" y="2128501"/>
            <a:ext cx="3467425" cy="23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42"/>
          <p:cNvSpPr txBox="1"/>
          <p:nvPr/>
        </p:nvSpPr>
        <p:spPr>
          <a:xfrm>
            <a:off x="5416160" y="2726346"/>
            <a:ext cx="2826900" cy="919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480" l="-120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810" name="Google Shape;81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225" y="1451850"/>
            <a:ext cx="4077400" cy="63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3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Simplification</a:t>
            </a:r>
            <a:endParaRPr/>
          </a:p>
        </p:txBody>
      </p:sp>
      <p:cxnSp>
        <p:nvCxnSpPr>
          <p:cNvPr id="816" name="Google Shape;816;p43"/>
          <p:cNvCxnSpPr>
            <a:stCxn id="81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43"/>
          <p:cNvCxnSpPr>
            <a:endCxn id="81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9" name="Google Shape;819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0" name="Google Shape;820;p43"/>
          <p:cNvSpPr txBox="1"/>
          <p:nvPr/>
        </p:nvSpPr>
        <p:spPr>
          <a:xfrm>
            <a:off x="620400" y="1364646"/>
            <a:ext cx="7903200" cy="338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0" r="0" t="-19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4"/>
          <p:cNvSpPr txBox="1"/>
          <p:nvPr>
            <p:ph type="title"/>
          </p:nvPr>
        </p:nvSpPr>
        <p:spPr>
          <a:xfrm>
            <a:off x="715100" y="894750"/>
            <a:ext cx="64455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Simplifications with Don’t Care</a:t>
            </a:r>
            <a:endParaRPr/>
          </a:p>
        </p:txBody>
      </p:sp>
      <p:cxnSp>
        <p:nvCxnSpPr>
          <p:cNvPr id="826" name="Google Shape;826;p44"/>
          <p:cNvCxnSpPr>
            <a:stCxn id="82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44"/>
          <p:cNvCxnSpPr>
            <a:endCxn id="82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0" name="Google Shape;830;p44"/>
          <p:cNvSpPr txBox="1"/>
          <p:nvPr/>
        </p:nvSpPr>
        <p:spPr>
          <a:xfrm>
            <a:off x="967950" y="1493875"/>
            <a:ext cx="7208100" cy="3085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90" r="-630" t="-32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5"/>
          <p:cNvSpPr txBox="1"/>
          <p:nvPr>
            <p:ph type="title"/>
          </p:nvPr>
        </p:nvSpPr>
        <p:spPr>
          <a:xfrm>
            <a:off x="715100" y="894750"/>
            <a:ext cx="64455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Simplifications with Don’t Care</a:t>
            </a:r>
            <a:endParaRPr/>
          </a:p>
        </p:txBody>
      </p:sp>
      <p:cxnSp>
        <p:nvCxnSpPr>
          <p:cNvPr id="836" name="Google Shape;836;p45"/>
          <p:cNvCxnSpPr>
            <a:stCxn id="83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45"/>
          <p:cNvCxnSpPr>
            <a:endCxn id="83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9" name="Google Shape;83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0" name="Google Shape;840;p45"/>
          <p:cNvSpPr txBox="1"/>
          <p:nvPr/>
        </p:nvSpPr>
        <p:spPr>
          <a:xfrm>
            <a:off x="715100" y="1451851"/>
            <a:ext cx="7885500" cy="3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17526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don’t care minterm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combination of variables whose logical value (0 or 1) is not specified (</a:t>
            </a:r>
            <a:r>
              <a:rPr b="1" i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i.e., </a:t>
            </a:r>
            <a:r>
              <a:rPr b="1" lang="en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defined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in the Boolean function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that corresponding square can’t be marked with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the K-map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Rather “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could be placed in that corresponding square distinguishing from 0 and 1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2437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indicates that we don’t care whether the value of  0 or 1 is assigned to that function for that minterm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For better simplification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adjacent don’t care square may be assumed to be either 0 or 1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Preference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0 or 1 depends on which combination gives the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simplest expression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Trick: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get the simplified expression of any Boolean function, we </a:t>
            </a:r>
            <a:r>
              <a:rPr b="1" lang="en" sz="2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must include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1s, but we may or may not include any of the Xs based on preference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Initially, those don’t care minterms could be unspecified, but when a particular choice is made, they should be treated differently. 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6"/>
          <p:cNvSpPr txBox="1"/>
          <p:nvPr>
            <p:ph type="title"/>
          </p:nvPr>
        </p:nvSpPr>
        <p:spPr>
          <a:xfrm>
            <a:off x="715100" y="894750"/>
            <a:ext cx="64455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Simplifications with Don’t Care</a:t>
            </a:r>
            <a:endParaRPr/>
          </a:p>
        </p:txBody>
      </p:sp>
      <p:cxnSp>
        <p:nvCxnSpPr>
          <p:cNvPr id="846" name="Google Shape;846;p46"/>
          <p:cNvCxnSpPr>
            <a:stCxn id="84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46"/>
          <p:cNvCxnSpPr>
            <a:endCxn id="84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9" name="Google Shape;849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0" name="Google Shape;850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000" y="1451849"/>
            <a:ext cx="3051300" cy="44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5172" y="1941272"/>
            <a:ext cx="4893650" cy="232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1850" y="1451851"/>
            <a:ext cx="2528605" cy="4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7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5/6 variable K-maps</a:t>
            </a:r>
            <a:endParaRPr/>
          </a:p>
        </p:txBody>
      </p:sp>
      <p:cxnSp>
        <p:nvCxnSpPr>
          <p:cNvPr id="858" name="Google Shape;858;p47"/>
          <p:cNvCxnSpPr>
            <a:stCxn id="85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47"/>
          <p:cNvCxnSpPr>
            <a:endCxn id="85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2" name="Google Shape;86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625" y="1451850"/>
            <a:ext cx="6342751" cy="295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8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r>
              <a:rPr lang="en"/>
              <a:t> variable K-map</a:t>
            </a:r>
            <a:endParaRPr/>
          </a:p>
        </p:txBody>
      </p:sp>
      <p:cxnSp>
        <p:nvCxnSpPr>
          <p:cNvPr id="868" name="Google Shape;868;p48"/>
          <p:cNvCxnSpPr>
            <a:stCxn id="86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48"/>
          <p:cNvCxnSpPr>
            <a:endCxn id="86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1" name="Google Shape;871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72" name="Google Shape;872;p48"/>
          <p:cNvGrpSpPr/>
          <p:nvPr/>
        </p:nvGrpSpPr>
        <p:grpSpPr>
          <a:xfrm>
            <a:off x="1730600" y="1960430"/>
            <a:ext cx="1529825" cy="2014245"/>
            <a:chOff x="1730600" y="1960430"/>
            <a:chExt cx="1529825" cy="2014245"/>
          </a:xfrm>
        </p:grpSpPr>
        <p:cxnSp>
          <p:nvCxnSpPr>
            <p:cNvPr id="873" name="Google Shape;873;p48"/>
            <p:cNvCxnSpPr/>
            <p:nvPr/>
          </p:nvCxnSpPr>
          <p:spPr>
            <a:xfrm flipH="1" rot="10800000">
              <a:off x="1730600" y="3497975"/>
              <a:ext cx="1529700" cy="47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4" name="Google Shape;874;p48"/>
            <p:cNvCxnSpPr/>
            <p:nvPr/>
          </p:nvCxnSpPr>
          <p:spPr>
            <a:xfrm flipH="1" rot="10800000">
              <a:off x="1730600" y="3116975"/>
              <a:ext cx="1529700" cy="47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5" name="Google Shape;875;p48"/>
            <p:cNvCxnSpPr/>
            <p:nvPr/>
          </p:nvCxnSpPr>
          <p:spPr>
            <a:xfrm flipH="1" rot="10800000">
              <a:off x="1730600" y="2735975"/>
              <a:ext cx="1529700" cy="47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6" name="Google Shape;876;p48"/>
            <p:cNvCxnSpPr/>
            <p:nvPr/>
          </p:nvCxnSpPr>
          <p:spPr>
            <a:xfrm flipH="1" rot="10800000">
              <a:off x="1730600" y="2354975"/>
              <a:ext cx="1529700" cy="47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7" name="Google Shape;877;p48"/>
            <p:cNvCxnSpPr/>
            <p:nvPr/>
          </p:nvCxnSpPr>
          <p:spPr>
            <a:xfrm flipH="1" rot="10800000">
              <a:off x="1730600" y="1973975"/>
              <a:ext cx="1529700" cy="47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8" name="Google Shape;878;p48"/>
            <p:cNvCxnSpPr/>
            <p:nvPr/>
          </p:nvCxnSpPr>
          <p:spPr>
            <a:xfrm>
              <a:off x="1736425" y="2435125"/>
              <a:ext cx="0" cy="153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9" name="Google Shape;879;p48"/>
            <p:cNvCxnSpPr/>
            <p:nvPr/>
          </p:nvCxnSpPr>
          <p:spPr>
            <a:xfrm>
              <a:off x="2117425" y="2329767"/>
              <a:ext cx="0" cy="153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0" name="Google Shape;880;p48"/>
            <p:cNvCxnSpPr/>
            <p:nvPr/>
          </p:nvCxnSpPr>
          <p:spPr>
            <a:xfrm>
              <a:off x="2498425" y="2212357"/>
              <a:ext cx="0" cy="153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p48"/>
            <p:cNvCxnSpPr/>
            <p:nvPr/>
          </p:nvCxnSpPr>
          <p:spPr>
            <a:xfrm>
              <a:off x="2879425" y="2095335"/>
              <a:ext cx="0" cy="153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2" name="Google Shape;882;p48"/>
            <p:cNvCxnSpPr/>
            <p:nvPr/>
          </p:nvCxnSpPr>
          <p:spPr>
            <a:xfrm>
              <a:off x="3260425" y="1960430"/>
              <a:ext cx="0" cy="153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83" name="Google Shape;883;p48"/>
          <p:cNvGrpSpPr/>
          <p:nvPr/>
        </p:nvGrpSpPr>
        <p:grpSpPr>
          <a:xfrm>
            <a:off x="4081137" y="1960430"/>
            <a:ext cx="1529825" cy="2014245"/>
            <a:chOff x="1730600" y="1960430"/>
            <a:chExt cx="1529825" cy="2014245"/>
          </a:xfrm>
        </p:grpSpPr>
        <p:cxnSp>
          <p:nvCxnSpPr>
            <p:cNvPr id="884" name="Google Shape;884;p48"/>
            <p:cNvCxnSpPr/>
            <p:nvPr/>
          </p:nvCxnSpPr>
          <p:spPr>
            <a:xfrm flipH="1" rot="10800000">
              <a:off x="1730600" y="3497975"/>
              <a:ext cx="1529700" cy="47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48"/>
            <p:cNvCxnSpPr/>
            <p:nvPr/>
          </p:nvCxnSpPr>
          <p:spPr>
            <a:xfrm flipH="1" rot="10800000">
              <a:off x="1730600" y="3116975"/>
              <a:ext cx="1529700" cy="47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48"/>
            <p:cNvCxnSpPr/>
            <p:nvPr/>
          </p:nvCxnSpPr>
          <p:spPr>
            <a:xfrm flipH="1" rot="10800000">
              <a:off x="1730600" y="2735975"/>
              <a:ext cx="1529700" cy="47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48"/>
            <p:cNvCxnSpPr/>
            <p:nvPr/>
          </p:nvCxnSpPr>
          <p:spPr>
            <a:xfrm flipH="1" rot="10800000">
              <a:off x="1730600" y="2354975"/>
              <a:ext cx="1529700" cy="47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p48"/>
            <p:cNvCxnSpPr/>
            <p:nvPr/>
          </p:nvCxnSpPr>
          <p:spPr>
            <a:xfrm flipH="1" rot="10800000">
              <a:off x="1730600" y="1973975"/>
              <a:ext cx="1529700" cy="47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9" name="Google Shape;889;p48"/>
            <p:cNvCxnSpPr/>
            <p:nvPr/>
          </p:nvCxnSpPr>
          <p:spPr>
            <a:xfrm>
              <a:off x="1736425" y="2435125"/>
              <a:ext cx="0" cy="153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p48"/>
            <p:cNvCxnSpPr/>
            <p:nvPr/>
          </p:nvCxnSpPr>
          <p:spPr>
            <a:xfrm>
              <a:off x="2117425" y="2329767"/>
              <a:ext cx="0" cy="153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1" name="Google Shape;891;p48"/>
            <p:cNvCxnSpPr/>
            <p:nvPr/>
          </p:nvCxnSpPr>
          <p:spPr>
            <a:xfrm>
              <a:off x="2498425" y="2212357"/>
              <a:ext cx="0" cy="153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p48"/>
            <p:cNvCxnSpPr/>
            <p:nvPr/>
          </p:nvCxnSpPr>
          <p:spPr>
            <a:xfrm>
              <a:off x="2879425" y="2095335"/>
              <a:ext cx="0" cy="153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p48"/>
            <p:cNvCxnSpPr/>
            <p:nvPr/>
          </p:nvCxnSpPr>
          <p:spPr>
            <a:xfrm>
              <a:off x="3260425" y="1960430"/>
              <a:ext cx="0" cy="153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94" name="Google Shape;894;p48"/>
          <p:cNvCxnSpPr/>
          <p:nvPr/>
        </p:nvCxnSpPr>
        <p:spPr>
          <a:xfrm>
            <a:off x="1730223" y="3975045"/>
            <a:ext cx="2361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48"/>
          <p:cNvCxnSpPr/>
          <p:nvPr/>
        </p:nvCxnSpPr>
        <p:spPr>
          <a:xfrm>
            <a:off x="1730223" y="2451045"/>
            <a:ext cx="2361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48"/>
          <p:cNvCxnSpPr/>
          <p:nvPr/>
        </p:nvCxnSpPr>
        <p:spPr>
          <a:xfrm>
            <a:off x="3259666" y="3488687"/>
            <a:ext cx="2361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48"/>
          <p:cNvCxnSpPr/>
          <p:nvPr/>
        </p:nvCxnSpPr>
        <p:spPr>
          <a:xfrm>
            <a:off x="3259666" y="1964687"/>
            <a:ext cx="2361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48"/>
          <p:cNvCxnSpPr/>
          <p:nvPr/>
        </p:nvCxnSpPr>
        <p:spPr>
          <a:xfrm rot="10800000">
            <a:off x="1438975" y="2131775"/>
            <a:ext cx="303300" cy="3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9" name="Google Shape;899;p48"/>
          <p:cNvSpPr txBox="1"/>
          <p:nvPr/>
        </p:nvSpPr>
        <p:spPr>
          <a:xfrm>
            <a:off x="2120925" y="1629975"/>
            <a:ext cx="3441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0" name="Google Shape;900;p48"/>
          <p:cNvSpPr txBox="1"/>
          <p:nvPr/>
        </p:nvSpPr>
        <p:spPr>
          <a:xfrm>
            <a:off x="6083325" y="1629975"/>
            <a:ext cx="3441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01" name="Google Shape;901;p48"/>
          <p:cNvCxnSpPr/>
          <p:nvPr/>
        </p:nvCxnSpPr>
        <p:spPr>
          <a:xfrm rot="10800000">
            <a:off x="3801175" y="2131775"/>
            <a:ext cx="303300" cy="3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48"/>
          <p:cNvSpPr txBox="1"/>
          <p:nvPr/>
        </p:nvSpPr>
        <p:spPr>
          <a:xfrm>
            <a:off x="1130325" y="2087175"/>
            <a:ext cx="4836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BC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3" name="Google Shape;903;p48"/>
          <p:cNvSpPr txBox="1"/>
          <p:nvPr/>
        </p:nvSpPr>
        <p:spPr>
          <a:xfrm>
            <a:off x="1435125" y="1934775"/>
            <a:ext cx="4836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4" name="Google Shape;904;p48"/>
          <p:cNvSpPr txBox="1"/>
          <p:nvPr/>
        </p:nvSpPr>
        <p:spPr>
          <a:xfrm>
            <a:off x="3568725" y="2087175"/>
            <a:ext cx="4836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BC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5" name="Google Shape;905;p48"/>
          <p:cNvSpPr txBox="1"/>
          <p:nvPr/>
        </p:nvSpPr>
        <p:spPr>
          <a:xfrm>
            <a:off x="3873525" y="1934775"/>
            <a:ext cx="4836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9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variable K-map</a:t>
            </a:r>
            <a:endParaRPr/>
          </a:p>
        </p:txBody>
      </p:sp>
      <p:cxnSp>
        <p:nvCxnSpPr>
          <p:cNvPr id="911" name="Google Shape;911;p49"/>
          <p:cNvCxnSpPr>
            <a:stCxn id="91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3" name="Google Shape;913;p49"/>
          <p:cNvCxnSpPr>
            <a:endCxn id="91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4" name="Google Shape;914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5" name="Google Shape;91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4900" y="1538875"/>
            <a:ext cx="2968925" cy="280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0"/>
          <p:cNvSpPr txBox="1"/>
          <p:nvPr>
            <p:ph idx="1" type="body"/>
          </p:nvPr>
        </p:nvSpPr>
        <p:spPr>
          <a:xfrm>
            <a:off x="687825" y="1451850"/>
            <a:ext cx="7749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K-map solver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21" name="Google Shape;921;p50"/>
          <p:cNvSpPr txBox="1"/>
          <p:nvPr>
            <p:ph type="title"/>
          </p:nvPr>
        </p:nvSpPr>
        <p:spPr>
          <a:xfrm>
            <a:off x="715100" y="894750"/>
            <a:ext cx="75303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</a:t>
            </a:r>
            <a:endParaRPr/>
          </a:p>
        </p:txBody>
      </p:sp>
      <p:cxnSp>
        <p:nvCxnSpPr>
          <p:cNvPr id="922" name="Google Shape;922;p50"/>
          <p:cNvCxnSpPr>
            <a:stCxn id="92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50"/>
          <p:cNvCxnSpPr>
            <a:endCxn id="92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5" name="Google Shape;925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6" name="Google Shape;926;p50"/>
          <p:cNvSpPr txBox="1"/>
          <p:nvPr>
            <p:ph idx="1" type="body"/>
          </p:nvPr>
        </p:nvSpPr>
        <p:spPr>
          <a:xfrm>
            <a:off x="715100" y="2677275"/>
            <a:ext cx="14643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GeekforGeeks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27" name="Google Shape;927;p50"/>
          <p:cNvSpPr txBox="1"/>
          <p:nvPr>
            <p:ph type="title"/>
          </p:nvPr>
        </p:nvSpPr>
        <p:spPr>
          <a:xfrm>
            <a:off x="742375" y="2120175"/>
            <a:ext cx="75303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928" name="Google Shape;928;p50"/>
          <p:cNvSpPr txBox="1"/>
          <p:nvPr>
            <p:ph idx="1" type="body"/>
          </p:nvPr>
        </p:nvSpPr>
        <p:spPr>
          <a:xfrm>
            <a:off x="715100" y="3126075"/>
            <a:ext cx="14643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5"/>
              </a:rPr>
              <a:t>UMD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29" name="Google Shape;929;p50"/>
          <p:cNvSpPr txBox="1"/>
          <p:nvPr>
            <p:ph idx="1" type="body"/>
          </p:nvPr>
        </p:nvSpPr>
        <p:spPr>
          <a:xfrm>
            <a:off x="715100" y="3627800"/>
            <a:ext cx="14643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6"/>
              </a:rPr>
              <a:t>Worksheet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1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935" name="Google Shape;935;p51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936" name="Google Shape;936;p51"/>
          <p:cNvCxnSpPr>
            <a:endCxn id="934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7" name="Google Shape;937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