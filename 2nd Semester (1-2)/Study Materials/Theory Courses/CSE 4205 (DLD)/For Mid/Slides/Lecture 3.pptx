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Inter Tigh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  <p:embeddedFont>
      <p:font typeface="Inter Tight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Nuni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InterTight-regular.fntdata"/><Relationship Id="rId27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T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Tight-boldItalic.fntdata"/><Relationship Id="rId30" Type="http://schemas.openxmlformats.org/officeDocument/2006/relationships/font" Target="fonts/InterTight-italic.fntdata"/><Relationship Id="rId11" Type="http://schemas.openxmlformats.org/officeDocument/2006/relationships/slide" Target="slides/slide7.xml"/><Relationship Id="rId33" Type="http://schemas.openxmlformats.org/officeDocument/2006/relationships/font" Target="fonts/OpenSans-bold.fntdata"/><Relationship Id="rId10" Type="http://schemas.openxmlformats.org/officeDocument/2006/relationships/slide" Target="slides/slide6.xml"/><Relationship Id="rId32" Type="http://schemas.openxmlformats.org/officeDocument/2006/relationships/font" Target="fonts/OpenSans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34" Type="http://schemas.openxmlformats.org/officeDocument/2006/relationships/font" Target="fonts/OpenSans-italic.fntdata"/><Relationship Id="rId15" Type="http://schemas.openxmlformats.org/officeDocument/2006/relationships/slide" Target="slides/slide11.xml"/><Relationship Id="rId37" Type="http://schemas.openxmlformats.org/officeDocument/2006/relationships/font" Target="fonts/InterTightSemiBold-bold.fntdata"/><Relationship Id="rId14" Type="http://schemas.openxmlformats.org/officeDocument/2006/relationships/slide" Target="slides/slide10.xml"/><Relationship Id="rId36" Type="http://schemas.openxmlformats.org/officeDocument/2006/relationships/font" Target="fonts/InterTightSemiBold-regular.fntdata"/><Relationship Id="rId17" Type="http://schemas.openxmlformats.org/officeDocument/2006/relationships/slide" Target="slides/slide13.xml"/><Relationship Id="rId39" Type="http://schemas.openxmlformats.org/officeDocument/2006/relationships/font" Target="fonts/InterTightSemiBold-boldItalic.fntdata"/><Relationship Id="rId16" Type="http://schemas.openxmlformats.org/officeDocument/2006/relationships/slide" Target="slides/slide12.xml"/><Relationship Id="rId38" Type="http://schemas.openxmlformats.org/officeDocument/2006/relationships/font" Target="fonts/InterTightSemiBold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54cb60bb7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54cb60bb7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48749b36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48749b36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548749b36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548749b36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548749b36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548749b36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548749b36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548749b36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548749b36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548749b36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548749b36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548749b36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548749b36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548749b36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48749b36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48749b36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548749b369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548749b369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548749b36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548749b36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548749b36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548749b36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548749b36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548749b36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548749b36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548749b36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548749b36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548749b36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58a521aa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58a521aa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Logic Gates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Logic Gates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performing logical operations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 </a:t>
            </a:r>
            <a:r>
              <a:rPr b="1" lang="en" sz="1500">
                <a:solidFill>
                  <a:schemeClr val="dk1"/>
                </a:solidFill>
              </a:rPr>
              <a:t>electric circuit </a:t>
            </a:r>
            <a:r>
              <a:rPr lang="en" sz="1500">
                <a:solidFill>
                  <a:schemeClr val="dk1"/>
                </a:solidFill>
              </a:rPr>
              <a:t>that </a:t>
            </a:r>
            <a:r>
              <a:rPr b="1" lang="en" sz="1500">
                <a:solidFill>
                  <a:schemeClr val="dk1"/>
                </a:solidFill>
              </a:rPr>
              <a:t>operate </a:t>
            </a:r>
            <a:r>
              <a:rPr lang="en" sz="1500">
                <a:solidFill>
                  <a:schemeClr val="dk1"/>
                </a:solidFill>
              </a:rPr>
              <a:t>on </a:t>
            </a:r>
            <a:r>
              <a:rPr b="1" lang="en" sz="1500">
                <a:solidFill>
                  <a:schemeClr val="dk1"/>
                </a:solidFill>
              </a:rPr>
              <a:t>one or more input signals </a:t>
            </a:r>
            <a:r>
              <a:rPr lang="en" sz="1500">
                <a:solidFill>
                  <a:schemeClr val="dk1"/>
                </a:solidFill>
              </a:rPr>
              <a:t>to generate an </a:t>
            </a:r>
            <a:r>
              <a:rPr b="1" lang="en" sz="1500">
                <a:solidFill>
                  <a:schemeClr val="dk1"/>
                </a:solidFill>
              </a:rPr>
              <a:t>output signal based </a:t>
            </a:r>
            <a:r>
              <a:rPr lang="en" sz="1500">
                <a:solidFill>
                  <a:schemeClr val="dk1"/>
                </a:solidFill>
              </a:rPr>
              <a:t>on</a:t>
            </a:r>
            <a:r>
              <a:rPr b="1" lang="en" sz="1500">
                <a:solidFill>
                  <a:schemeClr val="dk1"/>
                </a:solidFill>
              </a:rPr>
              <a:t> specific requirement(s)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18" name="Google Shape;618;p2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Gates</a:t>
            </a:r>
            <a:endParaRPr/>
          </a:p>
        </p:txBody>
      </p:sp>
      <p:cxnSp>
        <p:nvCxnSpPr>
          <p:cNvPr id="619" name="Google Shape;619;p27"/>
          <p:cNvCxnSpPr>
            <a:stCxn id="62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7"/>
          <p:cNvCxnSpPr>
            <a:endCxn id="62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Binary logic variable A can be represented as a switch A as following :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28" name="Google Shape;628;p28"/>
          <p:cNvSpPr txBox="1"/>
          <p:nvPr>
            <p:ph type="title"/>
          </p:nvPr>
        </p:nvSpPr>
        <p:spPr>
          <a:xfrm>
            <a:off x="715100" y="894750"/>
            <a:ext cx="7679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Circuits / Binary Signal</a:t>
            </a:r>
            <a:endParaRPr/>
          </a:p>
        </p:txBody>
      </p:sp>
      <p:cxnSp>
        <p:nvCxnSpPr>
          <p:cNvPr id="629" name="Google Shape;629;p28"/>
          <p:cNvCxnSpPr>
            <a:stCxn id="63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28"/>
          <p:cNvCxnSpPr>
            <a:endCxn id="63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33" name="Google Shape;633;p28"/>
          <p:cNvGrpSpPr/>
          <p:nvPr/>
        </p:nvGrpSpPr>
        <p:grpSpPr>
          <a:xfrm>
            <a:off x="1329425" y="2266950"/>
            <a:ext cx="2070975" cy="0"/>
            <a:chOff x="1329425" y="2571750"/>
            <a:chExt cx="2070975" cy="0"/>
          </a:xfrm>
        </p:grpSpPr>
        <p:cxnSp>
          <p:nvCxnSpPr>
            <p:cNvPr id="634" name="Google Shape;634;p28"/>
            <p:cNvCxnSpPr/>
            <p:nvPr/>
          </p:nvCxnSpPr>
          <p:spPr>
            <a:xfrm>
              <a:off x="1329425" y="2571750"/>
              <a:ext cx="7410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5" name="Google Shape;635;p28"/>
            <p:cNvCxnSpPr/>
            <p:nvPr/>
          </p:nvCxnSpPr>
          <p:spPr>
            <a:xfrm rot="10800000">
              <a:off x="2735900" y="2571750"/>
              <a:ext cx="664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6" name="Google Shape;636;p28"/>
            <p:cNvCxnSpPr/>
            <p:nvPr/>
          </p:nvCxnSpPr>
          <p:spPr>
            <a:xfrm>
              <a:off x="2043800" y="2571750"/>
              <a:ext cx="7077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637" name="Google Shape;637;p28"/>
          <p:cNvGrpSpPr/>
          <p:nvPr/>
        </p:nvGrpSpPr>
        <p:grpSpPr>
          <a:xfrm>
            <a:off x="5063225" y="1945950"/>
            <a:ext cx="2070975" cy="321000"/>
            <a:chOff x="5063225" y="2250750"/>
            <a:chExt cx="2070975" cy="321000"/>
          </a:xfrm>
        </p:grpSpPr>
        <p:cxnSp>
          <p:nvCxnSpPr>
            <p:cNvPr id="638" name="Google Shape;638;p28"/>
            <p:cNvCxnSpPr/>
            <p:nvPr/>
          </p:nvCxnSpPr>
          <p:spPr>
            <a:xfrm>
              <a:off x="5063225" y="2571750"/>
              <a:ext cx="7410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9" name="Google Shape;639;p28"/>
            <p:cNvCxnSpPr/>
            <p:nvPr/>
          </p:nvCxnSpPr>
          <p:spPr>
            <a:xfrm rot="10800000">
              <a:off x="6469700" y="2571750"/>
              <a:ext cx="664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40" name="Google Shape;640;p28"/>
            <p:cNvCxnSpPr/>
            <p:nvPr/>
          </p:nvCxnSpPr>
          <p:spPr>
            <a:xfrm flipH="1" rot="10800000">
              <a:off x="5777600" y="2250750"/>
              <a:ext cx="555900" cy="321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641" name="Google Shape;641;p28"/>
          <p:cNvSpPr txBox="1"/>
          <p:nvPr>
            <p:ph idx="1" type="body"/>
          </p:nvPr>
        </p:nvSpPr>
        <p:spPr>
          <a:xfrm>
            <a:off x="1477100" y="2518650"/>
            <a:ext cx="17328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</a:t>
            </a:r>
            <a:r>
              <a:rPr lang="en" sz="1500">
                <a:solidFill>
                  <a:schemeClr val="dk1"/>
                </a:solidFill>
              </a:rPr>
              <a:t>witch 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logic 1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42" name="Google Shape;642;p28"/>
          <p:cNvSpPr txBox="1"/>
          <p:nvPr>
            <p:ph idx="1" type="body"/>
          </p:nvPr>
        </p:nvSpPr>
        <p:spPr>
          <a:xfrm>
            <a:off x="5287100" y="2518650"/>
            <a:ext cx="17328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switch OFF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logic 0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43" name="Google Shape;643;p28"/>
          <p:cNvSpPr txBox="1"/>
          <p:nvPr>
            <p:ph idx="1" type="body"/>
          </p:nvPr>
        </p:nvSpPr>
        <p:spPr>
          <a:xfrm>
            <a:off x="715100" y="3280650"/>
            <a:ext cx="49047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Electronic digital circuits uses transistors as switches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44" name="Google Shape;644;p28"/>
          <p:cNvSpPr txBox="1"/>
          <p:nvPr>
            <p:ph idx="1" type="body"/>
          </p:nvPr>
        </p:nvSpPr>
        <p:spPr>
          <a:xfrm>
            <a:off x="1400900" y="3661650"/>
            <a:ext cx="39942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Conduct current → </a:t>
            </a:r>
            <a:r>
              <a:rPr b="1" lang="en" sz="1500">
                <a:solidFill>
                  <a:schemeClr val="dk1"/>
                </a:solidFill>
              </a:rPr>
              <a:t>switch on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645" name="Google Shape;645;p28"/>
          <p:cNvSpPr txBox="1"/>
          <p:nvPr>
            <p:ph idx="1" type="body"/>
          </p:nvPr>
        </p:nvSpPr>
        <p:spPr>
          <a:xfrm>
            <a:off x="1580514" y="3966450"/>
            <a:ext cx="43686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Doesn’t c</a:t>
            </a:r>
            <a:r>
              <a:rPr lang="en" sz="1500">
                <a:solidFill>
                  <a:schemeClr val="dk1"/>
                </a:solidFill>
              </a:rPr>
              <a:t>onduct current → </a:t>
            </a:r>
            <a:r>
              <a:rPr b="1" lang="en" sz="1500">
                <a:solidFill>
                  <a:schemeClr val="dk1"/>
                </a:solidFill>
              </a:rPr>
              <a:t>switch off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9814" y="3202131"/>
            <a:ext cx="1296959" cy="136783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Basic Gates</a:t>
            </a:r>
            <a:endParaRPr sz="3800"/>
          </a:p>
        </p:txBody>
      </p:sp>
      <p:sp>
        <p:nvSpPr>
          <p:cNvPr id="652" name="Google Shape;652;p2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53" name="Google Shape;653;p2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uilding blocks used in digital electronics</a:t>
            </a:r>
            <a:endParaRPr/>
          </a:p>
        </p:txBody>
      </p:sp>
      <p:cxnSp>
        <p:nvCxnSpPr>
          <p:cNvPr id="654" name="Google Shape;654;p29"/>
          <p:cNvCxnSpPr>
            <a:stCxn id="652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It produces a high output (logic 1) only when all of its inputs are high; if any input is low (logic 0), the output will also be low.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61" name="Google Shape;661;p3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Gate</a:t>
            </a:r>
            <a:endParaRPr/>
          </a:p>
        </p:txBody>
      </p:sp>
      <p:cxnSp>
        <p:nvCxnSpPr>
          <p:cNvPr id="662" name="Google Shape;662;p30"/>
          <p:cNvCxnSpPr>
            <a:stCxn id="66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30"/>
          <p:cNvCxnSpPr>
            <a:endCxn id="66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6" name="Google Shape;6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50" y="2247650"/>
            <a:ext cx="59817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6988" y="4122650"/>
            <a:ext cx="107632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1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Outputs a high signal (logic 1) if at least one of its inputs is high. If all inputs are low (logic 0), only then will the output be low.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73" name="Google Shape;673;p3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Gate</a:t>
            </a:r>
            <a:endParaRPr/>
          </a:p>
        </p:txBody>
      </p:sp>
      <p:cxnSp>
        <p:nvCxnSpPr>
          <p:cNvPr id="674" name="Google Shape;674;p31"/>
          <p:cNvCxnSpPr>
            <a:stCxn id="67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31"/>
          <p:cNvCxnSpPr>
            <a:endCxn id="67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8" name="Google Shape;6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2273850"/>
            <a:ext cx="596265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975" y="4199625"/>
            <a:ext cx="12763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2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It operates on a single input and a single output. It performs a logical inversion.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685" name="Google Shape;685;p3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Gate</a:t>
            </a:r>
            <a:endParaRPr/>
          </a:p>
        </p:txBody>
      </p:sp>
      <p:cxnSp>
        <p:nvCxnSpPr>
          <p:cNvPr id="686" name="Google Shape;686;p32"/>
          <p:cNvCxnSpPr>
            <a:stCxn id="687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32"/>
          <p:cNvCxnSpPr>
            <a:endCxn id="687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0" name="Google Shape;6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13" y="2073525"/>
            <a:ext cx="59721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1000" y="3805250"/>
            <a:ext cx="7620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3"/>
          <p:cNvSpPr txBox="1"/>
          <p:nvPr>
            <p:ph type="title"/>
          </p:nvPr>
        </p:nvSpPr>
        <p:spPr>
          <a:xfrm>
            <a:off x="715100" y="8185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Equivalent Circuits</a:t>
            </a:r>
            <a:endParaRPr/>
          </a:p>
        </p:txBody>
      </p:sp>
      <p:cxnSp>
        <p:nvCxnSpPr>
          <p:cNvPr id="697" name="Google Shape;697;p33"/>
          <p:cNvCxnSpPr>
            <a:stCxn id="69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3"/>
          <p:cNvCxnSpPr>
            <a:endCxn id="69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1" name="Google Shape;7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863" y="1307225"/>
            <a:ext cx="4508286" cy="33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4"/>
          <p:cNvSpPr txBox="1"/>
          <p:nvPr>
            <p:ph type="title"/>
          </p:nvPr>
        </p:nvSpPr>
        <p:spPr>
          <a:xfrm>
            <a:off x="715100" y="8185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Diagram</a:t>
            </a:r>
            <a:endParaRPr/>
          </a:p>
        </p:txBody>
      </p:sp>
      <p:cxnSp>
        <p:nvCxnSpPr>
          <p:cNvPr id="707" name="Google Shape;707;p34"/>
          <p:cNvCxnSpPr>
            <a:stCxn id="70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34"/>
          <p:cNvCxnSpPr>
            <a:endCxn id="70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1" name="Google Shape;711;p34"/>
          <p:cNvPicPr preferRelativeResize="0"/>
          <p:nvPr/>
        </p:nvPicPr>
        <p:blipFill rotWithShape="1">
          <a:blip r:embed="rId3">
            <a:alphaModFix/>
          </a:blip>
          <a:srcRect b="52649" l="0" r="0" t="0"/>
          <a:stretch/>
        </p:blipFill>
        <p:spPr>
          <a:xfrm>
            <a:off x="2019292" y="1623076"/>
            <a:ext cx="5105400" cy="2394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5"/>
          <p:cNvSpPr txBox="1"/>
          <p:nvPr>
            <p:ph type="title"/>
          </p:nvPr>
        </p:nvSpPr>
        <p:spPr>
          <a:xfrm>
            <a:off x="715100" y="8185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Gate Delay</a:t>
            </a:r>
            <a:endParaRPr/>
          </a:p>
        </p:txBody>
      </p:sp>
      <p:cxnSp>
        <p:nvCxnSpPr>
          <p:cNvPr id="717" name="Google Shape;717;p35"/>
          <p:cNvCxnSpPr/>
          <p:nvPr/>
        </p:nvCxnSpPr>
        <p:spPr>
          <a:xfrm>
            <a:off x="6526671" y="2039780"/>
            <a:ext cx="80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5"/>
          <p:cNvCxnSpPr>
            <a:endCxn id="7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35"/>
          <p:cNvSpPr txBox="1"/>
          <p:nvPr>
            <p:ph idx="1" type="body"/>
          </p:nvPr>
        </p:nvSpPr>
        <p:spPr>
          <a:xfrm>
            <a:off x="715100" y="13756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Length of time it takes for an input change to result in the corresponding output change</a:t>
            </a:r>
            <a:endParaRPr sz="1500">
              <a:solidFill>
                <a:schemeClr val="dk1"/>
              </a:solidFill>
            </a:endParaRPr>
          </a:p>
        </p:txBody>
      </p:sp>
      <p:grpSp>
        <p:nvGrpSpPr>
          <p:cNvPr id="722" name="Google Shape;722;p35"/>
          <p:cNvGrpSpPr/>
          <p:nvPr/>
        </p:nvGrpSpPr>
        <p:grpSpPr>
          <a:xfrm>
            <a:off x="805010" y="1984449"/>
            <a:ext cx="7578456" cy="2253340"/>
            <a:chOff x="881217" y="2497246"/>
            <a:chExt cx="10210800" cy="3036028"/>
          </a:xfrm>
        </p:grpSpPr>
        <p:pic>
          <p:nvPicPr>
            <p:cNvPr id="723" name="Google Shape;723;p35"/>
            <p:cNvPicPr preferRelativeResize="0"/>
            <p:nvPr/>
          </p:nvPicPr>
          <p:blipFill rotWithShape="1">
            <a:blip r:embed="rId3">
              <a:alphaModFix/>
            </a:blip>
            <a:srcRect b="52649" l="0" r="0" t="0"/>
            <a:stretch/>
          </p:blipFill>
          <p:spPr>
            <a:xfrm>
              <a:off x="881217" y="2872601"/>
              <a:ext cx="5105400" cy="239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4" name="Google Shape;724;p35"/>
            <p:cNvPicPr preferRelativeResize="0"/>
            <p:nvPr/>
          </p:nvPicPr>
          <p:blipFill rotWithShape="1">
            <a:blip r:embed="rId3">
              <a:alphaModFix/>
            </a:blip>
            <a:srcRect b="68384" l="0" r="0" t="0"/>
            <a:stretch/>
          </p:blipFill>
          <p:spPr>
            <a:xfrm>
              <a:off x="5986617" y="2497246"/>
              <a:ext cx="5105400" cy="1599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5" name="Google Shape;725;p35"/>
            <p:cNvPicPr preferRelativeResize="0"/>
            <p:nvPr/>
          </p:nvPicPr>
          <p:blipFill rotWithShape="1">
            <a:blip r:embed="rId3">
              <a:alphaModFix/>
            </a:blip>
            <a:srcRect b="-10164" l="-620" r="620" t="81637"/>
            <a:stretch/>
          </p:blipFill>
          <p:spPr>
            <a:xfrm>
              <a:off x="5986615" y="4090512"/>
              <a:ext cx="5105400" cy="14427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35"/>
            <p:cNvSpPr/>
            <p:nvPr/>
          </p:nvSpPr>
          <p:spPr>
            <a:xfrm>
              <a:off x="9801160" y="2653527"/>
              <a:ext cx="118200" cy="180300"/>
            </a:xfrm>
            <a:prstGeom prst="ellipse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5"/>
            <p:cNvSpPr/>
            <p:nvPr/>
          </p:nvSpPr>
          <p:spPr>
            <a:xfrm>
              <a:off x="9813541" y="3415342"/>
              <a:ext cx="118200" cy="180300"/>
            </a:xfrm>
            <a:prstGeom prst="ellipse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5"/>
            <p:cNvSpPr/>
            <p:nvPr/>
          </p:nvSpPr>
          <p:spPr>
            <a:xfrm>
              <a:off x="10088423" y="4351022"/>
              <a:ext cx="118200" cy="1803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5"/>
            <p:cNvSpPr/>
            <p:nvPr/>
          </p:nvSpPr>
          <p:spPr>
            <a:xfrm>
              <a:off x="4745568" y="2998618"/>
              <a:ext cx="118200" cy="180300"/>
            </a:xfrm>
            <a:prstGeom prst="ellipse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4757949" y="3760433"/>
              <a:ext cx="118200" cy="180300"/>
            </a:xfrm>
            <a:prstGeom prst="ellipse">
              <a:avLst/>
            </a:prstGeom>
            <a:solidFill>
              <a:srgbClr val="5B9BD5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4745568" y="4522248"/>
              <a:ext cx="118200" cy="1803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Universal Gates</a:t>
            </a:r>
            <a:endParaRPr sz="3800"/>
          </a:p>
        </p:txBody>
      </p:sp>
      <p:sp>
        <p:nvSpPr>
          <p:cNvPr id="737" name="Google Shape;737;p3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38" name="Google Shape;738;p3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c</a:t>
            </a:r>
            <a:r>
              <a:rPr lang="en"/>
              <a:t>onstruct any other logic gate</a:t>
            </a:r>
            <a:endParaRPr/>
          </a:p>
        </p:txBody>
      </p:sp>
      <p:cxnSp>
        <p:nvCxnSpPr>
          <p:cNvPr id="739" name="Google Shape;739;p36"/>
          <p:cNvCxnSpPr>
            <a:stCxn id="737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7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Complement of AND. Only Low when all inputs are high.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46" name="Google Shape;746;p37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NAND Gate</a:t>
            </a:r>
            <a:endParaRPr/>
          </a:p>
        </p:txBody>
      </p:sp>
      <p:cxnSp>
        <p:nvCxnSpPr>
          <p:cNvPr id="747" name="Google Shape;747;p37"/>
          <p:cNvCxnSpPr>
            <a:stCxn id="74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37"/>
          <p:cNvCxnSpPr>
            <a:endCxn id="74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1" name="Google Shape;7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13" y="2225950"/>
            <a:ext cx="59721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3650" y="4037850"/>
            <a:ext cx="1143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8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Complement of OR. Only High when all inputs are low.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58" name="Google Shape;758;p38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 Gate</a:t>
            </a:r>
            <a:endParaRPr/>
          </a:p>
        </p:txBody>
      </p:sp>
      <p:cxnSp>
        <p:nvCxnSpPr>
          <p:cNvPr id="759" name="Google Shape;759;p38"/>
          <p:cNvCxnSpPr>
            <a:stCxn id="76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38"/>
          <p:cNvCxnSpPr>
            <a:endCxn id="76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2" name="Google Shape;76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3" name="Google Shape;7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13" y="2205450"/>
            <a:ext cx="59721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825" y="4017350"/>
            <a:ext cx="12763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Exclusive</a:t>
            </a:r>
            <a:r>
              <a:rPr lang="en" sz="3800"/>
              <a:t> Gates</a:t>
            </a:r>
            <a:endParaRPr sz="3800"/>
          </a:p>
        </p:txBody>
      </p:sp>
      <p:sp>
        <p:nvSpPr>
          <p:cNvPr id="770" name="Google Shape;770;p3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71" name="Google Shape;771;p3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rue only under specific conditions of exclusivity</a:t>
            </a:r>
            <a:endParaRPr/>
          </a:p>
        </p:txBody>
      </p:sp>
      <p:cxnSp>
        <p:nvCxnSpPr>
          <p:cNvPr id="772" name="Google Shape;772;p39"/>
          <p:cNvCxnSpPr>
            <a:stCxn id="77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3" name="Google Shape;773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0"/>
          <p:cNvSpPr txBox="1"/>
          <p:nvPr>
            <p:ph idx="1" type="body"/>
          </p:nvPr>
        </p:nvSpPr>
        <p:spPr>
          <a:xfrm>
            <a:off x="7913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Odd 1 selector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79" name="Google Shape;779;p40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XOR Gate</a:t>
            </a:r>
            <a:endParaRPr/>
          </a:p>
        </p:txBody>
      </p:sp>
      <p:cxnSp>
        <p:nvCxnSpPr>
          <p:cNvPr id="780" name="Google Shape;780;p40"/>
          <p:cNvCxnSpPr>
            <a:stCxn id="78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40"/>
          <p:cNvCxnSpPr>
            <a:endCxn id="78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4" name="Google Shape;78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063" y="2063300"/>
            <a:ext cx="597217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600" y="3916875"/>
            <a:ext cx="27051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1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Even</a:t>
            </a:r>
            <a:r>
              <a:rPr lang="en" sz="1500">
                <a:solidFill>
                  <a:schemeClr val="dk1"/>
                </a:solidFill>
              </a:rPr>
              <a:t> 1 selector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91" name="Google Shape;791;p41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X–NOR Gate</a:t>
            </a:r>
            <a:endParaRPr/>
          </a:p>
        </p:txBody>
      </p:sp>
      <p:cxnSp>
        <p:nvCxnSpPr>
          <p:cNvPr id="792" name="Google Shape;792;p41"/>
          <p:cNvCxnSpPr>
            <a:stCxn id="79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41"/>
          <p:cNvCxnSpPr>
            <a:endCxn id="79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6" name="Google Shape;7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913" y="2143125"/>
            <a:ext cx="5972175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2963" y="4004850"/>
            <a:ext cx="45243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2"/>
          <p:cNvSpPr txBox="1"/>
          <p:nvPr>
            <p:ph idx="1" type="body"/>
          </p:nvPr>
        </p:nvSpPr>
        <p:spPr>
          <a:xfrm>
            <a:off x="715100" y="1451850"/>
            <a:ext cx="7640100" cy="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 type of logic gate that amplifies a signal without changing its logic level.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803" name="Google Shape;803;p42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</a:t>
            </a:r>
            <a:endParaRPr/>
          </a:p>
        </p:txBody>
      </p:sp>
      <p:cxnSp>
        <p:nvCxnSpPr>
          <p:cNvPr id="804" name="Google Shape;804;p42"/>
          <p:cNvCxnSpPr>
            <a:stCxn id="80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2"/>
          <p:cNvCxnSpPr>
            <a:endCxn id="80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8" name="Google Shape;80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150" y="1976850"/>
            <a:ext cx="2773700" cy="21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3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814" name="Google Shape;814;p43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815" name="Google Shape;815;p43"/>
          <p:cNvCxnSpPr>
            <a:endCxn id="813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