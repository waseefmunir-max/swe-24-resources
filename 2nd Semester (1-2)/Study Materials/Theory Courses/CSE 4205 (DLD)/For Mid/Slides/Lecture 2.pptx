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Nunito"/>
      <p:regular r:id="rId42"/>
      <p:bold r:id="rId43"/>
      <p:italic r:id="rId44"/>
      <p:boldItalic r:id="rId45"/>
    </p:embeddedFont>
    <p:embeddedFont>
      <p:font typeface="Inter Tight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  <p:embeddedFont>
      <p:font typeface="Inter Tight SemiBold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237BC2-53B9-404F-AF6E-09C7F8F55AC1}">
  <a:tblStyle styleId="{80237BC2-53B9-404F-AF6E-09C7F8F55A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Nunito-regular.fntdata"/><Relationship Id="rId41" Type="http://schemas.openxmlformats.org/officeDocument/2006/relationships/slide" Target="slides/slide36.xml"/><Relationship Id="rId44" Type="http://schemas.openxmlformats.org/officeDocument/2006/relationships/font" Target="fonts/Nunito-italic.fntdata"/><Relationship Id="rId43" Type="http://schemas.openxmlformats.org/officeDocument/2006/relationships/font" Target="fonts/Nunito-bold.fntdata"/><Relationship Id="rId46" Type="http://schemas.openxmlformats.org/officeDocument/2006/relationships/font" Target="fonts/InterTight-regular.fntdata"/><Relationship Id="rId45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Tight-italic.fntdata"/><Relationship Id="rId47" Type="http://schemas.openxmlformats.org/officeDocument/2006/relationships/font" Target="fonts/InterTight-bold.fntdata"/><Relationship Id="rId49" Type="http://schemas.openxmlformats.org/officeDocument/2006/relationships/font" Target="fonts/InterT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6.xml"/><Relationship Id="rId55" Type="http://schemas.openxmlformats.org/officeDocument/2006/relationships/font" Target="fonts/InterTightSemiBold-bold.fntdata"/><Relationship Id="rId10" Type="http://schemas.openxmlformats.org/officeDocument/2006/relationships/slide" Target="slides/slide5.xml"/><Relationship Id="rId54" Type="http://schemas.openxmlformats.org/officeDocument/2006/relationships/font" Target="fonts/InterTightSemiBold-regular.fntdata"/><Relationship Id="rId13" Type="http://schemas.openxmlformats.org/officeDocument/2006/relationships/slide" Target="slides/slide8.xml"/><Relationship Id="rId57" Type="http://schemas.openxmlformats.org/officeDocument/2006/relationships/font" Target="fonts/InterTightSemiBold-boldItalic.fntdata"/><Relationship Id="rId12" Type="http://schemas.openxmlformats.org/officeDocument/2006/relationships/slide" Target="slides/slide7.xml"/><Relationship Id="rId56" Type="http://schemas.openxmlformats.org/officeDocument/2006/relationships/font" Target="fonts/InterTightSemiBold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cb60bb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cb60bb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55cebdc7a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55cebdc7a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55cebdc7a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55cebdc7a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55cebdc7a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55cebdc7a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55cebdc7a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55cebdc7a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55cebdc7a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55cebdc7a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55cebdc7a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55cebdc7a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55cebdc7a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55cebdc7a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55cebdc7a3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55cebdc7a3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55cebdc7a3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55cebdc7a3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55cebdc7a3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55cebdc7a3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55cebdc7a3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55cebdc7a3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550f5bec5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550f5bec5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55cebdc7a3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55cebdc7a3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55cebdc7a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55cebdc7a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55cebdc7a3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55cebdc7a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55cebdc7a3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55cebdc7a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550f5bec5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550f5bec5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5428047c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5428047c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5428047cf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5428047c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5428047cf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5428047cf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5428047cf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5428047cf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5428047cf8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5428047cf8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57912aa7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57912aa7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5428047cf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35428047cf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5428047cf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5428047cf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5428047cf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5428047cf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5428047cf8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5428047cf8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5428047cf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5428047cf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5428047cf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5428047cf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5428047cf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5428047cf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5428047cf8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5428047cf8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5428047cf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5428047cf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Binary Arithmetic and Complements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Addition and Subtraction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add/subtract numbers in different bases?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715100" y="14518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Add (2567)</a:t>
            </a:r>
            <a:r>
              <a:rPr b="1" baseline="-25000" lang="en" sz="1500">
                <a:solidFill>
                  <a:schemeClr val="dk1"/>
                </a:solidFill>
              </a:rPr>
              <a:t>10</a:t>
            </a:r>
            <a:r>
              <a:rPr b="1" lang="en" sz="1500">
                <a:solidFill>
                  <a:schemeClr val="dk1"/>
                </a:solidFill>
              </a:rPr>
              <a:t> + </a:t>
            </a:r>
            <a:r>
              <a:rPr b="1" lang="en" sz="1500">
                <a:solidFill>
                  <a:schemeClr val="dk1"/>
                </a:solidFill>
              </a:rPr>
              <a:t>(3739)</a:t>
            </a:r>
            <a:r>
              <a:rPr b="1" baseline="-25000" lang="en" sz="1500">
                <a:solidFill>
                  <a:schemeClr val="dk1"/>
                </a:solidFill>
              </a:rPr>
              <a:t>10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18" name="Google Shape;618;p2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</a:t>
            </a:r>
            <a:endParaRPr/>
          </a:p>
        </p:txBody>
      </p:sp>
      <p:cxnSp>
        <p:nvCxnSpPr>
          <p:cNvPr id="619" name="Google Shape;619;p27"/>
          <p:cNvCxnSpPr>
            <a:stCxn id="6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7"/>
          <p:cNvCxnSpPr>
            <a:endCxn id="6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27"/>
          <p:cNvSpPr txBox="1"/>
          <p:nvPr>
            <p:ph idx="1" type="body"/>
          </p:nvPr>
        </p:nvSpPr>
        <p:spPr>
          <a:xfrm>
            <a:off x="3635700" y="22890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2       5</a:t>
            </a:r>
            <a:r>
              <a:rPr b="1" lang="en" sz="1500">
                <a:solidFill>
                  <a:schemeClr val="dk1"/>
                </a:solidFill>
              </a:rPr>
              <a:t>       6       7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24" name="Google Shape;624;p27"/>
          <p:cNvSpPr txBox="1"/>
          <p:nvPr>
            <p:ph idx="1" type="body"/>
          </p:nvPr>
        </p:nvSpPr>
        <p:spPr>
          <a:xfrm>
            <a:off x="3635700" y="27462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</a:t>
            </a:r>
            <a:r>
              <a:rPr b="1" lang="en" sz="1500">
                <a:solidFill>
                  <a:schemeClr val="dk1"/>
                </a:solidFill>
              </a:rPr>
              <a:t>       7       3       9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625" name="Google Shape;625;p27"/>
          <p:cNvCxnSpPr/>
          <p:nvPr/>
        </p:nvCxnSpPr>
        <p:spPr>
          <a:xfrm>
            <a:off x="2892150" y="3223000"/>
            <a:ext cx="283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27"/>
          <p:cNvSpPr txBox="1"/>
          <p:nvPr>
            <p:ph idx="1" type="body"/>
          </p:nvPr>
        </p:nvSpPr>
        <p:spPr>
          <a:xfrm>
            <a:off x="3102300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+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27" name="Google Shape;627;p27"/>
          <p:cNvSpPr txBox="1"/>
          <p:nvPr>
            <p:ph idx="1" type="body"/>
          </p:nvPr>
        </p:nvSpPr>
        <p:spPr>
          <a:xfrm>
            <a:off x="5083500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28" name="Google Shape;628;p27"/>
          <p:cNvSpPr txBox="1"/>
          <p:nvPr>
            <p:ph idx="1" type="body"/>
          </p:nvPr>
        </p:nvSpPr>
        <p:spPr>
          <a:xfrm>
            <a:off x="45834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629" name="Google Shape;629;p27"/>
          <p:cNvSpPr txBox="1"/>
          <p:nvPr>
            <p:ph idx="1" type="body"/>
          </p:nvPr>
        </p:nvSpPr>
        <p:spPr>
          <a:xfrm>
            <a:off x="45762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0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30" name="Google Shape;630;p27"/>
          <p:cNvSpPr txBox="1"/>
          <p:nvPr>
            <p:ph idx="1" type="body"/>
          </p:nvPr>
        </p:nvSpPr>
        <p:spPr>
          <a:xfrm>
            <a:off x="41190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31" name="Google Shape;631;p27"/>
          <p:cNvSpPr txBox="1"/>
          <p:nvPr>
            <p:ph idx="1" type="body"/>
          </p:nvPr>
        </p:nvSpPr>
        <p:spPr>
          <a:xfrm>
            <a:off x="36618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32" name="Google Shape;632;p27"/>
          <p:cNvSpPr txBox="1"/>
          <p:nvPr>
            <p:ph idx="1" type="body"/>
          </p:nvPr>
        </p:nvSpPr>
        <p:spPr>
          <a:xfrm>
            <a:off x="41262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633" name="Google Shape;633;p27"/>
          <p:cNvSpPr txBox="1"/>
          <p:nvPr>
            <p:ph idx="1" type="body"/>
          </p:nvPr>
        </p:nvSpPr>
        <p:spPr>
          <a:xfrm>
            <a:off x="36690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634" name="Google Shape;634;p27"/>
          <p:cNvCxnSpPr/>
          <p:nvPr/>
        </p:nvCxnSpPr>
        <p:spPr>
          <a:xfrm>
            <a:off x="5850575" y="35041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27"/>
          <p:cNvCxnSpPr/>
          <p:nvPr/>
        </p:nvCxnSpPr>
        <p:spPr>
          <a:xfrm>
            <a:off x="5850575" y="20563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27"/>
          <p:cNvSpPr txBox="1"/>
          <p:nvPr>
            <p:ph idx="1" type="body"/>
          </p:nvPr>
        </p:nvSpPr>
        <p:spPr>
          <a:xfrm>
            <a:off x="6607500" y="18318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Carry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37" name="Google Shape;637;p27"/>
          <p:cNvSpPr txBox="1"/>
          <p:nvPr>
            <p:ph idx="1" type="body"/>
          </p:nvPr>
        </p:nvSpPr>
        <p:spPr>
          <a:xfrm>
            <a:off x="6607500" y="32796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Sum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8"/>
          <p:cNvSpPr txBox="1"/>
          <p:nvPr>
            <p:ph idx="1" type="body"/>
          </p:nvPr>
        </p:nvSpPr>
        <p:spPr>
          <a:xfrm>
            <a:off x="715100" y="14518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Add (1011)</a:t>
            </a:r>
            <a:r>
              <a:rPr b="1" baseline="-25000" lang="en" sz="1500">
                <a:solidFill>
                  <a:schemeClr val="dk1"/>
                </a:solidFill>
              </a:rPr>
              <a:t>2</a:t>
            </a:r>
            <a:r>
              <a:rPr b="1" lang="en" sz="1500">
                <a:solidFill>
                  <a:schemeClr val="dk1"/>
                </a:solidFill>
              </a:rPr>
              <a:t> + (1101)</a:t>
            </a:r>
            <a:r>
              <a:rPr b="1" baseline="-25000" lang="en" sz="1500">
                <a:solidFill>
                  <a:schemeClr val="dk1"/>
                </a:solidFill>
              </a:rPr>
              <a:t>2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43" name="Google Shape;643;p28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</a:t>
            </a:r>
            <a:endParaRPr/>
          </a:p>
        </p:txBody>
      </p:sp>
      <p:cxnSp>
        <p:nvCxnSpPr>
          <p:cNvPr id="644" name="Google Shape;644;p28"/>
          <p:cNvCxnSpPr>
            <a:stCxn id="64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28"/>
          <p:cNvCxnSpPr>
            <a:endCxn id="64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8" name="Google Shape;648;p28"/>
          <p:cNvSpPr txBox="1"/>
          <p:nvPr>
            <p:ph idx="1" type="body"/>
          </p:nvPr>
        </p:nvSpPr>
        <p:spPr>
          <a:xfrm>
            <a:off x="3635700" y="22890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</a:t>
            </a:r>
            <a:r>
              <a:rPr b="1" lang="en" sz="1500">
                <a:solidFill>
                  <a:schemeClr val="dk1"/>
                </a:solidFill>
              </a:rPr>
              <a:t>       0       1       1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49" name="Google Shape;649;p28"/>
          <p:cNvSpPr txBox="1"/>
          <p:nvPr>
            <p:ph idx="1" type="body"/>
          </p:nvPr>
        </p:nvSpPr>
        <p:spPr>
          <a:xfrm>
            <a:off x="3635700" y="27462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</a:t>
            </a:r>
            <a:r>
              <a:rPr b="1" lang="en" sz="1500">
                <a:solidFill>
                  <a:schemeClr val="dk1"/>
                </a:solidFill>
              </a:rPr>
              <a:t>       1       0       1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650" name="Google Shape;650;p28"/>
          <p:cNvCxnSpPr/>
          <p:nvPr/>
        </p:nvCxnSpPr>
        <p:spPr>
          <a:xfrm>
            <a:off x="2892150" y="3223000"/>
            <a:ext cx="283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28"/>
          <p:cNvSpPr txBox="1"/>
          <p:nvPr>
            <p:ph idx="1" type="body"/>
          </p:nvPr>
        </p:nvSpPr>
        <p:spPr>
          <a:xfrm>
            <a:off x="3102300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+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52" name="Google Shape;652;p28"/>
          <p:cNvSpPr txBox="1"/>
          <p:nvPr>
            <p:ph idx="1" type="body"/>
          </p:nvPr>
        </p:nvSpPr>
        <p:spPr>
          <a:xfrm>
            <a:off x="5083500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0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53" name="Google Shape;653;p28"/>
          <p:cNvSpPr txBox="1"/>
          <p:nvPr>
            <p:ph idx="1" type="body"/>
          </p:nvPr>
        </p:nvSpPr>
        <p:spPr>
          <a:xfrm>
            <a:off x="45834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654" name="Google Shape;654;p28"/>
          <p:cNvSpPr txBox="1"/>
          <p:nvPr>
            <p:ph idx="1" type="body"/>
          </p:nvPr>
        </p:nvSpPr>
        <p:spPr>
          <a:xfrm>
            <a:off x="45762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0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55" name="Google Shape;655;p28"/>
          <p:cNvSpPr txBox="1"/>
          <p:nvPr>
            <p:ph idx="1" type="body"/>
          </p:nvPr>
        </p:nvSpPr>
        <p:spPr>
          <a:xfrm>
            <a:off x="41190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0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56" name="Google Shape;656;p28"/>
          <p:cNvSpPr txBox="1"/>
          <p:nvPr>
            <p:ph idx="1" type="body"/>
          </p:nvPr>
        </p:nvSpPr>
        <p:spPr>
          <a:xfrm>
            <a:off x="36618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57" name="Google Shape;657;p28"/>
          <p:cNvSpPr txBox="1"/>
          <p:nvPr>
            <p:ph idx="1" type="body"/>
          </p:nvPr>
        </p:nvSpPr>
        <p:spPr>
          <a:xfrm>
            <a:off x="41262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658" name="Google Shape;658;p28"/>
          <p:cNvSpPr txBox="1"/>
          <p:nvPr>
            <p:ph idx="1" type="body"/>
          </p:nvPr>
        </p:nvSpPr>
        <p:spPr>
          <a:xfrm>
            <a:off x="36690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659" name="Google Shape;659;p28"/>
          <p:cNvCxnSpPr/>
          <p:nvPr/>
        </p:nvCxnSpPr>
        <p:spPr>
          <a:xfrm>
            <a:off x="5850575" y="35041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0" name="Google Shape;660;p28"/>
          <p:cNvCxnSpPr/>
          <p:nvPr/>
        </p:nvCxnSpPr>
        <p:spPr>
          <a:xfrm>
            <a:off x="5850575" y="20563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1" name="Google Shape;661;p28"/>
          <p:cNvSpPr txBox="1"/>
          <p:nvPr>
            <p:ph idx="1" type="body"/>
          </p:nvPr>
        </p:nvSpPr>
        <p:spPr>
          <a:xfrm>
            <a:off x="6607500" y="18318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Carry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62" name="Google Shape;662;p28"/>
          <p:cNvSpPr txBox="1"/>
          <p:nvPr>
            <p:ph idx="1" type="body"/>
          </p:nvPr>
        </p:nvSpPr>
        <p:spPr>
          <a:xfrm>
            <a:off x="6607500" y="32796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Sum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63" name="Google Shape;663;p28"/>
          <p:cNvSpPr txBox="1"/>
          <p:nvPr>
            <p:ph idx="1" type="body"/>
          </p:nvPr>
        </p:nvSpPr>
        <p:spPr>
          <a:xfrm>
            <a:off x="3135663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9"/>
          <p:cNvSpPr txBox="1"/>
          <p:nvPr>
            <p:ph idx="1" type="body"/>
          </p:nvPr>
        </p:nvSpPr>
        <p:spPr>
          <a:xfrm>
            <a:off x="715100" y="14518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Add (5DE2)</a:t>
            </a:r>
            <a:r>
              <a:rPr b="1" baseline="-25000" lang="en" sz="1500">
                <a:solidFill>
                  <a:schemeClr val="dk1"/>
                </a:solidFill>
              </a:rPr>
              <a:t>16</a:t>
            </a:r>
            <a:r>
              <a:rPr b="1" lang="en" sz="1500">
                <a:solidFill>
                  <a:schemeClr val="dk1"/>
                </a:solidFill>
              </a:rPr>
              <a:t> + (9A35)</a:t>
            </a:r>
            <a:r>
              <a:rPr b="1" baseline="-25000" lang="en" sz="1500">
                <a:solidFill>
                  <a:schemeClr val="dk1"/>
                </a:solidFill>
              </a:rPr>
              <a:t>16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69" name="Google Shape;669;p29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</a:t>
            </a:r>
            <a:endParaRPr/>
          </a:p>
        </p:txBody>
      </p:sp>
      <p:cxnSp>
        <p:nvCxnSpPr>
          <p:cNvPr id="670" name="Google Shape;670;p29"/>
          <p:cNvCxnSpPr>
            <a:stCxn id="67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29"/>
          <p:cNvCxnSpPr>
            <a:endCxn id="67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29"/>
          <p:cNvSpPr txBox="1"/>
          <p:nvPr>
            <p:ph idx="1" type="body"/>
          </p:nvPr>
        </p:nvSpPr>
        <p:spPr>
          <a:xfrm>
            <a:off x="3635700" y="22890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</a:t>
            </a:r>
            <a:r>
              <a:rPr b="1" lang="en" sz="1500">
                <a:solidFill>
                  <a:schemeClr val="dk1"/>
                </a:solidFill>
              </a:rPr>
              <a:t>       D       E       2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75" name="Google Shape;675;p29"/>
          <p:cNvSpPr txBox="1"/>
          <p:nvPr>
            <p:ph idx="1" type="body"/>
          </p:nvPr>
        </p:nvSpPr>
        <p:spPr>
          <a:xfrm>
            <a:off x="3635700" y="27462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9</a:t>
            </a:r>
            <a:r>
              <a:rPr b="1" lang="en" sz="1500">
                <a:solidFill>
                  <a:schemeClr val="dk1"/>
                </a:solidFill>
              </a:rPr>
              <a:t>       A       3       5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676" name="Google Shape;676;p29"/>
          <p:cNvCxnSpPr/>
          <p:nvPr/>
        </p:nvCxnSpPr>
        <p:spPr>
          <a:xfrm>
            <a:off x="2892150" y="3223000"/>
            <a:ext cx="283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7" name="Google Shape;677;p29"/>
          <p:cNvSpPr txBox="1"/>
          <p:nvPr>
            <p:ph idx="1" type="body"/>
          </p:nvPr>
        </p:nvSpPr>
        <p:spPr>
          <a:xfrm>
            <a:off x="3102300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+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78" name="Google Shape;678;p29"/>
          <p:cNvSpPr txBox="1"/>
          <p:nvPr>
            <p:ph idx="1" type="body"/>
          </p:nvPr>
        </p:nvSpPr>
        <p:spPr>
          <a:xfrm>
            <a:off x="5083500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7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79" name="Google Shape;679;p29"/>
          <p:cNvSpPr txBox="1"/>
          <p:nvPr>
            <p:ph idx="1" type="body"/>
          </p:nvPr>
        </p:nvSpPr>
        <p:spPr>
          <a:xfrm>
            <a:off x="45762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80" name="Google Shape;680;p29"/>
          <p:cNvSpPr txBox="1"/>
          <p:nvPr>
            <p:ph idx="1" type="body"/>
          </p:nvPr>
        </p:nvSpPr>
        <p:spPr>
          <a:xfrm>
            <a:off x="41190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8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81" name="Google Shape;681;p29"/>
          <p:cNvSpPr txBox="1"/>
          <p:nvPr>
            <p:ph idx="1" type="body"/>
          </p:nvPr>
        </p:nvSpPr>
        <p:spPr>
          <a:xfrm>
            <a:off x="3661855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82" name="Google Shape;682;p29"/>
          <p:cNvSpPr txBox="1"/>
          <p:nvPr>
            <p:ph idx="1" type="body"/>
          </p:nvPr>
        </p:nvSpPr>
        <p:spPr>
          <a:xfrm>
            <a:off x="41262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683" name="Google Shape;683;p29"/>
          <p:cNvSpPr txBox="1"/>
          <p:nvPr>
            <p:ph idx="1" type="body"/>
          </p:nvPr>
        </p:nvSpPr>
        <p:spPr>
          <a:xfrm>
            <a:off x="3669063" y="1831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684" name="Google Shape;684;p29"/>
          <p:cNvCxnSpPr/>
          <p:nvPr/>
        </p:nvCxnSpPr>
        <p:spPr>
          <a:xfrm>
            <a:off x="5850575" y="35041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29"/>
          <p:cNvCxnSpPr/>
          <p:nvPr/>
        </p:nvCxnSpPr>
        <p:spPr>
          <a:xfrm>
            <a:off x="5850575" y="20563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29"/>
          <p:cNvSpPr txBox="1"/>
          <p:nvPr>
            <p:ph idx="1" type="body"/>
          </p:nvPr>
        </p:nvSpPr>
        <p:spPr>
          <a:xfrm>
            <a:off x="6607500" y="18318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Carry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87" name="Google Shape;687;p29"/>
          <p:cNvSpPr txBox="1"/>
          <p:nvPr>
            <p:ph idx="1" type="body"/>
          </p:nvPr>
        </p:nvSpPr>
        <p:spPr>
          <a:xfrm>
            <a:off x="6607500" y="32796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Sum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0"/>
          <p:cNvSpPr txBox="1"/>
          <p:nvPr>
            <p:ph idx="1" type="body"/>
          </p:nvPr>
        </p:nvSpPr>
        <p:spPr>
          <a:xfrm>
            <a:off x="715100" y="14518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Subtract</a:t>
            </a:r>
            <a:r>
              <a:rPr b="1" lang="en" sz="1500">
                <a:solidFill>
                  <a:schemeClr val="dk1"/>
                </a:solidFill>
              </a:rPr>
              <a:t> (7254)</a:t>
            </a:r>
            <a:r>
              <a:rPr b="1" baseline="-25000" lang="en" sz="1500">
                <a:solidFill>
                  <a:schemeClr val="dk1"/>
                </a:solidFill>
              </a:rPr>
              <a:t>10</a:t>
            </a:r>
            <a:r>
              <a:rPr b="1" lang="en" sz="1500">
                <a:solidFill>
                  <a:schemeClr val="dk1"/>
                </a:solidFill>
              </a:rPr>
              <a:t> – (3692)</a:t>
            </a:r>
            <a:r>
              <a:rPr b="1" baseline="-25000" lang="en" sz="1500">
                <a:solidFill>
                  <a:schemeClr val="dk1"/>
                </a:solidFill>
              </a:rPr>
              <a:t>10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93" name="Google Shape;693;p30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</a:t>
            </a:r>
            <a:endParaRPr/>
          </a:p>
        </p:txBody>
      </p:sp>
      <p:cxnSp>
        <p:nvCxnSpPr>
          <p:cNvPr id="694" name="Google Shape;694;p30"/>
          <p:cNvCxnSpPr>
            <a:stCxn id="69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30"/>
          <p:cNvCxnSpPr>
            <a:endCxn id="69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98" name="Google Shape;698;p30"/>
          <p:cNvCxnSpPr/>
          <p:nvPr/>
        </p:nvCxnSpPr>
        <p:spPr>
          <a:xfrm>
            <a:off x="2892150" y="3223000"/>
            <a:ext cx="283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30"/>
          <p:cNvSpPr txBox="1"/>
          <p:nvPr>
            <p:ph idx="1" type="body"/>
          </p:nvPr>
        </p:nvSpPr>
        <p:spPr>
          <a:xfrm>
            <a:off x="3102300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–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00" name="Google Shape;700;p30"/>
          <p:cNvSpPr txBox="1"/>
          <p:nvPr>
            <p:ph idx="1" type="body"/>
          </p:nvPr>
        </p:nvSpPr>
        <p:spPr>
          <a:xfrm>
            <a:off x="5083500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01" name="Google Shape;701;p30"/>
          <p:cNvSpPr txBox="1"/>
          <p:nvPr>
            <p:ph idx="1" type="body"/>
          </p:nvPr>
        </p:nvSpPr>
        <p:spPr>
          <a:xfrm>
            <a:off x="4576255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02" name="Google Shape;702;p30"/>
          <p:cNvSpPr txBox="1"/>
          <p:nvPr>
            <p:ph idx="1" type="body"/>
          </p:nvPr>
        </p:nvSpPr>
        <p:spPr>
          <a:xfrm>
            <a:off x="4119055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03" name="Google Shape;703;p30"/>
          <p:cNvSpPr txBox="1"/>
          <p:nvPr>
            <p:ph idx="1" type="body"/>
          </p:nvPr>
        </p:nvSpPr>
        <p:spPr>
          <a:xfrm>
            <a:off x="3661855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7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04" name="Google Shape;704;p30"/>
          <p:cNvSpPr txBox="1"/>
          <p:nvPr>
            <p:ph idx="1" type="body"/>
          </p:nvPr>
        </p:nvSpPr>
        <p:spPr>
          <a:xfrm>
            <a:off x="4126263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705" name="Google Shape;705;p30"/>
          <p:cNvSpPr txBox="1"/>
          <p:nvPr>
            <p:ph idx="1" type="body"/>
          </p:nvPr>
        </p:nvSpPr>
        <p:spPr>
          <a:xfrm>
            <a:off x="4481108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706" name="Google Shape;706;p30"/>
          <p:cNvCxnSpPr/>
          <p:nvPr/>
        </p:nvCxnSpPr>
        <p:spPr>
          <a:xfrm>
            <a:off x="5850575" y="35041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30"/>
          <p:cNvCxnSpPr/>
          <p:nvPr/>
        </p:nvCxnSpPr>
        <p:spPr>
          <a:xfrm>
            <a:off x="5850575" y="20563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8" name="Google Shape;708;p30"/>
          <p:cNvSpPr txBox="1"/>
          <p:nvPr>
            <p:ph idx="1" type="body"/>
          </p:nvPr>
        </p:nvSpPr>
        <p:spPr>
          <a:xfrm>
            <a:off x="6607500" y="18318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Borrow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09" name="Google Shape;709;p30"/>
          <p:cNvSpPr txBox="1"/>
          <p:nvPr>
            <p:ph idx="1" type="body"/>
          </p:nvPr>
        </p:nvSpPr>
        <p:spPr>
          <a:xfrm>
            <a:off x="6607500" y="32796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Difference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0" name="Google Shape;710;p30"/>
          <p:cNvSpPr txBox="1"/>
          <p:nvPr>
            <p:ph idx="1" type="body"/>
          </p:nvPr>
        </p:nvSpPr>
        <p:spPr>
          <a:xfrm>
            <a:off x="5083500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1" name="Google Shape;711;p30"/>
          <p:cNvSpPr txBox="1"/>
          <p:nvPr>
            <p:ph idx="1" type="body"/>
          </p:nvPr>
        </p:nvSpPr>
        <p:spPr>
          <a:xfrm>
            <a:off x="4576255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9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2" name="Google Shape;712;p30"/>
          <p:cNvSpPr txBox="1"/>
          <p:nvPr>
            <p:ph idx="1" type="body"/>
          </p:nvPr>
        </p:nvSpPr>
        <p:spPr>
          <a:xfrm>
            <a:off x="4119055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3" name="Google Shape;713;p30"/>
          <p:cNvSpPr txBox="1"/>
          <p:nvPr>
            <p:ph idx="1" type="body"/>
          </p:nvPr>
        </p:nvSpPr>
        <p:spPr>
          <a:xfrm>
            <a:off x="3661855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4" name="Google Shape;714;p30"/>
          <p:cNvSpPr txBox="1"/>
          <p:nvPr>
            <p:ph idx="1" type="body"/>
          </p:nvPr>
        </p:nvSpPr>
        <p:spPr>
          <a:xfrm>
            <a:off x="5083500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5" name="Google Shape;715;p30"/>
          <p:cNvSpPr txBox="1"/>
          <p:nvPr>
            <p:ph idx="1" type="body"/>
          </p:nvPr>
        </p:nvSpPr>
        <p:spPr>
          <a:xfrm>
            <a:off x="4550100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6" name="Google Shape;716;p30"/>
          <p:cNvSpPr txBox="1"/>
          <p:nvPr>
            <p:ph idx="1" type="body"/>
          </p:nvPr>
        </p:nvSpPr>
        <p:spPr>
          <a:xfrm>
            <a:off x="3669063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6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717" name="Google Shape;717;p30"/>
          <p:cNvSpPr txBox="1"/>
          <p:nvPr>
            <p:ph idx="1" type="body"/>
          </p:nvPr>
        </p:nvSpPr>
        <p:spPr>
          <a:xfrm>
            <a:off x="4016700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718" name="Google Shape;718;p30"/>
          <p:cNvSpPr txBox="1"/>
          <p:nvPr>
            <p:ph idx="1" type="body"/>
          </p:nvPr>
        </p:nvSpPr>
        <p:spPr>
          <a:xfrm>
            <a:off x="4115142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5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19" name="Google Shape;719;p30"/>
          <p:cNvSpPr txBox="1"/>
          <p:nvPr>
            <p:ph idx="1" type="body"/>
          </p:nvPr>
        </p:nvSpPr>
        <p:spPr>
          <a:xfrm>
            <a:off x="3657942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3868750" y="2017395"/>
            <a:ext cx="389225" cy="300301"/>
          </a:xfrm>
          <a:custGeom>
            <a:rect b="b" l="l" r="r" t="t"/>
            <a:pathLst>
              <a:path extrusionOk="0" h="38711" w="15569">
                <a:moveTo>
                  <a:pt x="0" y="38711"/>
                </a:moveTo>
                <a:cubicBezTo>
                  <a:pt x="1223" y="32261"/>
                  <a:pt x="4744" y="157"/>
                  <a:pt x="7339" y="9"/>
                </a:cubicBezTo>
                <a:cubicBezTo>
                  <a:pt x="9934" y="-139"/>
                  <a:pt x="14197" y="31519"/>
                  <a:pt x="15569" y="3782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721" name="Google Shape;721;p30"/>
          <p:cNvSpPr/>
          <p:nvPr/>
        </p:nvSpPr>
        <p:spPr>
          <a:xfrm>
            <a:off x="4325950" y="2017395"/>
            <a:ext cx="389225" cy="300301"/>
          </a:xfrm>
          <a:custGeom>
            <a:rect b="b" l="l" r="r" t="t"/>
            <a:pathLst>
              <a:path extrusionOk="0" h="38711" w="15569">
                <a:moveTo>
                  <a:pt x="0" y="38711"/>
                </a:moveTo>
                <a:cubicBezTo>
                  <a:pt x="1223" y="32261"/>
                  <a:pt x="4744" y="157"/>
                  <a:pt x="7339" y="9"/>
                </a:cubicBezTo>
                <a:cubicBezTo>
                  <a:pt x="9934" y="-139"/>
                  <a:pt x="14197" y="31519"/>
                  <a:pt x="15569" y="3782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1"/>
          <p:cNvSpPr txBox="1"/>
          <p:nvPr>
            <p:ph idx="1" type="body"/>
          </p:nvPr>
        </p:nvSpPr>
        <p:spPr>
          <a:xfrm>
            <a:off x="715100" y="14518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Subtract (6B94)</a:t>
            </a:r>
            <a:r>
              <a:rPr b="1" baseline="-25000" lang="en" sz="1500">
                <a:solidFill>
                  <a:schemeClr val="dk1"/>
                </a:solidFill>
              </a:rPr>
              <a:t>16</a:t>
            </a:r>
            <a:r>
              <a:rPr b="1" lang="en" sz="1500">
                <a:solidFill>
                  <a:schemeClr val="dk1"/>
                </a:solidFill>
              </a:rPr>
              <a:t> – (4EA2)</a:t>
            </a:r>
            <a:r>
              <a:rPr b="1" baseline="-25000" lang="en" sz="1500">
                <a:solidFill>
                  <a:schemeClr val="dk1"/>
                </a:solidFill>
              </a:rPr>
              <a:t>16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27" name="Google Shape;727;p3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</a:t>
            </a:r>
            <a:endParaRPr/>
          </a:p>
        </p:txBody>
      </p:sp>
      <p:cxnSp>
        <p:nvCxnSpPr>
          <p:cNvPr id="728" name="Google Shape;728;p31"/>
          <p:cNvCxnSpPr>
            <a:stCxn id="72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31"/>
          <p:cNvCxnSpPr>
            <a:endCxn id="72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2" name="Google Shape;732;p31"/>
          <p:cNvCxnSpPr/>
          <p:nvPr/>
        </p:nvCxnSpPr>
        <p:spPr>
          <a:xfrm>
            <a:off x="2892150" y="3223000"/>
            <a:ext cx="2830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31"/>
          <p:cNvSpPr txBox="1"/>
          <p:nvPr>
            <p:ph idx="1" type="body"/>
          </p:nvPr>
        </p:nvSpPr>
        <p:spPr>
          <a:xfrm>
            <a:off x="3102300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–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4" name="Google Shape;734;p31"/>
          <p:cNvSpPr txBox="1"/>
          <p:nvPr>
            <p:ph idx="1" type="body"/>
          </p:nvPr>
        </p:nvSpPr>
        <p:spPr>
          <a:xfrm>
            <a:off x="5083500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5" name="Google Shape;735;p31"/>
          <p:cNvSpPr txBox="1"/>
          <p:nvPr>
            <p:ph idx="1" type="body"/>
          </p:nvPr>
        </p:nvSpPr>
        <p:spPr>
          <a:xfrm>
            <a:off x="4576255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9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6" name="Google Shape;736;p31"/>
          <p:cNvSpPr txBox="1"/>
          <p:nvPr>
            <p:ph idx="1" type="body"/>
          </p:nvPr>
        </p:nvSpPr>
        <p:spPr>
          <a:xfrm>
            <a:off x="4119055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7" name="Google Shape;737;p31"/>
          <p:cNvSpPr txBox="1"/>
          <p:nvPr>
            <p:ph idx="1" type="body"/>
          </p:nvPr>
        </p:nvSpPr>
        <p:spPr>
          <a:xfrm>
            <a:off x="3661855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4126263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A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739" name="Google Shape;739;p31"/>
          <p:cNvSpPr txBox="1"/>
          <p:nvPr>
            <p:ph idx="1" type="body"/>
          </p:nvPr>
        </p:nvSpPr>
        <p:spPr>
          <a:xfrm>
            <a:off x="4557308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25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740" name="Google Shape;740;p31"/>
          <p:cNvCxnSpPr/>
          <p:nvPr/>
        </p:nvCxnSpPr>
        <p:spPr>
          <a:xfrm>
            <a:off x="5850575" y="35041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1" name="Google Shape;741;p31"/>
          <p:cNvCxnSpPr/>
          <p:nvPr/>
        </p:nvCxnSpPr>
        <p:spPr>
          <a:xfrm>
            <a:off x="5850575" y="2056325"/>
            <a:ext cx="75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2" name="Google Shape;742;p31"/>
          <p:cNvSpPr txBox="1"/>
          <p:nvPr>
            <p:ph idx="1" type="body"/>
          </p:nvPr>
        </p:nvSpPr>
        <p:spPr>
          <a:xfrm>
            <a:off x="6607500" y="18318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Borrow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43" name="Google Shape;743;p31"/>
          <p:cNvSpPr txBox="1"/>
          <p:nvPr>
            <p:ph idx="1" type="body"/>
          </p:nvPr>
        </p:nvSpPr>
        <p:spPr>
          <a:xfrm>
            <a:off x="6607500" y="3279625"/>
            <a:ext cx="1872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Difference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44" name="Google Shape;744;p31"/>
          <p:cNvSpPr txBox="1"/>
          <p:nvPr>
            <p:ph idx="1" type="body"/>
          </p:nvPr>
        </p:nvSpPr>
        <p:spPr>
          <a:xfrm>
            <a:off x="5083500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45" name="Google Shape;745;p31"/>
          <p:cNvSpPr txBox="1"/>
          <p:nvPr>
            <p:ph idx="1" type="body"/>
          </p:nvPr>
        </p:nvSpPr>
        <p:spPr>
          <a:xfrm>
            <a:off x="4576255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46" name="Google Shape;746;p31"/>
          <p:cNvSpPr txBox="1"/>
          <p:nvPr>
            <p:ph idx="1" type="body"/>
          </p:nvPr>
        </p:nvSpPr>
        <p:spPr>
          <a:xfrm>
            <a:off x="4119055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47" name="Google Shape;747;p31"/>
          <p:cNvSpPr txBox="1"/>
          <p:nvPr>
            <p:ph idx="1" type="body"/>
          </p:nvPr>
        </p:nvSpPr>
        <p:spPr>
          <a:xfrm>
            <a:off x="3661855" y="27462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48" name="Google Shape;748;p31"/>
          <p:cNvSpPr txBox="1"/>
          <p:nvPr>
            <p:ph idx="1" type="body"/>
          </p:nvPr>
        </p:nvSpPr>
        <p:spPr>
          <a:xfrm>
            <a:off x="5083500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49" name="Google Shape;749;p31"/>
          <p:cNvSpPr txBox="1"/>
          <p:nvPr>
            <p:ph idx="1" type="body"/>
          </p:nvPr>
        </p:nvSpPr>
        <p:spPr>
          <a:xfrm>
            <a:off x="4550100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50" name="Google Shape;750;p31"/>
          <p:cNvSpPr txBox="1"/>
          <p:nvPr>
            <p:ph idx="1" type="body"/>
          </p:nvPr>
        </p:nvSpPr>
        <p:spPr>
          <a:xfrm>
            <a:off x="3669063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5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751" name="Google Shape;751;p31"/>
          <p:cNvSpPr txBox="1"/>
          <p:nvPr>
            <p:ph idx="1" type="body"/>
          </p:nvPr>
        </p:nvSpPr>
        <p:spPr>
          <a:xfrm>
            <a:off x="4098461" y="22128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26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752" name="Google Shape;752;p31"/>
          <p:cNvSpPr txBox="1"/>
          <p:nvPr>
            <p:ph idx="1" type="body"/>
          </p:nvPr>
        </p:nvSpPr>
        <p:spPr>
          <a:xfrm>
            <a:off x="4115142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53" name="Google Shape;753;p31"/>
          <p:cNvSpPr txBox="1"/>
          <p:nvPr>
            <p:ph idx="1" type="body"/>
          </p:nvPr>
        </p:nvSpPr>
        <p:spPr>
          <a:xfrm>
            <a:off x="3657942" y="3279625"/>
            <a:ext cx="4290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1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3868750" y="2017395"/>
            <a:ext cx="389225" cy="300301"/>
          </a:xfrm>
          <a:custGeom>
            <a:rect b="b" l="l" r="r" t="t"/>
            <a:pathLst>
              <a:path extrusionOk="0" h="38711" w="15569">
                <a:moveTo>
                  <a:pt x="0" y="38711"/>
                </a:moveTo>
                <a:cubicBezTo>
                  <a:pt x="1223" y="32261"/>
                  <a:pt x="4744" y="157"/>
                  <a:pt x="7339" y="9"/>
                </a:cubicBezTo>
                <a:cubicBezTo>
                  <a:pt x="9934" y="-139"/>
                  <a:pt x="14197" y="31519"/>
                  <a:pt x="15569" y="3782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755" name="Google Shape;755;p31"/>
          <p:cNvSpPr/>
          <p:nvPr/>
        </p:nvSpPr>
        <p:spPr>
          <a:xfrm>
            <a:off x="4325950" y="2017395"/>
            <a:ext cx="389225" cy="300301"/>
          </a:xfrm>
          <a:custGeom>
            <a:rect b="b" l="l" r="r" t="t"/>
            <a:pathLst>
              <a:path extrusionOk="0" h="38711" w="15569">
                <a:moveTo>
                  <a:pt x="0" y="38711"/>
                </a:moveTo>
                <a:cubicBezTo>
                  <a:pt x="1223" y="32261"/>
                  <a:pt x="4744" y="157"/>
                  <a:pt x="7339" y="9"/>
                </a:cubicBezTo>
                <a:cubicBezTo>
                  <a:pt x="9934" y="-139"/>
                  <a:pt x="14197" y="31519"/>
                  <a:pt x="15569" y="3782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2"/>
          <p:cNvSpPr txBox="1"/>
          <p:nvPr>
            <p:ph idx="1" type="body"/>
          </p:nvPr>
        </p:nvSpPr>
        <p:spPr>
          <a:xfrm>
            <a:off x="715100" y="15280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Subtract (1101)</a:t>
            </a:r>
            <a:r>
              <a:rPr b="1" baseline="-25000" lang="en" sz="1500">
                <a:solidFill>
                  <a:schemeClr val="dk1"/>
                </a:solidFill>
              </a:rPr>
              <a:t>2</a:t>
            </a:r>
            <a:r>
              <a:rPr b="1" lang="en" sz="1500">
                <a:solidFill>
                  <a:schemeClr val="dk1"/>
                </a:solidFill>
              </a:rPr>
              <a:t> – (1011)</a:t>
            </a:r>
            <a:r>
              <a:rPr b="1" baseline="-25000" lang="en" sz="1500">
                <a:solidFill>
                  <a:schemeClr val="dk1"/>
                </a:solidFill>
              </a:rPr>
              <a:t>2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61" name="Google Shape;761;p3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the following</a:t>
            </a:r>
            <a:endParaRPr/>
          </a:p>
        </p:txBody>
      </p:sp>
      <p:cxnSp>
        <p:nvCxnSpPr>
          <p:cNvPr id="762" name="Google Shape;762;p32"/>
          <p:cNvCxnSpPr>
            <a:stCxn id="76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32"/>
          <p:cNvCxnSpPr>
            <a:endCxn id="76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6" name="Google Shape;766;p32"/>
          <p:cNvSpPr txBox="1"/>
          <p:nvPr>
            <p:ph idx="1" type="body"/>
          </p:nvPr>
        </p:nvSpPr>
        <p:spPr>
          <a:xfrm>
            <a:off x="715100" y="19852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Add</a:t>
            </a:r>
            <a:r>
              <a:rPr b="1" lang="en" sz="1500">
                <a:solidFill>
                  <a:schemeClr val="dk1"/>
                </a:solidFill>
              </a:rPr>
              <a:t> (ACBD)</a:t>
            </a:r>
            <a:r>
              <a:rPr b="1" baseline="-25000" lang="en" sz="1500">
                <a:solidFill>
                  <a:schemeClr val="dk1"/>
                </a:solidFill>
              </a:rPr>
              <a:t>16</a:t>
            </a:r>
            <a:r>
              <a:rPr b="1" lang="en" sz="1500">
                <a:solidFill>
                  <a:schemeClr val="dk1"/>
                </a:solidFill>
              </a:rPr>
              <a:t> + (1057)</a:t>
            </a:r>
            <a:r>
              <a:rPr b="1" baseline="-25000" lang="en" sz="1500">
                <a:solidFill>
                  <a:schemeClr val="dk1"/>
                </a:solidFill>
              </a:rPr>
              <a:t>8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767" name="Google Shape;767;p32"/>
          <p:cNvSpPr txBox="1"/>
          <p:nvPr>
            <p:ph idx="1" type="body"/>
          </p:nvPr>
        </p:nvSpPr>
        <p:spPr>
          <a:xfrm>
            <a:off x="715100" y="2442450"/>
            <a:ext cx="50289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Subtract</a:t>
            </a:r>
            <a:r>
              <a:rPr b="1" lang="en" sz="1500">
                <a:solidFill>
                  <a:schemeClr val="dk1"/>
                </a:solidFill>
              </a:rPr>
              <a:t> (15)</a:t>
            </a:r>
            <a:r>
              <a:rPr b="1" baseline="-25000" lang="en" sz="1500">
                <a:solidFill>
                  <a:schemeClr val="dk1"/>
                </a:solidFill>
              </a:rPr>
              <a:t>10</a:t>
            </a:r>
            <a:r>
              <a:rPr b="1" lang="en" sz="1500">
                <a:solidFill>
                  <a:schemeClr val="dk1"/>
                </a:solidFill>
              </a:rPr>
              <a:t> – (1011)</a:t>
            </a:r>
            <a:r>
              <a:rPr b="1" baseline="-25000" lang="en" sz="1500">
                <a:solidFill>
                  <a:schemeClr val="dk1"/>
                </a:solidFill>
              </a:rPr>
              <a:t>2</a:t>
            </a:r>
            <a:r>
              <a:rPr b="1" lang="en" sz="1500">
                <a:solidFill>
                  <a:schemeClr val="dk1"/>
                </a:solidFill>
              </a:rPr>
              <a:t>  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Complements</a:t>
            </a:r>
            <a:endParaRPr sz="3800"/>
          </a:p>
        </p:txBody>
      </p:sp>
      <p:sp>
        <p:nvSpPr>
          <p:cNvPr id="773" name="Google Shape;773;p33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74" name="Google Shape;774;p3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Negated or inverted numbers</a:t>
            </a:r>
            <a:endParaRPr/>
          </a:p>
        </p:txBody>
      </p:sp>
      <p:cxnSp>
        <p:nvCxnSpPr>
          <p:cNvPr id="775" name="Google Shape;775;p33"/>
          <p:cNvCxnSpPr>
            <a:stCxn id="773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Complements</a:t>
            </a:r>
            <a:endParaRPr/>
          </a:p>
        </p:txBody>
      </p:sp>
      <p:sp>
        <p:nvSpPr>
          <p:cNvPr id="782" name="Google Shape;782;p34"/>
          <p:cNvSpPr txBox="1"/>
          <p:nvPr>
            <p:ph idx="4294967295" type="body"/>
          </p:nvPr>
        </p:nvSpPr>
        <p:spPr>
          <a:xfrm>
            <a:off x="720000" y="1208325"/>
            <a:ext cx="77040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Complements are used to </a:t>
            </a:r>
            <a:r>
              <a:rPr b="1" lang="en" sz="1500"/>
              <a:t>simplify </a:t>
            </a:r>
            <a:r>
              <a:rPr lang="en" sz="1500"/>
              <a:t>the </a:t>
            </a:r>
            <a:r>
              <a:rPr b="1" lang="en" sz="1500"/>
              <a:t>subtraction operation.</a:t>
            </a:r>
            <a:endParaRPr b="1" sz="1500"/>
          </a:p>
        </p:txBody>
      </p:sp>
      <p:sp>
        <p:nvSpPr>
          <p:cNvPr id="783" name="Google Shape;783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34"/>
          <p:cNvSpPr txBox="1"/>
          <p:nvPr>
            <p:ph idx="4294967295" type="body"/>
          </p:nvPr>
        </p:nvSpPr>
        <p:spPr>
          <a:xfrm>
            <a:off x="720000" y="17417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There are </a:t>
            </a:r>
            <a:r>
              <a:rPr b="1" lang="en" sz="1500"/>
              <a:t>two </a:t>
            </a:r>
            <a:r>
              <a:rPr lang="en" sz="1500"/>
              <a:t>types of complements for any base r –</a:t>
            </a:r>
            <a:endParaRPr sz="1500"/>
          </a:p>
        </p:txBody>
      </p:sp>
      <p:sp>
        <p:nvSpPr>
          <p:cNvPr id="785" name="Google Shape;785;p34"/>
          <p:cNvSpPr txBox="1"/>
          <p:nvPr>
            <p:ph idx="4294967295" type="body"/>
          </p:nvPr>
        </p:nvSpPr>
        <p:spPr>
          <a:xfrm>
            <a:off x="948600" y="21227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Radix Complement:</a:t>
            </a:r>
            <a:r>
              <a:rPr lang="en" sz="1500"/>
              <a:t> </a:t>
            </a:r>
            <a:r>
              <a:rPr lang="en" sz="1500"/>
              <a:t>r</a:t>
            </a:r>
            <a:r>
              <a:rPr lang="en" sz="1500"/>
              <a:t>’s complement</a:t>
            </a:r>
            <a:endParaRPr sz="1500"/>
          </a:p>
        </p:txBody>
      </p:sp>
      <p:sp>
        <p:nvSpPr>
          <p:cNvPr id="786" name="Google Shape;786;p34"/>
          <p:cNvSpPr txBox="1"/>
          <p:nvPr>
            <p:ph idx="4294967295" type="body"/>
          </p:nvPr>
        </p:nvSpPr>
        <p:spPr>
          <a:xfrm>
            <a:off x="948600" y="24275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Diminished </a:t>
            </a:r>
            <a:r>
              <a:rPr b="1" lang="en" sz="1500"/>
              <a:t>Radix Complement:</a:t>
            </a:r>
            <a:r>
              <a:rPr lang="en" sz="1500"/>
              <a:t> (r–1)’s complement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Diminished Radix Complement</a:t>
            </a:r>
            <a:endParaRPr/>
          </a:p>
        </p:txBody>
      </p:sp>
      <p:sp>
        <p:nvSpPr>
          <p:cNvPr id="792" name="Google Shape;792;p35"/>
          <p:cNvSpPr txBox="1"/>
          <p:nvPr>
            <p:ph idx="4294967295" type="body"/>
          </p:nvPr>
        </p:nvSpPr>
        <p:spPr>
          <a:xfrm>
            <a:off x="720000" y="1208325"/>
            <a:ext cx="26595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(r–1)’s complement of N =</a:t>
            </a:r>
            <a:endParaRPr b="1" sz="1500"/>
          </a:p>
        </p:txBody>
      </p:sp>
      <p:sp>
        <p:nvSpPr>
          <p:cNvPr id="793" name="Google Shape;79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p35"/>
          <p:cNvSpPr txBox="1"/>
          <p:nvPr>
            <p:ph idx="4294967295" type="body"/>
          </p:nvPr>
        </p:nvSpPr>
        <p:spPr>
          <a:xfrm>
            <a:off x="720000" y="22751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Example:</a:t>
            </a:r>
            <a:endParaRPr sz="1500"/>
          </a:p>
        </p:txBody>
      </p:sp>
      <p:pic>
        <p:nvPicPr>
          <p:cNvPr id="795" name="Google Shape;7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3350" y="1745300"/>
            <a:ext cx="1257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5"/>
          <p:cNvSpPr txBox="1"/>
          <p:nvPr>
            <p:ph idx="4294967295" type="body"/>
          </p:nvPr>
        </p:nvSpPr>
        <p:spPr>
          <a:xfrm>
            <a:off x="720000" y="25799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9’s complement of (25.639)</a:t>
            </a:r>
            <a:r>
              <a:rPr baseline="-25000" lang="en" sz="1500"/>
              <a:t>10</a:t>
            </a:r>
            <a:r>
              <a:rPr lang="en" sz="1500"/>
              <a:t> =</a:t>
            </a:r>
            <a:endParaRPr sz="1500"/>
          </a:p>
        </p:txBody>
      </p:sp>
      <p:pic>
        <p:nvPicPr>
          <p:cNvPr id="797" name="Google Shape;79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1450" y="1610000"/>
            <a:ext cx="14192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1450" y="1807657"/>
            <a:ext cx="18669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1450" y="2021475"/>
            <a:ext cx="1971675" cy="19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0" name="Google Shape;800;p35"/>
          <p:cNvCxnSpPr/>
          <p:nvPr/>
        </p:nvCxnSpPr>
        <p:spPr>
          <a:xfrm>
            <a:off x="6404450" y="1562850"/>
            <a:ext cx="0" cy="6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1" name="Google Shape;801;p35"/>
          <p:cNvSpPr txBox="1"/>
          <p:nvPr>
            <p:ph idx="4294967295" type="body"/>
          </p:nvPr>
        </p:nvSpPr>
        <p:spPr>
          <a:xfrm>
            <a:off x="3996600" y="25799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10</a:t>
            </a:r>
            <a:r>
              <a:rPr baseline="30000" lang="en" sz="1500"/>
              <a:t>2</a:t>
            </a:r>
            <a:r>
              <a:rPr lang="en" sz="1500"/>
              <a:t> – 10</a:t>
            </a:r>
            <a:r>
              <a:rPr baseline="30000" lang="en" sz="1500"/>
              <a:t>–3</a:t>
            </a:r>
            <a:r>
              <a:rPr lang="en" sz="1500"/>
              <a:t> – 25.639 = (74.360)</a:t>
            </a:r>
            <a:r>
              <a:rPr baseline="-25000" lang="en" sz="1500"/>
              <a:t>10</a:t>
            </a:r>
            <a:endParaRPr baseline="-25000" sz="1500"/>
          </a:p>
        </p:txBody>
      </p:sp>
      <p:sp>
        <p:nvSpPr>
          <p:cNvPr id="802" name="Google Shape;802;p35"/>
          <p:cNvSpPr txBox="1"/>
          <p:nvPr>
            <p:ph idx="4294967295" type="body"/>
          </p:nvPr>
        </p:nvSpPr>
        <p:spPr>
          <a:xfrm>
            <a:off x="720000" y="30371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</a:t>
            </a:r>
            <a:r>
              <a:rPr lang="en" sz="1500"/>
              <a:t>’s complement of (1011.101)</a:t>
            </a:r>
            <a:r>
              <a:rPr baseline="-25000" lang="en" sz="1500"/>
              <a:t>2</a:t>
            </a:r>
            <a:r>
              <a:rPr lang="en" sz="1500"/>
              <a:t> =</a:t>
            </a:r>
            <a:endParaRPr sz="1500"/>
          </a:p>
        </p:txBody>
      </p:sp>
      <p:sp>
        <p:nvSpPr>
          <p:cNvPr id="803" name="Google Shape;803;p35"/>
          <p:cNvSpPr txBox="1"/>
          <p:nvPr>
            <p:ph idx="4294967295" type="body"/>
          </p:nvPr>
        </p:nvSpPr>
        <p:spPr>
          <a:xfrm>
            <a:off x="4149000" y="30371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2</a:t>
            </a:r>
            <a:r>
              <a:rPr baseline="30000" lang="en" sz="1500"/>
              <a:t>4</a:t>
            </a:r>
            <a:r>
              <a:rPr lang="en" sz="1500"/>
              <a:t> – 2</a:t>
            </a:r>
            <a:r>
              <a:rPr baseline="30000" lang="en" sz="1500"/>
              <a:t>–3</a:t>
            </a:r>
            <a:r>
              <a:rPr lang="en" sz="1500"/>
              <a:t> – 1011.101 = </a:t>
            </a:r>
            <a:r>
              <a:rPr lang="en" sz="1500"/>
              <a:t>(0100.010)</a:t>
            </a:r>
            <a:r>
              <a:rPr baseline="-25000" lang="en" sz="1500"/>
              <a:t>2</a:t>
            </a:r>
            <a:endParaRPr sz="1500"/>
          </a:p>
        </p:txBody>
      </p:sp>
      <p:sp>
        <p:nvSpPr>
          <p:cNvPr id="804" name="Google Shape;804;p35"/>
          <p:cNvSpPr txBox="1"/>
          <p:nvPr>
            <p:ph idx="4294967295" type="body"/>
          </p:nvPr>
        </p:nvSpPr>
        <p:spPr>
          <a:xfrm>
            <a:off x="720000" y="3722925"/>
            <a:ext cx="780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Hack:</a:t>
            </a:r>
            <a:endParaRPr b="1" sz="1500"/>
          </a:p>
        </p:txBody>
      </p:sp>
      <p:sp>
        <p:nvSpPr>
          <p:cNvPr id="805" name="Google Shape;805;p35"/>
          <p:cNvSpPr txBox="1"/>
          <p:nvPr>
            <p:ph idx="4294967295" type="body"/>
          </p:nvPr>
        </p:nvSpPr>
        <p:spPr>
          <a:xfrm>
            <a:off x="1405800" y="3722925"/>
            <a:ext cx="52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Subtract every digit from (r-1)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Radix Complement</a:t>
            </a:r>
            <a:endParaRPr/>
          </a:p>
        </p:txBody>
      </p:sp>
      <p:sp>
        <p:nvSpPr>
          <p:cNvPr id="811" name="Google Shape;811;p36"/>
          <p:cNvSpPr txBox="1"/>
          <p:nvPr>
            <p:ph idx="4294967295" type="body"/>
          </p:nvPr>
        </p:nvSpPr>
        <p:spPr>
          <a:xfrm>
            <a:off x="720000" y="1208325"/>
            <a:ext cx="26595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r’s complement of N =</a:t>
            </a:r>
            <a:endParaRPr b="1" sz="1500"/>
          </a:p>
        </p:txBody>
      </p:sp>
      <p:sp>
        <p:nvSpPr>
          <p:cNvPr id="812" name="Google Shape;81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3" name="Google Shape;813;p36"/>
          <p:cNvSpPr txBox="1"/>
          <p:nvPr>
            <p:ph idx="4294967295" type="body"/>
          </p:nvPr>
        </p:nvSpPr>
        <p:spPr>
          <a:xfrm>
            <a:off x="720000" y="21227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Example:</a:t>
            </a:r>
            <a:endParaRPr sz="1500"/>
          </a:p>
        </p:txBody>
      </p:sp>
      <p:sp>
        <p:nvSpPr>
          <p:cNvPr id="814" name="Google Shape;814;p36"/>
          <p:cNvSpPr txBox="1"/>
          <p:nvPr>
            <p:ph idx="4294967295" type="body"/>
          </p:nvPr>
        </p:nvSpPr>
        <p:spPr>
          <a:xfrm>
            <a:off x="720000" y="24275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10</a:t>
            </a:r>
            <a:r>
              <a:rPr lang="en" sz="1500"/>
              <a:t>’s complement of (25.639)</a:t>
            </a:r>
            <a:r>
              <a:rPr baseline="-25000" lang="en" sz="1500"/>
              <a:t>10</a:t>
            </a:r>
            <a:r>
              <a:rPr lang="en" sz="1500"/>
              <a:t> =</a:t>
            </a:r>
            <a:endParaRPr sz="1500"/>
          </a:p>
        </p:txBody>
      </p:sp>
      <p:pic>
        <p:nvPicPr>
          <p:cNvPr id="815" name="Google Shape;8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450" y="1686200"/>
            <a:ext cx="14192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1450" y="1883857"/>
            <a:ext cx="1866900" cy="19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7" name="Google Shape;817;p36"/>
          <p:cNvCxnSpPr/>
          <p:nvPr/>
        </p:nvCxnSpPr>
        <p:spPr>
          <a:xfrm>
            <a:off x="6404450" y="1562850"/>
            <a:ext cx="0" cy="6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36"/>
          <p:cNvSpPr txBox="1"/>
          <p:nvPr>
            <p:ph idx="4294967295" type="body"/>
          </p:nvPr>
        </p:nvSpPr>
        <p:spPr>
          <a:xfrm>
            <a:off x="3996600" y="24275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10</a:t>
            </a:r>
            <a:r>
              <a:rPr baseline="30000" lang="en" sz="1500"/>
              <a:t>2</a:t>
            </a:r>
            <a:r>
              <a:rPr lang="en" sz="1500"/>
              <a:t> – 25.639 = (74.361)</a:t>
            </a:r>
            <a:r>
              <a:rPr baseline="-25000" lang="en" sz="1500"/>
              <a:t>10</a:t>
            </a:r>
            <a:endParaRPr baseline="-25000" sz="1500"/>
          </a:p>
        </p:txBody>
      </p:sp>
      <p:sp>
        <p:nvSpPr>
          <p:cNvPr id="819" name="Google Shape;819;p36"/>
          <p:cNvSpPr txBox="1"/>
          <p:nvPr>
            <p:ph idx="4294967295" type="body"/>
          </p:nvPr>
        </p:nvSpPr>
        <p:spPr>
          <a:xfrm>
            <a:off x="720000" y="28847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2</a:t>
            </a:r>
            <a:r>
              <a:rPr lang="en" sz="1500"/>
              <a:t>’s complement of (1011.101)</a:t>
            </a:r>
            <a:r>
              <a:rPr baseline="-25000" lang="en" sz="1500"/>
              <a:t>2</a:t>
            </a:r>
            <a:r>
              <a:rPr lang="en" sz="1500"/>
              <a:t> =</a:t>
            </a:r>
            <a:endParaRPr sz="1500"/>
          </a:p>
        </p:txBody>
      </p:sp>
      <p:sp>
        <p:nvSpPr>
          <p:cNvPr id="820" name="Google Shape;820;p36"/>
          <p:cNvSpPr txBox="1"/>
          <p:nvPr>
            <p:ph idx="4294967295" type="body"/>
          </p:nvPr>
        </p:nvSpPr>
        <p:spPr>
          <a:xfrm>
            <a:off x="4149000" y="2884725"/>
            <a:ext cx="3521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2</a:t>
            </a:r>
            <a:r>
              <a:rPr baseline="30000" lang="en" sz="1500"/>
              <a:t>4</a:t>
            </a:r>
            <a:r>
              <a:rPr lang="en" sz="1500"/>
              <a:t> – 1011.101 = (0100.011)</a:t>
            </a:r>
            <a:r>
              <a:rPr baseline="-25000" lang="en" sz="1500"/>
              <a:t>2</a:t>
            </a:r>
            <a:endParaRPr sz="1500"/>
          </a:p>
        </p:txBody>
      </p:sp>
      <p:sp>
        <p:nvSpPr>
          <p:cNvPr id="821" name="Google Shape;821;p36"/>
          <p:cNvSpPr txBox="1"/>
          <p:nvPr>
            <p:ph idx="4294967295" type="body"/>
          </p:nvPr>
        </p:nvSpPr>
        <p:spPr>
          <a:xfrm>
            <a:off x="720000" y="3418125"/>
            <a:ext cx="780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Hack:</a:t>
            </a:r>
            <a:endParaRPr b="1" sz="1500"/>
          </a:p>
        </p:txBody>
      </p:sp>
      <p:sp>
        <p:nvSpPr>
          <p:cNvPr id="822" name="Google Shape;822;p36"/>
          <p:cNvSpPr txBox="1"/>
          <p:nvPr>
            <p:ph idx="4294967295" type="body"/>
          </p:nvPr>
        </p:nvSpPr>
        <p:spPr>
          <a:xfrm>
            <a:off x="1405800" y="3418125"/>
            <a:ext cx="7050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Leaving all least significant zeros unchanged, next first non-zero least significant digit will be subtracted from r and next all higher significant digits will be subtracted from (r-1).</a:t>
            </a:r>
            <a:endParaRPr sz="1500"/>
          </a:p>
        </p:txBody>
      </p:sp>
      <p:pic>
        <p:nvPicPr>
          <p:cNvPr id="823" name="Google Shape;82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3388" y="1679763"/>
            <a:ext cx="6572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36"/>
          <p:cNvSpPr txBox="1"/>
          <p:nvPr>
            <p:ph idx="4294967295" type="body"/>
          </p:nvPr>
        </p:nvSpPr>
        <p:spPr>
          <a:xfrm>
            <a:off x="1405800" y="4180125"/>
            <a:ext cx="7050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</a:t>
            </a:r>
            <a:r>
              <a:rPr lang="en" sz="1500"/>
              <a:t>r, Add r</a:t>
            </a:r>
            <a:r>
              <a:rPr baseline="30000" lang="en" sz="1500"/>
              <a:t>–m</a:t>
            </a:r>
            <a:r>
              <a:rPr lang="en" sz="1500"/>
              <a:t> with (r-1)’s complement.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7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Use of Complements</a:t>
            </a:r>
            <a:endParaRPr sz="3800"/>
          </a:p>
        </p:txBody>
      </p:sp>
      <p:sp>
        <p:nvSpPr>
          <p:cNvPr id="830" name="Google Shape;830;p37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31" name="Google Shape;831;p37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Subtracting numbers</a:t>
            </a:r>
            <a:endParaRPr/>
          </a:p>
        </p:txBody>
      </p:sp>
      <p:cxnSp>
        <p:nvCxnSpPr>
          <p:cNvPr id="832" name="Google Shape;832;p37"/>
          <p:cNvCxnSpPr>
            <a:stCxn id="83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8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complement of a number?</a:t>
            </a:r>
            <a:endParaRPr/>
          </a:p>
        </p:txBody>
      </p:sp>
      <p:sp>
        <p:nvSpPr>
          <p:cNvPr id="839" name="Google Shape;83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0" name="Google Shape;840;p38"/>
          <p:cNvSpPr txBox="1"/>
          <p:nvPr>
            <p:ph idx="4294967295" type="body"/>
          </p:nvPr>
        </p:nvSpPr>
        <p:spPr>
          <a:xfrm>
            <a:off x="720000" y="1360725"/>
            <a:ext cx="7287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Computers are built to add, not subtract.</a:t>
            </a:r>
            <a:r>
              <a:rPr lang="en" sz="1500"/>
              <a:t>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41" name="Google Shape;841;p38"/>
          <p:cNvSpPr txBox="1"/>
          <p:nvPr>
            <p:ph idx="4294967295" type="body"/>
          </p:nvPr>
        </p:nvSpPr>
        <p:spPr>
          <a:xfrm>
            <a:off x="720000" y="1741725"/>
            <a:ext cx="7287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Addition circuits are simple and faster</a:t>
            </a:r>
            <a:r>
              <a:rPr lang="en" sz="1500"/>
              <a:t>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42" name="Google Shape;842;p38"/>
          <p:cNvSpPr txBox="1"/>
          <p:nvPr>
            <p:ph idx="4294967295" type="body"/>
          </p:nvPr>
        </p:nvSpPr>
        <p:spPr>
          <a:xfrm>
            <a:off x="720000" y="2122725"/>
            <a:ext cx="7287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Using complements, we can perform subtraction using addition → simplified circuit</a:t>
            </a:r>
            <a:r>
              <a:rPr lang="en" sz="1500"/>
              <a:t>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using (r-1)’s complement</a:t>
            </a:r>
            <a:endParaRPr/>
          </a:p>
        </p:txBody>
      </p:sp>
      <p:sp>
        <p:nvSpPr>
          <p:cNvPr id="848" name="Google Shape;848;p39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Suppose you have to subtract </a:t>
            </a:r>
            <a:r>
              <a:rPr b="1" lang="en" sz="1500"/>
              <a:t>B</a:t>
            </a:r>
            <a:r>
              <a:rPr lang="en" sz="1500"/>
              <a:t> from </a:t>
            </a:r>
            <a:r>
              <a:rPr b="1" lang="en" sz="1500"/>
              <a:t>A</a:t>
            </a:r>
            <a:r>
              <a:rPr lang="en" sz="1500"/>
              <a:t> using (r-1)’s complement.</a:t>
            </a:r>
            <a:endParaRPr b="1" sz="1500"/>
          </a:p>
        </p:txBody>
      </p:sp>
      <p:sp>
        <p:nvSpPr>
          <p:cNvPr id="849" name="Google Shape;849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0" name="Google Shape;850;p39"/>
          <p:cNvSpPr txBox="1"/>
          <p:nvPr>
            <p:ph idx="4294967295" type="body"/>
          </p:nvPr>
        </p:nvSpPr>
        <p:spPr>
          <a:xfrm>
            <a:off x="720000" y="21227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Steps –</a:t>
            </a:r>
            <a:endParaRPr b="1" sz="1500"/>
          </a:p>
        </p:txBody>
      </p:sp>
      <p:sp>
        <p:nvSpPr>
          <p:cNvPr id="851" name="Google Shape;851;p39"/>
          <p:cNvSpPr txBox="1"/>
          <p:nvPr>
            <p:ph idx="4294967295" type="body"/>
          </p:nvPr>
        </p:nvSpPr>
        <p:spPr>
          <a:xfrm>
            <a:off x="3300900" y="1703625"/>
            <a:ext cx="761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 – B</a:t>
            </a:r>
            <a:endParaRPr b="1" sz="1500"/>
          </a:p>
        </p:txBody>
      </p:sp>
      <p:sp>
        <p:nvSpPr>
          <p:cNvPr id="852" name="Google Shape;852;p39"/>
          <p:cNvSpPr txBox="1"/>
          <p:nvPr>
            <p:ph idx="4294967295" type="body"/>
          </p:nvPr>
        </p:nvSpPr>
        <p:spPr>
          <a:xfrm>
            <a:off x="4748700" y="1703625"/>
            <a:ext cx="10944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 + ( – B)</a:t>
            </a:r>
            <a:endParaRPr b="1" sz="1500"/>
          </a:p>
        </p:txBody>
      </p:sp>
      <p:sp>
        <p:nvSpPr>
          <p:cNvPr id="853" name="Google Shape;853;p39"/>
          <p:cNvSpPr txBox="1"/>
          <p:nvPr>
            <p:ph idx="4294967295" type="body"/>
          </p:nvPr>
        </p:nvSpPr>
        <p:spPr>
          <a:xfrm>
            <a:off x="3986700" y="1703625"/>
            <a:ext cx="761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</p:txBody>
      </p:sp>
      <p:sp>
        <p:nvSpPr>
          <p:cNvPr id="854" name="Google Shape;854;p39"/>
          <p:cNvSpPr txBox="1"/>
          <p:nvPr>
            <p:ph idx="4294967295" type="body"/>
          </p:nvPr>
        </p:nvSpPr>
        <p:spPr>
          <a:xfrm>
            <a:off x="872400" y="25037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Find </a:t>
            </a:r>
            <a:r>
              <a:rPr b="1" lang="en" sz="1500"/>
              <a:t>(r-1)’s complement </a:t>
            </a:r>
            <a:r>
              <a:rPr lang="en" sz="1500"/>
              <a:t>of B.</a:t>
            </a:r>
            <a:endParaRPr sz="1500"/>
          </a:p>
        </p:txBody>
      </p:sp>
      <p:sp>
        <p:nvSpPr>
          <p:cNvPr id="855" name="Google Shape;855;p39"/>
          <p:cNvSpPr txBox="1"/>
          <p:nvPr>
            <p:ph idx="4294967295" type="body"/>
          </p:nvPr>
        </p:nvSpPr>
        <p:spPr>
          <a:xfrm>
            <a:off x="872400" y="2830767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Add </a:t>
            </a:r>
            <a:r>
              <a:rPr lang="en" sz="1500"/>
              <a:t>A to (r-1)’s complement of B.</a:t>
            </a:r>
            <a:endParaRPr sz="1500"/>
          </a:p>
        </p:txBody>
      </p:sp>
      <p:sp>
        <p:nvSpPr>
          <p:cNvPr id="856" name="Google Shape;856;p39"/>
          <p:cNvSpPr txBox="1"/>
          <p:nvPr>
            <p:ph idx="4294967295" type="body"/>
          </p:nvPr>
        </p:nvSpPr>
        <p:spPr>
          <a:xfrm>
            <a:off x="872400" y="3135567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Check for end–around carry</a:t>
            </a:r>
            <a:endParaRPr sz="1500"/>
          </a:p>
        </p:txBody>
      </p:sp>
      <p:sp>
        <p:nvSpPr>
          <p:cNvPr id="857" name="Google Shape;857;p39"/>
          <p:cNvSpPr txBox="1"/>
          <p:nvPr>
            <p:ph idx="4294967295" type="body"/>
          </p:nvPr>
        </p:nvSpPr>
        <p:spPr>
          <a:xfrm>
            <a:off x="1329600" y="3440367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there is an</a:t>
            </a:r>
            <a:r>
              <a:rPr lang="en" sz="1500"/>
              <a:t> end–around carry, add 1 to the result</a:t>
            </a:r>
            <a:endParaRPr sz="1500"/>
          </a:p>
        </p:txBody>
      </p:sp>
      <p:sp>
        <p:nvSpPr>
          <p:cNvPr id="858" name="Google Shape;858;p39"/>
          <p:cNvSpPr txBox="1"/>
          <p:nvPr>
            <p:ph idx="4294967295" type="body"/>
          </p:nvPr>
        </p:nvSpPr>
        <p:spPr>
          <a:xfrm>
            <a:off x="1329600" y="3745167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not, the result is negative, take (r-1)’s complement of the result and add</a:t>
            </a:r>
            <a:endParaRPr sz="15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</a:t>
            </a:r>
            <a:r>
              <a:rPr lang="en" sz="1500"/>
              <a:t> minus sign (–). 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using (r-1)’s complement</a:t>
            </a:r>
            <a:endParaRPr/>
          </a:p>
        </p:txBody>
      </p:sp>
      <p:sp>
        <p:nvSpPr>
          <p:cNvPr id="864" name="Google Shape;864;p40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Subtract (1101)</a:t>
            </a:r>
            <a:r>
              <a:rPr baseline="-25000" lang="en" sz="1500"/>
              <a:t>2</a:t>
            </a:r>
            <a:r>
              <a:rPr lang="en" sz="1500"/>
              <a:t>  from (10111)</a:t>
            </a:r>
            <a:r>
              <a:rPr baseline="-25000" lang="en" sz="1500"/>
              <a:t>2</a:t>
            </a:r>
            <a:r>
              <a:rPr lang="en" sz="1500"/>
              <a:t> using 1’s complement.</a:t>
            </a:r>
            <a:endParaRPr b="1" sz="1500"/>
          </a:p>
        </p:txBody>
      </p:sp>
      <p:sp>
        <p:nvSpPr>
          <p:cNvPr id="865" name="Google Shape;86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6" name="Google Shape;866;p40"/>
          <p:cNvSpPr txBox="1"/>
          <p:nvPr>
            <p:ph idx="4294967295" type="body"/>
          </p:nvPr>
        </p:nvSpPr>
        <p:spPr>
          <a:xfrm>
            <a:off x="1494400" y="1703625"/>
            <a:ext cx="2112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– (1101)</a:t>
            </a:r>
            <a:r>
              <a:rPr b="1" baseline="-25000" lang="en" sz="1500"/>
              <a:t>2</a:t>
            </a:r>
            <a:endParaRPr b="1" sz="1500"/>
          </a:p>
        </p:txBody>
      </p:sp>
      <p:sp>
        <p:nvSpPr>
          <p:cNvPr id="867" name="Google Shape;867;p40"/>
          <p:cNvSpPr txBox="1"/>
          <p:nvPr>
            <p:ph idx="4294967295" type="body"/>
          </p:nvPr>
        </p:nvSpPr>
        <p:spPr>
          <a:xfrm>
            <a:off x="4468925" y="1703625"/>
            <a:ext cx="25026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+(–1101)</a:t>
            </a:r>
            <a:r>
              <a:rPr b="1" baseline="-25000" lang="en" sz="1500"/>
              <a:t>2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868" name="Google Shape;868;p40"/>
          <p:cNvSpPr txBox="1"/>
          <p:nvPr>
            <p:ph idx="4294967295" type="body"/>
          </p:nvPr>
        </p:nvSpPr>
        <p:spPr>
          <a:xfrm>
            <a:off x="3512121" y="1703625"/>
            <a:ext cx="955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</p:txBody>
      </p:sp>
      <p:sp>
        <p:nvSpPr>
          <p:cNvPr id="869" name="Google Shape;869;p40"/>
          <p:cNvSpPr txBox="1"/>
          <p:nvPr>
            <p:ph idx="4294967295" type="body"/>
          </p:nvPr>
        </p:nvSpPr>
        <p:spPr>
          <a:xfrm>
            <a:off x="19979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870" name="Google Shape;870;p40"/>
          <p:cNvCxnSpPr/>
          <p:nvPr/>
        </p:nvCxnSpPr>
        <p:spPr>
          <a:xfrm>
            <a:off x="3620050" y="2672650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1" name="Google Shape;871;p40"/>
          <p:cNvSpPr txBox="1"/>
          <p:nvPr>
            <p:ph idx="4294967295" type="body"/>
          </p:nvPr>
        </p:nvSpPr>
        <p:spPr>
          <a:xfrm>
            <a:off x="5274550" y="2438650"/>
            <a:ext cx="1697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(0001	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872" name="Google Shape;872;p40"/>
          <p:cNvSpPr txBox="1"/>
          <p:nvPr>
            <p:ph idx="4294967295" type="body"/>
          </p:nvPr>
        </p:nvSpPr>
        <p:spPr>
          <a:xfrm>
            <a:off x="19979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873" name="Google Shape;873;p40"/>
          <p:cNvCxnSpPr/>
          <p:nvPr/>
        </p:nvCxnSpPr>
        <p:spPr>
          <a:xfrm>
            <a:off x="3620050" y="3068684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4" name="Google Shape;874;p40"/>
          <p:cNvSpPr txBox="1"/>
          <p:nvPr/>
        </p:nvSpPr>
        <p:spPr>
          <a:xfrm>
            <a:off x="3710875" y="2794609"/>
            <a:ext cx="1296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1’s complement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5" name="Google Shape;875;p40"/>
          <p:cNvSpPr txBox="1"/>
          <p:nvPr>
            <p:ph idx="4294967295" type="body"/>
          </p:nvPr>
        </p:nvSpPr>
        <p:spPr>
          <a:xfrm>
            <a:off x="5274550" y="2834675"/>
            <a:ext cx="1697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(1111	0010)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876" name="Google Shape;876;p40"/>
          <p:cNvCxnSpPr/>
          <p:nvPr/>
        </p:nvCxnSpPr>
        <p:spPr>
          <a:xfrm>
            <a:off x="5309650" y="3266000"/>
            <a:ext cx="174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7" name="Google Shape;877;p40"/>
          <p:cNvSpPr txBox="1"/>
          <p:nvPr>
            <p:ph idx="4294967295" type="body"/>
          </p:nvPr>
        </p:nvSpPr>
        <p:spPr>
          <a:xfrm>
            <a:off x="5229761" y="3215675"/>
            <a:ext cx="17772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FF0000"/>
                </a:solidFill>
              </a:rPr>
              <a:t>1 </a:t>
            </a:r>
            <a:r>
              <a:rPr b="1" lang="en" sz="1500"/>
              <a:t>0000	1001)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878" name="Google Shape;878;p40"/>
          <p:cNvSpPr txBox="1"/>
          <p:nvPr>
            <p:ph idx="4294967295" type="body"/>
          </p:nvPr>
        </p:nvSpPr>
        <p:spPr>
          <a:xfrm>
            <a:off x="7408150" y="3215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End Carry !!!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879" name="Google Shape;879;p40"/>
          <p:cNvCxnSpPr/>
          <p:nvPr/>
        </p:nvCxnSpPr>
        <p:spPr>
          <a:xfrm>
            <a:off x="5309650" y="3896458"/>
            <a:ext cx="174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40"/>
          <p:cNvSpPr txBox="1"/>
          <p:nvPr>
            <p:ph idx="4294967295" type="body"/>
          </p:nvPr>
        </p:nvSpPr>
        <p:spPr>
          <a:xfrm>
            <a:off x="6491212" y="3520475"/>
            <a:ext cx="370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1</a:t>
            </a:r>
            <a:endParaRPr b="1" sz="1500"/>
          </a:p>
        </p:txBody>
      </p:sp>
      <p:sp>
        <p:nvSpPr>
          <p:cNvPr id="881" name="Google Shape;881;p40"/>
          <p:cNvSpPr txBox="1"/>
          <p:nvPr>
            <p:ph idx="4294967295" type="body"/>
          </p:nvPr>
        </p:nvSpPr>
        <p:spPr>
          <a:xfrm>
            <a:off x="5119612" y="3520475"/>
            <a:ext cx="370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+</a:t>
            </a:r>
            <a:endParaRPr b="1" sz="1500"/>
          </a:p>
        </p:txBody>
      </p:sp>
      <p:sp>
        <p:nvSpPr>
          <p:cNvPr id="882" name="Google Shape;882;p40"/>
          <p:cNvSpPr txBox="1"/>
          <p:nvPr>
            <p:ph idx="4294967295" type="body"/>
          </p:nvPr>
        </p:nvSpPr>
        <p:spPr>
          <a:xfrm>
            <a:off x="5274550" y="3977675"/>
            <a:ext cx="1697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(0000	1010)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using (r-1)’s complement</a:t>
            </a:r>
            <a:endParaRPr/>
          </a:p>
        </p:txBody>
      </p:sp>
      <p:sp>
        <p:nvSpPr>
          <p:cNvPr id="888" name="Google Shape;888;p41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Subtract (10111)</a:t>
            </a:r>
            <a:r>
              <a:rPr baseline="-25000" lang="en" sz="1500"/>
              <a:t>2</a:t>
            </a:r>
            <a:r>
              <a:rPr lang="en" sz="1500"/>
              <a:t>  from (1101)</a:t>
            </a:r>
            <a:r>
              <a:rPr baseline="-25000" lang="en" sz="1500"/>
              <a:t>2</a:t>
            </a:r>
            <a:r>
              <a:rPr lang="en" sz="1500"/>
              <a:t> using 1’s complement.</a:t>
            </a:r>
            <a:endParaRPr b="1" sz="1500"/>
          </a:p>
        </p:txBody>
      </p:sp>
      <p:sp>
        <p:nvSpPr>
          <p:cNvPr id="889" name="Google Shape;889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0" name="Google Shape;890;p41"/>
          <p:cNvSpPr txBox="1"/>
          <p:nvPr>
            <p:ph idx="4294967295" type="body"/>
          </p:nvPr>
        </p:nvSpPr>
        <p:spPr>
          <a:xfrm>
            <a:off x="1494400" y="1703625"/>
            <a:ext cx="2112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(1101)</a:t>
            </a:r>
            <a:r>
              <a:rPr b="1" baseline="-25000" lang="en" sz="1500"/>
              <a:t>2</a:t>
            </a:r>
            <a:r>
              <a:rPr b="1" lang="en" sz="1500"/>
              <a:t> – (10111)</a:t>
            </a:r>
            <a:r>
              <a:rPr b="1" baseline="-25000" lang="en" sz="1500"/>
              <a:t>2</a:t>
            </a:r>
            <a:endParaRPr b="1" sz="1500"/>
          </a:p>
        </p:txBody>
      </p:sp>
      <p:sp>
        <p:nvSpPr>
          <p:cNvPr id="891" name="Google Shape;891;p41"/>
          <p:cNvSpPr txBox="1"/>
          <p:nvPr>
            <p:ph idx="4294967295" type="body"/>
          </p:nvPr>
        </p:nvSpPr>
        <p:spPr>
          <a:xfrm>
            <a:off x="4468925" y="1703625"/>
            <a:ext cx="25026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+(–1101)</a:t>
            </a:r>
            <a:r>
              <a:rPr b="1" baseline="-25000" lang="en" sz="1500"/>
              <a:t>2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892" name="Google Shape;892;p41"/>
          <p:cNvSpPr txBox="1"/>
          <p:nvPr>
            <p:ph idx="4294967295" type="body"/>
          </p:nvPr>
        </p:nvSpPr>
        <p:spPr>
          <a:xfrm>
            <a:off x="3512121" y="1703625"/>
            <a:ext cx="955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</p:txBody>
      </p:sp>
      <p:sp>
        <p:nvSpPr>
          <p:cNvPr id="893" name="Google Shape;893;p41"/>
          <p:cNvSpPr txBox="1"/>
          <p:nvPr>
            <p:ph idx="4294967295" type="body"/>
          </p:nvPr>
        </p:nvSpPr>
        <p:spPr>
          <a:xfrm>
            <a:off x="19979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894" name="Google Shape;894;p41"/>
          <p:cNvCxnSpPr/>
          <p:nvPr/>
        </p:nvCxnSpPr>
        <p:spPr>
          <a:xfrm>
            <a:off x="3620050" y="2672650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5" name="Google Shape;895;p41"/>
          <p:cNvSpPr txBox="1"/>
          <p:nvPr>
            <p:ph idx="4294967295" type="body"/>
          </p:nvPr>
        </p:nvSpPr>
        <p:spPr>
          <a:xfrm>
            <a:off x="5274550" y="2438650"/>
            <a:ext cx="1697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(0000	1101)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896" name="Google Shape;896;p41"/>
          <p:cNvSpPr txBox="1"/>
          <p:nvPr>
            <p:ph idx="4294967295" type="body"/>
          </p:nvPr>
        </p:nvSpPr>
        <p:spPr>
          <a:xfrm>
            <a:off x="19979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897" name="Google Shape;897;p41"/>
          <p:cNvCxnSpPr/>
          <p:nvPr/>
        </p:nvCxnSpPr>
        <p:spPr>
          <a:xfrm>
            <a:off x="3620050" y="3068684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8" name="Google Shape;898;p41"/>
          <p:cNvSpPr txBox="1"/>
          <p:nvPr/>
        </p:nvSpPr>
        <p:spPr>
          <a:xfrm>
            <a:off x="3710875" y="2794609"/>
            <a:ext cx="1296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1’s complement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9" name="Google Shape;899;p41"/>
          <p:cNvSpPr txBox="1"/>
          <p:nvPr>
            <p:ph idx="4294967295" type="body"/>
          </p:nvPr>
        </p:nvSpPr>
        <p:spPr>
          <a:xfrm>
            <a:off x="5274550" y="2834675"/>
            <a:ext cx="1697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(0000	1000)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00" name="Google Shape;900;p41"/>
          <p:cNvCxnSpPr/>
          <p:nvPr/>
        </p:nvCxnSpPr>
        <p:spPr>
          <a:xfrm>
            <a:off x="5309650" y="3266000"/>
            <a:ext cx="180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41"/>
          <p:cNvSpPr txBox="1"/>
          <p:nvPr>
            <p:ph idx="4294967295" type="body"/>
          </p:nvPr>
        </p:nvSpPr>
        <p:spPr>
          <a:xfrm>
            <a:off x="5274550" y="3215675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(1111	0101)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02" name="Google Shape;902;p41"/>
          <p:cNvSpPr txBox="1"/>
          <p:nvPr>
            <p:ph idx="4294967295" type="body"/>
          </p:nvPr>
        </p:nvSpPr>
        <p:spPr>
          <a:xfrm>
            <a:off x="7103350" y="3266000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No End Carry !!!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903" name="Google Shape;903;p41"/>
          <p:cNvCxnSpPr/>
          <p:nvPr/>
        </p:nvCxnSpPr>
        <p:spPr>
          <a:xfrm flipH="1" rot="10800000">
            <a:off x="5309650" y="3659458"/>
            <a:ext cx="17577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41"/>
          <p:cNvSpPr txBox="1"/>
          <p:nvPr>
            <p:ph idx="4294967295" type="body"/>
          </p:nvPr>
        </p:nvSpPr>
        <p:spPr>
          <a:xfrm>
            <a:off x="5350750" y="3749075"/>
            <a:ext cx="1804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(0000	1010)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05" name="Google Shape;905;p41"/>
          <p:cNvSpPr txBox="1"/>
          <p:nvPr>
            <p:ph idx="4294967295" type="body"/>
          </p:nvPr>
        </p:nvSpPr>
        <p:spPr>
          <a:xfrm>
            <a:off x="5198350" y="3749075"/>
            <a:ext cx="391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–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06" name="Google Shape;906;p41"/>
          <p:cNvSpPr txBox="1"/>
          <p:nvPr>
            <p:ph idx="4294967295" type="body"/>
          </p:nvPr>
        </p:nvSpPr>
        <p:spPr>
          <a:xfrm>
            <a:off x="7408150" y="3749075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Negative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07" name="Google Shape;907;p41"/>
          <p:cNvSpPr txBox="1"/>
          <p:nvPr>
            <p:ph idx="4294967295" type="body"/>
          </p:nvPr>
        </p:nvSpPr>
        <p:spPr>
          <a:xfrm>
            <a:off x="1674700" y="3784700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1’s complement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3" name="Google Shape;913;p42"/>
          <p:cNvSpPr txBox="1"/>
          <p:nvPr>
            <p:ph idx="4294967295" type="body"/>
          </p:nvPr>
        </p:nvSpPr>
        <p:spPr>
          <a:xfrm>
            <a:off x="720000" y="1817925"/>
            <a:ext cx="77040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But wait</a:t>
            </a:r>
            <a:endParaRPr sz="6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using (r-1)’s complement</a:t>
            </a:r>
            <a:endParaRPr/>
          </a:p>
        </p:txBody>
      </p:sp>
      <p:sp>
        <p:nvSpPr>
          <p:cNvPr id="919" name="Google Shape;919;p43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Subtract (10111)</a:t>
            </a:r>
            <a:r>
              <a:rPr baseline="-25000" lang="en" sz="1500"/>
              <a:t>2</a:t>
            </a:r>
            <a:r>
              <a:rPr lang="en" sz="1500"/>
              <a:t>  from (10111)</a:t>
            </a:r>
            <a:r>
              <a:rPr baseline="-25000" lang="en" sz="1500"/>
              <a:t>2</a:t>
            </a:r>
            <a:r>
              <a:rPr lang="en" sz="1500"/>
              <a:t> using 1’s complement.</a:t>
            </a:r>
            <a:endParaRPr b="1" sz="1500"/>
          </a:p>
        </p:txBody>
      </p:sp>
      <p:sp>
        <p:nvSpPr>
          <p:cNvPr id="920" name="Google Shape;92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1" name="Google Shape;921;p43"/>
          <p:cNvSpPr txBox="1"/>
          <p:nvPr>
            <p:ph idx="4294967295" type="body"/>
          </p:nvPr>
        </p:nvSpPr>
        <p:spPr>
          <a:xfrm>
            <a:off x="1494400" y="1703625"/>
            <a:ext cx="2112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– (10111)</a:t>
            </a:r>
            <a:r>
              <a:rPr b="1" baseline="-25000" lang="en" sz="1500"/>
              <a:t>2</a:t>
            </a:r>
            <a:endParaRPr b="1" sz="1500"/>
          </a:p>
        </p:txBody>
      </p:sp>
      <p:sp>
        <p:nvSpPr>
          <p:cNvPr id="922" name="Google Shape;922;p43"/>
          <p:cNvSpPr txBox="1"/>
          <p:nvPr>
            <p:ph idx="4294967295" type="body"/>
          </p:nvPr>
        </p:nvSpPr>
        <p:spPr>
          <a:xfrm>
            <a:off x="4468925" y="1703625"/>
            <a:ext cx="25026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+(–10111)</a:t>
            </a:r>
            <a:r>
              <a:rPr b="1" baseline="-25000" lang="en" sz="1500"/>
              <a:t>2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923" name="Google Shape;923;p43"/>
          <p:cNvSpPr txBox="1"/>
          <p:nvPr>
            <p:ph idx="4294967295" type="body"/>
          </p:nvPr>
        </p:nvSpPr>
        <p:spPr>
          <a:xfrm>
            <a:off x="3512121" y="1703625"/>
            <a:ext cx="955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</p:txBody>
      </p:sp>
      <p:sp>
        <p:nvSpPr>
          <p:cNvPr id="924" name="Google Shape;924;p43"/>
          <p:cNvSpPr txBox="1"/>
          <p:nvPr>
            <p:ph idx="4294967295" type="body"/>
          </p:nvPr>
        </p:nvSpPr>
        <p:spPr>
          <a:xfrm>
            <a:off x="19979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25" name="Google Shape;925;p43"/>
          <p:cNvCxnSpPr/>
          <p:nvPr/>
        </p:nvCxnSpPr>
        <p:spPr>
          <a:xfrm>
            <a:off x="3620050" y="2672650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6" name="Google Shape;926;p43"/>
          <p:cNvSpPr txBox="1"/>
          <p:nvPr>
            <p:ph idx="4294967295" type="body"/>
          </p:nvPr>
        </p:nvSpPr>
        <p:spPr>
          <a:xfrm>
            <a:off x="5274550" y="2438650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(0001	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27" name="Google Shape;927;p43"/>
          <p:cNvSpPr txBox="1"/>
          <p:nvPr>
            <p:ph idx="4294967295" type="body"/>
          </p:nvPr>
        </p:nvSpPr>
        <p:spPr>
          <a:xfrm>
            <a:off x="19979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28" name="Google Shape;928;p43"/>
          <p:cNvCxnSpPr/>
          <p:nvPr/>
        </p:nvCxnSpPr>
        <p:spPr>
          <a:xfrm>
            <a:off x="3620050" y="3068684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9" name="Google Shape;929;p43"/>
          <p:cNvSpPr txBox="1"/>
          <p:nvPr/>
        </p:nvSpPr>
        <p:spPr>
          <a:xfrm>
            <a:off x="3710875" y="2794609"/>
            <a:ext cx="1296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1’s complement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0" name="Google Shape;930;p43"/>
          <p:cNvSpPr txBox="1"/>
          <p:nvPr>
            <p:ph idx="4294967295" type="body"/>
          </p:nvPr>
        </p:nvSpPr>
        <p:spPr>
          <a:xfrm>
            <a:off x="5274550" y="2834675"/>
            <a:ext cx="1697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(1110	1000)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31" name="Google Shape;931;p43"/>
          <p:cNvCxnSpPr/>
          <p:nvPr/>
        </p:nvCxnSpPr>
        <p:spPr>
          <a:xfrm>
            <a:off x="5309650" y="3266000"/>
            <a:ext cx="178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43"/>
          <p:cNvSpPr txBox="1"/>
          <p:nvPr>
            <p:ph idx="4294967295" type="body"/>
          </p:nvPr>
        </p:nvSpPr>
        <p:spPr>
          <a:xfrm>
            <a:off x="5274550" y="3215675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(1111	1111)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33" name="Google Shape;933;p43"/>
          <p:cNvSpPr txBox="1"/>
          <p:nvPr>
            <p:ph idx="4294967295" type="body"/>
          </p:nvPr>
        </p:nvSpPr>
        <p:spPr>
          <a:xfrm>
            <a:off x="7179550" y="3266000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No End Carry !!!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934" name="Google Shape;934;p43"/>
          <p:cNvCxnSpPr/>
          <p:nvPr/>
        </p:nvCxnSpPr>
        <p:spPr>
          <a:xfrm>
            <a:off x="5309650" y="3667858"/>
            <a:ext cx="175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3"/>
          <p:cNvSpPr txBox="1"/>
          <p:nvPr>
            <p:ph idx="4294967295" type="body"/>
          </p:nvPr>
        </p:nvSpPr>
        <p:spPr>
          <a:xfrm>
            <a:off x="5274550" y="3749075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(0000	0000)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36" name="Google Shape;936;p43"/>
          <p:cNvSpPr txBox="1"/>
          <p:nvPr>
            <p:ph idx="4294967295" type="body"/>
          </p:nvPr>
        </p:nvSpPr>
        <p:spPr>
          <a:xfrm>
            <a:off x="5122150" y="3749075"/>
            <a:ext cx="391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–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37" name="Google Shape;937;p43"/>
          <p:cNvSpPr txBox="1"/>
          <p:nvPr>
            <p:ph idx="4294967295" type="body"/>
          </p:nvPr>
        </p:nvSpPr>
        <p:spPr>
          <a:xfrm>
            <a:off x="7179550" y="3749075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Negative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38" name="Google Shape;938;p43"/>
          <p:cNvSpPr txBox="1"/>
          <p:nvPr>
            <p:ph idx="4294967295" type="body"/>
          </p:nvPr>
        </p:nvSpPr>
        <p:spPr>
          <a:xfrm>
            <a:off x="1674700" y="3784700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1’s complement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zeros?</a:t>
            </a:r>
            <a:endParaRPr/>
          </a:p>
        </p:txBody>
      </p:sp>
      <p:sp>
        <p:nvSpPr>
          <p:cNvPr id="944" name="Google Shape;944;p44"/>
          <p:cNvSpPr txBox="1"/>
          <p:nvPr>
            <p:ph idx="4294967295" type="body"/>
          </p:nvPr>
        </p:nvSpPr>
        <p:spPr>
          <a:xfrm>
            <a:off x="720000" y="1208325"/>
            <a:ext cx="54063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Yes, there are 2 representations of </a:t>
            </a:r>
            <a:r>
              <a:rPr lang="en" sz="1500"/>
              <a:t>zero</a:t>
            </a:r>
            <a:r>
              <a:rPr lang="en" sz="1500"/>
              <a:t> in 1’s complement</a:t>
            </a:r>
            <a:endParaRPr sz="1500"/>
          </a:p>
        </p:txBody>
      </p:sp>
      <p:sp>
        <p:nvSpPr>
          <p:cNvPr id="945" name="Google Shape;94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44"/>
          <p:cNvSpPr txBox="1"/>
          <p:nvPr>
            <p:ph idx="4294967295" type="body"/>
          </p:nvPr>
        </p:nvSpPr>
        <p:spPr>
          <a:xfrm>
            <a:off x="948600" y="16655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Positive zero (+0) : 0000…</a:t>
            </a:r>
            <a:endParaRPr sz="1500"/>
          </a:p>
        </p:txBody>
      </p:sp>
      <p:sp>
        <p:nvSpPr>
          <p:cNvPr id="947" name="Google Shape;947;p44"/>
          <p:cNvSpPr txBox="1"/>
          <p:nvPr>
            <p:ph idx="4294967295" type="body"/>
          </p:nvPr>
        </p:nvSpPr>
        <p:spPr>
          <a:xfrm>
            <a:off x="948600" y="20465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Negative</a:t>
            </a:r>
            <a:r>
              <a:rPr lang="en" sz="1500"/>
              <a:t> zero (-0) : 1111.. </a:t>
            </a:r>
            <a:endParaRPr sz="1500"/>
          </a:p>
        </p:txBody>
      </p:sp>
      <p:sp>
        <p:nvSpPr>
          <p:cNvPr id="948" name="Google Shape;948;p44"/>
          <p:cNvSpPr txBox="1"/>
          <p:nvPr/>
        </p:nvSpPr>
        <p:spPr>
          <a:xfrm>
            <a:off x="914400" y="2590800"/>
            <a:ext cx="4422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</a:t>
            </a:r>
            <a:r>
              <a:rPr b="1" lang="en"/>
              <a:t>not ideal</a:t>
            </a:r>
            <a:r>
              <a:rPr lang="en"/>
              <a:t>, because: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wastes one binary code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complicates equality checks and logic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(is −0 = 0?)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Arithmetic and comparisons need extra logic to handle both versions</a:t>
            </a:r>
            <a:endParaRPr/>
          </a:p>
        </p:txBody>
      </p:sp>
      <p:sp>
        <p:nvSpPr>
          <p:cNvPr id="949" name="Google Shape;949;p44"/>
          <p:cNvSpPr txBox="1"/>
          <p:nvPr>
            <p:ph type="title"/>
          </p:nvPr>
        </p:nvSpPr>
        <p:spPr>
          <a:xfrm>
            <a:off x="5792700" y="3257850"/>
            <a:ext cx="3240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solve then?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5" name="Google Shape;955;p45"/>
          <p:cNvSpPr txBox="1"/>
          <p:nvPr>
            <p:ph idx="4294967295" type="body"/>
          </p:nvPr>
        </p:nvSpPr>
        <p:spPr>
          <a:xfrm>
            <a:off x="720000" y="1817925"/>
            <a:ext cx="77040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2’s Complement</a:t>
            </a:r>
            <a:endParaRPr sz="6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using r’s complement</a:t>
            </a:r>
            <a:endParaRPr/>
          </a:p>
        </p:txBody>
      </p:sp>
      <p:sp>
        <p:nvSpPr>
          <p:cNvPr id="961" name="Google Shape;961;p46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Subtract (1101)</a:t>
            </a:r>
            <a:r>
              <a:rPr baseline="-25000" lang="en" sz="1500"/>
              <a:t>2</a:t>
            </a:r>
            <a:r>
              <a:rPr lang="en" sz="1500"/>
              <a:t>  from (10111)</a:t>
            </a:r>
            <a:r>
              <a:rPr baseline="-25000" lang="en" sz="1500"/>
              <a:t>2</a:t>
            </a:r>
            <a:r>
              <a:rPr lang="en" sz="1500"/>
              <a:t> using 2’s complement.</a:t>
            </a:r>
            <a:endParaRPr b="1" sz="1500"/>
          </a:p>
        </p:txBody>
      </p:sp>
      <p:sp>
        <p:nvSpPr>
          <p:cNvPr id="962" name="Google Shape;962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3" name="Google Shape;963;p46"/>
          <p:cNvSpPr txBox="1"/>
          <p:nvPr>
            <p:ph idx="4294967295" type="body"/>
          </p:nvPr>
        </p:nvSpPr>
        <p:spPr>
          <a:xfrm>
            <a:off x="1494400" y="1703625"/>
            <a:ext cx="2112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– (1101)</a:t>
            </a:r>
            <a:r>
              <a:rPr b="1" baseline="-25000" lang="en" sz="1500"/>
              <a:t>2</a:t>
            </a:r>
            <a:endParaRPr b="1" sz="1500"/>
          </a:p>
        </p:txBody>
      </p:sp>
      <p:sp>
        <p:nvSpPr>
          <p:cNvPr id="964" name="Google Shape;964;p46"/>
          <p:cNvSpPr txBox="1"/>
          <p:nvPr>
            <p:ph idx="4294967295" type="body"/>
          </p:nvPr>
        </p:nvSpPr>
        <p:spPr>
          <a:xfrm>
            <a:off x="4468925" y="1703625"/>
            <a:ext cx="25026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+(–1101)</a:t>
            </a:r>
            <a:r>
              <a:rPr b="1" baseline="-25000" lang="en" sz="1500"/>
              <a:t>2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965" name="Google Shape;965;p46"/>
          <p:cNvSpPr txBox="1"/>
          <p:nvPr>
            <p:ph idx="4294967295" type="body"/>
          </p:nvPr>
        </p:nvSpPr>
        <p:spPr>
          <a:xfrm>
            <a:off x="3512121" y="1703625"/>
            <a:ext cx="955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</p:txBody>
      </p:sp>
      <p:sp>
        <p:nvSpPr>
          <p:cNvPr id="966" name="Google Shape;966;p46"/>
          <p:cNvSpPr txBox="1"/>
          <p:nvPr>
            <p:ph idx="4294967295" type="body"/>
          </p:nvPr>
        </p:nvSpPr>
        <p:spPr>
          <a:xfrm>
            <a:off x="19979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67" name="Google Shape;967;p46"/>
          <p:cNvCxnSpPr/>
          <p:nvPr/>
        </p:nvCxnSpPr>
        <p:spPr>
          <a:xfrm>
            <a:off x="3620050" y="2672650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8" name="Google Shape;968;p46"/>
          <p:cNvSpPr txBox="1"/>
          <p:nvPr>
            <p:ph idx="4294967295" type="body"/>
          </p:nvPr>
        </p:nvSpPr>
        <p:spPr>
          <a:xfrm>
            <a:off x="52745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0010111)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69" name="Google Shape;969;p46"/>
          <p:cNvSpPr txBox="1"/>
          <p:nvPr>
            <p:ph idx="4294967295" type="body"/>
          </p:nvPr>
        </p:nvSpPr>
        <p:spPr>
          <a:xfrm>
            <a:off x="19979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(00001101)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70" name="Google Shape;970;p46"/>
          <p:cNvCxnSpPr/>
          <p:nvPr/>
        </p:nvCxnSpPr>
        <p:spPr>
          <a:xfrm>
            <a:off x="3620050" y="3068684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1" name="Google Shape;971;p46"/>
          <p:cNvSpPr txBox="1"/>
          <p:nvPr/>
        </p:nvSpPr>
        <p:spPr>
          <a:xfrm>
            <a:off x="3710875" y="2794609"/>
            <a:ext cx="1296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’s complement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2" name="Google Shape;972;p46"/>
          <p:cNvSpPr txBox="1"/>
          <p:nvPr>
            <p:ph idx="4294967295" type="body"/>
          </p:nvPr>
        </p:nvSpPr>
        <p:spPr>
          <a:xfrm>
            <a:off x="52745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1</a:t>
            </a:r>
            <a:r>
              <a:rPr b="1" lang="en" sz="1500"/>
              <a:t>1110011</a:t>
            </a:r>
            <a:r>
              <a:rPr b="1" lang="en" sz="1500"/>
              <a:t>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73" name="Google Shape;973;p46"/>
          <p:cNvCxnSpPr/>
          <p:nvPr/>
        </p:nvCxnSpPr>
        <p:spPr>
          <a:xfrm>
            <a:off x="5309650" y="3266000"/>
            <a:ext cx="132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46"/>
          <p:cNvSpPr txBox="1"/>
          <p:nvPr>
            <p:ph idx="4294967295" type="body"/>
          </p:nvPr>
        </p:nvSpPr>
        <p:spPr>
          <a:xfrm>
            <a:off x="5274550" y="3215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4A86E8"/>
                </a:solidFill>
              </a:rPr>
              <a:t>1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</a:t>
            </a:r>
            <a:r>
              <a:rPr b="1" lang="en" sz="1500"/>
              <a:t>0</a:t>
            </a:r>
            <a:r>
              <a:rPr b="1" lang="en" sz="1500"/>
              <a:t>01010)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75" name="Google Shape;975;p46"/>
          <p:cNvSpPr txBox="1"/>
          <p:nvPr>
            <p:ph idx="4294967295" type="body"/>
          </p:nvPr>
        </p:nvSpPr>
        <p:spPr>
          <a:xfrm>
            <a:off x="6874750" y="3215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Positive !!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76" name="Google Shape;976;p46"/>
          <p:cNvSpPr txBox="1"/>
          <p:nvPr>
            <p:ph idx="4294967295" type="body"/>
          </p:nvPr>
        </p:nvSpPr>
        <p:spPr>
          <a:xfrm>
            <a:off x="5274550" y="3836405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0001010</a:t>
            </a:r>
            <a:r>
              <a:rPr b="1" lang="en" sz="1500"/>
              <a:t>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77" name="Google Shape;977;p46"/>
          <p:cNvSpPr txBox="1"/>
          <p:nvPr>
            <p:ph idx="4294967295" type="body"/>
          </p:nvPr>
        </p:nvSpPr>
        <p:spPr>
          <a:xfrm>
            <a:off x="6874750" y="37490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B9BD5"/>
                </a:solidFill>
              </a:rPr>
              <a:t>Discard Overflow</a:t>
            </a:r>
            <a:endParaRPr b="1" sz="1500">
              <a:solidFill>
                <a:srgbClr val="5B9BD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using r’s complement</a:t>
            </a:r>
            <a:endParaRPr/>
          </a:p>
        </p:txBody>
      </p:sp>
      <p:sp>
        <p:nvSpPr>
          <p:cNvPr id="983" name="Google Shape;983;p47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Subtract </a:t>
            </a:r>
            <a:r>
              <a:rPr lang="en" sz="1500"/>
              <a:t>(10111)</a:t>
            </a:r>
            <a:r>
              <a:rPr baseline="-25000" lang="en" sz="1500"/>
              <a:t>2</a:t>
            </a:r>
            <a:r>
              <a:rPr lang="en" sz="1500"/>
              <a:t>from </a:t>
            </a:r>
            <a:r>
              <a:rPr lang="en" sz="1500"/>
              <a:t>(1101)</a:t>
            </a:r>
            <a:r>
              <a:rPr baseline="-25000" lang="en" sz="1500"/>
              <a:t>2</a:t>
            </a:r>
            <a:r>
              <a:rPr lang="en" sz="1500"/>
              <a:t> </a:t>
            </a:r>
            <a:r>
              <a:rPr lang="en" sz="1500"/>
              <a:t>using 2’s complement.</a:t>
            </a:r>
            <a:endParaRPr b="1" sz="1500"/>
          </a:p>
        </p:txBody>
      </p:sp>
      <p:sp>
        <p:nvSpPr>
          <p:cNvPr id="984" name="Google Shape;98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5" name="Google Shape;985;p47"/>
          <p:cNvSpPr txBox="1"/>
          <p:nvPr>
            <p:ph idx="4294967295" type="body"/>
          </p:nvPr>
        </p:nvSpPr>
        <p:spPr>
          <a:xfrm>
            <a:off x="1494400" y="1703625"/>
            <a:ext cx="2112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(1101)</a:t>
            </a:r>
            <a:r>
              <a:rPr b="1" baseline="-25000" lang="en" sz="1500"/>
              <a:t>2</a:t>
            </a:r>
            <a:r>
              <a:rPr b="1" lang="en" sz="1500"/>
              <a:t> – (</a:t>
            </a:r>
            <a:r>
              <a:rPr b="1" lang="en" sz="1500"/>
              <a:t>10111</a:t>
            </a:r>
            <a:r>
              <a:rPr b="1" lang="en" sz="1500"/>
              <a:t>)</a:t>
            </a:r>
            <a:r>
              <a:rPr b="1" baseline="-25000" lang="en" sz="1500"/>
              <a:t>2</a:t>
            </a:r>
            <a:endParaRPr b="1" sz="1500"/>
          </a:p>
        </p:txBody>
      </p:sp>
      <p:sp>
        <p:nvSpPr>
          <p:cNvPr id="986" name="Google Shape;986;p47"/>
          <p:cNvSpPr txBox="1"/>
          <p:nvPr>
            <p:ph idx="4294967295" type="body"/>
          </p:nvPr>
        </p:nvSpPr>
        <p:spPr>
          <a:xfrm>
            <a:off x="4468925" y="1703625"/>
            <a:ext cx="25026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(1101)</a:t>
            </a:r>
            <a:r>
              <a:rPr b="1" baseline="-25000" lang="en" sz="1500"/>
              <a:t>2</a:t>
            </a:r>
            <a:r>
              <a:rPr b="1" lang="en" sz="1500"/>
              <a:t> +(–</a:t>
            </a:r>
            <a:r>
              <a:rPr b="1" lang="en" sz="1500"/>
              <a:t>10111</a:t>
            </a:r>
            <a:r>
              <a:rPr b="1" lang="en" sz="1500"/>
              <a:t>)</a:t>
            </a:r>
            <a:r>
              <a:rPr b="1" baseline="-25000" lang="en" sz="1500"/>
              <a:t>2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987" name="Google Shape;987;p47"/>
          <p:cNvSpPr txBox="1"/>
          <p:nvPr>
            <p:ph idx="4294967295" type="body"/>
          </p:nvPr>
        </p:nvSpPr>
        <p:spPr>
          <a:xfrm>
            <a:off x="3512121" y="1703625"/>
            <a:ext cx="955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</p:txBody>
      </p:sp>
      <p:sp>
        <p:nvSpPr>
          <p:cNvPr id="988" name="Google Shape;988;p47"/>
          <p:cNvSpPr txBox="1"/>
          <p:nvPr>
            <p:ph idx="4294967295" type="body"/>
          </p:nvPr>
        </p:nvSpPr>
        <p:spPr>
          <a:xfrm>
            <a:off x="19979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(00001101)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89" name="Google Shape;989;p47"/>
          <p:cNvCxnSpPr/>
          <p:nvPr/>
        </p:nvCxnSpPr>
        <p:spPr>
          <a:xfrm>
            <a:off x="3620050" y="2672650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0" name="Google Shape;990;p47"/>
          <p:cNvSpPr txBox="1"/>
          <p:nvPr>
            <p:ph idx="4294967295" type="body"/>
          </p:nvPr>
        </p:nvSpPr>
        <p:spPr>
          <a:xfrm>
            <a:off x="52745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0001101)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91" name="Google Shape;991;p47"/>
          <p:cNvSpPr txBox="1"/>
          <p:nvPr>
            <p:ph idx="4294967295" type="body"/>
          </p:nvPr>
        </p:nvSpPr>
        <p:spPr>
          <a:xfrm>
            <a:off x="19979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92" name="Google Shape;992;p47"/>
          <p:cNvCxnSpPr/>
          <p:nvPr/>
        </p:nvCxnSpPr>
        <p:spPr>
          <a:xfrm>
            <a:off x="3620050" y="3068684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3" name="Google Shape;993;p47"/>
          <p:cNvSpPr txBox="1"/>
          <p:nvPr/>
        </p:nvSpPr>
        <p:spPr>
          <a:xfrm>
            <a:off x="3710875" y="2794609"/>
            <a:ext cx="1296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2’s complement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4" name="Google Shape;994;p47"/>
          <p:cNvSpPr txBox="1"/>
          <p:nvPr>
            <p:ph idx="4294967295" type="body"/>
          </p:nvPr>
        </p:nvSpPr>
        <p:spPr>
          <a:xfrm>
            <a:off x="52745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1</a:t>
            </a:r>
            <a:r>
              <a:rPr b="1" lang="en" sz="1500"/>
              <a:t>1101001</a:t>
            </a:r>
            <a:r>
              <a:rPr b="1" lang="en" sz="1500"/>
              <a:t>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995" name="Google Shape;995;p47"/>
          <p:cNvCxnSpPr/>
          <p:nvPr/>
        </p:nvCxnSpPr>
        <p:spPr>
          <a:xfrm>
            <a:off x="5309650" y="3266000"/>
            <a:ext cx="132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47"/>
          <p:cNvSpPr txBox="1"/>
          <p:nvPr>
            <p:ph idx="4294967295" type="body"/>
          </p:nvPr>
        </p:nvSpPr>
        <p:spPr>
          <a:xfrm>
            <a:off x="5274550" y="3215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1</a:t>
            </a:r>
            <a:r>
              <a:rPr b="1" lang="en" sz="1500"/>
              <a:t>1</a:t>
            </a:r>
            <a:r>
              <a:rPr b="1" lang="en" sz="1500"/>
              <a:t>1</a:t>
            </a:r>
            <a:r>
              <a:rPr b="1" lang="en" sz="1500"/>
              <a:t>10110</a:t>
            </a:r>
            <a:r>
              <a:rPr b="1" lang="en" sz="1500"/>
              <a:t>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97" name="Google Shape;997;p47"/>
          <p:cNvSpPr txBox="1"/>
          <p:nvPr>
            <p:ph idx="4294967295" type="body"/>
          </p:nvPr>
        </p:nvSpPr>
        <p:spPr>
          <a:xfrm>
            <a:off x="6874750" y="3215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Negative</a:t>
            </a:r>
            <a:r>
              <a:rPr b="1" lang="en" sz="1500">
                <a:solidFill>
                  <a:srgbClr val="FF0000"/>
                </a:solidFill>
              </a:rPr>
              <a:t> !!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998" name="Google Shape;998;p47"/>
          <p:cNvSpPr txBox="1"/>
          <p:nvPr>
            <p:ph idx="4294967295" type="body"/>
          </p:nvPr>
        </p:nvSpPr>
        <p:spPr>
          <a:xfrm>
            <a:off x="5274550" y="3760205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0001010)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999" name="Google Shape;999;p47"/>
          <p:cNvSpPr txBox="1"/>
          <p:nvPr>
            <p:ph idx="4294967295" type="body"/>
          </p:nvPr>
        </p:nvSpPr>
        <p:spPr>
          <a:xfrm>
            <a:off x="6874750" y="3749075"/>
            <a:ext cx="178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B9BD5"/>
                </a:solidFill>
              </a:rPr>
              <a:t>2’s complement</a:t>
            </a:r>
            <a:endParaRPr b="1" sz="1500">
              <a:solidFill>
                <a:srgbClr val="5B9BD5"/>
              </a:solidFill>
            </a:endParaRPr>
          </a:p>
        </p:txBody>
      </p:sp>
      <p:sp>
        <p:nvSpPr>
          <p:cNvPr id="1000" name="Google Shape;1000;p47"/>
          <p:cNvSpPr txBox="1"/>
          <p:nvPr>
            <p:ph idx="4294967295" type="body"/>
          </p:nvPr>
        </p:nvSpPr>
        <p:spPr>
          <a:xfrm>
            <a:off x="4588750" y="37490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–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8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 using r’s complement</a:t>
            </a:r>
            <a:endParaRPr/>
          </a:p>
        </p:txBody>
      </p:sp>
      <p:sp>
        <p:nvSpPr>
          <p:cNvPr id="1006" name="Google Shape;1006;p48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Subtract (10111)</a:t>
            </a:r>
            <a:r>
              <a:rPr baseline="-25000" lang="en" sz="1500"/>
              <a:t>2</a:t>
            </a:r>
            <a:r>
              <a:rPr lang="en" sz="1500"/>
              <a:t>  from (10111)</a:t>
            </a:r>
            <a:r>
              <a:rPr baseline="-25000" lang="en" sz="1500"/>
              <a:t>2</a:t>
            </a:r>
            <a:r>
              <a:rPr lang="en" sz="1500"/>
              <a:t> using 2’s complement.</a:t>
            </a:r>
            <a:endParaRPr b="1" sz="1500"/>
          </a:p>
        </p:txBody>
      </p:sp>
      <p:sp>
        <p:nvSpPr>
          <p:cNvPr id="1007" name="Google Shape;100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8" name="Google Shape;1008;p48"/>
          <p:cNvSpPr txBox="1"/>
          <p:nvPr>
            <p:ph idx="4294967295" type="body"/>
          </p:nvPr>
        </p:nvSpPr>
        <p:spPr>
          <a:xfrm>
            <a:off x="1494400" y="1703625"/>
            <a:ext cx="2112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– (10111)</a:t>
            </a:r>
            <a:r>
              <a:rPr b="1" baseline="-25000" lang="en" sz="1500"/>
              <a:t>2</a:t>
            </a:r>
            <a:endParaRPr b="1" sz="1500"/>
          </a:p>
        </p:txBody>
      </p:sp>
      <p:sp>
        <p:nvSpPr>
          <p:cNvPr id="1009" name="Google Shape;1009;p48"/>
          <p:cNvSpPr txBox="1"/>
          <p:nvPr>
            <p:ph idx="4294967295" type="body"/>
          </p:nvPr>
        </p:nvSpPr>
        <p:spPr>
          <a:xfrm>
            <a:off x="4468925" y="1703625"/>
            <a:ext cx="25026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+(–10111)</a:t>
            </a:r>
            <a:r>
              <a:rPr b="1" baseline="-25000" lang="en" sz="1500"/>
              <a:t>2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sp>
        <p:nvSpPr>
          <p:cNvPr id="1010" name="Google Shape;1010;p48"/>
          <p:cNvSpPr txBox="1"/>
          <p:nvPr>
            <p:ph idx="4294967295" type="body"/>
          </p:nvPr>
        </p:nvSpPr>
        <p:spPr>
          <a:xfrm>
            <a:off x="3512121" y="1703625"/>
            <a:ext cx="9558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</p:txBody>
      </p:sp>
      <p:sp>
        <p:nvSpPr>
          <p:cNvPr id="1011" name="Google Shape;1011;p48"/>
          <p:cNvSpPr txBox="1"/>
          <p:nvPr>
            <p:ph idx="4294967295" type="body"/>
          </p:nvPr>
        </p:nvSpPr>
        <p:spPr>
          <a:xfrm>
            <a:off x="19979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1012" name="Google Shape;1012;p48"/>
          <p:cNvCxnSpPr/>
          <p:nvPr/>
        </p:nvCxnSpPr>
        <p:spPr>
          <a:xfrm>
            <a:off x="3620050" y="2672650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3" name="Google Shape;1013;p48"/>
          <p:cNvSpPr txBox="1"/>
          <p:nvPr>
            <p:ph idx="4294967295" type="body"/>
          </p:nvPr>
        </p:nvSpPr>
        <p:spPr>
          <a:xfrm>
            <a:off x="5274550" y="24386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00</a:t>
            </a:r>
            <a:r>
              <a:rPr b="1" lang="en" sz="1500"/>
              <a:t>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14" name="Google Shape;1014;p48"/>
          <p:cNvSpPr txBox="1"/>
          <p:nvPr>
            <p:ph idx="4294967295" type="body"/>
          </p:nvPr>
        </p:nvSpPr>
        <p:spPr>
          <a:xfrm>
            <a:off x="19979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1015" name="Google Shape;1015;p48"/>
          <p:cNvCxnSpPr/>
          <p:nvPr/>
        </p:nvCxnSpPr>
        <p:spPr>
          <a:xfrm>
            <a:off x="3620050" y="3068684"/>
            <a:ext cx="138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6" name="Google Shape;1016;p48"/>
          <p:cNvSpPr txBox="1"/>
          <p:nvPr/>
        </p:nvSpPr>
        <p:spPr>
          <a:xfrm>
            <a:off x="3710875" y="2794609"/>
            <a:ext cx="1296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’s complement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7" name="Google Shape;1017;p48"/>
          <p:cNvSpPr txBox="1"/>
          <p:nvPr>
            <p:ph idx="4294967295" type="body"/>
          </p:nvPr>
        </p:nvSpPr>
        <p:spPr>
          <a:xfrm>
            <a:off x="52745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1</a:t>
            </a:r>
            <a:r>
              <a:rPr b="1" lang="en" sz="1500"/>
              <a:t>11</a:t>
            </a:r>
            <a:r>
              <a:rPr b="1" lang="en" sz="1500"/>
              <a:t>01001)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1018" name="Google Shape;1018;p48"/>
          <p:cNvCxnSpPr/>
          <p:nvPr/>
        </p:nvCxnSpPr>
        <p:spPr>
          <a:xfrm>
            <a:off x="5309650" y="3266000"/>
            <a:ext cx="132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9" name="Google Shape;1019;p48"/>
          <p:cNvSpPr txBox="1"/>
          <p:nvPr>
            <p:ph idx="4294967295" type="body"/>
          </p:nvPr>
        </p:nvSpPr>
        <p:spPr>
          <a:xfrm>
            <a:off x="5274550" y="3215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0000000)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20" name="Google Shape;1020;p48"/>
          <p:cNvSpPr txBox="1"/>
          <p:nvPr>
            <p:ph idx="4294967295" type="body"/>
          </p:nvPr>
        </p:nvSpPr>
        <p:spPr>
          <a:xfrm>
            <a:off x="6798550" y="3266000"/>
            <a:ext cx="1751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Discard End Carry</a:t>
            </a:r>
            <a:endParaRPr b="1" sz="1500">
              <a:solidFill>
                <a:srgbClr val="FF0000"/>
              </a:solidFill>
            </a:endParaRPr>
          </a:p>
        </p:txBody>
      </p:sp>
      <p:cxnSp>
        <p:nvCxnSpPr>
          <p:cNvPr id="1021" name="Google Shape;1021;p48"/>
          <p:cNvCxnSpPr/>
          <p:nvPr/>
        </p:nvCxnSpPr>
        <p:spPr>
          <a:xfrm>
            <a:off x="5309650" y="3667858"/>
            <a:ext cx="132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2" name="Google Shape;1022;p48"/>
          <p:cNvSpPr txBox="1"/>
          <p:nvPr>
            <p:ph idx="4294967295" type="body"/>
          </p:nvPr>
        </p:nvSpPr>
        <p:spPr>
          <a:xfrm>
            <a:off x="5350750" y="37490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</a:t>
            </a:r>
            <a:r>
              <a:rPr b="1" lang="en" sz="1500">
                <a:solidFill>
                  <a:srgbClr val="CC4125"/>
                </a:solidFill>
              </a:rPr>
              <a:t>0</a:t>
            </a:r>
            <a:r>
              <a:rPr b="1" lang="en" sz="1500"/>
              <a:t>0000000)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1s vs 2s complement</a:t>
            </a:r>
            <a:endParaRPr/>
          </a:p>
        </p:txBody>
      </p:sp>
      <p:sp>
        <p:nvSpPr>
          <p:cNvPr id="1028" name="Google Shape;1028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29" name="Google Shape;1029;p49"/>
          <p:cNvGraphicFramePr/>
          <p:nvPr/>
        </p:nvGraphicFramePr>
        <p:xfrm>
          <a:off x="952500" y="188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{80237BC2-53B9-404F-AF6E-09C7F8F55AC1}</a:tableStyleId>
              </a:tblPr>
              <a:tblGrid>
                <a:gridCol w="1857150"/>
                <a:gridCol w="296885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1s Complement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2s Complement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Range</a:t>
                      </a:r>
                      <a:endParaRPr b="1"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[–(2</a:t>
                      </a:r>
                      <a:r>
                        <a:rPr baseline="30000" lang="en"/>
                        <a:t>n-1</a:t>
                      </a:r>
                      <a:r>
                        <a:rPr lang="en"/>
                        <a:t> - 1) , – 0] , </a:t>
                      </a:r>
                      <a:r>
                        <a:rPr lang="en"/>
                        <a:t>[0,(2</a:t>
                      </a:r>
                      <a:r>
                        <a:rPr baseline="30000" lang="en"/>
                        <a:t>n-1</a:t>
                      </a:r>
                      <a:r>
                        <a:rPr lang="en"/>
                        <a:t> - 1) ]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[–</a:t>
                      </a:r>
                      <a:r>
                        <a:rPr lang="en"/>
                        <a:t>2</a:t>
                      </a:r>
                      <a:r>
                        <a:rPr baseline="30000" lang="en"/>
                        <a:t>n-1 </a:t>
                      </a:r>
                      <a:r>
                        <a:rPr lang="en"/>
                        <a:t>, (2</a:t>
                      </a:r>
                      <a:r>
                        <a:rPr baseline="30000" lang="en"/>
                        <a:t>n-1 </a:t>
                      </a:r>
                      <a:r>
                        <a:rPr lang="en"/>
                        <a:t>–1)]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Zero representation</a:t>
                      </a:r>
                      <a:endParaRPr b="1"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-0,+0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Arithmetic handling</a:t>
                      </a:r>
                      <a:endParaRPr b="1"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Complex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Simpler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Popularity</a:t>
                      </a:r>
                      <a:endParaRPr b="1"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Obsolete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Widely used</a:t>
                      </a:r>
                      <a:endParaRPr/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5" name="Google Shape;1035;p50"/>
          <p:cNvSpPr txBox="1"/>
          <p:nvPr>
            <p:ph idx="4294967295" type="body"/>
          </p:nvPr>
        </p:nvSpPr>
        <p:spPr>
          <a:xfrm>
            <a:off x="720000" y="1208325"/>
            <a:ext cx="77040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How about</a:t>
            </a:r>
            <a:endParaRPr sz="6000"/>
          </a:p>
        </p:txBody>
      </p:sp>
      <p:sp>
        <p:nvSpPr>
          <p:cNvPr id="1036" name="Google Shape;1036;p50"/>
          <p:cNvSpPr txBox="1"/>
          <p:nvPr>
            <p:ph idx="4294967295" type="body"/>
          </p:nvPr>
        </p:nvSpPr>
        <p:spPr>
          <a:xfrm>
            <a:off x="720000" y="2579925"/>
            <a:ext cx="77040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Subtraction using 9’s/10’s complement?</a:t>
            </a:r>
            <a:endParaRPr sz="4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1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BCD Arithmetics</a:t>
            </a:r>
            <a:endParaRPr sz="3800"/>
          </a:p>
        </p:txBody>
      </p:sp>
      <p:sp>
        <p:nvSpPr>
          <p:cNvPr id="1042" name="Google Shape;1042;p51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43" name="Google Shape;1043;p51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Why/How is it different from decimal arithmetics?</a:t>
            </a:r>
            <a:endParaRPr/>
          </a:p>
        </p:txBody>
      </p:sp>
      <p:cxnSp>
        <p:nvCxnSpPr>
          <p:cNvPr id="1044" name="Google Shape;1044;p51"/>
          <p:cNvCxnSpPr>
            <a:stCxn id="1042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5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BCD Arithmetics</a:t>
            </a:r>
            <a:endParaRPr/>
          </a:p>
        </p:txBody>
      </p:sp>
      <p:sp>
        <p:nvSpPr>
          <p:cNvPr id="1051" name="Google Shape;1051;p52"/>
          <p:cNvSpPr txBox="1"/>
          <p:nvPr>
            <p:ph idx="4294967295" type="body"/>
          </p:nvPr>
        </p:nvSpPr>
        <p:spPr>
          <a:xfrm>
            <a:off x="720000" y="1208325"/>
            <a:ext cx="3871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Maximum total sum at a certain position</a:t>
            </a:r>
            <a:endParaRPr sz="1500"/>
          </a:p>
        </p:txBody>
      </p:sp>
      <p:sp>
        <p:nvSpPr>
          <p:cNvPr id="1052" name="Google Shape;1052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3" name="Google Shape;1053;p52"/>
          <p:cNvSpPr txBox="1"/>
          <p:nvPr>
            <p:ph idx="4294967295" type="body"/>
          </p:nvPr>
        </p:nvSpPr>
        <p:spPr>
          <a:xfrm>
            <a:off x="720000" y="2351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For BCD sum, sum of any BCD digit is  </a:t>
            </a:r>
            <a:r>
              <a:rPr b="1" lang="en" sz="1500"/>
              <a:t>&gt;9</a:t>
            </a:r>
            <a:r>
              <a:rPr lang="en" sz="1500"/>
              <a:t> it is </a:t>
            </a:r>
            <a:r>
              <a:rPr b="1" lang="en" sz="1500"/>
              <a:t>INVALID</a:t>
            </a:r>
            <a:r>
              <a:rPr lang="en" sz="1500"/>
              <a:t>.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54" name="Google Shape;1054;p52"/>
          <p:cNvSpPr txBox="1"/>
          <p:nvPr>
            <p:ph idx="4294967295" type="body"/>
          </p:nvPr>
        </p:nvSpPr>
        <p:spPr>
          <a:xfrm>
            <a:off x="720000" y="26561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To fix it we had 6 (decimal) with it.</a:t>
            </a:r>
            <a:endParaRPr b="1" sz="1500"/>
          </a:p>
        </p:txBody>
      </p:sp>
      <p:sp>
        <p:nvSpPr>
          <p:cNvPr id="1055" name="Google Shape;1055;p52"/>
          <p:cNvSpPr txBox="1"/>
          <p:nvPr>
            <p:ph idx="4294967295" type="body"/>
          </p:nvPr>
        </p:nvSpPr>
        <p:spPr>
          <a:xfrm>
            <a:off x="4606200" y="1208325"/>
            <a:ext cx="13782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9 + 9 + 1 = 19</a:t>
            </a:r>
            <a:endParaRPr sz="1500"/>
          </a:p>
        </p:txBody>
      </p:sp>
      <p:sp>
        <p:nvSpPr>
          <p:cNvPr id="1056" name="Google Shape;1056;p52"/>
          <p:cNvSpPr txBox="1"/>
          <p:nvPr>
            <p:ph idx="4294967295" type="body"/>
          </p:nvPr>
        </p:nvSpPr>
        <p:spPr>
          <a:xfrm>
            <a:off x="720000" y="1665525"/>
            <a:ext cx="5239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 that case the sum is 9, and 1 is carried to next position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5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BCD Arithmetics</a:t>
            </a:r>
            <a:endParaRPr/>
          </a:p>
        </p:txBody>
      </p:sp>
      <p:sp>
        <p:nvSpPr>
          <p:cNvPr id="1062" name="Google Shape;1062;p53"/>
          <p:cNvSpPr txBox="1"/>
          <p:nvPr>
            <p:ph idx="4294967295" type="body"/>
          </p:nvPr>
        </p:nvSpPr>
        <p:spPr>
          <a:xfrm>
            <a:off x="720000" y="1208325"/>
            <a:ext cx="77040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Add </a:t>
            </a:r>
            <a:r>
              <a:rPr lang="en" sz="1500"/>
              <a:t>(786)</a:t>
            </a:r>
            <a:r>
              <a:rPr baseline="-25000" lang="en" sz="1500"/>
              <a:t>BCD</a:t>
            </a:r>
            <a:r>
              <a:rPr lang="en" sz="1500"/>
              <a:t>  with (162)</a:t>
            </a:r>
            <a:r>
              <a:rPr baseline="-25000" lang="en" sz="1500"/>
              <a:t>BCD</a:t>
            </a:r>
            <a:r>
              <a:rPr lang="en" sz="1500"/>
              <a:t> using BCD Addition.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63" name="Google Shape;1063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4" name="Google Shape;1064;p53"/>
          <p:cNvSpPr txBox="1"/>
          <p:nvPr>
            <p:ph idx="4294967295" type="body"/>
          </p:nvPr>
        </p:nvSpPr>
        <p:spPr>
          <a:xfrm>
            <a:off x="1312150" y="1905250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(7  8  </a:t>
            </a:r>
            <a:r>
              <a:rPr b="1" lang="en" sz="1500"/>
              <a:t>6</a:t>
            </a:r>
            <a:r>
              <a:rPr b="1" lang="en" sz="1500"/>
              <a:t>)</a:t>
            </a:r>
            <a:r>
              <a:rPr b="1" baseline="-25000" lang="en" sz="1500"/>
              <a:t>BCD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65" name="Google Shape;1065;p53"/>
          <p:cNvSpPr txBox="1"/>
          <p:nvPr>
            <p:ph idx="4294967295" type="body"/>
          </p:nvPr>
        </p:nvSpPr>
        <p:spPr>
          <a:xfrm>
            <a:off x="1312150" y="23012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(1  6  9)</a:t>
            </a:r>
            <a:r>
              <a:rPr b="1" baseline="-25000" lang="en" sz="1500"/>
              <a:t>BCD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66" name="Google Shape;1066;p53"/>
          <p:cNvSpPr txBox="1"/>
          <p:nvPr>
            <p:ph idx="4294967295" type="body"/>
          </p:nvPr>
        </p:nvSpPr>
        <p:spPr>
          <a:xfrm>
            <a:off x="5045950" y="1905250"/>
            <a:ext cx="2715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(0111	1000		011</a:t>
            </a:r>
            <a:r>
              <a:rPr b="1" lang="en" sz="1500"/>
              <a:t>0</a:t>
            </a:r>
            <a:r>
              <a:rPr b="1" lang="en" sz="1500"/>
              <a:t>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67" name="Google Shape;1067;p53"/>
          <p:cNvSpPr txBox="1"/>
          <p:nvPr>
            <p:ph idx="4294967295" type="body"/>
          </p:nvPr>
        </p:nvSpPr>
        <p:spPr>
          <a:xfrm>
            <a:off x="5045950" y="2286250"/>
            <a:ext cx="2715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(0001	0110		1001)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cxnSp>
        <p:nvCxnSpPr>
          <p:cNvPr id="1068" name="Google Shape;1068;p53"/>
          <p:cNvCxnSpPr/>
          <p:nvPr/>
        </p:nvCxnSpPr>
        <p:spPr>
          <a:xfrm>
            <a:off x="1383175" y="2791725"/>
            <a:ext cx="117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53"/>
          <p:cNvCxnSpPr/>
          <p:nvPr/>
        </p:nvCxnSpPr>
        <p:spPr>
          <a:xfrm>
            <a:off x="5045950" y="2766175"/>
            <a:ext cx="25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0" name="Google Shape;1070;p53"/>
          <p:cNvSpPr txBox="1"/>
          <p:nvPr>
            <p:ph idx="4294967295" type="body"/>
          </p:nvPr>
        </p:nvSpPr>
        <p:spPr>
          <a:xfrm>
            <a:off x="5045950" y="2819650"/>
            <a:ext cx="2715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(1000	1110		1111)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71" name="Google Shape;1071;p53"/>
          <p:cNvSpPr txBox="1"/>
          <p:nvPr>
            <p:ph idx="4294967295" type="body"/>
          </p:nvPr>
        </p:nvSpPr>
        <p:spPr>
          <a:xfrm>
            <a:off x="5486481" y="3124450"/>
            <a:ext cx="2198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SzPts val="1500"/>
              <a:buChar char="+"/>
            </a:pPr>
            <a:r>
              <a:rPr b="1" lang="en" sz="1500"/>
              <a:t>0</a:t>
            </a:r>
            <a:r>
              <a:rPr b="1" lang="en" sz="1500"/>
              <a:t>110 	</a:t>
            </a:r>
            <a:r>
              <a:rPr b="1" lang="en" sz="1500"/>
              <a:t>0110</a:t>
            </a:r>
            <a:r>
              <a:rPr b="1" lang="en" sz="1500"/>
              <a:t>	</a:t>
            </a:r>
            <a:endParaRPr b="1" sz="1500"/>
          </a:p>
        </p:txBody>
      </p:sp>
      <p:cxnSp>
        <p:nvCxnSpPr>
          <p:cNvPr id="1072" name="Google Shape;1072;p53"/>
          <p:cNvCxnSpPr/>
          <p:nvPr/>
        </p:nvCxnSpPr>
        <p:spPr>
          <a:xfrm>
            <a:off x="5045950" y="3528175"/>
            <a:ext cx="259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53"/>
          <p:cNvSpPr txBox="1"/>
          <p:nvPr>
            <p:ph idx="4294967295" type="body"/>
          </p:nvPr>
        </p:nvSpPr>
        <p:spPr>
          <a:xfrm>
            <a:off x="5045950" y="3581650"/>
            <a:ext cx="27153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(1001	0101		0101)</a:t>
            </a:r>
            <a:r>
              <a:rPr b="1" baseline="-25000" lang="en" sz="1500"/>
              <a:t>2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74" name="Google Shape;1074;p53"/>
          <p:cNvSpPr txBox="1"/>
          <p:nvPr>
            <p:ph idx="4294967295" type="body"/>
          </p:nvPr>
        </p:nvSpPr>
        <p:spPr>
          <a:xfrm>
            <a:off x="1312150" y="2834684"/>
            <a:ext cx="1393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(9  5  5)</a:t>
            </a:r>
            <a:r>
              <a:rPr b="1" baseline="-25000" lang="en" sz="1500"/>
              <a:t>BCD</a:t>
            </a:r>
            <a:r>
              <a:rPr b="1" lang="en" sz="1500"/>
              <a:t> </a:t>
            </a:r>
            <a:endParaRPr b="1" sz="1500"/>
          </a:p>
        </p:txBody>
      </p:sp>
      <p:sp>
        <p:nvSpPr>
          <p:cNvPr id="1075" name="Google Shape;1075;p53"/>
          <p:cNvSpPr txBox="1"/>
          <p:nvPr>
            <p:ph idx="4294967295" type="body"/>
          </p:nvPr>
        </p:nvSpPr>
        <p:spPr>
          <a:xfrm>
            <a:off x="6309634" y="2650568"/>
            <a:ext cx="3642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1076" name="Google Shape;1076;p53"/>
          <p:cNvSpPr txBox="1"/>
          <p:nvPr>
            <p:ph idx="4294967295" type="body"/>
          </p:nvPr>
        </p:nvSpPr>
        <p:spPr>
          <a:xfrm>
            <a:off x="5471434" y="2650568"/>
            <a:ext cx="3642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</a:rPr>
              <a:t>1</a:t>
            </a:r>
            <a:endParaRPr b="1" sz="1500">
              <a:solidFill>
                <a:srgbClr val="FF0000"/>
              </a:solidFill>
            </a:endParaRPr>
          </a:p>
        </p:txBody>
      </p:sp>
      <p:sp>
        <p:nvSpPr>
          <p:cNvPr id="1077" name="Google Shape;1077;p53"/>
          <p:cNvSpPr txBox="1"/>
          <p:nvPr>
            <p:ph idx="4294967295" type="body"/>
          </p:nvPr>
        </p:nvSpPr>
        <p:spPr>
          <a:xfrm>
            <a:off x="4602841" y="2273686"/>
            <a:ext cx="443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+</a:t>
            </a:r>
            <a:endParaRPr b="1" sz="1500"/>
          </a:p>
        </p:txBody>
      </p:sp>
      <p:sp>
        <p:nvSpPr>
          <p:cNvPr id="1078" name="Google Shape;1078;p53"/>
          <p:cNvSpPr txBox="1"/>
          <p:nvPr>
            <p:ph idx="4294967295" type="body"/>
          </p:nvPr>
        </p:nvSpPr>
        <p:spPr>
          <a:xfrm>
            <a:off x="1097641" y="2273686"/>
            <a:ext cx="443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+</a:t>
            </a:r>
            <a:endParaRPr b="1"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BCD Arithmetics</a:t>
            </a:r>
            <a:endParaRPr/>
          </a:p>
        </p:txBody>
      </p:sp>
      <p:sp>
        <p:nvSpPr>
          <p:cNvPr id="1084" name="Google Shape;1084;p54"/>
          <p:cNvSpPr txBox="1"/>
          <p:nvPr>
            <p:ph idx="4294967295" type="body"/>
          </p:nvPr>
        </p:nvSpPr>
        <p:spPr>
          <a:xfrm>
            <a:off x="720000" y="1208325"/>
            <a:ext cx="3871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But why do we add 6?</a:t>
            </a:r>
            <a:endParaRPr b="1" sz="1500"/>
          </a:p>
        </p:txBody>
      </p:sp>
      <p:sp>
        <p:nvSpPr>
          <p:cNvPr id="1085" name="Google Shape;108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6" name="Google Shape;1086;p54"/>
          <p:cNvSpPr txBox="1"/>
          <p:nvPr>
            <p:ph idx="4294967295" type="body"/>
          </p:nvPr>
        </p:nvSpPr>
        <p:spPr>
          <a:xfrm>
            <a:off x="720000" y="1665525"/>
            <a:ext cx="7291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Because the difference between decimal carry (10)</a:t>
            </a:r>
            <a:r>
              <a:rPr baseline="-25000" lang="en" sz="1500"/>
              <a:t>10</a:t>
            </a:r>
            <a:r>
              <a:rPr lang="en" sz="1500"/>
              <a:t> and BCD carry (1 0000)</a:t>
            </a:r>
            <a:r>
              <a:rPr baseline="-25000" lang="en" sz="1500"/>
              <a:t>BCD </a:t>
            </a:r>
            <a:r>
              <a:rPr lang="en" sz="1500"/>
              <a:t>or (16)</a:t>
            </a:r>
            <a:r>
              <a:rPr baseline="-25000" lang="en" sz="1500"/>
              <a:t>10</a:t>
            </a:r>
            <a:r>
              <a:rPr lang="en" sz="1500"/>
              <a:t> is 6. 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5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Error Detection</a:t>
            </a:r>
            <a:endParaRPr sz="3800"/>
          </a:p>
        </p:txBody>
      </p:sp>
      <p:sp>
        <p:nvSpPr>
          <p:cNvPr id="1092" name="Google Shape;1092;p55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93" name="Google Shape;1093;p55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detect errors?</a:t>
            </a:r>
            <a:endParaRPr/>
          </a:p>
        </p:txBody>
      </p:sp>
      <p:cxnSp>
        <p:nvCxnSpPr>
          <p:cNvPr id="1094" name="Google Shape;1094;p55"/>
          <p:cNvCxnSpPr>
            <a:stCxn id="1092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" name="Google Shape;1095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5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Detection</a:t>
            </a:r>
            <a:endParaRPr/>
          </a:p>
        </p:txBody>
      </p:sp>
      <p:sp>
        <p:nvSpPr>
          <p:cNvPr id="1101" name="Google Shape;1101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2" name="Google Shape;1102;p56"/>
          <p:cNvSpPr txBox="1"/>
          <p:nvPr>
            <p:ph idx="4294967295" type="body"/>
          </p:nvPr>
        </p:nvSpPr>
        <p:spPr>
          <a:xfrm>
            <a:off x="720000" y="1284525"/>
            <a:ext cx="7291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During data transmission, electrical noise, signal degradation, or interference can cause errors.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03" name="Google Shape;1103;p56"/>
          <p:cNvSpPr txBox="1"/>
          <p:nvPr>
            <p:ph idx="4294967295" type="body"/>
          </p:nvPr>
        </p:nvSpPr>
        <p:spPr>
          <a:xfrm>
            <a:off x="720000" y="1970325"/>
            <a:ext cx="72915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This means bits can get flipped—a 0 might be received as a 1, or vice versa.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Such bit-level changes can lead to corrupted data, which is why error detection and correction methods (like parity bits or checksums) are used.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5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Parity</a:t>
            </a:r>
            <a:endParaRPr/>
          </a:p>
        </p:txBody>
      </p:sp>
      <p:sp>
        <p:nvSpPr>
          <p:cNvPr id="1109" name="Google Shape;1109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0" name="Google Shape;1110;p57"/>
          <p:cNvSpPr txBox="1"/>
          <p:nvPr>
            <p:ph idx="4294967295" type="body"/>
          </p:nvPr>
        </p:nvSpPr>
        <p:spPr>
          <a:xfrm>
            <a:off x="720000" y="1284525"/>
            <a:ext cx="36771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Parity is a simple error detection method used in data transmission.</a:t>
            </a:r>
            <a:endParaRPr sz="15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It adds an extra bit, called the parity bit, to a group of data bits to make the number of 1s either even (even parity) or odd (odd parity).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11" name="Google Shape;1111;p57"/>
          <p:cNvSpPr txBox="1"/>
          <p:nvPr>
            <p:ph idx="4294967295" type="body"/>
          </p:nvPr>
        </p:nvSpPr>
        <p:spPr>
          <a:xfrm>
            <a:off x="720000" y="2884725"/>
            <a:ext cx="36492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When data is received, the system checks the parity to see if any single-bit error has occurred during transmission.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While parity can't correct errors, it can detect if a bit was flipped.</a:t>
            </a:r>
            <a:endParaRPr b="1" sz="1500"/>
          </a:p>
        </p:txBody>
      </p:sp>
      <p:pic>
        <p:nvPicPr>
          <p:cNvPr id="1112" name="Google Shape;11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5850" y="1287450"/>
            <a:ext cx="3733500" cy="30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58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Parity</a:t>
            </a:r>
            <a:endParaRPr/>
          </a:p>
        </p:txBody>
      </p:sp>
      <p:sp>
        <p:nvSpPr>
          <p:cNvPr id="1118" name="Google Shape;1118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9" name="Google Shape;1119;p5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7102" y="957874"/>
            <a:ext cx="3010200" cy="31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58"/>
          <p:cNvSpPr txBox="1"/>
          <p:nvPr/>
        </p:nvSpPr>
        <p:spPr>
          <a:xfrm>
            <a:off x="3436634" y="4119403"/>
            <a:ext cx="265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Even parity is considered here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Checksum</a:t>
            </a:r>
            <a:endParaRPr/>
          </a:p>
        </p:txBody>
      </p:sp>
      <p:sp>
        <p:nvSpPr>
          <p:cNvPr id="1126" name="Google Shape;1126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7" name="Google Shape;1127;p59"/>
          <p:cNvSpPr txBox="1"/>
          <p:nvPr>
            <p:ph idx="4294967295" type="body"/>
          </p:nvPr>
        </p:nvSpPr>
        <p:spPr>
          <a:xfrm>
            <a:off x="720000" y="1284525"/>
            <a:ext cx="75087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 checksum is a value calculated from a block of data to help detect errors during transmission or storage.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It is sent along with the data, and the receiver recalculates the checksum to verify if the data was altered or corrupted.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28" name="Google Shape;1128;p59"/>
          <p:cNvSpPr txBox="1"/>
          <p:nvPr>
            <p:ph idx="4294967295" type="body"/>
          </p:nvPr>
        </p:nvSpPr>
        <p:spPr>
          <a:xfrm>
            <a:off x="720000" y="3037125"/>
            <a:ext cx="7508700" cy="3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If the </a:t>
            </a:r>
            <a:r>
              <a:rPr b="1" lang="en" sz="1500"/>
              <a:t>checksums </a:t>
            </a:r>
            <a:r>
              <a:rPr b="1" lang="en" sz="1500"/>
              <a:t>don’t match</a:t>
            </a:r>
            <a:r>
              <a:rPr lang="en" sz="1500"/>
              <a:t>, it means an </a:t>
            </a:r>
            <a:r>
              <a:rPr b="1" lang="en" sz="1500"/>
              <a:t>error </a:t>
            </a:r>
            <a:r>
              <a:rPr lang="en" sz="1500"/>
              <a:t>has occurred.</a:t>
            </a:r>
            <a:endParaRPr b="1"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0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1134" name="Google Shape;1134;p60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1135" name="Google Shape;1135;p60"/>
          <p:cNvCxnSpPr>
            <a:endCxn id="1133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