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Nunito"/>
      <p:regular r:id="rId43"/>
      <p:bold r:id="rId44"/>
      <p:italic r:id="rId45"/>
      <p:boldItalic r:id="rId46"/>
    </p:embeddedFont>
    <p:embeddedFont>
      <p:font typeface="Inter Tight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  <p:embeddedFont>
      <p:font typeface="Inter Tight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BDBD84-EC09-4B67-81B3-139EC7EE335B}">
  <a:tblStyle styleId="{34BDBD84-EC09-4B67-81B3-139EC7EE3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BD5D062-2B70-4153-BA07-EF79ED7EEF0D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Nunito-bold.fntdata"/><Relationship Id="rId43" Type="http://schemas.openxmlformats.org/officeDocument/2006/relationships/font" Target="fonts/Nunito-regular.fntdata"/><Relationship Id="rId46" Type="http://schemas.openxmlformats.org/officeDocument/2006/relationships/font" Target="fonts/Nunito-boldItalic.fntdata"/><Relationship Id="rId45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Tight-bold.fntdata"/><Relationship Id="rId47" Type="http://schemas.openxmlformats.org/officeDocument/2006/relationships/font" Target="fonts/InterTight-regular.fntdata"/><Relationship Id="rId49" Type="http://schemas.openxmlformats.org/officeDocument/2006/relationships/font" Target="fonts/InterT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InterTight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55" Type="http://schemas.openxmlformats.org/officeDocument/2006/relationships/font" Target="fonts/InterTightSemiBold-regular.fntdata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57" Type="http://schemas.openxmlformats.org/officeDocument/2006/relationships/font" Target="fonts/InterTightSemiBold-italic.fntdata"/><Relationship Id="rId12" Type="http://schemas.openxmlformats.org/officeDocument/2006/relationships/slide" Target="slides/slide7.xml"/><Relationship Id="rId56" Type="http://schemas.openxmlformats.org/officeDocument/2006/relationships/font" Target="fonts/InterTightSemi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InterTight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86a984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86a984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5486a98494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5486a9849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5486a98494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5486a9849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486a98494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5486a98494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5486a98494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5486a98494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5486a98494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5486a98494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486a98494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5486a98494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58a26159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58a2615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58a26159d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58a26159d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58a26159d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58a26159d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58a26159d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58a26159d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58a26159d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58a26159d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5486a98494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5486a98494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58a26159d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58a26159d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58a26159d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58a26159d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58a26159d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58a26159d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58a26159d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58a26159d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58a26159d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58a26159d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58a26159d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58a26159d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58a26159d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58a26159d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58a26159d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58a26159d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58a26159d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58a26159d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58a26159dd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58a26159dd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58a26159d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58a26159d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58a26159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58a26159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58a26159d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58a26159d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58a26159dd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58a26159dd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58a26159dd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58a26159dd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58a26159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58a26159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58a26159dd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58a26159dd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58a26159dd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58a26159d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58d1b56b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58d1b56b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58a26159dd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58a26159dd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6.png"/><Relationship Id="rId13" Type="http://schemas.openxmlformats.org/officeDocument/2006/relationships/image" Target="../media/image22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46.png"/><Relationship Id="rId5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Relationship Id="rId5" Type="http://schemas.openxmlformats.org/officeDocument/2006/relationships/image" Target="../media/image40.png"/><Relationship Id="rId6" Type="http://schemas.openxmlformats.org/officeDocument/2006/relationships/hyperlink" Target="https://web.mit.edu/6.111/www/s2007/PSETS/pset1.pdf" TargetMode="External"/><Relationship Id="rId7" Type="http://schemas.openxmlformats.org/officeDocument/2006/relationships/hyperlink" Target="https://uomustansiriyah.edu.iq/media/lectures/6/6_2024_04_04!02_36_02_PM.pdf" TargetMode="External"/><Relationship Id="rId8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Boolean Logic and Boolean Algebra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Binary Logic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or One?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 mathematical system, defined with a set of elements, operators and a number of axioms or postulates.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27"/>
          <p:cNvSpPr txBox="1"/>
          <p:nvPr>
            <p:ph idx="1" type="body"/>
          </p:nvPr>
        </p:nvSpPr>
        <p:spPr>
          <a:xfrm>
            <a:off x="715100" y="21533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 set of elements : </a:t>
            </a:r>
            <a:r>
              <a:rPr lang="en" sz="1500">
                <a:solidFill>
                  <a:schemeClr val="dk1"/>
                </a:solidFill>
              </a:rPr>
              <a:t>Objects having common properties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4" name="Google Shape;624;p27"/>
          <p:cNvSpPr txBox="1"/>
          <p:nvPr>
            <p:ph idx="1" type="body"/>
          </p:nvPr>
        </p:nvSpPr>
        <p:spPr>
          <a:xfrm>
            <a:off x="715100" y="25343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Operators</a:t>
            </a:r>
            <a:r>
              <a:rPr b="1" lang="en" sz="1500">
                <a:solidFill>
                  <a:schemeClr val="dk1"/>
                </a:solidFill>
              </a:rPr>
              <a:t> : </a:t>
            </a:r>
            <a:r>
              <a:rPr lang="en" sz="1500">
                <a:solidFill>
                  <a:schemeClr val="dk1"/>
                </a:solidFill>
              </a:rPr>
              <a:t>A set of rules defined on the elements.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5" name="Google Shape;625;p27"/>
          <p:cNvSpPr txBox="1"/>
          <p:nvPr>
            <p:ph idx="1" type="body"/>
          </p:nvPr>
        </p:nvSpPr>
        <p:spPr>
          <a:xfrm>
            <a:off x="715100" y="29153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Postulates </a:t>
            </a:r>
            <a:r>
              <a:rPr b="1" lang="en" sz="1500">
                <a:solidFill>
                  <a:schemeClr val="dk1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Basic assumptions from where rules, theorems, etc. are deduced.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Binary Algebra </a:t>
            </a:r>
            <a:r>
              <a:rPr lang="en" sz="1500">
                <a:solidFill>
                  <a:schemeClr val="dk1"/>
                </a:solidFill>
              </a:rPr>
              <a:t>consists of </a:t>
            </a:r>
            <a:r>
              <a:rPr b="1" lang="en" sz="1500">
                <a:solidFill>
                  <a:schemeClr val="dk1"/>
                </a:solidFill>
              </a:rPr>
              <a:t>binary variables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b="1" lang="en" sz="1500">
                <a:solidFill>
                  <a:schemeClr val="dk1"/>
                </a:solidFill>
              </a:rPr>
              <a:t>set of logical operation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1" name="Google Shape;631;p2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Logic</a:t>
            </a:r>
            <a:endParaRPr/>
          </a:p>
        </p:txBody>
      </p:sp>
      <p:cxnSp>
        <p:nvCxnSpPr>
          <p:cNvPr id="632" name="Google Shape;632;p28"/>
          <p:cNvCxnSpPr>
            <a:stCxn id="63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28"/>
          <p:cNvCxnSpPr>
            <a:endCxn id="63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28"/>
          <p:cNvSpPr txBox="1"/>
          <p:nvPr>
            <p:ph idx="1" type="body"/>
          </p:nvPr>
        </p:nvSpPr>
        <p:spPr>
          <a:xfrm>
            <a:off x="715100" y="1909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Binary variables take on only one of two possible values 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7" name="Google Shape;637;p28"/>
          <p:cNvSpPr txBox="1"/>
          <p:nvPr>
            <p:ph idx="1" type="body"/>
          </p:nvPr>
        </p:nvSpPr>
        <p:spPr>
          <a:xfrm>
            <a:off x="1705700" y="2290050"/>
            <a:ext cx="1830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High or 1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8" name="Google Shape;638;p28"/>
          <p:cNvSpPr txBox="1"/>
          <p:nvPr>
            <p:ph idx="1" type="body"/>
          </p:nvPr>
        </p:nvSpPr>
        <p:spPr>
          <a:xfrm>
            <a:off x="4587625" y="2290050"/>
            <a:ext cx="1830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Low</a:t>
            </a:r>
            <a:r>
              <a:rPr lang="en" sz="1500">
                <a:solidFill>
                  <a:schemeClr val="dk1"/>
                </a:solidFill>
              </a:rPr>
              <a:t> or 0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9" name="Google Shape;639;p28"/>
          <p:cNvSpPr txBox="1"/>
          <p:nvPr>
            <p:ph idx="1" type="body"/>
          </p:nvPr>
        </p:nvSpPr>
        <p:spPr>
          <a:xfrm>
            <a:off x="715100" y="3204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Logical Operations?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40" name="Google Shape;640;p28"/>
          <p:cNvSpPr txBox="1"/>
          <p:nvPr>
            <p:ph idx="1" type="body"/>
          </p:nvPr>
        </p:nvSpPr>
        <p:spPr>
          <a:xfrm>
            <a:off x="715100" y="3509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AND, OR, NOT, NAND, NOR, X–OR, X–NOR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Postulates</a:t>
            </a:r>
            <a:endParaRPr sz="3800"/>
          </a:p>
        </p:txBody>
      </p:sp>
      <p:sp>
        <p:nvSpPr>
          <p:cNvPr id="646" name="Google Shape;646;p2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7" name="Google Shape;647;p2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undamental principle or statement assumed to be true</a:t>
            </a:r>
            <a:endParaRPr/>
          </a:p>
        </p:txBody>
      </p:sp>
      <p:cxnSp>
        <p:nvCxnSpPr>
          <p:cNvPr id="648" name="Google Shape;648;p29"/>
          <p:cNvCxnSpPr>
            <a:stCxn id="64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 postulate (</a:t>
            </a:r>
            <a:r>
              <a:rPr lang="en" sz="1500">
                <a:solidFill>
                  <a:schemeClr val="dk1"/>
                </a:solidFill>
              </a:rPr>
              <a:t>also called an </a:t>
            </a:r>
            <a:r>
              <a:rPr b="1" lang="en" sz="1500">
                <a:solidFill>
                  <a:schemeClr val="dk1"/>
                </a:solidFill>
              </a:rPr>
              <a:t>axiom</a:t>
            </a:r>
            <a:r>
              <a:rPr lang="en" sz="1500">
                <a:solidFill>
                  <a:schemeClr val="dk1"/>
                </a:solidFill>
              </a:rPr>
              <a:t>)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is a </a:t>
            </a:r>
            <a:r>
              <a:rPr b="1" lang="en" sz="1500">
                <a:solidFill>
                  <a:schemeClr val="dk1"/>
                </a:solidFill>
              </a:rPr>
              <a:t>basic, foundational assumption </a:t>
            </a:r>
            <a:r>
              <a:rPr lang="en" sz="1500">
                <a:solidFill>
                  <a:schemeClr val="dk1"/>
                </a:solidFill>
              </a:rPr>
              <a:t>that is </a:t>
            </a:r>
            <a:r>
              <a:rPr b="1" lang="en" sz="1500">
                <a:solidFill>
                  <a:schemeClr val="dk1"/>
                </a:solidFill>
              </a:rPr>
              <a:t>accepted </a:t>
            </a:r>
            <a:r>
              <a:rPr lang="en" sz="1500">
                <a:solidFill>
                  <a:schemeClr val="dk1"/>
                </a:solidFill>
              </a:rPr>
              <a:t>as </a:t>
            </a:r>
            <a:r>
              <a:rPr b="1" lang="en" sz="1500">
                <a:solidFill>
                  <a:schemeClr val="dk1"/>
                </a:solidFill>
              </a:rPr>
              <a:t>true without proof </a:t>
            </a:r>
            <a:r>
              <a:rPr lang="en" sz="1500">
                <a:solidFill>
                  <a:schemeClr val="dk1"/>
                </a:solidFill>
              </a:rPr>
              <a:t>and serves as a </a:t>
            </a:r>
            <a:r>
              <a:rPr b="1" lang="en" sz="1500">
                <a:solidFill>
                  <a:schemeClr val="dk1"/>
                </a:solidFill>
              </a:rPr>
              <a:t>starting point </a:t>
            </a: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further reasoning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theory-building.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5" name="Google Shape;655;p3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656" name="Google Shape;656;p30"/>
          <p:cNvCxnSpPr>
            <a:stCxn id="65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0"/>
          <p:cNvCxnSpPr>
            <a:endCxn id="65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1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1. Closure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65" name="Google Shape;665;p3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666" name="Google Shape;666;p31"/>
          <p:cNvCxnSpPr>
            <a:stCxn id="66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1"/>
          <p:cNvCxnSpPr>
            <a:endCxn id="66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31"/>
          <p:cNvSpPr txBox="1"/>
          <p:nvPr>
            <p:ph idx="1" type="body"/>
          </p:nvPr>
        </p:nvSpPr>
        <p:spPr>
          <a:xfrm>
            <a:off x="715100" y="1832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set is said to satisfy closure property if it is closed under an operation or collection of operations.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71" name="Google Shape;671;p31"/>
          <p:cNvSpPr txBox="1"/>
          <p:nvPr>
            <p:ph idx="1" type="body"/>
          </p:nvPr>
        </p:nvSpPr>
        <p:spPr>
          <a:xfrm>
            <a:off x="715100" y="2442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other words, A set is closed with respect to binary operation if performance of that operation on the members of the set always produce a result from the same set.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2"/>
          <p:cNvSpPr txBox="1"/>
          <p:nvPr>
            <p:ph idx="1" type="body"/>
          </p:nvPr>
        </p:nvSpPr>
        <p:spPr>
          <a:xfrm>
            <a:off x="715100" y="1604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. Associative Law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77" name="Google Shape;677;p3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678" name="Google Shape;678;p32"/>
          <p:cNvCxnSpPr>
            <a:stCxn id="67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32"/>
          <p:cNvCxnSpPr>
            <a:endCxn id="67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2" name="Google Shape;682;p32"/>
          <p:cNvSpPr txBox="1"/>
          <p:nvPr>
            <p:ph idx="1" type="body"/>
          </p:nvPr>
        </p:nvSpPr>
        <p:spPr>
          <a:xfrm>
            <a:off x="715100" y="1985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(x # y) # z = x # (y # z)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3" name="Google Shape;683;p32"/>
          <p:cNvSpPr txBox="1"/>
          <p:nvPr>
            <p:ph idx="1" type="body"/>
          </p:nvPr>
        </p:nvSpPr>
        <p:spPr>
          <a:xfrm>
            <a:off x="6887300" y="1985250"/>
            <a:ext cx="1805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r>
              <a:rPr lang="en" sz="1800">
                <a:solidFill>
                  <a:schemeClr val="dk1"/>
                </a:solidFill>
              </a:rPr>
              <a:t>or all, x,y,z ∈ 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4" name="Google Shape;684;p32"/>
          <p:cNvSpPr txBox="1"/>
          <p:nvPr>
            <p:ph idx="1" type="body"/>
          </p:nvPr>
        </p:nvSpPr>
        <p:spPr>
          <a:xfrm>
            <a:off x="715100" y="2594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r>
              <a:rPr b="1" lang="en" sz="1500">
                <a:solidFill>
                  <a:schemeClr val="dk1"/>
                </a:solidFill>
              </a:rPr>
              <a:t>. Commutative Law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5" name="Google Shape;685;p32"/>
          <p:cNvSpPr txBox="1"/>
          <p:nvPr>
            <p:ph idx="1" type="body"/>
          </p:nvPr>
        </p:nvSpPr>
        <p:spPr>
          <a:xfrm>
            <a:off x="715100" y="2975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# y = y # x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6" name="Google Shape;686;p32"/>
          <p:cNvSpPr txBox="1"/>
          <p:nvPr>
            <p:ph idx="1" type="body"/>
          </p:nvPr>
        </p:nvSpPr>
        <p:spPr>
          <a:xfrm>
            <a:off x="6887300" y="2975850"/>
            <a:ext cx="1805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all, x,y ∈ 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7" name="Google Shape;687;p32"/>
          <p:cNvSpPr txBox="1"/>
          <p:nvPr>
            <p:ph idx="1" type="body"/>
          </p:nvPr>
        </p:nvSpPr>
        <p:spPr>
          <a:xfrm>
            <a:off x="715100" y="3509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</a:t>
            </a:r>
            <a:r>
              <a:rPr b="1" lang="en" sz="1500">
                <a:solidFill>
                  <a:schemeClr val="dk1"/>
                </a:solidFill>
              </a:rPr>
              <a:t>. Distributive Law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8" name="Google Shape;688;p32"/>
          <p:cNvSpPr txBox="1"/>
          <p:nvPr>
            <p:ph idx="1" type="body"/>
          </p:nvPr>
        </p:nvSpPr>
        <p:spPr>
          <a:xfrm>
            <a:off x="715100" y="3890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# (y $ z) = (x # y) $ (x # z)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9" name="Google Shape;689;p32"/>
          <p:cNvSpPr txBox="1"/>
          <p:nvPr>
            <p:ph idx="1" type="body"/>
          </p:nvPr>
        </p:nvSpPr>
        <p:spPr>
          <a:xfrm>
            <a:off x="6887300" y="3890250"/>
            <a:ext cx="1805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all, x,y,z ∈ 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3"/>
          <p:cNvSpPr txBox="1"/>
          <p:nvPr>
            <p:ph idx="1" type="body"/>
          </p:nvPr>
        </p:nvSpPr>
        <p:spPr>
          <a:xfrm>
            <a:off x="715100" y="1604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</a:t>
            </a:r>
            <a:r>
              <a:rPr b="1" lang="en" sz="1500">
                <a:solidFill>
                  <a:schemeClr val="dk1"/>
                </a:solidFill>
              </a:rPr>
              <a:t>. Identity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95" name="Google Shape;695;p33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696" name="Google Shape;696;p33"/>
          <p:cNvCxnSpPr>
            <a:stCxn id="69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3"/>
          <p:cNvCxnSpPr>
            <a:endCxn id="69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0" name="Google Shape;700;p33"/>
          <p:cNvSpPr txBox="1"/>
          <p:nvPr>
            <p:ph idx="1" type="body"/>
          </p:nvPr>
        </p:nvSpPr>
        <p:spPr>
          <a:xfrm>
            <a:off x="715100" y="1985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# e = e # x = x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1" name="Google Shape;701;p33"/>
          <p:cNvSpPr txBox="1"/>
          <p:nvPr>
            <p:ph idx="1" type="body"/>
          </p:nvPr>
        </p:nvSpPr>
        <p:spPr>
          <a:xfrm>
            <a:off x="6887300" y="1985250"/>
            <a:ext cx="1805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all, x,e ∈ 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2" name="Google Shape;702;p33"/>
          <p:cNvSpPr txBox="1"/>
          <p:nvPr>
            <p:ph idx="1" type="body"/>
          </p:nvPr>
        </p:nvSpPr>
        <p:spPr>
          <a:xfrm>
            <a:off x="715100" y="3052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r>
              <a:rPr b="1" lang="en" sz="1500">
                <a:solidFill>
                  <a:schemeClr val="dk1"/>
                </a:solidFill>
              </a:rPr>
              <a:t>. Inverse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3" name="Google Shape;703;p33"/>
          <p:cNvSpPr txBox="1"/>
          <p:nvPr>
            <p:ph idx="1" type="body"/>
          </p:nvPr>
        </p:nvSpPr>
        <p:spPr>
          <a:xfrm>
            <a:off x="715100" y="3433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# y = 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4" name="Google Shape;704;p33"/>
          <p:cNvSpPr txBox="1"/>
          <p:nvPr>
            <p:ph idx="1" type="body"/>
          </p:nvPr>
        </p:nvSpPr>
        <p:spPr>
          <a:xfrm>
            <a:off x="6887300" y="3433050"/>
            <a:ext cx="1805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all, x,y,e ∈ 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4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 1854, George Boole </a:t>
            </a:r>
            <a:r>
              <a:rPr lang="en" sz="1500">
                <a:solidFill>
                  <a:schemeClr val="dk1"/>
                </a:solidFill>
              </a:rPr>
              <a:t>introduced </a:t>
            </a:r>
            <a:r>
              <a:rPr b="1" lang="en" sz="1500">
                <a:solidFill>
                  <a:schemeClr val="dk1"/>
                </a:solidFill>
              </a:rPr>
              <a:t>systematic treatment of logic </a:t>
            </a:r>
            <a:r>
              <a:rPr lang="en" sz="1500">
                <a:solidFill>
                  <a:schemeClr val="dk1"/>
                </a:solidFill>
              </a:rPr>
              <a:t>and developed </a:t>
            </a:r>
            <a:r>
              <a:rPr b="1" lang="en" sz="1500">
                <a:solidFill>
                  <a:schemeClr val="dk1"/>
                </a:solidFill>
              </a:rPr>
              <a:t>Boolean algebra.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0" name="Google Shape;710;p34"/>
          <p:cNvSpPr txBox="1"/>
          <p:nvPr>
            <p:ph type="title"/>
          </p:nvPr>
        </p:nvSpPr>
        <p:spPr>
          <a:xfrm>
            <a:off x="715100" y="6661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cxnSp>
        <p:nvCxnSpPr>
          <p:cNvPr id="711" name="Google Shape;711;p34"/>
          <p:cNvCxnSpPr>
            <a:stCxn id="71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4"/>
          <p:cNvCxnSpPr>
            <a:endCxn id="71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5" name="Google Shape;715;p34"/>
          <p:cNvSpPr txBox="1"/>
          <p:nvPr>
            <p:ph idx="1" type="body"/>
          </p:nvPr>
        </p:nvSpPr>
        <p:spPr>
          <a:xfrm>
            <a:off x="715100" y="1909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 1938, C. E. Shannon </a:t>
            </a:r>
            <a:r>
              <a:rPr lang="en" sz="1500">
                <a:solidFill>
                  <a:schemeClr val="dk1"/>
                </a:solidFill>
              </a:rPr>
              <a:t>materialized </a:t>
            </a:r>
            <a:r>
              <a:rPr b="1" lang="en" sz="1500">
                <a:solidFill>
                  <a:schemeClr val="dk1"/>
                </a:solidFill>
              </a:rPr>
              <a:t>a two-level Boolean algebra. </a:t>
            </a:r>
            <a:r>
              <a:rPr lang="en" sz="1500">
                <a:solidFill>
                  <a:schemeClr val="dk1"/>
                </a:solidFill>
              </a:rPr>
              <a:t>Also called </a:t>
            </a:r>
            <a:r>
              <a:rPr b="1" lang="en" sz="1500">
                <a:solidFill>
                  <a:schemeClr val="dk1"/>
                </a:solidFill>
              </a:rPr>
              <a:t>switching circuit/algebra.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6" name="Google Shape;716;p34"/>
          <p:cNvSpPr txBox="1"/>
          <p:nvPr>
            <p:ph idx="1" type="body"/>
          </p:nvPr>
        </p:nvSpPr>
        <p:spPr>
          <a:xfrm>
            <a:off x="715100" y="2671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formal definition of Boolean algebra</a:t>
            </a:r>
            <a:r>
              <a:rPr b="1" lang="en" sz="1500">
                <a:solidFill>
                  <a:schemeClr val="dk1"/>
                </a:solidFill>
              </a:rPr>
              <a:t>, </a:t>
            </a:r>
            <a:r>
              <a:rPr lang="en" sz="1500">
                <a:solidFill>
                  <a:schemeClr val="dk1"/>
                </a:solidFill>
              </a:rPr>
              <a:t>we follow the </a:t>
            </a:r>
            <a:r>
              <a:rPr b="1" lang="en" sz="1500">
                <a:solidFill>
                  <a:schemeClr val="dk1"/>
                </a:solidFill>
              </a:rPr>
              <a:t>postulates </a:t>
            </a:r>
            <a:r>
              <a:rPr lang="en" sz="1500">
                <a:solidFill>
                  <a:schemeClr val="dk1"/>
                </a:solidFill>
              </a:rPr>
              <a:t>formulated by </a:t>
            </a:r>
            <a:r>
              <a:rPr b="1" lang="en" sz="1500">
                <a:solidFill>
                  <a:schemeClr val="dk1"/>
                </a:solidFill>
              </a:rPr>
              <a:t>E. V. Huntington (1904).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7" name="Google Shape;717;p34"/>
          <p:cNvSpPr txBox="1"/>
          <p:nvPr>
            <p:ph idx="1" type="body"/>
          </p:nvPr>
        </p:nvSpPr>
        <p:spPr>
          <a:xfrm>
            <a:off x="715100" y="3356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Boolean algebra is a field (implementation of algebraic structure) with a set of elements B, together with two binary operators (+) and (.) and follows the </a:t>
            </a:r>
            <a:r>
              <a:rPr b="1" lang="en" sz="1500">
                <a:solidFill>
                  <a:schemeClr val="dk1"/>
                </a:solidFill>
              </a:rPr>
              <a:t>Huntington postulates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5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1.    a.   Closure </a:t>
            </a:r>
            <a:r>
              <a:rPr lang="en" sz="1500">
                <a:solidFill>
                  <a:schemeClr val="dk1"/>
                </a:solidFill>
              </a:rPr>
              <a:t>with respect to </a:t>
            </a:r>
            <a:r>
              <a:rPr b="1" lang="en" sz="1500">
                <a:solidFill>
                  <a:srgbClr val="4A86E8"/>
                </a:solidFill>
              </a:rPr>
              <a:t>binary operator +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23" name="Google Shape;723;p35"/>
          <p:cNvSpPr txBox="1"/>
          <p:nvPr>
            <p:ph type="title"/>
          </p:nvPr>
        </p:nvSpPr>
        <p:spPr>
          <a:xfrm>
            <a:off x="715100" y="666150"/>
            <a:ext cx="4403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Huntington Postulates</a:t>
            </a:r>
            <a:endParaRPr/>
          </a:p>
        </p:txBody>
      </p:sp>
      <p:cxnSp>
        <p:nvCxnSpPr>
          <p:cNvPr id="724" name="Google Shape;724;p35"/>
          <p:cNvCxnSpPr>
            <a:stCxn id="72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5"/>
          <p:cNvCxnSpPr>
            <a:endCxn id="72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35"/>
          <p:cNvSpPr txBox="1"/>
          <p:nvPr>
            <p:ph idx="1" type="body"/>
          </p:nvPr>
        </p:nvSpPr>
        <p:spPr>
          <a:xfrm>
            <a:off x="1070825" y="152227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</a:t>
            </a:r>
            <a:r>
              <a:rPr b="1" lang="en" sz="1500">
                <a:solidFill>
                  <a:schemeClr val="dk1"/>
                </a:solidFill>
              </a:rPr>
              <a:t>.   </a:t>
            </a:r>
            <a:r>
              <a:rPr b="1" lang="en" sz="1500">
                <a:solidFill>
                  <a:schemeClr val="dk1"/>
                </a:solidFill>
              </a:rPr>
              <a:t>Closure </a:t>
            </a:r>
            <a:r>
              <a:rPr lang="en" sz="1500">
                <a:solidFill>
                  <a:schemeClr val="dk1"/>
                </a:solidFill>
              </a:rPr>
              <a:t>with respect to </a:t>
            </a:r>
            <a:r>
              <a:rPr b="1" lang="en" sz="1500">
                <a:solidFill>
                  <a:srgbClr val="4A86E8"/>
                </a:solidFill>
              </a:rPr>
              <a:t>binary operator 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29" name="Google Shape;729;p35"/>
          <p:cNvSpPr txBox="1"/>
          <p:nvPr>
            <p:ph idx="1" type="body"/>
          </p:nvPr>
        </p:nvSpPr>
        <p:spPr>
          <a:xfrm>
            <a:off x="715100" y="1909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.    a.   </a:t>
            </a: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identity element </a:t>
            </a:r>
            <a:r>
              <a:rPr lang="en" sz="1500">
                <a:solidFill>
                  <a:schemeClr val="dk1"/>
                </a:solidFill>
              </a:rPr>
              <a:t>with respect to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rgbClr val="FF0000"/>
                </a:solidFill>
              </a:rPr>
              <a:t>+</a:t>
            </a:r>
            <a:r>
              <a:rPr lang="en" sz="1500">
                <a:solidFill>
                  <a:schemeClr val="dk1"/>
                </a:solidFill>
              </a:rPr>
              <a:t>, is designated by</a:t>
            </a:r>
            <a:r>
              <a:rPr b="1" lang="en" sz="1500">
                <a:solidFill>
                  <a:schemeClr val="dk1"/>
                </a:solidFill>
              </a:rPr>
              <a:t> 0</a:t>
            </a:r>
            <a:r>
              <a:rPr lang="en" sz="1500">
                <a:solidFill>
                  <a:schemeClr val="dk1"/>
                </a:solidFill>
              </a:rPr>
              <a:t> 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0" name="Google Shape;730;p35"/>
          <p:cNvSpPr txBox="1"/>
          <p:nvPr>
            <p:ph idx="1" type="body"/>
          </p:nvPr>
        </p:nvSpPr>
        <p:spPr>
          <a:xfrm>
            <a:off x="1070825" y="251287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</a:t>
            </a:r>
            <a:r>
              <a:rPr b="1" lang="en" sz="1500">
                <a:solidFill>
                  <a:schemeClr val="dk1"/>
                </a:solidFill>
              </a:rPr>
              <a:t>.   </a:t>
            </a: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identity element </a:t>
            </a:r>
            <a:r>
              <a:rPr lang="en" sz="1500">
                <a:solidFill>
                  <a:schemeClr val="dk1"/>
                </a:solidFill>
              </a:rPr>
              <a:t>with respect to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rgbClr val="FF0000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, is designated by</a:t>
            </a:r>
            <a:r>
              <a:rPr b="1" lang="en" sz="1500">
                <a:solidFill>
                  <a:schemeClr val="dk1"/>
                </a:solidFill>
              </a:rPr>
              <a:t> 1</a:t>
            </a:r>
            <a:r>
              <a:rPr lang="en" sz="1500">
                <a:solidFill>
                  <a:schemeClr val="dk1"/>
                </a:solidFill>
              </a:rPr>
              <a:t> :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1" name="Google Shape;731;p35"/>
          <p:cNvSpPr txBox="1"/>
          <p:nvPr>
            <p:ph idx="1" type="body"/>
          </p:nvPr>
        </p:nvSpPr>
        <p:spPr>
          <a:xfrm>
            <a:off x="715100" y="3204450"/>
            <a:ext cx="3878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r>
              <a:rPr b="1" lang="en" sz="1500">
                <a:solidFill>
                  <a:schemeClr val="dk1"/>
                </a:solidFill>
              </a:rPr>
              <a:t>.    a.   Commutative </a:t>
            </a:r>
            <a:r>
              <a:rPr lang="en" sz="1500">
                <a:solidFill>
                  <a:schemeClr val="dk1"/>
                </a:solidFill>
              </a:rPr>
              <a:t>with respect to </a:t>
            </a:r>
            <a:r>
              <a:rPr b="1" lang="en" sz="1500">
                <a:solidFill>
                  <a:srgbClr val="4A86E8"/>
                </a:solidFill>
              </a:rPr>
              <a:t>+ 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b="1" lang="en" sz="1500">
                <a:solidFill>
                  <a:srgbClr val="4A86E8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2" name="Google Shape;732;p35"/>
          <p:cNvSpPr txBox="1"/>
          <p:nvPr>
            <p:ph idx="1" type="body"/>
          </p:nvPr>
        </p:nvSpPr>
        <p:spPr>
          <a:xfrm>
            <a:off x="1070825" y="3503475"/>
            <a:ext cx="3522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</a:t>
            </a:r>
            <a:r>
              <a:rPr b="1" lang="en" sz="1500">
                <a:solidFill>
                  <a:schemeClr val="dk1"/>
                </a:solidFill>
              </a:rPr>
              <a:t>.   Commutative </a:t>
            </a:r>
            <a:r>
              <a:rPr lang="en" sz="1500">
                <a:solidFill>
                  <a:schemeClr val="dk1"/>
                </a:solidFill>
              </a:rPr>
              <a:t>with respect to </a:t>
            </a:r>
            <a:r>
              <a:rPr b="1" lang="en" sz="1500">
                <a:solidFill>
                  <a:srgbClr val="4A86E8"/>
                </a:solidFill>
              </a:rPr>
              <a:t>. 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b="1" lang="en" sz="1500">
                <a:solidFill>
                  <a:srgbClr val="4A86E8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3" name="Google Shape;733;p35"/>
          <p:cNvSpPr txBox="1"/>
          <p:nvPr>
            <p:ph idx="1" type="body"/>
          </p:nvPr>
        </p:nvSpPr>
        <p:spPr>
          <a:xfrm>
            <a:off x="715100" y="3966450"/>
            <a:ext cx="3878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</a:t>
            </a:r>
            <a:r>
              <a:rPr b="1" lang="en" sz="1500">
                <a:solidFill>
                  <a:schemeClr val="dk1"/>
                </a:solidFill>
              </a:rPr>
              <a:t>.    a.   </a:t>
            </a:r>
            <a:r>
              <a:rPr b="1" lang="en" sz="1500">
                <a:solidFill>
                  <a:srgbClr val="4A86E8"/>
                </a:solidFill>
              </a:rPr>
              <a:t>.  </a:t>
            </a:r>
            <a:r>
              <a:rPr lang="en" sz="1500">
                <a:solidFill>
                  <a:schemeClr val="dk1"/>
                </a:solidFill>
              </a:rPr>
              <a:t>is </a:t>
            </a:r>
            <a:r>
              <a:rPr b="1" lang="en" sz="1500">
                <a:solidFill>
                  <a:schemeClr val="dk1"/>
                </a:solidFill>
              </a:rPr>
              <a:t>Distributed over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rgbClr val="4A86E8"/>
                </a:solidFill>
              </a:rPr>
              <a:t>+ 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b="1" lang="en" sz="1500">
                <a:solidFill>
                  <a:srgbClr val="4A86E8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4" name="Google Shape;734;p35"/>
          <p:cNvSpPr txBox="1"/>
          <p:nvPr>
            <p:ph idx="1" type="body"/>
          </p:nvPr>
        </p:nvSpPr>
        <p:spPr>
          <a:xfrm>
            <a:off x="1070825" y="4265475"/>
            <a:ext cx="3522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b.   </a:t>
            </a:r>
            <a:r>
              <a:rPr b="1" lang="en" sz="1500">
                <a:solidFill>
                  <a:srgbClr val="4A86E8"/>
                </a:solidFill>
              </a:rPr>
              <a:t>+</a:t>
            </a:r>
            <a:r>
              <a:rPr b="1" lang="en" sz="1500">
                <a:solidFill>
                  <a:srgbClr val="4A86E8"/>
                </a:solidFill>
              </a:rPr>
              <a:t>  </a:t>
            </a:r>
            <a:r>
              <a:rPr lang="en" sz="1500">
                <a:solidFill>
                  <a:schemeClr val="dk1"/>
                </a:solidFill>
              </a:rPr>
              <a:t>is </a:t>
            </a:r>
            <a:r>
              <a:rPr b="1" lang="en" sz="1500">
                <a:solidFill>
                  <a:schemeClr val="dk1"/>
                </a:solidFill>
              </a:rPr>
              <a:t>Distributed over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rgbClr val="4A86E8"/>
                </a:solidFill>
              </a:rPr>
              <a:t>.</a:t>
            </a:r>
            <a:r>
              <a:rPr b="1" lang="en" sz="1500">
                <a:solidFill>
                  <a:srgbClr val="4A86E8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b="1" lang="en" sz="1500">
                <a:solidFill>
                  <a:srgbClr val="4A86E8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735" name="Google Shape;7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000" y="2321063"/>
            <a:ext cx="1638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625" y="2961675"/>
            <a:ext cx="1428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825" y="3314550"/>
            <a:ext cx="1238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2600" y="3591225"/>
            <a:ext cx="1028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7625" y="4052738"/>
            <a:ext cx="2476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2375" y="4351763"/>
            <a:ext cx="257175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6"/>
          <p:cNvSpPr txBox="1"/>
          <p:nvPr>
            <p:ph idx="1" type="body"/>
          </p:nvPr>
        </p:nvSpPr>
        <p:spPr>
          <a:xfrm>
            <a:off x="715100" y="1223250"/>
            <a:ext cx="7640100" cy="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</a:t>
            </a:r>
            <a:r>
              <a:rPr b="1" lang="en" sz="1500">
                <a:solidFill>
                  <a:schemeClr val="dk1"/>
                </a:solidFill>
              </a:rPr>
              <a:t>.    </a:t>
            </a:r>
            <a:r>
              <a:rPr lang="en" sz="1500">
                <a:solidFill>
                  <a:schemeClr val="dk1"/>
                </a:solidFill>
              </a:rPr>
              <a:t>For every element x ∈ B there exists an inverse element </a:t>
            </a:r>
            <a:r>
              <a:rPr lang="en" sz="1500">
                <a:solidFill>
                  <a:schemeClr val="dk1"/>
                </a:solidFill>
              </a:rPr>
              <a:t>x’ ∈ B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b="1" lang="en" sz="1500">
                <a:solidFill>
                  <a:schemeClr val="dk1"/>
                </a:solidFill>
              </a:rPr>
              <a:t>complement of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46" name="Google Shape;746;p36"/>
          <p:cNvSpPr txBox="1"/>
          <p:nvPr>
            <p:ph type="title"/>
          </p:nvPr>
        </p:nvSpPr>
        <p:spPr>
          <a:xfrm>
            <a:off x="715100" y="666150"/>
            <a:ext cx="4403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Huntington Postulates</a:t>
            </a:r>
            <a:endParaRPr/>
          </a:p>
        </p:txBody>
      </p:sp>
      <p:cxnSp>
        <p:nvCxnSpPr>
          <p:cNvPr id="747" name="Google Shape;747;p36"/>
          <p:cNvCxnSpPr>
            <a:stCxn id="7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36"/>
          <p:cNvCxnSpPr>
            <a:endCxn id="7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36"/>
          <p:cNvSpPr txBox="1"/>
          <p:nvPr>
            <p:ph idx="1" type="body"/>
          </p:nvPr>
        </p:nvSpPr>
        <p:spPr>
          <a:xfrm>
            <a:off x="1065375" y="151022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</a:t>
            </a:r>
            <a:r>
              <a:rPr lang="en" sz="1500">
                <a:solidFill>
                  <a:schemeClr val="dk1"/>
                </a:solidFill>
              </a:rPr>
              <a:t>) such that :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52" name="Google Shape;752;p36"/>
          <p:cNvSpPr txBox="1"/>
          <p:nvPr>
            <p:ph idx="1" type="body"/>
          </p:nvPr>
        </p:nvSpPr>
        <p:spPr>
          <a:xfrm>
            <a:off x="715100" y="2442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r>
              <a:rPr b="1" lang="en" sz="1500">
                <a:solidFill>
                  <a:schemeClr val="dk1"/>
                </a:solidFill>
              </a:rPr>
              <a:t>.    </a:t>
            </a:r>
            <a:r>
              <a:rPr lang="en" sz="1500">
                <a:solidFill>
                  <a:schemeClr val="dk1"/>
                </a:solidFill>
              </a:rPr>
              <a:t>There exists at least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two elements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x,y ∈ B</a:t>
            </a:r>
            <a:r>
              <a:rPr lang="en" sz="1500">
                <a:solidFill>
                  <a:schemeClr val="dk1"/>
                </a:solidFill>
              </a:rPr>
              <a:t> such that: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3" name="Google Shape;7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0" y="1789850"/>
            <a:ext cx="952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2900" y="2116150"/>
            <a:ext cx="8382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5700" y="2533500"/>
            <a:ext cx="5238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7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Algebra vs Ordinary Algebra</a:t>
            </a:r>
            <a:endParaRPr/>
          </a:p>
        </p:txBody>
      </p:sp>
      <p:cxnSp>
        <p:nvCxnSpPr>
          <p:cNvPr id="761" name="Google Shape;761;p37"/>
          <p:cNvCxnSpPr>
            <a:stCxn id="76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37"/>
          <p:cNvCxnSpPr>
            <a:endCxn id="76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37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Huntington postulates do not mention associative law, but it holds here.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66" name="Google Shape;766;p37"/>
          <p:cNvSpPr txBox="1"/>
          <p:nvPr>
            <p:ph idx="1" type="body"/>
          </p:nvPr>
        </p:nvSpPr>
        <p:spPr>
          <a:xfrm>
            <a:off x="715100" y="1604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Distributive law of (+) over (-) </a:t>
            </a:r>
            <a:r>
              <a:rPr lang="en" sz="1500">
                <a:solidFill>
                  <a:schemeClr val="dk1"/>
                </a:solidFill>
              </a:rPr>
              <a:t>is </a:t>
            </a:r>
            <a:r>
              <a:rPr b="1" lang="en" sz="1500">
                <a:solidFill>
                  <a:schemeClr val="dk1"/>
                </a:solidFill>
              </a:rPr>
              <a:t>only valid </a:t>
            </a: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boolean algebra but not ordinary algebra.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767" name="Google Shape;76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225" y="2295513"/>
            <a:ext cx="2571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7"/>
          <p:cNvSpPr txBox="1"/>
          <p:nvPr>
            <p:ph idx="1" type="body"/>
          </p:nvPr>
        </p:nvSpPr>
        <p:spPr>
          <a:xfrm>
            <a:off x="715100" y="2747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No existence of additive or multiplicative inverse in boolean algebra.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69" name="Google Shape;769;p37"/>
          <p:cNvSpPr txBox="1"/>
          <p:nvPr>
            <p:ph idx="1" type="body"/>
          </p:nvPr>
        </p:nvSpPr>
        <p:spPr>
          <a:xfrm>
            <a:off x="715100" y="3128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No existence of division or multiplication in boolean algebra either.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70" name="Google Shape;770;p37"/>
          <p:cNvSpPr txBox="1"/>
          <p:nvPr>
            <p:ph idx="1" type="body"/>
          </p:nvPr>
        </p:nvSpPr>
        <p:spPr>
          <a:xfrm>
            <a:off x="715100" y="3814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boolean</a:t>
            </a:r>
            <a:r>
              <a:rPr b="1" lang="en" sz="1500">
                <a:solidFill>
                  <a:schemeClr val="dk1"/>
                </a:solidFill>
              </a:rPr>
              <a:t> algebra, </a:t>
            </a:r>
            <a:r>
              <a:rPr lang="en" sz="1500">
                <a:solidFill>
                  <a:schemeClr val="dk1"/>
                </a:solidFill>
              </a:rPr>
              <a:t>x ∈ B where B = [0,1]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71" name="Google Shape;771;p37"/>
          <p:cNvSpPr txBox="1"/>
          <p:nvPr>
            <p:ph idx="1" type="body"/>
          </p:nvPr>
        </p:nvSpPr>
        <p:spPr>
          <a:xfrm>
            <a:off x="715100" y="413634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For ordinary algebra, </a:t>
            </a:r>
            <a:r>
              <a:rPr lang="en" sz="1500">
                <a:solidFill>
                  <a:schemeClr val="dk1"/>
                </a:solidFill>
              </a:rPr>
              <a:t>x ∈ </a:t>
            </a:r>
            <a:r>
              <a:rPr b="1" lang="en" sz="1500">
                <a:solidFill>
                  <a:schemeClr val="dk1"/>
                </a:solidFill>
              </a:rPr>
              <a:t>R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72" name="Google Shape;772;p37"/>
          <p:cNvSpPr txBox="1"/>
          <p:nvPr>
            <p:ph idx="1" type="body"/>
          </p:nvPr>
        </p:nvSpPr>
        <p:spPr>
          <a:xfrm>
            <a:off x="715100" y="3485923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Complement is only available in Boolean algebra.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8"/>
          <p:cNvSpPr txBox="1"/>
          <p:nvPr>
            <p:ph type="title"/>
          </p:nvPr>
        </p:nvSpPr>
        <p:spPr>
          <a:xfrm>
            <a:off x="715100" y="513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778" name="Google Shape;778;p38"/>
          <p:cNvCxnSpPr>
            <a:stCxn id="77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38"/>
          <p:cNvCxnSpPr>
            <a:endCxn id="77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82" name="Google Shape;782;p38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{34BDBD84-EC09-4B67-81B3-139EC7EE335B}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Laws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Identity Laws</a:t>
                      </a:r>
                      <a:endParaRPr b="1"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Idempotent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Complement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Commutative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Associative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Distributive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83" name="Google Shape;7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175" y="1511375"/>
            <a:ext cx="1009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988" y="1904025"/>
            <a:ext cx="962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575" y="1511375"/>
            <a:ext cx="9048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575" y="1904025"/>
            <a:ext cx="8572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8600" y="2296675"/>
            <a:ext cx="1066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67763" y="2296675"/>
            <a:ext cx="9048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7188" y="2689325"/>
            <a:ext cx="1009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15375" y="2689325"/>
            <a:ext cx="1009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24288" y="3081975"/>
            <a:ext cx="14954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82025" y="3081975"/>
            <a:ext cx="12763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32494" y="3491120"/>
            <a:ext cx="22709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3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66563" y="3491125"/>
            <a:ext cx="190730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3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93888" y="3900275"/>
            <a:ext cx="2156275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3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08525" y="3900275"/>
            <a:ext cx="2270975" cy="247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9"/>
          <p:cNvSpPr txBox="1"/>
          <p:nvPr>
            <p:ph type="title"/>
          </p:nvPr>
        </p:nvSpPr>
        <p:spPr>
          <a:xfrm>
            <a:off x="715100" y="513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Postulates</a:t>
            </a:r>
            <a:endParaRPr/>
          </a:p>
        </p:txBody>
      </p:sp>
      <p:cxnSp>
        <p:nvCxnSpPr>
          <p:cNvPr id="802" name="Google Shape;802;p39"/>
          <p:cNvCxnSpPr>
            <a:stCxn id="80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39"/>
          <p:cNvCxnSpPr>
            <a:endCxn id="80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06" name="Google Shape;806;p39"/>
          <p:cNvGraphicFramePr/>
          <p:nvPr/>
        </p:nvGraphicFramePr>
        <p:xfrm>
          <a:off x="952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{34BDBD84-EC09-4B67-81B3-139EC7EE335B}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Laws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Double Negation</a:t>
                      </a:r>
                      <a:endParaRPr b="1"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Absorption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 Morgan’s Law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07" name="Google Shape;8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900" y="2053550"/>
            <a:ext cx="647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8388" y="2497900"/>
            <a:ext cx="12287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050" y="2497900"/>
            <a:ext cx="15525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8400" y="2908775"/>
            <a:ext cx="1390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2013" y="2908775"/>
            <a:ext cx="13906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0"/>
          <p:cNvSpPr txBox="1"/>
          <p:nvPr>
            <p:ph type="title"/>
          </p:nvPr>
        </p:nvSpPr>
        <p:spPr>
          <a:xfrm>
            <a:off x="715100" y="6661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Duality</a:t>
            </a:r>
            <a:endParaRPr/>
          </a:p>
        </p:txBody>
      </p:sp>
      <p:cxnSp>
        <p:nvCxnSpPr>
          <p:cNvPr id="817" name="Google Shape;817;p40"/>
          <p:cNvCxnSpPr>
            <a:stCxn id="81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0"/>
          <p:cNvCxnSpPr>
            <a:endCxn id="81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40"/>
          <p:cNvSpPr txBox="1"/>
          <p:nvPr>
            <p:ph idx="1" type="body"/>
          </p:nvPr>
        </p:nvSpPr>
        <p:spPr>
          <a:xfrm>
            <a:off x="79675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Every algebraic expression deducible from the postulates of the Boolean algebra remains </a:t>
            </a:r>
            <a:r>
              <a:rPr b="1" lang="en" sz="1500">
                <a:solidFill>
                  <a:schemeClr val="dk1"/>
                </a:solidFill>
              </a:rPr>
              <a:t>valid</a:t>
            </a:r>
            <a:r>
              <a:rPr lang="en" sz="1500">
                <a:solidFill>
                  <a:schemeClr val="dk1"/>
                </a:solidFill>
              </a:rPr>
              <a:t> if the operators and identity elements are interchanged.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2" name="Google Shape;8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813" y="2086875"/>
            <a:ext cx="20859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/>
          <p:cNvSpPr txBox="1"/>
          <p:nvPr>
            <p:ph type="title"/>
          </p:nvPr>
        </p:nvSpPr>
        <p:spPr>
          <a:xfrm>
            <a:off x="867500" y="6661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Self-Dual</a:t>
            </a:r>
            <a:endParaRPr/>
          </a:p>
        </p:txBody>
      </p:sp>
      <p:cxnSp>
        <p:nvCxnSpPr>
          <p:cNvPr id="828" name="Google Shape;828;p41"/>
          <p:cNvCxnSpPr>
            <a:stCxn id="82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41"/>
          <p:cNvCxnSpPr>
            <a:endCxn id="82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2" name="Google Shape;832;p41"/>
          <p:cNvSpPr txBox="1"/>
          <p:nvPr>
            <p:ph idx="1" type="body"/>
          </p:nvPr>
        </p:nvSpPr>
        <p:spPr>
          <a:xfrm>
            <a:off x="79675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the dual expression = the original expression.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33" name="Google Shape;833;p41"/>
          <p:cNvSpPr txBox="1"/>
          <p:nvPr>
            <p:ph idx="1" type="body"/>
          </p:nvPr>
        </p:nvSpPr>
        <p:spPr>
          <a:xfrm>
            <a:off x="916675" y="194132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Find the dual of the following expressions, and determine if its there is a self dual.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834" name="Google Shape;834;p41"/>
          <p:cNvSpPr txBox="1"/>
          <p:nvPr/>
        </p:nvSpPr>
        <p:spPr>
          <a:xfrm>
            <a:off x="916675" y="2658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 = (A + C) · B + 0</a:t>
            </a:r>
            <a:endParaRPr/>
          </a:p>
        </p:txBody>
      </p:sp>
      <p:sp>
        <p:nvSpPr>
          <p:cNvPr id="835" name="Google Shape;835;p41"/>
          <p:cNvSpPr txBox="1"/>
          <p:nvPr/>
        </p:nvSpPr>
        <p:spPr>
          <a:xfrm>
            <a:off x="1003050" y="3058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    </a:t>
            </a:r>
            <a:r>
              <a:rPr lang="en"/>
              <a:t>G = X · Y + (W + Z)</a:t>
            </a:r>
            <a:endParaRPr/>
          </a:p>
        </p:txBody>
      </p:sp>
      <p:sp>
        <p:nvSpPr>
          <p:cNvPr id="836" name="Google Shape;836;p41"/>
          <p:cNvSpPr txBox="1"/>
          <p:nvPr/>
        </p:nvSpPr>
        <p:spPr>
          <a:xfrm>
            <a:off x="990600" y="3429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   </a:t>
            </a:r>
            <a:r>
              <a:rPr lang="en"/>
              <a:t>H = A · B + A · C + B · C</a:t>
            </a:r>
            <a:endParaRPr/>
          </a:p>
        </p:txBody>
      </p:sp>
      <p:sp>
        <p:nvSpPr>
          <p:cNvPr id="837" name="Google Shape;837;p41"/>
          <p:cNvSpPr txBox="1"/>
          <p:nvPr/>
        </p:nvSpPr>
        <p:spPr>
          <a:xfrm>
            <a:off x="4729425" y="2659400"/>
            <a:ext cx="18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Ans :</a:t>
            </a:r>
            <a:r>
              <a:rPr lang="en"/>
              <a:t> </a:t>
            </a:r>
            <a:r>
              <a:rPr lang="en"/>
              <a:t>A · C  + B</a:t>
            </a:r>
            <a:endParaRPr/>
          </a:p>
        </p:txBody>
      </p:sp>
      <p:sp>
        <p:nvSpPr>
          <p:cNvPr id="838" name="Google Shape;838;p41"/>
          <p:cNvSpPr txBox="1"/>
          <p:nvPr/>
        </p:nvSpPr>
        <p:spPr>
          <a:xfrm>
            <a:off x="4729425" y="3058625"/>
            <a:ext cx="36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Ans :</a:t>
            </a:r>
            <a:r>
              <a:rPr lang="en"/>
              <a:t> </a:t>
            </a:r>
            <a:r>
              <a:rPr lang="en"/>
              <a:t>(X+Y) · (W · Z)</a:t>
            </a:r>
            <a:endParaRPr/>
          </a:p>
        </p:txBody>
      </p:sp>
      <p:sp>
        <p:nvSpPr>
          <p:cNvPr id="839" name="Google Shape;839;p41"/>
          <p:cNvSpPr txBox="1"/>
          <p:nvPr/>
        </p:nvSpPr>
        <p:spPr>
          <a:xfrm>
            <a:off x="4729425" y="3429000"/>
            <a:ext cx="374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Ans :</a:t>
            </a:r>
            <a:r>
              <a:rPr lang="en"/>
              <a:t> </a:t>
            </a:r>
            <a:r>
              <a:rPr lang="en"/>
              <a:t>(A + B)(A + C)(B + C)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2"/>
          <p:cNvSpPr txBox="1"/>
          <p:nvPr>
            <p:ph type="title"/>
          </p:nvPr>
        </p:nvSpPr>
        <p:spPr>
          <a:xfrm>
            <a:off x="715100" y="666150"/>
            <a:ext cx="4578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Basic Theorems</a:t>
            </a:r>
            <a:endParaRPr/>
          </a:p>
        </p:txBody>
      </p:sp>
      <p:cxnSp>
        <p:nvCxnSpPr>
          <p:cNvPr id="845" name="Google Shape;845;p42"/>
          <p:cNvCxnSpPr>
            <a:stCxn id="84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42"/>
          <p:cNvCxnSpPr>
            <a:endCxn id="84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9" name="Google Shape;8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11" y="1300687"/>
            <a:ext cx="5943600" cy="3099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3"/>
          <p:cNvSpPr txBox="1"/>
          <p:nvPr>
            <p:ph type="title"/>
          </p:nvPr>
        </p:nvSpPr>
        <p:spPr>
          <a:xfrm>
            <a:off x="715100" y="666150"/>
            <a:ext cx="4578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Basic Theorems</a:t>
            </a:r>
            <a:endParaRPr/>
          </a:p>
        </p:txBody>
      </p:sp>
      <p:cxnSp>
        <p:nvCxnSpPr>
          <p:cNvPr id="855" name="Google Shape;855;p43"/>
          <p:cNvCxnSpPr>
            <a:stCxn id="85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43"/>
          <p:cNvCxnSpPr>
            <a:endCxn id="85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9" name="Google Shape;8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223258"/>
            <a:ext cx="5943600" cy="28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4"/>
          <p:cNvSpPr txBox="1"/>
          <p:nvPr>
            <p:ph type="title"/>
          </p:nvPr>
        </p:nvSpPr>
        <p:spPr>
          <a:xfrm>
            <a:off x="715100" y="666150"/>
            <a:ext cx="4578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Basic Theorems</a:t>
            </a:r>
            <a:endParaRPr/>
          </a:p>
        </p:txBody>
      </p:sp>
      <p:cxnSp>
        <p:nvCxnSpPr>
          <p:cNvPr id="865" name="Google Shape;865;p44"/>
          <p:cNvCxnSpPr>
            <a:stCxn id="86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44"/>
          <p:cNvCxnSpPr>
            <a:endCxn id="86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8" name="Google Shape;86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9" name="Google Shape;86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161305"/>
            <a:ext cx="6400800" cy="336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5"/>
          <p:cNvSpPr txBox="1"/>
          <p:nvPr>
            <p:ph type="title"/>
          </p:nvPr>
        </p:nvSpPr>
        <p:spPr>
          <a:xfrm>
            <a:off x="715100" y="666150"/>
            <a:ext cx="4578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Basic Theorems</a:t>
            </a:r>
            <a:endParaRPr/>
          </a:p>
        </p:txBody>
      </p:sp>
      <p:cxnSp>
        <p:nvCxnSpPr>
          <p:cNvPr id="875" name="Google Shape;875;p45"/>
          <p:cNvCxnSpPr>
            <a:stCxn id="87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45"/>
          <p:cNvCxnSpPr>
            <a:endCxn id="87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9" name="Google Shape;87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369727"/>
            <a:ext cx="6400800" cy="311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6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De-Morgan’s Law</a:t>
            </a:r>
            <a:endParaRPr/>
          </a:p>
        </p:txBody>
      </p:sp>
      <p:cxnSp>
        <p:nvCxnSpPr>
          <p:cNvPr id="885" name="Google Shape;885;p46"/>
          <p:cNvCxnSpPr>
            <a:stCxn id="88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46"/>
          <p:cNvCxnSpPr>
            <a:endCxn id="88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8" name="Google Shape;888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9" name="Google Shape;889;p46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complement of a sum is the product of the complements.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0" name="Google Shape;89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013" y="1829875"/>
            <a:ext cx="13239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46"/>
          <p:cNvSpPr txBox="1"/>
          <p:nvPr>
            <p:ph idx="1" type="body"/>
          </p:nvPr>
        </p:nvSpPr>
        <p:spPr>
          <a:xfrm>
            <a:off x="715100" y="2594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complement of a product is the sum of the complements.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2" name="Google Shape;89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013" y="3096900"/>
            <a:ext cx="13239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7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Truth Table</a:t>
            </a:r>
            <a:endParaRPr sz="3800"/>
          </a:p>
        </p:txBody>
      </p:sp>
      <p:sp>
        <p:nvSpPr>
          <p:cNvPr id="898" name="Google Shape;898;p47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99" name="Google Shape;899;p47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for the truth (table)</a:t>
            </a:r>
            <a:endParaRPr/>
          </a:p>
        </p:txBody>
      </p:sp>
      <p:cxnSp>
        <p:nvCxnSpPr>
          <p:cNvPr id="900" name="Google Shape;900;p47"/>
          <p:cNvCxnSpPr>
            <a:stCxn id="898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8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Truth Tables</a:t>
            </a:r>
            <a:endParaRPr/>
          </a:p>
        </p:txBody>
      </p:sp>
      <p:cxnSp>
        <p:nvCxnSpPr>
          <p:cNvPr id="907" name="Google Shape;907;p48"/>
          <p:cNvCxnSpPr>
            <a:stCxn id="90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48"/>
          <p:cNvCxnSpPr>
            <a:endCxn id="90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1" name="Google Shape;911;p48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truth table shows all possible input combinations of Boolean variables and their corresponding output for a given Boolean expression.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12" name="Google Shape;912;p48"/>
          <p:cNvSpPr txBox="1"/>
          <p:nvPr/>
        </p:nvSpPr>
        <p:spPr>
          <a:xfrm>
            <a:off x="715100" y="1959425"/>
            <a:ext cx="723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 inputs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there will be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30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possible input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combinations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9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r>
              <a:rPr lang="en"/>
              <a:t> using Truth Tables</a:t>
            </a:r>
            <a:endParaRPr/>
          </a:p>
        </p:txBody>
      </p:sp>
      <p:cxnSp>
        <p:nvCxnSpPr>
          <p:cNvPr id="918" name="Google Shape;918;p49"/>
          <p:cNvCxnSpPr>
            <a:stCxn id="9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49"/>
          <p:cNvCxnSpPr>
            <a:endCxn id="9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2" name="Google Shape;922;p49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Absorption Rule :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923" name="Google Shape;9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738" y="1314300"/>
            <a:ext cx="1228725" cy="26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4" name="Google Shape;924;p49"/>
          <p:cNvGraphicFramePr/>
          <p:nvPr/>
        </p:nvGraphicFramePr>
        <p:xfrm>
          <a:off x="2046026" y="20253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{FBD5D062-2B70-4153-BA07-EF79ED7EEF0D}</a:tableStyleId>
              </a:tblPr>
              <a:tblGrid>
                <a:gridCol w="1178875"/>
                <a:gridCol w="1303550"/>
                <a:gridCol w="1195975"/>
                <a:gridCol w="1413350"/>
              </a:tblGrid>
              <a:tr h="370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r>
                        <a:rPr b="1" lang="en" sz="1800"/>
                        <a:t>+AB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0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using Truth Tables</a:t>
            </a:r>
            <a:endParaRPr/>
          </a:p>
        </p:txBody>
      </p:sp>
      <p:cxnSp>
        <p:nvCxnSpPr>
          <p:cNvPr id="930" name="Google Shape;930;p50"/>
          <p:cNvCxnSpPr>
            <a:stCxn id="9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50"/>
          <p:cNvCxnSpPr>
            <a:endCxn id="9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4" name="Google Shape;934;p50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De-Morgan’s</a:t>
            </a:r>
            <a:r>
              <a:rPr b="1" lang="en" sz="1500">
                <a:solidFill>
                  <a:schemeClr val="dk1"/>
                </a:solidFill>
              </a:rPr>
              <a:t> Law :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935" name="Google Shape;93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713" y="1295250"/>
            <a:ext cx="1323975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6" name="Google Shape;936;p50"/>
          <p:cNvGraphicFramePr/>
          <p:nvPr/>
        </p:nvGraphicFramePr>
        <p:xfrm>
          <a:off x="990126" y="2189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{FBD5D062-2B70-4153-BA07-EF79ED7EEF0D}</a:tableStyleId>
              </a:tblPr>
              <a:tblGrid>
                <a:gridCol w="915550"/>
                <a:gridCol w="1023575"/>
                <a:gridCol w="1009925"/>
                <a:gridCol w="1021125"/>
                <a:gridCol w="1064525"/>
                <a:gridCol w="1064525"/>
                <a:gridCol w="1064525"/>
              </a:tblGrid>
              <a:tr h="31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r>
                        <a:rPr b="1" lang="en" sz="1800"/>
                        <a:t>+B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(A+B)’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r>
                        <a:rPr b="1" lang="en" sz="1800"/>
                        <a:t>’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</a:t>
                      </a:r>
                      <a:r>
                        <a:rPr b="1" lang="en" sz="1800"/>
                        <a:t>’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</a:t>
                      </a:r>
                      <a:r>
                        <a:rPr b="1" lang="en" sz="1800"/>
                        <a:t>’B’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</a:tr>
              <a:tr h="31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1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Boolean Algebra</a:t>
            </a:r>
            <a:endParaRPr sz="3800"/>
          </a:p>
        </p:txBody>
      </p:sp>
      <p:sp>
        <p:nvSpPr>
          <p:cNvPr id="942" name="Google Shape;942;p51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43" name="Google Shape;943;p51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Logic Behind Every Digital Decision</a:t>
            </a:r>
            <a:endParaRPr/>
          </a:p>
        </p:txBody>
      </p:sp>
      <p:cxnSp>
        <p:nvCxnSpPr>
          <p:cNvPr id="944" name="Google Shape;944;p51"/>
          <p:cNvCxnSpPr>
            <a:stCxn id="94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2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Precedence</a:t>
            </a:r>
            <a:endParaRPr/>
          </a:p>
        </p:txBody>
      </p:sp>
      <p:cxnSp>
        <p:nvCxnSpPr>
          <p:cNvPr id="951" name="Google Shape;951;p52"/>
          <p:cNvCxnSpPr>
            <a:stCxn id="95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52"/>
          <p:cNvCxnSpPr>
            <a:endCxn id="95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5" name="Google Shape;955;p52"/>
          <p:cNvSpPr/>
          <p:nvPr/>
        </p:nvSpPr>
        <p:spPr>
          <a:xfrm rot="10800000">
            <a:off x="2580138" y="1318450"/>
            <a:ext cx="3983734" cy="737998"/>
          </a:xfrm>
          <a:prstGeom prst="trapezoid">
            <a:avLst>
              <a:gd fmla="val 67467" name="adj"/>
            </a:avLst>
          </a:prstGeom>
          <a:solidFill>
            <a:srgbClr val="FFC000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2"/>
          <p:cNvSpPr txBox="1"/>
          <p:nvPr/>
        </p:nvSpPr>
        <p:spPr>
          <a:xfrm>
            <a:off x="3277245" y="1318350"/>
            <a:ext cx="2589362" cy="737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Parentheses</a:t>
            </a:r>
            <a:endParaRPr/>
          </a:p>
        </p:txBody>
      </p:sp>
      <p:sp>
        <p:nvSpPr>
          <p:cNvPr id="957" name="Google Shape;957;p52"/>
          <p:cNvSpPr/>
          <p:nvPr/>
        </p:nvSpPr>
        <p:spPr>
          <a:xfrm rot="10800000">
            <a:off x="3078032" y="2056549"/>
            <a:ext cx="2987865" cy="737998"/>
          </a:xfrm>
          <a:prstGeom prst="trapezoid">
            <a:avLst>
              <a:gd fmla="val 67467" name="adj"/>
            </a:avLst>
          </a:prstGeom>
          <a:solidFill>
            <a:srgbClr val="51EB15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52"/>
          <p:cNvSpPr txBox="1"/>
          <p:nvPr/>
        </p:nvSpPr>
        <p:spPr>
          <a:xfrm>
            <a:off x="3600928" y="2056449"/>
            <a:ext cx="1942086" cy="737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endParaRPr/>
          </a:p>
        </p:txBody>
      </p:sp>
      <p:sp>
        <p:nvSpPr>
          <p:cNvPr id="959" name="Google Shape;959;p52"/>
          <p:cNvSpPr/>
          <p:nvPr/>
        </p:nvSpPr>
        <p:spPr>
          <a:xfrm rot="10800000">
            <a:off x="3575926" y="2794648"/>
            <a:ext cx="1991997" cy="737998"/>
          </a:xfrm>
          <a:prstGeom prst="trapezoid">
            <a:avLst>
              <a:gd fmla="val 67467" name="adj"/>
            </a:avLst>
          </a:prstGeom>
          <a:solidFill>
            <a:srgbClr val="2CD79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2"/>
          <p:cNvSpPr txBox="1"/>
          <p:nvPr/>
        </p:nvSpPr>
        <p:spPr>
          <a:xfrm>
            <a:off x="3924611" y="2794547"/>
            <a:ext cx="1294811" cy="737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</p:txBody>
      </p:sp>
      <p:sp>
        <p:nvSpPr>
          <p:cNvPr id="961" name="Google Shape;961;p52"/>
          <p:cNvSpPr/>
          <p:nvPr/>
        </p:nvSpPr>
        <p:spPr>
          <a:xfrm rot="10800000">
            <a:off x="4074081" y="3532746"/>
            <a:ext cx="995868" cy="737998"/>
          </a:xfrm>
          <a:prstGeom prst="trapezoid">
            <a:avLst>
              <a:gd fmla="val 67467" name="adj"/>
            </a:avLst>
          </a:prstGeom>
          <a:solidFill>
            <a:srgbClr val="4371C3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2"/>
          <p:cNvSpPr txBox="1"/>
          <p:nvPr/>
        </p:nvSpPr>
        <p:spPr>
          <a:xfrm>
            <a:off x="4074003" y="3532646"/>
            <a:ext cx="9960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3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</a:t>
            </a:r>
            <a:endParaRPr/>
          </a:p>
        </p:txBody>
      </p:sp>
      <p:cxnSp>
        <p:nvCxnSpPr>
          <p:cNvPr id="968" name="Google Shape;968;p53"/>
          <p:cNvCxnSpPr>
            <a:stCxn id="96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53"/>
          <p:cNvCxnSpPr>
            <a:endCxn id="96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2" name="Google Shape;972;p53"/>
          <p:cNvSpPr txBox="1"/>
          <p:nvPr>
            <p:ph idx="1" type="body"/>
          </p:nvPr>
        </p:nvSpPr>
        <p:spPr>
          <a:xfrm>
            <a:off x="715100" y="1223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Boolean function is a mathematical expression that takes binary inputs (0s and 1s) and produces a binary output (0 or 1) using Boolean operations.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73" name="Google Shape;97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588" y="2273475"/>
            <a:ext cx="20288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4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</a:t>
            </a:r>
            <a:endParaRPr/>
          </a:p>
        </p:txBody>
      </p:sp>
      <p:cxnSp>
        <p:nvCxnSpPr>
          <p:cNvPr id="979" name="Google Shape;979;p54"/>
          <p:cNvCxnSpPr>
            <a:stCxn id="98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54"/>
          <p:cNvCxnSpPr>
            <a:endCxn id="98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3" name="Google Shape;98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7" y="1445722"/>
            <a:ext cx="3760243" cy="26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529" y="2087622"/>
            <a:ext cx="3300884" cy="1383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Circuit Diagram and </a:t>
            </a:r>
            <a:r>
              <a:rPr lang="en" sz="2800"/>
              <a:t>Simplification</a:t>
            </a:r>
            <a:endParaRPr sz="2800"/>
          </a:p>
        </p:txBody>
      </p:sp>
      <p:sp>
        <p:nvSpPr>
          <p:cNvPr id="990" name="Google Shape;990;p5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91" name="Google Shape;991;p5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keep things simple</a:t>
            </a:r>
            <a:endParaRPr/>
          </a:p>
        </p:txBody>
      </p:sp>
      <p:cxnSp>
        <p:nvCxnSpPr>
          <p:cNvPr id="992" name="Google Shape;992;p55"/>
          <p:cNvCxnSpPr>
            <a:stCxn id="99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3" name="Google Shape;993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56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</a:t>
            </a:r>
            <a:endParaRPr/>
          </a:p>
        </p:txBody>
      </p:sp>
      <p:cxnSp>
        <p:nvCxnSpPr>
          <p:cNvPr id="999" name="Google Shape;999;p56"/>
          <p:cNvCxnSpPr>
            <a:stCxn id="100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56"/>
          <p:cNvCxnSpPr>
            <a:endCxn id="100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3" name="Google Shape;10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650" y="1427375"/>
            <a:ext cx="2247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650" y="3496225"/>
            <a:ext cx="1362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6"/>
          <p:cNvPicPr preferRelativeResize="0"/>
          <p:nvPr/>
        </p:nvPicPr>
        <p:blipFill rotWithShape="1">
          <a:blip r:embed="rId5">
            <a:alphaModFix/>
          </a:blip>
          <a:srcRect b="0" l="0" r="0" t="3232"/>
          <a:stretch/>
        </p:blipFill>
        <p:spPr>
          <a:xfrm>
            <a:off x="3757897" y="1007523"/>
            <a:ext cx="4832175" cy="3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7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</a:t>
            </a:r>
            <a:endParaRPr/>
          </a:p>
        </p:txBody>
      </p:sp>
      <p:cxnSp>
        <p:nvCxnSpPr>
          <p:cNvPr id="1011" name="Google Shape;1011;p57"/>
          <p:cNvCxnSpPr>
            <a:stCxn id="101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57"/>
          <p:cNvCxnSpPr>
            <a:endCxn id="101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5" name="Google Shape;10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798" y="1305976"/>
            <a:ext cx="176083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2" y="1699577"/>
            <a:ext cx="5003425" cy="5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900" y="865347"/>
            <a:ext cx="2561100" cy="17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6075" y="2842950"/>
            <a:ext cx="2601924" cy="11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3925" y="2378278"/>
            <a:ext cx="1716150" cy="20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8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</a:t>
            </a:r>
            <a:endParaRPr/>
          </a:p>
        </p:txBody>
      </p:sp>
      <p:cxnSp>
        <p:nvCxnSpPr>
          <p:cNvPr id="1025" name="Google Shape;1025;p58"/>
          <p:cNvCxnSpPr>
            <a:stCxn id="102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58"/>
          <p:cNvCxnSpPr>
            <a:endCxn id="102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58"/>
          <p:cNvSpPr txBox="1"/>
          <p:nvPr>
            <p:ph idx="1" type="body"/>
          </p:nvPr>
        </p:nvSpPr>
        <p:spPr>
          <a:xfrm>
            <a:off x="715100" y="1223250"/>
            <a:ext cx="1441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For practice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30" name="Google Shape;1030;p58"/>
          <p:cNvSpPr txBox="1"/>
          <p:nvPr/>
        </p:nvSpPr>
        <p:spPr>
          <a:xfrm>
            <a:off x="793100" y="16720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X + XY  =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XY + XY = X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X + XY  = X+Y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X(X+Y)=X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(X+Y)(X+Y)=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X (X+Y)=XY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</a:t>
            </a:r>
            <a:endParaRPr/>
          </a:p>
        </p:txBody>
      </p:sp>
      <p:grpSp>
        <p:nvGrpSpPr>
          <p:cNvPr id="1031" name="Google Shape;1031;p58"/>
          <p:cNvGrpSpPr/>
          <p:nvPr/>
        </p:nvGrpSpPr>
        <p:grpSpPr>
          <a:xfrm>
            <a:off x="1041550" y="3037775"/>
            <a:ext cx="2006975" cy="251075"/>
            <a:chOff x="1041550" y="3037775"/>
            <a:chExt cx="2006975" cy="251075"/>
          </a:xfrm>
        </p:grpSpPr>
        <p:pic>
          <p:nvPicPr>
            <p:cNvPr id="1032" name="Google Shape;1032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1550" y="3051090"/>
              <a:ext cx="1078547" cy="237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3" name="Google Shape;1033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6143" y="3037775"/>
              <a:ext cx="912381" cy="251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4" name="Google Shape;103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50" y="3230849"/>
            <a:ext cx="2680039" cy="2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58"/>
          <p:cNvSpPr txBox="1"/>
          <p:nvPr/>
        </p:nvSpPr>
        <p:spPr>
          <a:xfrm>
            <a:off x="688150" y="3708150"/>
            <a:ext cx="778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Worksheet 1: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https://web.mit.edu/6.111/www/s2007/PSETS/pset1.pdf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Worksheet 2: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https://uomustansiriyah.edu.iq/media/lectures/6/6_2024_04_04!02_36_02_PM.pdf</a:t>
            </a:r>
            <a:endParaRPr/>
          </a:p>
        </p:txBody>
      </p:sp>
      <p:pic>
        <p:nvPicPr>
          <p:cNvPr id="1036" name="Google Shape;1036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9799" y="1672050"/>
            <a:ext cx="3976974" cy="7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9"/>
          <p:cNvSpPr txBox="1"/>
          <p:nvPr>
            <p:ph type="title"/>
          </p:nvPr>
        </p:nvSpPr>
        <p:spPr>
          <a:xfrm>
            <a:off x="715100" y="5137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Manipulation</a:t>
            </a:r>
            <a:endParaRPr/>
          </a:p>
        </p:txBody>
      </p:sp>
      <p:cxnSp>
        <p:nvCxnSpPr>
          <p:cNvPr id="1042" name="Google Shape;1042;p59"/>
          <p:cNvCxnSpPr>
            <a:stCxn id="104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59"/>
          <p:cNvCxnSpPr>
            <a:endCxn id="104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6" name="Google Shape;1046;p59"/>
          <p:cNvSpPr txBox="1"/>
          <p:nvPr>
            <p:ph idx="1" type="body"/>
          </p:nvPr>
        </p:nvSpPr>
        <p:spPr>
          <a:xfrm>
            <a:off x="715100" y="1223250"/>
            <a:ext cx="3965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 any Boolean expression,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47" name="Google Shape;1047;p59"/>
          <p:cNvSpPr txBox="1"/>
          <p:nvPr>
            <p:ph idx="1" type="body"/>
          </p:nvPr>
        </p:nvSpPr>
        <p:spPr>
          <a:xfrm>
            <a:off x="1096100" y="1604250"/>
            <a:ext cx="53118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– A </a:t>
            </a:r>
            <a:r>
              <a:rPr b="1" lang="en" sz="1500">
                <a:solidFill>
                  <a:schemeClr val="dk1"/>
                </a:solidFill>
              </a:rPr>
              <a:t>Term </a:t>
            </a:r>
            <a:r>
              <a:rPr lang="en" sz="1500">
                <a:solidFill>
                  <a:schemeClr val="dk1"/>
                </a:solidFill>
              </a:rPr>
              <a:t>is represented by a </a:t>
            </a:r>
            <a:r>
              <a:rPr b="1" lang="en" sz="1500">
                <a:solidFill>
                  <a:schemeClr val="dk1"/>
                </a:solidFill>
              </a:rPr>
              <a:t>gate with inputs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48" name="Google Shape;1048;p59"/>
          <p:cNvSpPr txBox="1"/>
          <p:nvPr>
            <p:ph idx="1" type="body"/>
          </p:nvPr>
        </p:nvSpPr>
        <p:spPr>
          <a:xfrm>
            <a:off x="1096100" y="1985250"/>
            <a:ext cx="69618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– Each </a:t>
            </a:r>
            <a:r>
              <a:rPr b="1" lang="en" sz="1500">
                <a:solidFill>
                  <a:schemeClr val="dk1"/>
                </a:solidFill>
              </a:rPr>
              <a:t>literal/variable</a:t>
            </a:r>
            <a:r>
              <a:rPr lang="en" sz="1500">
                <a:solidFill>
                  <a:schemeClr val="dk1"/>
                </a:solidFill>
              </a:rPr>
              <a:t> within a term designate an </a:t>
            </a:r>
            <a:r>
              <a:rPr b="1" lang="en" sz="1500">
                <a:solidFill>
                  <a:schemeClr val="dk1"/>
                </a:solidFill>
              </a:rPr>
              <a:t>input </a:t>
            </a:r>
            <a:r>
              <a:rPr lang="en" sz="1500">
                <a:solidFill>
                  <a:schemeClr val="dk1"/>
                </a:solidFill>
              </a:rPr>
              <a:t>in </a:t>
            </a:r>
            <a:r>
              <a:rPr b="1" lang="en" sz="1500">
                <a:solidFill>
                  <a:schemeClr val="dk1"/>
                </a:solidFill>
              </a:rPr>
              <a:t>primed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unprimed form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49" name="Google Shape;1049;p59"/>
          <p:cNvSpPr txBox="1"/>
          <p:nvPr>
            <p:ph idx="1" type="body"/>
          </p:nvPr>
        </p:nvSpPr>
        <p:spPr>
          <a:xfrm>
            <a:off x="715100" y="2975850"/>
            <a:ext cx="3965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For example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50" name="Google Shape;10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450" y="3294350"/>
            <a:ext cx="1943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8113" y="3790800"/>
            <a:ext cx="12477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59"/>
          <p:cNvSpPr txBox="1"/>
          <p:nvPr>
            <p:ph idx="1" type="body"/>
          </p:nvPr>
        </p:nvSpPr>
        <p:spPr>
          <a:xfrm>
            <a:off x="6125300" y="3280650"/>
            <a:ext cx="3965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 terms, </a:t>
            </a:r>
            <a:r>
              <a:rPr lang="en" sz="1500">
                <a:solidFill>
                  <a:schemeClr val="dk1"/>
                </a:solidFill>
              </a:rPr>
              <a:t>8 literals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53" name="Google Shape;1053;p59"/>
          <p:cNvSpPr txBox="1"/>
          <p:nvPr>
            <p:ph idx="1" type="body"/>
          </p:nvPr>
        </p:nvSpPr>
        <p:spPr>
          <a:xfrm>
            <a:off x="6125300" y="3661650"/>
            <a:ext cx="3965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 terms, 4 literals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0"/>
          <p:cNvSpPr txBox="1"/>
          <p:nvPr>
            <p:ph type="title"/>
          </p:nvPr>
        </p:nvSpPr>
        <p:spPr>
          <a:xfrm>
            <a:off x="715100" y="589950"/>
            <a:ext cx="734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</a:t>
            </a:r>
            <a:endParaRPr/>
          </a:p>
        </p:txBody>
      </p:sp>
      <p:cxnSp>
        <p:nvCxnSpPr>
          <p:cNvPr id="1059" name="Google Shape;1059;p60"/>
          <p:cNvCxnSpPr>
            <a:stCxn id="106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60"/>
          <p:cNvCxnSpPr>
            <a:endCxn id="106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3" name="Google Shape;10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538" y="3369249"/>
            <a:ext cx="2693426" cy="44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008" y="3946033"/>
            <a:ext cx="2562659" cy="4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521" y="3257333"/>
            <a:ext cx="3210951" cy="52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2193" y="3956413"/>
            <a:ext cx="2607607" cy="45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60"/>
          <p:cNvPicPr preferRelativeResize="0"/>
          <p:nvPr/>
        </p:nvPicPr>
        <p:blipFill rotWithShape="1">
          <a:blip r:embed="rId3">
            <a:alphaModFix/>
          </a:blip>
          <a:srcRect b="784" l="0" r="74183" t="0"/>
          <a:stretch/>
        </p:blipFill>
        <p:spPr>
          <a:xfrm>
            <a:off x="4285723" y="3337671"/>
            <a:ext cx="655927" cy="4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60"/>
          <p:cNvPicPr preferRelativeResize="0"/>
          <p:nvPr/>
        </p:nvPicPr>
        <p:blipFill rotWithShape="1">
          <a:blip r:embed="rId4">
            <a:alphaModFix/>
          </a:blip>
          <a:srcRect b="-9206" l="0" r="75692" t="0"/>
          <a:stretch/>
        </p:blipFill>
        <p:spPr>
          <a:xfrm>
            <a:off x="4387583" y="3956413"/>
            <a:ext cx="622939" cy="475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9" name="Google Shape;1069;p60"/>
          <p:cNvCxnSpPr/>
          <p:nvPr/>
        </p:nvCxnSpPr>
        <p:spPr>
          <a:xfrm>
            <a:off x="4285725" y="3293050"/>
            <a:ext cx="3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0"/>
          <p:cNvCxnSpPr/>
          <p:nvPr/>
        </p:nvCxnSpPr>
        <p:spPr>
          <a:xfrm>
            <a:off x="4329050" y="3956425"/>
            <a:ext cx="3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0"/>
          <p:cNvCxnSpPr/>
          <p:nvPr/>
        </p:nvCxnSpPr>
        <p:spPr>
          <a:xfrm>
            <a:off x="3848225" y="3147300"/>
            <a:ext cx="0" cy="143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60"/>
          <p:cNvSpPr txBox="1"/>
          <p:nvPr>
            <p:ph idx="1" type="body"/>
          </p:nvPr>
        </p:nvSpPr>
        <p:spPr>
          <a:xfrm>
            <a:off x="922550" y="1317775"/>
            <a:ext cx="7259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Interchanging </a:t>
            </a:r>
            <a:r>
              <a:rPr lang="en" sz="1500">
                <a:solidFill>
                  <a:schemeClr val="dk1"/>
                </a:solidFill>
              </a:rPr>
              <a:t>the output of function F produces F’.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73" name="Google Shape;1073;p60"/>
          <p:cNvSpPr txBox="1"/>
          <p:nvPr>
            <p:ph idx="1" type="body"/>
          </p:nvPr>
        </p:nvSpPr>
        <p:spPr>
          <a:xfrm>
            <a:off x="922550" y="1698775"/>
            <a:ext cx="7259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Methods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74" name="Google Shape;1074;p60"/>
          <p:cNvSpPr txBox="1"/>
          <p:nvPr>
            <p:ph idx="1" type="body"/>
          </p:nvPr>
        </p:nvSpPr>
        <p:spPr>
          <a:xfrm>
            <a:off x="1297675" y="2147575"/>
            <a:ext cx="3644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Apply De-Morgan’s Law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75" name="Google Shape;1075;p60"/>
          <p:cNvSpPr txBox="1"/>
          <p:nvPr>
            <p:ph idx="1" type="body"/>
          </p:nvPr>
        </p:nvSpPr>
        <p:spPr>
          <a:xfrm>
            <a:off x="1297675" y="2499250"/>
            <a:ext cx="54753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2.     </a:t>
            </a:r>
            <a:r>
              <a:rPr b="1" lang="en" sz="1500">
                <a:solidFill>
                  <a:schemeClr val="dk1"/>
                </a:solidFill>
              </a:rPr>
              <a:t>Complement each literal and take its </a:t>
            </a:r>
            <a:r>
              <a:rPr b="1" lang="en" sz="1500">
                <a:solidFill>
                  <a:schemeClr val="dk1"/>
                </a:solidFill>
              </a:rPr>
              <a:t>dual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1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081" name="Google Shape;1081;p61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082" name="Google Shape;1082;p61"/>
          <p:cNvCxnSpPr>
            <a:endCxn id="1080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