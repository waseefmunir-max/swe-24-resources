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Nunito"/>
      <p:regular r:id="rId51"/>
      <p:bold r:id="rId52"/>
      <p:italic r:id="rId53"/>
      <p:boldItalic r:id="rId54"/>
    </p:embeddedFont>
    <p:embeddedFont>
      <p:font typeface="Inter Tight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  <p:embeddedFont>
      <p:font typeface="Inter Tight SemiBold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DB9E56-8A7C-43C7-8186-58A39646E9DB}">
  <a:tblStyle styleId="{76DB9E56-8A7C-43C7-8186-58A39646E9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DE4B6EE-AEE8-4F44-B4DA-A79B10E819E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5.xml"/><Relationship Id="rId64" Type="http://schemas.openxmlformats.org/officeDocument/2006/relationships/font" Target="fonts/InterTightSemiBold-bold.fntdata"/><Relationship Id="rId63" Type="http://schemas.openxmlformats.org/officeDocument/2006/relationships/font" Target="fonts/InterTightSemiBold-regular.fntdata"/><Relationship Id="rId22" Type="http://schemas.openxmlformats.org/officeDocument/2006/relationships/slide" Target="slides/slide17.xml"/><Relationship Id="rId66" Type="http://schemas.openxmlformats.org/officeDocument/2006/relationships/font" Target="fonts/InterTightSemiBold-boldItalic.fntdata"/><Relationship Id="rId21" Type="http://schemas.openxmlformats.org/officeDocument/2006/relationships/slide" Target="slides/slide16.xml"/><Relationship Id="rId65" Type="http://schemas.openxmlformats.org/officeDocument/2006/relationships/font" Target="fonts/InterTightSemiBold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Nunito-regular.fntdata"/><Relationship Id="rId50" Type="http://schemas.openxmlformats.org/officeDocument/2006/relationships/slide" Target="slides/slide45.xml"/><Relationship Id="rId53" Type="http://schemas.openxmlformats.org/officeDocument/2006/relationships/font" Target="fonts/Nunito-italic.fntdata"/><Relationship Id="rId52" Type="http://schemas.openxmlformats.org/officeDocument/2006/relationships/font" Target="fonts/Nunito-bold.fntdata"/><Relationship Id="rId11" Type="http://schemas.openxmlformats.org/officeDocument/2006/relationships/slide" Target="slides/slide6.xml"/><Relationship Id="rId55" Type="http://schemas.openxmlformats.org/officeDocument/2006/relationships/font" Target="fonts/InterTight-regular.fntdata"/><Relationship Id="rId10" Type="http://schemas.openxmlformats.org/officeDocument/2006/relationships/slide" Target="slides/slide5.xml"/><Relationship Id="rId54" Type="http://schemas.openxmlformats.org/officeDocument/2006/relationships/font" Target="fonts/Nunito-boldItalic.fntdata"/><Relationship Id="rId13" Type="http://schemas.openxmlformats.org/officeDocument/2006/relationships/slide" Target="slides/slide8.xml"/><Relationship Id="rId57" Type="http://schemas.openxmlformats.org/officeDocument/2006/relationships/font" Target="fonts/InterTight-italic.fntdata"/><Relationship Id="rId12" Type="http://schemas.openxmlformats.org/officeDocument/2006/relationships/slide" Target="slides/slide7.xml"/><Relationship Id="rId56" Type="http://schemas.openxmlformats.org/officeDocument/2006/relationships/font" Target="fonts/InterTight-bold.fntdata"/><Relationship Id="rId15" Type="http://schemas.openxmlformats.org/officeDocument/2006/relationships/slide" Target="slides/slide10.xml"/><Relationship Id="rId59" Type="http://schemas.openxmlformats.org/officeDocument/2006/relationships/font" Target="fonts/OpenSans-regular.fntdata"/><Relationship Id="rId14" Type="http://schemas.openxmlformats.org/officeDocument/2006/relationships/slide" Target="slides/slide9.xml"/><Relationship Id="rId58" Type="http://schemas.openxmlformats.org/officeDocument/2006/relationships/font" Target="fonts/InterTigh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cb60bb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cb60bb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550f5bec5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550f5bec5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550f5bec5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550f5bec5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550f5bec5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550f5bec5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550f5bec50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550f5bec5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550f5bec50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550f5bec5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550f5bec50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550f5bec50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550f5bec50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550f5bec50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550f5bec50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550f5bec50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550f5bec50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550f5bec50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550f5bec50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550f5bec50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550f5bec50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550f5bec50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550f5bec50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550f5bec50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550f5bec50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550f5bec50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550f5bec50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550f5bec50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550f5bec50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550f5bec50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550f5bec50_2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550f5bec50_2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550f5bec50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550f5bec50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550f5bec50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550f5bec50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550f5bec50_2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550f5bec50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550f5bec50_2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550f5bec50_2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550f5bec50_2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550f5bec50_2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550f5bec50_2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550f5bec50_2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550f5bec50_2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550f5bec50_2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550f5bec50_2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3550f5bec50_2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550f5bec50_2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550f5bec50_2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550f5bec50_2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550f5bec50_2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550f5bec50_2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550f5bec50_2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550f5bec50_2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550f5bec50_2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550f5bec50_2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3550f5bec50_2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550f5bec50_2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550f5bec50_2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550f5bec50_2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550f5bec50_2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550f5bec50_2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550f5bec50_2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550f5bec50_2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550f5bec50_2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550f5bec50_2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3550f5bec50_2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55bdfd383c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355bdfd383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550f5bec50_2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3550f5bec50_2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550f5bec50_2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3550f5bec50_2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550f5bec50_2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550f5bec50_2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550f5bec50_2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550f5bec50_2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550f5bec50_2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550f5bec50_2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355bdfd383c_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355bdfd383c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Introduction to 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Digital Systems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Systems</a:t>
            </a:r>
            <a:endParaRPr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digital systems?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715100" y="1451850"/>
            <a:ext cx="50289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digital system is an electronic system that </a:t>
            </a:r>
            <a:r>
              <a:rPr b="1" lang="en" sz="1500">
                <a:solidFill>
                  <a:schemeClr val="dk1"/>
                </a:solidFill>
              </a:rPr>
              <a:t>processes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stores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communicates </a:t>
            </a:r>
            <a:r>
              <a:rPr lang="en" sz="1500">
                <a:solidFill>
                  <a:schemeClr val="dk1"/>
                </a:solidFill>
              </a:rPr>
              <a:t>information using </a:t>
            </a:r>
            <a:r>
              <a:rPr b="1" lang="en" sz="1500">
                <a:solidFill>
                  <a:schemeClr val="dk1"/>
                </a:solidFill>
              </a:rPr>
              <a:t>digital data.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Digital systems form the backbone of modern technology, playing a critical role in communication, automation, healthcare, education, transportation, and entertainment.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18" name="Google Shape;618;p2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Digital Systems</a:t>
            </a:r>
            <a:endParaRPr i="1"/>
          </a:p>
        </p:txBody>
      </p:sp>
      <p:cxnSp>
        <p:nvCxnSpPr>
          <p:cNvPr id="619" name="Google Shape;619;p27"/>
          <p:cNvCxnSpPr>
            <a:stCxn id="6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7"/>
          <p:cNvCxnSpPr>
            <a:endCxn id="6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3" name="Google Shape;6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9400" y="535000"/>
            <a:ext cx="2637375" cy="3950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does ‘</a:t>
            </a:r>
            <a:r>
              <a:rPr i="1" lang="en"/>
              <a:t>Digital</a:t>
            </a:r>
            <a:r>
              <a:rPr lang="en"/>
              <a:t>’ mean?</a:t>
            </a:r>
            <a:endParaRPr/>
          </a:p>
        </p:txBody>
      </p:sp>
      <p:sp>
        <p:nvSpPr>
          <p:cNvPr id="629" name="Google Shape;629;p28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word "digital" refers to </a:t>
            </a:r>
            <a:r>
              <a:rPr b="1" lang="en" sz="1500"/>
              <a:t>data </a:t>
            </a:r>
            <a:r>
              <a:rPr lang="en" sz="1500"/>
              <a:t>or </a:t>
            </a:r>
            <a:r>
              <a:rPr b="1" lang="en" sz="1500"/>
              <a:t>signals </a:t>
            </a:r>
            <a:r>
              <a:rPr lang="en" sz="1500"/>
              <a:t>that are represented by </a:t>
            </a:r>
            <a:r>
              <a:rPr b="1" lang="en" sz="1500"/>
              <a:t>discrete values.</a:t>
            </a:r>
            <a:endParaRPr b="1" sz="1500"/>
          </a:p>
        </p:txBody>
      </p:sp>
      <p:sp>
        <p:nvSpPr>
          <p:cNvPr id="630" name="Google Shape;63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1" name="Google Shape;631;p2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338" y="2002200"/>
            <a:ext cx="4103325" cy="18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data</a:t>
            </a:r>
            <a:endParaRPr/>
          </a:p>
        </p:txBody>
      </p:sp>
      <p:sp>
        <p:nvSpPr>
          <p:cNvPr id="637" name="Google Shape;637;p29"/>
          <p:cNvSpPr txBox="1"/>
          <p:nvPr>
            <p:ph idx="4294967295" type="body"/>
          </p:nvPr>
        </p:nvSpPr>
        <p:spPr>
          <a:xfrm>
            <a:off x="720000" y="1208325"/>
            <a:ext cx="77040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Analog data more closely mirrors </a:t>
            </a:r>
            <a:r>
              <a:rPr b="1" lang="en" sz="1500"/>
              <a:t>real-world phenomena</a:t>
            </a:r>
            <a:r>
              <a:rPr lang="en" sz="1500"/>
              <a:t>, it is </a:t>
            </a:r>
            <a:r>
              <a:rPr b="1" lang="en" sz="1500"/>
              <a:t>difficult to process </a:t>
            </a:r>
            <a:r>
              <a:rPr lang="en" sz="1500"/>
              <a:t>accurately using electronic systems because it is </a:t>
            </a:r>
            <a:r>
              <a:rPr b="1" lang="en" sz="1500"/>
              <a:t>highly susceptible </a:t>
            </a:r>
            <a:r>
              <a:rPr lang="en" sz="1500"/>
              <a:t>to </a:t>
            </a:r>
            <a:r>
              <a:rPr b="1" lang="en" sz="1500"/>
              <a:t>noise</a:t>
            </a:r>
            <a:r>
              <a:rPr lang="en" sz="1500"/>
              <a:t>, </a:t>
            </a:r>
            <a:r>
              <a:rPr b="1" lang="en" sz="1500"/>
              <a:t>distortion</a:t>
            </a:r>
            <a:r>
              <a:rPr lang="en" sz="1500"/>
              <a:t>, and signal </a:t>
            </a:r>
            <a:r>
              <a:rPr b="1" lang="en" sz="1500"/>
              <a:t>degradation</a:t>
            </a:r>
            <a:r>
              <a:rPr lang="en" sz="1500"/>
              <a:t>. 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8" name="Google Shape;63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9" name="Google Shape;639;p29"/>
          <p:cNvSpPr txBox="1"/>
          <p:nvPr>
            <p:ph idx="4294967295" type="body"/>
          </p:nvPr>
        </p:nvSpPr>
        <p:spPr>
          <a:xfrm>
            <a:off x="720000" y="21989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Digital data, on the other hand, is </a:t>
            </a:r>
            <a:r>
              <a:rPr b="1" lang="en" sz="1500"/>
              <a:t>easier to store</a:t>
            </a:r>
            <a:r>
              <a:rPr lang="en" sz="1500"/>
              <a:t>, </a:t>
            </a:r>
            <a:r>
              <a:rPr b="1" lang="en" sz="1500"/>
              <a:t>process</a:t>
            </a:r>
            <a:r>
              <a:rPr lang="en" sz="1500"/>
              <a:t>, and </a:t>
            </a:r>
            <a:r>
              <a:rPr b="1" lang="en" sz="1500"/>
              <a:t>transmit </a:t>
            </a:r>
            <a:r>
              <a:rPr lang="en" sz="1500"/>
              <a:t>with </a:t>
            </a:r>
            <a:r>
              <a:rPr b="1" lang="en" sz="1500"/>
              <a:t>high precision</a:t>
            </a:r>
            <a:r>
              <a:rPr lang="en" sz="1500"/>
              <a:t>. It allows for </a:t>
            </a:r>
            <a:r>
              <a:rPr b="1" lang="en" sz="1500"/>
              <a:t>error detection </a:t>
            </a:r>
            <a:r>
              <a:rPr lang="en" sz="1500"/>
              <a:t>and </a:t>
            </a:r>
            <a:r>
              <a:rPr b="1" lang="en" sz="1500"/>
              <a:t>correction</a:t>
            </a:r>
            <a:r>
              <a:rPr lang="en" sz="1500"/>
              <a:t>, making it more </a:t>
            </a:r>
            <a:r>
              <a:rPr b="1" lang="en" sz="1500"/>
              <a:t>reliable </a:t>
            </a:r>
            <a:r>
              <a:rPr lang="en" sz="1500"/>
              <a:t>over long distances and repeated use. Additionally, digital systems are more flexible and programmable, enabling a wide range of applications.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vs Analog</a:t>
            </a:r>
            <a:endParaRPr/>
          </a:p>
        </p:txBody>
      </p:sp>
      <p:graphicFrame>
        <p:nvGraphicFramePr>
          <p:cNvPr id="645" name="Google Shape;645;p30"/>
          <p:cNvGraphicFramePr/>
          <p:nvPr/>
        </p:nvGraphicFramePr>
        <p:xfrm>
          <a:off x="724875" y="128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{76DB9E56-8A7C-43C7-8186-58A39646E9DB}</a:tableStyleId>
              </a:tblPr>
              <a:tblGrid>
                <a:gridCol w="2568000"/>
                <a:gridCol w="2568000"/>
                <a:gridCol w="2568000"/>
              </a:tblGrid>
              <a:tr h="48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Differences</a:t>
                      </a:r>
                      <a:endParaRPr b="1" sz="18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C9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Digital</a:t>
                      </a:r>
                      <a:endParaRPr b="1" sz="18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C9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Analog</a:t>
                      </a:r>
                      <a:endParaRPr b="1" sz="18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C9DC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Representation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Discrete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Continuous with varying magnitude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7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Signal form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Square waves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Sine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waves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Response to noise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Less likely to get affected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Likely to get affected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2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Processing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Simple and programmable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Complex and less flexible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9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Storage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Easy and Accurate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Hard to store without loss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646" name="Google Shape;646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vs Analog</a:t>
            </a:r>
            <a:endParaRPr/>
          </a:p>
        </p:txBody>
      </p:sp>
      <p:sp>
        <p:nvSpPr>
          <p:cNvPr id="652" name="Google Shape;65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3" name="Google Shape;653;p31"/>
          <p:cNvPicPr preferRelativeResize="0"/>
          <p:nvPr/>
        </p:nvPicPr>
        <p:blipFill rotWithShape="1">
          <a:blip r:embed="rId3">
            <a:alphaModFix/>
          </a:blip>
          <a:srcRect b="0" l="0" r="0" t="24001"/>
          <a:stretch/>
        </p:blipFill>
        <p:spPr>
          <a:xfrm>
            <a:off x="2543875" y="1310274"/>
            <a:ext cx="4056249" cy="308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Information</a:t>
            </a:r>
            <a:endParaRPr/>
          </a:p>
        </p:txBody>
      </p:sp>
      <p:sp>
        <p:nvSpPr>
          <p:cNvPr id="659" name="Google Shape;659;p32"/>
          <p:cNvSpPr txBox="1"/>
          <p:nvPr>
            <p:ph idx="4294967295" type="body"/>
          </p:nvPr>
        </p:nvSpPr>
        <p:spPr>
          <a:xfrm>
            <a:off x="720000" y="1208325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Voltages – </a:t>
            </a:r>
            <a:r>
              <a:rPr b="1" lang="en" sz="1500"/>
              <a:t>HIGH</a:t>
            </a:r>
            <a:r>
              <a:rPr lang="en" sz="1500"/>
              <a:t> or </a:t>
            </a:r>
            <a:r>
              <a:rPr b="1" lang="en" sz="1500"/>
              <a:t>LOW</a:t>
            </a:r>
            <a:endParaRPr b="1" sz="1500"/>
          </a:p>
        </p:txBody>
      </p:sp>
      <p:sp>
        <p:nvSpPr>
          <p:cNvPr id="660" name="Google Shape;66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32"/>
          <p:cNvSpPr txBox="1"/>
          <p:nvPr>
            <p:ph idx="4294967295" type="body"/>
          </p:nvPr>
        </p:nvSpPr>
        <p:spPr>
          <a:xfrm>
            <a:off x="720000" y="1538650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Switch States</a:t>
            </a:r>
            <a:r>
              <a:rPr lang="en" sz="1500"/>
              <a:t> – </a:t>
            </a:r>
            <a:r>
              <a:rPr b="1" lang="en" sz="1500"/>
              <a:t>ON </a:t>
            </a:r>
            <a:r>
              <a:rPr lang="en" sz="1500"/>
              <a:t>or </a:t>
            </a:r>
            <a:r>
              <a:rPr b="1" lang="en" sz="1500"/>
              <a:t>OFF</a:t>
            </a:r>
            <a:endParaRPr b="1" sz="1500"/>
          </a:p>
        </p:txBody>
      </p:sp>
      <p:sp>
        <p:nvSpPr>
          <p:cNvPr id="662" name="Google Shape;662;p32"/>
          <p:cNvSpPr txBox="1"/>
          <p:nvPr>
            <p:ph idx="4294967295" type="body"/>
          </p:nvPr>
        </p:nvSpPr>
        <p:spPr>
          <a:xfrm>
            <a:off x="720000" y="1866750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Time</a:t>
            </a:r>
            <a:r>
              <a:rPr lang="en" sz="1500"/>
              <a:t> – </a:t>
            </a:r>
            <a:r>
              <a:rPr b="1" lang="en" sz="1500"/>
              <a:t>24 HOURS, 60 Minutes, 60 Seconds</a:t>
            </a:r>
            <a:endParaRPr b="1" sz="1500"/>
          </a:p>
        </p:txBody>
      </p:sp>
      <p:sp>
        <p:nvSpPr>
          <p:cNvPr id="663" name="Google Shape;663;p32"/>
          <p:cNvSpPr txBox="1"/>
          <p:nvPr>
            <p:ph idx="4294967295" type="body"/>
          </p:nvPr>
        </p:nvSpPr>
        <p:spPr>
          <a:xfrm>
            <a:off x="720000" y="2208540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Alphabets</a:t>
            </a:r>
            <a:r>
              <a:rPr lang="en" sz="1500"/>
              <a:t> – </a:t>
            </a:r>
            <a:r>
              <a:rPr b="1" lang="en" sz="1500"/>
              <a:t>26 </a:t>
            </a:r>
            <a:endParaRPr b="1" sz="1500"/>
          </a:p>
        </p:txBody>
      </p:sp>
      <p:sp>
        <p:nvSpPr>
          <p:cNvPr id="664" name="Google Shape;664;p32"/>
          <p:cNvSpPr txBox="1"/>
          <p:nvPr>
            <p:ph idx="4294967295" type="body"/>
          </p:nvPr>
        </p:nvSpPr>
        <p:spPr>
          <a:xfrm>
            <a:off x="720000" y="2550331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Number Systems</a:t>
            </a:r>
            <a:endParaRPr b="1"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Systems</a:t>
            </a:r>
            <a:endParaRPr/>
          </a:p>
        </p:txBody>
      </p:sp>
      <p:sp>
        <p:nvSpPr>
          <p:cNvPr id="670" name="Google Shape;670;p33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71" name="Google Shape;671;p3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represent values?</a:t>
            </a:r>
            <a:endParaRPr/>
          </a:p>
        </p:txBody>
      </p:sp>
      <p:cxnSp>
        <p:nvCxnSpPr>
          <p:cNvPr id="672" name="Google Shape;672;p33"/>
          <p:cNvCxnSpPr>
            <a:stCxn id="67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Systems</a:t>
            </a:r>
            <a:endParaRPr/>
          </a:p>
        </p:txBody>
      </p:sp>
      <p:sp>
        <p:nvSpPr>
          <p:cNvPr id="679" name="Google Shape;679;p34"/>
          <p:cNvSpPr txBox="1"/>
          <p:nvPr>
            <p:ph idx="4294967295" type="body"/>
          </p:nvPr>
        </p:nvSpPr>
        <p:spPr>
          <a:xfrm>
            <a:off x="720000" y="12845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 number system is a way to </a:t>
            </a:r>
            <a:r>
              <a:rPr b="1" lang="en" sz="1500"/>
              <a:t>represent </a:t>
            </a:r>
            <a:r>
              <a:rPr lang="en" sz="1500"/>
              <a:t>and </a:t>
            </a:r>
            <a:r>
              <a:rPr b="1" lang="en" sz="1500"/>
              <a:t>express </a:t>
            </a:r>
            <a:r>
              <a:rPr lang="en" sz="1500"/>
              <a:t>numbers using a </a:t>
            </a:r>
            <a:r>
              <a:rPr b="1" lang="en" sz="1500"/>
              <a:t>set of symbols</a:t>
            </a:r>
            <a:r>
              <a:rPr lang="en" sz="1500"/>
              <a:t> (</a:t>
            </a:r>
            <a:r>
              <a:rPr b="1" lang="en" sz="1500"/>
              <a:t>digits</a:t>
            </a:r>
            <a:r>
              <a:rPr lang="en" sz="1500"/>
              <a:t>) and rules.</a:t>
            </a:r>
            <a:endParaRPr b="1" sz="1500"/>
          </a:p>
        </p:txBody>
      </p:sp>
      <p:sp>
        <p:nvSpPr>
          <p:cNvPr id="680" name="Google Shape;68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34"/>
          <p:cNvSpPr txBox="1"/>
          <p:nvPr>
            <p:ph idx="4294967295" type="body"/>
          </p:nvPr>
        </p:nvSpPr>
        <p:spPr>
          <a:xfrm>
            <a:off x="720000" y="21227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most common number systems are –</a:t>
            </a:r>
            <a:endParaRPr b="1" sz="1500"/>
          </a:p>
        </p:txBody>
      </p:sp>
      <p:sp>
        <p:nvSpPr>
          <p:cNvPr id="682" name="Google Shape;682;p34"/>
          <p:cNvSpPr txBox="1"/>
          <p:nvPr>
            <p:ph idx="4294967295" type="body"/>
          </p:nvPr>
        </p:nvSpPr>
        <p:spPr>
          <a:xfrm>
            <a:off x="1482000" y="2503725"/>
            <a:ext cx="1607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Decimal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83" name="Google Shape;683;p34"/>
          <p:cNvSpPr txBox="1"/>
          <p:nvPr>
            <p:ph idx="4294967295" type="body"/>
          </p:nvPr>
        </p:nvSpPr>
        <p:spPr>
          <a:xfrm>
            <a:off x="1482000" y="2808525"/>
            <a:ext cx="1607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Binary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84" name="Google Shape;684;p34"/>
          <p:cNvSpPr txBox="1"/>
          <p:nvPr>
            <p:ph idx="4294967295" type="body"/>
          </p:nvPr>
        </p:nvSpPr>
        <p:spPr>
          <a:xfrm>
            <a:off x="1482000" y="3113325"/>
            <a:ext cx="1607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Octal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85" name="Google Shape;685;p34"/>
          <p:cNvSpPr txBox="1"/>
          <p:nvPr>
            <p:ph idx="4294967295" type="body"/>
          </p:nvPr>
        </p:nvSpPr>
        <p:spPr>
          <a:xfrm>
            <a:off x="1482000" y="3418125"/>
            <a:ext cx="1820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Hexadecimal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5"/>
          <p:cNvSpPr txBox="1"/>
          <p:nvPr>
            <p:ph idx="1" type="body"/>
          </p:nvPr>
        </p:nvSpPr>
        <p:spPr>
          <a:xfrm>
            <a:off x="715100" y="1299450"/>
            <a:ext cx="50289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Humans have 10 fingers and the natural number system </a:t>
            </a:r>
            <a:r>
              <a:rPr lang="en" sz="1500">
                <a:solidFill>
                  <a:schemeClr val="dk1"/>
                </a:solidFill>
              </a:rPr>
              <a:t>contains</a:t>
            </a:r>
            <a:r>
              <a:rPr lang="en" sz="1500">
                <a:solidFill>
                  <a:schemeClr val="dk1"/>
                </a:solidFill>
              </a:rPr>
              <a:t> 10 digits as well.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91" name="Google Shape;691;p35"/>
          <p:cNvSpPr txBox="1"/>
          <p:nvPr>
            <p:ph type="title"/>
          </p:nvPr>
        </p:nvSpPr>
        <p:spPr>
          <a:xfrm>
            <a:off x="715100" y="742350"/>
            <a:ext cx="4751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/>
              <a:t>A Brief History of Numbers</a:t>
            </a:r>
            <a:endParaRPr i="1" sz="2800"/>
          </a:p>
        </p:txBody>
      </p:sp>
      <p:cxnSp>
        <p:nvCxnSpPr>
          <p:cNvPr id="692" name="Google Shape;692;p35"/>
          <p:cNvCxnSpPr>
            <a:stCxn id="69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35"/>
          <p:cNvCxnSpPr>
            <a:endCxn id="69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6" name="Google Shape;696;p35"/>
          <p:cNvPicPr preferRelativeResize="0"/>
          <p:nvPr/>
        </p:nvPicPr>
        <p:blipFill rotWithShape="1">
          <a:blip r:embed="rId3">
            <a:alphaModFix/>
          </a:blip>
          <a:srcRect b="0" l="0" r="0" t="56117"/>
          <a:stretch/>
        </p:blipFill>
        <p:spPr>
          <a:xfrm>
            <a:off x="5888837" y="966750"/>
            <a:ext cx="2667950" cy="19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5"/>
          <p:cNvSpPr txBox="1"/>
          <p:nvPr>
            <p:ph idx="1" type="body"/>
          </p:nvPr>
        </p:nvSpPr>
        <p:spPr>
          <a:xfrm>
            <a:off x="726575" y="1962150"/>
            <a:ext cx="50289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Long before writing, people counted using their hands, </a:t>
            </a:r>
            <a:r>
              <a:rPr lang="en" sz="1500">
                <a:solidFill>
                  <a:schemeClr val="dk1"/>
                </a:solidFill>
              </a:rPr>
              <a:t>that likely shaped our earliest way of counting. The decimal system (digits 0–9) reflects our anatomy. It's not just practical — it's biologically inspired. </a:t>
            </a:r>
            <a:endParaRPr sz="1500">
              <a:solidFill>
                <a:schemeClr val="dk1"/>
              </a:solidFill>
            </a:endParaRPr>
          </a:p>
        </p:txBody>
      </p:sp>
      <p:grpSp>
        <p:nvGrpSpPr>
          <p:cNvPr id="698" name="Google Shape;698;p35"/>
          <p:cNvGrpSpPr/>
          <p:nvPr/>
        </p:nvGrpSpPr>
        <p:grpSpPr>
          <a:xfrm>
            <a:off x="1592137" y="3435609"/>
            <a:ext cx="1577743" cy="1143000"/>
            <a:chOff x="3714857" y="3239335"/>
            <a:chExt cx="4391158" cy="2724672"/>
          </a:xfrm>
        </p:grpSpPr>
        <p:pic>
          <p:nvPicPr>
            <p:cNvPr descr="Free Cute sheep cartoon design character 9366565 PNG with Transparent  Background" id="699" name="Google Shape;69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01287" y="4068853"/>
              <a:ext cx="1038723" cy="108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ree Cute sheep cartoon design character 9366565 PNG with Transparent  Background" id="700" name="Google Shape;700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99416" y="4471495"/>
              <a:ext cx="1038723" cy="108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ree Cute sheep cartoon design character 9366565 PNG with Transparent  Background" id="701" name="Google Shape;701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38600" y="3239335"/>
              <a:ext cx="1038723" cy="108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ree Cute sheep cartoon design character 9366565 PNG with Transparent  Background" id="702" name="Google Shape;702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67292" y="3239335"/>
              <a:ext cx="1038723" cy="108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ree Cute sheep cartoon design character 9366565 PNG with Transparent  Background" id="703" name="Google Shape;703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16994" y="3784269"/>
              <a:ext cx="1038723" cy="108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ree Cute sheep cartoon design character 9366565 PNG with Transparent  Background" id="704" name="Google Shape;70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46762" y="4874138"/>
              <a:ext cx="1038723" cy="108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ree Cute sheep cartoon design character 9366565 PNG with Transparent  Background" id="705" name="Google Shape;705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4857" y="4679489"/>
              <a:ext cx="1038723" cy="10898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6" name="Google Shape;706;p35"/>
          <p:cNvSpPr/>
          <p:nvPr/>
        </p:nvSpPr>
        <p:spPr>
          <a:xfrm>
            <a:off x="3413555" y="3810918"/>
            <a:ext cx="6066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475 Seven Fingers Stock Vector Illustration and Royalty Free Seven Fingers  Clipart" id="707" name="Google Shape;707;p35"/>
          <p:cNvPicPr preferRelativeResize="0"/>
          <p:nvPr/>
        </p:nvPicPr>
        <p:blipFill rotWithShape="1">
          <a:blip r:embed="rId5">
            <a:alphaModFix/>
          </a:blip>
          <a:srcRect b="8198" l="35350" r="-971" t="0"/>
          <a:stretch/>
        </p:blipFill>
        <p:spPr>
          <a:xfrm>
            <a:off x="4090495" y="3167725"/>
            <a:ext cx="2199476" cy="144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75 Seven Fingers Stock Vector Illustration and Royalty Free Seven Fingers  Clipart" id="708" name="Google Shape;708;p35"/>
          <p:cNvPicPr preferRelativeResize="0"/>
          <p:nvPr/>
        </p:nvPicPr>
        <p:blipFill rotWithShape="1">
          <a:blip r:embed="rId5">
            <a:alphaModFix/>
          </a:blip>
          <a:srcRect b="29977" l="0" r="66273" t="0"/>
          <a:stretch/>
        </p:blipFill>
        <p:spPr>
          <a:xfrm>
            <a:off x="6675126" y="3399383"/>
            <a:ext cx="1130475" cy="1105726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35"/>
          <p:cNvSpPr/>
          <p:nvPr/>
        </p:nvSpPr>
        <p:spPr>
          <a:xfrm>
            <a:off x="6173481" y="3808418"/>
            <a:ext cx="6066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6"/>
          <p:cNvSpPr txBox="1"/>
          <p:nvPr>
            <p:ph idx="1" type="body"/>
          </p:nvPr>
        </p:nvSpPr>
        <p:spPr>
          <a:xfrm>
            <a:off x="715100" y="1299450"/>
            <a:ext cx="50289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Different civilizations had different number systems: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15" name="Google Shape;715;p36"/>
          <p:cNvSpPr txBox="1"/>
          <p:nvPr>
            <p:ph type="title"/>
          </p:nvPr>
        </p:nvSpPr>
        <p:spPr>
          <a:xfrm>
            <a:off x="715100" y="742350"/>
            <a:ext cx="4751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/>
              <a:t>A Brief History of Numbers</a:t>
            </a:r>
            <a:endParaRPr i="1" sz="2800"/>
          </a:p>
        </p:txBody>
      </p:sp>
      <p:cxnSp>
        <p:nvCxnSpPr>
          <p:cNvPr id="716" name="Google Shape;716;p36"/>
          <p:cNvCxnSpPr>
            <a:stCxn id="71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6"/>
          <p:cNvCxnSpPr>
            <a:endCxn id="71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p36"/>
          <p:cNvSpPr txBox="1"/>
          <p:nvPr>
            <p:ph idx="1" type="body"/>
          </p:nvPr>
        </p:nvSpPr>
        <p:spPr>
          <a:xfrm>
            <a:off x="715100" y="1604250"/>
            <a:ext cx="62586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1. </a:t>
            </a:r>
            <a:r>
              <a:rPr b="1" lang="en" sz="1500" u="sng">
                <a:solidFill>
                  <a:schemeClr val="dk1"/>
                </a:solidFill>
              </a:rPr>
              <a:t>Arabs</a:t>
            </a:r>
            <a:endParaRPr sz="1500" u="sng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As discussed before, number system with 10 digits.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Used by Romans, Indians, Chinese and Egyptians as well     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21" name="Google Shape;721;p36"/>
          <p:cNvSpPr txBox="1"/>
          <p:nvPr>
            <p:ph idx="1" type="body"/>
          </p:nvPr>
        </p:nvSpPr>
        <p:spPr>
          <a:xfrm>
            <a:off x="715100" y="2366250"/>
            <a:ext cx="62586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2</a:t>
            </a:r>
            <a:r>
              <a:rPr lang="en" sz="1500">
                <a:solidFill>
                  <a:schemeClr val="dk1"/>
                </a:solidFill>
              </a:rPr>
              <a:t>. </a:t>
            </a:r>
            <a:r>
              <a:rPr b="1" lang="en" sz="1500" u="sng">
                <a:solidFill>
                  <a:schemeClr val="dk1"/>
                </a:solidFill>
              </a:rPr>
              <a:t>Mayans</a:t>
            </a:r>
            <a:endParaRPr sz="1500" u="sng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Used 20 digit number system.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Counted with fingers and toes.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22" name="Google Shape;722;p36"/>
          <p:cNvSpPr txBox="1"/>
          <p:nvPr>
            <p:ph idx="1" type="body"/>
          </p:nvPr>
        </p:nvSpPr>
        <p:spPr>
          <a:xfrm>
            <a:off x="715100" y="3128250"/>
            <a:ext cx="76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3</a:t>
            </a:r>
            <a:r>
              <a:rPr lang="en" sz="1500">
                <a:solidFill>
                  <a:schemeClr val="dk1"/>
                </a:solidFill>
              </a:rPr>
              <a:t>. </a:t>
            </a:r>
            <a:r>
              <a:rPr b="1" lang="en" sz="1500" u="sng">
                <a:solidFill>
                  <a:schemeClr val="dk1"/>
                </a:solidFill>
              </a:rPr>
              <a:t>Babylonians</a:t>
            </a:r>
            <a:endParaRPr sz="1500" u="sng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</a:t>
            </a:r>
            <a:r>
              <a:rPr lang="en" sz="1500">
                <a:solidFill>
                  <a:schemeClr val="dk1"/>
                </a:solidFill>
              </a:rPr>
              <a:t>The Babylonian number system used base 60 (sexagesimal) because of its high    divisibility (by 1, 2, 3, 4, 5, 6, 10, 12, 15, 20, 30 and 60). 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</a:t>
            </a:r>
            <a:r>
              <a:rPr lang="en" sz="1500">
                <a:solidFill>
                  <a:schemeClr val="dk1"/>
                </a:solidFill>
              </a:rPr>
              <a:t>Babylonians tracked the movements of the sun, moon, and planets. They needed a system that allowed precise fractions, especially for time and angular measurements. (1 minute = 60 seconds, 1 hour = 60 minutes)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37"/>
          <p:cNvSpPr txBox="1"/>
          <p:nvPr>
            <p:ph type="title"/>
          </p:nvPr>
        </p:nvSpPr>
        <p:spPr>
          <a:xfrm>
            <a:off x="715100" y="742350"/>
            <a:ext cx="4751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Common Number Systems</a:t>
            </a:r>
            <a:endParaRPr i="1" sz="2800"/>
          </a:p>
        </p:txBody>
      </p:sp>
      <p:graphicFrame>
        <p:nvGraphicFramePr>
          <p:cNvPr id="729" name="Google Shape;729;p37"/>
          <p:cNvGraphicFramePr/>
          <p:nvPr/>
        </p:nvGraphicFramePr>
        <p:xfrm>
          <a:off x="1857375" y="157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{76DB9E56-8A7C-43C7-8186-58A39646E9DB}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Number System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ABB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Base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ABB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Digits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ABBF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Binary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0,1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Octal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0,1,2,3,4,5,6,7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Decimal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0,1,2,3,4,5,6,7,8,9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Hexadecimal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0,1,2,3,4,5,6,7,8,9, A, B, C, D, E, F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730" name="Google Shape;730;p37"/>
          <p:cNvCxnSpPr/>
          <p:nvPr/>
        </p:nvCxnSpPr>
        <p:spPr>
          <a:xfrm>
            <a:off x="544650" y="4163475"/>
            <a:ext cx="805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37"/>
          <p:cNvSpPr txBox="1"/>
          <p:nvPr/>
        </p:nvSpPr>
        <p:spPr>
          <a:xfrm>
            <a:off x="611375" y="4283675"/>
            <a:ext cx="79881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Base </a:t>
            </a: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</a:t>
            </a:r>
            <a:r>
              <a:rPr lang="en" sz="1200">
                <a:latin typeface="Inter Tight"/>
                <a:ea typeface="Inter Tight"/>
                <a:cs typeface="Inter Tight"/>
                <a:sym typeface="Inter Tight"/>
              </a:rPr>
              <a:t>number of unique digits (including 0) that the system uses to represent numbers.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8"/>
          <p:cNvSpPr txBox="1"/>
          <p:nvPr>
            <p:ph idx="1" type="body"/>
          </p:nvPr>
        </p:nvSpPr>
        <p:spPr>
          <a:xfrm>
            <a:off x="715100" y="1756650"/>
            <a:ext cx="747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As the base (radix) of a number system increases, you need fewer digits to represent the same value.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37" name="Google Shape;737;p38"/>
          <p:cNvSpPr txBox="1"/>
          <p:nvPr>
            <p:ph type="title"/>
          </p:nvPr>
        </p:nvSpPr>
        <p:spPr>
          <a:xfrm>
            <a:off x="715100" y="1123350"/>
            <a:ext cx="7710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Relationship between Base and Number of Digits</a:t>
            </a:r>
            <a:endParaRPr sz="2800"/>
          </a:p>
        </p:txBody>
      </p:sp>
      <p:cxnSp>
        <p:nvCxnSpPr>
          <p:cNvPr id="738" name="Google Shape;738;p38"/>
          <p:cNvCxnSpPr>
            <a:stCxn id="73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38"/>
          <p:cNvCxnSpPr>
            <a:endCxn id="73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2" name="Google Shape;742;p38"/>
          <p:cNvSpPr txBox="1"/>
          <p:nvPr>
            <p:ph idx="1" type="body"/>
          </p:nvPr>
        </p:nvSpPr>
        <p:spPr>
          <a:xfrm>
            <a:off x="715100" y="2442450"/>
            <a:ext cx="747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But it comes with a trade-off, higher the based the more symbols you need, the harder it becomes to remember, write, and process numbers.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9"/>
          <p:cNvSpPr txBox="1"/>
          <p:nvPr>
            <p:ph type="title"/>
          </p:nvPr>
        </p:nvSpPr>
        <p:spPr>
          <a:xfrm>
            <a:off x="1360425" y="2595800"/>
            <a:ext cx="64734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Number System Conversion</a:t>
            </a:r>
            <a:endParaRPr sz="3600"/>
          </a:p>
        </p:txBody>
      </p:sp>
      <p:sp>
        <p:nvSpPr>
          <p:cNvPr id="748" name="Google Shape;748;p3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9" name="Google Shape;749;p3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numbers from one base to another</a:t>
            </a:r>
            <a:endParaRPr/>
          </a:p>
        </p:txBody>
      </p:sp>
      <p:cxnSp>
        <p:nvCxnSpPr>
          <p:cNvPr id="750" name="Google Shape;750;p39"/>
          <p:cNvCxnSpPr>
            <a:stCxn id="748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7" name="Google Shape;757;p40"/>
          <p:cNvSpPr txBox="1"/>
          <p:nvPr>
            <p:ph type="title"/>
          </p:nvPr>
        </p:nvSpPr>
        <p:spPr>
          <a:xfrm>
            <a:off x="715100" y="742350"/>
            <a:ext cx="5259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Systems Conversion</a:t>
            </a:r>
            <a:endParaRPr sz="2800"/>
          </a:p>
        </p:txBody>
      </p:sp>
      <p:sp>
        <p:nvSpPr>
          <p:cNvPr id="758" name="Google Shape;758;p40"/>
          <p:cNvSpPr/>
          <p:nvPr/>
        </p:nvSpPr>
        <p:spPr>
          <a:xfrm>
            <a:off x="3588150" y="1431850"/>
            <a:ext cx="2033400" cy="393600"/>
          </a:xfrm>
          <a:prstGeom prst="rect">
            <a:avLst/>
          </a:prstGeom>
          <a:solidFill>
            <a:srgbClr val="ABB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Decimal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9" name="Google Shape;759;p40"/>
          <p:cNvSpPr/>
          <p:nvPr/>
        </p:nvSpPr>
        <p:spPr>
          <a:xfrm>
            <a:off x="1361700" y="20539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→ Binary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0" name="Google Shape;760;p40"/>
          <p:cNvSpPr/>
          <p:nvPr/>
        </p:nvSpPr>
        <p:spPr>
          <a:xfrm>
            <a:off x="1361700" y="27397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→ Octal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1" name="Google Shape;761;p40"/>
          <p:cNvSpPr/>
          <p:nvPr/>
        </p:nvSpPr>
        <p:spPr>
          <a:xfrm>
            <a:off x="1361700" y="34255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→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2" name="Google Shape;762;p40"/>
          <p:cNvSpPr/>
          <p:nvPr/>
        </p:nvSpPr>
        <p:spPr>
          <a:xfrm>
            <a:off x="4866900" y="20539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→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3" name="Google Shape;763;p40"/>
          <p:cNvSpPr/>
          <p:nvPr/>
        </p:nvSpPr>
        <p:spPr>
          <a:xfrm>
            <a:off x="4866900" y="27397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→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40"/>
          <p:cNvSpPr/>
          <p:nvPr/>
        </p:nvSpPr>
        <p:spPr>
          <a:xfrm>
            <a:off x="4866900" y="34255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Hexadecimal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0" name="Google Shape;770;p41"/>
          <p:cNvSpPr txBox="1"/>
          <p:nvPr>
            <p:ph type="title"/>
          </p:nvPr>
        </p:nvSpPr>
        <p:spPr>
          <a:xfrm>
            <a:off x="715100" y="742350"/>
            <a:ext cx="5259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Systems Conversion</a:t>
            </a:r>
            <a:endParaRPr sz="2800"/>
          </a:p>
        </p:txBody>
      </p:sp>
      <p:sp>
        <p:nvSpPr>
          <p:cNvPr id="771" name="Google Shape;771;p41"/>
          <p:cNvSpPr/>
          <p:nvPr/>
        </p:nvSpPr>
        <p:spPr>
          <a:xfrm>
            <a:off x="3588150" y="1431850"/>
            <a:ext cx="2033400" cy="393600"/>
          </a:xfrm>
          <a:prstGeom prst="rect">
            <a:avLst/>
          </a:prstGeom>
          <a:solidFill>
            <a:srgbClr val="ABB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Binary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1361700" y="20539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Octal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3" name="Google Shape;773;p41"/>
          <p:cNvSpPr/>
          <p:nvPr/>
        </p:nvSpPr>
        <p:spPr>
          <a:xfrm>
            <a:off x="1361700" y="27397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4" name="Google Shape;774;p41"/>
          <p:cNvSpPr/>
          <p:nvPr/>
        </p:nvSpPr>
        <p:spPr>
          <a:xfrm>
            <a:off x="4866900" y="20539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 → Binary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5" name="Google Shape;775;p41"/>
          <p:cNvSpPr/>
          <p:nvPr/>
        </p:nvSpPr>
        <p:spPr>
          <a:xfrm>
            <a:off x="4866900" y="27397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Hexadecimal → Binary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1" name="Google Shape;781;p42"/>
          <p:cNvSpPr txBox="1"/>
          <p:nvPr>
            <p:ph type="title"/>
          </p:nvPr>
        </p:nvSpPr>
        <p:spPr>
          <a:xfrm>
            <a:off x="715100" y="742350"/>
            <a:ext cx="5259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Systems Conversion</a:t>
            </a:r>
            <a:endParaRPr sz="2800"/>
          </a:p>
        </p:txBody>
      </p:sp>
      <p:sp>
        <p:nvSpPr>
          <p:cNvPr id="782" name="Google Shape;782;p42"/>
          <p:cNvSpPr/>
          <p:nvPr/>
        </p:nvSpPr>
        <p:spPr>
          <a:xfrm>
            <a:off x="3588150" y="1431850"/>
            <a:ext cx="2033400" cy="393600"/>
          </a:xfrm>
          <a:prstGeom prst="rect">
            <a:avLst/>
          </a:prstGeom>
          <a:solidFill>
            <a:srgbClr val="ABB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Octal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3" name="Google Shape;783;p42"/>
          <p:cNvSpPr/>
          <p:nvPr/>
        </p:nvSpPr>
        <p:spPr>
          <a:xfrm>
            <a:off x="1361700" y="20539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4" name="Google Shape;784;p42"/>
          <p:cNvSpPr/>
          <p:nvPr/>
        </p:nvSpPr>
        <p:spPr>
          <a:xfrm>
            <a:off x="4866900" y="20539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Hexadecimal → Octal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0" name="Google Shape;790;p43"/>
          <p:cNvSpPr txBox="1"/>
          <p:nvPr>
            <p:ph type="title"/>
          </p:nvPr>
        </p:nvSpPr>
        <p:spPr>
          <a:xfrm>
            <a:off x="715100" y="742350"/>
            <a:ext cx="6036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Systems Conversion </a:t>
            </a:r>
            <a:r>
              <a:rPr lang="en" sz="1900"/>
              <a:t>(in short)</a:t>
            </a:r>
            <a:endParaRPr sz="1900"/>
          </a:p>
        </p:txBody>
      </p:sp>
      <p:sp>
        <p:nvSpPr>
          <p:cNvPr id="791" name="Google Shape;791;p43"/>
          <p:cNvSpPr/>
          <p:nvPr/>
        </p:nvSpPr>
        <p:spPr>
          <a:xfrm>
            <a:off x="773650" y="1373075"/>
            <a:ext cx="2018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→ Any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2" name="Google Shape;792;p43"/>
          <p:cNvSpPr txBox="1"/>
          <p:nvPr/>
        </p:nvSpPr>
        <p:spPr>
          <a:xfrm>
            <a:off x="2935375" y="1261925"/>
            <a:ext cx="545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Integer: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Keep dividing the number by the target base. Read remainders in reverse (bottom to top).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Fraction: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Multiply the fractional part by the base. Take the whole number part as the next digit. Repeat with the new fractional part.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3" name="Google Shape;793;p43"/>
          <p:cNvSpPr/>
          <p:nvPr/>
        </p:nvSpPr>
        <p:spPr>
          <a:xfrm>
            <a:off x="773650" y="2287475"/>
            <a:ext cx="2018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Any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4" name="Google Shape;794;p43"/>
          <p:cNvSpPr txBox="1"/>
          <p:nvPr/>
        </p:nvSpPr>
        <p:spPr>
          <a:xfrm>
            <a:off x="2935375" y="2328725"/>
            <a:ext cx="54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Sum of product each digit by the base raised to its position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5" name="Google Shape;795;p43"/>
          <p:cNvSpPr/>
          <p:nvPr/>
        </p:nvSpPr>
        <p:spPr>
          <a:xfrm>
            <a:off x="773650" y="3049475"/>
            <a:ext cx="2018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 → Octal/Hex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6" name="Google Shape;796;p43"/>
          <p:cNvSpPr txBox="1"/>
          <p:nvPr/>
        </p:nvSpPr>
        <p:spPr>
          <a:xfrm>
            <a:off x="2935375" y="3090725"/>
            <a:ext cx="54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Group 3 (octal) or 4 (hex) bits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7" name="Google Shape;797;p43"/>
          <p:cNvSpPr/>
          <p:nvPr/>
        </p:nvSpPr>
        <p:spPr>
          <a:xfrm>
            <a:off x="773650" y="3811475"/>
            <a:ext cx="2018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Octal/Hex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→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8" name="Google Shape;798;p43"/>
          <p:cNvSpPr txBox="1"/>
          <p:nvPr/>
        </p:nvSpPr>
        <p:spPr>
          <a:xfrm>
            <a:off x="2935375" y="3852725"/>
            <a:ext cx="54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Convert each digit to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3 (octal) or 4 (hex) bits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44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→ Binary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5" name="Google Shape;805;p44"/>
          <p:cNvSpPr txBox="1"/>
          <p:nvPr/>
        </p:nvSpPr>
        <p:spPr>
          <a:xfrm>
            <a:off x="4168925" y="6644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(75.45)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binary.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6" name="Google Shape;806;p44"/>
          <p:cNvSpPr txBox="1"/>
          <p:nvPr/>
        </p:nvSpPr>
        <p:spPr>
          <a:xfrm>
            <a:off x="1338490" y="1589675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07" name="Google Shape;807;p44"/>
          <p:cNvGrpSpPr/>
          <p:nvPr/>
        </p:nvGrpSpPr>
        <p:grpSpPr>
          <a:xfrm>
            <a:off x="1197757" y="1635931"/>
            <a:ext cx="777580" cy="291835"/>
            <a:chOff x="4940275" y="1877500"/>
            <a:chExt cx="840900" cy="315600"/>
          </a:xfrm>
        </p:grpSpPr>
        <p:cxnSp>
          <p:nvCxnSpPr>
            <p:cNvPr id="808" name="Google Shape;808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0" name="Google Shape;810;p44"/>
          <p:cNvSpPr txBox="1"/>
          <p:nvPr/>
        </p:nvSpPr>
        <p:spPr>
          <a:xfrm>
            <a:off x="845275" y="1589675"/>
            <a:ext cx="28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1" name="Google Shape;811;p44"/>
          <p:cNvSpPr txBox="1"/>
          <p:nvPr/>
        </p:nvSpPr>
        <p:spPr>
          <a:xfrm>
            <a:off x="1479408" y="194197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37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12" name="Google Shape;812;p44"/>
          <p:cNvGrpSpPr/>
          <p:nvPr/>
        </p:nvGrpSpPr>
        <p:grpSpPr>
          <a:xfrm>
            <a:off x="1338676" y="1988227"/>
            <a:ext cx="777580" cy="291835"/>
            <a:chOff x="4940275" y="1877500"/>
            <a:chExt cx="840900" cy="315600"/>
          </a:xfrm>
        </p:grpSpPr>
        <p:cxnSp>
          <p:nvCxnSpPr>
            <p:cNvPr id="813" name="Google Shape;813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4" name="Google Shape;814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5" name="Google Shape;815;p44"/>
          <p:cNvSpPr txBox="1"/>
          <p:nvPr/>
        </p:nvSpPr>
        <p:spPr>
          <a:xfrm>
            <a:off x="986194" y="194197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6" name="Google Shape;816;p44"/>
          <p:cNvSpPr txBox="1"/>
          <p:nvPr/>
        </p:nvSpPr>
        <p:spPr>
          <a:xfrm>
            <a:off x="3099972" y="1941972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7" name="Google Shape;817;p44"/>
          <p:cNvSpPr txBox="1"/>
          <p:nvPr/>
        </p:nvSpPr>
        <p:spPr>
          <a:xfrm>
            <a:off x="1620327" y="2294269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18" name="Google Shape;818;p44"/>
          <p:cNvGrpSpPr/>
          <p:nvPr/>
        </p:nvGrpSpPr>
        <p:grpSpPr>
          <a:xfrm>
            <a:off x="1479594" y="2340524"/>
            <a:ext cx="777580" cy="291835"/>
            <a:chOff x="4940275" y="1877500"/>
            <a:chExt cx="840900" cy="315600"/>
          </a:xfrm>
        </p:grpSpPr>
        <p:cxnSp>
          <p:nvCxnSpPr>
            <p:cNvPr id="819" name="Google Shape;819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1" name="Google Shape;821;p44"/>
          <p:cNvSpPr txBox="1"/>
          <p:nvPr/>
        </p:nvSpPr>
        <p:spPr>
          <a:xfrm>
            <a:off x="1127112" y="2294269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2" name="Google Shape;822;p44"/>
          <p:cNvSpPr txBox="1"/>
          <p:nvPr/>
        </p:nvSpPr>
        <p:spPr>
          <a:xfrm>
            <a:off x="3099972" y="2294269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3" name="Google Shape;823;p44"/>
          <p:cNvSpPr txBox="1"/>
          <p:nvPr/>
        </p:nvSpPr>
        <p:spPr>
          <a:xfrm>
            <a:off x="1761246" y="2646565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24" name="Google Shape;824;p44"/>
          <p:cNvGrpSpPr/>
          <p:nvPr/>
        </p:nvGrpSpPr>
        <p:grpSpPr>
          <a:xfrm>
            <a:off x="1620513" y="2692821"/>
            <a:ext cx="777580" cy="291835"/>
            <a:chOff x="4940275" y="1877500"/>
            <a:chExt cx="840900" cy="315600"/>
          </a:xfrm>
        </p:grpSpPr>
        <p:cxnSp>
          <p:nvCxnSpPr>
            <p:cNvPr id="825" name="Google Shape;825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7" name="Google Shape;827;p44"/>
          <p:cNvSpPr txBox="1"/>
          <p:nvPr/>
        </p:nvSpPr>
        <p:spPr>
          <a:xfrm>
            <a:off x="1268031" y="2646565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8" name="Google Shape;828;p44"/>
          <p:cNvSpPr txBox="1"/>
          <p:nvPr/>
        </p:nvSpPr>
        <p:spPr>
          <a:xfrm>
            <a:off x="3099972" y="2646565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9" name="Google Shape;829;p44"/>
          <p:cNvSpPr txBox="1"/>
          <p:nvPr/>
        </p:nvSpPr>
        <p:spPr>
          <a:xfrm>
            <a:off x="1902164" y="299886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30" name="Google Shape;830;p44"/>
          <p:cNvGrpSpPr/>
          <p:nvPr/>
        </p:nvGrpSpPr>
        <p:grpSpPr>
          <a:xfrm>
            <a:off x="1761431" y="3045118"/>
            <a:ext cx="777580" cy="291835"/>
            <a:chOff x="4940275" y="1877500"/>
            <a:chExt cx="840900" cy="315600"/>
          </a:xfrm>
        </p:grpSpPr>
        <p:cxnSp>
          <p:nvCxnSpPr>
            <p:cNvPr id="831" name="Google Shape;831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3" name="Google Shape;833;p44"/>
          <p:cNvSpPr txBox="1"/>
          <p:nvPr/>
        </p:nvSpPr>
        <p:spPr>
          <a:xfrm>
            <a:off x="1408949" y="299886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4" name="Google Shape;834;p44"/>
          <p:cNvSpPr txBox="1"/>
          <p:nvPr/>
        </p:nvSpPr>
        <p:spPr>
          <a:xfrm>
            <a:off x="3099972" y="2998862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5" name="Google Shape;835;p44"/>
          <p:cNvSpPr txBox="1"/>
          <p:nvPr/>
        </p:nvSpPr>
        <p:spPr>
          <a:xfrm>
            <a:off x="2043083" y="3351159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36" name="Google Shape;836;p44"/>
          <p:cNvGrpSpPr/>
          <p:nvPr/>
        </p:nvGrpSpPr>
        <p:grpSpPr>
          <a:xfrm>
            <a:off x="1902350" y="3397414"/>
            <a:ext cx="777580" cy="291835"/>
            <a:chOff x="4940275" y="1877500"/>
            <a:chExt cx="840900" cy="315600"/>
          </a:xfrm>
        </p:grpSpPr>
        <p:cxnSp>
          <p:nvCxnSpPr>
            <p:cNvPr id="837" name="Google Shape;837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9" name="Google Shape;839;p44"/>
          <p:cNvSpPr txBox="1"/>
          <p:nvPr/>
        </p:nvSpPr>
        <p:spPr>
          <a:xfrm>
            <a:off x="1549868" y="3351159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0" name="Google Shape;840;p44"/>
          <p:cNvSpPr txBox="1"/>
          <p:nvPr/>
        </p:nvSpPr>
        <p:spPr>
          <a:xfrm>
            <a:off x="3099972" y="3351159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1" name="Google Shape;841;p44"/>
          <p:cNvSpPr txBox="1"/>
          <p:nvPr/>
        </p:nvSpPr>
        <p:spPr>
          <a:xfrm>
            <a:off x="2184001" y="3703456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42" name="Google Shape;842;p44"/>
          <p:cNvGrpSpPr/>
          <p:nvPr/>
        </p:nvGrpSpPr>
        <p:grpSpPr>
          <a:xfrm>
            <a:off x="2043268" y="3749711"/>
            <a:ext cx="777580" cy="291835"/>
            <a:chOff x="4940275" y="1877500"/>
            <a:chExt cx="840900" cy="315600"/>
          </a:xfrm>
        </p:grpSpPr>
        <p:cxnSp>
          <p:nvCxnSpPr>
            <p:cNvPr id="843" name="Google Shape;843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5" name="Google Shape;845;p44"/>
          <p:cNvSpPr txBox="1"/>
          <p:nvPr/>
        </p:nvSpPr>
        <p:spPr>
          <a:xfrm>
            <a:off x="1690786" y="3703456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6" name="Google Shape;846;p44"/>
          <p:cNvSpPr txBox="1"/>
          <p:nvPr/>
        </p:nvSpPr>
        <p:spPr>
          <a:xfrm>
            <a:off x="3099972" y="3703456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7" name="Google Shape;847;p44"/>
          <p:cNvSpPr txBox="1"/>
          <p:nvPr/>
        </p:nvSpPr>
        <p:spPr>
          <a:xfrm>
            <a:off x="2324920" y="405575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48" name="Google Shape;848;p44"/>
          <p:cNvGrpSpPr/>
          <p:nvPr/>
        </p:nvGrpSpPr>
        <p:grpSpPr>
          <a:xfrm>
            <a:off x="2184187" y="4102008"/>
            <a:ext cx="777580" cy="291835"/>
            <a:chOff x="4940275" y="1877500"/>
            <a:chExt cx="840900" cy="315600"/>
          </a:xfrm>
        </p:grpSpPr>
        <p:cxnSp>
          <p:nvCxnSpPr>
            <p:cNvPr id="849" name="Google Shape;849;p44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44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1" name="Google Shape;851;p44"/>
          <p:cNvSpPr txBox="1"/>
          <p:nvPr/>
        </p:nvSpPr>
        <p:spPr>
          <a:xfrm>
            <a:off x="1831705" y="405575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2" name="Google Shape;852;p44"/>
          <p:cNvSpPr txBox="1"/>
          <p:nvPr/>
        </p:nvSpPr>
        <p:spPr>
          <a:xfrm>
            <a:off x="3099972" y="4055752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3" name="Google Shape;853;p44"/>
          <p:cNvSpPr txBox="1"/>
          <p:nvPr/>
        </p:nvSpPr>
        <p:spPr>
          <a:xfrm>
            <a:off x="663725" y="12740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Integer</a:t>
            </a:r>
            <a:endParaRPr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4" name="Google Shape;854;p44"/>
          <p:cNvSpPr txBox="1"/>
          <p:nvPr/>
        </p:nvSpPr>
        <p:spPr>
          <a:xfrm>
            <a:off x="5007125" y="12740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Fraction</a:t>
            </a:r>
            <a:endParaRPr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55" name="Google Shape;855;p44"/>
          <p:cNvGrpSpPr/>
          <p:nvPr/>
        </p:nvGrpSpPr>
        <p:grpSpPr>
          <a:xfrm>
            <a:off x="5751781" y="1940550"/>
            <a:ext cx="1305300" cy="492000"/>
            <a:chOff x="5751781" y="1940550"/>
            <a:chExt cx="1305300" cy="492000"/>
          </a:xfrm>
        </p:grpSpPr>
        <p:cxnSp>
          <p:nvCxnSpPr>
            <p:cNvPr id="856" name="Google Shape;856;p44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44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8" name="Google Shape;858;p44"/>
          <p:cNvSpPr txBox="1"/>
          <p:nvPr/>
        </p:nvSpPr>
        <p:spPr>
          <a:xfrm>
            <a:off x="6051120" y="1828475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.45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59" name="Google Shape;859;p44"/>
          <p:cNvGrpSpPr/>
          <p:nvPr/>
        </p:nvGrpSpPr>
        <p:grpSpPr>
          <a:xfrm>
            <a:off x="5751781" y="2416319"/>
            <a:ext cx="1305300" cy="492000"/>
            <a:chOff x="5751781" y="1940550"/>
            <a:chExt cx="1305300" cy="492000"/>
          </a:xfrm>
        </p:grpSpPr>
        <p:cxnSp>
          <p:nvCxnSpPr>
            <p:cNvPr id="860" name="Google Shape;860;p44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44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2" name="Google Shape;862;p44"/>
          <p:cNvSpPr txBox="1"/>
          <p:nvPr/>
        </p:nvSpPr>
        <p:spPr>
          <a:xfrm>
            <a:off x="6051120" y="2343306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.90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3" name="Google Shape;863;p44"/>
          <p:cNvSpPr txBox="1"/>
          <p:nvPr/>
        </p:nvSpPr>
        <p:spPr>
          <a:xfrm>
            <a:off x="5287353" y="2427028"/>
            <a:ext cx="3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64" name="Google Shape;864;p44"/>
          <p:cNvGrpSpPr/>
          <p:nvPr/>
        </p:nvGrpSpPr>
        <p:grpSpPr>
          <a:xfrm>
            <a:off x="5751781" y="2873519"/>
            <a:ext cx="1305300" cy="492000"/>
            <a:chOff x="5751781" y="1940550"/>
            <a:chExt cx="1305300" cy="492000"/>
          </a:xfrm>
        </p:grpSpPr>
        <p:cxnSp>
          <p:nvCxnSpPr>
            <p:cNvPr id="865" name="Google Shape;865;p44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p44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7" name="Google Shape;867;p44"/>
          <p:cNvSpPr txBox="1"/>
          <p:nvPr/>
        </p:nvSpPr>
        <p:spPr>
          <a:xfrm>
            <a:off x="6051120" y="2800506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.80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8" name="Google Shape;868;p44"/>
          <p:cNvSpPr txBox="1"/>
          <p:nvPr/>
        </p:nvSpPr>
        <p:spPr>
          <a:xfrm>
            <a:off x="5287353" y="2884228"/>
            <a:ext cx="3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9" name="Google Shape;869;p44"/>
          <p:cNvSpPr txBox="1"/>
          <p:nvPr/>
        </p:nvSpPr>
        <p:spPr>
          <a:xfrm>
            <a:off x="6049349" y="3341425"/>
            <a:ext cx="54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…..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70" name="Google Shape;870;p44"/>
          <p:cNvCxnSpPr/>
          <p:nvPr/>
        </p:nvCxnSpPr>
        <p:spPr>
          <a:xfrm>
            <a:off x="4113975" y="2033400"/>
            <a:ext cx="0" cy="2237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1" name="Google Shape;871;p44"/>
          <p:cNvCxnSpPr/>
          <p:nvPr/>
        </p:nvCxnSpPr>
        <p:spPr>
          <a:xfrm>
            <a:off x="5241225" y="1973275"/>
            <a:ext cx="0" cy="138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2" name="Google Shape;872;p44"/>
          <p:cNvSpPr txBox="1"/>
          <p:nvPr/>
        </p:nvSpPr>
        <p:spPr>
          <a:xfrm>
            <a:off x="3764025" y="16749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3" name="Google Shape;873;p44"/>
          <p:cNvSpPr txBox="1"/>
          <p:nvPr/>
        </p:nvSpPr>
        <p:spPr>
          <a:xfrm>
            <a:off x="3764025" y="43419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4" name="Google Shape;874;p44"/>
          <p:cNvSpPr txBox="1"/>
          <p:nvPr/>
        </p:nvSpPr>
        <p:spPr>
          <a:xfrm>
            <a:off x="4907025" y="16749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5" name="Google Shape;875;p44"/>
          <p:cNvSpPr txBox="1"/>
          <p:nvPr/>
        </p:nvSpPr>
        <p:spPr>
          <a:xfrm>
            <a:off x="4907025" y="33513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6" name="Google Shape;876;p44"/>
          <p:cNvSpPr txBox="1"/>
          <p:nvPr/>
        </p:nvSpPr>
        <p:spPr>
          <a:xfrm>
            <a:off x="5045500" y="4026350"/>
            <a:ext cx="29859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(75.45)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(1001011.01)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2" name="Google Shape;882;p45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→ Octal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3" name="Google Shape;883;p45"/>
          <p:cNvSpPr txBox="1"/>
          <p:nvPr/>
        </p:nvSpPr>
        <p:spPr>
          <a:xfrm>
            <a:off x="4168925" y="6644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(75.45)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octal.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4" name="Google Shape;884;p45"/>
          <p:cNvSpPr txBox="1"/>
          <p:nvPr/>
        </p:nvSpPr>
        <p:spPr>
          <a:xfrm>
            <a:off x="1338490" y="1589675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85" name="Google Shape;885;p45"/>
          <p:cNvGrpSpPr/>
          <p:nvPr/>
        </p:nvGrpSpPr>
        <p:grpSpPr>
          <a:xfrm>
            <a:off x="1197757" y="1635931"/>
            <a:ext cx="777580" cy="291835"/>
            <a:chOff x="4940275" y="1877500"/>
            <a:chExt cx="840900" cy="315600"/>
          </a:xfrm>
        </p:grpSpPr>
        <p:cxnSp>
          <p:nvCxnSpPr>
            <p:cNvPr id="886" name="Google Shape;886;p45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45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8" name="Google Shape;888;p45"/>
          <p:cNvSpPr txBox="1"/>
          <p:nvPr/>
        </p:nvSpPr>
        <p:spPr>
          <a:xfrm>
            <a:off x="845275" y="1589675"/>
            <a:ext cx="28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9" name="Google Shape;889;p45"/>
          <p:cNvSpPr txBox="1"/>
          <p:nvPr/>
        </p:nvSpPr>
        <p:spPr>
          <a:xfrm>
            <a:off x="1479408" y="194197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90" name="Google Shape;890;p45"/>
          <p:cNvGrpSpPr/>
          <p:nvPr/>
        </p:nvGrpSpPr>
        <p:grpSpPr>
          <a:xfrm>
            <a:off x="1338676" y="1988227"/>
            <a:ext cx="777580" cy="291835"/>
            <a:chOff x="4940275" y="1877500"/>
            <a:chExt cx="840900" cy="315600"/>
          </a:xfrm>
        </p:grpSpPr>
        <p:cxnSp>
          <p:nvCxnSpPr>
            <p:cNvPr id="891" name="Google Shape;891;p45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45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3" name="Google Shape;893;p45"/>
          <p:cNvSpPr txBox="1"/>
          <p:nvPr/>
        </p:nvSpPr>
        <p:spPr>
          <a:xfrm>
            <a:off x="986194" y="194197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4" name="Google Shape;894;p45"/>
          <p:cNvSpPr txBox="1"/>
          <p:nvPr/>
        </p:nvSpPr>
        <p:spPr>
          <a:xfrm>
            <a:off x="3099972" y="1941972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3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5" name="Google Shape;895;p45"/>
          <p:cNvSpPr txBox="1"/>
          <p:nvPr/>
        </p:nvSpPr>
        <p:spPr>
          <a:xfrm>
            <a:off x="1620327" y="2294269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96" name="Google Shape;896;p45"/>
          <p:cNvGrpSpPr/>
          <p:nvPr/>
        </p:nvGrpSpPr>
        <p:grpSpPr>
          <a:xfrm>
            <a:off x="1479594" y="2340524"/>
            <a:ext cx="777580" cy="291835"/>
            <a:chOff x="4940275" y="1877500"/>
            <a:chExt cx="840900" cy="315600"/>
          </a:xfrm>
        </p:grpSpPr>
        <p:cxnSp>
          <p:nvCxnSpPr>
            <p:cNvPr id="897" name="Google Shape;897;p45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45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9" name="Google Shape;899;p45"/>
          <p:cNvSpPr txBox="1"/>
          <p:nvPr/>
        </p:nvSpPr>
        <p:spPr>
          <a:xfrm>
            <a:off x="1127112" y="2294269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0" name="Google Shape;900;p45"/>
          <p:cNvSpPr txBox="1"/>
          <p:nvPr/>
        </p:nvSpPr>
        <p:spPr>
          <a:xfrm>
            <a:off x="3099972" y="2294269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1" name="Google Shape;901;p45"/>
          <p:cNvSpPr txBox="1"/>
          <p:nvPr/>
        </p:nvSpPr>
        <p:spPr>
          <a:xfrm>
            <a:off x="1761246" y="2646565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02" name="Google Shape;902;p45"/>
          <p:cNvGrpSpPr/>
          <p:nvPr/>
        </p:nvGrpSpPr>
        <p:grpSpPr>
          <a:xfrm>
            <a:off x="1620513" y="2692821"/>
            <a:ext cx="777580" cy="291835"/>
            <a:chOff x="4940275" y="1877500"/>
            <a:chExt cx="840900" cy="315600"/>
          </a:xfrm>
        </p:grpSpPr>
        <p:cxnSp>
          <p:nvCxnSpPr>
            <p:cNvPr id="903" name="Google Shape;903;p45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p45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5" name="Google Shape;905;p45"/>
          <p:cNvSpPr txBox="1"/>
          <p:nvPr/>
        </p:nvSpPr>
        <p:spPr>
          <a:xfrm>
            <a:off x="3099972" y="2646565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1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6" name="Google Shape;906;p45"/>
          <p:cNvSpPr txBox="1"/>
          <p:nvPr/>
        </p:nvSpPr>
        <p:spPr>
          <a:xfrm>
            <a:off x="663725" y="12740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Integer</a:t>
            </a:r>
            <a:endParaRPr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7" name="Google Shape;907;p45"/>
          <p:cNvSpPr txBox="1"/>
          <p:nvPr/>
        </p:nvSpPr>
        <p:spPr>
          <a:xfrm>
            <a:off x="5007125" y="12740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Fraction</a:t>
            </a:r>
            <a:endParaRPr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08" name="Google Shape;908;p45"/>
          <p:cNvGrpSpPr/>
          <p:nvPr/>
        </p:nvGrpSpPr>
        <p:grpSpPr>
          <a:xfrm>
            <a:off x="5751781" y="1940550"/>
            <a:ext cx="1305300" cy="492000"/>
            <a:chOff x="5751781" y="1940550"/>
            <a:chExt cx="1305300" cy="492000"/>
          </a:xfrm>
        </p:grpSpPr>
        <p:cxnSp>
          <p:nvCxnSpPr>
            <p:cNvPr id="909" name="Google Shape;909;p45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45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1" name="Google Shape;911;p45"/>
          <p:cNvSpPr txBox="1"/>
          <p:nvPr/>
        </p:nvSpPr>
        <p:spPr>
          <a:xfrm>
            <a:off x="6051120" y="1828475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.45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8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12" name="Google Shape;912;p45"/>
          <p:cNvGrpSpPr/>
          <p:nvPr/>
        </p:nvGrpSpPr>
        <p:grpSpPr>
          <a:xfrm>
            <a:off x="5751781" y="2416319"/>
            <a:ext cx="1305300" cy="492000"/>
            <a:chOff x="5751781" y="1940550"/>
            <a:chExt cx="1305300" cy="492000"/>
          </a:xfrm>
        </p:grpSpPr>
        <p:cxnSp>
          <p:nvCxnSpPr>
            <p:cNvPr id="913" name="Google Shape;913;p45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45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5" name="Google Shape;915;p45"/>
          <p:cNvSpPr txBox="1"/>
          <p:nvPr/>
        </p:nvSpPr>
        <p:spPr>
          <a:xfrm>
            <a:off x="6051120" y="2343306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.60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8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6" name="Google Shape;916;p45"/>
          <p:cNvSpPr txBox="1"/>
          <p:nvPr/>
        </p:nvSpPr>
        <p:spPr>
          <a:xfrm>
            <a:off x="5287353" y="2427028"/>
            <a:ext cx="3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17" name="Google Shape;917;p45"/>
          <p:cNvGrpSpPr/>
          <p:nvPr/>
        </p:nvGrpSpPr>
        <p:grpSpPr>
          <a:xfrm>
            <a:off x="5751781" y="2873519"/>
            <a:ext cx="1305300" cy="492000"/>
            <a:chOff x="5751781" y="1940550"/>
            <a:chExt cx="1305300" cy="492000"/>
          </a:xfrm>
        </p:grpSpPr>
        <p:cxnSp>
          <p:nvCxnSpPr>
            <p:cNvPr id="918" name="Google Shape;918;p45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45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0" name="Google Shape;920;p45"/>
          <p:cNvSpPr txBox="1"/>
          <p:nvPr/>
        </p:nvSpPr>
        <p:spPr>
          <a:xfrm>
            <a:off x="6051120" y="2800506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.80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8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1" name="Google Shape;921;p45"/>
          <p:cNvSpPr txBox="1"/>
          <p:nvPr/>
        </p:nvSpPr>
        <p:spPr>
          <a:xfrm>
            <a:off x="5287353" y="2884228"/>
            <a:ext cx="3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2" name="Google Shape;922;p45"/>
          <p:cNvSpPr txBox="1"/>
          <p:nvPr/>
        </p:nvSpPr>
        <p:spPr>
          <a:xfrm>
            <a:off x="6049349" y="3341425"/>
            <a:ext cx="54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…..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3" name="Google Shape;923;p45"/>
          <p:cNvCxnSpPr/>
          <p:nvPr/>
        </p:nvCxnSpPr>
        <p:spPr>
          <a:xfrm>
            <a:off x="4113975" y="2033400"/>
            <a:ext cx="0" cy="917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24" name="Google Shape;924;p45"/>
          <p:cNvCxnSpPr/>
          <p:nvPr/>
        </p:nvCxnSpPr>
        <p:spPr>
          <a:xfrm>
            <a:off x="5241225" y="1973275"/>
            <a:ext cx="0" cy="138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45"/>
          <p:cNvSpPr txBox="1"/>
          <p:nvPr/>
        </p:nvSpPr>
        <p:spPr>
          <a:xfrm>
            <a:off x="3764025" y="16749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6" name="Google Shape;926;p45"/>
          <p:cNvSpPr txBox="1"/>
          <p:nvPr/>
        </p:nvSpPr>
        <p:spPr>
          <a:xfrm>
            <a:off x="3764025" y="29703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7" name="Google Shape;927;p45"/>
          <p:cNvSpPr txBox="1"/>
          <p:nvPr/>
        </p:nvSpPr>
        <p:spPr>
          <a:xfrm>
            <a:off x="4907025" y="16749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8" name="Google Shape;928;p45"/>
          <p:cNvSpPr txBox="1"/>
          <p:nvPr/>
        </p:nvSpPr>
        <p:spPr>
          <a:xfrm>
            <a:off x="4907025" y="33513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9" name="Google Shape;929;p45"/>
          <p:cNvSpPr txBox="1"/>
          <p:nvPr/>
        </p:nvSpPr>
        <p:spPr>
          <a:xfrm>
            <a:off x="5045500" y="4026350"/>
            <a:ext cx="29859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(75.45)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(113.34)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5" name="Google Shape;935;p46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Decimal →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6" name="Google Shape;936;p46"/>
          <p:cNvSpPr txBox="1"/>
          <p:nvPr/>
        </p:nvSpPr>
        <p:spPr>
          <a:xfrm>
            <a:off x="4168925" y="664400"/>
            <a:ext cx="318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(75.45)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hexadecimal.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7" name="Google Shape;937;p46"/>
          <p:cNvSpPr txBox="1"/>
          <p:nvPr/>
        </p:nvSpPr>
        <p:spPr>
          <a:xfrm>
            <a:off x="1338490" y="1589675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38" name="Google Shape;938;p46"/>
          <p:cNvGrpSpPr/>
          <p:nvPr/>
        </p:nvGrpSpPr>
        <p:grpSpPr>
          <a:xfrm>
            <a:off x="1197757" y="1635931"/>
            <a:ext cx="777580" cy="291835"/>
            <a:chOff x="4940275" y="1877500"/>
            <a:chExt cx="840900" cy="315600"/>
          </a:xfrm>
        </p:grpSpPr>
        <p:cxnSp>
          <p:nvCxnSpPr>
            <p:cNvPr id="939" name="Google Shape;939;p46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0" name="Google Shape;940;p46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1" name="Google Shape;941;p46"/>
          <p:cNvSpPr txBox="1"/>
          <p:nvPr/>
        </p:nvSpPr>
        <p:spPr>
          <a:xfrm>
            <a:off x="706075" y="1589675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2" name="Google Shape;942;p46"/>
          <p:cNvSpPr txBox="1"/>
          <p:nvPr/>
        </p:nvSpPr>
        <p:spPr>
          <a:xfrm>
            <a:off x="1479408" y="1941972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43" name="Google Shape;943;p46"/>
          <p:cNvGrpSpPr/>
          <p:nvPr/>
        </p:nvGrpSpPr>
        <p:grpSpPr>
          <a:xfrm>
            <a:off x="1338676" y="1988227"/>
            <a:ext cx="777580" cy="291835"/>
            <a:chOff x="4940275" y="1877500"/>
            <a:chExt cx="840900" cy="315600"/>
          </a:xfrm>
        </p:grpSpPr>
        <p:cxnSp>
          <p:nvCxnSpPr>
            <p:cNvPr id="944" name="Google Shape;944;p46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5" name="Google Shape;945;p46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6" name="Google Shape;946;p46"/>
          <p:cNvSpPr txBox="1"/>
          <p:nvPr/>
        </p:nvSpPr>
        <p:spPr>
          <a:xfrm>
            <a:off x="945151" y="1941975"/>
            <a:ext cx="46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7" name="Google Shape;947;p46"/>
          <p:cNvSpPr txBox="1"/>
          <p:nvPr/>
        </p:nvSpPr>
        <p:spPr>
          <a:xfrm>
            <a:off x="2834327" y="1941975"/>
            <a:ext cx="111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11 (B)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8" name="Google Shape;948;p46"/>
          <p:cNvSpPr txBox="1"/>
          <p:nvPr/>
        </p:nvSpPr>
        <p:spPr>
          <a:xfrm>
            <a:off x="1620327" y="2294269"/>
            <a:ext cx="4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49" name="Google Shape;949;p46"/>
          <p:cNvGrpSpPr/>
          <p:nvPr/>
        </p:nvGrpSpPr>
        <p:grpSpPr>
          <a:xfrm>
            <a:off x="1479594" y="2340524"/>
            <a:ext cx="777580" cy="291835"/>
            <a:chOff x="4940275" y="1877500"/>
            <a:chExt cx="840900" cy="315600"/>
          </a:xfrm>
        </p:grpSpPr>
        <p:cxnSp>
          <p:nvCxnSpPr>
            <p:cNvPr id="950" name="Google Shape;950;p46"/>
            <p:cNvCxnSpPr/>
            <p:nvPr/>
          </p:nvCxnSpPr>
          <p:spPr>
            <a:xfrm>
              <a:off x="4940275" y="1877500"/>
              <a:ext cx="0" cy="315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1" name="Google Shape;951;p46"/>
            <p:cNvCxnSpPr/>
            <p:nvPr/>
          </p:nvCxnSpPr>
          <p:spPr>
            <a:xfrm rot="10800000">
              <a:off x="4940275" y="2193100"/>
              <a:ext cx="840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2" name="Google Shape;952;p46"/>
          <p:cNvSpPr txBox="1"/>
          <p:nvPr/>
        </p:nvSpPr>
        <p:spPr>
          <a:xfrm>
            <a:off x="2834327" y="2294269"/>
            <a:ext cx="8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—   4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3" name="Google Shape;953;p46"/>
          <p:cNvSpPr txBox="1"/>
          <p:nvPr/>
        </p:nvSpPr>
        <p:spPr>
          <a:xfrm>
            <a:off x="663725" y="12740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Integer</a:t>
            </a:r>
            <a:endParaRPr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4" name="Google Shape;954;p46"/>
          <p:cNvSpPr txBox="1"/>
          <p:nvPr/>
        </p:nvSpPr>
        <p:spPr>
          <a:xfrm>
            <a:off x="5007125" y="1274000"/>
            <a:ext cx="298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Fraction</a:t>
            </a:r>
            <a:endParaRPr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55" name="Google Shape;955;p46"/>
          <p:cNvGrpSpPr/>
          <p:nvPr/>
        </p:nvGrpSpPr>
        <p:grpSpPr>
          <a:xfrm>
            <a:off x="5751781" y="1940550"/>
            <a:ext cx="1305300" cy="492000"/>
            <a:chOff x="5751781" y="1940550"/>
            <a:chExt cx="1305300" cy="492000"/>
          </a:xfrm>
        </p:grpSpPr>
        <p:cxnSp>
          <p:nvCxnSpPr>
            <p:cNvPr id="956" name="Google Shape;956;p46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7" name="Google Shape;957;p46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8" name="Google Shape;958;p46"/>
          <p:cNvSpPr txBox="1"/>
          <p:nvPr/>
        </p:nvSpPr>
        <p:spPr>
          <a:xfrm>
            <a:off x="6051120" y="1828475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.45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16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59" name="Google Shape;959;p46"/>
          <p:cNvGrpSpPr/>
          <p:nvPr/>
        </p:nvGrpSpPr>
        <p:grpSpPr>
          <a:xfrm>
            <a:off x="5751781" y="2416319"/>
            <a:ext cx="1305300" cy="492000"/>
            <a:chOff x="5751781" y="1940550"/>
            <a:chExt cx="1305300" cy="492000"/>
          </a:xfrm>
        </p:grpSpPr>
        <p:cxnSp>
          <p:nvCxnSpPr>
            <p:cNvPr id="960" name="Google Shape;960;p46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1" name="Google Shape;961;p46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2" name="Google Shape;962;p46"/>
          <p:cNvSpPr txBox="1"/>
          <p:nvPr/>
        </p:nvSpPr>
        <p:spPr>
          <a:xfrm>
            <a:off x="6051120" y="2343306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.20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16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3" name="Google Shape;963;p46"/>
          <p:cNvSpPr txBox="1"/>
          <p:nvPr/>
        </p:nvSpPr>
        <p:spPr>
          <a:xfrm>
            <a:off x="5287353" y="2427028"/>
            <a:ext cx="3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64" name="Google Shape;964;p46"/>
          <p:cNvGrpSpPr/>
          <p:nvPr/>
        </p:nvGrpSpPr>
        <p:grpSpPr>
          <a:xfrm>
            <a:off x="5751781" y="2873519"/>
            <a:ext cx="1305300" cy="492000"/>
            <a:chOff x="5751781" y="1940550"/>
            <a:chExt cx="1305300" cy="492000"/>
          </a:xfrm>
        </p:grpSpPr>
        <p:cxnSp>
          <p:nvCxnSpPr>
            <p:cNvPr id="965" name="Google Shape;965;p46"/>
            <p:cNvCxnSpPr/>
            <p:nvPr/>
          </p:nvCxnSpPr>
          <p:spPr>
            <a:xfrm>
              <a:off x="5755375" y="1940550"/>
              <a:ext cx="0" cy="492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6" name="Google Shape;966;p46"/>
            <p:cNvCxnSpPr/>
            <p:nvPr/>
          </p:nvCxnSpPr>
          <p:spPr>
            <a:xfrm rot="10800000">
              <a:off x="5751781" y="2425825"/>
              <a:ext cx="1305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7" name="Google Shape;967;p46"/>
          <p:cNvSpPr txBox="1"/>
          <p:nvPr/>
        </p:nvSpPr>
        <p:spPr>
          <a:xfrm>
            <a:off x="6051120" y="2800506"/>
            <a:ext cx="64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.20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16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8" name="Google Shape;968;p46"/>
          <p:cNvSpPr txBox="1"/>
          <p:nvPr/>
        </p:nvSpPr>
        <p:spPr>
          <a:xfrm>
            <a:off x="5287353" y="2884228"/>
            <a:ext cx="3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9" name="Google Shape;969;p46"/>
          <p:cNvSpPr txBox="1"/>
          <p:nvPr/>
        </p:nvSpPr>
        <p:spPr>
          <a:xfrm>
            <a:off x="6049349" y="3341425"/>
            <a:ext cx="54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…..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70" name="Google Shape;970;p46"/>
          <p:cNvCxnSpPr/>
          <p:nvPr/>
        </p:nvCxnSpPr>
        <p:spPr>
          <a:xfrm>
            <a:off x="4113975" y="2033400"/>
            <a:ext cx="0" cy="917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1" name="Google Shape;971;p46"/>
          <p:cNvCxnSpPr/>
          <p:nvPr/>
        </p:nvCxnSpPr>
        <p:spPr>
          <a:xfrm>
            <a:off x="5241225" y="1973275"/>
            <a:ext cx="0" cy="138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46"/>
          <p:cNvSpPr txBox="1"/>
          <p:nvPr/>
        </p:nvSpPr>
        <p:spPr>
          <a:xfrm>
            <a:off x="3764025" y="16749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3" name="Google Shape;973;p46"/>
          <p:cNvSpPr txBox="1"/>
          <p:nvPr/>
        </p:nvSpPr>
        <p:spPr>
          <a:xfrm>
            <a:off x="3764025" y="29703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4" name="Google Shape;974;p46"/>
          <p:cNvSpPr txBox="1"/>
          <p:nvPr/>
        </p:nvSpPr>
        <p:spPr>
          <a:xfrm>
            <a:off x="4907025" y="16749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5" name="Google Shape;975;p46"/>
          <p:cNvSpPr txBox="1"/>
          <p:nvPr/>
        </p:nvSpPr>
        <p:spPr>
          <a:xfrm>
            <a:off x="4907025" y="3351300"/>
            <a:ext cx="699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LSB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6" name="Google Shape;976;p46"/>
          <p:cNvSpPr txBox="1"/>
          <p:nvPr/>
        </p:nvSpPr>
        <p:spPr>
          <a:xfrm>
            <a:off x="5045500" y="4026350"/>
            <a:ext cx="29859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(75.45)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(4B.733..)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2" name="Google Shape;982;p47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3" name="Google Shape;983;p47"/>
          <p:cNvSpPr txBox="1"/>
          <p:nvPr/>
        </p:nvSpPr>
        <p:spPr>
          <a:xfrm>
            <a:off x="4168925" y="664400"/>
            <a:ext cx="3211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(1001011.01)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decimal.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4" name="Google Shape;984;p47"/>
          <p:cNvSpPr txBox="1"/>
          <p:nvPr/>
        </p:nvSpPr>
        <p:spPr>
          <a:xfrm>
            <a:off x="2012527" y="2590475"/>
            <a:ext cx="8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5" name="Google Shape;985;p47"/>
          <p:cNvSpPr txBox="1"/>
          <p:nvPr/>
        </p:nvSpPr>
        <p:spPr>
          <a:xfrm>
            <a:off x="5045500" y="4026350"/>
            <a:ext cx="29859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(1001011.01)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(75.25)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6" name="Google Shape;986;p47"/>
          <p:cNvSpPr txBox="1"/>
          <p:nvPr/>
        </p:nvSpPr>
        <p:spPr>
          <a:xfrm>
            <a:off x="775390" y="2509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(1001011.01)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1x2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+ 0x2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+ 0x2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+ 1x2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+ 1x2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+ 0x2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-1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+1x2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-2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7" name="Google Shape;987;p47"/>
          <p:cNvSpPr txBox="1"/>
          <p:nvPr/>
        </p:nvSpPr>
        <p:spPr>
          <a:xfrm>
            <a:off x="2070790" y="2890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64 + 0 + 0 + 8 + 0 + 2 + 1 + 0.25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8" name="Google Shape;988;p47"/>
          <p:cNvSpPr txBox="1"/>
          <p:nvPr/>
        </p:nvSpPr>
        <p:spPr>
          <a:xfrm>
            <a:off x="2554350" y="1350075"/>
            <a:ext cx="403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/>
          </a:p>
        </p:txBody>
      </p:sp>
      <p:sp>
        <p:nvSpPr>
          <p:cNvPr id="989" name="Google Shape;989;p47"/>
          <p:cNvSpPr txBox="1"/>
          <p:nvPr/>
        </p:nvSpPr>
        <p:spPr>
          <a:xfrm>
            <a:off x="2579195" y="1810813"/>
            <a:ext cx="403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)</a:t>
            </a:r>
            <a:endParaRPr/>
          </a:p>
        </p:txBody>
      </p:sp>
      <p:sp>
        <p:nvSpPr>
          <p:cNvPr id="990" name="Google Shape;990;p47"/>
          <p:cNvSpPr txBox="1"/>
          <p:nvPr/>
        </p:nvSpPr>
        <p:spPr>
          <a:xfrm>
            <a:off x="521798" y="1810825"/>
            <a:ext cx="250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Positional Value</a:t>
            </a:r>
            <a:endParaRPr b="1"/>
          </a:p>
        </p:txBody>
      </p:sp>
      <p:sp>
        <p:nvSpPr>
          <p:cNvPr id="991" name="Google Shape;991;p47"/>
          <p:cNvSpPr txBox="1"/>
          <p:nvPr/>
        </p:nvSpPr>
        <p:spPr>
          <a:xfrm>
            <a:off x="2070790" y="31948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(75.25)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7" name="Google Shape;997;p48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8" name="Google Shape;998;p48"/>
          <p:cNvSpPr txBox="1"/>
          <p:nvPr/>
        </p:nvSpPr>
        <p:spPr>
          <a:xfrm>
            <a:off x="4168925" y="664400"/>
            <a:ext cx="3211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(113.34)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decimal.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9" name="Google Shape;999;p48"/>
          <p:cNvSpPr txBox="1"/>
          <p:nvPr/>
        </p:nvSpPr>
        <p:spPr>
          <a:xfrm>
            <a:off x="2012527" y="1828475"/>
            <a:ext cx="8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0" name="Google Shape;1000;p48"/>
          <p:cNvSpPr txBox="1"/>
          <p:nvPr/>
        </p:nvSpPr>
        <p:spPr>
          <a:xfrm>
            <a:off x="5045500" y="4026350"/>
            <a:ext cx="29859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(113.34)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(75.4375)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1" name="Google Shape;1001;p48"/>
          <p:cNvSpPr txBox="1"/>
          <p:nvPr/>
        </p:nvSpPr>
        <p:spPr>
          <a:xfrm>
            <a:off x="775390" y="1747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(113.34)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 1x8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+ 1x8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+ 3x8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+ 3x8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-1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+4x8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-2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2" name="Google Shape;1002;p48"/>
          <p:cNvSpPr txBox="1"/>
          <p:nvPr/>
        </p:nvSpPr>
        <p:spPr>
          <a:xfrm>
            <a:off x="1613590" y="2128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64 + 8 + 3 + 8 + 0.375 + 0.0625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3" name="Google Shape;1003;p48"/>
          <p:cNvSpPr txBox="1"/>
          <p:nvPr/>
        </p:nvSpPr>
        <p:spPr>
          <a:xfrm>
            <a:off x="1613590" y="2509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(75.4375)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aseline="-25000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9" name="Google Shape;1009;p49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Hexadecimal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0" name="Google Shape;1010;p49"/>
          <p:cNvSpPr txBox="1"/>
          <p:nvPr/>
        </p:nvSpPr>
        <p:spPr>
          <a:xfrm>
            <a:off x="4168925" y="664400"/>
            <a:ext cx="3211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(4B.73)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decimal.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1" name="Google Shape;1011;p49"/>
          <p:cNvSpPr txBox="1"/>
          <p:nvPr/>
        </p:nvSpPr>
        <p:spPr>
          <a:xfrm>
            <a:off x="2012527" y="1828475"/>
            <a:ext cx="8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2" name="Google Shape;1012;p49"/>
          <p:cNvSpPr txBox="1"/>
          <p:nvPr/>
        </p:nvSpPr>
        <p:spPr>
          <a:xfrm>
            <a:off x="5045500" y="4026350"/>
            <a:ext cx="29859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(4B.73)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(75.449)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3" name="Google Shape;1013;p49"/>
          <p:cNvSpPr txBox="1"/>
          <p:nvPr/>
        </p:nvSpPr>
        <p:spPr>
          <a:xfrm>
            <a:off x="775390" y="1747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(4B.73)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 4x16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Bx16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+ 7x16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-1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+ 3x16</a:t>
            </a:r>
            <a:r>
              <a:rPr baseline="30000" lang="en" sz="15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-2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4" name="Google Shape;1014;p49"/>
          <p:cNvSpPr txBox="1"/>
          <p:nvPr/>
        </p:nvSpPr>
        <p:spPr>
          <a:xfrm>
            <a:off x="1613590" y="2128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64 + 11 + 0.4375 + 0.1172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5" name="Google Shape;1015;p49"/>
          <p:cNvSpPr txBox="1"/>
          <p:nvPr/>
        </p:nvSpPr>
        <p:spPr>
          <a:xfrm>
            <a:off x="1613590" y="2509025"/>
            <a:ext cx="68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(75.449)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aseline="-25000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1" name="Google Shape;1021;p50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→ Octal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2" name="Google Shape;1022;p50"/>
          <p:cNvSpPr txBox="1"/>
          <p:nvPr/>
        </p:nvSpPr>
        <p:spPr>
          <a:xfrm>
            <a:off x="4168925" y="664400"/>
            <a:ext cx="3862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(10110101.11110)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octal.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3" name="Google Shape;1023;p50"/>
          <p:cNvSpPr txBox="1"/>
          <p:nvPr/>
        </p:nvSpPr>
        <p:spPr>
          <a:xfrm>
            <a:off x="5830225" y="1740350"/>
            <a:ext cx="27345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(10110101.11110)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(265.74)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4" name="Google Shape;1024;p50"/>
          <p:cNvSpPr txBox="1"/>
          <p:nvPr/>
        </p:nvSpPr>
        <p:spPr>
          <a:xfrm>
            <a:off x="521075" y="1447800"/>
            <a:ext cx="531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        	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	  110 	101	.	111   	10	   )</a:t>
            </a:r>
            <a:endParaRPr sz="1600"/>
          </a:p>
        </p:txBody>
      </p:sp>
      <p:sp>
        <p:nvSpPr>
          <p:cNvPr id="1025" name="Google Shape;1025;p50"/>
          <p:cNvSpPr txBox="1"/>
          <p:nvPr/>
        </p:nvSpPr>
        <p:spPr>
          <a:xfrm>
            <a:off x="1295400" y="14478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26" name="Google Shape;1026;p50"/>
          <p:cNvSpPr txBox="1"/>
          <p:nvPr/>
        </p:nvSpPr>
        <p:spPr>
          <a:xfrm>
            <a:off x="4893725" y="14478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027" name="Google Shape;1027;p50"/>
          <p:cNvCxnSpPr/>
          <p:nvPr/>
        </p:nvCxnSpPr>
        <p:spPr>
          <a:xfrm>
            <a:off x="1430500" y="18969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50"/>
          <p:cNvCxnSpPr/>
          <p:nvPr/>
        </p:nvCxnSpPr>
        <p:spPr>
          <a:xfrm>
            <a:off x="2099735" y="18969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50"/>
          <p:cNvCxnSpPr/>
          <p:nvPr/>
        </p:nvCxnSpPr>
        <p:spPr>
          <a:xfrm>
            <a:off x="2913087" y="18969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50"/>
          <p:cNvCxnSpPr/>
          <p:nvPr/>
        </p:nvCxnSpPr>
        <p:spPr>
          <a:xfrm>
            <a:off x="3852335" y="18969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50"/>
          <p:cNvCxnSpPr/>
          <p:nvPr/>
        </p:nvCxnSpPr>
        <p:spPr>
          <a:xfrm>
            <a:off x="4766735" y="18969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50"/>
          <p:cNvSpPr txBox="1"/>
          <p:nvPr/>
        </p:nvSpPr>
        <p:spPr>
          <a:xfrm>
            <a:off x="1447800" y="1943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3" name="Google Shape;1033;p50"/>
          <p:cNvSpPr txBox="1"/>
          <p:nvPr/>
        </p:nvSpPr>
        <p:spPr>
          <a:xfrm>
            <a:off x="2133600" y="1943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4" name="Google Shape;1034;p50"/>
          <p:cNvSpPr txBox="1"/>
          <p:nvPr/>
        </p:nvSpPr>
        <p:spPr>
          <a:xfrm>
            <a:off x="2971800" y="1943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5" name="Google Shape;1035;p50"/>
          <p:cNvSpPr txBox="1"/>
          <p:nvPr/>
        </p:nvSpPr>
        <p:spPr>
          <a:xfrm>
            <a:off x="3886200" y="1943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6" name="Google Shape;1036;p50"/>
          <p:cNvSpPr txBox="1"/>
          <p:nvPr/>
        </p:nvSpPr>
        <p:spPr>
          <a:xfrm>
            <a:off x="4800600" y="1943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7" name="Google Shape;1037;p50"/>
          <p:cNvSpPr/>
          <p:nvPr/>
        </p:nvSpPr>
        <p:spPr>
          <a:xfrm>
            <a:off x="656100" y="28339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 →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8" name="Google Shape;1038;p50"/>
          <p:cNvSpPr txBox="1"/>
          <p:nvPr/>
        </p:nvSpPr>
        <p:spPr>
          <a:xfrm>
            <a:off x="4168925" y="2874200"/>
            <a:ext cx="4313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(10110101.11110)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hexadecimal.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9" name="Google Shape;1039;p50"/>
          <p:cNvSpPr txBox="1"/>
          <p:nvPr/>
        </p:nvSpPr>
        <p:spPr>
          <a:xfrm>
            <a:off x="5830225" y="3950150"/>
            <a:ext cx="27345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(10110101.11110)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(B5.F0)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0" name="Google Shape;1040;p50"/>
          <p:cNvSpPr txBox="1"/>
          <p:nvPr/>
        </p:nvSpPr>
        <p:spPr>
          <a:xfrm>
            <a:off x="521075" y="3657600"/>
            <a:ext cx="531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        	1011 	0101	.	1111	 0	   )</a:t>
            </a:r>
            <a:endParaRPr sz="1600"/>
          </a:p>
        </p:txBody>
      </p:sp>
      <p:sp>
        <p:nvSpPr>
          <p:cNvPr id="1041" name="Google Shape;1041;p50"/>
          <p:cNvSpPr txBox="1"/>
          <p:nvPr/>
        </p:nvSpPr>
        <p:spPr>
          <a:xfrm>
            <a:off x="4817525" y="3657600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000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042" name="Google Shape;1042;p50"/>
          <p:cNvCxnSpPr/>
          <p:nvPr/>
        </p:nvCxnSpPr>
        <p:spPr>
          <a:xfrm>
            <a:off x="1574700" y="40887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0"/>
          <p:cNvCxnSpPr/>
          <p:nvPr/>
        </p:nvCxnSpPr>
        <p:spPr>
          <a:xfrm>
            <a:off x="2455837" y="40887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50"/>
          <p:cNvCxnSpPr/>
          <p:nvPr/>
        </p:nvCxnSpPr>
        <p:spPr>
          <a:xfrm>
            <a:off x="3847810" y="40887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50"/>
          <p:cNvCxnSpPr/>
          <p:nvPr/>
        </p:nvCxnSpPr>
        <p:spPr>
          <a:xfrm>
            <a:off x="4913835" y="4088700"/>
            <a:ext cx="3561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50"/>
          <p:cNvSpPr txBox="1"/>
          <p:nvPr/>
        </p:nvSpPr>
        <p:spPr>
          <a:xfrm>
            <a:off x="1430500" y="4152900"/>
            <a:ext cx="70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11(B)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7" name="Google Shape;1047;p50"/>
          <p:cNvSpPr txBox="1"/>
          <p:nvPr/>
        </p:nvSpPr>
        <p:spPr>
          <a:xfrm>
            <a:off x="2438400" y="41529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8" name="Google Shape;1048;p50"/>
          <p:cNvSpPr txBox="1"/>
          <p:nvPr/>
        </p:nvSpPr>
        <p:spPr>
          <a:xfrm>
            <a:off x="3703252" y="4152900"/>
            <a:ext cx="70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15(F)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9" name="Google Shape;1049;p50"/>
          <p:cNvSpPr txBox="1"/>
          <p:nvPr/>
        </p:nvSpPr>
        <p:spPr>
          <a:xfrm>
            <a:off x="4858200" y="41529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5" name="Google Shape;1055;p51"/>
          <p:cNvSpPr/>
          <p:nvPr/>
        </p:nvSpPr>
        <p:spPr>
          <a:xfrm>
            <a:off x="656100" y="6241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 → Octal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6" name="Google Shape;1056;p51"/>
          <p:cNvSpPr txBox="1"/>
          <p:nvPr/>
        </p:nvSpPr>
        <p:spPr>
          <a:xfrm>
            <a:off x="4168925" y="664400"/>
            <a:ext cx="3862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(265.74)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binary.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7" name="Google Shape;1057;p51"/>
          <p:cNvSpPr txBox="1"/>
          <p:nvPr/>
        </p:nvSpPr>
        <p:spPr>
          <a:xfrm>
            <a:off x="5830225" y="1511750"/>
            <a:ext cx="27345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(265.74)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(10110101.111100)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8" name="Google Shape;1058;p51"/>
          <p:cNvSpPr txBox="1"/>
          <p:nvPr/>
        </p:nvSpPr>
        <p:spPr>
          <a:xfrm>
            <a:off x="1143000" y="1181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9" name="Google Shape;1059;p51"/>
          <p:cNvSpPr txBox="1"/>
          <p:nvPr/>
        </p:nvSpPr>
        <p:spPr>
          <a:xfrm>
            <a:off x="1981200" y="1181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0" name="Google Shape;1060;p51"/>
          <p:cNvSpPr txBox="1"/>
          <p:nvPr/>
        </p:nvSpPr>
        <p:spPr>
          <a:xfrm>
            <a:off x="2819400" y="1181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1" name="Google Shape;1061;p51"/>
          <p:cNvSpPr txBox="1"/>
          <p:nvPr/>
        </p:nvSpPr>
        <p:spPr>
          <a:xfrm>
            <a:off x="3657600" y="1181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2" name="Google Shape;1062;p51"/>
          <p:cNvSpPr txBox="1"/>
          <p:nvPr/>
        </p:nvSpPr>
        <p:spPr>
          <a:xfrm>
            <a:off x="4495800" y="1181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3" name="Google Shape;1063;p51"/>
          <p:cNvSpPr txBox="1"/>
          <p:nvPr/>
        </p:nvSpPr>
        <p:spPr>
          <a:xfrm>
            <a:off x="3276600" y="11811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64" name="Google Shape;1064;p51"/>
          <p:cNvCxnSpPr/>
          <p:nvPr/>
        </p:nvCxnSpPr>
        <p:spPr>
          <a:xfrm>
            <a:off x="1282650" y="16602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5" name="Google Shape;1065;p51"/>
          <p:cNvCxnSpPr/>
          <p:nvPr/>
        </p:nvCxnSpPr>
        <p:spPr>
          <a:xfrm>
            <a:off x="2113800" y="16602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6" name="Google Shape;1066;p51"/>
          <p:cNvCxnSpPr/>
          <p:nvPr/>
        </p:nvCxnSpPr>
        <p:spPr>
          <a:xfrm>
            <a:off x="2959050" y="16602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7" name="Google Shape;1067;p51"/>
          <p:cNvCxnSpPr/>
          <p:nvPr/>
        </p:nvCxnSpPr>
        <p:spPr>
          <a:xfrm>
            <a:off x="3797250" y="16602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8" name="Google Shape;1068;p51"/>
          <p:cNvCxnSpPr/>
          <p:nvPr/>
        </p:nvCxnSpPr>
        <p:spPr>
          <a:xfrm>
            <a:off x="4635450" y="16602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9" name="Google Shape;1069;p51"/>
          <p:cNvSpPr txBox="1"/>
          <p:nvPr/>
        </p:nvSpPr>
        <p:spPr>
          <a:xfrm>
            <a:off x="1011390" y="204001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010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0" name="Google Shape;1070;p51"/>
          <p:cNvSpPr txBox="1"/>
          <p:nvPr/>
        </p:nvSpPr>
        <p:spPr>
          <a:xfrm>
            <a:off x="3526750" y="204001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1" name="Google Shape;1071;p51"/>
          <p:cNvSpPr txBox="1"/>
          <p:nvPr/>
        </p:nvSpPr>
        <p:spPr>
          <a:xfrm>
            <a:off x="3276600" y="20955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2" name="Google Shape;1072;p51"/>
          <p:cNvSpPr txBox="1"/>
          <p:nvPr/>
        </p:nvSpPr>
        <p:spPr>
          <a:xfrm>
            <a:off x="1846490" y="204001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3" name="Google Shape;1073;p51"/>
          <p:cNvSpPr txBox="1"/>
          <p:nvPr/>
        </p:nvSpPr>
        <p:spPr>
          <a:xfrm>
            <a:off x="2675840" y="204001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4" name="Google Shape;1074;p51"/>
          <p:cNvSpPr txBox="1"/>
          <p:nvPr/>
        </p:nvSpPr>
        <p:spPr>
          <a:xfrm>
            <a:off x="4364950" y="204001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5" name="Google Shape;1075;p51"/>
          <p:cNvSpPr/>
          <p:nvPr/>
        </p:nvSpPr>
        <p:spPr>
          <a:xfrm>
            <a:off x="656100" y="2605325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Binary →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6" name="Google Shape;1076;p51"/>
          <p:cNvSpPr txBox="1"/>
          <p:nvPr/>
        </p:nvSpPr>
        <p:spPr>
          <a:xfrm>
            <a:off x="4168925" y="2645600"/>
            <a:ext cx="3862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Convert  (B5.F)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binary. 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7" name="Google Shape;1077;p51"/>
          <p:cNvSpPr txBox="1"/>
          <p:nvPr/>
        </p:nvSpPr>
        <p:spPr>
          <a:xfrm>
            <a:off x="5830225" y="3721550"/>
            <a:ext cx="2734500" cy="4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B5.F0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=(10110101.1111)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8" name="Google Shape;1078;p51"/>
          <p:cNvSpPr txBox="1"/>
          <p:nvPr/>
        </p:nvSpPr>
        <p:spPr>
          <a:xfrm>
            <a:off x="1981200" y="33909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9" name="Google Shape;1079;p51"/>
          <p:cNvSpPr txBox="1"/>
          <p:nvPr/>
        </p:nvSpPr>
        <p:spPr>
          <a:xfrm>
            <a:off x="2819400" y="33909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0" name="Google Shape;1080;p51"/>
          <p:cNvSpPr txBox="1"/>
          <p:nvPr/>
        </p:nvSpPr>
        <p:spPr>
          <a:xfrm>
            <a:off x="3657600" y="33909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1" name="Google Shape;1081;p51"/>
          <p:cNvSpPr txBox="1"/>
          <p:nvPr/>
        </p:nvSpPr>
        <p:spPr>
          <a:xfrm>
            <a:off x="3276600" y="33909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82" name="Google Shape;1082;p51"/>
          <p:cNvCxnSpPr/>
          <p:nvPr/>
        </p:nvCxnSpPr>
        <p:spPr>
          <a:xfrm>
            <a:off x="2113800" y="38700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3" name="Google Shape;1083;p51"/>
          <p:cNvCxnSpPr/>
          <p:nvPr/>
        </p:nvCxnSpPr>
        <p:spPr>
          <a:xfrm>
            <a:off x="2959050" y="38700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4" name="Google Shape;1084;p51"/>
          <p:cNvCxnSpPr/>
          <p:nvPr/>
        </p:nvCxnSpPr>
        <p:spPr>
          <a:xfrm>
            <a:off x="3797250" y="3870050"/>
            <a:ext cx="0" cy="33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5" name="Google Shape;1085;p51"/>
          <p:cNvSpPr txBox="1"/>
          <p:nvPr/>
        </p:nvSpPr>
        <p:spPr>
          <a:xfrm>
            <a:off x="3450550" y="4249825"/>
            <a:ext cx="69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6" name="Google Shape;1086;p51"/>
          <p:cNvSpPr txBox="1"/>
          <p:nvPr/>
        </p:nvSpPr>
        <p:spPr>
          <a:xfrm>
            <a:off x="3276600" y="4305300"/>
            <a:ext cx="2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7" name="Google Shape;1087;p51"/>
          <p:cNvSpPr txBox="1"/>
          <p:nvPr/>
        </p:nvSpPr>
        <p:spPr>
          <a:xfrm>
            <a:off x="1765950" y="4257700"/>
            <a:ext cx="69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8" name="Google Shape;1088;p51"/>
          <p:cNvSpPr txBox="1"/>
          <p:nvPr/>
        </p:nvSpPr>
        <p:spPr>
          <a:xfrm>
            <a:off x="2604150" y="4257700"/>
            <a:ext cx="69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0101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4" name="Google Shape;1094;p52"/>
          <p:cNvSpPr/>
          <p:nvPr/>
        </p:nvSpPr>
        <p:spPr>
          <a:xfrm>
            <a:off x="884700" y="13298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 ←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→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5" name="Google Shape;1095;p52"/>
          <p:cNvSpPr/>
          <p:nvPr/>
        </p:nvSpPr>
        <p:spPr>
          <a:xfrm>
            <a:off x="5267925" y="1329800"/>
            <a:ext cx="2915400" cy="4827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Hexadecimal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←→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6" name="Google Shape;1096;p52"/>
          <p:cNvSpPr/>
          <p:nvPr/>
        </p:nvSpPr>
        <p:spPr>
          <a:xfrm>
            <a:off x="603450" y="3064175"/>
            <a:ext cx="3477900" cy="4827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Octal ←→ Binary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←→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 Hexadecimal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7" name="Google Shape;1097;p52"/>
          <p:cNvSpPr/>
          <p:nvPr/>
        </p:nvSpPr>
        <p:spPr>
          <a:xfrm>
            <a:off x="4986675" y="3022775"/>
            <a:ext cx="3477900" cy="4827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Hexadecimal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←→  Binary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←→ Octal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53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Find r such that (121)</a:t>
            </a:r>
            <a:r>
              <a:rPr baseline="-25000" lang="en" sz="1500">
                <a:solidFill>
                  <a:schemeClr val="dk1"/>
                </a:solidFill>
              </a:rPr>
              <a:t>r</a:t>
            </a:r>
            <a:r>
              <a:rPr lang="en" sz="1500">
                <a:solidFill>
                  <a:schemeClr val="dk1"/>
                </a:solidFill>
              </a:rPr>
              <a:t>=(144)</a:t>
            </a:r>
            <a:r>
              <a:rPr baseline="-25000" lang="en" sz="1500">
                <a:solidFill>
                  <a:schemeClr val="dk1"/>
                </a:solidFill>
              </a:rPr>
              <a:t>8</a:t>
            </a:r>
            <a:r>
              <a:rPr lang="en" sz="1500">
                <a:solidFill>
                  <a:schemeClr val="dk1"/>
                </a:solidFill>
              </a:rPr>
              <a:t> , where r  and 8 are the bases.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03" name="Google Shape;1103;p53"/>
          <p:cNvSpPr txBox="1"/>
          <p:nvPr>
            <p:ph type="title"/>
          </p:nvPr>
        </p:nvSpPr>
        <p:spPr>
          <a:xfrm>
            <a:off x="715100" y="742350"/>
            <a:ext cx="4751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/>
              <a:t>Question</a:t>
            </a:r>
            <a:endParaRPr i="1" sz="2800"/>
          </a:p>
        </p:txBody>
      </p:sp>
      <p:cxnSp>
        <p:nvCxnSpPr>
          <p:cNvPr id="1104" name="Google Shape;1104;p53"/>
          <p:cNvCxnSpPr>
            <a:stCxn id="110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53"/>
          <p:cNvCxnSpPr>
            <a:endCxn id="110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4"/>
          <p:cNvSpPr txBox="1"/>
          <p:nvPr>
            <p:ph type="title"/>
          </p:nvPr>
        </p:nvSpPr>
        <p:spPr>
          <a:xfrm>
            <a:off x="1360425" y="2595800"/>
            <a:ext cx="64734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Binary Code</a:t>
            </a:r>
            <a:endParaRPr sz="3600"/>
          </a:p>
        </p:txBody>
      </p:sp>
      <p:sp>
        <p:nvSpPr>
          <p:cNvPr id="1113" name="Google Shape;1113;p54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14" name="Google Shape;1114;p54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of All Computational Logic</a:t>
            </a:r>
            <a:endParaRPr/>
          </a:p>
        </p:txBody>
      </p:sp>
      <p:cxnSp>
        <p:nvCxnSpPr>
          <p:cNvPr id="1115" name="Google Shape;1115;p54"/>
          <p:cNvCxnSpPr>
            <a:stCxn id="1113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6" name="Google Shape;1116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55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Given n binary digits (called bits), a binary code is a </a:t>
            </a:r>
            <a:r>
              <a:rPr b="1" lang="en" sz="1500">
                <a:solidFill>
                  <a:schemeClr val="dk1"/>
                </a:solidFill>
              </a:rPr>
              <a:t>mapping </a:t>
            </a:r>
            <a:r>
              <a:rPr lang="en" sz="1500">
                <a:solidFill>
                  <a:schemeClr val="dk1"/>
                </a:solidFill>
              </a:rPr>
              <a:t>from a </a:t>
            </a:r>
            <a:r>
              <a:rPr b="1" lang="en" sz="1500">
                <a:solidFill>
                  <a:schemeClr val="dk1"/>
                </a:solidFill>
              </a:rPr>
              <a:t>set </a:t>
            </a:r>
            <a:r>
              <a:rPr lang="en" sz="1500">
                <a:solidFill>
                  <a:schemeClr val="dk1"/>
                </a:solidFill>
              </a:rPr>
              <a:t>of </a:t>
            </a:r>
            <a:r>
              <a:rPr b="1" lang="en" sz="1500">
                <a:solidFill>
                  <a:schemeClr val="dk1"/>
                </a:solidFill>
              </a:rPr>
              <a:t>represented elements </a:t>
            </a:r>
            <a:r>
              <a:rPr lang="en" sz="1500">
                <a:solidFill>
                  <a:schemeClr val="dk1"/>
                </a:solidFill>
              </a:rPr>
              <a:t>to a </a:t>
            </a:r>
            <a:r>
              <a:rPr b="1" lang="en" sz="1500">
                <a:solidFill>
                  <a:schemeClr val="dk1"/>
                </a:solidFill>
              </a:rPr>
              <a:t>subset </a:t>
            </a:r>
            <a:r>
              <a:rPr lang="en" sz="1500">
                <a:solidFill>
                  <a:schemeClr val="dk1"/>
                </a:solidFill>
              </a:rPr>
              <a:t>of the 2</a:t>
            </a:r>
            <a:r>
              <a:rPr baseline="30000" lang="en" sz="1500">
                <a:solidFill>
                  <a:schemeClr val="dk1"/>
                </a:solidFill>
              </a:rPr>
              <a:t>n</a:t>
            </a:r>
            <a:r>
              <a:rPr lang="en" sz="1500">
                <a:solidFill>
                  <a:schemeClr val="dk1"/>
                </a:solidFill>
              </a:rPr>
              <a:t> binary numbers.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22" name="Google Shape;1122;p55"/>
          <p:cNvSpPr txBox="1"/>
          <p:nvPr>
            <p:ph type="title"/>
          </p:nvPr>
        </p:nvSpPr>
        <p:spPr>
          <a:xfrm>
            <a:off x="715100" y="742350"/>
            <a:ext cx="4751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/>
              <a:t>Binary Code</a:t>
            </a:r>
            <a:endParaRPr i="1" sz="2800"/>
          </a:p>
        </p:txBody>
      </p:sp>
      <p:cxnSp>
        <p:nvCxnSpPr>
          <p:cNvPr id="1123" name="Google Shape;1123;p55"/>
          <p:cNvCxnSpPr>
            <a:stCxn id="112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55"/>
          <p:cNvCxnSpPr>
            <a:endCxn id="112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7" name="Google Shape;1127;p55"/>
          <p:cNvSpPr txBox="1"/>
          <p:nvPr>
            <p:ph idx="1" type="body"/>
          </p:nvPr>
        </p:nvSpPr>
        <p:spPr>
          <a:xfrm>
            <a:off x="715100" y="2061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28" name="Google Shape;112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5589" y="2332951"/>
            <a:ext cx="3701424" cy="22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55"/>
          <p:cNvSpPr txBox="1"/>
          <p:nvPr/>
        </p:nvSpPr>
        <p:spPr>
          <a:xfrm>
            <a:off x="6696075" y="3286125"/>
            <a:ext cx="12234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 = log</a:t>
            </a:r>
            <a:r>
              <a:rPr baseline="-25000" lang="en" sz="19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" sz="19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6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Number: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Represents a quantity or value. It’s used for counting, measuring, and performing mathematical operations.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5, 23, 100.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Process:</a:t>
            </a:r>
            <a:r>
              <a:rPr lang="en" sz="1500">
                <a:solidFill>
                  <a:schemeClr val="dk1"/>
                </a:solidFill>
              </a:rPr>
              <a:t> Conversion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Code: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representation of information or data, typically in a specific format. It’s used to encode data for storage or communication in computers.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Binary code (101 for 5), ASCII code (01000001 for 'A').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Process:</a:t>
            </a:r>
            <a:r>
              <a:rPr lang="en" sz="1500">
                <a:solidFill>
                  <a:schemeClr val="dk1"/>
                </a:solidFill>
              </a:rPr>
              <a:t> Encoding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35" name="Google Shape;1135;p56"/>
          <p:cNvSpPr txBox="1"/>
          <p:nvPr>
            <p:ph type="title"/>
          </p:nvPr>
        </p:nvSpPr>
        <p:spPr>
          <a:xfrm>
            <a:off x="715100" y="742350"/>
            <a:ext cx="4751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/>
              <a:t>Binary Code</a:t>
            </a:r>
            <a:endParaRPr i="1" sz="2800"/>
          </a:p>
        </p:txBody>
      </p:sp>
      <p:cxnSp>
        <p:nvCxnSpPr>
          <p:cNvPr id="1136" name="Google Shape;1136;p56"/>
          <p:cNvCxnSpPr>
            <a:stCxn id="113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56"/>
          <p:cNvCxnSpPr>
            <a:endCxn id="113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9" name="Google Shape;1139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57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There are several Binary coding schemes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45" name="Google Shape;1145;p57"/>
          <p:cNvSpPr txBox="1"/>
          <p:nvPr>
            <p:ph type="title"/>
          </p:nvPr>
        </p:nvSpPr>
        <p:spPr>
          <a:xfrm>
            <a:off x="715100" y="742350"/>
            <a:ext cx="4751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/>
              <a:t>Binary Code</a:t>
            </a:r>
            <a:endParaRPr i="1" sz="2800"/>
          </a:p>
        </p:txBody>
      </p:sp>
      <p:cxnSp>
        <p:nvCxnSpPr>
          <p:cNvPr id="1146" name="Google Shape;1146;p57"/>
          <p:cNvCxnSpPr>
            <a:stCxn id="114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57"/>
          <p:cNvCxnSpPr>
            <a:endCxn id="114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9" name="Google Shape;1149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0" name="Google Shape;1150;p57"/>
          <p:cNvSpPr txBox="1"/>
          <p:nvPr>
            <p:ph idx="1" type="body"/>
          </p:nvPr>
        </p:nvSpPr>
        <p:spPr>
          <a:xfrm>
            <a:off x="715100" y="18328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Such as 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51" name="Google Shape;1151;p57"/>
          <p:cNvSpPr txBox="1"/>
          <p:nvPr>
            <p:ph idx="1" type="body"/>
          </p:nvPr>
        </p:nvSpPr>
        <p:spPr>
          <a:xfrm>
            <a:off x="1019900" y="22138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Binary Coded Decimal (BCD)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52" name="Google Shape;1152;p57"/>
          <p:cNvSpPr txBox="1"/>
          <p:nvPr>
            <p:ph idx="1" type="body"/>
          </p:nvPr>
        </p:nvSpPr>
        <p:spPr>
          <a:xfrm>
            <a:off x="1019900" y="25186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Excess -3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53" name="Google Shape;1153;p57"/>
          <p:cNvSpPr txBox="1"/>
          <p:nvPr>
            <p:ph idx="1" type="body"/>
          </p:nvPr>
        </p:nvSpPr>
        <p:spPr>
          <a:xfrm>
            <a:off x="1019900" y="2823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Gray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8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BCD, each decimal digit (0–9) is represented by its own 4-bit binary equivalent.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59" name="Google Shape;1159;p58"/>
          <p:cNvSpPr txBox="1"/>
          <p:nvPr>
            <p:ph type="title"/>
          </p:nvPr>
        </p:nvSpPr>
        <p:spPr>
          <a:xfrm>
            <a:off x="715100" y="742350"/>
            <a:ext cx="7277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Binary Coded Decimal (BCD) </a:t>
            </a:r>
            <a:r>
              <a:rPr lang="en" sz="1200"/>
              <a:t>(weighted)</a:t>
            </a:r>
            <a:endParaRPr sz="1200"/>
          </a:p>
        </p:txBody>
      </p:sp>
      <p:cxnSp>
        <p:nvCxnSpPr>
          <p:cNvPr id="1160" name="Google Shape;1160;p58"/>
          <p:cNvCxnSpPr>
            <a:stCxn id="116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58"/>
          <p:cNvCxnSpPr>
            <a:endCxn id="116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3" name="Google Shape;1163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64" name="Google Shape;1164;p58"/>
          <p:cNvGraphicFramePr/>
          <p:nvPr/>
        </p:nvGraphicFramePr>
        <p:xfrm>
          <a:off x="2543175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{FDE4B6EE-AEE8-4F44-B4DA-A79B10E819EE}</a:tableStyleId>
              </a:tblPr>
              <a:tblGrid>
                <a:gridCol w="1143725"/>
                <a:gridCol w="1124000"/>
                <a:gridCol w="13803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Decimal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Binary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BCD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0101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0001 0010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1011101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1001 0011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9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weights of BCD scheme might vary,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70" name="Google Shape;1170;p59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Binary Coded Decimal (BCD)</a:t>
            </a:r>
            <a:r>
              <a:rPr lang="en" sz="1200"/>
              <a:t>(weighted)</a:t>
            </a:r>
            <a:endParaRPr sz="2800"/>
          </a:p>
        </p:txBody>
      </p:sp>
      <p:cxnSp>
        <p:nvCxnSpPr>
          <p:cNvPr id="1171" name="Google Shape;1171;p59"/>
          <p:cNvCxnSpPr>
            <a:stCxn id="117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59"/>
          <p:cNvCxnSpPr>
            <a:endCxn id="117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75" name="Google Shape;1175;p59"/>
          <p:cNvGraphicFramePr/>
          <p:nvPr/>
        </p:nvGraphicFramePr>
        <p:xfrm>
          <a:off x="1981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{FDE4B6EE-AEE8-4F44-B4DA-A79B10E819EE}</a:tableStyleId>
              </a:tblPr>
              <a:tblGrid>
                <a:gridCol w="902600"/>
                <a:gridCol w="1120450"/>
                <a:gridCol w="1276075"/>
                <a:gridCol w="11204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Decimal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8421 BCD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84-2-1 BCD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2421 BCD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0111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60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Weighted coding scheme consisting of exactly 2 ones.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81" name="Google Shape;1181;p60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5043210</a:t>
            </a:r>
            <a:r>
              <a:rPr lang="en" sz="2800"/>
              <a:t>(Bi-quinary)</a:t>
            </a:r>
            <a:r>
              <a:rPr lang="en" sz="1200"/>
              <a:t>(weighted)</a:t>
            </a:r>
            <a:endParaRPr sz="2800"/>
          </a:p>
        </p:txBody>
      </p:sp>
      <p:cxnSp>
        <p:nvCxnSpPr>
          <p:cNvPr id="1182" name="Google Shape;1182;p60"/>
          <p:cNvCxnSpPr>
            <a:stCxn id="118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60"/>
          <p:cNvCxnSpPr>
            <a:endCxn id="118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6" name="Google Shape;1186;p60"/>
          <p:cNvSpPr txBox="1"/>
          <p:nvPr>
            <p:ph idx="1" type="body"/>
          </p:nvPr>
        </p:nvSpPr>
        <p:spPr>
          <a:xfrm>
            <a:off x="715100" y="18328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 : </a:t>
            </a:r>
            <a:endParaRPr sz="1500">
              <a:solidFill>
                <a:schemeClr val="dk1"/>
              </a:solidFill>
            </a:endParaRPr>
          </a:p>
        </p:txBody>
      </p:sp>
      <p:graphicFrame>
        <p:nvGraphicFramePr>
          <p:cNvPr id="1187" name="Google Shape;1187;p60"/>
          <p:cNvGraphicFramePr/>
          <p:nvPr/>
        </p:nvGraphicFramePr>
        <p:xfrm>
          <a:off x="194310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{76DB9E56-8A7C-43C7-8186-58A39646E9DB}</a:tableStyleId>
              </a:tblPr>
              <a:tblGrid>
                <a:gridCol w="2657475"/>
                <a:gridCol w="2657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Decimal</a:t>
                      </a:r>
                      <a:endParaRPr b="1" sz="1500"/>
                    </a:p>
                  </a:txBody>
                  <a:tcPr marT="91425" marB="91425" marR="91425" marL="91425"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0</a:t>
                      </a:r>
                      <a:r>
                        <a:rPr b="1" lang="en" sz="1500"/>
                        <a:t>5</a:t>
                      </a:r>
                      <a:r>
                        <a:rPr b="1" lang="en" sz="1500"/>
                        <a:t>-</a:t>
                      </a:r>
                      <a:r>
                        <a:rPr b="1" lang="en" sz="1500"/>
                        <a:t>01234</a:t>
                      </a:r>
                      <a:endParaRPr b="1" sz="1500"/>
                    </a:p>
                  </a:txBody>
                  <a:tcPr marT="91425" marB="91425" marR="91425" marL="91425"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10-10000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10-0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0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0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10-00100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3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10-00010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4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rgbClr val="F8F9FA"/>
                          </a:highlight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10-00001</a:t>
                      </a:r>
                      <a:endParaRPr sz="1500">
                        <a:solidFill>
                          <a:schemeClr val="dk1"/>
                        </a:solidFill>
                        <a:highlight>
                          <a:srgbClr val="F8F9FA"/>
                        </a:highlight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30475" marB="30475" marR="60950" marL="60950">
                    <a:lnL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61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Obtained from the corresponding </a:t>
            </a:r>
            <a:r>
              <a:rPr b="1" lang="en" sz="1500">
                <a:solidFill>
                  <a:schemeClr val="dk1"/>
                </a:solidFill>
              </a:rPr>
              <a:t>BCD+3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193" name="Google Shape;1193;p61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Excess-3</a:t>
            </a:r>
            <a:r>
              <a:rPr lang="en" sz="1200"/>
              <a:t>(unweighted)</a:t>
            </a:r>
            <a:endParaRPr sz="2800"/>
          </a:p>
        </p:txBody>
      </p:sp>
      <p:cxnSp>
        <p:nvCxnSpPr>
          <p:cNvPr id="1194" name="Google Shape;1194;p61"/>
          <p:cNvCxnSpPr>
            <a:stCxn id="119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61"/>
          <p:cNvCxnSpPr>
            <a:endCxn id="119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98" name="Google Shape;1198;p61"/>
          <p:cNvGraphicFramePr/>
          <p:nvPr/>
        </p:nvGraphicFramePr>
        <p:xfrm>
          <a:off x="1508125" y="180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{FDE4B6EE-AEE8-4F44-B4DA-A79B10E819EE}</a:tableStyleId>
              </a:tblPr>
              <a:tblGrid>
                <a:gridCol w="2206400"/>
                <a:gridCol w="1884625"/>
                <a:gridCol w="2298325"/>
              </a:tblGrid>
              <a:tr h="269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Decimal Digit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BCD (8421)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Excess-3 Code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0000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0011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2"/>
          <p:cNvSpPr txBox="1"/>
          <p:nvPr>
            <p:ph idx="1" type="body"/>
          </p:nvPr>
        </p:nvSpPr>
        <p:spPr>
          <a:xfrm>
            <a:off x="715100" y="1299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Convert (15)</a:t>
            </a:r>
            <a:r>
              <a:rPr b="1" baseline="-25000" lang="en" sz="1500">
                <a:solidFill>
                  <a:schemeClr val="dk1"/>
                </a:solidFill>
              </a:rPr>
              <a:t>10</a:t>
            </a:r>
            <a:r>
              <a:rPr b="1" lang="en" sz="1500">
                <a:solidFill>
                  <a:schemeClr val="dk1"/>
                </a:solidFill>
              </a:rPr>
              <a:t> to Excess-3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204" name="Google Shape;1204;p62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Excess-3</a:t>
            </a:r>
            <a:r>
              <a:rPr lang="en" sz="1200"/>
              <a:t>(unweighted)</a:t>
            </a:r>
            <a:endParaRPr sz="2800"/>
          </a:p>
        </p:txBody>
      </p:sp>
      <p:cxnSp>
        <p:nvCxnSpPr>
          <p:cNvPr id="1205" name="Google Shape;1205;p62"/>
          <p:cNvCxnSpPr>
            <a:stCxn id="120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62"/>
          <p:cNvCxnSpPr>
            <a:endCxn id="120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8" name="Google Shape;1208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9" name="Google Shape;1209;p62"/>
          <p:cNvSpPr txBox="1"/>
          <p:nvPr>
            <p:ph idx="1" type="body"/>
          </p:nvPr>
        </p:nvSpPr>
        <p:spPr>
          <a:xfrm>
            <a:off x="715100" y="1680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Step 1:</a:t>
            </a:r>
            <a:r>
              <a:rPr lang="en" sz="1500">
                <a:solidFill>
                  <a:schemeClr val="dk1"/>
                </a:solidFill>
              </a:rPr>
              <a:t> Convert </a:t>
            </a:r>
            <a:r>
              <a:rPr lang="en" sz="1500">
                <a:solidFill>
                  <a:schemeClr val="dk1"/>
                </a:solidFill>
              </a:rPr>
              <a:t>(15)</a:t>
            </a:r>
            <a:r>
              <a:rPr baseline="-25000" lang="en" sz="1500">
                <a:solidFill>
                  <a:schemeClr val="dk1"/>
                </a:solidFill>
              </a:rPr>
              <a:t>10</a:t>
            </a:r>
            <a:r>
              <a:rPr lang="en" sz="1500">
                <a:solidFill>
                  <a:schemeClr val="dk1"/>
                </a:solidFill>
              </a:rPr>
              <a:t> to BCD.  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10" name="Google Shape;1210;p62"/>
          <p:cNvSpPr txBox="1"/>
          <p:nvPr>
            <p:ph idx="1" type="body"/>
          </p:nvPr>
        </p:nvSpPr>
        <p:spPr>
          <a:xfrm>
            <a:off x="3763100" y="2061450"/>
            <a:ext cx="21813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(0001	0101)</a:t>
            </a:r>
            <a:r>
              <a:rPr baseline="-25000" lang="en" sz="1500">
                <a:solidFill>
                  <a:schemeClr val="dk1"/>
                </a:solidFill>
              </a:rPr>
              <a:t>BCD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11" name="Google Shape;1211;p62"/>
          <p:cNvSpPr txBox="1"/>
          <p:nvPr>
            <p:ph idx="1" type="body"/>
          </p:nvPr>
        </p:nvSpPr>
        <p:spPr>
          <a:xfrm>
            <a:off x="715100" y="25948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Step 2:</a:t>
            </a:r>
            <a:r>
              <a:rPr lang="en" sz="1500">
                <a:solidFill>
                  <a:schemeClr val="dk1"/>
                </a:solidFill>
              </a:rPr>
              <a:t> Add (3)</a:t>
            </a:r>
            <a:r>
              <a:rPr baseline="-25000" lang="en" sz="1500">
                <a:solidFill>
                  <a:schemeClr val="dk1"/>
                </a:solidFill>
              </a:rPr>
              <a:t>10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lang="en" sz="1500">
                <a:solidFill>
                  <a:schemeClr val="dk1"/>
                </a:solidFill>
              </a:rPr>
              <a:t>(0011)</a:t>
            </a:r>
            <a:r>
              <a:rPr baseline="-25000" lang="en" sz="1500">
                <a:solidFill>
                  <a:schemeClr val="dk1"/>
                </a:solidFill>
              </a:rPr>
              <a:t>BCD</a:t>
            </a:r>
            <a:r>
              <a:rPr lang="en" sz="1500">
                <a:solidFill>
                  <a:schemeClr val="dk1"/>
                </a:solidFill>
              </a:rPr>
              <a:t> to each BCD chunk.  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12" name="Google Shape;1212;p62"/>
          <p:cNvSpPr txBox="1"/>
          <p:nvPr>
            <p:ph idx="1" type="body"/>
          </p:nvPr>
        </p:nvSpPr>
        <p:spPr>
          <a:xfrm>
            <a:off x="3763100" y="3052050"/>
            <a:ext cx="21813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(0100	1000)</a:t>
            </a:r>
            <a:r>
              <a:rPr baseline="-25000" lang="en" sz="1500">
                <a:solidFill>
                  <a:schemeClr val="dk1"/>
                </a:solidFill>
              </a:rPr>
              <a:t>BCD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13" name="Google Shape;1213;p62"/>
          <p:cNvSpPr txBox="1"/>
          <p:nvPr>
            <p:ph idx="1" type="body"/>
          </p:nvPr>
        </p:nvSpPr>
        <p:spPr>
          <a:xfrm>
            <a:off x="715100" y="39664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Excess–3 is self complementing code!!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63"/>
          <p:cNvSpPr txBox="1"/>
          <p:nvPr>
            <p:ph idx="1" type="body"/>
          </p:nvPr>
        </p:nvSpPr>
        <p:spPr>
          <a:xfrm>
            <a:off x="715100" y="1299450"/>
            <a:ext cx="44295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Gray Code, also called </a:t>
            </a:r>
            <a:r>
              <a:rPr b="1" lang="en" sz="1500">
                <a:solidFill>
                  <a:schemeClr val="dk1"/>
                </a:solidFill>
              </a:rPr>
              <a:t>Reflected Binary Code</a:t>
            </a:r>
            <a:r>
              <a:rPr lang="en" sz="1500">
                <a:solidFill>
                  <a:schemeClr val="dk1"/>
                </a:solidFill>
              </a:rPr>
              <a:t>, is a binary numeral system where two successive values differ in only one bit. This property is known as single-bit change, and it's what makes Gray code special compared to standard binary.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219" name="Google Shape;1219;p63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Gray Code</a:t>
            </a:r>
            <a:r>
              <a:rPr lang="en" sz="1200"/>
              <a:t>(unweighted)</a:t>
            </a:r>
            <a:endParaRPr sz="2800"/>
          </a:p>
        </p:txBody>
      </p:sp>
      <p:cxnSp>
        <p:nvCxnSpPr>
          <p:cNvPr id="1220" name="Google Shape;1220;p63"/>
          <p:cNvCxnSpPr>
            <a:stCxn id="122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63"/>
          <p:cNvCxnSpPr>
            <a:endCxn id="122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4" name="Google Shape;122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725" y="1217475"/>
            <a:ext cx="3097350" cy="30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64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Gray Code</a:t>
            </a:r>
            <a:r>
              <a:rPr lang="en" sz="1200"/>
              <a:t>(unweighted)</a:t>
            </a:r>
            <a:endParaRPr sz="2800"/>
          </a:p>
        </p:txBody>
      </p:sp>
      <p:cxnSp>
        <p:nvCxnSpPr>
          <p:cNvPr id="1230" name="Google Shape;1230;p64"/>
          <p:cNvCxnSpPr>
            <a:stCxn id="123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64"/>
          <p:cNvCxnSpPr>
            <a:endCxn id="123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4" name="Google Shape;1234;p64"/>
          <p:cNvSpPr txBox="1"/>
          <p:nvPr/>
        </p:nvSpPr>
        <p:spPr>
          <a:xfrm>
            <a:off x="1363125" y="1488025"/>
            <a:ext cx="156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Binary to Gray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5" name="Google Shape;1235;p64"/>
          <p:cNvSpPr txBox="1"/>
          <p:nvPr/>
        </p:nvSpPr>
        <p:spPr>
          <a:xfrm>
            <a:off x="10107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6" name="Google Shape;1236;p64"/>
          <p:cNvSpPr txBox="1"/>
          <p:nvPr/>
        </p:nvSpPr>
        <p:spPr>
          <a:xfrm>
            <a:off x="16203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7" name="Google Shape;1237;p64"/>
          <p:cNvSpPr txBox="1"/>
          <p:nvPr/>
        </p:nvSpPr>
        <p:spPr>
          <a:xfrm>
            <a:off x="22299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8" name="Google Shape;1238;p64"/>
          <p:cNvSpPr txBox="1"/>
          <p:nvPr/>
        </p:nvSpPr>
        <p:spPr>
          <a:xfrm>
            <a:off x="28395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9" name="Google Shape;1239;p64"/>
          <p:cNvSpPr txBox="1"/>
          <p:nvPr/>
        </p:nvSpPr>
        <p:spPr>
          <a:xfrm>
            <a:off x="10107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0" name="Google Shape;1240;p64"/>
          <p:cNvSpPr txBox="1"/>
          <p:nvPr/>
        </p:nvSpPr>
        <p:spPr>
          <a:xfrm>
            <a:off x="16203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1" name="Google Shape;1241;p64"/>
          <p:cNvSpPr txBox="1"/>
          <p:nvPr/>
        </p:nvSpPr>
        <p:spPr>
          <a:xfrm>
            <a:off x="22299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2" name="Google Shape;1242;p64"/>
          <p:cNvSpPr txBox="1"/>
          <p:nvPr/>
        </p:nvSpPr>
        <p:spPr>
          <a:xfrm>
            <a:off x="28395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43" name="Google Shape;1243;p64"/>
          <p:cNvCxnSpPr/>
          <p:nvPr/>
        </p:nvCxnSpPr>
        <p:spPr>
          <a:xfrm>
            <a:off x="1163100" y="2631100"/>
            <a:ext cx="0" cy="10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4" name="Google Shape;1244;p64"/>
          <p:cNvCxnSpPr/>
          <p:nvPr/>
        </p:nvCxnSpPr>
        <p:spPr>
          <a:xfrm>
            <a:off x="1772700" y="255490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5" name="Google Shape;1245;p64"/>
          <p:cNvCxnSpPr/>
          <p:nvPr/>
        </p:nvCxnSpPr>
        <p:spPr>
          <a:xfrm>
            <a:off x="2382300" y="255490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6" name="Google Shape;1246;p64"/>
          <p:cNvCxnSpPr/>
          <p:nvPr/>
        </p:nvCxnSpPr>
        <p:spPr>
          <a:xfrm>
            <a:off x="2991900" y="255490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47" name="Google Shape;1247;p64"/>
          <p:cNvSpPr txBox="1"/>
          <p:nvPr/>
        </p:nvSpPr>
        <p:spPr>
          <a:xfrm>
            <a:off x="1565748" y="2924050"/>
            <a:ext cx="4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⊕</a:t>
            </a:r>
            <a:endParaRPr sz="1800"/>
          </a:p>
        </p:txBody>
      </p:sp>
      <p:sp>
        <p:nvSpPr>
          <p:cNvPr id="1248" name="Google Shape;1248;p64"/>
          <p:cNvSpPr txBox="1"/>
          <p:nvPr/>
        </p:nvSpPr>
        <p:spPr>
          <a:xfrm>
            <a:off x="2162625" y="2888050"/>
            <a:ext cx="4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⊕</a:t>
            </a:r>
            <a:endParaRPr sz="1800"/>
          </a:p>
        </p:txBody>
      </p:sp>
      <p:sp>
        <p:nvSpPr>
          <p:cNvPr id="1249" name="Google Shape;1249;p64"/>
          <p:cNvSpPr txBox="1"/>
          <p:nvPr/>
        </p:nvSpPr>
        <p:spPr>
          <a:xfrm>
            <a:off x="2772225" y="2888050"/>
            <a:ext cx="4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⊕</a:t>
            </a:r>
            <a:endParaRPr sz="1800"/>
          </a:p>
        </p:txBody>
      </p:sp>
      <p:cxnSp>
        <p:nvCxnSpPr>
          <p:cNvPr id="1250" name="Google Shape;1250;p64"/>
          <p:cNvCxnSpPr/>
          <p:nvPr/>
        </p:nvCxnSpPr>
        <p:spPr>
          <a:xfrm>
            <a:off x="1772700" y="331690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1" name="Google Shape;1251;p64"/>
          <p:cNvCxnSpPr/>
          <p:nvPr/>
        </p:nvCxnSpPr>
        <p:spPr>
          <a:xfrm>
            <a:off x="2382300" y="331690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2" name="Google Shape;1252;p64"/>
          <p:cNvCxnSpPr/>
          <p:nvPr/>
        </p:nvCxnSpPr>
        <p:spPr>
          <a:xfrm>
            <a:off x="2991900" y="331690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3" name="Google Shape;1253;p64"/>
          <p:cNvCxnSpPr/>
          <p:nvPr/>
        </p:nvCxnSpPr>
        <p:spPr>
          <a:xfrm>
            <a:off x="1233175" y="2631100"/>
            <a:ext cx="420000" cy="36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4" name="Google Shape;1254;p64"/>
          <p:cNvCxnSpPr/>
          <p:nvPr/>
        </p:nvCxnSpPr>
        <p:spPr>
          <a:xfrm>
            <a:off x="1882275" y="2561913"/>
            <a:ext cx="355500" cy="42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5" name="Google Shape;1255;p64"/>
          <p:cNvCxnSpPr/>
          <p:nvPr/>
        </p:nvCxnSpPr>
        <p:spPr>
          <a:xfrm>
            <a:off x="2509350" y="2600038"/>
            <a:ext cx="355500" cy="42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56" name="Google Shape;1256;p64"/>
          <p:cNvSpPr txBox="1"/>
          <p:nvPr/>
        </p:nvSpPr>
        <p:spPr>
          <a:xfrm>
            <a:off x="4792125" y="1488025"/>
            <a:ext cx="156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Gray to Binary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7" name="Google Shape;1257;p64"/>
          <p:cNvSpPr txBox="1"/>
          <p:nvPr/>
        </p:nvSpPr>
        <p:spPr>
          <a:xfrm>
            <a:off x="44397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8" name="Google Shape;1258;p64"/>
          <p:cNvSpPr txBox="1"/>
          <p:nvPr/>
        </p:nvSpPr>
        <p:spPr>
          <a:xfrm>
            <a:off x="50493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9" name="Google Shape;1259;p64"/>
          <p:cNvSpPr txBox="1"/>
          <p:nvPr/>
        </p:nvSpPr>
        <p:spPr>
          <a:xfrm>
            <a:off x="56589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0" name="Google Shape;1260;p64"/>
          <p:cNvSpPr txBox="1"/>
          <p:nvPr/>
        </p:nvSpPr>
        <p:spPr>
          <a:xfrm>
            <a:off x="6268500" y="22024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1" name="Google Shape;1261;p64"/>
          <p:cNvSpPr txBox="1"/>
          <p:nvPr/>
        </p:nvSpPr>
        <p:spPr>
          <a:xfrm>
            <a:off x="44397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2" name="Google Shape;1262;p64"/>
          <p:cNvSpPr txBox="1"/>
          <p:nvPr/>
        </p:nvSpPr>
        <p:spPr>
          <a:xfrm>
            <a:off x="50493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3" name="Google Shape;1263;p64"/>
          <p:cNvSpPr txBox="1"/>
          <p:nvPr/>
        </p:nvSpPr>
        <p:spPr>
          <a:xfrm>
            <a:off x="56589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4" name="Google Shape;1264;p64"/>
          <p:cNvSpPr txBox="1"/>
          <p:nvPr/>
        </p:nvSpPr>
        <p:spPr>
          <a:xfrm>
            <a:off x="6268500" y="3802600"/>
            <a:ext cx="43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1" baseline="-2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65" name="Google Shape;1265;p64"/>
          <p:cNvCxnSpPr/>
          <p:nvPr/>
        </p:nvCxnSpPr>
        <p:spPr>
          <a:xfrm>
            <a:off x="4572000" y="2654950"/>
            <a:ext cx="0" cy="10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66" name="Google Shape;1266;p64"/>
          <p:cNvSpPr txBox="1"/>
          <p:nvPr/>
        </p:nvSpPr>
        <p:spPr>
          <a:xfrm>
            <a:off x="4994748" y="2924050"/>
            <a:ext cx="4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⊕</a:t>
            </a:r>
            <a:endParaRPr sz="1800"/>
          </a:p>
        </p:txBody>
      </p:sp>
      <p:sp>
        <p:nvSpPr>
          <p:cNvPr id="1267" name="Google Shape;1267;p64"/>
          <p:cNvSpPr txBox="1"/>
          <p:nvPr/>
        </p:nvSpPr>
        <p:spPr>
          <a:xfrm>
            <a:off x="5591625" y="2888050"/>
            <a:ext cx="4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⊕</a:t>
            </a:r>
            <a:endParaRPr sz="1800"/>
          </a:p>
        </p:txBody>
      </p:sp>
      <p:sp>
        <p:nvSpPr>
          <p:cNvPr id="1268" name="Google Shape;1268;p64"/>
          <p:cNvSpPr txBox="1"/>
          <p:nvPr/>
        </p:nvSpPr>
        <p:spPr>
          <a:xfrm>
            <a:off x="6201225" y="2888050"/>
            <a:ext cx="4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⊕</a:t>
            </a:r>
            <a:endParaRPr sz="1800"/>
          </a:p>
        </p:txBody>
      </p:sp>
      <p:cxnSp>
        <p:nvCxnSpPr>
          <p:cNvPr id="1269" name="Google Shape;1269;p64"/>
          <p:cNvCxnSpPr>
            <a:stCxn id="1261" idx="0"/>
          </p:cNvCxnSpPr>
          <p:nvPr/>
        </p:nvCxnSpPr>
        <p:spPr>
          <a:xfrm flipH="1" rot="10800000">
            <a:off x="4658850" y="3300100"/>
            <a:ext cx="407400" cy="50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0" name="Google Shape;1270;p64"/>
          <p:cNvCxnSpPr/>
          <p:nvPr/>
        </p:nvCxnSpPr>
        <p:spPr>
          <a:xfrm rot="10800000">
            <a:off x="5213900" y="2551450"/>
            <a:ext cx="0" cy="45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71" name="Google Shape;1271;p64"/>
          <p:cNvCxnSpPr/>
          <p:nvPr/>
        </p:nvCxnSpPr>
        <p:spPr>
          <a:xfrm flipH="1" rot="10800000">
            <a:off x="5268450" y="3300100"/>
            <a:ext cx="407400" cy="50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2" name="Google Shape;1272;p64"/>
          <p:cNvCxnSpPr/>
          <p:nvPr/>
        </p:nvCxnSpPr>
        <p:spPr>
          <a:xfrm rot="10800000">
            <a:off x="5823500" y="2551450"/>
            <a:ext cx="0" cy="45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73" name="Google Shape;1273;p64"/>
          <p:cNvCxnSpPr/>
          <p:nvPr/>
        </p:nvCxnSpPr>
        <p:spPr>
          <a:xfrm flipH="1" rot="10800000">
            <a:off x="5878050" y="3300100"/>
            <a:ext cx="407400" cy="50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4" name="Google Shape;1274;p64"/>
          <p:cNvCxnSpPr/>
          <p:nvPr/>
        </p:nvCxnSpPr>
        <p:spPr>
          <a:xfrm rot="10800000">
            <a:off x="6433100" y="2551450"/>
            <a:ext cx="0" cy="45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75" name="Google Shape;1275;p64"/>
          <p:cNvCxnSpPr/>
          <p:nvPr/>
        </p:nvCxnSpPr>
        <p:spPr>
          <a:xfrm>
            <a:off x="5213900" y="330955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6" name="Google Shape;1276;p64"/>
          <p:cNvCxnSpPr/>
          <p:nvPr/>
        </p:nvCxnSpPr>
        <p:spPr>
          <a:xfrm>
            <a:off x="5810775" y="330955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7" name="Google Shape;1277;p64"/>
          <p:cNvCxnSpPr/>
          <p:nvPr/>
        </p:nvCxnSpPr>
        <p:spPr>
          <a:xfrm>
            <a:off x="6420900" y="3316900"/>
            <a:ext cx="0" cy="44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5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Gray Code</a:t>
            </a:r>
            <a:r>
              <a:rPr lang="en" sz="1200"/>
              <a:t>(unweighted)</a:t>
            </a:r>
            <a:endParaRPr sz="2800"/>
          </a:p>
        </p:txBody>
      </p:sp>
      <p:cxnSp>
        <p:nvCxnSpPr>
          <p:cNvPr id="1283" name="Google Shape;1283;p65"/>
          <p:cNvCxnSpPr>
            <a:stCxn id="128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65"/>
          <p:cNvCxnSpPr>
            <a:endCxn id="128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287" name="Google Shape;1287;p65"/>
          <p:cNvGraphicFramePr/>
          <p:nvPr/>
        </p:nvGraphicFramePr>
        <p:xfrm>
          <a:off x="990600" y="138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{FDE4B6EE-AEE8-4F44-B4DA-A79B10E819EE}</a:tableStyleId>
              </a:tblPr>
              <a:tblGrid>
                <a:gridCol w="2122725"/>
                <a:gridCol w="1793350"/>
                <a:gridCol w="2818100"/>
              </a:tblGrid>
              <a:tr h="410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Decimal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Binary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Gray Code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000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000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001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001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6"/>
          <p:cNvSpPr txBox="1"/>
          <p:nvPr>
            <p:ph type="title"/>
          </p:nvPr>
        </p:nvSpPr>
        <p:spPr>
          <a:xfrm>
            <a:off x="1360425" y="2595800"/>
            <a:ext cx="64734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Alphanumeric</a:t>
            </a:r>
            <a:r>
              <a:rPr lang="en" sz="3600"/>
              <a:t> Codes</a:t>
            </a:r>
            <a:endParaRPr sz="3600"/>
          </a:p>
        </p:txBody>
      </p:sp>
      <p:sp>
        <p:nvSpPr>
          <p:cNvPr id="1293" name="Google Shape;1293;p6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94" name="Google Shape;1294;p6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Codes containing numbers and characters</a:t>
            </a:r>
            <a:endParaRPr/>
          </a:p>
        </p:txBody>
      </p:sp>
      <p:cxnSp>
        <p:nvCxnSpPr>
          <p:cNvPr id="1295" name="Google Shape;1295;p66"/>
          <p:cNvCxnSpPr>
            <a:stCxn id="1293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67"/>
          <p:cNvSpPr txBox="1"/>
          <p:nvPr>
            <p:ph idx="1" type="body"/>
          </p:nvPr>
        </p:nvSpPr>
        <p:spPr>
          <a:xfrm>
            <a:off x="715100" y="22900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ASCII (American Standard Code for Information Interchange)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Represents 128 characters (7-bit): A–Z, a–z, 0–9, symbols, and control characters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02" name="Google Shape;1302;p67"/>
          <p:cNvSpPr txBox="1"/>
          <p:nvPr>
            <p:ph type="title"/>
          </p:nvPr>
        </p:nvSpPr>
        <p:spPr>
          <a:xfrm>
            <a:off x="715100" y="742350"/>
            <a:ext cx="6448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Alphanumeric Codes</a:t>
            </a:r>
            <a:endParaRPr sz="2800"/>
          </a:p>
        </p:txBody>
      </p:sp>
      <p:cxnSp>
        <p:nvCxnSpPr>
          <p:cNvPr id="1303" name="Google Shape;1303;p67"/>
          <p:cNvCxnSpPr>
            <a:stCxn id="130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67"/>
          <p:cNvCxnSpPr>
            <a:endCxn id="130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7" name="Google Shape;1307;p67"/>
          <p:cNvSpPr txBox="1"/>
          <p:nvPr>
            <p:ph idx="1" type="body"/>
          </p:nvPr>
        </p:nvSpPr>
        <p:spPr>
          <a:xfrm>
            <a:off x="715100" y="28996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EBCDIC (Extended Binary Coded Decimal Interchange Code)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IBM-developed 8-bit code used in mainframes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08" name="Google Shape;1308;p67"/>
          <p:cNvSpPr txBox="1"/>
          <p:nvPr>
            <p:ph idx="1" type="body"/>
          </p:nvPr>
        </p:nvSpPr>
        <p:spPr>
          <a:xfrm>
            <a:off x="715100" y="34330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Unicode (UTF-8, UTF-16, etc.)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universal character set for all languages, emojis, symbols. Encodes over 140,000 characters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09" name="Google Shape;1309;p67"/>
          <p:cNvSpPr txBox="1"/>
          <p:nvPr>
            <p:ph idx="1" type="body"/>
          </p:nvPr>
        </p:nvSpPr>
        <p:spPr>
          <a:xfrm>
            <a:off x="486500" y="1451850"/>
            <a:ext cx="77424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 alphanumeric code is a sequence of characters that includes both letters (alphabetic) and numbers (numeric).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4" name="Google Shape;131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438" y="819250"/>
            <a:ext cx="6560826" cy="33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69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1320" name="Google Shape;1320;p69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1321" name="Google Shape;1321;p69"/>
          <p:cNvCxnSpPr>
            <a:endCxn id="1319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