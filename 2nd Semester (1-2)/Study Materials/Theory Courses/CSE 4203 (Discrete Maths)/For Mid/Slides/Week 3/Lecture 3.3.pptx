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[1.7]" id="{5A092447-13DB-46EF-ADCD-331895D16C3B}">
          <p14:sldIdLst>
            <p14:sldId id="256"/>
          </p14:sldIdLst>
        </p14:section>
        <p14:section name="Some Terminologies" id="{89A24394-13C2-4A01-8D45-D26275ECFAF0}">
          <p14:sldIdLst>
            <p14:sldId id="257"/>
            <p14:sldId id="258"/>
            <p14:sldId id="259"/>
          </p14:sldIdLst>
        </p14:section>
        <p14:section name="Methods of Proving Theorems" id="{EA8A0452-EEAC-4283-932E-B2337772780B}">
          <p14:sldIdLst>
            <p14:sldId id="260"/>
          </p14:sldIdLst>
        </p14:section>
        <p14:section name="Direct Proof" id="{E1F9043E-5975-47EB-809C-D6BB385FB827}">
          <p14:sldIdLst>
            <p14:sldId id="261"/>
            <p14:sldId id="262"/>
            <p14:sldId id="263"/>
            <p14:sldId id="264"/>
            <p14:sldId id="271"/>
            <p14:sldId id="272"/>
          </p14:sldIdLst>
        </p14:section>
        <p14:section name="Proof by Contraposition" id="{F23794AB-ADBA-4950-9D82-98FD38B3F36F}">
          <p14:sldIdLst>
            <p14:sldId id="265"/>
            <p14:sldId id="266"/>
            <p14:sldId id="267"/>
            <p14:sldId id="268"/>
          </p14:sldIdLst>
        </p14:section>
        <p14:section name="Proof by Contradiction" id="{5B6F1D6E-539A-407C-A850-7FBE5B4A882C}">
          <p14:sldIdLst>
            <p14:sldId id="269"/>
            <p14:sldId id="270"/>
            <p14:sldId id="273"/>
            <p14:sldId id="274"/>
            <p14:sldId id="275"/>
          </p14:sldIdLst>
        </p14:section>
        <p14:section name="Mistakes in Proofs" id="{4CDC2A5E-B72B-48CB-9308-AA3D070C6B78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76" autoAdjust="0"/>
  </p:normalViewPr>
  <p:slideViewPr>
    <p:cSldViewPr>
      <p:cViewPr varScale="1">
        <p:scale>
          <a:sx n="69" d="100"/>
          <a:sy n="69" d="100"/>
        </p:scale>
        <p:origin x="-137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5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3016"/>
            <a:ext cx="7177608" cy="13757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 smtClean="0"/>
              <a:t>Chapter 1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b="1" dirty="0" smtClean="0"/>
              <a:t>The Foundations : Logic and Proofs</a:t>
            </a:r>
            <a:br>
              <a:rPr lang="en-GB" b="1" dirty="0" smtClean="0"/>
            </a:br>
            <a:r>
              <a:rPr lang="en-GB" b="1" dirty="0" smtClean="0"/>
              <a:t>Kenneth H. Rosen 7</a:t>
            </a:r>
            <a:r>
              <a:rPr lang="en-GB" b="1" baseline="30000" dirty="0" smtClean="0"/>
              <a:t>th</a:t>
            </a:r>
            <a:r>
              <a:rPr lang="en-GB" b="1" dirty="0" smtClean="0"/>
              <a:t> edition</a:t>
            </a:r>
            <a:endParaRPr lang="en-US" b="1" dirty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 smtClean="0"/>
              <a:t>Section 1.7 :Introduction to Proofs</a:t>
            </a:r>
          </a:p>
        </p:txBody>
      </p:sp>
    </p:spTree>
    <p:extLst>
      <p:ext uri="{BB962C8B-B14F-4D97-AF65-F5344CB8AC3E}">
        <p14:creationId xmlns:p14="http://schemas.microsoft.com/office/powerpoint/2010/main" val="274169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Some Terminologies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Theorem: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statement that can be shown to be </a:t>
            </a:r>
            <a:r>
              <a:rPr lang="en-US" dirty="0" smtClean="0"/>
              <a:t>true.</a:t>
            </a:r>
          </a:p>
          <a:p>
            <a:pPr lvl="1"/>
            <a:r>
              <a:rPr lang="en-US" dirty="0" smtClean="0"/>
              <a:t>Usually </a:t>
            </a:r>
            <a:r>
              <a:rPr lang="en-US" dirty="0"/>
              <a:t>reserved for a statement that is considered at least somewhat important.</a:t>
            </a:r>
          </a:p>
          <a:p>
            <a:pPr lvl="1"/>
            <a:r>
              <a:rPr lang="en-US" dirty="0"/>
              <a:t>Less important theorems sometimes are called </a:t>
            </a:r>
            <a:r>
              <a:rPr lang="en-US" b="1" dirty="0"/>
              <a:t>P</a:t>
            </a:r>
            <a:r>
              <a:rPr lang="en-US" b="1" dirty="0" smtClean="0"/>
              <a:t>ropositions</a:t>
            </a:r>
            <a:r>
              <a:rPr lang="en-US" b="1" dirty="0"/>
              <a:t>. </a:t>
            </a:r>
            <a:endParaRPr lang="en-US" b="1" dirty="0" smtClean="0"/>
          </a:p>
          <a:p>
            <a:endParaRPr lang="en-GB" dirty="0"/>
          </a:p>
          <a:p>
            <a:r>
              <a:rPr lang="en-GB" b="1" u="sng" dirty="0" smtClean="0"/>
              <a:t>Proof:</a:t>
            </a:r>
          </a:p>
          <a:p>
            <a:pPr lvl="1"/>
            <a:r>
              <a:rPr lang="en-US" dirty="0" smtClean="0"/>
              <a:t>Used to demonstrate </a:t>
            </a:r>
            <a:r>
              <a:rPr lang="en-US" dirty="0"/>
              <a:t>that a theorem is </a:t>
            </a:r>
            <a:r>
              <a:rPr lang="en-US" dirty="0" smtClean="0"/>
              <a:t>true.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valid argument that establishes the truth of a </a:t>
            </a:r>
            <a:r>
              <a:rPr lang="en-US" dirty="0" smtClean="0"/>
              <a:t>theorem.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70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Some </a:t>
            </a:r>
            <a:r>
              <a:rPr lang="en-GB" dirty="0" smtClean="0"/>
              <a:t>Terminologies(Contd.)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u="sng" dirty="0" smtClean="0"/>
              <a:t>Axioms:</a:t>
            </a:r>
          </a:p>
          <a:p>
            <a:pPr lvl="1"/>
            <a:r>
              <a:rPr lang="en-US" dirty="0" smtClean="0"/>
              <a:t>Statements that are assumed </a:t>
            </a:r>
            <a:r>
              <a:rPr lang="en-US" dirty="0"/>
              <a:t>to be </a:t>
            </a:r>
            <a:r>
              <a:rPr lang="en-US" dirty="0" smtClean="0"/>
              <a:t>true.</a:t>
            </a:r>
          </a:p>
          <a:p>
            <a:pPr lvl="1"/>
            <a:r>
              <a:rPr lang="en-US" dirty="0" smtClean="0"/>
              <a:t>May be </a:t>
            </a:r>
            <a:r>
              <a:rPr lang="en-US" dirty="0"/>
              <a:t>stated using primitive terms that do not require </a:t>
            </a:r>
            <a:r>
              <a:rPr lang="en-US" dirty="0" smtClean="0"/>
              <a:t>deﬁnition.</a:t>
            </a:r>
          </a:p>
          <a:p>
            <a:pPr lvl="1"/>
            <a:endParaRPr lang="en-GB" dirty="0"/>
          </a:p>
          <a:p>
            <a:r>
              <a:rPr lang="en-GB" b="1" u="sng" dirty="0" smtClean="0"/>
              <a:t>Lemma:</a:t>
            </a:r>
          </a:p>
          <a:p>
            <a:pPr lvl="1"/>
            <a:r>
              <a:rPr lang="en-US" dirty="0"/>
              <a:t>A less important theorem that is helpful in the proof of other results </a:t>
            </a:r>
            <a:r>
              <a:rPr lang="en-US" dirty="0" smtClean="0"/>
              <a:t>.</a:t>
            </a:r>
          </a:p>
          <a:p>
            <a:endParaRPr lang="en-GB" dirty="0"/>
          </a:p>
          <a:p>
            <a:r>
              <a:rPr lang="en-GB" b="1" u="sng" dirty="0" smtClean="0"/>
              <a:t>Corollary:</a:t>
            </a:r>
          </a:p>
          <a:p>
            <a:pPr lvl="1"/>
            <a:r>
              <a:rPr lang="en-US" dirty="0" smtClean="0"/>
              <a:t>A theorem </a:t>
            </a:r>
            <a:r>
              <a:rPr lang="en-US" dirty="0"/>
              <a:t>that can be established directly from a theorem that has been </a:t>
            </a:r>
            <a:r>
              <a:rPr lang="en-US" dirty="0" smtClean="0"/>
              <a:t>proved.</a:t>
            </a:r>
            <a:endParaRPr lang="en-GB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964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Some Terminologies(Contd.)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Conjecture: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statement that is being proposed to be a true statement, usually on the basis of </a:t>
            </a:r>
            <a:endParaRPr lang="en-US" dirty="0" smtClean="0"/>
          </a:p>
          <a:p>
            <a:pPr lvl="2"/>
            <a:r>
              <a:rPr lang="en-US" dirty="0" smtClean="0"/>
              <a:t>Some partial evidence Or,</a:t>
            </a:r>
          </a:p>
          <a:p>
            <a:pPr lvl="2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heuristic </a:t>
            </a:r>
            <a:r>
              <a:rPr lang="en-US" dirty="0" smtClean="0"/>
              <a:t>argument Or,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intuition of an </a:t>
            </a:r>
            <a:r>
              <a:rPr lang="en-US" dirty="0" smtClean="0"/>
              <a:t>expert</a:t>
            </a:r>
          </a:p>
          <a:p>
            <a:pPr lvl="1"/>
            <a:r>
              <a:rPr lang="en-US" dirty="0"/>
              <a:t>When a proof of a conjecture </a:t>
            </a:r>
            <a:r>
              <a:rPr lang="en-US" dirty="0" smtClean="0"/>
              <a:t>is found</a:t>
            </a:r>
            <a:r>
              <a:rPr lang="en-US" dirty="0"/>
              <a:t>, the conjecture becomes a theorem. </a:t>
            </a:r>
            <a:endParaRPr lang="en-US" dirty="0" smtClean="0"/>
          </a:p>
          <a:p>
            <a:pPr lvl="1"/>
            <a:r>
              <a:rPr lang="en-US" dirty="0" smtClean="0"/>
              <a:t>Many </a:t>
            </a:r>
            <a:r>
              <a:rPr lang="en-US" dirty="0"/>
              <a:t>times conjectures are shown to be false, so </a:t>
            </a:r>
            <a:r>
              <a:rPr lang="en-US" dirty="0" smtClean="0"/>
              <a:t>they are </a:t>
            </a:r>
            <a:r>
              <a:rPr lang="en-US" dirty="0"/>
              <a:t>not theorems.</a:t>
            </a:r>
          </a:p>
        </p:txBody>
      </p:sp>
    </p:spTree>
    <p:extLst>
      <p:ext uri="{BB962C8B-B14F-4D97-AF65-F5344CB8AC3E}">
        <p14:creationId xmlns:p14="http://schemas.microsoft.com/office/powerpoint/2010/main" val="428350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Methods of Proving Theorems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Direct Proofs</a:t>
            </a:r>
            <a:endParaRPr lang="en-US" dirty="0" smtClean="0"/>
          </a:p>
          <a:p>
            <a:r>
              <a:rPr lang="en-GB" dirty="0" smtClean="0"/>
              <a:t>Proof by Contraposition</a:t>
            </a:r>
          </a:p>
          <a:p>
            <a:r>
              <a:rPr lang="en-GB" dirty="0" smtClean="0"/>
              <a:t>Vacuous and Trivial Proofs</a:t>
            </a:r>
          </a:p>
          <a:p>
            <a:r>
              <a:rPr lang="en-GB" dirty="0"/>
              <a:t> </a:t>
            </a:r>
            <a:r>
              <a:rPr lang="en-GB" dirty="0" smtClean="0"/>
              <a:t>Proof by Contradiction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09893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Direct Proof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1:</a:t>
                </a:r>
                <a:endParaRPr lang="en-US" b="1" u="sng" dirty="0" smtClean="0"/>
              </a:p>
              <a:p>
                <a:r>
                  <a:rPr lang="en-US" dirty="0"/>
                  <a:t>Give a direct proof of the theorem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𝑖𝑛𝑡𝑒𝑔𝑒𝑟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endParaRPr lang="en-GB" dirty="0" smtClean="0"/>
              </a:p>
              <a:p>
                <a:endParaRPr lang="en-GB" b="1" u="sng" dirty="0" smtClean="0"/>
              </a:p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This </a:t>
                </a:r>
                <a:r>
                  <a:rPr lang="en-US" dirty="0"/>
                  <a:t>theorem </a:t>
                </a:r>
                <a:r>
                  <a:rPr lang="en-US" dirty="0" smtClean="0"/>
                  <a:t>states,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∀</m:t>
                    </m:r>
                    <m:r>
                      <a:rPr lang="en-GB" b="0" i="1" dirty="0" smtClean="0">
                        <a:latin typeface="Cambria Math"/>
                      </a:rPr>
                      <m:t>𝑛𝑃</m:t>
                    </m:r>
                    <m:r>
                      <a:rPr lang="en-US" i="1" dirty="0">
                        <a:latin typeface="Cambria Math"/>
                      </a:rPr>
                      <m:t> ((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) → </m:t>
                    </m:r>
                    <m:r>
                      <a:rPr lang="en-US" i="1" dirty="0">
                        <a:latin typeface="Cambria Math"/>
                      </a:rPr>
                      <m:t>𝑄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)),</m:t>
                    </m:r>
                  </m:oMath>
                </a14:m>
                <a:r>
                  <a:rPr lang="en-US" dirty="0"/>
                  <a:t> where </a:t>
                </a:r>
                <a:endParaRPr lang="en-GB" i="1" dirty="0" smtClean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𝑖𝑛𝑡𝑒𝑔𝑒𝑟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  <m:r>
                      <a:rPr lang="en-US" i="1" dirty="0" smtClean="0">
                        <a:latin typeface="Cambria Math"/>
                      </a:rPr>
                      <m:t>”</m:t>
                    </m:r>
                  </m:oMath>
                </a14:m>
                <a:r>
                  <a:rPr lang="en-US" dirty="0" smtClean="0"/>
                  <a:t> </a:t>
                </a:r>
                <a:endParaRPr lang="en-GB" i="1" dirty="0" smtClean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Let,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 smtClean="0"/>
                  <a:t> is an odd integer.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Thus, by the definition of an odd number,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  <m:r>
                      <a:rPr lang="en-GB" b="0" i="1" smtClean="0">
                        <a:latin typeface="Cambria Math"/>
                      </a:rPr>
                      <m:t>=2</m:t>
                    </m:r>
                    <m:r>
                      <a:rPr lang="en-GB" b="0" i="1" smtClean="0">
                        <a:latin typeface="Cambria Math"/>
                      </a:rPr>
                      <m:t>𝑘</m:t>
                    </m:r>
                    <m:r>
                      <a:rPr lang="en-GB" b="0" i="1" smtClean="0">
                        <a:latin typeface="Cambria Math"/>
                      </a:rPr>
                      <m:t>+1</m:t>
                    </m:r>
                    <m:r>
                      <a:rPr lang="en-GB" b="0" i="0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GB" dirty="0" smtClean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𝑘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dirty="0" smtClean="0"/>
                  <a:t>is some integer.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111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37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Direct Proof(Contd.)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GB" dirty="0" smtClean="0"/>
                  <a:t>Thus, we can write,</a:t>
                </a:r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Thus from the above deduction, we can see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also an odd number by the definition of odd number. 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Thus, we can say that,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"</m:t>
                    </m:r>
                    <m:r>
                      <a:rPr lang="en-US" i="1" dirty="0">
                        <a:latin typeface="Cambria Math"/>
                      </a:rPr>
                      <m:t>𝐼𝑓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694859"/>
                  </p:ext>
                </p:extLst>
              </p:nvPr>
            </p:nvGraphicFramePr>
            <p:xfrm>
              <a:off x="1447800" y="2057400"/>
              <a:ext cx="5271834" cy="185420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88379"/>
                    <a:gridCol w="417830"/>
                    <a:gridCol w="1865122"/>
                    <a:gridCol w="2500503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𝐵𝑦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𝑑𝑒𝑓𝑖𝑛𝑖𝑡𝑖𝑜𝑛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𝑆𝑞𝑢𝑎𝑟𝑖𝑛𝑔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𝑏𝑜𝑡h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𝑠𝑖𝑑𝑒𝑠</m:t>
                              </m:r>
                            </m:oMath>
                          </a14:m>
                          <a:r>
                            <a:rPr lang="en-GB" b="0" dirty="0" smtClean="0"/>
                            <a:t>  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+4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+2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=(2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694859"/>
                  </p:ext>
                </p:extLst>
              </p:nvPr>
            </p:nvGraphicFramePr>
            <p:xfrm>
              <a:off x="1447800" y="2057400"/>
              <a:ext cx="5271834" cy="185420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88379"/>
                    <a:gridCol w="417830"/>
                    <a:gridCol w="1865122"/>
                    <a:gridCol w="250050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50" t="-8197" r="-98125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7391" t="-8197" r="-10376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9180" t="-8197" r="-134754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0976" t="-8197" r="-244" b="-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50" t="-108197" r="-98125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7391" t="-108197" r="-10376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9180" t="-108197" r="-134754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0976" t="-108197" r="-244" b="-3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7391" t="-211667" r="-1037681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9180" t="-211667" r="-134754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7391" t="-306557" r="-103768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9180" t="-306557" r="-13475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7391" t="-406557" r="-103768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9180" t="-406557" r="-13475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0976" t="-406557" r="-24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6291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Direct Proof(Contd.)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2:</a:t>
                </a:r>
              </a:p>
              <a:p>
                <a:r>
                  <a:rPr lang="en-US" dirty="0"/>
                  <a:t>Give a direct proof that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"</m:t>
                    </m:r>
                    <m:r>
                      <a:rPr lang="en-GB" b="0" i="1" dirty="0" smtClean="0">
                        <a:latin typeface="Cambria Math"/>
                      </a:rPr>
                      <m:t>𝐼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𝑚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𝑎𝑛𝑑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𝑎𝑟𝑒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𝑏𝑜𝑡h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𝑝𝑒𝑟𝑓𝑒𝑐𝑡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𝑠𝑞𝑢𝑎𝑟𝑒𝑠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𝑚𝑛</m:t>
                    </m:r>
                  </m:oMath>
                </a14:m>
                <a:endParaRPr lang="en-GB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𝑖𝑠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𝑎𝑙𝑠𝑜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𝑝𝑒𝑟𝑓𝑒𝑐𝑡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𝑠𝑞𝑢𝑎𝑟𝑒</m:t>
                      </m:r>
                      <m:r>
                        <a:rPr lang="en-US" i="1" dirty="0">
                          <a:latin typeface="Cambria Math"/>
                        </a:rPr>
                        <m:t>."</m:t>
                      </m:r>
                    </m:oMath>
                  </m:oMathPara>
                </a14:m>
                <a:endParaRPr lang="en-US" dirty="0"/>
              </a:p>
              <a:p>
                <a:endParaRPr lang="en-GB" sz="2000" dirty="0" smtClean="0"/>
              </a:p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Let us assume that both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GB" dirty="0" smtClean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 smtClean="0"/>
                  <a:t> are perfect squares.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Let us consider two integers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𝑠</m:t>
                    </m:r>
                    <m:r>
                      <a:rPr lang="en-GB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dirty="0" smtClean="0"/>
                  <a:t>and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 </m:t>
                    </m:r>
                    <m:r>
                      <a:rPr lang="en-GB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GB" dirty="0" smtClean="0"/>
                  <a:t>. Whose squares are respectively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GB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GB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 smtClean="0"/>
                  <a:t>.</a:t>
                </a: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Thus, by definition,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𝑚</m:t>
                    </m:r>
                    <m:r>
                      <a:rPr lang="en-GB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GB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 smtClean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𝑛</m:t>
                    </m:r>
                    <m:r>
                      <a:rPr lang="en-GB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GB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41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Direct Proof(Contd.)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GB" dirty="0"/>
                  <a:t>Thus,</a:t>
                </a:r>
                <a:endParaRPr lang="en-US" dirty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Thus</a:t>
                </a:r>
                <a:r>
                  <a:rPr lang="en-GB" dirty="0"/>
                  <a:t>, by definition,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𝑚𝑛</m:t>
                    </m:r>
                  </m:oMath>
                </a14:m>
                <a:r>
                  <a:rPr lang="en-GB" dirty="0"/>
                  <a:t> is also a perfect square</a:t>
                </a:r>
                <a:r>
                  <a:rPr lang="en-GB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Thus,</a:t>
                </a:r>
                <a:r>
                  <a:rPr lang="en-US" dirty="0"/>
                  <a:t> we can say that, </a:t>
                </a:r>
                <a:endParaRPr lang="en-GB" dirty="0"/>
              </a:p>
              <a:p>
                <a:pPr marL="594360" lvl="2" indent="0">
                  <a:buNone/>
                </a:pPr>
                <a:r>
                  <a:rPr lang="en-US" dirty="0"/>
                  <a:t>"𝐼𝑓 𝑚 𝑎𝑛𝑑 𝑛 𝑎𝑟𝑒 𝑏𝑜𝑡ℎ 𝑝𝑒𝑟𝑓𝑒𝑐𝑡 𝑠𝑞𝑢𝑎𝑟𝑒𝑠, 𝑡ℎ𝑒𝑛 𝑚𝑛</a:t>
                </a:r>
              </a:p>
              <a:p>
                <a:pPr marL="594360" lvl="2" indent="0">
                  <a:buNone/>
                </a:pPr>
                <a:r>
                  <a:rPr lang="en-US" dirty="0"/>
                  <a:t> 𝑖𝑠 𝑎𝑙𝑠𝑜 𝑎 𝑝𝑒𝑟𝑓𝑒𝑐𝑡 𝑠𝑞𝑢𝑎𝑟𝑒."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844744"/>
                  </p:ext>
                </p:extLst>
              </p:nvPr>
            </p:nvGraphicFramePr>
            <p:xfrm>
              <a:off x="1963547" y="1676400"/>
              <a:ext cx="2151253" cy="148336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37667"/>
                    <a:gridCol w="417830"/>
                    <a:gridCol w="1095756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𝑚𝑛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𝑡𝑡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𝑠𝑡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𝑠𝑡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𝑠𝑡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844744"/>
                  </p:ext>
                </p:extLst>
              </p:nvPr>
            </p:nvGraphicFramePr>
            <p:xfrm>
              <a:off x="1963547" y="1676400"/>
              <a:ext cx="2151253" cy="148336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37667"/>
                    <a:gridCol w="417830"/>
                    <a:gridCol w="109575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8197" r="-23619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54412" t="-8197" r="-264706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6111" t="-8197" b="-3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54412" t="-108197" r="-264706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6111" t="-108197" b="-2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54412" t="-211667" r="-26470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6111" t="-211667" b="-126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54412" t="-306557" r="-26470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6111" t="-306557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4280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Direct Proof(Contd.)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3:</a:t>
                </a:r>
                <a:endParaRPr lang="en-GB" dirty="0" smtClean="0"/>
              </a:p>
              <a:p>
                <a:r>
                  <a:rPr lang="en-US" dirty="0"/>
                  <a:t>Prove </a:t>
                </a:r>
                <a:r>
                  <a:rPr lang="en-US" dirty="0" smtClean="0"/>
                  <a:t>that,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𝑇h𝑒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𝑠𝑢𝑚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𝑡𝑤𝑜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𝑟𝑎𝑡𝑖𝑜𝑛𝑎𝑙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𝑛𝑢𝑚𝑏𝑒𝑟𝑠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𝑟𝑎𝑡𝑖𝑜𝑛𝑎𝑙</m:t>
                    </m:r>
                    <m:r>
                      <a:rPr lang="en-US" i="1" dirty="0" smtClean="0">
                        <a:latin typeface="Cambria Math"/>
                      </a:rPr>
                      <m:t>.”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endParaRPr lang="en-GB" dirty="0"/>
              </a:p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Suppose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 are rational numbers. </a:t>
                </a:r>
                <a:r>
                  <a:rPr lang="en-US" dirty="0" smtClean="0"/>
                  <a:t>From the </a:t>
                </a:r>
                <a:r>
                  <a:rPr lang="en-US" dirty="0"/>
                  <a:t>deﬁnition of a rational number, it follows that there </a:t>
                </a:r>
                <a:r>
                  <a:rPr lang="en-US" dirty="0" smtClean="0"/>
                  <a:t>are,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Integers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dirty="0" smtClean="0">
                        <a:latin typeface="Cambria Math"/>
                      </a:rPr>
                      <m:t> ≠ 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𝑝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,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 smtClean="0"/>
                  <a:t> are co-primes and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integers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𝑢</m:t>
                    </m:r>
                    <m:r>
                      <a:rPr lang="en-US" i="1" dirty="0" smtClean="0">
                        <a:latin typeface="Cambria Math"/>
                      </a:rPr>
                      <m:t> ≠ 0</m:t>
                    </m:r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𝑡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𝑢</m:t>
                        </m:r>
                      </m:den>
                    </m:f>
                    <m:r>
                      <a:rPr lang="en-GB" b="0" i="0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s</m:t>
                    </m:r>
                    <m:r>
                      <a:rPr lang="en-GB" i="1">
                        <a:latin typeface="Cambria Math"/>
                      </a:rPr>
                      <m:t>,</m:t>
                    </m:r>
                    <m:r>
                      <a:rPr lang="en-GB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are </a:t>
                </a:r>
                <a:r>
                  <a:rPr lang="en-US" dirty="0" smtClean="0"/>
                  <a:t>co-primes.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Therefore, 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b="-1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5887931"/>
                  </p:ext>
                </p:extLst>
              </p:nvPr>
            </p:nvGraphicFramePr>
            <p:xfrm>
              <a:off x="2590800" y="5536247"/>
              <a:ext cx="3069780" cy="635953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806958"/>
                    <a:gridCol w="1022667"/>
                    <a:gridCol w="1240155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den>
                                </m:f>
                                <m:r>
                                  <a:rPr lang="en-GB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𝑝𝑢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𝑡𝑞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𝑞𝑢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5887931"/>
                  </p:ext>
                </p:extLst>
              </p:nvPr>
            </p:nvGraphicFramePr>
            <p:xfrm>
              <a:off x="2590800" y="5536247"/>
              <a:ext cx="3069780" cy="635953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806958"/>
                    <a:gridCol w="1022667"/>
                    <a:gridCol w="1240155"/>
                  </a:tblGrid>
                  <a:tr h="6359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4762" r="-2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8571" t="-4762" r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7059" t="-476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3622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Direct Proof(Contd.)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GB" dirty="0" smtClean="0"/>
                  <a:t>Because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𝑢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dirty="0" smtClean="0"/>
                  <a:t>, it follows that,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𝑞𝑢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/>
                  <a:t>Consequently, we have expressed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 + 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as the </a:t>
                </a:r>
                <a:r>
                  <a:rPr lang="en-US" dirty="0"/>
                  <a:t>ratio of two integers,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𝑝𝑢</m:t>
                    </m:r>
                    <m:r>
                      <a:rPr lang="en-US" i="1" dirty="0">
                        <a:latin typeface="Cambria Math"/>
                      </a:rPr>
                      <m:t> +</m:t>
                    </m:r>
                    <m:r>
                      <a:rPr lang="en-GB" b="0" i="1" dirty="0" smtClean="0">
                        <a:latin typeface="Cambria Math"/>
                      </a:rPr>
                      <m:t>𝑞𝑡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𝑞𝑢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𝑞𝑢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dirty="0" smtClean="0"/>
                  <a:t>. </a:t>
                </a:r>
                <a:r>
                  <a:rPr lang="en-US" dirty="0"/>
                  <a:t>This means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 + 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dirty="0" smtClean="0"/>
                  <a:t>rational.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Thus, we can say that,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“</m:t>
                    </m:r>
                    <m:r>
                      <a:rPr lang="en-US" i="1" dirty="0">
                        <a:latin typeface="Cambria Math"/>
                      </a:rPr>
                      <m:t>𝑇h𝑒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𝑠𝑢𝑚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𝑡𝑤𝑜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𝑟𝑎𝑡𝑖𝑜𝑛𝑎𝑙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𝑛𝑢𝑚𝑏𝑒𝑟𝑠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𝑟𝑎𝑡𝑖𝑜𝑛𝑎𝑙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487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Proof by Contraposition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1:</a:t>
                </a:r>
                <a:endParaRPr lang="en-US" dirty="0"/>
              </a:p>
              <a:p>
                <a:r>
                  <a:rPr lang="en-US" dirty="0"/>
                  <a:t>Prove </a:t>
                </a:r>
                <a:r>
                  <a:rPr lang="en-US" dirty="0" smtClean="0"/>
                  <a:t>that,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𝑖𝑓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𝑎𝑛𝑑</m:t>
                    </m:r>
                    <m:r>
                      <a:rPr lang="en-US" i="1" dirty="0">
                        <a:latin typeface="Cambria Math"/>
                      </a:rPr>
                      <m:t> 3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+ 2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.”</m:t>
                    </m:r>
                  </m:oMath>
                </a14:m>
                <a:endParaRPr lang="en-GB" b="1" u="sng" dirty="0" smtClean="0"/>
              </a:p>
              <a:p>
                <a:endParaRPr lang="en-GB" b="1" u="sng" dirty="0"/>
              </a:p>
              <a:p>
                <a:r>
                  <a:rPr lang="en-GB" b="1" u="sng" dirty="0" smtClean="0"/>
                  <a:t>Solution:</a:t>
                </a: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Let, us assume that the conclusion of the conditional statement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”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𝑓𝑎𝑙𝑠𝑒</m:t>
                    </m:r>
                  </m:oMath>
                </a14:m>
                <a:r>
                  <a:rPr lang="en-US" dirty="0"/>
                  <a:t>; namely, </a:t>
                </a:r>
                <a:r>
                  <a:rPr lang="en-US" dirty="0" smtClean="0"/>
                  <a:t> we assume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even.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Then, by definition,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  <m:r>
                      <a:rPr lang="en-GB" b="0" i="1" smtClean="0">
                        <a:latin typeface="Cambria Math"/>
                      </a:rPr>
                      <m:t>=2</m:t>
                    </m:r>
                    <m:r>
                      <a:rPr lang="en-GB" b="0" i="1" smtClean="0">
                        <a:latin typeface="Cambria Math"/>
                      </a:rPr>
                      <m:t>𝑘</m:t>
                    </m:r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GB" dirty="0" smtClean="0"/>
                  <a:t> Substituting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r>
                      <a:rPr lang="en-GB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dirty="0" smtClean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 smtClean="0"/>
                  <a:t> we see that,</a:t>
                </a:r>
              </a:p>
              <a:p>
                <a:pPr marL="594360" lvl="2" indent="0">
                  <a:buNone/>
                </a:pPr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4515381"/>
                  </p:ext>
                </p:extLst>
              </p:nvPr>
            </p:nvGraphicFramePr>
            <p:xfrm>
              <a:off x="1371600" y="5029200"/>
              <a:ext cx="3644520" cy="11125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972630"/>
                    <a:gridCol w="481330"/>
                    <a:gridCol w="2190560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3(2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)+2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6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2(3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+1)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4515381"/>
                  </p:ext>
                </p:extLst>
              </p:nvPr>
            </p:nvGraphicFramePr>
            <p:xfrm>
              <a:off x="1371600" y="5029200"/>
              <a:ext cx="3644520" cy="11125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972630"/>
                    <a:gridCol w="481330"/>
                    <a:gridCol w="219056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8197" r="-27375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532" t="-8197" r="-45443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6574" t="-8197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532" t="-108197" r="-45443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6574" t="-108197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532" t="-208197" r="-45443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6574" t="-208197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98334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Proof by </a:t>
            </a:r>
            <a:r>
              <a:rPr lang="en-US" dirty="0" smtClean="0"/>
              <a:t>Contraposition(Contd.)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US" dirty="0"/>
                  <a:t>This tells us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 </m:t>
                    </m:r>
                  </m:oMath>
                </a14:m>
                <a:r>
                  <a:rPr lang="en-US" dirty="0"/>
                  <a:t>is even (because </a:t>
                </a:r>
                <a:r>
                  <a:rPr lang="en-US" dirty="0" smtClean="0"/>
                  <a:t>it is </a:t>
                </a:r>
                <a:r>
                  <a:rPr lang="en-US" dirty="0"/>
                  <a:t>a multiple of 2), and therefore not odd.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This </a:t>
                </a:r>
                <a:r>
                  <a:rPr lang="en-US" dirty="0"/>
                  <a:t>is the negation of the premise of the theorem.</a:t>
                </a:r>
              </a:p>
              <a:p>
                <a:pPr marL="594360" lvl="2" indent="0">
                  <a:buNone/>
                </a:pPr>
                <a:r>
                  <a:rPr lang="en-US" dirty="0"/>
                  <a:t>Because the negation of the conclusion of the conditional statement implies that the </a:t>
                </a:r>
                <a:r>
                  <a:rPr lang="en-US" dirty="0" smtClean="0"/>
                  <a:t>hypothesis is </a:t>
                </a:r>
                <a:r>
                  <a:rPr lang="en-US" dirty="0"/>
                  <a:t>false, the original conditional statement is true. Our proof by contraposition succeeded;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We have </a:t>
                </a:r>
                <a:r>
                  <a:rPr lang="en-US" dirty="0"/>
                  <a:t>proved the theorem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.”</m:t>
                    </m:r>
                  </m:oMath>
                </a14:m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6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Proof by Contraposition(Contd.)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81600"/>
              </a:xfrm>
            </p:spPr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2:</a:t>
                </a:r>
              </a:p>
              <a:p>
                <a:r>
                  <a:rPr lang="en-US" dirty="0"/>
                  <a:t>Prove </a:t>
                </a:r>
                <a:r>
                  <a:rPr lang="en-US" dirty="0" smtClean="0"/>
                  <a:t>that.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𝑎𝑛𝑑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.”</m:t>
                    </m:r>
                  </m:oMath>
                </a14:m>
                <a:endParaRPr lang="en-GB" dirty="0" smtClean="0"/>
              </a:p>
              <a:p>
                <a:endParaRPr lang="en-GB" b="1" u="sng" dirty="0" smtClean="0"/>
              </a:p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Let us assume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not odd. </a:t>
                </a:r>
                <a:r>
                  <a:rPr lang="en-US" dirty="0" smtClean="0"/>
                  <a:t>This </a:t>
                </a:r>
                <a:r>
                  <a:rPr lang="en-US" dirty="0"/>
                  <a:t>means that n is even. This implies that there exists an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such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= 2</m:t>
                    </m:r>
                    <m:r>
                      <a:rPr lang="en-US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Thus, 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81600"/>
              </a:xfrm>
              <a:blipFill rotWithShape="1">
                <a:blip r:embed="rId2"/>
                <a:stretch>
                  <a:fillRect l="-593" t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375094"/>
                  </p:ext>
                </p:extLst>
              </p:nvPr>
            </p:nvGraphicFramePr>
            <p:xfrm>
              <a:off x="1905000" y="4612640"/>
              <a:ext cx="4149916" cy="148336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88379"/>
                    <a:gridCol w="417830"/>
                    <a:gridCol w="933704"/>
                    <a:gridCol w="2310003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𝑆𝑞𝑢𝑎𝑟𝑖𝑛𝑔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𝑏𝑜𝑡h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𝑠𝑖𝑑𝑒𝑠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2(2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=2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375094"/>
                  </p:ext>
                </p:extLst>
              </p:nvPr>
            </p:nvGraphicFramePr>
            <p:xfrm>
              <a:off x="1905000" y="4612640"/>
              <a:ext cx="4149916" cy="148336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88379"/>
                    <a:gridCol w="417830"/>
                    <a:gridCol w="933704"/>
                    <a:gridCol w="231000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50" t="-8197" r="-75125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9118" t="-8197" r="-783824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7386" t="-8197" r="-248366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9683" t="-8197" r="-264" b="-3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9118" t="-108197" r="-783824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7386" t="-108197" r="-248366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9118" t="-211667" r="-78382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7386" t="-211667" r="-24836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19118" t="-306557" r="-78382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7386" t="-306557" r="-24836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9683" t="-306557" r="-26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890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Proof by Contraposition(Contd.)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US" dirty="0" smtClean="0"/>
                  <a:t>Which </a:t>
                </a:r>
                <a:r>
                  <a:rPr lang="en-US" dirty="0"/>
                  <a:t>implies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also even. </a:t>
                </a:r>
                <a:endParaRPr lang="en-US" dirty="0"/>
              </a:p>
              <a:p>
                <a:pPr marL="594360" lvl="2" indent="0">
                  <a:buNone/>
                </a:pPr>
                <a:r>
                  <a:rPr lang="en-US" dirty="0" smtClean="0"/>
                  <a:t>We </a:t>
                </a:r>
                <a:r>
                  <a:rPr lang="en-US" dirty="0"/>
                  <a:t>have proved that,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/>
                      </a:rPr>
                      <m:t>"</m:t>
                    </m:r>
                    <m:r>
                      <a:rPr lang="en-GB" i="1" dirty="0">
                        <a:latin typeface="Cambria Math"/>
                      </a:rPr>
                      <m:t>𝐼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𝑎𝑛𝑑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GB" i="1" dirty="0">
                        <a:latin typeface="Cambria Math"/>
                      </a:rPr>
                      <m:t>𝑜𝑑𝑑</m:t>
                    </m:r>
                    <m:r>
                      <a:rPr lang="en-GB" i="1" dirty="0">
                        <a:latin typeface="Cambria Math"/>
                      </a:rPr>
                      <m:t>, </m:t>
                    </m:r>
                    <m:r>
                      <a:rPr lang="en-GB" i="1" dirty="0">
                        <a:latin typeface="Cambria Math"/>
                      </a:rPr>
                      <m:t>𝑡h𝑒𝑛</m:t>
                    </m:r>
                    <m:r>
                      <a:rPr lang="en-GB" i="1" dirty="0">
                        <a:latin typeface="Cambria Math"/>
                      </a:rPr>
                      <m:t> </m:t>
                    </m:r>
                    <m:r>
                      <a:rPr lang="en-GB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GB" i="1" dirty="0">
                        <a:latin typeface="Cambria Math"/>
                      </a:rPr>
                      <m:t>.“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 by contraposition.</a:t>
                </a:r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352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Proof by Contradiction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1:</a:t>
                </a:r>
              </a:p>
              <a:p>
                <a:r>
                  <a:rPr lang="en-US" dirty="0"/>
                  <a:t>Prove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"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√</m:t>
                    </m:r>
                    <m:r>
                      <a:rPr lang="en-US" i="1" dirty="0" smtClean="0">
                        <a:latin typeface="Cambria Math"/>
                      </a:rPr>
                      <m:t>2 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𝑖𝑟𝑟𝑎𝑡𝑖𝑜𝑛𝑎𝑙</m:t>
                    </m:r>
                    <m:r>
                      <a:rPr lang="en-GB" b="0" i="1" dirty="0" smtClean="0">
                        <a:latin typeface="Cambria Math"/>
                      </a:rPr>
                      <m:t>"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endParaRPr lang="en-GB" sz="1200" dirty="0"/>
              </a:p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Let,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GB" i="1" dirty="0" smtClean="0"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/>
                      </a:rPr>
                      <m:t>"</m:t>
                    </m:r>
                    <m:r>
                      <a:rPr lang="en-GB" i="1" dirty="0">
                        <a:latin typeface="Cambria Math"/>
                        <a:ea typeface="Cambria Math"/>
                      </a:rPr>
                      <m:t>√</m:t>
                    </m:r>
                    <m:r>
                      <a:rPr lang="en-US" i="1" dirty="0">
                        <a:latin typeface="Cambria Math"/>
                      </a:rPr>
                      <m:t>2 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𝑖𝑟𝑟𝑎𝑡𝑖𝑜𝑛𝑎𝑙</m:t>
                    </m:r>
                    <m:r>
                      <a:rPr lang="en-GB" i="1" dirty="0">
                        <a:latin typeface="Cambria Math"/>
                      </a:rPr>
                      <m:t>"</m:t>
                    </m:r>
                  </m:oMath>
                </a14:m>
                <a:endParaRPr lang="en-GB" i="1" dirty="0" smtClean="0">
                  <a:latin typeface="Cambria Math"/>
                  <a:ea typeface="Cambria Math"/>
                </a:endParaRP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  <a:ea typeface="Cambria Math"/>
                      </a:rPr>
                      <m:t>∴¬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="√2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𝑟𝑎𝑡𝑖𝑜𝑛𝑎𝑙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.“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GB" dirty="0" smtClean="0"/>
                  <a:t> is true then, 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149169"/>
                  </p:ext>
                </p:extLst>
              </p:nvPr>
            </p:nvGraphicFramePr>
            <p:xfrm>
              <a:off x="1828800" y="4244594"/>
              <a:ext cx="5588191" cy="169900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7693"/>
                    <a:gridCol w="417830"/>
                    <a:gridCol w="377127"/>
                    <a:gridCol w="4205541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√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∈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𝑁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,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𝑞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≠0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𝑎𝑛𝑑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𝑞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𝑎𝑟𝑒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𝑐𝑜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𝑝𝑟𝑖𝑚𝑒𝑠</m:t>
                                </m:r>
                              </m:oMath>
                            </m:oMathPara>
                          </a14:m>
                          <a:endParaRPr lang="en-GB" b="0" dirty="0" smtClean="0">
                            <a:ea typeface="Cambria Math"/>
                          </a:endParaRPr>
                        </a:p>
                        <a:p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𝑆𝑞𝑢𝑎𝑟𝑖𝑛𝑔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𝑏𝑜𝑡h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𝑠𝑖𝑑𝑒𝑠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149169"/>
                  </p:ext>
                </p:extLst>
              </p:nvPr>
            </p:nvGraphicFramePr>
            <p:xfrm>
              <a:off x="1828800" y="4244594"/>
              <a:ext cx="5588191" cy="169900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7693"/>
                    <a:gridCol w="417830"/>
                    <a:gridCol w="377127"/>
                    <a:gridCol w="4205541"/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4762" r="-855208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39130" t="-4762" r="-1089855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6129" t="-4762" r="-1112903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2899" t="-4762" b="-180000"/>
                          </a:stretch>
                        </a:blipFill>
                      </a:tcPr>
                    </a:tc>
                  </a:tr>
                  <a:tr h="6880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97345" r="-855208" b="-67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39130" t="-97345" r="-1089855" b="-67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6129" t="-97345" r="-1112903" b="-67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2899" t="-97345" b="-6725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365574" r="-85520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39130" t="-365574" r="-108985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6129" t="-365574" r="-111290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7182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Proof by </a:t>
            </a:r>
            <a:r>
              <a:rPr lang="en-GB" dirty="0" smtClean="0"/>
              <a:t>Contradiction(Contd.)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94360" lvl="2" indent="0">
                  <a:buNone/>
                </a:pPr>
                <a:r>
                  <a:rPr lang="en-US" dirty="0" smtClean="0"/>
                  <a:t>By the deﬁnition of an even integer it follows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even</a:t>
                </a:r>
                <a:r>
                  <a:rPr lang="en-US" dirty="0"/>
                  <a:t>. We next use the fact that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even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must also be </a:t>
                </a:r>
                <a:r>
                  <a:rPr lang="en-US" dirty="0" smtClean="0"/>
                  <a:t>even.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Now,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 smtClean="0"/>
                  <a:t> is even,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=2</m:t>
                    </m:r>
                    <m:r>
                      <a:rPr lang="en-GB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GB" dirty="0" smtClean="0"/>
                  <a:t> by definition of an even number for an integer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𝑐</m:t>
                    </m:r>
                  </m:oMath>
                </a14:m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Therefore,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Thus, we can see that,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 smtClean="0"/>
                  <a:t> is an even number, 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is also even.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Now, the assumption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GB" dirty="0" smtClean="0"/>
                  <a:t> leads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rad>
                    <m:r>
                      <a:rPr lang="en-GB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GB" dirty="0" smtClean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,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are co-primes i.e. they don’t have any common factor other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en-GB" dirty="0" smtClean="0"/>
                  <a:t>.</a:t>
                </a:r>
              </a:p>
              <a:p>
                <a:pPr marL="594360" lvl="2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117675"/>
                  </p:ext>
                </p:extLst>
              </p:nvPr>
            </p:nvGraphicFramePr>
            <p:xfrm>
              <a:off x="2514600" y="3505200"/>
              <a:ext cx="4595369" cy="11125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7693"/>
                    <a:gridCol w="417830"/>
                    <a:gridCol w="782193"/>
                    <a:gridCol w="2807653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(2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𝑆𝑢𝑏𝑠𝑡𝑖𝑡𝑢𝑡𝑖𝑛𝑔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𝑓𝑜𝑟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𝐷𝑖𝑣𝑖𝑑𝑖𝑛𝑔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𝑏𝑜𝑡h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𝑠𝑖𝑑𝑒𝑠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𝑏𝑦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117675"/>
                  </p:ext>
                </p:extLst>
              </p:nvPr>
            </p:nvGraphicFramePr>
            <p:xfrm>
              <a:off x="2514600" y="3505200"/>
              <a:ext cx="4595369" cy="11125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7693"/>
                    <a:gridCol w="417830"/>
                    <a:gridCol w="782193"/>
                    <a:gridCol w="280765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42" t="-8197" r="-68541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0580" t="-8197" r="-85362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688" t="-8197" r="-36015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3913" t="-8197" r="-217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42" t="-108197" r="-68541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0580" t="-108197" r="-85362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688" t="-108197" r="-36015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42" t="-208197" r="-68541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0580" t="-208197" r="-85362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688" t="-208197" r="-36015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3913" t="-208197" r="-217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278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Proof by </a:t>
            </a:r>
            <a:r>
              <a:rPr lang="en-GB" dirty="0" smtClean="0"/>
              <a:t>Contradiction</a:t>
            </a:r>
            <a:r>
              <a:rPr lang="en-GB" dirty="0"/>
              <a:t>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GB" dirty="0" smtClean="0"/>
                  <a:t>But, we can see that,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,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 smtClean="0"/>
                  <a:t> both are even and both are divisible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2.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Thus, we can see that, our assumption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 leads to a contradiction.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Therefore,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 must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𝑓𝑎𝑙𝑠𝑒</m:t>
                    </m:r>
                    <m:r>
                      <a:rPr lang="en-GB" b="0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 smtClean="0"/>
                  <a:t> that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𝑡𝑟𝑢𝑒</m:t>
                    </m:r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Therefore,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"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√2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𝑖𝑟𝑟𝑎𝑡𝑖𝑜𝑛𝑎𝑙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."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09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Proof by </a:t>
            </a:r>
            <a:r>
              <a:rPr lang="en-GB" dirty="0" smtClean="0"/>
              <a:t>Contradiction</a:t>
            </a:r>
            <a:r>
              <a:rPr lang="en-GB" dirty="0"/>
              <a:t>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2:</a:t>
                </a:r>
              </a:p>
              <a:p>
                <a:r>
                  <a:rPr lang="en-US" dirty="0"/>
                  <a:t>Prove that,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“</m:t>
                    </m:r>
                    <m:r>
                      <a:rPr lang="en-GB" b="0" i="1" dirty="0" smtClean="0">
                        <a:latin typeface="Cambria Math"/>
                      </a:rPr>
                      <m:t>𝐼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𝑎𝑛𝑑</m:t>
                    </m:r>
                    <m:r>
                      <a:rPr lang="en-US" i="1" dirty="0">
                        <a:latin typeface="Cambria Math"/>
                      </a:rPr>
                      <m:t> 3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+2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endParaRPr lang="en-GB" b="1" u="sng" dirty="0"/>
              </a:p>
              <a:p>
                <a:endParaRPr lang="en-GB" b="1" u="sng" dirty="0" smtClean="0"/>
              </a:p>
              <a:p>
                <a:r>
                  <a:rPr lang="en-GB" b="1" u="sng" dirty="0" smtClean="0"/>
                  <a:t>Solution:</a:t>
                </a: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GB" b="0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“3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”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GB" b="0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𝑜𝑑𝑑</m:t>
                    </m:r>
                    <m:r>
                      <a:rPr lang="en-US" i="1" dirty="0" smtClean="0">
                        <a:latin typeface="Cambria Math"/>
                      </a:rPr>
                      <m:t>.”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To </a:t>
                </a:r>
                <a:r>
                  <a:rPr lang="en-US" dirty="0"/>
                  <a:t>construct a proof by </a:t>
                </a:r>
                <a:r>
                  <a:rPr lang="en-US" dirty="0" smtClean="0"/>
                  <a:t>contradiction, let </a:t>
                </a:r>
                <a:r>
                  <a:rPr lang="en-US" dirty="0"/>
                  <a:t>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¬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/>
                  <a:t> are true. That is, assume that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"</m:t>
                    </m:r>
                    <m:r>
                      <a:rPr lang="en-US" i="1" dirty="0" smtClean="0">
                        <a:latin typeface="Cambria Math"/>
                      </a:rPr>
                      <m:t>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GB" b="0" i="1" dirty="0" smtClean="0">
                        <a:latin typeface="Cambria Math"/>
                      </a:rPr>
                      <m:t>"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that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"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𝑛𝑜𝑡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GB" b="0" i="1" dirty="0" smtClean="0">
                        <a:latin typeface="Cambria Math"/>
                      </a:rPr>
                      <m:t>"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412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Proof by </a:t>
            </a:r>
            <a:r>
              <a:rPr lang="en-GB" dirty="0" smtClean="0"/>
              <a:t>Contradiction</a:t>
            </a:r>
            <a:r>
              <a:rPr lang="en-GB" dirty="0"/>
              <a:t>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GB" dirty="0" smtClean="0"/>
                  <a:t>Since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 smtClean="0"/>
                  <a:t> is not odd, that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 smtClean="0"/>
                  <a:t> is even.</a:t>
                </a:r>
              </a:p>
              <a:p>
                <a:pPr marL="594360" lvl="2" indent="0">
                  <a:buNone/>
                </a:pPr>
                <a:r>
                  <a:rPr lang="en-GB" dirty="0"/>
                  <a:t>Then, by definition,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𝑛</m:t>
                    </m:r>
                    <m:r>
                      <a:rPr lang="en-GB" i="1">
                        <a:latin typeface="Cambria Math"/>
                      </a:rPr>
                      <m:t>=2</m:t>
                    </m:r>
                    <m:r>
                      <a:rPr lang="en-GB" i="1">
                        <a:latin typeface="Cambria Math"/>
                      </a:rPr>
                      <m:t>𝑘</m:t>
                    </m:r>
                    <m:r>
                      <a:rPr lang="en-GB" i="1">
                        <a:latin typeface="Cambria Math"/>
                      </a:rPr>
                      <m:t>.</m:t>
                    </m:r>
                  </m:oMath>
                </a14:m>
                <a:r>
                  <a:rPr lang="en-GB" dirty="0"/>
                  <a:t> Substituting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r>
                      <a:rPr lang="en-GB" i="1">
                        <a:latin typeface="Cambria Math"/>
                      </a:rPr>
                      <m:t>𝑘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/>
                  <a:t> we see that</a:t>
                </a:r>
                <a:r>
                  <a:rPr lang="en-GB" dirty="0" smtClean="0"/>
                  <a:t>,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Thus, we can see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3</m:t>
                    </m:r>
                    <m:r>
                      <a:rPr lang="en-GB" b="0" i="1" smtClean="0">
                        <a:latin typeface="Cambria Math"/>
                      </a:rPr>
                      <m:t>𝑛</m:t>
                    </m:r>
                    <m:r>
                      <a:rPr lang="en-GB" b="0" i="1" smtClean="0">
                        <a:latin typeface="Cambria Math"/>
                      </a:rPr>
                      <m:t>+2</m:t>
                    </m:r>
                  </m:oMath>
                </a14:m>
                <a:r>
                  <a:rPr lang="en-GB" dirty="0" smtClean="0"/>
                  <a:t> is even. Which is the same as the proposition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Now, we can see that we assumed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 smtClean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to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𝑡𝑟𝑢𝑒</m:t>
                    </m:r>
                  </m:oMath>
                </a14:m>
                <a:r>
                  <a:rPr lang="en-GB" dirty="0" smtClean="0"/>
                  <a:t>. Based on this assumption we derived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"</m:t>
                    </m:r>
                    <m:r>
                      <a:rPr lang="en-GB" b="0" i="1" smtClean="0">
                        <a:latin typeface="Cambria Math"/>
                      </a:rPr>
                      <m:t>𝐼𝑓</m:t>
                    </m:r>
                    <m:r>
                      <a:rPr lang="en-GB" b="0" i="1" smtClean="0">
                        <a:latin typeface="Cambria Math"/>
                      </a:rPr>
                      <m:t> ¬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𝑡𝑟𝑢𝑒</m:t>
                    </m:r>
                    <m:r>
                      <a:rPr lang="en-GB" b="0" i="1" smtClean="0">
                        <a:latin typeface="Cambria Math"/>
                      </a:rPr>
                      <m:t>, ¬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𝑎𝑙𝑠𝑜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𝑡𝑟𝑢𝑒</m:t>
                    </m:r>
                    <m:r>
                      <a:rPr lang="en-GB" b="0" i="1" smtClean="0">
                        <a:latin typeface="Cambria Math"/>
                      </a:rPr>
                      <m:t>."</m:t>
                    </m:r>
                  </m:oMath>
                </a14:m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Thus, we see that assuming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 smtClean="0"/>
                  <a:t> as true, leads to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to be true. Thus we have a contradiction.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Thus</a:t>
                </a:r>
                <a:r>
                  <a:rPr lang="en-US" dirty="0"/>
                  <a:t>, we can say that,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“</m:t>
                    </m:r>
                    <m:r>
                      <a:rPr lang="en-GB" i="1" dirty="0">
                        <a:latin typeface="Cambria Math"/>
                      </a:rPr>
                      <m:t>𝐼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𝑎𝑛𝑑</m:t>
                    </m:r>
                    <m:r>
                      <a:rPr lang="en-US" i="1" dirty="0">
                        <a:latin typeface="Cambria Math"/>
                      </a:rPr>
                      <m:t> 3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+2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𝑜𝑑𝑑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endParaRPr lang="en-GB" b="1" u="sng" dirty="0"/>
              </a:p>
              <a:p>
                <a:pPr marL="594360" lvl="2" indent="0">
                  <a:buNone/>
                </a:pPr>
                <a:endParaRPr lang="en-US" dirty="0" smtClean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 b="-1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348287"/>
                  </p:ext>
                </p:extLst>
              </p:nvPr>
            </p:nvGraphicFramePr>
            <p:xfrm>
              <a:off x="2527680" y="2240280"/>
              <a:ext cx="3644520" cy="11125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972630"/>
                    <a:gridCol w="481330"/>
                    <a:gridCol w="2190560"/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3(2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)+2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6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+2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2(3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+1)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348287"/>
                  </p:ext>
                </p:extLst>
              </p:nvPr>
            </p:nvGraphicFramePr>
            <p:xfrm>
              <a:off x="2527680" y="2240280"/>
              <a:ext cx="3644520" cy="11125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972630"/>
                    <a:gridCol w="481330"/>
                    <a:gridCol w="219056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25" t="-8197" r="-27375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3797" t="-8197" r="-45443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6852" t="-8197" b="-2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3797" t="-110000" r="-45443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6852" t="-110000" b="-126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3797" t="-206557" r="-45443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6852" t="-206557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77103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Mistakes in Proofs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1:</a:t>
                </a:r>
              </a:p>
              <a:p>
                <a:pPr lvl="1"/>
                <a:r>
                  <a:rPr lang="en-US" dirty="0"/>
                  <a:t>What is wrong with this </a:t>
                </a:r>
                <a:r>
                  <a:rPr lang="en-US" dirty="0" smtClean="0"/>
                  <a:t> </a:t>
                </a:r>
                <a:r>
                  <a:rPr lang="en-US" dirty="0"/>
                  <a:t>“proof”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 = 2</m:t>
                    </m:r>
                  </m:oMath>
                </a14:m>
                <a:r>
                  <a:rPr lang="en-US" dirty="0" smtClean="0"/>
                  <a:t>?</a:t>
                </a:r>
                <a:endParaRPr lang="en-US" b="1" i="1" dirty="0" smtClean="0"/>
              </a:p>
              <a:p>
                <a:pPr marL="594360" lvl="2" indent="0">
                  <a:buNone/>
                </a:pPr>
                <a:r>
                  <a:rPr lang="en-US" b="1" i="1" dirty="0" smtClean="0"/>
                  <a:t>“</a:t>
                </a:r>
                <a:r>
                  <a:rPr lang="en-US" b="1" i="1" dirty="0"/>
                  <a:t>Proof:" We use these steps, where a and b are two equal positive integers.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6673827"/>
                  </p:ext>
                </p:extLst>
              </p:nvPr>
            </p:nvGraphicFramePr>
            <p:xfrm>
              <a:off x="381000" y="3281680"/>
              <a:ext cx="8660638" cy="29667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11480"/>
                    <a:gridCol w="2847086"/>
                    <a:gridCol w="540207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𝑺𝒕𝒆𝒑</m:t>
                                </m:r>
                                <m:r>
                                  <a:rPr kumimoji="0" lang="en-US" sz="18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𝑹𝒆𝒂𝒔𝒐𝒏</m:t>
                                </m:r>
                              </m:oMath>
                            </m:oMathPara>
                          </a14:m>
                          <a:endParaRPr kumimoji="0" lang="en-US" sz="1800" b="1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1.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𝐺𝑖𝑣𝑒𝑛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2.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𝑎𝑏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𝑀𝑢𝑙𝑡𝑖𝑝𝑙𝑦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𝑏𝑜𝑡h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𝑠𝑖𝑑𝑒𝑠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𝑜𝑓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(1)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𝑏𝑦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3.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𝑎𝑏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𝑆𝑢𝑏𝑡𝑟𝑎𝑐𝑡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𝑏𝑜𝑡h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𝑠𝑖𝑑𝑒𝑠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(2)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4.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𝐹𝑎𝑐𝑡𝑜𝑟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𝑏𝑜𝑡h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𝑠𝑖𝑑𝑒𝑠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𝑜𝑓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(3)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5.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𝐷𝑖𝑣𝑖𝑑𝑒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𝑏𝑜𝑡h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𝑠𝑖𝑑𝑒𝑠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𝑜𝑓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(4)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𝑏𝑦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−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6.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𝑅𝑒𝑝𝑙𝑎𝑐𝑒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𝑏𝑦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𝑖𝑛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(5)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𝑏𝑒𝑐𝑎𝑢𝑠𝑒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=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𝑎𝑛𝑑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𝑠𝑖𝑚𝑝𝑙𝑖𝑓𝑦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7.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2=1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𝐷𝑖𝑣𝑖𝑑𝑒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𝑏𝑜𝑡h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𝑠𝑖𝑑𝑒𝑠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𝑜𝑓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(6)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𝑏𝑦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6673827"/>
                  </p:ext>
                </p:extLst>
              </p:nvPr>
            </p:nvGraphicFramePr>
            <p:xfrm>
              <a:off x="381000" y="3281680"/>
              <a:ext cx="8660638" cy="29667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411480"/>
                    <a:gridCol w="2847086"/>
                    <a:gridCol w="540207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8197" r="-1899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8197" r="-113" b="-7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108197" r="-2020896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108197" r="-189936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108197" r="-113" b="-6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208197" r="-2020896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208197" r="-189936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208197" r="-113" b="-5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308197" r="-2020896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308197" r="-189936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308197" r="-113" b="-4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415000" r="-2020896" b="-3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415000" r="-189936" b="-3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415000" r="-113" b="-331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506557" r="-202089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506557" r="-18993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506557" r="-113" b="-22623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606557" r="-202089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606557" r="-18993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606557" r="-113" b="-12623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93" t="-706557" r="-202089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4561" t="-706557" r="-18993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0384" t="-706557" r="-113" b="-2623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94091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Mistakes in Proofs(Contd.)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Every step is valid except for one,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𝑠𝑡𝑒𝑝</m:t>
                    </m:r>
                    <m:r>
                      <a:rPr lang="en-US" i="1" dirty="0" smtClean="0">
                        <a:latin typeface="Cambria Math"/>
                      </a:rPr>
                      <m:t> 5</m:t>
                    </m:r>
                  </m:oMath>
                </a14:m>
                <a:r>
                  <a:rPr lang="en-US" dirty="0"/>
                  <a:t> where we divided both sides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  <m:r>
                          <a:rPr lang="en-US" i="1" dirty="0" smtClean="0">
                            <a:latin typeface="Cambria Math"/>
                          </a:rPr>
                          <m:t> − </m:t>
                        </m:r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The error </a:t>
                </a:r>
                <a:r>
                  <a:rPr lang="en-US" dirty="0"/>
                  <a:t>is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  <m:r>
                          <a:rPr lang="en-US" i="1" dirty="0" smtClean="0">
                            <a:latin typeface="Cambria Math"/>
                          </a:rPr>
                          <m:t> − </m:t>
                        </m:r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equals zero; division of both sides of an equation by the same quantity </a:t>
                </a:r>
                <a:r>
                  <a:rPr lang="en-US" dirty="0" smtClean="0"/>
                  <a:t>is valid </a:t>
                </a:r>
                <a:r>
                  <a:rPr lang="en-US" dirty="0"/>
                  <a:t>as long as this quantity is not zero.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261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Mistakes in Proofs(Contd.)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2:</a:t>
                </a:r>
              </a:p>
              <a:p>
                <a:r>
                  <a:rPr lang="en-US" dirty="0"/>
                  <a:t>What is wrong with this “proof?”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“</a:t>
                </a:r>
                <a:r>
                  <a:rPr lang="en-US" dirty="0"/>
                  <a:t>Theorem:”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𝑝𝑜𝑠𝑖𝑡𝑖𝑣𝑒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𝑝𝑜𝑠𝑖𝑡𝑖𝑣𝑒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GB" dirty="0" smtClean="0"/>
                  <a:t>   </a:t>
                </a:r>
                <a:r>
                  <a:rPr lang="en-US" dirty="0"/>
                  <a:t>“Proof:" Suppose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positive.  Because the 	conditional statement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𝑝𝑜𝑠𝑖𝑡𝑖𝑣𝑒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	</m:t>
                    </m:r>
                    <m:r>
                      <a:rPr lang="en-US" i="1" dirty="0" smtClean="0">
                        <a:latin typeface="Cambria Math"/>
                      </a:rPr>
                      <m:t>𝑝𝑜𝑠𝑖𝑡𝑖𝑣𝑒</m:t>
                    </m:r>
                    <m:r>
                      <a:rPr lang="en-US" i="1" dirty="0">
                        <a:latin typeface="Cambria Math"/>
                      </a:rPr>
                      <m:t>”</m:t>
                    </m:r>
                  </m:oMath>
                </a14:m>
                <a:r>
                  <a:rPr lang="en-US" dirty="0"/>
                  <a:t> is true, we can conclude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	positive.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627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Mistakes in Proofs(Contd.)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Let </a:t>
                </a:r>
                <a:endParaRPr lang="en-US" dirty="0" smtClean="0"/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)=“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𝑝𝑜𝑠𝑖𝑡𝑖𝑣𝑒</m:t>
                    </m:r>
                    <m:r>
                      <a:rPr lang="en-US" i="1" dirty="0" smtClean="0">
                        <a:latin typeface="Cambria Math"/>
                      </a:rPr>
                      <m:t>.”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)=“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𝑝𝑜𝑠𝑖𝑡𝑖𝑣𝑒</m:t>
                    </m:r>
                    <m:r>
                      <a:rPr lang="en-US" i="1" dirty="0">
                        <a:latin typeface="Cambria Math"/>
                      </a:rPr>
                      <m:t>” .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Then </a:t>
                </a:r>
                <a:r>
                  <a:rPr lang="en-US" dirty="0"/>
                  <a:t>our hypothesis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statement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𝑝𝑜𝑠𝑖𝑡𝑖𝑣𝑒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𝑝𝑜𝑠𝑖𝑡𝑖𝑣𝑒</m:t>
                    </m:r>
                    <m:r>
                      <a:rPr lang="en-US" i="1" dirty="0">
                        <a:latin typeface="Cambria Math"/>
                      </a:rPr>
                      <m:t>” </m:t>
                    </m:r>
                  </m:oMath>
                </a14:m>
                <a:r>
                  <a:rPr lang="en-US" dirty="0"/>
                  <a:t>is the statement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∀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 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 → </m:t>
                    </m:r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)). 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From the </a:t>
                </a:r>
                <a:r>
                  <a:rPr lang="en-US" dirty="0"/>
                  <a:t>hypothesis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the statement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∀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 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 → </m:t>
                    </m:r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))</m:t>
                    </m:r>
                  </m:oMath>
                </a14:m>
                <a:r>
                  <a:rPr lang="en-US" dirty="0"/>
                  <a:t> we cannot conclude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because we </a:t>
                </a:r>
                <a:r>
                  <a:rPr lang="en-US" dirty="0"/>
                  <a:t>are not using a valid rule of inference. </a:t>
                </a:r>
                <a:endParaRPr lang="en-US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US" dirty="0"/>
                  <a:t>A counterexample is supplied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=−1</m:t>
                    </m:r>
                  </m:oMath>
                </a14:m>
                <a:r>
                  <a:rPr lang="en-US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= </m:t>
                    </m:r>
                    <m:r>
                      <a:rPr lang="en-US" i="1" dirty="0">
                        <a:latin typeface="Cambria Math"/>
                      </a:rPr>
                      <m:t>1 </m:t>
                    </m:r>
                  </m:oMath>
                </a14:m>
                <a:r>
                  <a:rPr lang="en-US" dirty="0"/>
                  <a:t>is positive, but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negative</a:t>
                </a:r>
                <a:r>
                  <a:rPr lang="en-US" dirty="0"/>
                  <a:t>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48" b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766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Mistakes in Proofs(Contd.)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GB" b="1" u="sng" dirty="0" smtClean="0"/>
                  <a:t>Example 3:</a:t>
                </a:r>
              </a:p>
              <a:p>
                <a:r>
                  <a:rPr lang="en-US" dirty="0"/>
                  <a:t>Is the following argument </a:t>
                </a:r>
                <a:r>
                  <a:rPr lang="en-US" dirty="0" smtClean="0"/>
                  <a:t>correct</a:t>
                </a:r>
                <a:r>
                  <a:rPr lang="en-US" dirty="0"/>
                  <a:t>? It supposedly shows </a:t>
                </a:r>
                <a:r>
                  <a:rPr lang="en-US" dirty="0" smtClean="0"/>
                  <a:t>that,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𝑒𝑣𝑒𝑛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𝑖𝑛𝑡𝑒𝑔𝑒𝑟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𝑤h𝑒𝑛𝑒𝑣𝑒𝑟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𝑒𝑣𝑒𝑛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𝑖𝑛𝑡𝑒𝑔𝑒𝑟</m:t>
                    </m:r>
                    <m:r>
                      <a:rPr lang="en-US" i="1" dirty="0" smtClean="0">
                        <a:latin typeface="Cambria Math"/>
                      </a:rPr>
                      <m:t>.”</m:t>
                    </m:r>
                  </m:oMath>
                </a14:m>
                <a:endParaRPr lang="en-GB" dirty="0" smtClean="0"/>
              </a:p>
              <a:p>
                <a:pPr marL="0" indent="0">
                  <a:buNone/>
                </a:pPr>
                <a:r>
                  <a:rPr lang="en-US" dirty="0" smtClean="0"/>
                  <a:t>   Suppose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even.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>
                        <a:latin typeface="Cambria Math"/>
                      </a:rPr>
                      <m:t>2</m:t>
                    </m:r>
                    <m:r>
                      <a:rPr lang="en-US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for some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Let,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= 2</m:t>
                    </m:r>
                    <m:r>
                      <a:rPr lang="en-US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/>
                  <a:t> for some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 smtClean="0"/>
                  <a:t>. This </a:t>
                </a:r>
                <a:r>
                  <a:rPr lang="en-US" dirty="0"/>
                  <a:t>shows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even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b="1" u="sng" dirty="0" smtClean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This argument is incorrect. The statement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 smtClean="0">
                        <a:latin typeface="Cambria Math"/>
                      </a:rPr>
                      <m:t>𝑙𝑒𝑡</m:t>
                    </m:r>
                    <m:r>
                      <a:rPr lang="en-GB" b="0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= 2</m:t>
                    </m:r>
                    <m:r>
                      <a:rPr lang="en-US" i="1" dirty="0" smtClean="0">
                        <a:latin typeface="Cambria Math"/>
                      </a:rPr>
                      <m:t>𝑙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𝑓𝑜𝑟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𝑠𝑜𝑚𝑒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𝑖𝑛𝑡𝑒𝑔𝑒𝑟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𝑙</m:t>
                    </m:r>
                    <m:r>
                      <a:rPr lang="en-US" i="1" dirty="0" smtClean="0">
                        <a:latin typeface="Cambria Math"/>
                      </a:rPr>
                      <m:t>” </m:t>
                    </m:r>
                  </m:oMath>
                </a14:m>
                <a:r>
                  <a:rPr lang="en-US" dirty="0"/>
                  <a:t>occurs </a:t>
                </a:r>
                <a:r>
                  <a:rPr lang="en-US" dirty="0" smtClean="0"/>
                  <a:t>in the </a:t>
                </a:r>
                <a:r>
                  <a:rPr lang="en-US" dirty="0"/>
                  <a:t>proof.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No </a:t>
                </a:r>
                <a:r>
                  <a:rPr lang="en-US" dirty="0"/>
                  <a:t>argument has been given to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can be written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/>
                  <a:t> for some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This is circular reasoning because this statement is equivalent to the statement being </a:t>
                </a:r>
                <a:r>
                  <a:rPr lang="en-US" dirty="0" smtClean="0"/>
                  <a:t>proved,  namely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𝑒𝑣𝑒𝑛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Of </a:t>
                </a:r>
                <a:r>
                  <a:rPr lang="en-US" dirty="0"/>
                  <a:t>course, the result itself is correct; only the method of proof is wrong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111" t="-1728" b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560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514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216</TotalTime>
  <Words>2331</Words>
  <Application>Microsoft Office PowerPoint</Application>
  <PresentationFormat>On-screen Show (4:3)</PresentationFormat>
  <Paragraphs>297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Origin</vt:lpstr>
      <vt:lpstr>Chapter 1  The Foundations : Logic and Proofs Kenneth H. Rosen 7th edition</vt:lpstr>
      <vt:lpstr>Some Terminologies</vt:lpstr>
      <vt:lpstr>Some Terminologies(Contd.)</vt:lpstr>
      <vt:lpstr>Some Terminologies(Contd.)</vt:lpstr>
      <vt:lpstr>Methods of Proving Theorems</vt:lpstr>
      <vt:lpstr>Direct Proof</vt:lpstr>
      <vt:lpstr>Direct Proof(Contd.)</vt:lpstr>
      <vt:lpstr>Direct Proof(Contd.)</vt:lpstr>
      <vt:lpstr>Direct Proof(Contd.)</vt:lpstr>
      <vt:lpstr>Direct Proof(Contd.)</vt:lpstr>
      <vt:lpstr>Direct Proof(Contd.)</vt:lpstr>
      <vt:lpstr>Proof by Contraposition</vt:lpstr>
      <vt:lpstr>Proof by Contraposition(Contd.)</vt:lpstr>
      <vt:lpstr>Proof by Contraposition(Contd.)</vt:lpstr>
      <vt:lpstr>Proof by Contraposition(Contd.)</vt:lpstr>
      <vt:lpstr>Proof by Contradiction</vt:lpstr>
      <vt:lpstr>Proof by Contradiction(Contd.)</vt:lpstr>
      <vt:lpstr>Proof by Contradiction(Contd.)</vt:lpstr>
      <vt:lpstr>Proof by Contradiction(Contd.)</vt:lpstr>
      <vt:lpstr>Proof by Contradiction(Contd.)</vt:lpstr>
      <vt:lpstr>Mistakes in Proofs</vt:lpstr>
      <vt:lpstr>Mistakes in Proofs(Contd.)</vt:lpstr>
      <vt:lpstr>Mistakes in Proofs(Contd.)</vt:lpstr>
      <vt:lpstr>Mistakes in Proofs(Contd.)</vt:lpstr>
      <vt:lpstr>Mistakes in Proofs(Contd.)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The Foundations : Logic and Proofs Kenneth H. Rosen 7th edition</dc:title>
  <dc:creator>Sunef</dc:creator>
  <cp:lastModifiedBy>Windows User</cp:lastModifiedBy>
  <cp:revision>26</cp:revision>
  <dcterms:created xsi:type="dcterms:W3CDTF">2006-08-16T00:00:00Z</dcterms:created>
  <dcterms:modified xsi:type="dcterms:W3CDTF">2019-06-10T19:46:48Z</dcterms:modified>
</cp:coreProperties>
</file>