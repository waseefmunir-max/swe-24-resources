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9" r:id="rId11"/>
    <p:sldId id="265" r:id="rId12"/>
    <p:sldId id="266" r:id="rId13"/>
    <p:sldId id="267" r:id="rId14"/>
    <p:sldId id="270" r:id="rId15"/>
    <p:sldId id="271" r:id="rId16"/>
    <p:sldId id="273" r:id="rId17"/>
    <p:sldId id="279" r:id="rId18"/>
    <p:sldId id="272" r:id="rId19"/>
    <p:sldId id="268" r:id="rId20"/>
    <p:sldId id="274" r:id="rId21"/>
    <p:sldId id="275" r:id="rId22"/>
    <p:sldId id="303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297" r:id="rId41"/>
    <p:sldId id="298" r:id="rId42"/>
    <p:sldId id="299" r:id="rId43"/>
    <p:sldId id="300" r:id="rId44"/>
    <p:sldId id="301" r:id="rId45"/>
    <p:sldId id="302" r:id="rId4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hapter 2[2.1]" id="{2D4A4604-8A0E-43CB-AA23-DFE9B7BA0715}">
          <p14:sldIdLst>
            <p14:sldId id="256"/>
          </p14:sldIdLst>
        </p14:section>
        <p14:section name="Sets" id="{2144A1DF-EACB-4BEC-8AAF-291E3087DA69}">
          <p14:sldIdLst>
            <p14:sldId id="257"/>
            <p14:sldId id="258"/>
            <p14:sldId id="259"/>
          </p14:sldIdLst>
        </p14:section>
        <p14:section name="Equal Sets" id="{E70D22ED-FC5A-4510-98AA-BEF656A66005}">
          <p14:sldIdLst>
            <p14:sldId id="260"/>
            <p14:sldId id="261"/>
          </p14:sldIdLst>
        </p14:section>
        <p14:section name="Empty &amp; Singleton Sets" id="{6829AB2F-D965-436B-9F61-C80F73CCE5D6}">
          <p14:sldIdLst>
            <p14:sldId id="262"/>
            <p14:sldId id="263"/>
            <p14:sldId id="264"/>
          </p14:sldIdLst>
        </p14:section>
        <p14:section name="Venn Diagram" id="{609574B2-7B84-4FFB-B60D-BFA0DC8ED03E}">
          <p14:sldIdLst>
            <p14:sldId id="269"/>
          </p14:sldIdLst>
        </p14:section>
        <p14:section name="Subsets" id="{E0D013D3-5F8E-4D1F-9602-1A246B2AFE39}">
          <p14:sldIdLst>
            <p14:sldId id="265"/>
          </p14:sldIdLst>
        </p14:section>
        <p14:section name="Cardinality" id="{E2C587EC-9CB9-43A1-BCE6-1DFA1ACC76B4}">
          <p14:sldIdLst>
            <p14:sldId id="266"/>
          </p14:sldIdLst>
        </p14:section>
        <p14:section name="Power Sets" id="{2BD2BAD9-B410-45E9-BA52-A2874882C4C8}">
          <p14:sldIdLst>
            <p14:sldId id="267"/>
            <p14:sldId id="270"/>
            <p14:sldId id="271"/>
          </p14:sldIdLst>
        </p14:section>
        <p14:section name="Ordered Pairs" id="{CC8A7927-883F-49A5-8784-5E22BF5362B2}">
          <p14:sldIdLst>
            <p14:sldId id="273"/>
            <p14:sldId id="279"/>
          </p14:sldIdLst>
        </p14:section>
        <p14:section name="Cartesian Products" id="{5032058C-47BA-4E9D-968F-04E974EF5CDD}">
          <p14:sldIdLst>
            <p14:sldId id="272"/>
            <p14:sldId id="268"/>
            <p14:sldId id="274"/>
            <p14:sldId id="275"/>
          </p14:sldIdLst>
        </p14:section>
        <p14:section name="Section 2.2" id="{B68A834F-5637-440C-AEC4-263ECBFFC28D}">
          <p14:sldIdLst>
            <p14:sldId id="303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1914" y="2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fld id="{1D8BD707-D9CF-40AE-B4C6-C98DA3205C09}" type="datetimeFigureOut">
              <a:rPr lang="en-US" smtClean="0"/>
              <a:pPr/>
              <a:t>10/11/2020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3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Rectangle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2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10/11/2020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8" name="Rectangle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10/11/2020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0.png"/><Relationship Id="rId4" Type="http://schemas.openxmlformats.org/officeDocument/2006/relationships/image" Target="../media/image18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0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3"/>
          <p:cNvSpPr>
            <a:spLocks noGrp="1"/>
          </p:cNvSpPr>
          <p:nvPr>
            <p:ph type="ctrTitle"/>
          </p:nvPr>
        </p:nvSpPr>
        <p:spPr>
          <a:xfrm>
            <a:off x="1043608" y="3577208"/>
            <a:ext cx="7177608" cy="1375792"/>
          </a:xfrm>
        </p:spPr>
        <p:txBody>
          <a:bodyPr>
            <a:normAutofit fontScale="90000"/>
          </a:bodyPr>
          <a:lstStyle/>
          <a:p>
            <a:pPr algn="ctr"/>
            <a:r>
              <a:rPr lang="en-GB" b="1" u="sng" dirty="0"/>
              <a:t>Chapter 2</a:t>
            </a:r>
            <a:r>
              <a:rPr lang="en-GB" dirty="0"/>
              <a:t> </a:t>
            </a:r>
            <a:br>
              <a:rPr lang="en-GB" dirty="0"/>
            </a:br>
            <a:r>
              <a:rPr lang="en-US" b="1" dirty="0"/>
              <a:t>Basic Structures: Sets, Functions,</a:t>
            </a:r>
            <a:br>
              <a:rPr lang="en-US" b="1" dirty="0"/>
            </a:br>
            <a:r>
              <a:rPr lang="en-US" b="1" dirty="0"/>
              <a:t>Sequences, Sums, and Matrices</a:t>
            </a:r>
            <a:r>
              <a:rPr lang="en-GB" b="1" dirty="0"/>
              <a:t> </a:t>
            </a:r>
            <a:endParaRPr lang="en-US" b="1" dirty="0"/>
          </a:p>
        </p:txBody>
      </p:sp>
      <p:sp>
        <p:nvSpPr>
          <p:cNvPr id="7" name="Subtitle 4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7002016" cy="666750"/>
          </a:xfrm>
        </p:spPr>
        <p:txBody>
          <a:bodyPr>
            <a:normAutofit fontScale="92500" lnSpcReduction="20000"/>
          </a:bodyPr>
          <a:lstStyle/>
          <a:p>
            <a:r>
              <a:rPr lang="en-GB" dirty="0"/>
              <a:t>Section 2.1 :Sets</a:t>
            </a:r>
          </a:p>
          <a:p>
            <a:r>
              <a:rPr lang="en-GB" dirty="0"/>
              <a:t>Section 2.2 :Set Operations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981457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Sets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dirty="0"/>
                  <a:t>A set is an unordered collection of objects, called elements or members of the set.</a:t>
                </a:r>
              </a:p>
              <a:p>
                <a:r>
                  <a:rPr lang="en-US" dirty="0"/>
                  <a:t> A set is said to contain its elements. We write,</a:t>
                </a:r>
              </a:p>
              <a:p>
                <a:pPr lvl="1"/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𝑎</m:t>
                    </m:r>
                    <m:r>
                      <a:rPr lang="en-US" i="1" dirty="0" smtClean="0">
                        <a:latin typeface="Cambria Math"/>
                      </a:rPr>
                      <m:t> ∈ </m:t>
                    </m:r>
                    <m:r>
                      <a:rPr lang="en-US" i="1" dirty="0" smtClean="0">
                        <a:latin typeface="Cambria Math"/>
                      </a:rPr>
                      <m:t>𝐴</m:t>
                    </m:r>
                  </m:oMath>
                </a14:m>
                <a:r>
                  <a:rPr lang="en-US" dirty="0"/>
                  <a:t> to denote that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𝑎</m:t>
                    </m:r>
                  </m:oMath>
                </a14:m>
                <a:r>
                  <a:rPr lang="en-US" dirty="0"/>
                  <a:t> is an element of the set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𝐴</m:t>
                    </m:r>
                  </m:oMath>
                </a14:m>
                <a:r>
                  <a:rPr lang="en-US" dirty="0"/>
                  <a:t>. </a:t>
                </a:r>
              </a:p>
              <a:p>
                <a:pPr lvl="1"/>
                <a:r>
                  <a:rPr lang="en-US" dirty="0"/>
                  <a:t>The notation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𝑎</m:t>
                    </m:r>
                    <m:r>
                      <a:rPr lang="en-US" i="1" dirty="0" smtClean="0">
                        <a:latin typeface="Cambria Math"/>
                      </a:rPr>
                      <m:t> ∉ </m:t>
                    </m:r>
                    <m:r>
                      <a:rPr lang="en-US" i="1" dirty="0" smtClean="0">
                        <a:latin typeface="Cambria Math"/>
                      </a:rPr>
                      <m:t>𝐴</m:t>
                    </m:r>
                  </m:oMath>
                </a14:m>
                <a:r>
                  <a:rPr lang="en-US" dirty="0"/>
                  <a:t> denotes that a is not an element of the set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𝐴</m:t>
                    </m:r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For example, </a:t>
                </a:r>
              </a:p>
              <a:p>
                <a:pPr lvl="1"/>
                <a:r>
                  <a:rPr lang="en-US" dirty="0"/>
                  <a:t>The notation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{</m:t>
                    </m:r>
                    <m:r>
                      <a:rPr lang="en-US" i="1" dirty="0" smtClean="0">
                        <a:latin typeface="Cambria Math"/>
                      </a:rPr>
                      <m:t>𝑎</m:t>
                    </m:r>
                    <m:r>
                      <a:rPr lang="en-US" i="1" dirty="0" smtClean="0">
                        <a:latin typeface="Cambria Math"/>
                      </a:rPr>
                      <m:t>, </m:t>
                    </m:r>
                    <m:r>
                      <a:rPr lang="en-US" i="1" dirty="0" smtClean="0">
                        <a:latin typeface="Cambria Math"/>
                      </a:rPr>
                      <m:t>𝑏</m:t>
                    </m:r>
                    <m:r>
                      <a:rPr lang="en-US" i="1" dirty="0" smtClean="0">
                        <a:latin typeface="Cambria Math"/>
                      </a:rPr>
                      <m:t>, </m:t>
                    </m:r>
                    <m:r>
                      <a:rPr lang="en-US" i="1" dirty="0" smtClean="0">
                        <a:latin typeface="Cambria Math"/>
                      </a:rPr>
                      <m:t>𝑐</m:t>
                    </m:r>
                    <m:r>
                      <a:rPr lang="en-US" i="1" dirty="0" smtClean="0">
                        <a:latin typeface="Cambria Math"/>
                      </a:rPr>
                      <m:t>, </m:t>
                    </m:r>
                    <m:r>
                      <a:rPr lang="en-US" i="1" dirty="0" smtClean="0">
                        <a:latin typeface="Cambria Math"/>
                      </a:rPr>
                      <m:t>𝑑</m:t>
                    </m:r>
                    <m:r>
                      <a:rPr lang="en-US" i="1" dirty="0" smtClean="0">
                        <a:latin typeface="Cambria Math"/>
                      </a:rPr>
                      <m:t>}</m:t>
                    </m:r>
                  </m:oMath>
                </a14:m>
                <a:r>
                  <a:rPr lang="en-US" dirty="0"/>
                  <a:t> represents the set with the four elements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𝑎</m:t>
                    </m:r>
                    <m:r>
                      <a:rPr lang="en-US" i="1" dirty="0" smtClean="0">
                        <a:latin typeface="Cambria Math"/>
                      </a:rPr>
                      <m:t>, </m:t>
                    </m:r>
                    <m:r>
                      <a:rPr lang="en-US" i="1" dirty="0" smtClean="0">
                        <a:latin typeface="Cambria Math"/>
                      </a:rPr>
                      <m:t>𝑏</m:t>
                    </m:r>
                    <m:r>
                      <a:rPr lang="en-US" i="1" dirty="0" smtClean="0">
                        <a:latin typeface="Cambria Math"/>
                      </a:rPr>
                      <m:t>, </m:t>
                    </m:r>
                    <m:r>
                      <a:rPr lang="en-US" i="1" dirty="0" smtClean="0">
                        <a:latin typeface="Cambria Math"/>
                      </a:rPr>
                      <m:t>𝑐</m:t>
                    </m:r>
                    <m:r>
                      <a:rPr lang="en-US" i="1" dirty="0" smtClean="0">
                        <a:latin typeface="Cambria Math"/>
                      </a:rPr>
                      <m:t>,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𝑑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593" t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312216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Sets(Contd.)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GB" dirty="0"/>
                  <a:t>Consider a set of all odd positive integers less than 10.</a:t>
                </a:r>
              </a:p>
              <a:p>
                <a:endParaRPr lang="en-GB" dirty="0"/>
              </a:p>
              <a:p>
                <a:r>
                  <a:rPr lang="en-GB" b="1" u="sng" dirty="0"/>
                  <a:t>Roster Method:</a:t>
                </a:r>
              </a:p>
              <a:p>
                <a:pPr lvl="1"/>
                <a:r>
                  <a:rPr lang="en-GB" dirty="0"/>
                  <a:t>Using this method, the set can be written as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{1,3,5,7,9}</m:t>
                    </m:r>
                  </m:oMath>
                </a14:m>
                <a:endParaRPr lang="en-GB" dirty="0"/>
              </a:p>
              <a:p>
                <a:endParaRPr lang="en-GB" dirty="0"/>
              </a:p>
              <a:p>
                <a:r>
                  <a:rPr lang="en-GB" b="1" u="sng" dirty="0"/>
                  <a:t>Set Builder Method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𝑂</m:t>
                    </m:r>
                    <m:r>
                      <a:rPr lang="en-US" i="1">
                        <a:latin typeface="Cambria Math"/>
                      </a:rPr>
                      <m:t> =</m:t>
                    </m:r>
                    <m:d>
                      <m:dPr>
                        <m:begChr m:val="{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/>
                          </a:rPr>
                          <m:t>𝑥</m:t>
                        </m:r>
                        <m:r>
                          <a:rPr lang="en-US" i="1">
                            <a:latin typeface="Cambria Math"/>
                          </a:rPr>
                          <m:t> </m:t>
                        </m:r>
                      </m:e>
                    </m:d>
                    <m:r>
                      <a:rPr lang="en-US" i="1">
                        <a:latin typeface="Cambria Math"/>
                      </a:rPr>
                      <m:t>𝑥</m:t>
                    </m:r>
                    <m:r>
                      <a:rPr lang="en-US" i="1">
                        <a:latin typeface="Cambria Math"/>
                      </a:rPr>
                      <m:t> </m:t>
                    </m:r>
                    <m:r>
                      <a:rPr lang="en-US" i="1">
                        <a:latin typeface="Cambria Math"/>
                      </a:rPr>
                      <m:t>𝑖𝑠</m:t>
                    </m:r>
                    <m:r>
                      <a:rPr lang="en-US" i="1">
                        <a:latin typeface="Cambria Math"/>
                      </a:rPr>
                      <m:t> </m:t>
                    </m:r>
                    <m:r>
                      <a:rPr lang="en-US" i="1">
                        <a:latin typeface="Cambria Math"/>
                      </a:rPr>
                      <m:t>𝑎𝑛</m:t>
                    </m:r>
                    <m:r>
                      <a:rPr lang="en-GB" b="0" i="1" smtClean="0">
                        <a:latin typeface="Cambria Math"/>
                      </a:rPr>
                      <m:t> </m:t>
                    </m:r>
                    <m:r>
                      <a:rPr lang="en-GB" b="0" i="1" smtClean="0">
                        <a:latin typeface="Cambria Math"/>
                      </a:rPr>
                      <m:t>𝑜𝑑𝑑</m:t>
                    </m:r>
                    <m:r>
                      <a:rPr lang="en-GB" b="0" i="1" smtClean="0">
                        <a:latin typeface="Cambria Math"/>
                      </a:rPr>
                      <m:t> </m:t>
                    </m:r>
                    <m:r>
                      <a:rPr lang="en-US" i="1">
                        <a:latin typeface="Cambria Math"/>
                      </a:rPr>
                      <m:t>𝑝𝑜𝑠𝑖𝑡𝑖𝑣𝑒</m:t>
                    </m:r>
                    <m:r>
                      <a:rPr lang="en-US" i="1">
                        <a:latin typeface="Cambria Math"/>
                      </a:rPr>
                      <m:t> </m:t>
                    </m:r>
                    <m:r>
                      <a:rPr lang="en-US" i="1">
                        <a:latin typeface="Cambria Math"/>
                      </a:rPr>
                      <m:t>𝑖𝑛𝑡𝑒𝑔𝑒𝑟</m:t>
                    </m:r>
                    <m:r>
                      <a:rPr lang="en-US" i="1">
                        <a:latin typeface="Cambria Math"/>
                      </a:rPr>
                      <m:t> </m:t>
                    </m:r>
                    <m:r>
                      <a:rPr lang="en-US" i="1">
                        <a:latin typeface="Cambria Math"/>
                      </a:rPr>
                      <m:t>𝑙𝑒𝑠𝑠</m:t>
                    </m:r>
                    <m:r>
                      <a:rPr lang="en-US" i="1">
                        <a:latin typeface="Cambria Math"/>
                      </a:rPr>
                      <m:t> </m:t>
                    </m:r>
                    <m:r>
                      <a:rPr lang="en-US" i="1">
                        <a:latin typeface="Cambria Math"/>
                      </a:rPr>
                      <m:t>𝑡h𝑎𝑛</m:t>
                    </m:r>
                    <m:r>
                      <a:rPr lang="en-US" i="1">
                        <a:latin typeface="Cambria Math"/>
                      </a:rPr>
                      <m:t> 10},</m:t>
                    </m:r>
                  </m:oMath>
                </a14:m>
                <a:endParaRPr lang="en-GB" i="1" dirty="0">
                  <a:latin typeface="Cambria Math"/>
                </a:endParaRPr>
              </a:p>
              <a:p>
                <a:pPr marL="274320" lvl="1" indent="0">
                  <a:buNone/>
                </a:pPr>
                <a:r>
                  <a:rPr lang="en-GB" dirty="0"/>
                  <a:t>Or,</a:t>
                </a:r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𝑂</m:t>
                    </m:r>
                    <m:r>
                      <a:rPr lang="en-US" i="1">
                        <a:latin typeface="Cambria Math"/>
                      </a:rPr>
                      <m:t> ={</m:t>
                    </m:r>
                    <m:r>
                      <a:rPr lang="en-US" i="1">
                        <a:latin typeface="Cambria Math"/>
                      </a:rPr>
                      <m:t>𝑥</m:t>
                    </m:r>
                    <m:r>
                      <a:rPr lang="en-US" i="1">
                        <a:latin typeface="Cambria Math"/>
                      </a:rPr>
                      <m:t> ∈ 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𝑍</m:t>
                        </m:r>
                      </m:e>
                      <m:sup>
                        <m:r>
                          <a:rPr lang="en-US" i="1" smtClean="0">
                            <a:latin typeface="Cambria Math"/>
                          </a:rPr>
                          <m:t>+</m:t>
                        </m:r>
                      </m:sup>
                    </m:sSup>
                    <m:r>
                      <a:rPr lang="en-US" i="1">
                        <a:latin typeface="Cambria Math"/>
                      </a:rPr>
                      <m:t>| </m:t>
                    </m:r>
                    <m:r>
                      <a:rPr lang="en-US" i="1">
                        <a:latin typeface="Cambria Math"/>
                      </a:rPr>
                      <m:t>𝑥</m:t>
                    </m:r>
                    <m:r>
                      <a:rPr lang="en-US" i="1">
                        <a:latin typeface="Cambria Math"/>
                      </a:rPr>
                      <m:t> </m:t>
                    </m:r>
                    <m:r>
                      <a:rPr lang="en-US" i="1">
                        <a:latin typeface="Cambria Math"/>
                      </a:rPr>
                      <m:t>𝑖𝑠</m:t>
                    </m:r>
                    <m:r>
                      <a:rPr lang="en-US" i="1">
                        <a:latin typeface="Cambria Math"/>
                      </a:rPr>
                      <m:t> </m:t>
                    </m:r>
                    <m:r>
                      <a:rPr lang="en-US" i="1">
                        <a:latin typeface="Cambria Math"/>
                      </a:rPr>
                      <m:t>𝑜𝑑𝑑</m:t>
                    </m:r>
                    <m:r>
                      <a:rPr lang="en-US" i="1">
                        <a:latin typeface="Cambria Math"/>
                      </a:rPr>
                      <m:t> </m:t>
                    </m:r>
                    <m:r>
                      <a:rPr lang="en-US" i="1">
                        <a:latin typeface="Cambria Math"/>
                      </a:rPr>
                      <m:t>𝑎𝑛𝑑</m:t>
                    </m:r>
                    <m:r>
                      <a:rPr lang="en-US" i="1">
                        <a:latin typeface="Cambria Math"/>
                      </a:rPr>
                      <m:t> </m:t>
                    </m:r>
                    <m:r>
                      <a:rPr lang="en-US" i="1">
                        <a:latin typeface="Cambria Math"/>
                      </a:rPr>
                      <m:t>𝑥</m:t>
                    </m:r>
                    <m:r>
                      <a:rPr lang="en-US" i="1">
                        <a:latin typeface="Cambria Math"/>
                      </a:rPr>
                      <m:t>&lt;10}.</m:t>
                    </m:r>
                  </m:oMath>
                </a14:m>
                <a:endParaRPr lang="en-US" dirty="0"/>
              </a:p>
              <a:p>
                <a:pPr marL="274320" lvl="1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593" t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715890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Sets(Contd.)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GB" dirty="0"/>
              <a:t>Few common notations</a:t>
            </a:r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65586229"/>
                  </p:ext>
                </p:extLst>
              </p:nvPr>
            </p:nvGraphicFramePr>
            <p:xfrm>
              <a:off x="990600" y="1981200"/>
              <a:ext cx="7202424" cy="2286000"/>
            </p:xfrm>
            <a:graphic>
              <a:graphicData uri="http://schemas.openxmlformats.org/drawingml/2006/table">
                <a:tbl>
                  <a:tblPr>
                    <a:tableStyleId>{ED083AE6-46FA-4A59-8FB0-9F97EB10719F}</a:tableStyleId>
                  </a:tblPr>
                  <a:tblGrid>
                    <a:gridCol w="52095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68147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i="1" dirty="0" smtClean="0">
                                  <a:latin typeface="Cambria Math"/>
                                </a:rPr>
                                <m:t>𝑁</m:t>
                              </m:r>
                            </m:oMath>
                          </a14:m>
                          <a:r>
                            <a:rPr lang="en-US" dirty="0"/>
                            <a:t> </a:t>
                          </a:r>
                        </a:p>
                        <a:p>
                          <a14:m>
                            <m:oMath xmlns:m="http://schemas.openxmlformats.org/officeDocument/2006/math">
                              <m:r>
                                <a:rPr lang="en-US" i="1" dirty="0" smtClean="0">
                                  <a:latin typeface="Cambria Math"/>
                                </a:rPr>
                                <m:t>𝑍</m:t>
                              </m:r>
                            </m:oMath>
                          </a14:m>
                          <a:r>
                            <a:rPr lang="en-US" dirty="0"/>
                            <a:t> </a:t>
                          </a: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GB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 dirty="0" smtClean="0">
                                        <a:latin typeface="Cambria Math"/>
                                      </a:rPr>
                                      <m:t>𝑍</m:t>
                                    </m:r>
                                  </m:e>
                                  <m:sup>
                                    <m:r>
                                      <a:rPr lang="en-GB" b="0" i="1" dirty="0" smtClean="0">
                                        <a:latin typeface="Cambria Math"/>
                                      </a:rPr>
                                      <m:t>+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/>
                        </a:p>
                        <a:p>
                          <a14:m>
                            <m:oMath xmlns:m="http://schemas.openxmlformats.org/officeDocument/2006/math">
                              <m:r>
                                <a:rPr lang="en-US" i="1" dirty="0" smtClean="0">
                                  <a:latin typeface="Cambria Math"/>
                                </a:rPr>
                                <m:t>𝑄</m:t>
                              </m:r>
                            </m:oMath>
                          </a14:m>
                          <a:r>
                            <a:rPr lang="en-US" dirty="0"/>
                            <a:t> </a:t>
                          </a:r>
                        </a:p>
                        <a:p>
                          <a14:m>
                            <m:oMath xmlns:m="http://schemas.openxmlformats.org/officeDocument/2006/math">
                              <m:r>
                                <a:rPr lang="en-US" i="1" dirty="0" smtClean="0">
                                  <a:latin typeface="Cambria Math"/>
                                </a:rPr>
                                <m:t>𝑅</m:t>
                              </m:r>
                            </m:oMath>
                          </a14:m>
                          <a:r>
                            <a:rPr lang="en-US" dirty="0"/>
                            <a:t> </a:t>
                          </a:r>
                        </a:p>
                        <a:p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GB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 dirty="0" smtClean="0">
                                      <a:latin typeface="Cambria Math"/>
                                    </a:rPr>
                                    <m:t>𝑅</m:t>
                                  </m:r>
                                </m:e>
                                <m:sup>
                                  <m:r>
                                    <a:rPr lang="en-GB" b="0" i="1" dirty="0" smtClean="0">
                                      <a:latin typeface="Cambria Math"/>
                                    </a:rPr>
                                    <m:t>+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dirty="0"/>
                            <a:t>  </a:t>
                          </a:r>
                        </a:p>
                        <a:p>
                          <a14:m>
                            <m:oMath xmlns:m="http://schemas.openxmlformats.org/officeDocument/2006/math">
                              <m:r>
                                <a:rPr lang="en-US" i="1" dirty="0" smtClean="0">
                                  <a:latin typeface="Cambria Math"/>
                                </a:rPr>
                                <m:t>𝐶</m:t>
                              </m:r>
                            </m:oMath>
                          </a14:m>
                          <a:r>
                            <a:rPr lang="en-US" dirty="0"/>
                            <a:t> </a:t>
                          </a:r>
                        </a:p>
                        <a:p>
                          <a14:m>
                            <m:oMath xmlns:m="http://schemas.openxmlformats.org/officeDocument/2006/math">
                              <m:r>
                                <a:rPr lang="en-GB" i="1" dirty="0" smtClean="0">
                                  <a:latin typeface="Cambria Math"/>
                                </a:rPr>
                                <m:t>𝑈</m:t>
                              </m:r>
                              <m:r>
                                <a:rPr lang="en-GB" b="0" i="1" dirty="0" smtClean="0">
                                  <a:latin typeface="Cambria Math"/>
                                </a:rPr>
                                <m:t> </m:t>
                              </m:r>
                            </m:oMath>
                          </a14:m>
                          <a:r>
                            <a:rPr lang="en-US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i="1" dirty="0" smtClean="0">
                                  <a:latin typeface="Cambria Math"/>
                                </a:rPr>
                                <m:t>{0, 1, 2, 3,…}, </m:t>
                              </m:r>
                              <m:r>
                                <a:rPr lang="en-US" i="1" dirty="0" smtClean="0">
                                  <a:latin typeface="Cambria Math"/>
                                </a:rPr>
                                <m:t>𝑡h𝑒</m:t>
                              </m:r>
                              <m:r>
                                <a:rPr lang="en-US" i="1" dirty="0" smtClean="0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i="1" dirty="0" smtClean="0">
                                  <a:latin typeface="Cambria Math"/>
                                </a:rPr>
                                <m:t>𝑠𝑒𝑡</m:t>
                              </m:r>
                              <m:r>
                                <a:rPr lang="en-US" i="1" dirty="0" smtClean="0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i="1" dirty="0" smtClean="0">
                                  <a:latin typeface="Cambria Math"/>
                                </a:rPr>
                                <m:t>𝑜𝑓</m:t>
                              </m:r>
                              <m:r>
                                <a:rPr lang="en-US" i="1" dirty="0" smtClean="0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i="1" dirty="0" smtClean="0">
                                  <a:latin typeface="Cambria Math"/>
                                </a:rPr>
                                <m:t>𝑛𝑎𝑡𝑢𝑟𝑎𝑙</m:t>
                              </m:r>
                              <m:r>
                                <a:rPr lang="en-US" i="1" dirty="0" smtClean="0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i="1" dirty="0" smtClean="0">
                                  <a:latin typeface="Cambria Math"/>
                                </a:rPr>
                                <m:t>𝑛𝑢𝑚𝑏𝑒𝑟𝑠</m:t>
                              </m:r>
                            </m:oMath>
                          </a14:m>
                          <a:r>
                            <a:rPr lang="en-US" dirty="0"/>
                            <a:t> </a:t>
                          </a:r>
                        </a:p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i="1" dirty="0" smtClean="0">
                                  <a:latin typeface="Cambria Math"/>
                                </a:rPr>
                                <m:t>{…,−2, −1, 0, 1, 2,…}, </m:t>
                              </m:r>
                              <m:r>
                                <a:rPr lang="en-US" i="1" dirty="0" smtClean="0">
                                  <a:latin typeface="Cambria Math"/>
                                </a:rPr>
                                <m:t>𝑡h𝑒</m:t>
                              </m:r>
                              <m:r>
                                <a:rPr lang="en-US" i="1" dirty="0" smtClean="0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i="1" dirty="0" smtClean="0">
                                  <a:latin typeface="Cambria Math"/>
                                </a:rPr>
                                <m:t>𝑠𝑒𝑡</m:t>
                              </m:r>
                              <m:r>
                                <a:rPr lang="en-US" i="1" dirty="0" smtClean="0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i="1" dirty="0" smtClean="0">
                                  <a:latin typeface="Cambria Math"/>
                                </a:rPr>
                                <m:t>𝑜𝑓</m:t>
                              </m:r>
                              <m:r>
                                <a:rPr lang="en-US" i="1" dirty="0" smtClean="0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i="1" dirty="0" smtClean="0">
                                  <a:latin typeface="Cambria Math"/>
                                </a:rPr>
                                <m:t>𝑖𝑛𝑡𝑒𝑔𝑒𝑟𝑠</m:t>
                              </m:r>
                            </m:oMath>
                          </a14:m>
                          <a:r>
                            <a:rPr lang="en-US" dirty="0"/>
                            <a:t> </a:t>
                          </a:r>
                        </a:p>
                        <a:p>
                          <a14:m>
                            <m:oMath xmlns:m="http://schemas.openxmlformats.org/officeDocument/2006/math">
                              <m:r>
                                <a:rPr lang="en-US" i="1" dirty="0" smtClean="0">
                                  <a:latin typeface="Cambria Math"/>
                                </a:rPr>
                                <m:t>{1, 2, 3,…}, </m:t>
                              </m:r>
                              <m:r>
                                <a:rPr lang="en-US" i="1" dirty="0" smtClean="0">
                                  <a:latin typeface="Cambria Math"/>
                                </a:rPr>
                                <m:t>𝑡h𝑒</m:t>
                              </m:r>
                              <m:r>
                                <a:rPr lang="en-US" i="1" dirty="0" smtClean="0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i="1" dirty="0" smtClean="0">
                                  <a:latin typeface="Cambria Math"/>
                                </a:rPr>
                                <m:t>𝑠𝑒𝑡</m:t>
                              </m:r>
                              <m:r>
                                <a:rPr lang="en-US" i="1" dirty="0" smtClean="0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i="1" dirty="0" smtClean="0">
                                  <a:latin typeface="Cambria Math"/>
                                </a:rPr>
                                <m:t>𝑜𝑓</m:t>
                              </m:r>
                              <m:r>
                                <a:rPr lang="en-US" i="1" dirty="0" smtClean="0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i="1" dirty="0" smtClean="0">
                                  <a:latin typeface="Cambria Math"/>
                                </a:rPr>
                                <m:t>𝑝𝑜𝑠𝑖𝑡𝑖𝑣𝑒</m:t>
                              </m:r>
                              <m:r>
                                <a:rPr lang="en-US" i="1" dirty="0" smtClean="0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i="1" dirty="0" smtClean="0">
                                  <a:latin typeface="Cambria Math"/>
                                </a:rPr>
                                <m:t>𝑖𝑛𝑡𝑒𝑔𝑒𝑟𝑠</m:t>
                              </m:r>
                            </m:oMath>
                          </a14:m>
                          <a:r>
                            <a:rPr lang="en-US" dirty="0"/>
                            <a:t> </a:t>
                          </a:r>
                        </a:p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i="1" dirty="0" smtClean="0">
                                  <a:latin typeface="Cambria Math"/>
                                </a:rPr>
                                <m:t>{</m:t>
                              </m:r>
                              <m:r>
                                <a:rPr lang="en-US" i="1" dirty="0" smtClean="0">
                                  <a:latin typeface="Cambria Math"/>
                                </a:rPr>
                                <m:t>𝑝</m:t>
                              </m:r>
                              <m:r>
                                <a:rPr lang="en-US" i="1" dirty="0" smtClean="0">
                                  <a:latin typeface="Cambria Math"/>
                                </a:rPr>
                                <m:t>/</m:t>
                              </m:r>
                              <m:r>
                                <a:rPr lang="en-US" i="1" dirty="0" smtClean="0">
                                  <a:latin typeface="Cambria Math"/>
                                </a:rPr>
                                <m:t>𝑞</m:t>
                              </m:r>
                              <m:r>
                                <a:rPr lang="en-US" i="1" dirty="0" smtClean="0">
                                  <a:latin typeface="Cambria Math"/>
                                </a:rPr>
                                <m:t> | </m:t>
                              </m:r>
                              <m:r>
                                <a:rPr lang="en-US" i="1" dirty="0" smtClean="0">
                                  <a:latin typeface="Cambria Math"/>
                                </a:rPr>
                                <m:t>𝑝</m:t>
                              </m:r>
                              <m:r>
                                <a:rPr lang="en-US" i="1" dirty="0" smtClean="0">
                                  <a:latin typeface="Cambria Math"/>
                                </a:rPr>
                                <m:t> ∈ </m:t>
                              </m:r>
                              <m:r>
                                <a:rPr lang="en-US" i="1" dirty="0" err="1" smtClean="0">
                                  <a:latin typeface="Cambria Math"/>
                                </a:rPr>
                                <m:t>𝑍</m:t>
                              </m:r>
                              <m:r>
                                <a:rPr lang="en-US" i="1" dirty="0" err="1" smtClean="0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i="1" dirty="0" err="1" smtClean="0">
                                  <a:latin typeface="Cambria Math"/>
                                </a:rPr>
                                <m:t>𝑞</m:t>
                              </m:r>
                              <m:r>
                                <a:rPr lang="en-US" i="1" dirty="0" smtClean="0">
                                  <a:latin typeface="Cambria Math"/>
                                </a:rPr>
                                <m:t>∈ </m:t>
                              </m:r>
                              <m:r>
                                <a:rPr lang="en-US" i="1" dirty="0" smtClean="0">
                                  <a:latin typeface="Cambria Math"/>
                                </a:rPr>
                                <m:t>𝑍</m:t>
                              </m:r>
                              <m:r>
                                <a:rPr lang="en-US" i="1" dirty="0" smtClean="0">
                                  <a:latin typeface="Cambria Math"/>
                                </a:rPr>
                                <m:t>, </m:t>
                              </m:r>
                              <m:r>
                                <a:rPr lang="en-US" i="1" dirty="0" smtClean="0">
                                  <a:latin typeface="Cambria Math"/>
                                </a:rPr>
                                <m:t>𝑎𝑛𝑑</m:t>
                              </m:r>
                              <m:r>
                                <a:rPr lang="en-US" i="1" dirty="0" smtClean="0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i="1" dirty="0" smtClean="0">
                                  <a:latin typeface="Cambria Math"/>
                                </a:rPr>
                                <m:t>𝑞</m:t>
                              </m:r>
                              <m:r>
                                <a:rPr lang="en-US" i="1" dirty="0" smtClean="0">
                                  <a:latin typeface="Cambria Math"/>
                                </a:rPr>
                                <m:t> = 0}, </m:t>
                              </m:r>
                              <m:r>
                                <a:rPr lang="en-US" i="1" dirty="0" smtClean="0">
                                  <a:latin typeface="Cambria Math"/>
                                </a:rPr>
                                <m:t>𝑡h𝑒</m:t>
                              </m:r>
                              <m:r>
                                <a:rPr lang="en-US" i="1" dirty="0" smtClean="0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i="1" dirty="0" smtClean="0">
                                  <a:latin typeface="Cambria Math"/>
                                </a:rPr>
                                <m:t>𝑠𝑒𝑡</m:t>
                              </m:r>
                              <m:r>
                                <a:rPr lang="en-US" i="1" dirty="0" smtClean="0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i="1" dirty="0" smtClean="0">
                                  <a:latin typeface="Cambria Math"/>
                                </a:rPr>
                                <m:t>𝑜𝑓</m:t>
                              </m:r>
                              <m:r>
                                <a:rPr lang="en-US" i="1" dirty="0" smtClean="0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i="1" dirty="0" smtClean="0">
                                  <a:latin typeface="Cambria Math"/>
                                </a:rPr>
                                <m:t>𝑟𝑎𝑡𝑖𝑜𝑛𝑎𝑙</m:t>
                              </m:r>
                              <m:r>
                                <a:rPr lang="en-US" i="1" dirty="0" smtClean="0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i="1" dirty="0" smtClean="0">
                                  <a:latin typeface="Cambria Math"/>
                                </a:rPr>
                                <m:t>𝑛𝑢𝑚𝑏𝑒𝑟𝑠</m:t>
                              </m:r>
                            </m:oMath>
                          </a14:m>
                          <a:r>
                            <a:rPr lang="en-US" dirty="0"/>
                            <a:t> </a:t>
                          </a:r>
                        </a:p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i="1" dirty="0" smtClean="0">
                                  <a:latin typeface="Cambria Math"/>
                                </a:rPr>
                                <m:t>𝑡h𝑒</m:t>
                              </m:r>
                              <m:r>
                                <a:rPr lang="en-US" i="1" dirty="0" smtClean="0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i="1" dirty="0" smtClean="0">
                                  <a:latin typeface="Cambria Math"/>
                                </a:rPr>
                                <m:t>𝑠𝑒𝑡</m:t>
                              </m:r>
                              <m:r>
                                <a:rPr lang="en-US" i="1" dirty="0" smtClean="0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i="1" dirty="0" smtClean="0">
                                  <a:latin typeface="Cambria Math"/>
                                </a:rPr>
                                <m:t>𝑜𝑓</m:t>
                              </m:r>
                              <m:r>
                                <a:rPr lang="en-US" i="1" dirty="0" smtClean="0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i="1" dirty="0" smtClean="0">
                                  <a:latin typeface="Cambria Math"/>
                                </a:rPr>
                                <m:t>𝑟𝑒𝑎𝑙</m:t>
                              </m:r>
                              <m:r>
                                <a:rPr lang="en-US" i="1" dirty="0" smtClean="0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i="1" dirty="0" smtClean="0">
                                  <a:latin typeface="Cambria Math"/>
                                </a:rPr>
                                <m:t>𝑛𝑢𝑚𝑏𝑒𝑟𝑠</m:t>
                              </m:r>
                            </m:oMath>
                          </a14:m>
                          <a:r>
                            <a:rPr lang="en-US" dirty="0"/>
                            <a:t> </a:t>
                          </a:r>
                        </a:p>
                        <a:p>
                          <a14:m>
                            <m:oMath xmlns:m="http://schemas.openxmlformats.org/officeDocument/2006/math">
                              <m:r>
                                <a:rPr lang="en-US" i="1" dirty="0" smtClean="0">
                                  <a:latin typeface="Cambria Math"/>
                                </a:rPr>
                                <m:t>𝑡h𝑒</m:t>
                              </m:r>
                              <m:r>
                                <a:rPr lang="en-US" i="1" dirty="0" smtClean="0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i="1" dirty="0" smtClean="0">
                                  <a:latin typeface="Cambria Math"/>
                                </a:rPr>
                                <m:t>𝑠𝑒𝑡</m:t>
                              </m:r>
                              <m:r>
                                <a:rPr lang="en-US" i="1" dirty="0" smtClean="0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i="1" dirty="0" smtClean="0">
                                  <a:latin typeface="Cambria Math"/>
                                </a:rPr>
                                <m:t>𝑜𝑓</m:t>
                              </m:r>
                              <m:r>
                                <a:rPr lang="en-US" i="1" dirty="0" smtClean="0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i="1" dirty="0" smtClean="0">
                                  <a:latin typeface="Cambria Math"/>
                                </a:rPr>
                                <m:t>𝑝𝑜𝑠𝑖𝑡𝑖𝑣𝑒</m:t>
                              </m:r>
                              <m:r>
                                <a:rPr lang="en-US" i="1" dirty="0" smtClean="0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i="1" dirty="0" smtClean="0">
                                  <a:latin typeface="Cambria Math"/>
                                </a:rPr>
                                <m:t>𝑟𝑒𝑎𝑙</m:t>
                              </m:r>
                              <m:r>
                                <a:rPr lang="en-US" i="1" dirty="0" smtClean="0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i="1" dirty="0" smtClean="0">
                                  <a:latin typeface="Cambria Math"/>
                                </a:rPr>
                                <m:t>𝑛𝑢𝑚𝑏𝑒𝑟𝑠</m:t>
                              </m:r>
                            </m:oMath>
                          </a14:m>
                          <a:r>
                            <a:rPr lang="en-GB" dirty="0"/>
                            <a:t> </a:t>
                          </a:r>
                        </a:p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i="1" dirty="0" smtClean="0">
                                  <a:latin typeface="Cambria Math"/>
                                </a:rPr>
                                <m:t>𝑡h𝑒</m:t>
                              </m:r>
                              <m:r>
                                <a:rPr lang="en-US" i="1" dirty="0" smtClean="0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i="1" dirty="0" smtClean="0">
                                  <a:latin typeface="Cambria Math"/>
                                </a:rPr>
                                <m:t>𝑠𝑒𝑡</m:t>
                              </m:r>
                              <m:r>
                                <a:rPr lang="en-US" i="1" dirty="0" smtClean="0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i="1" dirty="0" smtClean="0">
                                  <a:latin typeface="Cambria Math"/>
                                </a:rPr>
                                <m:t>𝑜𝑓</m:t>
                              </m:r>
                              <m:r>
                                <a:rPr lang="en-US" i="1" dirty="0" smtClean="0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i="1" dirty="0" smtClean="0">
                                  <a:latin typeface="Cambria Math"/>
                                </a:rPr>
                                <m:t>𝑐𝑜𝑚𝑝𝑙𝑒𝑥</m:t>
                              </m:r>
                              <m:r>
                                <a:rPr lang="en-US" i="1" dirty="0" smtClean="0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i="1" dirty="0" smtClean="0">
                                  <a:latin typeface="Cambria Math"/>
                                </a:rPr>
                                <m:t>𝑛𝑢𝑚𝑏𝑒𝑟𝑠</m:t>
                              </m:r>
                            </m:oMath>
                          </a14:m>
                          <a:r>
                            <a:rPr lang="en-US" dirty="0"/>
                            <a:t> </a:t>
                          </a:r>
                        </a:p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GB" b="0" i="1" smtClean="0">
                                  <a:latin typeface="Cambria Math"/>
                                </a:rPr>
                                <m:t>𝑈𝑛𝑖𝑣𝑒𝑟𝑠𝑎𝑙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𝑆𝑒𝑡</m:t>
                              </m:r>
                            </m:oMath>
                          </a14:m>
                          <a:r>
                            <a:rPr lang="en-US" dirty="0"/>
                            <a:t>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65586229"/>
                  </p:ext>
                </p:extLst>
              </p:nvPr>
            </p:nvGraphicFramePr>
            <p:xfrm>
              <a:off x="990600" y="1981200"/>
              <a:ext cx="7202424" cy="2286000"/>
            </p:xfrm>
            <a:graphic>
              <a:graphicData uri="http://schemas.openxmlformats.org/drawingml/2006/table">
                <a:tbl>
                  <a:tblPr>
                    <a:tableStyleId>{ED083AE6-46FA-4A59-8FB0-9F97EB10719F}</a:tableStyleId>
                  </a:tblPr>
                  <a:tblGrid>
                    <a:gridCol w="520954"/>
                    <a:gridCol w="6681470"/>
                  </a:tblGrid>
                  <a:tr h="2286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1176" t="-1333" r="-1289412" b="-42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7847" t="-1333" b="-4267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6796303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Equal Sets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GB" dirty="0"/>
                  <a:t>Equal Sets	</a:t>
                </a:r>
              </a:p>
              <a:p>
                <a:pPr lvl="1"/>
                <a:r>
                  <a:rPr lang="en-US" dirty="0"/>
                  <a:t>Two sets are equal if and only if they have the same elements.</a:t>
                </a:r>
              </a:p>
              <a:p>
                <a:pPr lvl="1"/>
                <a:r>
                  <a:rPr lang="en-US" dirty="0"/>
                  <a:t>Therefore, if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𝐴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𝐵</m:t>
                    </m:r>
                  </m:oMath>
                </a14:m>
                <a:r>
                  <a:rPr lang="en-US" dirty="0"/>
                  <a:t> are sets, then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𝐴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𝐵</m:t>
                    </m:r>
                  </m:oMath>
                </a14:m>
                <a:r>
                  <a:rPr lang="en-US" dirty="0"/>
                  <a:t> are equal if and only if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∀</m:t>
                    </m:r>
                    <m:r>
                      <a:rPr lang="en-US" i="1" dirty="0" smtClean="0">
                        <a:latin typeface="Cambria Math"/>
                      </a:rPr>
                      <m:t>𝑥</m:t>
                    </m:r>
                    <m:r>
                      <a:rPr lang="en-US" i="1" dirty="0" smtClean="0">
                        <a:latin typeface="Cambria Math"/>
                      </a:rPr>
                      <m:t>(</m:t>
                    </m:r>
                    <m:r>
                      <a:rPr lang="en-US" i="1" dirty="0" smtClean="0">
                        <a:latin typeface="Cambria Math"/>
                      </a:rPr>
                      <m:t>𝑥</m:t>
                    </m:r>
                    <m:r>
                      <a:rPr lang="en-US" i="1" dirty="0" smtClean="0">
                        <a:latin typeface="Cambria Math"/>
                      </a:rPr>
                      <m:t> ∈ </m:t>
                    </m:r>
                    <m:r>
                      <a:rPr lang="en-US" i="1" dirty="0" smtClean="0">
                        <a:latin typeface="Cambria Math"/>
                      </a:rPr>
                      <m:t>𝐴</m:t>
                    </m:r>
                    <m:r>
                      <a:rPr lang="en-US" i="1" dirty="0" smtClean="0">
                        <a:latin typeface="Cambria Math"/>
                      </a:rPr>
                      <m:t> ↔ </m:t>
                    </m:r>
                    <m:r>
                      <a:rPr lang="en-US" i="1" dirty="0" smtClean="0">
                        <a:latin typeface="Cambria Math"/>
                      </a:rPr>
                      <m:t>𝑥</m:t>
                    </m:r>
                    <m:r>
                      <a:rPr lang="en-US" i="1" dirty="0" smtClean="0">
                        <a:latin typeface="Cambria Math"/>
                      </a:rPr>
                      <m:t> ∈ </m:t>
                    </m:r>
                    <m:r>
                      <a:rPr lang="en-US" i="1" dirty="0" smtClean="0">
                        <a:latin typeface="Cambria Math"/>
                      </a:rPr>
                      <m:t>𝐵</m:t>
                    </m:r>
                  </m:oMath>
                </a14:m>
                <a:r>
                  <a:rPr lang="en-US" dirty="0"/>
                  <a:t>). </a:t>
                </a:r>
              </a:p>
              <a:p>
                <a:pPr lvl="1"/>
                <a:r>
                  <a:rPr lang="en-US" dirty="0"/>
                  <a:t>We write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𝐴</m:t>
                    </m:r>
                    <m:r>
                      <a:rPr lang="en-US" i="1" dirty="0" smtClean="0">
                        <a:latin typeface="Cambria Math"/>
                      </a:rPr>
                      <m:t> = </m:t>
                    </m:r>
                    <m:r>
                      <a:rPr lang="en-US" i="1" dirty="0" smtClean="0">
                        <a:latin typeface="Cambria Math"/>
                      </a:rPr>
                      <m:t>𝐵</m:t>
                    </m:r>
                    <m:r>
                      <a:rPr lang="en-US" i="1" dirty="0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𝐴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𝐵</m:t>
                    </m:r>
                  </m:oMath>
                </a14:m>
                <a:r>
                  <a:rPr lang="en-US" dirty="0"/>
                  <a:t> are equal sets.</a:t>
                </a:r>
              </a:p>
              <a:p>
                <a:pPr lvl="1"/>
                <a:r>
                  <a:rPr lang="en-GB" dirty="0"/>
                  <a:t>The order of elements and the repetition of the same element in two sets don’t matter in order for them to be equal.</a:t>
                </a:r>
              </a:p>
              <a:p>
                <a:pPr lvl="1"/>
                <a:r>
                  <a:rPr lang="en-US" dirty="0"/>
                  <a:t>To show that two sets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𝐴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𝐵</m:t>
                    </m:r>
                  </m:oMath>
                </a14:m>
                <a:r>
                  <a:rPr lang="en-US" dirty="0"/>
                  <a:t> are equal, show that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𝐴</m:t>
                    </m:r>
                    <m:r>
                      <a:rPr lang="en-US" i="1" dirty="0" smtClean="0">
                        <a:latin typeface="Cambria Math"/>
                      </a:rPr>
                      <m:t> ⊆ </m:t>
                    </m:r>
                    <m:r>
                      <a:rPr lang="en-US" i="1" dirty="0" smtClean="0">
                        <a:latin typeface="Cambria Math"/>
                      </a:rPr>
                      <m:t>𝐵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𝐵</m:t>
                    </m:r>
                    <m:r>
                      <a:rPr lang="en-US" i="1" dirty="0" smtClean="0">
                        <a:latin typeface="Cambria Math"/>
                      </a:rPr>
                      <m:t> ⊆ </m:t>
                    </m:r>
                    <m:r>
                      <a:rPr lang="en-US" i="1" dirty="0" smtClean="0">
                        <a:latin typeface="Cambria Math"/>
                      </a:rPr>
                      <m:t>𝐴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593" t="-1111" r="-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234414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Equal Sets(Contd.)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GB" b="1" u="sng" dirty="0"/>
                  <a:t>Example 1:</a:t>
                </a:r>
              </a:p>
              <a:p>
                <a:pPr lvl="1"/>
                <a:r>
                  <a:rPr lang="en-US" dirty="0"/>
                  <a:t>The sets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/>
                          </a:rPr>
                          <m:t>1, 3, 5</m:t>
                        </m:r>
                      </m:e>
                    </m:d>
                    <m:r>
                      <a:rPr lang="en-GB" b="0" i="1" dirty="0" smtClean="0">
                        <a:latin typeface="Cambria Math"/>
                      </a:rPr>
                      <m:t> </m:t>
                    </m:r>
                    <m:r>
                      <a:rPr lang="en-US" i="1" dirty="0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dirty="0"/>
                  <a:t>and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/>
                          </a:rPr>
                          <m:t>3, 5, 1</m:t>
                        </m:r>
                      </m:e>
                    </m:d>
                    <m:r>
                      <a:rPr lang="en-US" i="1" dirty="0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dirty="0"/>
                  <a:t>are equal, because they have the same elements. </a:t>
                </a:r>
              </a:p>
              <a:p>
                <a:pPr lvl="1"/>
                <a:r>
                  <a:rPr lang="en-GB" dirty="0"/>
                  <a:t>Similarly, </a:t>
                </a:r>
                <a:r>
                  <a:rPr lang="en-US" dirty="0"/>
                  <a:t>the sets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{1, 3, 5} </m:t>
                    </m:r>
                  </m:oMath>
                </a14:m>
                <a:r>
                  <a:rPr lang="en-US" dirty="0"/>
                  <a:t>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{3, 5, 5, 5, 5, 1</m:t>
                    </m:r>
                    <m:r>
                      <a:rPr lang="en-US" i="1" dirty="0">
                        <a:latin typeface="Cambria Math"/>
                      </a:rPr>
                      <m:t>} </m:t>
                    </m:r>
                  </m:oMath>
                </a14:m>
                <a:r>
                  <a:rPr lang="en-US" dirty="0"/>
                  <a:t>are equal, because they have the same elements.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593" t="-1111" r="-11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049099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Empty &amp; Singleton Sets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GB" dirty="0"/>
                  <a:t>Empty Set</a:t>
                </a:r>
              </a:p>
              <a:p>
                <a:pPr lvl="1"/>
                <a:r>
                  <a:rPr lang="en-US" dirty="0"/>
                  <a:t>A special set that has no elements. This set is called the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𝑒𝑚𝑝𝑡𝑦</m:t>
                    </m:r>
                    <m:r>
                      <a:rPr lang="en-US" i="1" dirty="0" smtClean="0">
                        <a:latin typeface="Cambria Math"/>
                      </a:rPr>
                      <m:t> </m:t>
                    </m:r>
                    <m:r>
                      <a:rPr lang="en-US" i="1" dirty="0" smtClean="0">
                        <a:latin typeface="Cambria Math"/>
                      </a:rPr>
                      <m:t>𝑠𝑒𝑡</m:t>
                    </m:r>
                  </m:oMath>
                </a14:m>
                <a:r>
                  <a:rPr lang="en-US" dirty="0"/>
                  <a:t>, or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𝑛𝑢𝑙𝑙</m:t>
                    </m:r>
                    <m:r>
                      <a:rPr lang="en-US" i="1" dirty="0" smtClean="0">
                        <a:latin typeface="Cambria Math"/>
                      </a:rPr>
                      <m:t> </m:t>
                    </m:r>
                    <m:r>
                      <a:rPr lang="en-US" i="1" dirty="0" smtClean="0">
                        <a:latin typeface="Cambria Math"/>
                      </a:rPr>
                      <m:t>𝑠𝑒𝑡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It is denoted by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∅</m:t>
                    </m:r>
                  </m:oMath>
                </a14:m>
                <a:r>
                  <a:rPr lang="en-US" dirty="0"/>
                  <a:t> or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{ }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1"/>
                <a:endParaRPr lang="en-US" dirty="0"/>
              </a:p>
              <a:p>
                <a:r>
                  <a:rPr lang="en-US" dirty="0"/>
                  <a:t>Singleton Set</a:t>
                </a:r>
              </a:p>
              <a:p>
                <a:pPr lvl="1"/>
                <a:r>
                  <a:rPr lang="en-GB" dirty="0"/>
                  <a:t>A set with a single element is known as a singleton set.</a:t>
                </a:r>
              </a:p>
              <a:p>
                <a:pPr lvl="1"/>
                <a:endParaRPr lang="en-GB" dirty="0"/>
              </a:p>
              <a:p>
                <a:pPr marL="274320" lvl="1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593" t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955600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Empty &amp; Singleton Sets(Contd.)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endParaRPr lang="en-GB" sz="7200" i="1" dirty="0">
                  <a:latin typeface="Cambria Math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7200" i="1" dirty="0" smtClean="0">
                          <a:latin typeface="Cambria Math"/>
                        </a:rPr>
                        <m:t>𝐵𝑢𝑡</m:t>
                      </m:r>
                      <m:r>
                        <a:rPr lang="en-GB" sz="7200" i="1" dirty="0" smtClean="0">
                          <a:latin typeface="Cambria Math"/>
                        </a:rPr>
                        <m:t> </m:t>
                      </m:r>
                      <m:r>
                        <a:rPr lang="en-GB" sz="7200" i="1" dirty="0" smtClean="0">
                          <a:latin typeface="Cambria Math"/>
                        </a:rPr>
                        <m:t>𝑊𝐴𝐼𝑇</m:t>
                      </m:r>
                      <m:r>
                        <a:rPr lang="en-GB" sz="7200" i="1" dirty="0" smtClean="0">
                          <a:latin typeface="Cambria Math"/>
                        </a:rPr>
                        <m:t>!!!</m:t>
                      </m:r>
                    </m:oMath>
                  </m:oMathPara>
                </a14:m>
                <a:endParaRPr lang="en-US" sz="72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5556" t="-46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674264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Empty &amp; Singleton Sets(Contd.)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GB" dirty="0"/>
                  <a:t>Let,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/>
                      </a:rPr>
                      <m:t>𝐴</m:t>
                    </m:r>
                    <m:r>
                      <a:rPr lang="en-GB" i="1" dirty="0" smtClean="0">
                        <a:latin typeface="Cambria Math"/>
                      </a:rPr>
                      <m:t>= { }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/>
                      </a:rPr>
                      <m:t>𝐵</m:t>
                    </m:r>
                    <m:r>
                      <a:rPr lang="en-GB" i="1" dirty="0" smtClean="0">
                        <a:latin typeface="Cambria Math"/>
                      </a:rPr>
                      <m:t>={∅}</m:t>
                    </m:r>
                  </m:oMath>
                </a14:m>
                <a:r>
                  <a:rPr lang="en-GB" dirty="0"/>
                  <a:t>. Are both the sets empty?</a:t>
                </a:r>
              </a:p>
              <a:p>
                <a:endParaRPr lang="en-GB" dirty="0"/>
              </a:p>
              <a:p>
                <a:r>
                  <a:rPr lang="en-GB" dirty="0"/>
                  <a:t>The Answer is </a:t>
                </a:r>
                <a14:m>
                  <m:oMath xmlns:m="http://schemas.openxmlformats.org/officeDocument/2006/math">
                    <m:r>
                      <a:rPr lang="en-GB" b="1" i="1" dirty="0" smtClean="0">
                        <a:latin typeface="Cambria Math"/>
                      </a:rPr>
                      <m:t>𝑵𝑶</m:t>
                    </m:r>
                    <m:r>
                      <a:rPr lang="en-GB" b="1" i="0" dirty="0" smtClean="0">
                        <a:latin typeface="Cambria Math"/>
                      </a:rPr>
                      <m:t>.</m:t>
                    </m:r>
                  </m:oMath>
                </a14:m>
                <a:r>
                  <a:rPr lang="en-GB" b="1" dirty="0"/>
                  <a:t> </a:t>
                </a:r>
                <a:endParaRPr lang="en-GB" dirty="0"/>
              </a:p>
              <a:p>
                <a:pPr lvl="1"/>
                <a:r>
                  <a:rPr lang="en-GB" dirty="0"/>
                  <a:t>Because set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𝐵</m:t>
                    </m:r>
                  </m:oMath>
                </a14:m>
                <a:r>
                  <a:rPr lang="en-GB" dirty="0"/>
                  <a:t> has an element which is the empty element itself. Thus,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/>
                      </a:rPr>
                      <m:t>𝐵</m:t>
                    </m:r>
                  </m:oMath>
                </a14:m>
                <a:r>
                  <a:rPr lang="en-GB" dirty="0"/>
                  <a:t> is a singleton set and not an empty set.</a:t>
                </a:r>
              </a:p>
              <a:p>
                <a:pPr lvl="1"/>
                <a:endParaRPr lang="en-GB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593" t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862832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Venn Diagram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GB" dirty="0"/>
                  <a:t>Venn Diagram:</a:t>
                </a:r>
              </a:p>
              <a:p>
                <a:pPr lvl="1"/>
                <a:r>
                  <a:rPr lang="en-US" dirty="0"/>
                  <a:t>Graphical representation of sets.</a:t>
                </a:r>
              </a:p>
              <a:p>
                <a:pPr lvl="1"/>
                <a:r>
                  <a:rPr lang="en-US" dirty="0"/>
                  <a:t>In Venn diagrams the universal set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𝑈</m:t>
                    </m:r>
                  </m:oMath>
                </a14:m>
                <a:r>
                  <a:rPr lang="en-US" dirty="0"/>
                  <a:t>, which contains all the objects under consideration, is represented by a rectangle. </a:t>
                </a:r>
              </a:p>
              <a:p>
                <a:pPr lvl="1"/>
                <a:r>
                  <a:rPr lang="en-US" dirty="0"/>
                  <a:t>Inside this rectangle, circles or other geometrical ﬁgures are used to represent sets. </a:t>
                </a:r>
              </a:p>
              <a:p>
                <a:pPr lvl="1"/>
                <a:r>
                  <a:rPr lang="en-US" dirty="0"/>
                  <a:t>Sometimes points are used to represent the particular elements of the set.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593" t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680621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Subsets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GB" dirty="0"/>
                  <a:t>Subsets</a:t>
                </a:r>
              </a:p>
              <a:p>
                <a:pPr lvl="2"/>
                <a:r>
                  <a:rPr lang="en-US" dirty="0"/>
                  <a:t>The set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𝐴</m:t>
                    </m:r>
                  </m:oMath>
                </a14:m>
                <a:r>
                  <a:rPr lang="en-US" dirty="0"/>
                  <a:t> is a subset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𝐵</m:t>
                    </m:r>
                  </m:oMath>
                </a14:m>
                <a:r>
                  <a:rPr lang="en-US" dirty="0"/>
                  <a:t> if and only if every element of A is also an element of B. </a:t>
                </a:r>
              </a:p>
              <a:p>
                <a:pPr lvl="2"/>
                <a:r>
                  <a:rPr lang="en-US" dirty="0"/>
                  <a:t>The notation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𝐴</m:t>
                    </m:r>
                    <m:r>
                      <a:rPr lang="en-US" i="1" dirty="0" smtClean="0">
                        <a:latin typeface="Cambria Math"/>
                      </a:rPr>
                      <m:t> ⊆ </m:t>
                    </m:r>
                    <m:r>
                      <a:rPr lang="en-US" i="1" dirty="0" smtClean="0">
                        <a:latin typeface="Cambria Math"/>
                      </a:rPr>
                      <m:t>𝐵</m:t>
                    </m:r>
                    <m:r>
                      <a:rPr lang="en-US" i="1" dirty="0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dirty="0"/>
                  <a:t>is used to indicate that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𝐴</m:t>
                    </m:r>
                  </m:oMath>
                </a14:m>
                <a:r>
                  <a:rPr lang="en-US" dirty="0"/>
                  <a:t> is a subset of the set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𝐵</m:t>
                    </m:r>
                    <m:r>
                      <a:rPr lang="en-US" i="1" dirty="0" smtClean="0">
                        <a:latin typeface="Cambria Math"/>
                      </a:rPr>
                      <m:t>.</m:t>
                    </m:r>
                  </m:oMath>
                </a14:m>
                <a:endParaRPr lang="en-GB" dirty="0"/>
              </a:p>
              <a:p>
                <a:pPr lvl="1"/>
                <a:r>
                  <a:rPr lang="en-US" dirty="0"/>
                  <a:t>Showing that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𝐴</m:t>
                    </m:r>
                  </m:oMath>
                </a14:m>
                <a:r>
                  <a:rPr lang="en-US" dirty="0"/>
                  <a:t> is a Subset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𝐵</m:t>
                    </m:r>
                    <m:r>
                      <a:rPr lang="en-US" i="1" dirty="0" smtClean="0">
                        <a:latin typeface="Cambria Math"/>
                      </a:rPr>
                      <m:t> </m:t>
                    </m:r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To show that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𝐴</m:t>
                    </m:r>
                    <m:r>
                      <a:rPr lang="en-US" i="1" dirty="0" smtClean="0">
                        <a:latin typeface="Cambria Math"/>
                      </a:rPr>
                      <m:t> ⊆ </m:t>
                    </m:r>
                    <m:r>
                      <a:rPr lang="en-US" i="1" dirty="0" smtClean="0">
                        <a:latin typeface="Cambria Math"/>
                      </a:rPr>
                      <m:t>𝐵</m:t>
                    </m:r>
                  </m:oMath>
                </a14:m>
                <a:r>
                  <a:rPr lang="en-US" dirty="0"/>
                  <a:t>, show that if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US" dirty="0"/>
                  <a:t> belongs to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𝐴</m:t>
                    </m:r>
                    <m:r>
                      <a:rPr lang="en-US" i="1" dirty="0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dirty="0"/>
                  <a:t>then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US" dirty="0"/>
                  <a:t> also belongs to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𝐵</m:t>
                    </m:r>
                    <m:r>
                      <a:rPr lang="en-US" i="1" dirty="0" smtClean="0">
                        <a:latin typeface="Cambria Math"/>
                      </a:rPr>
                      <m:t>.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Showing that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𝐴</m:t>
                    </m:r>
                  </m:oMath>
                </a14:m>
                <a:r>
                  <a:rPr lang="en-US" dirty="0"/>
                  <a:t> is Not a Subset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𝐵</m:t>
                    </m:r>
                  </m:oMath>
                </a14:m>
                <a:r>
                  <a:rPr lang="en-US" dirty="0"/>
                  <a:t> </a:t>
                </a:r>
              </a:p>
              <a:p>
                <a:pPr lvl="2"/>
                <a:r>
                  <a:rPr lang="en-US" dirty="0"/>
                  <a:t>To show that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𝐴</m:t>
                    </m:r>
                    <m:r>
                      <a:rPr lang="en-US" i="1" dirty="0" smtClean="0">
                        <a:latin typeface="Cambria Math"/>
                      </a:rPr>
                      <m:t> ⊄ </m:t>
                    </m:r>
                    <m:r>
                      <a:rPr lang="en-US" i="1" dirty="0" smtClean="0">
                        <a:latin typeface="Cambria Math"/>
                      </a:rPr>
                      <m:t>𝐵</m:t>
                    </m:r>
                  </m:oMath>
                </a14:m>
                <a:r>
                  <a:rPr lang="en-US" dirty="0"/>
                  <a:t>, ﬁnd a single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𝑥</m:t>
                    </m:r>
                    <m:r>
                      <a:rPr lang="en-US" i="1" dirty="0" smtClean="0">
                        <a:latin typeface="Cambria Math"/>
                      </a:rPr>
                      <m:t> ∈ </m:t>
                    </m:r>
                    <m:r>
                      <a:rPr lang="en-US" i="1" dirty="0" smtClean="0">
                        <a:latin typeface="Cambria Math"/>
                      </a:rPr>
                      <m:t>𝐴</m:t>
                    </m:r>
                    <m:r>
                      <a:rPr lang="en-US" i="1" dirty="0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dirty="0"/>
                  <a:t>such that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𝑥</m:t>
                    </m:r>
                    <m:r>
                      <a:rPr lang="en-US" i="1" dirty="0" smtClean="0">
                        <a:latin typeface="Cambria Math"/>
                      </a:rPr>
                      <m:t> ∉ </m:t>
                    </m:r>
                    <m:r>
                      <a:rPr lang="en-US" i="1" dirty="0">
                        <a:latin typeface="Cambria Math"/>
                      </a:rPr>
                      <m:t>𝐵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Every nonempty set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𝑆</m:t>
                    </m:r>
                  </m:oMath>
                </a14:m>
                <a:r>
                  <a:rPr lang="en-US" dirty="0"/>
                  <a:t> is guaranteed to have at least two subsets, the empty set and the set S itself, that is,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∅⊆</m:t>
                    </m:r>
                    <m:r>
                      <a:rPr lang="en-US" i="1" dirty="0" smtClean="0">
                        <a:latin typeface="Cambria Math"/>
                      </a:rPr>
                      <m:t>𝑆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𝑆</m:t>
                    </m:r>
                    <m:r>
                      <a:rPr lang="en-US" i="1" dirty="0" smtClean="0">
                        <a:latin typeface="Cambria Math"/>
                      </a:rPr>
                      <m:t> ⊆ </m:t>
                    </m:r>
                    <m:r>
                      <a:rPr lang="en-US" i="1" dirty="0" smtClean="0">
                        <a:latin typeface="Cambria Math"/>
                      </a:rPr>
                      <m:t>𝑆</m:t>
                    </m:r>
                    <m:r>
                      <a:rPr lang="en-US" i="1" dirty="0" smtClean="0">
                        <a:latin typeface="Cambria Math"/>
                      </a:rPr>
                      <m:t>.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593" t="-1111" r="-444" b="-2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600904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dirty="0"/>
              <a:t>Cardinality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GB" dirty="0"/>
                  <a:t>Size of a set</a:t>
                </a:r>
              </a:p>
              <a:p>
                <a:pPr lvl="1"/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𝑆</m:t>
                    </m:r>
                  </m:oMath>
                </a14:m>
                <a:r>
                  <a:rPr lang="en-US" dirty="0"/>
                  <a:t> be a set. If there are exactly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𝑛</m:t>
                    </m:r>
                  </m:oMath>
                </a14:m>
                <a:r>
                  <a:rPr lang="en-US" dirty="0"/>
                  <a:t> distinct elements in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𝑆</m:t>
                    </m:r>
                  </m:oMath>
                </a14:m>
                <a:r>
                  <a:rPr lang="en-US" dirty="0"/>
                  <a:t> where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𝑛</m:t>
                    </m:r>
                  </m:oMath>
                </a14:m>
                <a:r>
                  <a:rPr lang="en-US" dirty="0"/>
                  <a:t> is a nonnegative integer, we say that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𝑆</m:t>
                    </m:r>
                  </m:oMath>
                </a14:m>
                <a:r>
                  <a:rPr lang="en-US" dirty="0"/>
                  <a:t> is a ﬁnite set and that n is the cardinality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𝑆</m:t>
                    </m:r>
                  </m:oMath>
                </a14:m>
                <a:r>
                  <a:rPr lang="en-US" dirty="0"/>
                  <a:t>. The cardinality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𝑆</m:t>
                    </m:r>
                  </m:oMath>
                </a14:m>
                <a:r>
                  <a:rPr lang="en-US" dirty="0"/>
                  <a:t> is denoted by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|</m:t>
                    </m:r>
                    <m:r>
                      <a:rPr lang="en-US" i="1" dirty="0" smtClean="0">
                        <a:latin typeface="Cambria Math"/>
                      </a:rPr>
                      <m:t>𝑆</m:t>
                    </m:r>
                    <m:r>
                      <a:rPr lang="en-US" i="1" dirty="0" smtClean="0">
                        <a:latin typeface="Cambria Math"/>
                      </a:rPr>
                      <m:t>|</m:t>
                    </m:r>
                  </m:oMath>
                </a14:m>
                <a:r>
                  <a:rPr lang="en-US" dirty="0"/>
                  <a:t>.</a:t>
                </a:r>
              </a:p>
              <a:p>
                <a:endParaRPr lang="en-GB" dirty="0"/>
              </a:p>
              <a:p>
                <a:r>
                  <a:rPr lang="en-GB" b="1" u="sng" dirty="0"/>
                  <a:t>Example:</a:t>
                </a:r>
              </a:p>
              <a:p>
                <a:pPr lvl="1"/>
                <a:r>
                  <a:rPr lang="en-US" dirty="0"/>
                  <a:t>Let A be the set of odd positive integers less than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10</m:t>
                    </m:r>
                  </m:oMath>
                </a14:m>
                <a:r>
                  <a:rPr lang="en-US" dirty="0"/>
                  <a:t>. Then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|</m:t>
                    </m:r>
                    <m:r>
                      <a:rPr lang="en-US" i="1" dirty="0" smtClean="0">
                        <a:latin typeface="Cambria Math"/>
                      </a:rPr>
                      <m:t>𝐴</m:t>
                    </m:r>
                    <m:r>
                      <a:rPr lang="en-US" i="1" dirty="0" smtClean="0">
                        <a:latin typeface="Cambria Math"/>
                      </a:rPr>
                      <m:t>|=5.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593" t="-1111" r="-14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036140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Power Sets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GB" dirty="0"/>
                  <a:t>Power Sets</a:t>
                </a:r>
              </a:p>
              <a:p>
                <a:pPr lvl="1"/>
                <a:r>
                  <a:rPr lang="en-US" dirty="0"/>
                  <a:t>Given a set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𝑆</m:t>
                    </m:r>
                  </m:oMath>
                </a14:m>
                <a:r>
                  <a:rPr lang="en-US" dirty="0"/>
                  <a:t>, the power set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𝑆</m:t>
                    </m:r>
                  </m:oMath>
                </a14:m>
                <a:r>
                  <a:rPr lang="en-US" dirty="0"/>
                  <a:t> is the set of all subsets of the set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𝑆</m:t>
                    </m:r>
                  </m:oMath>
                </a14:m>
                <a:r>
                  <a:rPr lang="en-US" dirty="0"/>
                  <a:t>. The power set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𝑆</m:t>
                    </m:r>
                  </m:oMath>
                </a14:m>
                <a:r>
                  <a:rPr lang="en-US" dirty="0"/>
                  <a:t> is denoted by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𝑃</m:t>
                    </m:r>
                    <m:r>
                      <a:rPr lang="en-US" i="1" dirty="0" smtClean="0">
                        <a:latin typeface="Cambria Math"/>
                      </a:rPr>
                      <m:t>(</m:t>
                    </m:r>
                    <m:r>
                      <a:rPr lang="en-US" i="1" dirty="0" smtClean="0">
                        <a:latin typeface="Cambria Math"/>
                      </a:rPr>
                      <m:t>𝑆</m:t>
                    </m:r>
                    <m:r>
                      <a:rPr lang="en-US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1"/>
                <a:r>
                  <a:rPr lang="en-GB" dirty="0"/>
                  <a:t>The cardinality of a power set of any set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/>
                      </a:rPr>
                      <m:t>𝐴</m:t>
                    </m:r>
                  </m:oMath>
                </a14:m>
                <a:r>
                  <a:rPr lang="en-US" dirty="0"/>
                  <a:t> 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GB" b="0" i="1" smtClean="0">
                            <a:latin typeface="Cambria Math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/>
                  <a:t>, where,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𝑛</m:t>
                    </m:r>
                  </m:oMath>
                </a14:m>
                <a:r>
                  <a:rPr lang="en-US" dirty="0"/>
                  <a:t> is the cardinality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𝐴</m:t>
                    </m:r>
                    <m:r>
                      <a:rPr lang="en-GB" b="0" i="1" dirty="0" smtClean="0">
                        <a:latin typeface="Cambria Math"/>
                      </a:rPr>
                      <m:t>.</m:t>
                    </m:r>
                  </m:oMath>
                </a14:m>
                <a:r>
                  <a:rPr lang="en-US" dirty="0"/>
                  <a:t> </a:t>
                </a:r>
              </a:p>
              <a:p>
                <a:pPr lvl="1"/>
                <a:r>
                  <a:rPr lang="en-US" dirty="0"/>
                  <a:t>Note that the empty set and the set itself are members of the set of subsets.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593" t="-1111" r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178697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Power Sets(Contd.)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GB" b="1" u="sng" dirty="0"/>
                  <a:t>Example 1:</a:t>
                </a:r>
              </a:p>
              <a:p>
                <a:pPr lvl="1"/>
                <a:r>
                  <a:rPr lang="en-US" dirty="0"/>
                  <a:t>What is the power set of the set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{0, 1, 2}?</m:t>
                    </m:r>
                  </m:oMath>
                </a14:m>
                <a:endParaRPr lang="en-US" dirty="0"/>
              </a:p>
              <a:p>
                <a:pPr lvl="1"/>
                <a:endParaRPr lang="en-GB" dirty="0"/>
              </a:p>
              <a:p>
                <a:r>
                  <a:rPr lang="en-GB" b="1" u="sng" dirty="0"/>
                  <a:t>Solution:</a:t>
                </a:r>
              </a:p>
              <a:p>
                <a:pPr lvl="1"/>
                <a:r>
                  <a:rPr lang="en-US" dirty="0"/>
                  <a:t>The power set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𝑃</m:t>
                    </m:r>
                    <m:r>
                      <a:rPr lang="en-US" i="1" dirty="0">
                        <a:latin typeface="Cambria Math"/>
                      </a:rPr>
                      <m:t>({0, 1, 2})</m:t>
                    </m:r>
                  </m:oMath>
                </a14:m>
                <a:r>
                  <a:rPr lang="en-US" dirty="0"/>
                  <a:t> is the set of all subsets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{0, 1, 2}</m:t>
                    </m:r>
                  </m:oMath>
                </a14:m>
                <a:r>
                  <a:rPr lang="en-US" dirty="0"/>
                  <a:t>. Hence,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𝑃</m:t>
                    </m:r>
                    <m:r>
                      <a:rPr lang="en-US" i="1" dirty="0">
                        <a:latin typeface="Cambria Math"/>
                      </a:rPr>
                      <m:t>({0, 1, 2}) ={∅, {0}, {1}, {2}, {0, 1}, {0, 2}, {1, 2}, {0, 1, 2}}.</m:t>
                    </m:r>
                  </m:oMath>
                </a14:m>
                <a:endParaRPr lang="en-US" dirty="0"/>
              </a:p>
              <a:p>
                <a:pPr marL="274320" lvl="1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593" t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809656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Power Sets(Contd.)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GB" b="1" u="sng" dirty="0"/>
                  <a:t>Example 2:</a:t>
                </a:r>
              </a:p>
              <a:p>
                <a:pPr lvl="1"/>
                <a:r>
                  <a:rPr lang="en-US" dirty="0"/>
                  <a:t>What is the power set of the empty set? What is the power set of the set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{∅}</m:t>
                    </m:r>
                  </m:oMath>
                </a14:m>
                <a:r>
                  <a:rPr lang="en-US" dirty="0"/>
                  <a:t>?</a:t>
                </a:r>
              </a:p>
              <a:p>
                <a:endParaRPr lang="en-GB" dirty="0"/>
              </a:p>
              <a:p>
                <a:r>
                  <a:rPr lang="en-GB" b="1" u="sng" dirty="0"/>
                  <a:t>Solution:</a:t>
                </a:r>
              </a:p>
              <a:p>
                <a:pPr lvl="1"/>
                <a:r>
                  <a:rPr lang="en-US" dirty="0"/>
                  <a:t>The empty set has exactly one subset, namely, itself. Consequently,</a:t>
                </a:r>
              </a:p>
              <a:p>
                <a:pPr marL="27432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/>
                        </a:rPr>
                        <m:t>𝑃</m:t>
                      </m:r>
                      <m:r>
                        <a:rPr lang="en-US" i="1" dirty="0" smtClean="0">
                          <a:latin typeface="Cambria Math"/>
                        </a:rPr>
                        <m:t>(∅) = {∅}.</m:t>
                      </m:r>
                    </m:oMath>
                  </m:oMathPara>
                </a14:m>
                <a:endParaRPr lang="en-US" dirty="0"/>
              </a:p>
              <a:p>
                <a:pPr lvl="1"/>
                <a:r>
                  <a:rPr lang="en-US" dirty="0"/>
                  <a:t>The set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{∅}</m:t>
                    </m:r>
                  </m:oMath>
                </a14:m>
                <a:r>
                  <a:rPr lang="en-US" dirty="0"/>
                  <a:t> has exactly two subsets, namely,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∅</m:t>
                    </m:r>
                  </m:oMath>
                </a14:m>
                <a:r>
                  <a:rPr lang="en-US" dirty="0"/>
                  <a:t> and the set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{∅}</m:t>
                    </m:r>
                  </m:oMath>
                </a14:m>
                <a:r>
                  <a:rPr lang="en-US" dirty="0"/>
                  <a:t> itself. Therefore,</a:t>
                </a:r>
              </a:p>
              <a:p>
                <a:pPr marL="27432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/>
                        </a:rPr>
                        <m:t>𝑃</m:t>
                      </m:r>
                      <m:r>
                        <a:rPr lang="en-US" i="1" dirty="0" smtClean="0">
                          <a:latin typeface="Cambria Math"/>
                        </a:rPr>
                        <m:t>({∅}) ={∅, {∅}}.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593" t="-1111" r="-1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672322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Ordered Pairs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The ordered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𝑛</m:t>
                    </m:r>
                    <m:r>
                      <a:rPr lang="en-US" i="1" dirty="0" smtClean="0">
                        <a:latin typeface="Cambria Math"/>
                      </a:rPr>
                      <m:t>−</m:t>
                    </m:r>
                    <m:r>
                      <a:rPr lang="en-US" i="1" dirty="0" smtClean="0">
                        <a:latin typeface="Cambria Math"/>
                      </a:rPr>
                      <m:t>𝑡𝑢𝑝𝑙𝑒</m:t>
                    </m:r>
                    <m:r>
                      <a:rPr lang="en-US" i="1" dirty="0" smtClean="0">
                        <a:latin typeface="Cambria Math"/>
                      </a:rPr>
                      <m:t> (</m:t>
                    </m:r>
                    <m:sSub>
                      <m:sSub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i="1" dirty="0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i="1" dirty="0" smtClean="0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i="1" dirty="0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i="1" dirty="0" smtClean="0">
                        <a:latin typeface="Cambria Math"/>
                      </a:rPr>
                      <m:t>,…,</m:t>
                    </m:r>
                    <m:sSub>
                      <m:sSub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i="1" dirty="0" smtClean="0">
                            <a:latin typeface="Cambria Math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/>
                  <a:t>) is the ordered collection that has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GB" b="0" i="1" dirty="0" smtClean="0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as its ﬁrst element,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i="1" dirty="0" smtClean="0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as its second element,...,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i="1" dirty="0" smtClean="0">
                            <a:latin typeface="Cambria Math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/>
                  <a:t> as its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/>
                          </a:rPr>
                          <m:t>𝑛</m:t>
                        </m:r>
                      </m:e>
                      <m:sup>
                        <m:r>
                          <a:rPr lang="en-US" i="1" dirty="0" smtClean="0">
                            <a:latin typeface="Cambria Math"/>
                          </a:rPr>
                          <m:t>𝑡h</m:t>
                        </m:r>
                      </m:sup>
                    </m:sSup>
                  </m:oMath>
                </a14:m>
                <a:r>
                  <a:rPr lang="en-US" dirty="0"/>
                  <a:t> element.</a:t>
                </a:r>
              </a:p>
              <a:p>
                <a:r>
                  <a:rPr lang="en-US" dirty="0"/>
                  <a:t>We say that two ordered n-tuples are equal if and only if each corresponding pair of their elements is equal. </a:t>
                </a:r>
              </a:p>
              <a:p>
                <a:pPr lvl="1"/>
                <a:r>
                  <a:rPr lang="en-US" dirty="0"/>
                  <a:t>In other words,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i="1" dirty="0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i="1" dirty="0" smtClean="0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i="1" dirty="0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i="1" dirty="0" smtClean="0">
                        <a:latin typeface="Cambria Math"/>
                      </a:rPr>
                      <m:t>,…,</m:t>
                    </m:r>
                    <m:sSub>
                      <m:sSub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i="1" dirty="0" smtClean="0">
                            <a:latin typeface="Cambria Math"/>
                          </a:rPr>
                          <m:t>𝑛</m:t>
                        </m:r>
                      </m:sub>
                    </m:sSub>
                    <m:r>
                      <a:rPr lang="en-US" i="1" dirty="0" smtClean="0">
                        <a:latin typeface="Cambria Math"/>
                      </a:rPr>
                      <m:t>) </m:t>
                    </m:r>
                    <m:r>
                      <a:rPr lang="en-US" i="1" dirty="0">
                        <a:latin typeface="Cambria Math"/>
                      </a:rPr>
                      <m:t>= (</m:t>
                    </m:r>
                    <m:sSub>
                      <m:sSub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/>
                          </a:rPr>
                          <m:t>𝑏</m:t>
                        </m:r>
                      </m:e>
                      <m:sub>
                        <m:r>
                          <a:rPr lang="en-US" i="1" dirty="0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i="1" dirty="0" smtClean="0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/>
                          </a:rPr>
                          <m:t>𝑏</m:t>
                        </m:r>
                      </m:e>
                      <m:sub>
                        <m:r>
                          <a:rPr lang="en-US" i="1" dirty="0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i="1" dirty="0" smtClean="0">
                        <a:latin typeface="Cambria Math"/>
                      </a:rPr>
                      <m:t>,…,</m:t>
                    </m:r>
                    <m:sSub>
                      <m:sSub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err="1" smtClean="0">
                            <a:latin typeface="Cambria Math"/>
                          </a:rPr>
                          <m:t>𝑏</m:t>
                        </m:r>
                      </m:e>
                      <m:sub>
                        <m:r>
                          <a:rPr lang="en-US" i="1" dirty="0" err="1" smtClean="0">
                            <a:latin typeface="Cambria Math"/>
                          </a:rPr>
                          <m:t>𝑛</m:t>
                        </m:r>
                      </m:sub>
                    </m:sSub>
                    <m:r>
                      <a:rPr lang="en-US" i="1" dirty="0" smtClean="0">
                        <a:latin typeface="Cambria Math"/>
                      </a:rPr>
                      <m:t>) </m:t>
                    </m:r>
                  </m:oMath>
                </a14:m>
                <a:r>
                  <a:rPr lang="en-US" dirty="0"/>
                  <a:t>if and only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GB" b="0" i="1" dirty="0" smtClean="0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GB" b="0" i="1" dirty="0" smtClean="0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dirty="0" smtClean="0">
                            <a:latin typeface="Cambria Math"/>
                          </a:rPr>
                          <m:t>𝑏</m:t>
                        </m:r>
                      </m:e>
                      <m:sub>
                        <m:r>
                          <a:rPr lang="en-GB" b="0" i="1" dirty="0" smtClean="0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,for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𝑖</m:t>
                    </m:r>
                    <m:r>
                      <a:rPr lang="en-US" i="1" dirty="0" smtClean="0">
                        <a:latin typeface="Cambria Math"/>
                      </a:rPr>
                      <m:t> = 1, 2,…,</m:t>
                    </m:r>
                    <m:r>
                      <a:rPr lang="en-US" i="1" dirty="0" smtClean="0">
                        <a:latin typeface="Cambria Math"/>
                      </a:rPr>
                      <m:t>𝑛</m:t>
                    </m:r>
                  </m:oMath>
                </a14:m>
                <a:r>
                  <a:rPr lang="en-US" dirty="0"/>
                  <a:t>. </a:t>
                </a:r>
              </a:p>
              <a:p>
                <a:r>
                  <a:rPr lang="en-US" dirty="0"/>
                  <a:t>In particular, ordered 2-tuples are called ordered pairs.</a:t>
                </a:r>
              </a:p>
              <a:p>
                <a:pPr lvl="1"/>
                <a:r>
                  <a:rPr lang="en-US" dirty="0"/>
                  <a:t>The ordered pairs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(</m:t>
                    </m:r>
                    <m:r>
                      <a:rPr lang="en-US" i="1" dirty="0" smtClean="0">
                        <a:latin typeface="Cambria Math"/>
                      </a:rPr>
                      <m:t>𝑎</m:t>
                    </m:r>
                    <m:r>
                      <a:rPr lang="en-US" i="1" dirty="0">
                        <a:latin typeface="Cambria Math"/>
                      </a:rPr>
                      <m:t>, </m:t>
                    </m:r>
                    <m:r>
                      <a:rPr lang="en-US" i="1" dirty="0">
                        <a:latin typeface="Cambria Math"/>
                      </a:rPr>
                      <m:t>𝑏</m:t>
                    </m:r>
                    <m:r>
                      <a:rPr lang="en-US" i="1" dirty="0">
                        <a:latin typeface="Cambria Math"/>
                      </a:rPr>
                      <m:t>) </m:t>
                    </m:r>
                  </m:oMath>
                </a14:m>
                <a:r>
                  <a:rPr lang="en-US" dirty="0"/>
                  <a:t>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(</m:t>
                    </m:r>
                    <m:r>
                      <a:rPr lang="en-US" i="1" dirty="0" smtClean="0">
                        <a:latin typeface="Cambria Math"/>
                      </a:rPr>
                      <m:t>𝑐</m:t>
                    </m:r>
                    <m:r>
                      <a:rPr lang="en-US" i="1" dirty="0" smtClean="0">
                        <a:latin typeface="Cambria Math"/>
                      </a:rPr>
                      <m:t>, </m:t>
                    </m:r>
                    <m:r>
                      <a:rPr lang="en-US" i="1" dirty="0" smtClean="0">
                        <a:latin typeface="Cambria Math"/>
                      </a:rPr>
                      <m:t>𝑑</m:t>
                    </m:r>
                    <m:r>
                      <a:rPr lang="en-US" i="1" dirty="0" smtClean="0">
                        <a:latin typeface="Cambria Math"/>
                      </a:rPr>
                      <m:t>) </m:t>
                    </m:r>
                  </m:oMath>
                </a14:m>
                <a:r>
                  <a:rPr lang="en-US" dirty="0"/>
                  <a:t>are equal if and only if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𝑎</m:t>
                    </m:r>
                    <m:r>
                      <a:rPr lang="en-US" i="1" dirty="0" smtClean="0">
                        <a:latin typeface="Cambria Math"/>
                      </a:rPr>
                      <m:t> = </m:t>
                    </m:r>
                    <m:r>
                      <a:rPr lang="en-US" i="1" dirty="0" smtClean="0">
                        <a:latin typeface="Cambria Math"/>
                      </a:rPr>
                      <m:t>𝑐</m:t>
                    </m:r>
                    <m:r>
                      <a:rPr lang="en-US" i="1" dirty="0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dirty="0"/>
                  <a:t>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𝑏</m:t>
                    </m:r>
                    <m:r>
                      <a:rPr lang="en-US" i="1" dirty="0" smtClean="0">
                        <a:latin typeface="Cambria Math"/>
                      </a:rPr>
                      <m:t> = </m:t>
                    </m:r>
                    <m:r>
                      <a:rPr lang="en-US" i="1" dirty="0" smtClean="0">
                        <a:latin typeface="Cambria Math"/>
                      </a:rPr>
                      <m:t>𝑑</m:t>
                    </m:r>
                  </m:oMath>
                </a14:m>
                <a:r>
                  <a:rPr lang="en-US" dirty="0"/>
                  <a:t>. Note that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(</m:t>
                    </m:r>
                    <m:r>
                      <a:rPr lang="en-US" i="1" dirty="0" smtClean="0">
                        <a:latin typeface="Cambria Math"/>
                      </a:rPr>
                      <m:t>𝑎</m:t>
                    </m:r>
                    <m:r>
                      <a:rPr lang="en-US" i="1" dirty="0" smtClean="0">
                        <a:latin typeface="Cambria Math"/>
                      </a:rPr>
                      <m:t>, </m:t>
                    </m:r>
                    <m:r>
                      <a:rPr lang="en-US" i="1" dirty="0" smtClean="0">
                        <a:latin typeface="Cambria Math"/>
                      </a:rPr>
                      <m:t>𝑏</m:t>
                    </m:r>
                    <m:r>
                      <a:rPr lang="en-US" i="1" dirty="0" smtClean="0">
                        <a:latin typeface="Cambria Math"/>
                      </a:rPr>
                      <m:t>) </m:t>
                    </m:r>
                  </m:oMath>
                </a14:m>
                <a:r>
                  <a:rPr lang="en-US" dirty="0"/>
                  <a:t>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(</m:t>
                    </m:r>
                    <m:r>
                      <a:rPr lang="en-US" i="1" dirty="0" smtClean="0">
                        <a:latin typeface="Cambria Math"/>
                      </a:rPr>
                      <m:t>𝑏</m:t>
                    </m:r>
                    <m:r>
                      <a:rPr lang="en-US" i="1" dirty="0" smtClean="0">
                        <a:latin typeface="Cambria Math"/>
                      </a:rPr>
                      <m:t>, </m:t>
                    </m:r>
                    <m:r>
                      <a:rPr lang="en-US" i="1" dirty="0" smtClean="0">
                        <a:latin typeface="Cambria Math"/>
                      </a:rPr>
                      <m:t>𝑎</m:t>
                    </m:r>
                    <m:r>
                      <a:rPr lang="en-US" i="1" dirty="0" smtClean="0">
                        <a:latin typeface="Cambria Math"/>
                      </a:rPr>
                      <m:t>) </m:t>
                    </m:r>
                  </m:oMath>
                </a14:m>
                <a:r>
                  <a:rPr lang="en-US" dirty="0"/>
                  <a:t>are not equal unless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𝑎</m:t>
                    </m:r>
                    <m:r>
                      <a:rPr lang="en-US" i="1" dirty="0" smtClean="0">
                        <a:latin typeface="Cambria Math"/>
                      </a:rPr>
                      <m:t> = </m:t>
                    </m:r>
                    <m:r>
                      <a:rPr lang="en-US" i="1" dirty="0" smtClean="0">
                        <a:latin typeface="Cambria Math"/>
                      </a:rPr>
                      <m:t>𝑏</m:t>
                    </m:r>
                    <m:r>
                      <a:rPr lang="en-US" i="1" dirty="0" smtClean="0">
                        <a:latin typeface="Cambria Math"/>
                      </a:rPr>
                      <m:t>.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593" t="-1111" r="-14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15918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Ordered Pairs(Contd.)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GB" b="1" u="sng" dirty="0"/>
                  <a:t>Example 1:</a:t>
                </a:r>
              </a:p>
              <a:p>
                <a:pPr lvl="1"/>
                <a:r>
                  <a:rPr lang="en-US" dirty="0"/>
                  <a:t>What are the ordered pairs in the set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𝑅</m:t>
                    </m:r>
                    <m:r>
                      <a:rPr lang="en-GB" b="0" i="1" dirty="0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dirty="0"/>
                  <a:t>having the less than or equal to relation, which contains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(</m:t>
                    </m:r>
                    <m:r>
                      <a:rPr lang="en-US" i="1" dirty="0" smtClean="0">
                        <a:latin typeface="Cambria Math"/>
                      </a:rPr>
                      <m:t>𝑎</m:t>
                    </m:r>
                    <m:r>
                      <a:rPr lang="en-US" i="1" dirty="0" smtClean="0">
                        <a:latin typeface="Cambria Math"/>
                      </a:rPr>
                      <m:t>, </m:t>
                    </m:r>
                    <m:r>
                      <a:rPr lang="en-US" i="1" dirty="0" smtClean="0">
                        <a:latin typeface="Cambria Math"/>
                      </a:rPr>
                      <m:t>𝑏</m:t>
                    </m:r>
                    <m:r>
                      <a:rPr lang="en-US" i="1" dirty="0" smtClean="0">
                        <a:latin typeface="Cambria Math"/>
                      </a:rPr>
                      <m:t>) </m:t>
                    </m:r>
                  </m:oMath>
                </a14:m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𝑎</m:t>
                    </m:r>
                    <m:r>
                      <a:rPr lang="en-US" i="1" dirty="0" smtClean="0">
                        <a:latin typeface="Cambria Math"/>
                      </a:rPr>
                      <m:t> ≤</m:t>
                    </m:r>
                    <m:r>
                      <a:rPr lang="en-GB" b="0" i="1" dirty="0" smtClean="0">
                        <a:latin typeface="Cambria Math"/>
                      </a:rPr>
                      <m:t>𝑏</m:t>
                    </m:r>
                  </m:oMath>
                </a14:m>
                <a:r>
                  <a:rPr lang="en-US" dirty="0"/>
                  <a:t>, on the set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{0, 1, 2, 3}?</m:t>
                    </m:r>
                  </m:oMath>
                </a14:m>
                <a:endParaRPr lang="en-US" dirty="0"/>
              </a:p>
              <a:p>
                <a:pPr lvl="1"/>
                <a:endParaRPr lang="en-GB" dirty="0"/>
              </a:p>
              <a:p>
                <a:r>
                  <a:rPr lang="en-GB" b="1" u="sng" dirty="0"/>
                  <a:t>Solution:</a:t>
                </a:r>
              </a:p>
              <a:p>
                <a:pPr marL="594360" lvl="2" indent="0">
                  <a:buNone/>
                </a:pPr>
                <a:r>
                  <a:rPr lang="en-US" dirty="0"/>
                  <a:t>The ordered pair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(</m:t>
                    </m:r>
                    <m:r>
                      <a:rPr lang="en-US" i="1" dirty="0" smtClean="0">
                        <a:latin typeface="Cambria Math"/>
                      </a:rPr>
                      <m:t>𝑎</m:t>
                    </m:r>
                    <m:r>
                      <a:rPr lang="en-US" i="1" dirty="0" smtClean="0">
                        <a:latin typeface="Cambria Math"/>
                      </a:rPr>
                      <m:t>, </m:t>
                    </m:r>
                    <m:r>
                      <a:rPr lang="en-US" i="1" dirty="0" smtClean="0">
                        <a:latin typeface="Cambria Math"/>
                      </a:rPr>
                      <m:t>𝑏</m:t>
                    </m:r>
                    <m:r>
                      <a:rPr lang="en-US" i="1" dirty="0" smtClean="0">
                        <a:latin typeface="Cambria Math"/>
                      </a:rPr>
                      <m:t>) </m:t>
                    </m:r>
                  </m:oMath>
                </a14:m>
                <a:r>
                  <a:rPr lang="en-US" dirty="0"/>
                  <a:t>belongs to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𝑅</m:t>
                    </m:r>
                  </m:oMath>
                </a14:m>
                <a:r>
                  <a:rPr lang="en-US" dirty="0"/>
                  <a:t> if and only if both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𝑎</m:t>
                    </m:r>
                  </m:oMath>
                </a14:m>
                <a:r>
                  <a:rPr lang="en-US" dirty="0"/>
                  <a:t> and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 </m:t>
                    </m:r>
                    <m:r>
                      <a:rPr lang="en-US" i="1" dirty="0" smtClean="0">
                        <a:latin typeface="Cambria Math"/>
                      </a:rPr>
                      <m:t>𝑏</m:t>
                    </m:r>
                    <m:r>
                      <a:rPr lang="en-US" i="1" dirty="0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dirty="0"/>
                  <a:t>belong to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{0, 1, 2, 3}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 </m:t>
                    </m:r>
                    <m:r>
                      <a:rPr lang="en-US" i="1" dirty="0" smtClean="0">
                        <a:latin typeface="Cambria Math"/>
                      </a:rPr>
                      <m:t>𝑎</m:t>
                    </m:r>
                    <m:r>
                      <a:rPr lang="en-US" i="1" dirty="0" smtClean="0">
                        <a:latin typeface="Cambria Math"/>
                      </a:rPr>
                      <m:t> ≤ </m:t>
                    </m:r>
                    <m:r>
                      <a:rPr lang="en-US" i="1" dirty="0" smtClean="0">
                        <a:latin typeface="Cambria Math"/>
                      </a:rPr>
                      <m:t>𝑏</m:t>
                    </m:r>
                  </m:oMath>
                </a14:m>
                <a:r>
                  <a:rPr lang="en-US" dirty="0"/>
                  <a:t>. Consequently, the ordered pairs in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𝑅</m:t>
                    </m:r>
                  </m:oMath>
                </a14:m>
                <a:r>
                  <a:rPr lang="en-US" dirty="0"/>
                  <a:t> are </a:t>
                </a:r>
                <a:endParaRPr lang="en-GB" i="1" dirty="0">
                  <a:latin typeface="Cambria Math"/>
                </a:endParaRPr>
              </a:p>
              <a:p>
                <a:pPr marL="594360" lvl="2" indent="0">
                  <a:buNone/>
                </a:pPr>
                <a:endParaRPr lang="en-GB" i="1" dirty="0">
                  <a:latin typeface="Cambria Math"/>
                </a:endParaRPr>
              </a:p>
              <a:p>
                <a:pPr marL="594360" lvl="2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/>
                        </a:rPr>
                        <m:t>(0,0), (0,1), (0,2), (0,3), (1,1), (1,2), (1,3),(2,2), (2, 3), </m:t>
                      </m:r>
                      <m:r>
                        <a:rPr lang="en-US" i="1" dirty="0" smtClean="0">
                          <a:latin typeface="Cambria Math"/>
                        </a:rPr>
                        <m:t>𝑎𝑛𝑑</m:t>
                      </m:r>
                      <m:r>
                        <a:rPr lang="en-US" i="1" dirty="0" smtClean="0">
                          <a:latin typeface="Cambria Math"/>
                        </a:rPr>
                        <m:t> (3, 3).</m:t>
                      </m:r>
                    </m:oMath>
                  </m:oMathPara>
                </a14:m>
                <a:endParaRPr lang="en-US" dirty="0"/>
              </a:p>
              <a:p>
                <a:pPr marL="594360" lvl="2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593" t="-1111" r="-1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327498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Cartesian Products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𝐴</m:t>
                    </m:r>
                  </m:oMath>
                </a14:m>
                <a:r>
                  <a:rPr lang="en-US" dirty="0"/>
                  <a:t> and B be two sets. </a:t>
                </a:r>
              </a:p>
              <a:p>
                <a:r>
                  <a:rPr lang="en-US" dirty="0"/>
                  <a:t>The Cartesian product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𝐴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𝐵</m:t>
                    </m:r>
                  </m:oMath>
                </a14:m>
                <a:r>
                  <a:rPr lang="en-US" dirty="0"/>
                  <a:t>, denoted by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𝐴</m:t>
                    </m:r>
                    <m:r>
                      <a:rPr lang="en-US" i="1" dirty="0" smtClean="0">
                        <a:latin typeface="Cambria Math"/>
                      </a:rPr>
                      <m:t> × </m:t>
                    </m:r>
                    <m:r>
                      <a:rPr lang="en-US" i="1" dirty="0" smtClean="0">
                        <a:latin typeface="Cambria Math"/>
                      </a:rPr>
                      <m:t>𝐵</m:t>
                    </m:r>
                  </m:oMath>
                </a14:m>
                <a:r>
                  <a:rPr lang="en-US" dirty="0"/>
                  <a:t>, is the set of all ordered pairs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(</m:t>
                    </m:r>
                    <m:r>
                      <a:rPr lang="en-US" i="1" dirty="0" smtClean="0">
                        <a:latin typeface="Cambria Math"/>
                      </a:rPr>
                      <m:t>𝑎</m:t>
                    </m:r>
                    <m:r>
                      <a:rPr lang="en-US" i="1" dirty="0" smtClean="0">
                        <a:latin typeface="Cambria Math"/>
                      </a:rPr>
                      <m:t>, </m:t>
                    </m:r>
                    <m:r>
                      <a:rPr lang="en-US" i="1" dirty="0" smtClean="0">
                        <a:latin typeface="Cambria Math"/>
                      </a:rPr>
                      <m:t>𝑏</m:t>
                    </m:r>
                    <m:r>
                      <a:rPr lang="en-US" i="1" dirty="0" smtClean="0">
                        <a:latin typeface="Cambria Math"/>
                      </a:rPr>
                      <m:t>), </m:t>
                    </m:r>
                  </m:oMath>
                </a14:m>
                <a:r>
                  <a:rPr lang="en-US" dirty="0"/>
                  <a:t>where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𝑎</m:t>
                    </m:r>
                    <m:r>
                      <a:rPr lang="en-US" i="1" dirty="0" smtClean="0">
                        <a:latin typeface="Cambria Math"/>
                      </a:rPr>
                      <m:t> ∈ </m:t>
                    </m:r>
                    <m:r>
                      <a:rPr lang="en-US" i="1" dirty="0" smtClean="0">
                        <a:latin typeface="Cambria Math"/>
                      </a:rPr>
                      <m:t>𝐴</m:t>
                    </m:r>
                    <m:r>
                      <a:rPr lang="en-US" i="1" dirty="0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dirty="0"/>
                  <a:t>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𝑏</m:t>
                    </m:r>
                    <m:r>
                      <a:rPr lang="en-US" i="1" dirty="0" smtClean="0">
                        <a:latin typeface="Cambria Math"/>
                      </a:rPr>
                      <m:t> ∈ </m:t>
                    </m:r>
                    <m:r>
                      <a:rPr lang="en-US" i="1" dirty="0" smtClean="0">
                        <a:latin typeface="Cambria Math"/>
                      </a:rPr>
                      <m:t>𝐵</m:t>
                    </m:r>
                  </m:oMath>
                </a14:m>
                <a:r>
                  <a:rPr lang="en-US" dirty="0"/>
                  <a:t>. Hence,</a:t>
                </a:r>
              </a:p>
              <a:p>
                <a:pPr marL="0" indent="0">
                  <a:buNone/>
                </a:pPr>
                <a:endParaRPr lang="en-US" i="1" dirty="0">
                  <a:latin typeface="Cambria Math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>
                          <a:latin typeface="Cambria Math"/>
                        </a:rPr>
                        <m:t>𝐴</m:t>
                      </m:r>
                      <m:r>
                        <a:rPr lang="en-US" i="1" dirty="0">
                          <a:latin typeface="Cambria Math"/>
                        </a:rPr>
                        <m:t> × </m:t>
                      </m:r>
                      <m:r>
                        <a:rPr lang="en-US" i="1" dirty="0">
                          <a:latin typeface="Cambria Math"/>
                        </a:rPr>
                        <m:t>𝐵</m:t>
                      </m:r>
                      <m:r>
                        <a:rPr lang="en-US" i="1" dirty="0">
                          <a:latin typeface="Cambria Math"/>
                        </a:rPr>
                        <m:t> ={(</m:t>
                      </m:r>
                      <m:r>
                        <a:rPr lang="en-US" i="1" dirty="0">
                          <a:latin typeface="Cambria Math"/>
                        </a:rPr>
                        <m:t>𝑎</m:t>
                      </m:r>
                      <m:r>
                        <a:rPr lang="en-US" i="1" dirty="0">
                          <a:latin typeface="Cambria Math"/>
                        </a:rPr>
                        <m:t>, </m:t>
                      </m:r>
                      <m:r>
                        <a:rPr lang="en-US" i="1" dirty="0">
                          <a:latin typeface="Cambria Math"/>
                        </a:rPr>
                        <m:t>𝑏</m:t>
                      </m:r>
                      <m:r>
                        <a:rPr lang="en-US" i="1" dirty="0">
                          <a:latin typeface="Cambria Math"/>
                        </a:rPr>
                        <m:t>) | </m:t>
                      </m:r>
                      <m:r>
                        <a:rPr lang="en-US" i="1" dirty="0">
                          <a:latin typeface="Cambria Math"/>
                        </a:rPr>
                        <m:t>𝑎</m:t>
                      </m:r>
                      <m:r>
                        <a:rPr lang="en-US" i="1" dirty="0">
                          <a:latin typeface="Cambria Math"/>
                        </a:rPr>
                        <m:t> ∈ </m:t>
                      </m:r>
                      <m:r>
                        <a:rPr lang="en-US" i="1" dirty="0">
                          <a:latin typeface="Cambria Math"/>
                        </a:rPr>
                        <m:t>𝐴</m:t>
                      </m:r>
                      <m:r>
                        <a:rPr lang="en-US" i="1" dirty="0">
                          <a:latin typeface="Cambria Math"/>
                        </a:rPr>
                        <m:t> ∧ </m:t>
                      </m:r>
                      <m:r>
                        <a:rPr lang="en-US" i="1" dirty="0">
                          <a:latin typeface="Cambria Math"/>
                        </a:rPr>
                        <m:t>𝑏</m:t>
                      </m:r>
                      <m:r>
                        <a:rPr lang="en-US" i="1" dirty="0">
                          <a:latin typeface="Cambria Math"/>
                        </a:rPr>
                        <m:t> ∈ </m:t>
                      </m:r>
                      <m:r>
                        <a:rPr lang="en-US" i="1" dirty="0">
                          <a:latin typeface="Cambria Math"/>
                        </a:rPr>
                        <m:t>𝐵</m:t>
                      </m:r>
                      <m:r>
                        <a:rPr lang="en-US" i="1" dirty="0">
                          <a:latin typeface="Cambria Math"/>
                        </a:rPr>
                        <m:t>}</m:t>
                      </m:r>
                      <m:r>
                        <m:rPr>
                          <m:nor/>
                        </m:rPr>
                        <a:rPr lang="en-US" dirty="0"/>
                        <m:t>.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GB" i="1" dirty="0">
                  <a:latin typeface="Cambria Math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1259" t="-1111" r="-7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847543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Cartesian Products(Contd.)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GB" b="1" u="sng" dirty="0"/>
                  <a:t>Example 1:</a:t>
                </a:r>
              </a:p>
              <a:p>
                <a:pPr lvl="1"/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𝐴</m:t>
                    </m:r>
                  </m:oMath>
                </a14:m>
                <a:r>
                  <a:rPr lang="en-US" dirty="0"/>
                  <a:t> represent the set of all students at a university, and let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𝐵</m:t>
                    </m:r>
                  </m:oMath>
                </a14:m>
                <a:r>
                  <a:rPr lang="en-US" dirty="0"/>
                  <a:t> represent the set of all courses offered at the university. What is the Cartesian product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𝐴</m:t>
                    </m:r>
                    <m:r>
                      <a:rPr lang="en-US" i="1" dirty="0" smtClean="0">
                        <a:latin typeface="Cambria Math"/>
                      </a:rPr>
                      <m:t> × </m:t>
                    </m:r>
                    <m:r>
                      <a:rPr lang="en-US" i="1" dirty="0" smtClean="0">
                        <a:latin typeface="Cambria Math"/>
                      </a:rPr>
                      <m:t>𝐵</m:t>
                    </m:r>
                    <m:r>
                      <a:rPr lang="en-US" i="1" dirty="0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dirty="0"/>
                  <a:t>and how can it be used?</a:t>
                </a:r>
              </a:p>
              <a:p>
                <a:pPr lvl="1"/>
                <a:endParaRPr lang="en-GB" dirty="0"/>
              </a:p>
              <a:p>
                <a:r>
                  <a:rPr lang="en-GB" b="1" u="sng" dirty="0"/>
                  <a:t>Solution:</a:t>
                </a:r>
              </a:p>
              <a:p>
                <a:pPr marL="594360" lvl="2" indent="0">
                  <a:buNone/>
                </a:pPr>
                <a:r>
                  <a:rPr lang="en-US" dirty="0"/>
                  <a:t>The Cartesian product 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𝐴</m:t>
                    </m:r>
                    <m:r>
                      <a:rPr lang="en-US" i="1" dirty="0" smtClean="0">
                        <a:latin typeface="Cambria Math"/>
                      </a:rPr>
                      <m:t> × </m:t>
                    </m:r>
                    <m:r>
                      <a:rPr lang="en-US" i="1" dirty="0">
                        <a:latin typeface="Cambria Math"/>
                      </a:rPr>
                      <m:t>𝐵</m:t>
                    </m:r>
                    <m:r>
                      <a:rPr lang="en-US" i="1" dirty="0">
                        <a:latin typeface="Cambria Math"/>
                      </a:rPr>
                      <m:t> </m:t>
                    </m:r>
                  </m:oMath>
                </a14:m>
                <a:r>
                  <a:rPr lang="en-US" dirty="0"/>
                  <a:t>consists of all the ordered pairs of the form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(</m:t>
                    </m:r>
                    <m:r>
                      <a:rPr lang="en-US" i="1" dirty="0" smtClean="0">
                        <a:latin typeface="Cambria Math"/>
                      </a:rPr>
                      <m:t>𝑎</m:t>
                    </m:r>
                    <m:r>
                      <a:rPr lang="en-US" i="1" dirty="0" smtClean="0">
                        <a:latin typeface="Cambria Math"/>
                      </a:rPr>
                      <m:t>, </m:t>
                    </m:r>
                    <m:r>
                      <a:rPr lang="en-US" i="1" dirty="0" smtClean="0">
                        <a:latin typeface="Cambria Math"/>
                      </a:rPr>
                      <m:t>𝑏</m:t>
                    </m:r>
                    <m:r>
                      <a:rPr lang="en-US" i="1" dirty="0" smtClean="0">
                        <a:latin typeface="Cambria Math"/>
                      </a:rPr>
                      <m:t>), </m:t>
                    </m:r>
                  </m:oMath>
                </a14:m>
                <a:r>
                  <a:rPr lang="en-US" dirty="0"/>
                  <a:t>where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 </m:t>
                    </m:r>
                    <m:r>
                      <a:rPr lang="en-US" i="1" dirty="0" smtClean="0">
                        <a:latin typeface="Cambria Math"/>
                      </a:rPr>
                      <m:t>𝑎</m:t>
                    </m:r>
                    <m:r>
                      <a:rPr lang="en-US" i="1" dirty="0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dirty="0"/>
                  <a:t>is a student at the university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𝑏</m:t>
                    </m:r>
                  </m:oMath>
                </a14:m>
                <a:r>
                  <a:rPr lang="en-US" dirty="0"/>
                  <a:t> is a course offered at the university. One way to use the set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𝐴</m:t>
                    </m:r>
                    <m:r>
                      <a:rPr lang="en-US" i="1" dirty="0" smtClean="0">
                        <a:latin typeface="Cambria Math"/>
                      </a:rPr>
                      <m:t> × </m:t>
                    </m:r>
                    <m:r>
                      <a:rPr lang="en-US" i="1" dirty="0">
                        <a:latin typeface="Cambria Math"/>
                      </a:rPr>
                      <m:t>𝐵</m:t>
                    </m:r>
                    <m:r>
                      <a:rPr lang="en-US" i="1" dirty="0">
                        <a:latin typeface="Cambria Math"/>
                      </a:rPr>
                      <m:t> </m:t>
                    </m:r>
                  </m:oMath>
                </a14:m>
                <a:r>
                  <a:rPr lang="en-US" dirty="0"/>
                  <a:t>is to represent all possible enrollments of students in courses at the university.</a:t>
                </a:r>
              </a:p>
              <a:p>
                <a:pPr marL="594360" lvl="2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593" t="-1111" r="-8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806696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Cartesian Products(Contd.)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GB" b="1" u="sng" dirty="0"/>
                  <a:t>Example 2:</a:t>
                </a:r>
              </a:p>
              <a:p>
                <a:pPr lvl="1"/>
                <a:r>
                  <a:rPr lang="en-US" dirty="0"/>
                  <a:t>What is the Cartesian product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𝐴</m:t>
                    </m:r>
                    <m:r>
                      <a:rPr lang="en-US" i="1" dirty="0" smtClean="0">
                        <a:latin typeface="Cambria Math"/>
                      </a:rPr>
                      <m:t> ={1, 2} </m:t>
                    </m:r>
                  </m:oMath>
                </a14:m>
                <a:r>
                  <a:rPr lang="en-US" dirty="0"/>
                  <a:t>and </a:t>
                </a:r>
              </a:p>
              <a:p>
                <a:pPr marL="274320" lvl="1" indent="0">
                  <a:buNone/>
                </a:pPr>
                <a:r>
                  <a:rPr lang="en-US" dirty="0"/>
                  <a:t>  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𝐵</m:t>
                    </m:r>
                    <m:r>
                      <a:rPr lang="en-US" i="1" dirty="0" smtClean="0">
                        <a:latin typeface="Cambria Math"/>
                      </a:rPr>
                      <m:t> ={</m:t>
                    </m:r>
                    <m:r>
                      <a:rPr lang="en-US" i="1" dirty="0" smtClean="0">
                        <a:latin typeface="Cambria Math"/>
                      </a:rPr>
                      <m:t>𝑎</m:t>
                    </m:r>
                    <m:r>
                      <a:rPr lang="en-US" i="1" dirty="0" smtClean="0">
                        <a:latin typeface="Cambria Math"/>
                      </a:rPr>
                      <m:t>, </m:t>
                    </m:r>
                    <m:r>
                      <a:rPr lang="en-US" i="1" dirty="0" smtClean="0">
                        <a:latin typeface="Cambria Math"/>
                      </a:rPr>
                      <m:t>𝑏</m:t>
                    </m:r>
                    <m:r>
                      <a:rPr lang="en-US" i="1" dirty="0" smtClean="0">
                        <a:latin typeface="Cambria Math"/>
                      </a:rPr>
                      <m:t>, </m:t>
                    </m:r>
                    <m:r>
                      <a:rPr lang="en-US" i="1" dirty="0" smtClean="0">
                        <a:latin typeface="Cambria Math"/>
                      </a:rPr>
                      <m:t>𝑐</m:t>
                    </m:r>
                    <m:r>
                      <a:rPr lang="en-US" i="1" dirty="0" smtClean="0">
                        <a:latin typeface="Cambria Math"/>
                      </a:rPr>
                      <m:t>}?</m:t>
                    </m:r>
                  </m:oMath>
                </a14:m>
                <a:endParaRPr lang="en-GB" dirty="0"/>
              </a:p>
              <a:p>
                <a:pPr marL="274320" lvl="1" indent="0">
                  <a:buNone/>
                </a:pPr>
                <a:endParaRPr lang="en-GB" dirty="0"/>
              </a:p>
              <a:p>
                <a:r>
                  <a:rPr lang="en-GB" b="1" u="sng" dirty="0"/>
                  <a:t>Solution:</a:t>
                </a:r>
              </a:p>
              <a:p>
                <a:pPr marL="594360" lvl="2" indent="0">
                  <a:buNone/>
                </a:pPr>
                <a:r>
                  <a:rPr lang="en-US" dirty="0"/>
                  <a:t>The Cartesian product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 </m:t>
                    </m:r>
                    <m:r>
                      <a:rPr lang="en-US" i="1" dirty="0" smtClean="0">
                        <a:latin typeface="Cambria Math"/>
                      </a:rPr>
                      <m:t>𝐴</m:t>
                    </m:r>
                    <m:r>
                      <a:rPr lang="en-US" i="1" dirty="0" smtClean="0">
                        <a:latin typeface="Cambria Math"/>
                      </a:rPr>
                      <m:t> × </m:t>
                    </m:r>
                    <m:r>
                      <a:rPr lang="en-US" i="1" dirty="0" smtClean="0">
                        <a:latin typeface="Cambria Math"/>
                      </a:rPr>
                      <m:t>𝐵</m:t>
                    </m:r>
                    <m:r>
                      <a:rPr lang="en-US" i="1" dirty="0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dirty="0"/>
                  <a:t>is </a:t>
                </a:r>
              </a:p>
              <a:p>
                <a:pPr marL="594360" lvl="2" indent="0">
                  <a:buNone/>
                </a:pPr>
                <a:endParaRPr lang="en-US" dirty="0"/>
              </a:p>
              <a:p>
                <a:pPr marL="594360" lvl="2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/>
                        </a:rPr>
                        <m:t>𝐴</m:t>
                      </m:r>
                      <m:r>
                        <a:rPr lang="en-US" i="1" dirty="0" smtClean="0">
                          <a:latin typeface="Cambria Math"/>
                        </a:rPr>
                        <m:t> × </m:t>
                      </m:r>
                      <m:r>
                        <a:rPr lang="en-US" i="1" dirty="0">
                          <a:latin typeface="Cambria Math"/>
                        </a:rPr>
                        <m:t>𝐵</m:t>
                      </m:r>
                      <m:r>
                        <a:rPr lang="en-US" i="1" dirty="0">
                          <a:latin typeface="Cambria Math"/>
                        </a:rPr>
                        <m:t> ={(1, </m:t>
                      </m:r>
                      <m:r>
                        <a:rPr lang="en-US" i="1" dirty="0">
                          <a:latin typeface="Cambria Math"/>
                        </a:rPr>
                        <m:t>𝑎</m:t>
                      </m:r>
                      <m:r>
                        <a:rPr lang="en-US" i="1" dirty="0">
                          <a:latin typeface="Cambria Math"/>
                        </a:rPr>
                        <m:t>), (1, </m:t>
                      </m:r>
                      <m:r>
                        <a:rPr lang="en-US" i="1" dirty="0">
                          <a:latin typeface="Cambria Math"/>
                        </a:rPr>
                        <m:t>𝑏</m:t>
                      </m:r>
                      <m:r>
                        <a:rPr lang="en-US" i="1" dirty="0">
                          <a:latin typeface="Cambria Math"/>
                        </a:rPr>
                        <m:t>), (1, </m:t>
                      </m:r>
                      <m:r>
                        <a:rPr lang="en-US" i="1" dirty="0">
                          <a:latin typeface="Cambria Math"/>
                        </a:rPr>
                        <m:t>𝑐</m:t>
                      </m:r>
                      <m:r>
                        <a:rPr lang="en-US" i="1" dirty="0">
                          <a:latin typeface="Cambria Math"/>
                        </a:rPr>
                        <m:t>), (2, </m:t>
                      </m:r>
                      <m:r>
                        <a:rPr lang="en-US" i="1" dirty="0">
                          <a:latin typeface="Cambria Math"/>
                        </a:rPr>
                        <m:t>𝑎</m:t>
                      </m:r>
                      <m:r>
                        <a:rPr lang="en-US" i="1" dirty="0">
                          <a:latin typeface="Cambria Math"/>
                        </a:rPr>
                        <m:t>), (2, </m:t>
                      </m:r>
                      <m:r>
                        <a:rPr lang="en-US" i="1" dirty="0">
                          <a:latin typeface="Cambria Math"/>
                        </a:rPr>
                        <m:t>𝑏</m:t>
                      </m:r>
                      <m:r>
                        <a:rPr lang="en-US" i="1" dirty="0">
                          <a:latin typeface="Cambria Math"/>
                        </a:rPr>
                        <m:t>), (2,</m:t>
                      </m:r>
                      <m:r>
                        <a:rPr lang="en-US" i="1" dirty="0">
                          <a:latin typeface="Cambria Math"/>
                        </a:rPr>
                        <m:t>𝑐</m:t>
                      </m:r>
                      <m:r>
                        <a:rPr lang="en-US" i="1" dirty="0">
                          <a:latin typeface="Cambria Math"/>
                        </a:rPr>
                        <m:t>)}.</m:t>
                      </m:r>
                    </m:oMath>
                  </m:oMathPara>
                </a14:m>
                <a:endParaRPr lang="en-GB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593" t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073634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Cartesian Products(Contd.)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GB" b="1" u="sng" dirty="0"/>
                  <a:t>Example 3:</a:t>
                </a:r>
              </a:p>
              <a:p>
                <a:pPr lvl="1"/>
                <a:r>
                  <a:rPr lang="en-US" dirty="0"/>
                  <a:t>Show that the Cartesian product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𝐵</m:t>
                    </m:r>
                    <m:r>
                      <a:rPr lang="en-US" i="1" dirty="0" smtClean="0">
                        <a:latin typeface="Cambria Math"/>
                      </a:rPr>
                      <m:t> × </m:t>
                    </m:r>
                    <m:r>
                      <a:rPr lang="en-US" i="1" dirty="0" smtClean="0">
                        <a:latin typeface="Cambria Math"/>
                      </a:rPr>
                      <m:t>𝐴</m:t>
                    </m:r>
                    <m:r>
                      <a:rPr lang="en-US" i="1" dirty="0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dirty="0"/>
                  <a:t>is not equal to the Cartesian product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𝐴</m:t>
                    </m:r>
                    <m:r>
                      <a:rPr lang="en-US" i="1" dirty="0" smtClean="0">
                        <a:latin typeface="Cambria Math"/>
                      </a:rPr>
                      <m:t> × </m:t>
                    </m:r>
                    <m:r>
                      <a:rPr lang="en-US" i="1" dirty="0" smtClean="0">
                        <a:latin typeface="Cambria Math"/>
                      </a:rPr>
                      <m:t>𝐵</m:t>
                    </m:r>
                  </m:oMath>
                </a14:m>
                <a:r>
                  <a:rPr lang="en-US" dirty="0"/>
                  <a:t>, where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𝐴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𝐵</m:t>
                    </m:r>
                  </m:oMath>
                </a14:m>
                <a:r>
                  <a:rPr lang="en-US" dirty="0"/>
                  <a:t> are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</a:rPr>
                      <m:t>𝐴</m:t>
                    </m:r>
                    <m:r>
                      <a:rPr lang="en-US" i="1" dirty="0">
                        <a:latin typeface="Cambria Math"/>
                      </a:rPr>
                      <m:t> ={1, 2} </m:t>
                    </m:r>
                  </m:oMath>
                </a14:m>
                <a:r>
                  <a:rPr lang="en-US" dirty="0"/>
                  <a:t>and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</a:rPr>
                      <m:t>𝐵</m:t>
                    </m:r>
                    <m:r>
                      <a:rPr lang="en-US" i="1" dirty="0">
                        <a:latin typeface="Cambria Math"/>
                      </a:rPr>
                      <m:t> =</m:t>
                    </m:r>
                    <m:d>
                      <m:dPr>
                        <m:begChr m:val="{"/>
                        <m:endChr m:val="}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/>
                          </a:rPr>
                          <m:t>𝑎</m:t>
                        </m:r>
                        <m:r>
                          <a:rPr lang="en-US" i="1" dirty="0">
                            <a:latin typeface="Cambria Math"/>
                          </a:rPr>
                          <m:t>, </m:t>
                        </m:r>
                        <m:r>
                          <a:rPr lang="en-US" i="1" dirty="0">
                            <a:latin typeface="Cambria Math"/>
                          </a:rPr>
                          <m:t>𝑏</m:t>
                        </m:r>
                        <m:r>
                          <a:rPr lang="en-US" i="1" dirty="0">
                            <a:latin typeface="Cambria Math"/>
                          </a:rPr>
                          <m:t>, </m:t>
                        </m:r>
                        <m:r>
                          <a:rPr lang="en-US" i="1" dirty="0">
                            <a:latin typeface="Cambria Math"/>
                          </a:rPr>
                          <m:t>𝑐</m:t>
                        </m:r>
                      </m:e>
                    </m:d>
                    <m:r>
                      <a:rPr lang="en-GB" b="0" i="1" dirty="0" smtClean="0">
                        <a:latin typeface="Cambria Math"/>
                      </a:rPr>
                      <m:t>.</m:t>
                    </m:r>
                  </m:oMath>
                </a14:m>
                <a:endParaRPr lang="en-US" dirty="0"/>
              </a:p>
              <a:p>
                <a:pPr lvl="1"/>
                <a:endParaRPr lang="en-GB" dirty="0"/>
              </a:p>
              <a:p>
                <a:r>
                  <a:rPr lang="en-GB" b="1" u="sng" dirty="0"/>
                  <a:t>Solution:</a:t>
                </a:r>
              </a:p>
              <a:p>
                <a:pPr marL="594360" lvl="2" indent="0">
                  <a:buNone/>
                </a:pPr>
                <a:r>
                  <a:rPr lang="en-US" dirty="0"/>
                  <a:t>The Cartesian product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</a:rPr>
                      <m:t> </m:t>
                    </m:r>
                    <m:r>
                      <a:rPr lang="en-US" i="1" dirty="0">
                        <a:latin typeface="Cambria Math"/>
                      </a:rPr>
                      <m:t>𝐴</m:t>
                    </m:r>
                    <m:r>
                      <a:rPr lang="en-US" i="1" dirty="0">
                        <a:latin typeface="Cambria Math"/>
                      </a:rPr>
                      <m:t> × </m:t>
                    </m:r>
                    <m:r>
                      <a:rPr lang="en-US" i="1" dirty="0">
                        <a:latin typeface="Cambria Math"/>
                      </a:rPr>
                      <m:t>𝐵</m:t>
                    </m:r>
                    <m:r>
                      <a:rPr lang="en-US" i="1" dirty="0">
                        <a:latin typeface="Cambria Math"/>
                      </a:rPr>
                      <m:t> </m:t>
                    </m:r>
                  </m:oMath>
                </a14:m>
                <a:r>
                  <a:rPr lang="en-US" dirty="0"/>
                  <a:t>is </a:t>
                </a:r>
              </a:p>
              <a:p>
                <a:pPr marL="594360" lvl="2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>
                          <a:latin typeface="Cambria Math"/>
                        </a:rPr>
                        <m:t>𝐴</m:t>
                      </m:r>
                      <m:r>
                        <a:rPr lang="en-US" i="1" dirty="0">
                          <a:latin typeface="Cambria Math"/>
                        </a:rPr>
                        <m:t> × </m:t>
                      </m:r>
                      <m:r>
                        <a:rPr lang="en-US" i="1" dirty="0">
                          <a:latin typeface="Cambria Math"/>
                        </a:rPr>
                        <m:t>𝐵</m:t>
                      </m:r>
                      <m:r>
                        <a:rPr lang="en-US" i="1" dirty="0">
                          <a:latin typeface="Cambria Math"/>
                        </a:rPr>
                        <m:t> ={(1, </m:t>
                      </m:r>
                      <m:r>
                        <a:rPr lang="en-US" i="1" dirty="0">
                          <a:latin typeface="Cambria Math"/>
                        </a:rPr>
                        <m:t>𝑎</m:t>
                      </m:r>
                      <m:r>
                        <a:rPr lang="en-US" i="1" dirty="0">
                          <a:latin typeface="Cambria Math"/>
                        </a:rPr>
                        <m:t>), (1, </m:t>
                      </m:r>
                      <m:r>
                        <a:rPr lang="en-US" i="1" dirty="0">
                          <a:latin typeface="Cambria Math"/>
                        </a:rPr>
                        <m:t>𝑏</m:t>
                      </m:r>
                      <m:r>
                        <a:rPr lang="en-US" i="1" dirty="0">
                          <a:latin typeface="Cambria Math"/>
                        </a:rPr>
                        <m:t>), (1, </m:t>
                      </m:r>
                      <m:r>
                        <a:rPr lang="en-US" i="1" dirty="0">
                          <a:latin typeface="Cambria Math"/>
                        </a:rPr>
                        <m:t>𝑐</m:t>
                      </m:r>
                      <m:r>
                        <a:rPr lang="en-US" i="1" dirty="0">
                          <a:latin typeface="Cambria Math"/>
                        </a:rPr>
                        <m:t>), (2, </m:t>
                      </m:r>
                      <m:r>
                        <a:rPr lang="en-US" i="1" dirty="0">
                          <a:latin typeface="Cambria Math"/>
                        </a:rPr>
                        <m:t>𝑎</m:t>
                      </m:r>
                      <m:r>
                        <a:rPr lang="en-US" i="1" dirty="0">
                          <a:latin typeface="Cambria Math"/>
                        </a:rPr>
                        <m:t>), (2, </m:t>
                      </m:r>
                      <m:r>
                        <a:rPr lang="en-US" i="1" dirty="0">
                          <a:latin typeface="Cambria Math"/>
                        </a:rPr>
                        <m:t>𝑏</m:t>
                      </m:r>
                      <m:r>
                        <a:rPr lang="en-US" i="1" dirty="0">
                          <a:latin typeface="Cambria Math"/>
                        </a:rPr>
                        <m:t>), (2,</m:t>
                      </m:r>
                      <m:r>
                        <a:rPr lang="en-US" i="1" dirty="0">
                          <a:latin typeface="Cambria Math"/>
                        </a:rPr>
                        <m:t>𝑐</m:t>
                      </m:r>
                      <m:r>
                        <a:rPr lang="en-US" i="1" dirty="0">
                          <a:latin typeface="Cambria Math"/>
                        </a:rPr>
                        <m:t>)}.</m:t>
                      </m:r>
                    </m:oMath>
                  </m:oMathPara>
                </a14:m>
                <a:endParaRPr lang="en-GB" dirty="0"/>
              </a:p>
              <a:p>
                <a:pPr marL="594360" lvl="2" indent="0">
                  <a:buNone/>
                </a:pPr>
                <a:r>
                  <a:rPr lang="en-US" dirty="0"/>
                  <a:t>The Cartesian product</a:t>
                </a:r>
                <a14:m>
                  <m:oMath xmlns:m="http://schemas.openxmlformats.org/officeDocument/2006/math">
                    <m:r>
                      <a:rPr lang="en-GB" b="0" i="0" dirty="0" smtClean="0">
                        <a:latin typeface="Cambria Math"/>
                      </a:rPr>
                      <m:t> </m:t>
                    </m:r>
                    <m:r>
                      <a:rPr lang="en-US" i="1" dirty="0" smtClean="0">
                        <a:latin typeface="Cambria Math"/>
                      </a:rPr>
                      <m:t> </m:t>
                    </m:r>
                    <m:r>
                      <a:rPr lang="en-US" i="1" dirty="0" smtClean="0">
                        <a:latin typeface="Cambria Math"/>
                      </a:rPr>
                      <m:t>𝐵</m:t>
                    </m:r>
                    <m:r>
                      <a:rPr lang="en-US" i="1" dirty="0" smtClean="0">
                        <a:latin typeface="Cambria Math"/>
                      </a:rPr>
                      <m:t> × </m:t>
                    </m:r>
                    <m:r>
                      <a:rPr lang="en-US" i="1" dirty="0" smtClean="0">
                        <a:latin typeface="Cambria Math"/>
                      </a:rPr>
                      <m:t>𝐴</m:t>
                    </m:r>
                    <m:r>
                      <a:rPr lang="en-US" i="1" dirty="0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dirty="0"/>
                  <a:t>is</a:t>
                </a:r>
              </a:p>
              <a:p>
                <a:pPr marL="594360" lvl="2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/>
                        </a:rPr>
                        <m:t>𝐵</m:t>
                      </m:r>
                      <m:r>
                        <a:rPr lang="en-US" i="1" dirty="0" smtClean="0">
                          <a:latin typeface="Cambria Math"/>
                        </a:rPr>
                        <m:t> × </m:t>
                      </m:r>
                      <m:r>
                        <a:rPr lang="en-US" i="1" dirty="0" smtClean="0">
                          <a:latin typeface="Cambria Math"/>
                        </a:rPr>
                        <m:t>𝐴</m:t>
                      </m:r>
                      <m:r>
                        <a:rPr lang="en-US" i="1" dirty="0" smtClean="0">
                          <a:latin typeface="Cambria Math"/>
                        </a:rPr>
                        <m:t> =</m:t>
                      </m:r>
                      <m:d>
                        <m:dPr>
                          <m:begChr m:val="{"/>
                          <m:endChr m:val="}"/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dirty="0" smtClean="0">
                                  <a:latin typeface="Cambria Math"/>
                                </a:rPr>
                                <m:t>𝑎</m:t>
                              </m:r>
                              <m:r>
                                <a:rPr lang="en-US" i="1" dirty="0" smtClean="0">
                                  <a:latin typeface="Cambria Math"/>
                                </a:rPr>
                                <m:t>, 1</m:t>
                              </m:r>
                            </m:e>
                          </m:d>
                          <m:r>
                            <a:rPr lang="en-US" i="1" dirty="0" smtClean="0">
                              <a:latin typeface="Cambria Math"/>
                            </a:rPr>
                            <m:t>, </m:t>
                          </m:r>
                          <m:d>
                            <m:dPr>
                              <m:ctrlP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dirty="0" smtClean="0">
                                  <a:latin typeface="Cambria Math"/>
                                </a:rPr>
                                <m:t>𝑎</m:t>
                              </m:r>
                              <m:r>
                                <a:rPr lang="en-US" i="1" dirty="0" smtClean="0">
                                  <a:latin typeface="Cambria Math"/>
                                </a:rPr>
                                <m:t>, 2</m:t>
                              </m:r>
                            </m:e>
                          </m:d>
                          <m:r>
                            <a:rPr lang="en-US" i="1" dirty="0" smtClean="0">
                              <a:latin typeface="Cambria Math"/>
                            </a:rPr>
                            <m:t>, </m:t>
                          </m:r>
                          <m:d>
                            <m:dPr>
                              <m:ctrlP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dirty="0" smtClean="0">
                                  <a:latin typeface="Cambria Math"/>
                                </a:rPr>
                                <m:t>𝑏</m:t>
                              </m:r>
                              <m:r>
                                <a:rPr lang="en-US" i="1" dirty="0" smtClean="0">
                                  <a:latin typeface="Cambria Math"/>
                                </a:rPr>
                                <m:t>, 1</m:t>
                              </m:r>
                            </m:e>
                          </m:d>
                          <m:r>
                            <a:rPr lang="en-US" i="1" dirty="0" smtClean="0">
                              <a:latin typeface="Cambria Math"/>
                            </a:rPr>
                            <m:t>, </m:t>
                          </m:r>
                          <m:d>
                            <m:dPr>
                              <m:ctrlP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dirty="0" smtClean="0">
                                  <a:latin typeface="Cambria Math"/>
                                </a:rPr>
                                <m:t>𝑏</m:t>
                              </m:r>
                              <m:r>
                                <a:rPr lang="en-US" i="1" dirty="0" smtClean="0">
                                  <a:latin typeface="Cambria Math"/>
                                </a:rPr>
                                <m:t>, 2</m:t>
                              </m:r>
                            </m:e>
                          </m:d>
                          <m:r>
                            <a:rPr lang="en-US" i="1" dirty="0" smtClean="0">
                              <a:latin typeface="Cambria Math"/>
                            </a:rPr>
                            <m:t>, </m:t>
                          </m:r>
                          <m:d>
                            <m:dPr>
                              <m:ctrlP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dirty="0" smtClean="0">
                                  <a:latin typeface="Cambria Math"/>
                                </a:rPr>
                                <m:t>𝑐</m:t>
                              </m:r>
                              <m:r>
                                <a:rPr lang="en-US" i="1" dirty="0" smtClean="0">
                                  <a:latin typeface="Cambria Math"/>
                                </a:rPr>
                                <m:t>, 1</m:t>
                              </m:r>
                            </m:e>
                          </m:d>
                          <m:r>
                            <a:rPr lang="en-US" i="1" dirty="0" smtClean="0">
                              <a:latin typeface="Cambria Math"/>
                            </a:rPr>
                            <m:t>, </m:t>
                          </m:r>
                          <m:d>
                            <m:dPr>
                              <m:ctrlP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dirty="0" smtClean="0">
                                  <a:latin typeface="Cambria Math"/>
                                </a:rPr>
                                <m:t>𝑐</m:t>
                              </m:r>
                              <m:r>
                                <a:rPr lang="en-US" i="1" dirty="0" smtClean="0">
                                  <a:latin typeface="Cambria Math"/>
                                </a:rPr>
                                <m:t>, 2</m:t>
                              </m:r>
                            </m:e>
                          </m:d>
                        </m:e>
                      </m:d>
                      <m:r>
                        <a:rPr lang="en-US" i="1" dirty="0" smtClean="0">
                          <a:latin typeface="Cambria Math"/>
                        </a:rPr>
                        <m:t>.</m:t>
                      </m:r>
                    </m:oMath>
                  </m:oMathPara>
                </a14:m>
                <a:endParaRPr lang="en-GB" dirty="0"/>
              </a:p>
              <a:p>
                <a:pPr marL="594360" lvl="2" indent="0">
                  <a:buNone/>
                </a:pPr>
                <a:r>
                  <a:rPr lang="en-GB" dirty="0"/>
                  <a:t>Since Cartesian Product is the set of all ordered pairs, thus by definition of ordered pairs we can conclude that </a:t>
                </a:r>
                <a:r>
                  <a:rPr lang="en-US" dirty="0"/>
                  <a:t>the Cartesian product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</a:rPr>
                      <m:t>𝐵</m:t>
                    </m:r>
                    <m:r>
                      <a:rPr lang="en-US" i="1" dirty="0">
                        <a:latin typeface="Cambria Math"/>
                      </a:rPr>
                      <m:t> × </m:t>
                    </m:r>
                    <m:r>
                      <a:rPr lang="en-US" i="1" dirty="0">
                        <a:latin typeface="Cambria Math"/>
                      </a:rPr>
                      <m:t>𝐴</m:t>
                    </m:r>
                    <m:r>
                      <a:rPr lang="en-US" i="1" dirty="0">
                        <a:latin typeface="Cambria Math"/>
                      </a:rPr>
                      <m:t> </m:t>
                    </m:r>
                  </m:oMath>
                </a14:m>
                <a:r>
                  <a:rPr lang="en-US" dirty="0"/>
                  <a:t>is not equal to the Cartesian product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</a:rPr>
                      <m:t>𝐴</m:t>
                    </m:r>
                    <m:r>
                      <a:rPr lang="en-US" i="1" dirty="0">
                        <a:latin typeface="Cambria Math"/>
                      </a:rPr>
                      <m:t> × </m:t>
                    </m:r>
                    <m:r>
                      <a:rPr lang="en-US" i="1" dirty="0">
                        <a:latin typeface="Cambria Math"/>
                      </a:rPr>
                      <m:t>𝐵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593" t="-1111" r="-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88994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2B996B-8C37-4759-8C63-BE4708036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933700"/>
            <a:ext cx="8229600" cy="990600"/>
          </a:xfrm>
        </p:spPr>
        <p:txBody>
          <a:bodyPr anchor="ctr"/>
          <a:lstStyle/>
          <a:p>
            <a:pPr algn="ctr"/>
            <a:r>
              <a:rPr lang="en-US" dirty="0"/>
              <a:t>Section 2.2: Set Operations</a:t>
            </a:r>
          </a:p>
        </p:txBody>
      </p:sp>
    </p:spTree>
    <p:extLst>
      <p:ext uri="{BB962C8B-B14F-4D97-AF65-F5344CB8AC3E}">
        <p14:creationId xmlns:p14="http://schemas.microsoft.com/office/powerpoint/2010/main" val="42550895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Union of Sets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𝐴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𝐵</m:t>
                    </m:r>
                  </m:oMath>
                </a14:m>
                <a:r>
                  <a:rPr lang="en-US" dirty="0"/>
                  <a:t> be sets. </a:t>
                </a:r>
              </a:p>
              <a:p>
                <a:r>
                  <a:rPr lang="en-US" dirty="0"/>
                  <a:t>The union of the sets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𝐴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𝐵</m:t>
                    </m:r>
                    <m:r>
                      <a:rPr lang="en-US" i="1" dirty="0" smtClean="0">
                        <a:latin typeface="Cambria Math"/>
                      </a:rPr>
                      <m:t>,</m:t>
                    </m:r>
                  </m:oMath>
                </a14:m>
                <a:r>
                  <a:rPr lang="en-US" dirty="0"/>
                  <a:t> denoted by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𝐴</m:t>
                    </m:r>
                    <m:r>
                      <a:rPr lang="en-US" i="1" dirty="0" smtClean="0">
                        <a:latin typeface="Cambria Math"/>
                      </a:rPr>
                      <m:t> ∪ </m:t>
                    </m:r>
                    <m:r>
                      <a:rPr lang="en-US" i="1" dirty="0" smtClean="0">
                        <a:latin typeface="Cambria Math"/>
                      </a:rPr>
                      <m:t>𝐵</m:t>
                    </m:r>
                  </m:oMath>
                </a14:m>
                <a:r>
                  <a:rPr lang="en-US" dirty="0"/>
                  <a:t>, is the set that contains those elements that are either in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𝐴</m:t>
                    </m:r>
                  </m:oMath>
                </a14:m>
                <a:r>
                  <a:rPr lang="en-US" dirty="0"/>
                  <a:t> or in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𝐵</m:t>
                    </m:r>
                    <m:r>
                      <a:rPr lang="en-US" i="1" dirty="0" smtClean="0">
                        <a:latin typeface="Cambria Math"/>
                      </a:rPr>
                      <m:t>,</m:t>
                    </m:r>
                  </m:oMath>
                </a14:m>
                <a:r>
                  <a:rPr lang="en-US" dirty="0"/>
                  <a:t> or in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𝑏𝑜𝑡h</m:t>
                    </m:r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An element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US" dirty="0"/>
                  <a:t> belongs to the union of the sets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𝐴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𝐵</m:t>
                    </m:r>
                  </m:oMath>
                </a14:m>
                <a:r>
                  <a:rPr lang="en-US" dirty="0"/>
                  <a:t> if and only if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US" dirty="0"/>
                  <a:t> belongs to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𝐴</m:t>
                    </m:r>
                  </m:oMath>
                </a14:m>
                <a:r>
                  <a:rPr lang="en-US" dirty="0"/>
                  <a:t> or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US" dirty="0"/>
                  <a:t> belongs to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𝐵</m:t>
                    </m:r>
                  </m:oMath>
                </a14:m>
                <a:r>
                  <a:rPr lang="en-US" dirty="0"/>
                  <a:t>. This tells us that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/>
                        </a:rPr>
                        <m:t>𝐴</m:t>
                      </m:r>
                      <m:r>
                        <a:rPr lang="en-US" i="1" dirty="0" smtClean="0">
                          <a:latin typeface="Cambria Math"/>
                        </a:rPr>
                        <m:t> ∪ </m:t>
                      </m:r>
                      <m:r>
                        <a:rPr lang="en-US" i="1" dirty="0" smtClean="0">
                          <a:latin typeface="Cambria Math"/>
                        </a:rPr>
                        <m:t>𝐵</m:t>
                      </m:r>
                      <m:r>
                        <a:rPr lang="en-US" i="1" dirty="0" smtClean="0">
                          <a:latin typeface="Cambria Math"/>
                        </a:rPr>
                        <m:t> ={</m:t>
                      </m:r>
                      <m:r>
                        <a:rPr lang="en-US" i="1" dirty="0" smtClean="0">
                          <a:latin typeface="Cambria Math"/>
                        </a:rPr>
                        <m:t>𝑥</m:t>
                      </m:r>
                      <m:r>
                        <a:rPr lang="en-US" i="1" dirty="0" smtClean="0">
                          <a:latin typeface="Cambria Math"/>
                        </a:rPr>
                        <m:t> | </m:t>
                      </m:r>
                      <m:r>
                        <a:rPr lang="en-US" i="1" dirty="0" smtClean="0">
                          <a:latin typeface="Cambria Math"/>
                        </a:rPr>
                        <m:t>𝑥</m:t>
                      </m:r>
                      <m:r>
                        <a:rPr lang="en-US" i="1" dirty="0" smtClean="0">
                          <a:latin typeface="Cambria Math"/>
                        </a:rPr>
                        <m:t> ∈ </m:t>
                      </m:r>
                      <m:r>
                        <a:rPr lang="en-US" i="1" dirty="0" smtClean="0">
                          <a:latin typeface="Cambria Math"/>
                        </a:rPr>
                        <m:t>𝐴</m:t>
                      </m:r>
                      <m:r>
                        <a:rPr lang="en-US" i="1" dirty="0" smtClean="0">
                          <a:latin typeface="Cambria Math"/>
                        </a:rPr>
                        <m:t> ∨ </m:t>
                      </m:r>
                      <m:r>
                        <a:rPr lang="en-US" i="1" dirty="0" smtClean="0">
                          <a:latin typeface="Cambria Math"/>
                        </a:rPr>
                        <m:t>𝑥</m:t>
                      </m:r>
                      <m:r>
                        <a:rPr lang="en-US" i="1" dirty="0" smtClean="0">
                          <a:latin typeface="Cambria Math"/>
                        </a:rPr>
                        <m:t> ∈ </m:t>
                      </m:r>
                      <m:r>
                        <a:rPr lang="en-US" i="1" dirty="0" smtClean="0">
                          <a:latin typeface="Cambria Math"/>
                        </a:rPr>
                        <m:t>𝐵</m:t>
                      </m:r>
                      <m:r>
                        <a:rPr lang="en-US" i="1" dirty="0" smtClean="0">
                          <a:latin typeface="Cambria Math"/>
                        </a:rPr>
                        <m:t>}.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593" t="-1111" r="-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325321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Union of Sets(Contd.)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7209" y="1524000"/>
            <a:ext cx="5105591" cy="4148292"/>
          </a:xfrm>
        </p:spPr>
      </p:pic>
    </p:spTree>
    <p:extLst>
      <p:ext uri="{BB962C8B-B14F-4D97-AF65-F5344CB8AC3E}">
        <p14:creationId xmlns:p14="http://schemas.microsoft.com/office/powerpoint/2010/main" val="12645022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dirty="0"/>
              <a:t>Union of Sets(Contd.)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GB" b="1" u="sng" dirty="0"/>
                  <a:t>Example 1:</a:t>
                </a:r>
              </a:p>
              <a:p>
                <a:pPr lvl="1"/>
                <a:r>
                  <a:rPr lang="en-US" dirty="0"/>
                  <a:t>Find the union of the sets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{1, 3, 5} </m:t>
                    </m:r>
                  </m:oMath>
                </a14:m>
                <a:r>
                  <a:rPr lang="en-US" dirty="0"/>
                  <a:t>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{1, 2, 3}.</m:t>
                    </m:r>
                  </m:oMath>
                </a14:m>
                <a:endParaRPr lang="en-US" dirty="0"/>
              </a:p>
              <a:p>
                <a:endParaRPr lang="en-GB" dirty="0"/>
              </a:p>
              <a:p>
                <a:r>
                  <a:rPr lang="en-GB" b="1" u="sng" dirty="0"/>
                  <a:t>Solution:</a:t>
                </a:r>
                <a:endParaRPr lang="en-US" b="1" u="sng" dirty="0"/>
              </a:p>
              <a:p>
                <a:pPr marL="594360" lvl="2" indent="0">
                  <a:buNone/>
                </a:pPr>
                <a:r>
                  <a:rPr lang="en-US" dirty="0"/>
                  <a:t>The union of the two sets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{1, 3, 5} </m:t>
                    </m:r>
                  </m:oMath>
                </a14:m>
                <a:r>
                  <a:rPr lang="en-US" dirty="0"/>
                  <a:t>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{1, 2, 3} </m:t>
                    </m:r>
                  </m:oMath>
                </a14:m>
                <a:r>
                  <a:rPr lang="en-US" dirty="0"/>
                  <a:t>can be written as,</a:t>
                </a:r>
              </a:p>
              <a:p>
                <a:pPr marL="274320" lvl="1" indent="0">
                  <a:buNone/>
                </a:pPr>
                <a:endParaRPr lang="en-GB" i="1" dirty="0">
                  <a:latin typeface="Cambria Math"/>
                </a:endParaRPr>
              </a:p>
              <a:p>
                <a:pPr marL="27432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/>
                        </a:rPr>
                        <m:t>{1, 3, 5}∪{1, 2, 3}={1, 2, 3, 5}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593" t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168112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Intersection of Sets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𝐴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𝐵</m:t>
                    </m:r>
                  </m:oMath>
                </a14:m>
                <a:r>
                  <a:rPr lang="en-US" dirty="0"/>
                  <a:t> be sets. </a:t>
                </a:r>
              </a:p>
              <a:p>
                <a:r>
                  <a:rPr lang="en-US" dirty="0"/>
                  <a:t>The intersection of the sets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𝐴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𝐵</m:t>
                    </m:r>
                  </m:oMath>
                </a14:m>
                <a:r>
                  <a:rPr lang="en-US" dirty="0"/>
                  <a:t>, denoted by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𝐴</m:t>
                    </m:r>
                    <m:r>
                      <a:rPr lang="en-US" i="1" dirty="0" smtClean="0">
                        <a:latin typeface="Cambria Math"/>
                      </a:rPr>
                      <m:t> ∩ </m:t>
                    </m:r>
                    <m:r>
                      <a:rPr lang="en-US" i="1" dirty="0" smtClean="0">
                        <a:latin typeface="Cambria Math"/>
                      </a:rPr>
                      <m:t>𝐵</m:t>
                    </m:r>
                  </m:oMath>
                </a14:m>
                <a:r>
                  <a:rPr lang="en-US" dirty="0"/>
                  <a:t>, is the set containing those elements in both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 </m:t>
                    </m:r>
                    <m:r>
                      <a:rPr lang="en-US" i="1" dirty="0" smtClean="0">
                        <a:latin typeface="Cambria Math"/>
                      </a:rPr>
                      <m:t>𝐴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𝐵</m:t>
                    </m:r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An element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US" dirty="0"/>
                  <a:t> belongs to the intersection of the sets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𝐴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𝐵</m:t>
                    </m:r>
                  </m:oMath>
                </a14:m>
                <a:r>
                  <a:rPr lang="en-US" dirty="0"/>
                  <a:t> if and only if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US" dirty="0"/>
                  <a:t> belongs to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𝐴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US" dirty="0"/>
                  <a:t> belongs to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𝐵</m:t>
                    </m:r>
                  </m:oMath>
                </a14:m>
                <a:r>
                  <a:rPr lang="en-US" dirty="0"/>
                  <a:t>. This tells us that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593" t="-1111" r="-7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2636330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Intersection of Sets(Contd.)</a:t>
            </a:r>
            <a:endParaRPr lang="en-US" dirty="0"/>
          </a:p>
        </p:txBody>
      </p:sp>
      <p:pic>
        <p:nvPicPr>
          <p:cNvPr id="6" name="Content Placeholder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2541" y="1447800"/>
            <a:ext cx="5130259" cy="4114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120057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dirty="0"/>
              <a:t>Intersection of Sets(Contd.)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GB" b="1" u="sng" dirty="0"/>
                  <a:t>Example 1:</a:t>
                </a:r>
              </a:p>
              <a:p>
                <a:pPr lvl="1"/>
                <a:r>
                  <a:rPr lang="en-US" dirty="0"/>
                  <a:t>Find the intersection of the sets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{1, 3, 5} </m:t>
                    </m:r>
                  </m:oMath>
                </a14:m>
                <a:r>
                  <a:rPr lang="en-US" dirty="0"/>
                  <a:t>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{1, 2, 3}.</m:t>
                    </m:r>
                  </m:oMath>
                </a14:m>
                <a:endParaRPr lang="en-US" dirty="0"/>
              </a:p>
              <a:p>
                <a:endParaRPr lang="en-GB" dirty="0"/>
              </a:p>
              <a:p>
                <a:r>
                  <a:rPr lang="en-GB" b="1" u="sng" dirty="0"/>
                  <a:t>Solution:</a:t>
                </a:r>
                <a:endParaRPr lang="en-US" b="1" u="sng" dirty="0"/>
              </a:p>
              <a:p>
                <a:pPr marL="594360" lvl="2" indent="0">
                  <a:buNone/>
                </a:pPr>
                <a:r>
                  <a:rPr lang="en-US" dirty="0"/>
                  <a:t>The intersection of the two sets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{1, 3, 5} </m:t>
                    </m:r>
                  </m:oMath>
                </a14:m>
                <a:r>
                  <a:rPr lang="en-US" dirty="0"/>
                  <a:t>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{1, 2, 3} </m:t>
                    </m:r>
                  </m:oMath>
                </a14:m>
                <a:r>
                  <a:rPr lang="en-US" dirty="0"/>
                  <a:t>can be written as,</a:t>
                </a:r>
              </a:p>
              <a:p>
                <a:pPr marL="274320" lvl="1" indent="0">
                  <a:buNone/>
                </a:pPr>
                <a:endParaRPr lang="en-GB" i="1" dirty="0">
                  <a:latin typeface="Cambria Math"/>
                </a:endParaRPr>
              </a:p>
              <a:p>
                <a:pPr marL="27432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/>
                        </a:rPr>
                        <m:t>{1, 3, 5}⋂{1, 2, 3}={1, 3}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593" t="-1111" r="-8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3460807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Disjoint Sets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dirty="0"/>
                  <a:t>Two sets are called disjoint if their intersection is the empty set.</a:t>
                </a:r>
              </a:p>
              <a:p>
                <a:endParaRPr lang="en-GB" dirty="0"/>
              </a:p>
              <a:p>
                <a:r>
                  <a:rPr lang="en-GB" b="1" u="sng" dirty="0"/>
                  <a:t>Example 1:</a:t>
                </a:r>
              </a:p>
              <a:p>
                <a:pPr lvl="1"/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𝐴</m:t>
                    </m:r>
                    <m:r>
                      <a:rPr lang="en-US" i="1" dirty="0" smtClean="0">
                        <a:latin typeface="Cambria Math"/>
                      </a:rPr>
                      <m:t> ={1, 3, 5, 7, 9} </m:t>
                    </m:r>
                  </m:oMath>
                </a14:m>
                <a:r>
                  <a:rPr lang="en-US" dirty="0"/>
                  <a:t>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𝐵</m:t>
                    </m:r>
                    <m:r>
                      <a:rPr lang="en-US" i="1" dirty="0" smtClean="0">
                        <a:latin typeface="Cambria Math"/>
                      </a:rPr>
                      <m:t> ={2, 4, 6, 8, 10}. </m:t>
                    </m:r>
                  </m:oMath>
                </a14:m>
                <a:endParaRPr lang="en-US" dirty="0"/>
              </a:p>
              <a:p>
                <a:pPr marL="274320" lvl="1" indent="0">
                  <a:buNone/>
                </a:pPr>
                <a:r>
                  <a:rPr lang="en-US" dirty="0"/>
                  <a:t>    Because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𝐴</m:t>
                    </m:r>
                    <m:r>
                      <a:rPr lang="en-US" i="1" dirty="0" smtClean="0">
                        <a:latin typeface="Cambria Math"/>
                      </a:rPr>
                      <m:t> ∩ </m:t>
                    </m:r>
                    <m:r>
                      <a:rPr lang="en-US" i="1" dirty="0" smtClean="0">
                        <a:latin typeface="Cambria Math"/>
                      </a:rPr>
                      <m:t>𝐵</m:t>
                    </m:r>
                    <m:r>
                      <a:rPr lang="en-US" i="1" dirty="0" smtClean="0">
                        <a:latin typeface="Cambria Math"/>
                      </a:rPr>
                      <m:t> =Ø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𝐴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𝐵</m:t>
                    </m:r>
                  </m:oMath>
                </a14:m>
                <a:r>
                  <a:rPr lang="en-US" dirty="0"/>
                  <a:t> are disjoint. </a:t>
                </a:r>
                <a:endParaRPr lang="en-US" b="1" u="sng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593" t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3516469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Difference of Sets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𝐴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𝐵</m:t>
                    </m:r>
                  </m:oMath>
                </a14:m>
                <a:r>
                  <a:rPr lang="en-US" dirty="0"/>
                  <a:t> be sets. </a:t>
                </a:r>
              </a:p>
              <a:p>
                <a:r>
                  <a:rPr lang="en-US" dirty="0"/>
                  <a:t>The difference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𝐴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𝐵</m:t>
                    </m:r>
                  </m:oMath>
                </a14:m>
                <a:r>
                  <a:rPr lang="en-US" dirty="0"/>
                  <a:t>, denoted by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𝐴</m:t>
                    </m:r>
                    <m:r>
                      <a:rPr lang="en-US" i="1" dirty="0" smtClean="0">
                        <a:latin typeface="Cambria Math"/>
                      </a:rPr>
                      <m:t> − </m:t>
                    </m:r>
                    <m:r>
                      <a:rPr lang="en-US" i="1" dirty="0" smtClean="0">
                        <a:latin typeface="Cambria Math"/>
                      </a:rPr>
                      <m:t>𝐵</m:t>
                    </m:r>
                  </m:oMath>
                </a14:m>
                <a:r>
                  <a:rPr lang="en-US" dirty="0"/>
                  <a:t>, is the set containing those elements that are in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𝐴</m:t>
                    </m:r>
                  </m:oMath>
                </a14:m>
                <a:r>
                  <a:rPr lang="en-US" dirty="0"/>
                  <a:t> but not in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𝐵</m:t>
                    </m:r>
                  </m:oMath>
                </a14:m>
                <a:r>
                  <a:rPr lang="en-US" dirty="0"/>
                  <a:t>. The difference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𝐴</m:t>
                    </m:r>
                  </m:oMath>
                </a14:m>
                <a:r>
                  <a:rPr lang="en-US" dirty="0"/>
                  <a:t> and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 </m:t>
                    </m:r>
                    <m:r>
                      <a:rPr lang="en-US" i="1" dirty="0" smtClean="0">
                        <a:latin typeface="Cambria Math"/>
                      </a:rPr>
                      <m:t>𝐵</m:t>
                    </m:r>
                  </m:oMath>
                </a14:m>
                <a:r>
                  <a:rPr lang="en-US" dirty="0"/>
                  <a:t> is also called the complement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𝐵</m:t>
                    </m:r>
                  </m:oMath>
                </a14:m>
                <a:r>
                  <a:rPr lang="en-US" dirty="0"/>
                  <a:t> with respect to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𝐴</m:t>
                    </m:r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The difference of sets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𝐴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𝐵</m:t>
                    </m:r>
                  </m:oMath>
                </a14:m>
                <a:r>
                  <a:rPr lang="en-US" dirty="0"/>
                  <a:t> is sometimes denoted by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𝐴</m:t>
                    </m:r>
                    <m:r>
                      <a:rPr lang="en-US" i="1" dirty="0" smtClean="0">
                        <a:latin typeface="Cambria Math"/>
                      </a:rPr>
                      <m:t>\</m:t>
                    </m:r>
                    <m:r>
                      <m:rPr>
                        <m:sty m:val="p"/>
                      </m:rPr>
                      <a:rPr lang="en-US" i="1" dirty="0" smtClean="0">
                        <a:latin typeface="Cambria Math"/>
                      </a:rPr>
                      <m:t>B</m:t>
                    </m:r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An element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US" dirty="0"/>
                  <a:t> belongs to the difference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𝐴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𝐵</m:t>
                    </m:r>
                  </m:oMath>
                </a14:m>
                <a:r>
                  <a:rPr lang="en-US" dirty="0"/>
                  <a:t> if and only if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𝑥</m:t>
                    </m:r>
                    <m:r>
                      <a:rPr lang="en-US" i="1" dirty="0" smtClean="0">
                        <a:latin typeface="Cambria Math"/>
                      </a:rPr>
                      <m:t> ∈ </m:t>
                    </m:r>
                    <m:r>
                      <a:rPr lang="en-US" i="1" dirty="0" smtClean="0">
                        <a:latin typeface="Cambria Math"/>
                      </a:rPr>
                      <m:t>𝐴</m:t>
                    </m:r>
                    <m:r>
                      <a:rPr lang="en-US" i="1" dirty="0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dirty="0"/>
                  <a:t>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𝑥</m:t>
                    </m:r>
                    <m:r>
                      <a:rPr lang="en-US" i="1" dirty="0" smtClean="0">
                        <a:latin typeface="Cambria Math"/>
                      </a:rPr>
                      <m:t>∉ </m:t>
                    </m:r>
                    <m:r>
                      <a:rPr lang="en-US" i="1" dirty="0" smtClean="0">
                        <a:latin typeface="Cambria Math"/>
                      </a:rPr>
                      <m:t>𝐵</m:t>
                    </m:r>
                    <m:r>
                      <a:rPr lang="en-US" i="1" dirty="0" smtClean="0">
                        <a:latin typeface="Cambria Math"/>
                      </a:rPr>
                      <m:t>. </m:t>
                    </m:r>
                  </m:oMath>
                </a14:m>
                <a:r>
                  <a:rPr lang="en-US" dirty="0"/>
                  <a:t>This tells us that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/>
                        </a:rPr>
                        <m:t>𝐴</m:t>
                      </m:r>
                      <m:r>
                        <a:rPr lang="en-US" i="1" dirty="0" smtClean="0">
                          <a:latin typeface="Cambria Math"/>
                        </a:rPr>
                        <m:t> − </m:t>
                      </m:r>
                      <m:r>
                        <a:rPr lang="en-US" i="1" dirty="0" smtClean="0">
                          <a:latin typeface="Cambria Math"/>
                        </a:rPr>
                        <m:t>𝐵</m:t>
                      </m:r>
                      <m:r>
                        <a:rPr lang="en-US" i="1" dirty="0" smtClean="0">
                          <a:latin typeface="Cambria Math"/>
                        </a:rPr>
                        <m:t> ={</m:t>
                      </m:r>
                      <m:r>
                        <a:rPr lang="en-US" i="1" dirty="0" smtClean="0">
                          <a:latin typeface="Cambria Math"/>
                        </a:rPr>
                        <m:t>𝑥</m:t>
                      </m:r>
                      <m:r>
                        <a:rPr lang="en-US" i="1" dirty="0" smtClean="0">
                          <a:latin typeface="Cambria Math"/>
                        </a:rPr>
                        <m:t> | </m:t>
                      </m:r>
                      <m:r>
                        <a:rPr lang="en-US" i="1" dirty="0" smtClean="0">
                          <a:latin typeface="Cambria Math"/>
                        </a:rPr>
                        <m:t>𝑥</m:t>
                      </m:r>
                      <m:r>
                        <a:rPr lang="en-US" i="1" dirty="0" smtClean="0">
                          <a:latin typeface="Cambria Math"/>
                        </a:rPr>
                        <m:t> ∈ </m:t>
                      </m:r>
                      <m:r>
                        <a:rPr lang="en-US" i="1" dirty="0" smtClean="0">
                          <a:latin typeface="Cambria Math"/>
                        </a:rPr>
                        <m:t>𝐴</m:t>
                      </m:r>
                      <m:r>
                        <a:rPr lang="en-US" i="1" dirty="0" smtClean="0">
                          <a:latin typeface="Cambria Math"/>
                        </a:rPr>
                        <m:t> ∧ </m:t>
                      </m:r>
                      <m:r>
                        <a:rPr lang="en-US" i="1" dirty="0" smtClean="0">
                          <a:latin typeface="Cambria Math"/>
                        </a:rPr>
                        <m:t>𝑥</m:t>
                      </m:r>
                      <m:r>
                        <a:rPr lang="en-US" i="1" dirty="0" smtClean="0">
                          <a:latin typeface="Cambria Math"/>
                        </a:rPr>
                        <m:t>∉ </m:t>
                      </m:r>
                      <m:r>
                        <a:rPr lang="en-US" i="1" dirty="0" smtClean="0">
                          <a:latin typeface="Cambria Math"/>
                        </a:rPr>
                        <m:t>𝐵</m:t>
                      </m:r>
                      <m:r>
                        <a:rPr lang="en-US" i="1" dirty="0" smtClean="0">
                          <a:latin typeface="Cambria Math"/>
                        </a:rPr>
                        <m:t>}.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1259" t="-1111" r="-5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0375444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Difference of Sets(Contd.)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1371600"/>
            <a:ext cx="4800600" cy="4267200"/>
          </a:xfrm>
        </p:spPr>
      </p:pic>
    </p:spTree>
    <p:extLst>
      <p:ext uri="{BB962C8B-B14F-4D97-AF65-F5344CB8AC3E}">
        <p14:creationId xmlns:p14="http://schemas.microsoft.com/office/powerpoint/2010/main" val="221871728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dirty="0"/>
              <a:t>Difference of Sets(Contd.)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GB" b="1" u="sng" dirty="0"/>
                  <a:t>Example 1:</a:t>
                </a:r>
              </a:p>
              <a:p>
                <a:pPr lvl="1"/>
                <a:r>
                  <a:rPr lang="en-US" dirty="0"/>
                  <a:t>Find the difference of the sets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{1, 3, 5} </m:t>
                    </m:r>
                  </m:oMath>
                </a14:m>
                <a:r>
                  <a:rPr lang="en-US" dirty="0"/>
                  <a:t>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{1, 2, 3}.</m:t>
                    </m:r>
                  </m:oMath>
                </a14:m>
                <a:endParaRPr lang="en-US" dirty="0"/>
              </a:p>
              <a:p>
                <a:endParaRPr lang="en-GB" dirty="0"/>
              </a:p>
              <a:p>
                <a:r>
                  <a:rPr lang="en-GB" b="1" u="sng" dirty="0"/>
                  <a:t>Solution:</a:t>
                </a:r>
                <a:endParaRPr lang="en-US" b="1" u="sng" dirty="0"/>
              </a:p>
              <a:p>
                <a:pPr marL="594360" lvl="2" indent="0">
                  <a:buNone/>
                </a:pPr>
                <a:r>
                  <a:rPr lang="en-US" dirty="0"/>
                  <a:t>The difference of the two sets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{1, 3, 5} </m:t>
                    </m:r>
                  </m:oMath>
                </a14:m>
                <a:r>
                  <a:rPr lang="en-US" dirty="0"/>
                  <a:t>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{1, 2, 3} </m:t>
                    </m:r>
                  </m:oMath>
                </a14:m>
                <a:r>
                  <a:rPr lang="en-US" dirty="0"/>
                  <a:t>can be written as,</a:t>
                </a:r>
              </a:p>
              <a:p>
                <a:pPr marL="274320" lvl="1" indent="0">
                  <a:buNone/>
                </a:pPr>
                <a:endParaRPr lang="en-GB" i="1" dirty="0">
                  <a:latin typeface="Cambria Math"/>
                </a:endParaRPr>
              </a:p>
              <a:p>
                <a:pPr marL="27432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dirty="0" smtClean="0">
                              <a:latin typeface="Cambria Math"/>
                            </a:rPr>
                            <m:t>1, 3, 5</m:t>
                          </m:r>
                        </m:e>
                      </m:d>
                      <m:r>
                        <a:rPr lang="en-GB" b="0" i="1" dirty="0" smtClean="0">
                          <a:latin typeface="Cambria Math"/>
                        </a:rPr>
                        <m:t>−</m:t>
                      </m:r>
                      <m:r>
                        <a:rPr lang="en-US" i="1" dirty="0" smtClean="0">
                          <a:latin typeface="Cambria Math"/>
                        </a:rPr>
                        <m:t>{1, 2, 3}={</m:t>
                      </m:r>
                      <m:r>
                        <a:rPr lang="en-GB" b="0" i="1" dirty="0" smtClean="0">
                          <a:latin typeface="Cambria Math"/>
                        </a:rPr>
                        <m:t>5</m:t>
                      </m:r>
                      <m:r>
                        <a:rPr lang="en-US" i="1" dirty="0" smtClean="0">
                          <a:latin typeface="Cambria Math"/>
                        </a:rPr>
                        <m:t>}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593" t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7317537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Complement of Sets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𝑈</m:t>
                    </m:r>
                  </m:oMath>
                </a14:m>
                <a:r>
                  <a:rPr lang="en-US" dirty="0"/>
                  <a:t> be the universal set. The complement of the set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𝐴</m:t>
                    </m:r>
                    <m:r>
                      <a:rPr lang="en-US" i="1" dirty="0" smtClean="0">
                        <a:latin typeface="Cambria Math"/>
                      </a:rPr>
                      <m:t>, </m:t>
                    </m:r>
                  </m:oMath>
                </a14:m>
                <a:r>
                  <a:rPr lang="en-US" dirty="0"/>
                  <a:t>denoted by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𝐴</m:t>
                    </m:r>
                  </m:oMath>
                </a14:m>
                <a:r>
                  <a:rPr lang="en-US" dirty="0"/>
                  <a:t>, is the complement of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 </m:t>
                    </m:r>
                    <m:r>
                      <a:rPr lang="en-US" i="1" dirty="0">
                        <a:latin typeface="Cambria Math"/>
                      </a:rPr>
                      <m:t>𝐴</m:t>
                    </m:r>
                    <m:r>
                      <a:rPr lang="en-US" i="1" dirty="0">
                        <a:latin typeface="Cambria Math"/>
                      </a:rPr>
                      <m:t> </m:t>
                    </m:r>
                  </m:oMath>
                </a14:m>
                <a:r>
                  <a:rPr lang="en-US" dirty="0"/>
                  <a:t>with respect to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𝑈</m:t>
                    </m:r>
                    <m:r>
                      <a:rPr lang="en-US" i="1" dirty="0" smtClean="0">
                        <a:latin typeface="Cambria Math"/>
                      </a:rPr>
                      <m:t>. </m:t>
                    </m:r>
                  </m:oMath>
                </a14:m>
                <a:r>
                  <a:rPr lang="en-US" dirty="0"/>
                  <a:t>Therefore, the complement of the set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𝐴</m:t>
                    </m:r>
                  </m:oMath>
                </a14:m>
                <a:r>
                  <a:rPr lang="en-US" dirty="0"/>
                  <a:t> is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𝑈</m:t>
                    </m:r>
                    <m:r>
                      <a:rPr lang="en-US" i="1" dirty="0" smtClean="0">
                        <a:latin typeface="Cambria Math"/>
                      </a:rPr>
                      <m:t> − </m:t>
                    </m:r>
                    <m:r>
                      <a:rPr lang="en-US" i="1" dirty="0" smtClean="0">
                        <a:latin typeface="Cambria Math"/>
                      </a:rPr>
                      <m:t>𝐴</m:t>
                    </m:r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An element belongs to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𝐴</m:t>
                    </m:r>
                  </m:oMath>
                </a14:m>
                <a:r>
                  <a:rPr lang="en-US" dirty="0"/>
                  <a:t> if and only if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𝑥</m:t>
                    </m:r>
                    <m:r>
                      <a:rPr lang="en-US" i="1" dirty="0" smtClean="0">
                        <a:latin typeface="Cambria Math"/>
                      </a:rPr>
                      <m:t>∉ </m:t>
                    </m:r>
                    <m:r>
                      <a:rPr lang="en-US" i="1" dirty="0" smtClean="0">
                        <a:latin typeface="Cambria Math"/>
                      </a:rPr>
                      <m:t>𝐴</m:t>
                    </m:r>
                  </m:oMath>
                </a14:m>
                <a:r>
                  <a:rPr lang="en-US" dirty="0"/>
                  <a:t>. This tells us that</a:t>
                </a:r>
              </a:p>
              <a:p>
                <a:pPr marL="0" indent="0">
                  <a:buNone/>
                </a:pPr>
                <a:endParaRPr lang="en-GB" i="1" dirty="0">
                  <a:latin typeface="Cambria Math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/>
                        </a:rPr>
                        <m:t>𝐴</m:t>
                      </m:r>
                      <m:r>
                        <a:rPr lang="en-US" i="1" dirty="0" smtClean="0">
                          <a:latin typeface="Cambria Math"/>
                        </a:rPr>
                        <m:t> ={</m:t>
                      </m:r>
                      <m:r>
                        <a:rPr lang="en-US" i="1" dirty="0" smtClean="0">
                          <a:latin typeface="Cambria Math"/>
                        </a:rPr>
                        <m:t>𝑥</m:t>
                      </m:r>
                      <m:r>
                        <a:rPr lang="en-US" i="1" dirty="0" smtClean="0">
                          <a:latin typeface="Cambria Math"/>
                        </a:rPr>
                        <m:t> ∈ </m:t>
                      </m:r>
                      <m:r>
                        <a:rPr lang="en-US" i="1" dirty="0" smtClean="0">
                          <a:latin typeface="Cambria Math"/>
                        </a:rPr>
                        <m:t>𝑈</m:t>
                      </m:r>
                      <m:r>
                        <a:rPr lang="en-US" i="1" dirty="0" smtClean="0">
                          <a:latin typeface="Cambria Math"/>
                        </a:rPr>
                        <m:t> | </m:t>
                      </m:r>
                      <m:r>
                        <a:rPr lang="en-US" i="1" dirty="0" smtClean="0">
                          <a:latin typeface="Cambria Math"/>
                        </a:rPr>
                        <m:t>𝑥</m:t>
                      </m:r>
                      <m:r>
                        <a:rPr lang="en-US" i="1" dirty="0" smtClean="0">
                          <a:latin typeface="Cambria Math"/>
                        </a:rPr>
                        <m:t>∉ </m:t>
                      </m:r>
                      <m:r>
                        <a:rPr lang="en-US" i="1" dirty="0" smtClean="0">
                          <a:latin typeface="Cambria Math"/>
                        </a:rPr>
                        <m:t>𝐴</m:t>
                      </m:r>
                      <m:r>
                        <a:rPr lang="en-US" i="1" dirty="0" smtClean="0">
                          <a:latin typeface="Cambria Math"/>
                        </a:rPr>
                        <m:t>}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1259" t="-1111" r="-1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0665720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Complement of Sets(Contd.)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4977" y="1412021"/>
            <a:ext cx="5234023" cy="4607779"/>
          </a:xfrm>
        </p:spPr>
      </p:pic>
    </p:spTree>
    <p:extLst>
      <p:ext uri="{BB962C8B-B14F-4D97-AF65-F5344CB8AC3E}">
        <p14:creationId xmlns:p14="http://schemas.microsoft.com/office/powerpoint/2010/main" val="248520366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Complement of Sets(Contd.)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GB" b="1" u="sng" dirty="0"/>
                  <a:t>Example 1:</a:t>
                </a:r>
              </a:p>
              <a:p>
                <a:pPr lvl="1"/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𝐴</m:t>
                    </m:r>
                    <m:r>
                      <a:rPr lang="en-US" i="1" dirty="0" smtClean="0">
                        <a:latin typeface="Cambria Math"/>
                      </a:rPr>
                      <m:t> ={</m:t>
                    </m:r>
                    <m:r>
                      <a:rPr lang="en-US" i="1" dirty="0" smtClean="0">
                        <a:latin typeface="Cambria Math"/>
                      </a:rPr>
                      <m:t>𝑎</m:t>
                    </m:r>
                    <m:r>
                      <a:rPr lang="en-US" i="1" dirty="0" smtClean="0">
                        <a:latin typeface="Cambria Math"/>
                      </a:rPr>
                      <m:t>, </m:t>
                    </m:r>
                    <m:r>
                      <a:rPr lang="en-US" i="1" dirty="0" smtClean="0">
                        <a:latin typeface="Cambria Math"/>
                      </a:rPr>
                      <m:t>𝑒</m:t>
                    </m:r>
                    <m:r>
                      <a:rPr lang="en-US" i="1" dirty="0" smtClean="0">
                        <a:latin typeface="Cambria Math"/>
                      </a:rPr>
                      <m:t>, </m:t>
                    </m:r>
                    <m:r>
                      <a:rPr lang="en-US" i="1" dirty="0" smtClean="0">
                        <a:latin typeface="Cambria Math"/>
                      </a:rPr>
                      <m:t>𝑖</m:t>
                    </m:r>
                    <m:r>
                      <a:rPr lang="en-US" i="1" dirty="0" smtClean="0">
                        <a:latin typeface="Cambria Math"/>
                      </a:rPr>
                      <m:t>, </m:t>
                    </m:r>
                    <m:r>
                      <a:rPr lang="en-US" i="1" dirty="0" smtClean="0">
                        <a:latin typeface="Cambria Math"/>
                      </a:rPr>
                      <m:t>𝑜</m:t>
                    </m:r>
                    <m:r>
                      <a:rPr lang="en-US" i="1" dirty="0" smtClean="0">
                        <a:latin typeface="Cambria Math"/>
                      </a:rPr>
                      <m:t>, </m:t>
                    </m:r>
                    <m:r>
                      <a:rPr lang="en-US" i="1" dirty="0" smtClean="0">
                        <a:latin typeface="Cambria Math"/>
                      </a:rPr>
                      <m:t>𝑢</m:t>
                    </m:r>
                    <m:r>
                      <a:rPr lang="en-US" i="1" dirty="0" smtClean="0">
                        <a:latin typeface="Cambria Math"/>
                      </a:rPr>
                      <m:t>} </m:t>
                    </m:r>
                  </m:oMath>
                </a14:m>
                <a:r>
                  <a:rPr lang="en-US" dirty="0"/>
                  <a:t>(where the universal set is the set of letters of the English alphabet). Then</a:t>
                </a:r>
              </a:p>
              <a:p>
                <a:pPr marL="274320" lvl="1" indent="0">
                  <a:buNone/>
                </a:pPr>
                <a:endParaRPr lang="en-GB" i="1" dirty="0">
                  <a:latin typeface="Cambria Math"/>
                </a:endParaRPr>
              </a:p>
              <a:p>
                <a:pPr marL="27432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b="0" i="1" dirty="0" smtClean="0">
                              <a:latin typeface="Cambria Math"/>
                            </a:rPr>
                            <m:t>𝐴</m:t>
                          </m:r>
                        </m:e>
                      </m:acc>
                      <m:r>
                        <a:rPr lang="en-US" i="1" dirty="0" smtClean="0">
                          <a:latin typeface="Cambria Math"/>
                        </a:rPr>
                        <m:t> ={</m:t>
                      </m:r>
                      <m:r>
                        <a:rPr lang="en-US" i="1" dirty="0" smtClean="0">
                          <a:latin typeface="Cambria Math"/>
                        </a:rPr>
                        <m:t>𝑏</m:t>
                      </m:r>
                      <m:r>
                        <a:rPr lang="en-US" i="1" dirty="0" smtClean="0">
                          <a:latin typeface="Cambria Math"/>
                        </a:rPr>
                        <m:t>, </m:t>
                      </m:r>
                      <m:r>
                        <a:rPr lang="en-US" i="1" dirty="0" smtClean="0">
                          <a:latin typeface="Cambria Math"/>
                        </a:rPr>
                        <m:t>𝑐</m:t>
                      </m:r>
                      <m:r>
                        <a:rPr lang="en-US" i="1" dirty="0" smtClean="0">
                          <a:latin typeface="Cambria Math"/>
                        </a:rPr>
                        <m:t>, </m:t>
                      </m:r>
                      <m:r>
                        <a:rPr lang="en-US" i="1" dirty="0" smtClean="0">
                          <a:latin typeface="Cambria Math"/>
                        </a:rPr>
                        <m:t>𝑑</m:t>
                      </m:r>
                      <m:r>
                        <a:rPr lang="en-US" i="1" dirty="0" smtClean="0">
                          <a:latin typeface="Cambria Math"/>
                        </a:rPr>
                        <m:t>, </m:t>
                      </m:r>
                      <m:r>
                        <a:rPr lang="en-US" i="1" dirty="0" smtClean="0">
                          <a:latin typeface="Cambria Math"/>
                        </a:rPr>
                        <m:t>𝑓</m:t>
                      </m:r>
                      <m:r>
                        <a:rPr lang="en-US" i="1" dirty="0" smtClean="0">
                          <a:latin typeface="Cambria Math"/>
                        </a:rPr>
                        <m:t>, </m:t>
                      </m:r>
                      <m:r>
                        <a:rPr lang="en-US" i="1" dirty="0" smtClean="0">
                          <a:latin typeface="Cambria Math"/>
                        </a:rPr>
                        <m:t>𝑔</m:t>
                      </m:r>
                      <m:r>
                        <a:rPr lang="en-US" i="1" dirty="0" smtClean="0">
                          <a:latin typeface="Cambria Math"/>
                        </a:rPr>
                        <m:t>, </m:t>
                      </m:r>
                      <m:r>
                        <a:rPr lang="en-US" i="1" dirty="0" smtClean="0">
                          <a:latin typeface="Cambria Math"/>
                        </a:rPr>
                        <m:t>h</m:t>
                      </m:r>
                      <m:r>
                        <a:rPr lang="en-US" i="1" dirty="0" smtClean="0">
                          <a:latin typeface="Cambria Math"/>
                        </a:rPr>
                        <m:t>, </m:t>
                      </m:r>
                      <m:r>
                        <a:rPr lang="en-US" i="1" dirty="0" smtClean="0">
                          <a:latin typeface="Cambria Math"/>
                        </a:rPr>
                        <m:t>𝑗</m:t>
                      </m:r>
                      <m:r>
                        <a:rPr lang="en-US" i="1" dirty="0" smtClean="0">
                          <a:latin typeface="Cambria Math"/>
                        </a:rPr>
                        <m:t>, </m:t>
                      </m:r>
                      <m:r>
                        <a:rPr lang="en-US" i="1" dirty="0" smtClean="0">
                          <a:latin typeface="Cambria Math"/>
                        </a:rPr>
                        <m:t>𝑘</m:t>
                      </m:r>
                      <m:r>
                        <a:rPr lang="en-US" i="1" dirty="0" smtClean="0">
                          <a:latin typeface="Cambria Math"/>
                        </a:rPr>
                        <m:t>, </m:t>
                      </m:r>
                      <m:r>
                        <a:rPr lang="en-US" i="1" dirty="0" smtClean="0">
                          <a:latin typeface="Cambria Math"/>
                        </a:rPr>
                        <m:t>𝑙</m:t>
                      </m:r>
                      <m:r>
                        <a:rPr lang="en-US" i="1" dirty="0" smtClean="0">
                          <a:latin typeface="Cambria Math"/>
                        </a:rPr>
                        <m:t>, </m:t>
                      </m:r>
                      <m:r>
                        <a:rPr lang="en-US" i="1" dirty="0" smtClean="0">
                          <a:latin typeface="Cambria Math"/>
                        </a:rPr>
                        <m:t>𝑚</m:t>
                      </m:r>
                      <m:r>
                        <a:rPr lang="en-US" i="1" dirty="0" smtClean="0">
                          <a:latin typeface="Cambria Math"/>
                        </a:rPr>
                        <m:t>, </m:t>
                      </m:r>
                      <m:r>
                        <a:rPr lang="en-US" i="1" dirty="0" smtClean="0">
                          <a:latin typeface="Cambria Math"/>
                        </a:rPr>
                        <m:t>𝑛</m:t>
                      </m:r>
                      <m:r>
                        <a:rPr lang="en-US" i="1" dirty="0" smtClean="0">
                          <a:latin typeface="Cambria Math"/>
                        </a:rPr>
                        <m:t>, </m:t>
                      </m:r>
                      <m:r>
                        <a:rPr lang="en-US" i="1" dirty="0" smtClean="0">
                          <a:latin typeface="Cambria Math"/>
                        </a:rPr>
                        <m:t>𝑝</m:t>
                      </m:r>
                      <m:r>
                        <a:rPr lang="en-US" i="1" dirty="0" smtClean="0">
                          <a:latin typeface="Cambria Math"/>
                        </a:rPr>
                        <m:t>, </m:t>
                      </m:r>
                      <m:r>
                        <a:rPr lang="en-US" i="1" dirty="0" smtClean="0">
                          <a:latin typeface="Cambria Math"/>
                        </a:rPr>
                        <m:t>𝑞</m:t>
                      </m:r>
                      <m:r>
                        <a:rPr lang="en-US" i="1" dirty="0" smtClean="0">
                          <a:latin typeface="Cambria Math"/>
                        </a:rPr>
                        <m:t>, </m:t>
                      </m:r>
                      <m:r>
                        <a:rPr lang="en-US" i="1" dirty="0" smtClean="0">
                          <a:latin typeface="Cambria Math"/>
                        </a:rPr>
                        <m:t>𝑟</m:t>
                      </m:r>
                      <m:r>
                        <a:rPr lang="en-US" i="1" dirty="0" smtClean="0">
                          <a:latin typeface="Cambria Math"/>
                        </a:rPr>
                        <m:t>, </m:t>
                      </m:r>
                      <m:r>
                        <a:rPr lang="en-US" i="1" dirty="0" smtClean="0">
                          <a:latin typeface="Cambria Math"/>
                        </a:rPr>
                        <m:t>𝑠</m:t>
                      </m:r>
                      <m:r>
                        <a:rPr lang="en-US" i="1" dirty="0" smtClean="0">
                          <a:latin typeface="Cambria Math"/>
                        </a:rPr>
                        <m:t>, </m:t>
                      </m:r>
                      <m:r>
                        <a:rPr lang="en-US" i="1" dirty="0" smtClean="0">
                          <a:latin typeface="Cambria Math"/>
                        </a:rPr>
                        <m:t>𝑡</m:t>
                      </m:r>
                      <m:r>
                        <a:rPr lang="en-US" i="1" dirty="0" smtClean="0">
                          <a:latin typeface="Cambria Math"/>
                        </a:rPr>
                        <m:t>, </m:t>
                      </m:r>
                      <m:r>
                        <a:rPr lang="en-US" i="1" dirty="0" smtClean="0">
                          <a:latin typeface="Cambria Math"/>
                        </a:rPr>
                        <m:t>𝑣</m:t>
                      </m:r>
                      <m:r>
                        <a:rPr lang="en-US" i="1" dirty="0" smtClean="0">
                          <a:latin typeface="Cambria Math"/>
                        </a:rPr>
                        <m:t>, </m:t>
                      </m:r>
                      <m:r>
                        <a:rPr lang="en-US" i="1" dirty="0" err="1">
                          <a:latin typeface="Cambria Math"/>
                        </a:rPr>
                        <m:t>𝑤</m:t>
                      </m:r>
                      <m:r>
                        <a:rPr lang="en-US" i="1" dirty="0" err="1">
                          <a:latin typeface="Cambria Math"/>
                        </a:rPr>
                        <m:t>,</m:t>
                      </m:r>
                      <m:r>
                        <a:rPr lang="en-US" i="1" dirty="0" err="1">
                          <a:latin typeface="Cambria Math"/>
                        </a:rPr>
                        <m:t>𝑥</m:t>
                      </m:r>
                      <m:r>
                        <a:rPr lang="en-US" i="1" dirty="0" err="1">
                          <a:latin typeface="Cambria Math"/>
                        </a:rPr>
                        <m:t>,</m:t>
                      </m:r>
                      <m:r>
                        <a:rPr lang="en-US" i="1" dirty="0" err="1">
                          <a:latin typeface="Cambria Math"/>
                        </a:rPr>
                        <m:t>𝑦</m:t>
                      </m:r>
                      <m:r>
                        <a:rPr lang="en-US" i="1" dirty="0" err="1">
                          <a:latin typeface="Cambria Math"/>
                        </a:rPr>
                        <m:t>,</m:t>
                      </m:r>
                      <m:r>
                        <a:rPr lang="en-US" i="1" dirty="0" err="1">
                          <a:latin typeface="Cambria Math"/>
                        </a:rPr>
                        <m:t>𝑧</m:t>
                      </m:r>
                      <m:r>
                        <a:rPr lang="en-US" i="1" dirty="0">
                          <a:latin typeface="Cambria Math"/>
                        </a:rPr>
                        <m:t>}.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593" t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4381252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dirty="0"/>
              <a:t>Set Identities</a:t>
            </a:r>
            <a:endParaRPr lang="en-US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1143000"/>
            <a:ext cx="6172200" cy="5257800"/>
          </a:xfrm>
        </p:spPr>
      </p:pic>
    </p:spTree>
    <p:extLst>
      <p:ext uri="{BB962C8B-B14F-4D97-AF65-F5344CB8AC3E}">
        <p14:creationId xmlns:p14="http://schemas.microsoft.com/office/powerpoint/2010/main" val="359309786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Set Identities(Contd.)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GB" b="1" u="sng" dirty="0"/>
                  <a:t>Example 1:</a:t>
                </a:r>
                <a:endParaRPr lang="en-US" b="1" u="sng" dirty="0"/>
              </a:p>
              <a:p>
                <a:pPr lvl="1"/>
                <a:r>
                  <a:rPr lang="en-US" dirty="0"/>
                  <a:t>Prove that </a:t>
                </a:r>
                <a14:m>
                  <m:oMath xmlns:m="http://schemas.openxmlformats.org/officeDocument/2006/math">
                    <m:r>
                      <a:rPr lang="en-GB" b="0" i="0" dirty="0" smtClean="0">
                        <a:latin typeface="Cambria Math"/>
                      </a:rPr>
                      <m:t> </m:t>
                    </m:r>
                    <m:acc>
                      <m:accPr>
                        <m:chr m:val="̅"/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 dirty="0">
                            <a:latin typeface="Cambria Math"/>
                          </a:rPr>
                          <m:t>𝐴</m:t>
                        </m:r>
                        <m:r>
                          <a:rPr lang="en-US" i="1" dirty="0">
                            <a:latin typeface="Cambria Math"/>
                          </a:rPr>
                          <m:t> ∩ </m:t>
                        </m:r>
                        <m:r>
                          <a:rPr lang="en-US" i="1" dirty="0">
                            <a:latin typeface="Cambria Math"/>
                          </a:rPr>
                          <m:t>𝐵</m:t>
                        </m:r>
                      </m:e>
                    </m:acc>
                    <m:r>
                      <a:rPr lang="en-US" i="1" dirty="0" smtClean="0">
                        <a:latin typeface="Cambria Math"/>
                      </a:rPr>
                      <m:t>= </m:t>
                    </m:r>
                    <m:acc>
                      <m:accPr>
                        <m:chr m:val="̅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b="0" i="1" dirty="0" smtClean="0">
                            <a:latin typeface="Cambria Math"/>
                          </a:rPr>
                          <m:t>𝐴</m:t>
                        </m:r>
                      </m:e>
                    </m:acc>
                    <m:r>
                      <a:rPr lang="en-US" i="1" dirty="0" smtClean="0">
                        <a:latin typeface="Cambria Math"/>
                      </a:rPr>
                      <m:t> ∪ </m:t>
                    </m:r>
                    <m:acc>
                      <m:accPr>
                        <m:chr m:val="̅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b="0" i="1" dirty="0" smtClean="0">
                            <a:latin typeface="Cambria Math"/>
                          </a:rPr>
                          <m:t>𝐵</m:t>
                        </m:r>
                      </m:e>
                    </m:acc>
                  </m:oMath>
                </a14:m>
                <a:r>
                  <a:rPr lang="en-US" dirty="0"/>
                  <a:t>.</a:t>
                </a:r>
              </a:p>
              <a:p>
                <a:endParaRPr lang="en-GB" dirty="0"/>
              </a:p>
              <a:p>
                <a:r>
                  <a:rPr lang="en-GB" b="1" u="sng" dirty="0"/>
                  <a:t>Solution:</a:t>
                </a:r>
                <a:endParaRPr lang="en-GB" dirty="0"/>
              </a:p>
              <a:p>
                <a:pPr lvl="2"/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593" t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838200" y="3505200"/>
              <a:ext cx="3386455" cy="2227644"/>
            </p:xfrm>
            <a:graphic>
              <a:graphicData uri="http://schemas.openxmlformats.org/drawingml/2006/table">
                <a:tbl>
                  <a:tblPr>
                    <a:tableStyleId>{1E171933-4619-4E11-9A3F-F7608DF75F80}</a:tableStyleId>
                  </a:tblPr>
                  <a:tblGrid>
                    <a:gridCol w="139674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989709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GB" b="0" i="1" smtClean="0">
                                    <a:latin typeface="Cambria Math"/>
                                    <a:ea typeface="Cambria Math"/>
                                  </a:rPr>
                                  <m:t>∈(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  <a:ea typeface="Cambria Math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GB" b="0" i="1" smtClean="0">
                                        <a:latin typeface="Cambria Math"/>
                                        <a:ea typeface="Cambria Math"/>
                                      </a:rPr>
                                      <m:t>𝐴</m:t>
                                    </m:r>
                                    <m:r>
                                      <a:rPr lang="en-GB" b="0" i="1" smtClean="0">
                                        <a:latin typeface="Cambria Math"/>
                                        <a:ea typeface="Cambria Math"/>
                                      </a:rPr>
                                      <m:t>∪</m:t>
                                    </m:r>
                                    <m:r>
                                      <a:rPr lang="en-GB" b="0" i="1" smtClean="0">
                                        <a:latin typeface="Cambria Math"/>
                                        <a:ea typeface="Cambria Math"/>
                                      </a:rPr>
                                      <m:t>𝐵</m:t>
                                    </m:r>
                                    <m:r>
                                      <a:rPr lang="en-GB" b="0" i="1" smtClean="0">
                                        <a:latin typeface="Cambria Math"/>
                                        <a:ea typeface="Cambria Math"/>
                                      </a:rPr>
                                      <m:t>)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i="1" smtClean="0">
                                  <a:latin typeface="Cambria Math"/>
                                  <a:ea typeface="Cambria Math"/>
                                </a:rPr>
                                <m:t>≡</m:t>
                              </m:r>
                              <m:r>
                                <a:rPr lang="en-GB" b="0" i="1" smtClean="0">
                                  <a:latin typeface="Cambria Math"/>
                                  <a:ea typeface="Cambria Math"/>
                                </a:rPr>
                                <m:t>𝑥</m:t>
                              </m:r>
                              <m:r>
                                <a:rPr lang="en-GB" b="0" i="1" smtClean="0">
                                  <a:latin typeface="Cambria Math"/>
                                  <a:ea typeface="Cambria Math"/>
                                </a:rPr>
                                <m:t>∉(</m:t>
                              </m:r>
                              <m:r>
                                <a:rPr lang="en-GB" b="0" i="1" smtClean="0">
                                  <a:latin typeface="Cambria Math"/>
                                  <a:ea typeface="Cambria Math"/>
                                </a:rPr>
                                <m:t>𝐴</m:t>
                              </m:r>
                              <m:r>
                                <a:rPr lang="en-GB" b="0" i="1" smtClean="0">
                                  <a:latin typeface="Cambria Math"/>
                                  <a:ea typeface="Cambria Math"/>
                                </a:rPr>
                                <m:t>∩</m:t>
                              </m:r>
                              <m:r>
                                <a:rPr lang="en-GB" b="0" i="1" smtClean="0">
                                  <a:latin typeface="Cambria Math"/>
                                  <a:ea typeface="Cambria Math"/>
                                </a:rPr>
                                <m:t>𝐵</m:t>
                              </m:r>
                              <m:r>
                                <a:rPr lang="en-GB" b="0" i="1" smtClean="0">
                                  <a:latin typeface="Cambria Math"/>
                                  <a:ea typeface="Cambria Math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dirty="0"/>
                            <a:t> 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i="1" smtClean="0">
                                  <a:latin typeface="Cambria Math"/>
                                  <a:ea typeface="Cambria Math"/>
                                </a:rPr>
                                <m:t>≡</m:t>
                              </m:r>
                              <m:r>
                                <a:rPr lang="en-GB" b="0" i="1" smtClean="0">
                                  <a:latin typeface="Cambria Math"/>
                                  <a:ea typeface="Cambria Math"/>
                                </a:rPr>
                                <m:t>𝑥</m:t>
                              </m:r>
                              <m:r>
                                <a:rPr lang="en-GB" b="0" i="1" smtClean="0">
                                  <a:latin typeface="Cambria Math"/>
                                  <a:ea typeface="Cambria Math"/>
                                </a:rPr>
                                <m:t>∉</m:t>
                              </m:r>
                              <m:r>
                                <a:rPr lang="en-GB" b="0" i="1" smtClean="0">
                                  <a:latin typeface="Cambria Math"/>
                                  <a:ea typeface="Cambria Math"/>
                                </a:rPr>
                                <m:t>𝐴</m:t>
                              </m:r>
                              <m:r>
                                <a:rPr lang="en-GB" b="0" i="1" smtClean="0">
                                  <a:latin typeface="Cambria Math"/>
                                  <a:ea typeface="Cambria Math"/>
                                </a:rPr>
                                <m:t> </m:t>
                              </m:r>
                              <m:r>
                                <a:rPr lang="en-GB" b="0" i="1" smtClean="0">
                                  <a:latin typeface="Cambria Math"/>
                                  <a:ea typeface="Cambria Math"/>
                                </a:rPr>
                                <m:t>𝑜𝑟</m:t>
                              </m:r>
                              <m:r>
                                <a:rPr lang="en-GB" b="0" i="1" smtClean="0">
                                  <a:latin typeface="Cambria Math"/>
                                  <a:ea typeface="Cambria Math"/>
                                </a:rPr>
                                <m:t> </m:t>
                              </m:r>
                              <m:r>
                                <a:rPr lang="en-GB" b="0" i="1" smtClean="0">
                                  <a:latin typeface="Cambria Math"/>
                                  <a:ea typeface="Cambria Math"/>
                                </a:rPr>
                                <m:t>𝑥</m:t>
                              </m:r>
                              <m:r>
                                <a:rPr lang="en-GB" b="0" i="1" smtClean="0">
                                  <a:latin typeface="Cambria Math"/>
                                  <a:ea typeface="Cambria Math"/>
                                </a:rPr>
                                <m:t>∉</m:t>
                              </m:r>
                              <m:r>
                                <a:rPr lang="en-GB" b="0" i="1" smtClean="0">
                                  <a:latin typeface="Cambria Math"/>
                                  <a:ea typeface="Cambria Math"/>
                                </a:rPr>
                                <m:t>𝐵</m:t>
                              </m:r>
                            </m:oMath>
                          </a14:m>
                          <a:r>
                            <a:rPr lang="en-US" dirty="0"/>
                            <a:t> 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i="1" smtClean="0">
                                  <a:latin typeface="Cambria Math"/>
                                  <a:ea typeface="Cambria Math"/>
                                </a:rPr>
                                <m:t>≡</m:t>
                              </m:r>
                              <m:r>
                                <a:rPr lang="en-GB" b="0" i="1" smtClean="0">
                                  <a:latin typeface="Cambria Math"/>
                                  <a:ea typeface="Cambria Math"/>
                                </a:rPr>
                                <m:t>𝑥</m:t>
                              </m:r>
                              <m:r>
                                <a:rPr lang="en-GB" b="0" i="1" smtClean="0">
                                  <a:latin typeface="Cambria Math"/>
                                  <a:ea typeface="Cambria Math"/>
                                </a:rPr>
                                <m:t>∈</m:t>
                              </m:r>
                              <m:acc>
                                <m:accPr>
                                  <m:chr m:val="̅"/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accPr>
                                <m:e>
                                  <m:r>
                                    <a:rPr lang="en-GB" b="0" i="1" smtClean="0">
                                      <a:latin typeface="Cambria Math"/>
                                      <a:ea typeface="Cambria Math"/>
                                    </a:rPr>
                                    <m:t>𝐴</m:t>
                                  </m:r>
                                </m:e>
                              </m:acc>
                              <m:r>
                                <a:rPr lang="en-GB" b="0" i="1" smtClean="0">
                                  <a:latin typeface="Cambria Math"/>
                                  <a:ea typeface="Cambria Math"/>
                                </a:rPr>
                                <m:t> </m:t>
                              </m:r>
                              <m:r>
                                <a:rPr lang="en-GB" b="0" i="1" smtClean="0">
                                  <a:latin typeface="Cambria Math"/>
                                  <a:ea typeface="Cambria Math"/>
                                </a:rPr>
                                <m:t>𝑜𝑟</m:t>
                              </m:r>
                              <m:r>
                                <a:rPr lang="en-GB" b="0" i="1" smtClean="0">
                                  <a:latin typeface="Cambria Math"/>
                                  <a:ea typeface="Cambria Math"/>
                                </a:rPr>
                                <m:t> </m:t>
                              </m:r>
                              <m:r>
                                <a:rPr lang="en-GB" b="0" i="1" smtClean="0">
                                  <a:latin typeface="Cambria Math"/>
                                  <a:ea typeface="Cambria Math"/>
                                </a:rPr>
                                <m:t>𝑥</m:t>
                              </m:r>
                              <m:r>
                                <a:rPr lang="en-GB" b="0" i="1" smtClean="0">
                                  <a:latin typeface="Cambria Math"/>
                                  <a:ea typeface="Cambria Math"/>
                                </a:rPr>
                                <m:t>∈</m:t>
                              </m:r>
                              <m:acc>
                                <m:accPr>
                                  <m:chr m:val="̅"/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accPr>
                                <m:e>
                                  <m:r>
                                    <a:rPr lang="en-GB" b="0" i="1" smtClean="0">
                                      <a:latin typeface="Cambria Math"/>
                                      <a:ea typeface="Cambria Math"/>
                                    </a:rPr>
                                    <m:t>𝐵</m:t>
                                  </m:r>
                                </m:e>
                              </m:acc>
                            </m:oMath>
                          </a14:m>
                          <a:r>
                            <a:rPr lang="en-US" dirty="0"/>
                            <a:t> 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i="1" smtClean="0">
                                  <a:latin typeface="Cambria Math"/>
                                  <a:ea typeface="Cambria Math"/>
                                </a:rPr>
                                <m:t>≡</m:t>
                              </m:r>
                              <m:r>
                                <a:rPr lang="en-GB" b="0" i="1" smtClean="0">
                                  <a:latin typeface="Cambria Math"/>
                                  <a:ea typeface="Cambria Math"/>
                                </a:rPr>
                                <m:t>𝑥</m:t>
                              </m:r>
                              <m:r>
                                <a:rPr lang="en-GB" b="0" i="1" smtClean="0">
                                  <a:latin typeface="Cambria Math"/>
                                  <a:ea typeface="Cambria Math"/>
                                </a:rPr>
                                <m:t>∈</m:t>
                              </m:r>
                              <m:d>
                                <m:d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US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GB" b="0" i="1" dirty="0" smtClean="0">
                                          <a:latin typeface="Cambria Math"/>
                                        </a:rPr>
                                        <m:t>𝐴</m:t>
                                      </m:r>
                                    </m:e>
                                  </m:acc>
                                  <m:r>
                                    <a:rPr lang="en-US" i="1" dirty="0" smtClean="0">
                                      <a:latin typeface="Cambria Math"/>
                                    </a:rPr>
                                    <m:t> ∪ 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GB" b="0" i="1" dirty="0" smtClean="0">
                                          <a:latin typeface="Cambria Math"/>
                                        </a:rPr>
                                        <m:t>𝐵</m:t>
                                      </m:r>
                                    </m:e>
                                  </m:acc>
                                </m:e>
                              </m:d>
                            </m:oMath>
                          </a14:m>
                          <a:r>
                            <a:rPr lang="en-US" dirty="0"/>
                            <a:t> 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70840">
                    <a:tc gridSpan="2"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GB" b="0" i="1" dirty="0" smtClean="0">
                                  <a:latin typeface="Cambria Math"/>
                                  <a:ea typeface="Cambria Math"/>
                                </a:rPr>
                                <m:t>∴</m:t>
                              </m:r>
                              <m:acc>
                                <m:accPr>
                                  <m:chr m:val="̅"/>
                                  <m:ctrlPr>
                                    <a:rPr lang="en-GB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 dirty="0">
                                      <a:latin typeface="Cambria Math"/>
                                    </a:rPr>
                                    <m:t>𝐴</m:t>
                                  </m:r>
                                  <m:r>
                                    <a:rPr lang="en-US" i="1" dirty="0">
                                      <a:latin typeface="Cambria Math"/>
                                    </a:rPr>
                                    <m:t> ∩ </m:t>
                                  </m:r>
                                  <m:r>
                                    <a:rPr lang="en-US" i="1" dirty="0">
                                      <a:latin typeface="Cambria Math"/>
                                    </a:rPr>
                                    <m:t>𝐵</m:t>
                                  </m:r>
                                </m:e>
                              </m:acc>
                              <m:r>
                                <a:rPr lang="en-US" i="1" dirty="0" smtClean="0">
                                  <a:latin typeface="Cambria Math"/>
                                  <a:ea typeface="Cambria Math"/>
                                </a:rPr>
                                <m:t>⊆</m:t>
                              </m:r>
                              <m:r>
                                <a:rPr lang="en-US" i="1" dirty="0" smtClean="0">
                                  <a:latin typeface="Cambria Math"/>
                                </a:rPr>
                                <m:t> </m:t>
                              </m:r>
                              <m:acc>
                                <m:accPr>
                                  <m:chr m:val="̅"/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GB" b="0" i="1" dirty="0" smtClean="0">
                                      <a:latin typeface="Cambria Math"/>
                                    </a:rPr>
                                    <m:t>𝐴</m:t>
                                  </m:r>
                                </m:e>
                              </m:acc>
                              <m:r>
                                <a:rPr lang="en-US" i="1" dirty="0" smtClean="0">
                                  <a:latin typeface="Cambria Math"/>
                                </a:rPr>
                                <m:t> ∪ </m:t>
                              </m:r>
                              <m:acc>
                                <m:accPr>
                                  <m:chr m:val="̅"/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GB" b="0" i="1" dirty="0" smtClean="0">
                                      <a:latin typeface="Cambria Math"/>
                                    </a:rPr>
                                    <m:t>𝐵</m:t>
                                  </m:r>
                                </m:e>
                              </m:acc>
                            </m:oMath>
                          </a14:m>
                          <a:r>
                            <a:rPr lang="en-US" dirty="0"/>
                            <a:t> 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57260035"/>
                  </p:ext>
                </p:extLst>
              </p:nvPr>
            </p:nvGraphicFramePr>
            <p:xfrm>
              <a:off x="838200" y="3505200"/>
              <a:ext cx="3386455" cy="2227644"/>
            </p:xfrm>
            <a:graphic>
              <a:graphicData uri="http://schemas.openxmlformats.org/drawingml/2006/table">
                <a:tbl>
                  <a:tblPr>
                    <a:tableStyleId>{1E171933-4619-4E11-9A3F-F7608DF75F80}</a:tableStyleId>
                  </a:tblPr>
                  <a:tblGrid>
                    <a:gridCol w="1396746"/>
                    <a:gridCol w="1989709"/>
                  </a:tblGrid>
                  <a:tr h="37344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l="-437" t="-8197" r="-142795" b="-5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l="-70552" t="-8197" r="-307" b="-524590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l="-70552" t="-108197" r="-307" b="-424590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l="-70552" t="-208197" r="-307" b="-324590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l="-70552" t="-313333" r="-307" b="-230000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370840"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l="-180" t="-506557" r="-180" b="-26230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5410200" y="3505200"/>
              <a:ext cx="3487293" cy="2227644"/>
            </p:xfrm>
            <a:graphic>
              <a:graphicData uri="http://schemas.openxmlformats.org/drawingml/2006/table">
                <a:tbl>
                  <a:tblPr>
                    <a:tableStyleId>{1E171933-4619-4E11-9A3F-F7608DF75F80}</a:tableStyleId>
                  </a:tblPr>
                  <a:tblGrid>
                    <a:gridCol w="149758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989709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GB" b="0" i="1" smtClean="0">
                                  <a:latin typeface="Cambria Math"/>
                                  <a:ea typeface="Cambria Math"/>
                                </a:rPr>
                                <m:t>𝑥</m:t>
                              </m:r>
                              <m:r>
                                <a:rPr lang="en-GB" b="0" i="1" smtClean="0">
                                  <a:latin typeface="Cambria Math"/>
                                  <a:ea typeface="Cambria Math"/>
                                </a:rPr>
                                <m:t>∈</m:t>
                              </m:r>
                              <m:d>
                                <m:d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US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GB" b="0" i="1" dirty="0" smtClean="0">
                                          <a:latin typeface="Cambria Math"/>
                                        </a:rPr>
                                        <m:t>𝐴</m:t>
                                      </m:r>
                                    </m:e>
                                  </m:acc>
                                  <m:r>
                                    <a:rPr lang="en-US" i="1" dirty="0" smtClean="0">
                                      <a:latin typeface="Cambria Math"/>
                                    </a:rPr>
                                    <m:t> ∪ 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GB" b="0" i="1" dirty="0" smtClean="0">
                                          <a:latin typeface="Cambria Math"/>
                                        </a:rPr>
                                        <m:t>𝐵</m:t>
                                      </m:r>
                                    </m:e>
                                  </m:acc>
                                </m:e>
                              </m:d>
                            </m:oMath>
                          </a14:m>
                          <a:r>
                            <a:rPr lang="en-US" dirty="0"/>
                            <a:t> 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smtClean="0">
                                    <a:latin typeface="Cambria Math"/>
                                    <a:ea typeface="Cambria Math"/>
                                  </a:rPr>
                                  <m:t>≡</m:t>
                                </m:r>
                                <m:r>
                                  <a:rPr lang="en-GB" b="0" i="1" smtClean="0">
                                    <a:latin typeface="Cambria Math"/>
                                    <a:ea typeface="Cambria Math"/>
                                  </a:rPr>
                                  <m:t>𝑥</m:t>
                                </m:r>
                                <m:r>
                                  <a:rPr lang="en-GB" b="0" i="1" smtClean="0">
                                    <a:latin typeface="Cambria Math"/>
                                    <a:ea typeface="Cambria Math"/>
                                  </a:rPr>
                                  <m:t>∈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  <a:ea typeface="Cambria Math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GB" b="0" i="1" smtClean="0">
                                        <a:latin typeface="Cambria Math"/>
                                        <a:ea typeface="Cambria Math"/>
                                      </a:rPr>
                                      <m:t>𝐴</m:t>
                                    </m:r>
                                  </m:e>
                                </m:acc>
                                <m:r>
                                  <a:rPr lang="en-GB" b="0" i="1" smtClean="0">
                                    <a:latin typeface="Cambria Math"/>
                                    <a:ea typeface="Cambria Math"/>
                                  </a:rPr>
                                  <m:t> </m:t>
                                </m:r>
                                <m:r>
                                  <a:rPr lang="en-GB" b="0" i="1" smtClean="0">
                                    <a:latin typeface="Cambria Math"/>
                                    <a:ea typeface="Cambria Math"/>
                                  </a:rPr>
                                  <m:t>𝑜𝑟</m:t>
                                </m:r>
                                <m:r>
                                  <a:rPr lang="en-GB" b="0" i="1" smtClean="0">
                                    <a:latin typeface="Cambria Math"/>
                                    <a:ea typeface="Cambria Math"/>
                                  </a:rPr>
                                  <m:t> </m:t>
                                </m:r>
                                <m:r>
                                  <a:rPr lang="en-GB" b="0" i="1" smtClean="0">
                                    <a:latin typeface="Cambria Math"/>
                                    <a:ea typeface="Cambria Math"/>
                                  </a:rPr>
                                  <m:t>𝑥</m:t>
                                </m:r>
                                <m:r>
                                  <a:rPr lang="en-GB" b="0" i="1" smtClean="0">
                                    <a:latin typeface="Cambria Math"/>
                                    <a:ea typeface="Cambria Math"/>
                                  </a:rPr>
                                  <m:t>∈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  <a:ea typeface="Cambria Math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GB" b="0" i="1" smtClean="0">
                                        <a:latin typeface="Cambria Math"/>
                                        <a:ea typeface="Cambria Math"/>
                                      </a:rPr>
                                      <m:t>𝐵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i="1" smtClean="0">
                                  <a:latin typeface="Cambria Math"/>
                                  <a:ea typeface="Cambria Math"/>
                                </a:rPr>
                                <m:t>≡</m:t>
                              </m:r>
                              <m:r>
                                <a:rPr lang="en-GB" b="0" i="1" smtClean="0">
                                  <a:latin typeface="Cambria Math"/>
                                  <a:ea typeface="Cambria Math"/>
                                </a:rPr>
                                <m:t>𝑥</m:t>
                              </m:r>
                              <m:r>
                                <a:rPr lang="en-GB" b="0" i="1" smtClean="0">
                                  <a:latin typeface="Cambria Math"/>
                                  <a:ea typeface="Cambria Math"/>
                                </a:rPr>
                                <m:t>∉</m:t>
                              </m:r>
                              <m:r>
                                <a:rPr lang="en-GB" b="0" i="1" smtClean="0">
                                  <a:latin typeface="Cambria Math"/>
                                  <a:ea typeface="Cambria Math"/>
                                </a:rPr>
                                <m:t>𝐴</m:t>
                              </m:r>
                              <m:r>
                                <a:rPr lang="en-GB" b="0" i="1" smtClean="0">
                                  <a:latin typeface="Cambria Math"/>
                                  <a:ea typeface="Cambria Math"/>
                                </a:rPr>
                                <m:t> </m:t>
                              </m:r>
                              <m:r>
                                <a:rPr lang="en-GB" b="0" i="1" smtClean="0">
                                  <a:latin typeface="Cambria Math"/>
                                  <a:ea typeface="Cambria Math"/>
                                </a:rPr>
                                <m:t>𝑜𝑟</m:t>
                              </m:r>
                              <m:r>
                                <a:rPr lang="en-GB" b="0" i="1" smtClean="0">
                                  <a:latin typeface="Cambria Math"/>
                                  <a:ea typeface="Cambria Math"/>
                                </a:rPr>
                                <m:t> </m:t>
                              </m:r>
                              <m:r>
                                <a:rPr lang="en-GB" b="0" i="1" smtClean="0">
                                  <a:latin typeface="Cambria Math"/>
                                  <a:ea typeface="Cambria Math"/>
                                </a:rPr>
                                <m:t>𝑥</m:t>
                              </m:r>
                              <m:r>
                                <a:rPr lang="en-GB" b="0" i="1" smtClean="0">
                                  <a:latin typeface="Cambria Math"/>
                                  <a:ea typeface="Cambria Math"/>
                                </a:rPr>
                                <m:t>∉</m:t>
                              </m:r>
                              <m:r>
                                <a:rPr lang="en-GB" b="0" i="1" smtClean="0">
                                  <a:latin typeface="Cambria Math"/>
                                  <a:ea typeface="Cambria Math"/>
                                </a:rPr>
                                <m:t>𝐵</m:t>
                              </m:r>
                            </m:oMath>
                          </a14:m>
                          <a:r>
                            <a:rPr lang="en-US" dirty="0"/>
                            <a:t> 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i="1" smtClean="0">
                                  <a:latin typeface="Cambria Math"/>
                                  <a:ea typeface="Cambria Math"/>
                                </a:rPr>
                                <m:t>≡</m:t>
                              </m:r>
                              <m:r>
                                <a:rPr lang="en-GB" b="0" i="1" smtClean="0">
                                  <a:latin typeface="Cambria Math"/>
                                  <a:ea typeface="Cambria Math"/>
                                </a:rPr>
                                <m:t>𝑥</m:t>
                              </m:r>
                              <m:r>
                                <a:rPr lang="en-GB" b="0" i="1" smtClean="0">
                                  <a:latin typeface="Cambria Math"/>
                                  <a:ea typeface="Cambria Math"/>
                                </a:rPr>
                                <m:t>∉(</m:t>
                              </m:r>
                              <m:r>
                                <a:rPr lang="en-GB" b="0" i="1" smtClean="0">
                                  <a:latin typeface="Cambria Math"/>
                                  <a:ea typeface="Cambria Math"/>
                                </a:rPr>
                                <m:t>𝐴</m:t>
                              </m:r>
                              <m:r>
                                <a:rPr lang="en-GB" b="0" i="1" smtClean="0">
                                  <a:latin typeface="Cambria Math"/>
                                  <a:ea typeface="Cambria Math"/>
                                </a:rPr>
                                <m:t>∩</m:t>
                              </m:r>
                              <m:r>
                                <a:rPr lang="en-GB" b="0" i="1" smtClean="0">
                                  <a:latin typeface="Cambria Math"/>
                                  <a:ea typeface="Cambria Math"/>
                                </a:rPr>
                                <m:t>𝐵</m:t>
                              </m:r>
                              <m:r>
                                <a:rPr lang="en-GB" b="0" i="1" smtClean="0">
                                  <a:latin typeface="Cambria Math"/>
                                  <a:ea typeface="Cambria Math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dirty="0"/>
                            <a:t> 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i="1" smtClean="0">
                                  <a:latin typeface="Cambria Math"/>
                                  <a:ea typeface="Cambria Math"/>
                                </a:rPr>
                                <m:t>≡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GB" b="0" i="1" smtClean="0">
                                  <a:latin typeface="Cambria Math"/>
                                  <a:ea typeface="Cambria Math"/>
                                </a:rPr>
                                <m:t>∈(</m:t>
                              </m:r>
                              <m:acc>
                                <m:accPr>
                                  <m:chr m:val="̅"/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accPr>
                                <m:e>
                                  <m:r>
                                    <a:rPr lang="en-GB" b="0" i="1" smtClean="0">
                                      <a:latin typeface="Cambria Math"/>
                                      <a:ea typeface="Cambria Math"/>
                                    </a:rPr>
                                    <m:t>𝐴</m:t>
                                  </m:r>
                                  <m:r>
                                    <a:rPr lang="en-GB" b="0" i="1" smtClean="0">
                                      <a:latin typeface="Cambria Math"/>
                                      <a:ea typeface="Cambria Math"/>
                                    </a:rPr>
                                    <m:t>∪</m:t>
                                  </m:r>
                                  <m:r>
                                    <a:rPr lang="en-GB" b="0" i="1" smtClean="0">
                                      <a:latin typeface="Cambria Math"/>
                                      <a:ea typeface="Cambria Math"/>
                                    </a:rPr>
                                    <m:t>𝐵</m:t>
                                  </m:r>
                                  <m:r>
                                    <a:rPr lang="en-GB" b="0" i="1" smtClean="0">
                                      <a:latin typeface="Cambria Math"/>
                                      <a:ea typeface="Cambria Math"/>
                                    </a:rPr>
                                    <m:t>)</m:t>
                                  </m:r>
                                </m:e>
                              </m:acc>
                            </m:oMath>
                          </a14:m>
                          <a:r>
                            <a:rPr lang="en-US" dirty="0"/>
                            <a:t> 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70840">
                    <a:tc gridSpan="2"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b="0" i="1" dirty="0" smtClean="0">
                                  <a:latin typeface="Cambria Math"/>
                                  <a:ea typeface="Cambria Math"/>
                                </a:rPr>
                                <m:t>∴</m:t>
                              </m:r>
                              <m:acc>
                                <m:accPr>
                                  <m:chr m:val="̅"/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GB" b="0" i="1" dirty="0" smtClean="0">
                                      <a:latin typeface="Cambria Math"/>
                                    </a:rPr>
                                    <m:t>𝐴</m:t>
                                  </m:r>
                                </m:e>
                              </m:acc>
                              <m:r>
                                <a:rPr lang="en-US" i="1" dirty="0" smtClean="0">
                                  <a:latin typeface="Cambria Math"/>
                                </a:rPr>
                                <m:t> ∪ </m:t>
                              </m:r>
                              <m:acc>
                                <m:accPr>
                                  <m:chr m:val="̅"/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GB" b="0" i="1" dirty="0" smtClean="0">
                                      <a:latin typeface="Cambria Math"/>
                                    </a:rPr>
                                    <m:t>𝐵</m:t>
                                  </m:r>
                                </m:e>
                              </m:acc>
                              <m:r>
                                <a:rPr lang="en-US" i="1" dirty="0" smtClean="0">
                                  <a:latin typeface="Cambria Math"/>
                                  <a:ea typeface="Cambria Math"/>
                                </a:rPr>
                                <m:t>⊆</m:t>
                              </m:r>
                              <m:acc>
                                <m:accPr>
                                  <m:chr m:val="̅"/>
                                  <m:ctrlPr>
                                    <a:rPr lang="en-GB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 dirty="0">
                                      <a:latin typeface="Cambria Math"/>
                                    </a:rPr>
                                    <m:t>𝐴</m:t>
                                  </m:r>
                                  <m:r>
                                    <a:rPr lang="en-US" i="1" dirty="0">
                                      <a:latin typeface="Cambria Math"/>
                                    </a:rPr>
                                    <m:t> ∩ </m:t>
                                  </m:r>
                                  <m:r>
                                    <a:rPr lang="en-US" i="1" dirty="0">
                                      <a:latin typeface="Cambria Math"/>
                                    </a:rPr>
                                    <m:t>𝐵</m:t>
                                  </m:r>
                                </m:e>
                              </m:acc>
                            </m:oMath>
                          </a14:m>
                          <a:r>
                            <a:rPr lang="en-US" dirty="0"/>
                            <a:t> 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85315962"/>
                  </p:ext>
                </p:extLst>
              </p:nvPr>
            </p:nvGraphicFramePr>
            <p:xfrm>
              <a:off x="5410200" y="3505200"/>
              <a:ext cx="3487293" cy="2227644"/>
            </p:xfrm>
            <a:graphic>
              <a:graphicData uri="http://schemas.openxmlformats.org/drawingml/2006/table">
                <a:tbl>
                  <a:tblPr>
                    <a:tableStyleId>{1E171933-4619-4E11-9A3F-F7608DF75F80}</a:tableStyleId>
                  </a:tblPr>
                  <a:tblGrid>
                    <a:gridCol w="1497584"/>
                    <a:gridCol w="1989709"/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4"/>
                          <a:stretch>
                            <a:fillRect l="-407" t="-8197" r="-132520" b="-5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4"/>
                          <a:stretch>
                            <a:fillRect l="-75767" t="-8197" b="-524590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4"/>
                          <a:stretch>
                            <a:fillRect l="-75767" t="-108197" b="-424590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4"/>
                          <a:stretch>
                            <a:fillRect l="-75767" t="-211667" b="-331667"/>
                          </a:stretch>
                        </a:blipFill>
                      </a:tcPr>
                    </a:tc>
                  </a:tr>
                  <a:tr h="373444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4"/>
                          <a:stretch>
                            <a:fillRect l="-75767" t="-306557" b="-226230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370840"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4"/>
                          <a:stretch>
                            <a:fillRect l="-175" t="-506557" b="-26230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</a:tbl>
              </a:graphicData>
            </a:graphic>
          </p:graphicFrame>
        </mc:Fallback>
      </mc:AlternateContent>
      <p:graphicFrame>
        <p:nvGraphicFramePr>
          <p:cNvPr id="6" name="Table 5"/>
          <p:cNvGraphicFramePr>
            <a:graphicFrameLocks noGrp="1"/>
          </p:cNvGraphicFramePr>
          <p:nvPr>
            <p:extLst/>
          </p:nvPr>
        </p:nvGraphicFramePr>
        <p:xfrm>
          <a:off x="838200" y="3048000"/>
          <a:ext cx="595630" cy="370840"/>
        </p:xfrm>
        <a:graphic>
          <a:graphicData uri="http://schemas.openxmlformats.org/drawingml/2006/table">
            <a:tbl>
              <a:tblPr>
                <a:tableStyleId>{1E171933-4619-4E11-9A3F-F7608DF75F80}</a:tableStyleId>
              </a:tblPr>
              <a:tblGrid>
                <a:gridCol w="5956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Let,</a:t>
                      </a:r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/>
          </p:nvPr>
        </p:nvGraphicFramePr>
        <p:xfrm>
          <a:off x="5410200" y="3048000"/>
          <a:ext cx="1170305" cy="370840"/>
        </p:xfrm>
        <a:graphic>
          <a:graphicData uri="http://schemas.openxmlformats.org/drawingml/2006/table">
            <a:tbl>
              <a:tblPr>
                <a:tableStyleId>{1E171933-4619-4E11-9A3F-F7608DF75F80}</a:tableStyleId>
              </a:tblPr>
              <a:tblGrid>
                <a:gridCol w="11703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Again Let,</a:t>
                      </a:r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Table 8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3505200" y="5867400"/>
              <a:ext cx="2115757" cy="370840"/>
            </p:xfrm>
            <a:graphic>
              <a:graphicData uri="http://schemas.openxmlformats.org/drawingml/2006/table">
                <a:tbl>
                  <a:tblPr>
                    <a:tableStyleId>{1E171933-4619-4E11-9A3F-F7608DF75F80}</a:tableStyleId>
                  </a:tblPr>
                  <a:tblGrid>
                    <a:gridCol w="2115757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GB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GB" b="0" i="1" dirty="0" smtClean="0">
                                        <a:latin typeface="Cambria Math"/>
                                        <a:ea typeface="Cambria Math"/>
                                      </a:rPr>
                                      <m:t>∴</m:t>
                                    </m:r>
                                    <m:r>
                                      <a:rPr lang="en-US" i="1" dirty="0">
                                        <a:latin typeface="Cambria Math"/>
                                      </a:rPr>
                                      <m:t>𝐴</m:t>
                                    </m:r>
                                    <m:r>
                                      <a:rPr lang="en-US" i="1" dirty="0">
                                        <a:latin typeface="Cambria Math"/>
                                      </a:rPr>
                                      <m:t> ∩ </m:t>
                                    </m:r>
                                    <m:r>
                                      <a:rPr lang="en-US" i="1" dirty="0">
                                        <a:latin typeface="Cambria Math"/>
                                      </a:rPr>
                                      <m:t>𝐵</m:t>
                                    </m:r>
                                  </m:e>
                                </m:acc>
                                <m:r>
                                  <a:rPr lang="en-US" i="1" dirty="0" smtClean="0">
                                    <a:latin typeface="Cambria Math"/>
                                  </a:rPr>
                                  <m:t>= 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GB" b="0" i="1" dirty="0" smtClean="0">
                                        <a:latin typeface="Cambria Math"/>
                                      </a:rPr>
                                      <m:t>𝐴</m:t>
                                    </m:r>
                                  </m:e>
                                </m:acc>
                                <m:r>
                                  <a:rPr lang="en-US" i="1" dirty="0" smtClean="0">
                                    <a:latin typeface="Cambria Math"/>
                                  </a:rPr>
                                  <m:t> ∪ 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GB" b="0" i="1" dirty="0" smtClean="0">
                                        <a:latin typeface="Cambria Math"/>
                                      </a:rPr>
                                      <m:t>𝐵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Table 8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60757525"/>
                  </p:ext>
                </p:extLst>
              </p:nvPr>
            </p:nvGraphicFramePr>
            <p:xfrm>
              <a:off x="3505200" y="5867400"/>
              <a:ext cx="2115757" cy="370840"/>
            </p:xfrm>
            <a:graphic>
              <a:graphicData uri="http://schemas.openxmlformats.org/drawingml/2006/table">
                <a:tbl>
                  <a:tblPr>
                    <a:tableStyleId>{1E171933-4619-4E11-9A3F-F7608DF75F80}</a:tableStyleId>
                  </a:tblPr>
                  <a:tblGrid>
                    <a:gridCol w="2115757"/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5"/>
                          <a:stretch>
                            <a:fillRect t="-8333" r="-288" b="-25000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cxnSp>
        <p:nvCxnSpPr>
          <p:cNvPr id="11" name="Straight Connector 10"/>
          <p:cNvCxnSpPr/>
          <p:nvPr/>
        </p:nvCxnSpPr>
        <p:spPr>
          <a:xfrm>
            <a:off x="4648200" y="3048000"/>
            <a:ext cx="0" cy="2667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661884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Set Identities(Contd.)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GB" b="1" u="sng" dirty="0"/>
                  <a:t>Example 2:</a:t>
                </a:r>
                <a:endParaRPr lang="en-US" b="1" u="sng" dirty="0"/>
              </a:p>
              <a:p>
                <a:pPr lvl="1"/>
                <a:r>
                  <a:rPr lang="en-US" dirty="0"/>
                  <a:t>Use set builder notation and logical equivalences to establish the ﬁrst De Morgan law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𝐴</m:t>
                    </m:r>
                    <m:r>
                      <a:rPr lang="en-US" i="1" dirty="0" smtClean="0">
                        <a:latin typeface="Cambria Math"/>
                      </a:rPr>
                      <m:t> ∩ </m:t>
                    </m:r>
                    <m:r>
                      <a:rPr lang="en-US" i="1" dirty="0" smtClean="0">
                        <a:latin typeface="Cambria Math"/>
                      </a:rPr>
                      <m:t>𝐵</m:t>
                    </m:r>
                    <m:r>
                      <a:rPr lang="en-US" i="1" dirty="0" smtClean="0">
                        <a:latin typeface="Cambria Math"/>
                      </a:rPr>
                      <m:t> =</m:t>
                    </m:r>
                    <m:acc>
                      <m:accPr>
                        <m:chr m:val="̅"/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i="1">
                            <a:latin typeface="Cambria Math"/>
                          </a:rPr>
                          <m:t>𝐴</m:t>
                        </m:r>
                      </m:e>
                    </m:acc>
                    <m:r>
                      <a:rPr lang="en-GB" i="1">
                        <a:latin typeface="Cambria Math"/>
                      </a:rPr>
                      <m:t>∪</m:t>
                    </m:r>
                    <m:acc>
                      <m:accPr>
                        <m:chr m:val="̅"/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i="1">
                            <a:latin typeface="Cambria Math"/>
                          </a:rPr>
                          <m:t>𝐵</m:t>
                        </m:r>
                      </m:e>
                    </m:acc>
                    <m:r>
                      <a:rPr lang="en-US" i="1" dirty="0">
                        <a:latin typeface="Cambria Math"/>
                      </a:rPr>
                      <m:t>.</m:t>
                    </m:r>
                    <m:r>
                      <a:rPr lang="en-GB" b="0" i="1" dirty="0" smtClean="0">
                        <a:latin typeface="Cambria Math"/>
                      </a:rPr>
                      <m:t> </m:t>
                    </m:r>
                  </m:oMath>
                </a14:m>
                <a:endParaRPr lang="en-US" dirty="0"/>
              </a:p>
              <a:p>
                <a:pPr lvl="1"/>
                <a:endParaRPr lang="en-GB" dirty="0"/>
              </a:p>
              <a:p>
                <a:r>
                  <a:rPr lang="en-GB" b="1" u="sng" dirty="0"/>
                  <a:t>Solution: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593" t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1752600" y="3429000"/>
              <a:ext cx="6173042" cy="2966720"/>
            </p:xfrm>
            <a:graphic>
              <a:graphicData uri="http://schemas.openxmlformats.org/drawingml/2006/table">
                <a:tbl>
                  <a:tblPr>
                    <a:tableStyleId>{ED083AE6-46FA-4A59-8FB0-9F97EB10719F}</a:tableStyleId>
                  </a:tblPr>
                  <a:tblGrid>
                    <a:gridCol w="102311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14993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acc>
                                <m:accPr>
                                  <m:chr m:val="̅"/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 smtClean="0">
                                      <a:latin typeface="Cambria Math"/>
                                    </a:rPr>
                                    <m:t>𝐴</m:t>
                                  </m:r>
                                  <m:r>
                                    <a:rPr lang="en-US" i="1" smtClean="0">
                                      <a:latin typeface="Cambria Math"/>
                                    </a:rPr>
                                    <m:t> ∩ </m:t>
                                  </m:r>
                                  <m:r>
                                    <a:rPr lang="en-US" i="1" smtClean="0">
                                      <a:latin typeface="Cambria Math"/>
                                    </a:rPr>
                                    <m:t>𝐵</m:t>
                                  </m:r>
                                </m:e>
                              </m:acc>
                              <m:r>
                                <a:rPr lang="en-GB" b="0" i="1" smtClean="0">
                                  <a:latin typeface="Cambria Math"/>
                                </a:rPr>
                                <m:t> </m:t>
                              </m:r>
                            </m:oMath>
                          </a14:m>
                          <a:r>
                            <a:rPr lang="en-US" dirty="0"/>
                            <a:t> 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GB" b="0" i="1" smtClean="0">
                                  <a:latin typeface="Cambria Math"/>
                                </a:rPr>
                                <m:t>={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 | 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GB" b="0" i="1" smtClean="0">
                                  <a:latin typeface="Cambria Math"/>
                                  <a:ea typeface="Cambria Math"/>
                                </a:rPr>
                                <m:t>∉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𝐴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 ∩ 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𝐵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} </m:t>
                              </m:r>
                            </m:oMath>
                          </a14:m>
                          <a:r>
                            <a:rPr lang="en-US" dirty="0"/>
                            <a:t> 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GB" b="0" i="1" smtClean="0">
                                  <a:latin typeface="Cambria Math"/>
                                </a:rPr>
                                <m:t>={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 |¬(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 ∈ (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𝐴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 ∩ 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𝐵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))}</m:t>
                              </m:r>
                            </m:oMath>
                          </a14:m>
                          <a:r>
                            <a:rPr lang="en-US" dirty="0"/>
                            <a:t> 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   </a:t>
                          </a:r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GB" b="0" i="1" smtClean="0">
                                  <a:latin typeface="Cambria Math"/>
                                </a:rPr>
                                <m:t>={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|¬(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GB" b="0" i="1" smtClean="0">
                                  <a:latin typeface="Cambria Math"/>
                                  <a:ea typeface="Cambria Math"/>
                                </a:rPr>
                                <m:t>∈</m:t>
                              </m:r>
                              <m:r>
                                <a:rPr lang="en-GB" b="0" i="1" smtClean="0">
                                  <a:latin typeface="Cambria Math"/>
                                  <a:ea typeface="Cambria Math"/>
                                </a:rPr>
                                <m:t>𝐴</m:t>
                              </m:r>
                              <m:r>
                                <a:rPr lang="en-GB" b="0" i="1" smtClean="0">
                                  <a:latin typeface="Cambria Math"/>
                                  <a:ea typeface="Cambria Math"/>
                                </a:rPr>
                                <m:t> ∧</m:t>
                              </m:r>
                              <m:r>
                                <a:rPr lang="en-GB" b="0" i="1" smtClean="0">
                                  <a:latin typeface="Cambria Math"/>
                                  <a:ea typeface="Cambria Math"/>
                                </a:rPr>
                                <m:t>𝑥</m:t>
                              </m:r>
                              <m:r>
                                <a:rPr lang="en-GB" b="0" i="1" smtClean="0">
                                  <a:latin typeface="Cambria Math"/>
                                  <a:ea typeface="Cambria Math"/>
                                </a:rPr>
                                <m:t>∈</m:t>
                              </m:r>
                              <m:r>
                                <a:rPr lang="en-GB" b="0" i="1" smtClean="0">
                                  <a:latin typeface="Cambria Math"/>
                                  <a:ea typeface="Cambria Math"/>
                                </a:rPr>
                                <m:t>𝐵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dirty="0"/>
                            <a:t> 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GB" b="0" i="1" smtClean="0">
                                  <a:latin typeface="Cambria Math"/>
                                </a:rPr>
                                <m:t>={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|¬</m:t>
                              </m:r>
                              <m:d>
                                <m:d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b="0" i="1" smtClean="0">
                                      <a:latin typeface="Cambria Math"/>
                                    </a:rPr>
                                    <m:t>𝑥</m:t>
                                  </m:r>
                                  <m:r>
                                    <a:rPr lang="en-GB" b="0" i="1" smtClean="0">
                                      <a:latin typeface="Cambria Math"/>
                                      <a:ea typeface="Cambria Math"/>
                                    </a:rPr>
                                    <m:t>∈</m:t>
                                  </m:r>
                                  <m:r>
                                    <a:rPr lang="en-GB" b="0" i="1" smtClean="0">
                                      <a:latin typeface="Cambria Math"/>
                                      <a:ea typeface="Cambria Math"/>
                                    </a:rPr>
                                    <m:t>𝐴</m:t>
                                  </m:r>
                                </m:e>
                              </m:d>
                              <m:r>
                                <a:rPr lang="en-GB" b="0" i="1" smtClean="0">
                                  <a:latin typeface="Cambria Math"/>
                                  <a:ea typeface="Cambria Math"/>
                                </a:rPr>
                                <m:t>∨¬</m:t>
                              </m:r>
                              <m:d>
                                <m:d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GB" b="0" i="1" smtClean="0">
                                      <a:latin typeface="Cambria Math"/>
                                      <a:ea typeface="Cambria Math"/>
                                    </a:rPr>
                                    <m:t>𝑥</m:t>
                                  </m:r>
                                  <m:r>
                                    <a:rPr lang="en-GB" b="0" i="1" smtClean="0">
                                      <a:latin typeface="Cambria Math"/>
                                      <a:ea typeface="Cambria Math"/>
                                    </a:rPr>
                                    <m:t>∈</m:t>
                                  </m:r>
                                  <m:r>
                                    <a:rPr lang="en-GB" b="0" i="1" smtClean="0">
                                      <a:latin typeface="Cambria Math"/>
                                      <a:ea typeface="Cambria Math"/>
                                    </a:rPr>
                                    <m:t>𝐵</m:t>
                                  </m:r>
                                </m:e>
                              </m:d>
                              <m:r>
                                <a:rPr lang="en-GB" b="0" i="1" smtClean="0">
                                  <a:latin typeface="Cambria Math"/>
                                  <a:ea typeface="Cambria Math"/>
                                </a:rPr>
                                <m:t>}</m:t>
                              </m:r>
                            </m:oMath>
                          </a14:m>
                          <a:r>
                            <a:rPr lang="en-US" dirty="0"/>
                            <a:t> 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GB" b="0" i="1" smtClean="0">
                                  <a:latin typeface="Cambria Math"/>
                                </a:rPr>
                                <m:t>={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 | 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GB" b="0" i="1" smtClean="0">
                                  <a:latin typeface="Cambria Math"/>
                                  <a:ea typeface="Cambria Math"/>
                                </a:rPr>
                                <m:t>∉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𝐴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 ∨ 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GB" b="0" i="1" smtClean="0">
                                  <a:latin typeface="Cambria Math"/>
                                  <a:ea typeface="Cambria Math"/>
                                </a:rPr>
                                <m:t>∉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𝐵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}</m:t>
                              </m:r>
                            </m:oMath>
                          </a14:m>
                          <a:r>
                            <a:rPr lang="en-US" dirty="0"/>
                            <a:t> 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GB" b="0" i="1" smtClean="0">
                                  <a:latin typeface="Cambria Math"/>
                                </a:rPr>
                                <m:t>={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 | 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GB" b="0" i="1" smtClean="0">
                                  <a:latin typeface="Cambria Math"/>
                                  <a:ea typeface="Cambria Math"/>
                                </a:rPr>
                                <m:t>∈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 </m:t>
                              </m:r>
                              <m:acc>
                                <m:accPr>
                                  <m:chr m:val="̅"/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GB" b="0" i="1" smtClean="0">
                                      <a:latin typeface="Cambria Math"/>
                                    </a:rPr>
                                    <m:t>𝐴</m:t>
                                  </m:r>
                                </m:e>
                              </m:acc>
                              <m:r>
                                <a:rPr lang="en-GB" b="0" i="1" smtClean="0">
                                  <a:latin typeface="Cambria Math"/>
                                </a:rPr>
                                <m:t> ∨ 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GB" b="0" i="1" smtClean="0">
                                  <a:latin typeface="Cambria Math"/>
                                  <a:ea typeface="Cambria Math"/>
                                </a:rPr>
                                <m:t>∈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 </m:t>
                              </m:r>
                              <m:acc>
                                <m:accPr>
                                  <m:chr m:val="̅"/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GB" b="0" i="1" smtClean="0">
                                      <a:latin typeface="Cambria Math"/>
                                    </a:rPr>
                                    <m:t>𝐵</m:t>
                                  </m:r>
                                </m:e>
                              </m:acc>
                              <m:r>
                                <a:rPr lang="en-GB" b="0" i="1" smtClean="0">
                                  <a:latin typeface="Cambria Math"/>
                                </a:rPr>
                                <m:t>}</m:t>
                              </m:r>
                            </m:oMath>
                          </a14:m>
                          <a:r>
                            <a:rPr lang="en-US" dirty="0"/>
                            <a:t> 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GB" b="0" i="1" smtClean="0">
                                  <a:latin typeface="Cambria Math"/>
                                </a:rPr>
                                <m:t>={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 | 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 ∈</m:t>
                              </m:r>
                              <m:acc>
                                <m:accPr>
                                  <m:chr m:val="̅"/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GB" b="0" i="1" smtClean="0">
                                      <a:latin typeface="Cambria Math"/>
                                    </a:rPr>
                                    <m:t>𝐴</m:t>
                                  </m:r>
                                </m:e>
                              </m:acc>
                              <m:r>
                                <a:rPr lang="en-GB" b="0" i="1" smtClean="0">
                                  <a:latin typeface="Cambria Math"/>
                                </a:rPr>
                                <m:t>∪</m:t>
                              </m:r>
                              <m:acc>
                                <m:accPr>
                                  <m:chr m:val="̅"/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GB" b="0" i="1" smtClean="0">
                                      <a:latin typeface="Cambria Math"/>
                                    </a:rPr>
                                    <m:t>𝐵</m:t>
                                  </m:r>
                                </m:e>
                              </m:acc>
                              <m:r>
                                <a:rPr lang="en-GB" b="0" i="1" smtClean="0">
                                  <a:latin typeface="Cambria Math"/>
                                </a:rPr>
                                <m:t>}</m:t>
                              </m:r>
                            </m:oMath>
                          </a14:m>
                          <a:r>
                            <a:rPr lang="en-US" dirty="0"/>
                            <a:t> 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GB" b="0" i="1" smtClean="0">
                                  <a:latin typeface="Cambria Math"/>
                                </a:rPr>
                                <m:t>=</m:t>
                              </m:r>
                              <m:acc>
                                <m:accPr>
                                  <m:chr m:val="̅"/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GB" b="0" i="1" smtClean="0">
                                      <a:latin typeface="Cambria Math"/>
                                    </a:rPr>
                                    <m:t>𝐴</m:t>
                                  </m:r>
                                </m:e>
                              </m:acc>
                              <m:r>
                                <a:rPr lang="en-GB" b="0" i="1" smtClean="0">
                                  <a:latin typeface="Cambria Math"/>
                                </a:rPr>
                                <m:t>∪</m:t>
                              </m:r>
                              <m:acc>
                                <m:accPr>
                                  <m:chr m:val="̅"/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GB" b="0" i="1" smtClean="0">
                                      <a:latin typeface="Cambria Math"/>
                                    </a:rPr>
                                    <m:t>𝐵</m:t>
                                  </m:r>
                                </m:e>
                              </m:acc>
                            </m:oMath>
                          </a14:m>
                          <a:r>
                            <a:rPr lang="en-US" dirty="0"/>
                            <a:t> 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9617550"/>
                  </p:ext>
                </p:extLst>
              </p:nvPr>
            </p:nvGraphicFramePr>
            <p:xfrm>
              <a:off x="1752600" y="3429000"/>
              <a:ext cx="6173042" cy="2966720"/>
            </p:xfrm>
            <a:graphic>
              <a:graphicData uri="http://schemas.openxmlformats.org/drawingml/2006/table">
                <a:tbl>
                  <a:tblPr>
                    <a:tableStyleId>{ED083AE6-46FA-4A59-8FB0-9F97EB10719F}</a:tableStyleId>
                  </a:tblPr>
                  <a:tblGrid>
                    <a:gridCol w="1023112"/>
                    <a:gridCol w="5149930"/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l="-595" t="-6557" r="-502976" b="-7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l="-20024" t="-6557" r="-118" b="-724590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l="-20024" t="-106557" r="-118" b="-624590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 dirty="0" smtClean="0"/>
                            <a:t>   </a:t>
                          </a:r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l="-20024" t="-210000" r="-118" b="-535000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l="-20024" t="-304918" r="-118" b="-426230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l="-20024" t="-404918" r="-118" b="-326230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l="-20024" t="-504918" r="-118" b="-226230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l="-20024" t="-615000" r="-118" b="-130000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l="-20024" t="-703279" r="-118" b="-27869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26424387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Computer Representation of Sets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Assume that a universal set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𝑈</m:t>
                    </m:r>
                  </m:oMath>
                </a14:m>
                <a:r>
                  <a:rPr lang="en-US" dirty="0"/>
                  <a:t> is ﬁnite (and of reasonable size so that the number of elements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𝑈</m:t>
                    </m:r>
                  </m:oMath>
                </a14:m>
                <a:r>
                  <a:rPr lang="en-US" dirty="0"/>
                  <a:t> is not larger than the memory size of the computer being used). </a:t>
                </a:r>
              </a:p>
              <a:p>
                <a:r>
                  <a:rPr lang="en-US" dirty="0"/>
                  <a:t>First, specify an arbitrary ordering of the elements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𝑈</m:t>
                    </m:r>
                  </m:oMath>
                </a14:m>
                <a:r>
                  <a:rPr lang="en-US" dirty="0"/>
                  <a:t>, for instance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i="1" dirty="0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i="1" dirty="0" smtClean="0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i="1" dirty="0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i="1" dirty="0" smtClean="0">
                        <a:latin typeface="Cambria Math"/>
                      </a:rPr>
                      <m:t>,…,</m:t>
                    </m:r>
                    <m:sSub>
                      <m:sSub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i="1" dirty="0" smtClean="0">
                            <a:latin typeface="Cambria Math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/>
                  <a:t>. </a:t>
                </a:r>
              </a:p>
              <a:p>
                <a:r>
                  <a:rPr lang="en-US" dirty="0"/>
                  <a:t>Secondly, represent a subset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𝐴</m:t>
                    </m:r>
                  </m:oMath>
                </a14:m>
                <a:r>
                  <a:rPr lang="en-US" dirty="0"/>
                  <a:t>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𝑈</m:t>
                    </m:r>
                  </m:oMath>
                </a14:m>
                <a:r>
                  <a:rPr lang="en-US" dirty="0"/>
                  <a:t> with the bit string of length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𝑛</m:t>
                    </m:r>
                  </m:oMath>
                </a14:m>
                <a:r>
                  <a:rPr lang="en-US" dirty="0"/>
                  <a:t>, where 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/>
                          </a:rPr>
                          <m:t>𝑖</m:t>
                        </m:r>
                      </m:e>
                      <m:sup>
                        <m:r>
                          <a:rPr lang="en-US" i="1" dirty="0" smtClean="0">
                            <a:latin typeface="Cambria Math"/>
                          </a:rPr>
                          <m:t>𝑡h</m:t>
                        </m:r>
                      </m:sup>
                    </m:sSup>
                  </m:oMath>
                </a14:m>
                <a:r>
                  <a:rPr lang="en-US" dirty="0"/>
                  <a:t> bit in this string is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1</m:t>
                    </m:r>
                  </m:oMath>
                </a14:m>
                <a:r>
                  <a:rPr lang="en-US" dirty="0"/>
                  <a:t>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i="1" dirty="0" smtClean="0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belongs to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𝐴</m:t>
                    </m:r>
                  </m:oMath>
                </a14:m>
                <a:r>
                  <a:rPr lang="en-US" dirty="0"/>
                  <a:t> and is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0</m:t>
                    </m:r>
                  </m:oMath>
                </a14:m>
                <a:r>
                  <a:rPr lang="en-US" dirty="0"/>
                  <a:t>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i="1" dirty="0" smtClean="0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does not belong to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𝐴</m:t>
                    </m:r>
                    <m:r>
                      <a:rPr lang="en-US" i="1" dirty="0" smtClean="0">
                        <a:latin typeface="Cambria Math"/>
                      </a:rPr>
                      <m:t>.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593" t="-1111" r="-2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9608768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GB" dirty="0"/>
              <a:t>Computer Representation of Sets(Contd.)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GB" b="1" u="sng" dirty="0"/>
                  <a:t>Example 1:</a:t>
                </a:r>
                <a:endParaRPr lang="en-US" b="1" u="sng" dirty="0"/>
              </a:p>
              <a:p>
                <a:pPr lvl="1"/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𝑈</m:t>
                    </m:r>
                    <m:r>
                      <a:rPr lang="en-US" i="1" dirty="0" smtClean="0">
                        <a:latin typeface="Cambria Math"/>
                      </a:rPr>
                      <m:t> ={1, 2, 3, 4, 5, 6, 7, 8, 9, 10}, </m:t>
                    </m:r>
                  </m:oMath>
                </a14:m>
                <a:r>
                  <a:rPr lang="en-US" dirty="0"/>
                  <a:t>and the ordering of elements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𝑈</m:t>
                    </m:r>
                  </m:oMath>
                </a14:m>
                <a:r>
                  <a:rPr lang="en-US" dirty="0"/>
                  <a:t> has the elements in increasing order; that is,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i="1" dirty="0" smtClean="0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US" i="1" dirty="0" smtClean="0">
                        <a:latin typeface="Cambria Math"/>
                      </a:rPr>
                      <m:t>= </m:t>
                    </m:r>
                    <m:r>
                      <a:rPr lang="en-US" i="1" dirty="0">
                        <a:latin typeface="Cambria Math"/>
                      </a:rPr>
                      <m:t>𝑖</m:t>
                    </m:r>
                  </m:oMath>
                </a14:m>
                <a:r>
                  <a:rPr lang="en-US" dirty="0"/>
                  <a:t>. </a:t>
                </a:r>
              </a:p>
              <a:p>
                <a:pPr lvl="2"/>
                <a:r>
                  <a:rPr lang="en-US" dirty="0"/>
                  <a:t>What bit strings represent the subset of all odd integers in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𝑈</m:t>
                    </m:r>
                  </m:oMath>
                </a14:m>
                <a:r>
                  <a:rPr lang="en-US" dirty="0"/>
                  <a:t>?</a:t>
                </a:r>
              </a:p>
              <a:p>
                <a:pPr lvl="2"/>
                <a:r>
                  <a:rPr lang="en-US" dirty="0"/>
                  <a:t>What bit strings represent the subset of all even integers in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𝑈</m:t>
                    </m:r>
                  </m:oMath>
                </a14:m>
                <a:r>
                  <a:rPr lang="en-US" dirty="0"/>
                  <a:t>?</a:t>
                </a:r>
              </a:p>
              <a:p>
                <a:pPr lvl="2"/>
                <a:r>
                  <a:rPr lang="en-US" dirty="0"/>
                  <a:t>What bit strings represent the subset of integers not exceeding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5</m:t>
                    </m:r>
                  </m:oMath>
                </a14:m>
                <a:r>
                  <a:rPr lang="en-US" dirty="0"/>
                  <a:t> in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𝑈</m:t>
                    </m:r>
                  </m:oMath>
                </a14:m>
                <a:r>
                  <a:rPr lang="en-US" dirty="0"/>
                  <a:t>?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593" t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7178794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GB" dirty="0"/>
              <a:t>Computer Representation of Sets(Contd.)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GB" b="1" u="sng" dirty="0"/>
                  <a:t>Solution:</a:t>
                </a:r>
              </a:p>
              <a:p>
                <a:pPr marL="594360" lvl="2" indent="0">
                  <a:buNone/>
                </a:pPr>
                <a:r>
                  <a:rPr lang="en-US" dirty="0"/>
                  <a:t>The bit string that represents the set of odd integers in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𝑈</m:t>
                    </m:r>
                  </m:oMath>
                </a14:m>
                <a:r>
                  <a:rPr lang="en-US" dirty="0"/>
                  <a:t>, namely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, {1, 3, 5, 7, 9},</m:t>
                    </m:r>
                  </m:oMath>
                </a14:m>
                <a:r>
                  <a:rPr lang="en-US" dirty="0"/>
                  <a:t> has a one bit in the </a:t>
                </a:r>
                <a14:m>
                  <m:oMath xmlns:m="http://schemas.openxmlformats.org/officeDocument/2006/math">
                    <m:r>
                      <a:rPr lang="en-GB" b="0" i="1" dirty="0" smtClean="0">
                        <a:latin typeface="Cambria Math"/>
                      </a:rPr>
                      <m:t>𝑓𝑖</m:t>
                    </m:r>
                    <m:r>
                      <a:rPr lang="en-US" i="1" dirty="0" smtClean="0">
                        <a:latin typeface="Cambria Math"/>
                      </a:rPr>
                      <m:t>𝑟𝑠𝑡</m:t>
                    </m:r>
                    <m:r>
                      <a:rPr lang="en-US" i="1" dirty="0" smtClean="0">
                        <a:latin typeface="Cambria Math"/>
                      </a:rPr>
                      <m:t>, </m:t>
                    </m:r>
                    <m:r>
                      <a:rPr lang="en-US" i="1" dirty="0" smtClean="0">
                        <a:latin typeface="Cambria Math"/>
                      </a:rPr>
                      <m:t>𝑡h𝑖𝑟𝑑</m:t>
                    </m:r>
                    <m:r>
                      <a:rPr lang="en-US" i="1" dirty="0" smtClean="0">
                        <a:latin typeface="Cambria Math"/>
                      </a:rPr>
                      <m:t>, </m:t>
                    </m:r>
                    <m:r>
                      <a:rPr lang="en-GB" b="0" i="1" dirty="0" smtClean="0">
                        <a:latin typeface="Cambria Math"/>
                      </a:rPr>
                      <m:t>𝑓𝑖</m:t>
                    </m:r>
                    <m:r>
                      <a:rPr lang="en-US" i="1" dirty="0" smtClean="0">
                        <a:latin typeface="Cambria Math"/>
                      </a:rPr>
                      <m:t>𝑓𝑡h</m:t>
                    </m:r>
                    <m:r>
                      <a:rPr lang="en-US" i="1" dirty="0" smtClean="0">
                        <a:latin typeface="Cambria Math"/>
                      </a:rPr>
                      <m:t>, </m:t>
                    </m:r>
                    <m:r>
                      <a:rPr lang="en-US" i="1" dirty="0" smtClean="0">
                        <a:latin typeface="Cambria Math"/>
                      </a:rPr>
                      <m:t>𝑠𝑒𝑣𝑒𝑛𝑡h</m:t>
                    </m:r>
                    <m:r>
                      <a:rPr lang="en-GB" b="0" i="1" dirty="0" smtClean="0">
                        <a:latin typeface="Cambria Math"/>
                      </a:rPr>
                      <m:t> </m:t>
                    </m:r>
                    <m:r>
                      <a:rPr lang="en-US" i="1" dirty="0" smtClean="0">
                        <a:latin typeface="Cambria Math"/>
                      </a:rPr>
                      <m:t>𝑎𝑛𝑑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𝑛𝑖𝑛𝑡h</m:t>
                    </m:r>
                  </m:oMath>
                </a14:m>
                <a:r>
                  <a:rPr lang="en-US" dirty="0"/>
                  <a:t> positions, and a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𝑧𝑒𝑟𝑜</m:t>
                    </m:r>
                  </m:oMath>
                </a14:m>
                <a:r>
                  <a:rPr lang="en-US" dirty="0"/>
                  <a:t> elsewhere. It is </a:t>
                </a:r>
              </a:p>
              <a:p>
                <a:pPr marL="594360" lvl="2" indent="0">
                  <a:buNone/>
                </a:pPr>
                <a:endParaRPr lang="en-US" i="1" dirty="0">
                  <a:latin typeface="Cambria Math"/>
                </a:endParaRPr>
              </a:p>
              <a:p>
                <a:pPr marL="594360" lvl="2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/>
                        </a:rPr>
                        <m:t>10 1010 1010.</m:t>
                      </m:r>
                    </m:oMath>
                  </m:oMathPara>
                </a14:m>
                <a:endParaRPr lang="en-US" dirty="0"/>
              </a:p>
              <a:p>
                <a:pPr marL="594360" lvl="2" indent="0">
                  <a:buNone/>
                </a:pPr>
                <a:endParaRPr lang="en-US" dirty="0"/>
              </a:p>
              <a:p>
                <a:pPr marL="594360" lvl="2" indent="0">
                  <a:buNone/>
                </a:pPr>
                <a:r>
                  <a:rPr lang="en-US" dirty="0"/>
                  <a:t>Similarly, we represent the subset of all even integers in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𝑈</m:t>
                    </m:r>
                  </m:oMath>
                </a14:m>
                <a:r>
                  <a:rPr lang="en-US" dirty="0"/>
                  <a:t>, namely,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{2, 4, 6, 8, 10},</m:t>
                    </m:r>
                  </m:oMath>
                </a14:m>
                <a:r>
                  <a:rPr lang="en-US" dirty="0"/>
                  <a:t> by the string </a:t>
                </a:r>
              </a:p>
              <a:p>
                <a:pPr marL="594360" lvl="2" indent="0">
                  <a:buNone/>
                </a:pPr>
                <a:endParaRPr lang="en-US" dirty="0"/>
              </a:p>
              <a:p>
                <a:pPr marL="594360" lvl="2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/>
                        </a:rPr>
                        <m:t>01 </m:t>
                      </m:r>
                      <m:r>
                        <a:rPr lang="en-US" i="1" dirty="0">
                          <a:latin typeface="Cambria Math"/>
                        </a:rPr>
                        <m:t>0101 0101.</m:t>
                      </m:r>
                    </m:oMath>
                  </m:oMathPara>
                </a14:m>
                <a:endParaRPr lang="en-US" dirty="0"/>
              </a:p>
              <a:p>
                <a:pPr marL="594360" lvl="2" indent="0">
                  <a:buNone/>
                </a:pPr>
                <a:endParaRPr lang="en-US" dirty="0"/>
              </a:p>
              <a:p>
                <a:pPr marL="594360" lvl="2" indent="0">
                  <a:buNone/>
                </a:pPr>
                <a:r>
                  <a:rPr lang="en-US" dirty="0"/>
                  <a:t>The set of all integers in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𝑈</m:t>
                    </m:r>
                  </m:oMath>
                </a14:m>
                <a:r>
                  <a:rPr lang="en-US" dirty="0"/>
                  <a:t> that do not exceed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5</m:t>
                    </m:r>
                  </m:oMath>
                </a14:m>
                <a:r>
                  <a:rPr lang="en-US" dirty="0"/>
                  <a:t>, namely,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{1, 2, 3, 4, 5}</m:t>
                    </m:r>
                  </m:oMath>
                </a14:m>
                <a:r>
                  <a:rPr lang="en-US" dirty="0"/>
                  <a:t>, is represented by the string </a:t>
                </a:r>
              </a:p>
              <a:p>
                <a:pPr marL="594360" lvl="2" indent="0">
                  <a:buNone/>
                </a:pPr>
                <a:endParaRPr lang="en-GB" i="1" dirty="0">
                  <a:latin typeface="Cambria Math"/>
                </a:endParaRPr>
              </a:p>
              <a:p>
                <a:pPr marL="594360" lvl="2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/>
                        </a:rPr>
                        <m:t>11 </m:t>
                      </m:r>
                      <m:r>
                        <a:rPr lang="en-US" i="1" dirty="0">
                          <a:latin typeface="Cambria Math"/>
                        </a:rPr>
                        <m:t>1110 0000.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519" t="-17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4211330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GB" dirty="0"/>
              <a:t>Computer Representation of Sets(Contd.)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GB" b="1" u="sng" dirty="0"/>
                  <a:t>Example 2:</a:t>
                </a:r>
              </a:p>
              <a:p>
                <a:pPr lvl="1"/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</a:rPr>
                      <m:t>𝑈</m:t>
                    </m:r>
                    <m:r>
                      <a:rPr lang="en-US" i="1" dirty="0">
                        <a:latin typeface="Cambria Math"/>
                      </a:rPr>
                      <m:t> ={1, 2, 3, 4, 5, 6, 7, 8, 9, 10}, </m:t>
                    </m:r>
                  </m:oMath>
                </a14:m>
                <a:r>
                  <a:rPr lang="en-US" dirty="0"/>
                  <a:t>and the ordering of elements of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</a:rPr>
                      <m:t>𝑈</m:t>
                    </m:r>
                  </m:oMath>
                </a14:m>
                <a:r>
                  <a:rPr lang="en-US" dirty="0"/>
                  <a:t> has the elements in increasing order; that is,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= </m:t>
                    </m:r>
                    <m:r>
                      <a:rPr lang="en-US" i="1" dirty="0">
                        <a:latin typeface="Cambria Math"/>
                      </a:rPr>
                      <m:t>𝑖</m:t>
                    </m:r>
                  </m:oMath>
                </a14:m>
                <a:r>
                  <a:rPr lang="en-US" dirty="0"/>
                  <a:t>. </a:t>
                </a:r>
              </a:p>
              <a:p>
                <a:pPr lvl="2"/>
                <a:r>
                  <a:rPr lang="en-US" dirty="0"/>
                  <a:t>What bit strings represent the complement of the subset of all odd integers in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</a:rPr>
                      <m:t>𝑈</m:t>
                    </m:r>
                  </m:oMath>
                </a14:m>
                <a:r>
                  <a:rPr lang="en-US" dirty="0"/>
                  <a:t>?</a:t>
                </a:r>
              </a:p>
              <a:p>
                <a:pPr lvl="2"/>
                <a:endParaRPr lang="en-US" dirty="0"/>
              </a:p>
              <a:p>
                <a:pPr lvl="1"/>
                <a:endParaRPr lang="en-US" b="1" u="sng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593" t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3922951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GB" dirty="0"/>
              <a:t>Computer Representation of Sets(Contd.)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GB" b="1" u="sng" dirty="0"/>
                  <a:t>Solution:</a:t>
                </a:r>
              </a:p>
              <a:p>
                <a:pPr marL="594360" lvl="2" indent="0">
                  <a:buNone/>
                </a:pPr>
                <a:r>
                  <a:rPr lang="en-US" dirty="0"/>
                  <a:t>The bit string that represents the set of odd integers in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</a:rPr>
                      <m:t>𝑈</m:t>
                    </m:r>
                  </m:oMath>
                </a14:m>
                <a:r>
                  <a:rPr lang="en-US" dirty="0"/>
                  <a:t>, namely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</a:rPr>
                      <m:t>, {1, 3, 5, 7, 9},</m:t>
                    </m:r>
                  </m:oMath>
                </a14:m>
                <a:r>
                  <a:rPr lang="en-US" dirty="0"/>
                  <a:t> has a one bit in the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/>
                      </a:rPr>
                      <m:t>𝑓</m:t>
                    </m:r>
                    <m:r>
                      <a:rPr lang="en-GB" i="1" dirty="0">
                        <a:latin typeface="Cambria Math"/>
                      </a:rPr>
                      <m:t>𝑖</m:t>
                    </m:r>
                    <m:r>
                      <a:rPr lang="en-US" i="1" dirty="0">
                        <a:latin typeface="Cambria Math"/>
                      </a:rPr>
                      <m:t>𝑟𝑠𝑡</m:t>
                    </m:r>
                    <m:r>
                      <a:rPr lang="en-US" i="1" dirty="0">
                        <a:latin typeface="Cambria Math"/>
                      </a:rPr>
                      <m:t>, </m:t>
                    </m:r>
                    <m:r>
                      <a:rPr lang="en-US" i="1" dirty="0">
                        <a:latin typeface="Cambria Math"/>
                      </a:rPr>
                      <m:t>𝑡h𝑖𝑟𝑑</m:t>
                    </m:r>
                    <m:r>
                      <a:rPr lang="en-US" i="1" dirty="0">
                        <a:latin typeface="Cambria Math"/>
                      </a:rPr>
                      <m:t>, </m:t>
                    </m:r>
                    <m:r>
                      <a:rPr lang="en-GB" i="1" dirty="0">
                        <a:latin typeface="Cambria Math"/>
                      </a:rPr>
                      <m:t>𝑓𝑖</m:t>
                    </m:r>
                    <m:r>
                      <a:rPr lang="en-US" i="1" dirty="0">
                        <a:latin typeface="Cambria Math"/>
                      </a:rPr>
                      <m:t>𝑓𝑡h</m:t>
                    </m:r>
                    <m:r>
                      <a:rPr lang="en-US" i="1" dirty="0">
                        <a:latin typeface="Cambria Math"/>
                      </a:rPr>
                      <m:t>, </m:t>
                    </m:r>
                    <m:r>
                      <a:rPr lang="en-US" i="1" dirty="0">
                        <a:latin typeface="Cambria Math"/>
                      </a:rPr>
                      <m:t>𝑠𝑒𝑣𝑒𝑛𝑡h</m:t>
                    </m:r>
                    <m:r>
                      <a:rPr lang="en-GB" i="1" dirty="0">
                        <a:latin typeface="Cambria Math"/>
                      </a:rPr>
                      <m:t> </m:t>
                    </m:r>
                  </m:oMath>
                </a14:m>
                <a:endParaRPr lang="en-GB" i="1" dirty="0">
                  <a:latin typeface="Cambria Math"/>
                </a:endParaRPr>
              </a:p>
              <a:p>
                <a:pPr marL="594360" lvl="2" indent="0">
                  <a:buNone/>
                </a:pP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</a:rPr>
                      <m:t>𝑎𝑛𝑑</m:t>
                    </m:r>
                    <m:r>
                      <a:rPr lang="en-GB" b="0" i="1" dirty="0" smtClean="0">
                        <a:latin typeface="Cambria Math"/>
                      </a:rPr>
                      <m:t> </m:t>
                    </m:r>
                    <m:r>
                      <a:rPr lang="en-US" i="1" dirty="0">
                        <a:latin typeface="Cambria Math"/>
                      </a:rPr>
                      <m:t>𝑛𝑖𝑛𝑡h</m:t>
                    </m:r>
                  </m:oMath>
                </a14:m>
                <a:r>
                  <a:rPr lang="en-US" dirty="0"/>
                  <a:t> positions, and a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</a:rPr>
                      <m:t>𝑧𝑒𝑟𝑜</m:t>
                    </m:r>
                  </m:oMath>
                </a14:m>
                <a:r>
                  <a:rPr lang="en-US" dirty="0"/>
                  <a:t> elsewhere. It is </a:t>
                </a:r>
              </a:p>
              <a:p>
                <a:pPr marL="594360" lvl="2" indent="0">
                  <a:buNone/>
                </a:pPr>
                <a:endParaRPr lang="en-US" i="1" dirty="0">
                  <a:latin typeface="Cambria Math"/>
                </a:endParaRPr>
              </a:p>
              <a:p>
                <a:pPr marL="594360" lvl="2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>
                          <a:latin typeface="Cambria Math"/>
                        </a:rPr>
                        <m:t>10 1010 1010.</m:t>
                      </m:r>
                    </m:oMath>
                  </m:oMathPara>
                </a14:m>
                <a:endParaRPr lang="en-US" dirty="0"/>
              </a:p>
              <a:p>
                <a:pPr marL="594360" lvl="2" indent="0">
                  <a:buNone/>
                </a:pPr>
                <a:r>
                  <a:rPr lang="en-US" dirty="0"/>
                  <a:t>The bit string for the complement of this set is obtained by replacing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0</m:t>
                    </m:r>
                    <m:r>
                      <a:rPr lang="en-US" i="1" dirty="0" smtClean="0">
                        <a:latin typeface="Cambria Math"/>
                      </a:rPr>
                      <m:t>𝑠</m:t>
                    </m:r>
                  </m:oMath>
                </a14:m>
                <a:r>
                  <a:rPr lang="en-US" dirty="0"/>
                  <a:t> with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1</m:t>
                    </m:r>
                    <m:r>
                      <a:rPr lang="en-US" i="1" dirty="0" smtClean="0">
                        <a:latin typeface="Cambria Math"/>
                      </a:rPr>
                      <m:t>𝑠</m:t>
                    </m:r>
                  </m:oMath>
                </a14:m>
                <a:r>
                  <a:rPr lang="en-US" dirty="0"/>
                  <a:t> and vice versa. This yields the string</a:t>
                </a:r>
              </a:p>
              <a:p>
                <a:pPr marL="594360" lvl="2" indent="0">
                  <a:buNone/>
                </a:pPr>
                <a:endParaRPr lang="en-GB" i="1" dirty="0">
                  <a:latin typeface="Cambria Math"/>
                </a:endParaRPr>
              </a:p>
              <a:p>
                <a:pPr marL="594360" lvl="2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/>
                        </a:rPr>
                        <m:t>01 0101 0101</m:t>
                      </m:r>
                    </m:oMath>
                  </m:oMathPara>
                </a14:m>
                <a:endParaRPr lang="en-GB" dirty="0"/>
              </a:p>
              <a:p>
                <a:pPr marL="594360" lvl="2" indent="0">
                  <a:buNone/>
                </a:pPr>
                <a:endParaRPr lang="en-US" dirty="0"/>
              </a:p>
              <a:p>
                <a:pPr marL="594360" lvl="2" indent="0">
                  <a:buNone/>
                </a:pPr>
                <a:r>
                  <a:rPr lang="en-US" dirty="0"/>
                  <a:t>which corresponds to the set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{2, 4, 6, 8, 10}.</m:t>
                    </m:r>
                  </m:oMath>
                </a14:m>
                <a:endParaRPr lang="en-US" dirty="0"/>
              </a:p>
              <a:p>
                <a:pPr marL="594360" lvl="2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593" t="-1111" r="-9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5546412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GB" dirty="0"/>
              <a:t>Computer Representation of Sets(Contd.)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en-GB" b="1" u="sng" dirty="0"/>
                  <a:t>Example 3:</a:t>
                </a:r>
              </a:p>
              <a:p>
                <a:pPr lvl="1"/>
                <a:r>
                  <a:rPr lang="en-US" dirty="0"/>
                  <a:t>The bit strings for the sets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{1, 2, 3, 4, 5}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{1, 3, 5, 7, 9} </m:t>
                    </m:r>
                  </m:oMath>
                </a14:m>
                <a:r>
                  <a:rPr lang="en-US" dirty="0"/>
                  <a:t>are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11 1110 0000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10 1010 1010</m:t>
                    </m:r>
                  </m:oMath>
                </a14:m>
                <a:r>
                  <a:rPr lang="en-US" dirty="0"/>
                  <a:t>, respectively.  Use bit strings to ﬁnd the union and intersection of these sets.</a:t>
                </a:r>
              </a:p>
              <a:p>
                <a:pPr lvl="1"/>
                <a:endParaRPr lang="en-GB" dirty="0"/>
              </a:p>
              <a:p>
                <a:r>
                  <a:rPr lang="en-GB" b="1" u="sng" dirty="0"/>
                  <a:t>Solution:</a:t>
                </a:r>
              </a:p>
              <a:p>
                <a:pPr marL="594360" lvl="2" indent="0">
                  <a:buNone/>
                </a:pPr>
                <a:r>
                  <a:rPr lang="en-US" dirty="0"/>
                  <a:t>The bit string for the union of these sets is,</a:t>
                </a:r>
              </a:p>
              <a:p>
                <a:pPr marL="594360" lvl="2" indent="0">
                  <a:buNone/>
                </a:pPr>
                <a:endParaRPr lang="en-GB" i="1" dirty="0">
                  <a:latin typeface="Cambria Math"/>
                </a:endParaRPr>
              </a:p>
              <a:p>
                <a:pPr marL="594360" lvl="2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/>
                        </a:rPr>
                        <m:t>11 1110 0000 ∨ 10 1010 1010 = 11 1110 1010,</m:t>
                      </m:r>
                    </m:oMath>
                  </m:oMathPara>
                </a14:m>
                <a:endParaRPr lang="en-US" dirty="0"/>
              </a:p>
              <a:p>
                <a:pPr marL="594360" lvl="2" indent="0">
                  <a:buNone/>
                </a:pPr>
                <a:r>
                  <a:rPr lang="en-US" dirty="0"/>
                  <a:t>which corresponds to the set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{1, 2, 3, 4, 5, 7, 9}</m:t>
                    </m:r>
                  </m:oMath>
                </a14:m>
                <a:r>
                  <a:rPr lang="en-US" dirty="0"/>
                  <a:t>. </a:t>
                </a:r>
              </a:p>
              <a:p>
                <a:pPr marL="594360" lvl="2" indent="0">
                  <a:buNone/>
                </a:pPr>
                <a:endParaRPr lang="en-US" dirty="0"/>
              </a:p>
              <a:p>
                <a:pPr marL="594360" lvl="2" indent="0">
                  <a:buNone/>
                </a:pPr>
                <a:r>
                  <a:rPr lang="en-US" dirty="0"/>
                  <a:t>The bit string for the intersection of these sets is,</a:t>
                </a:r>
              </a:p>
              <a:p>
                <a:pPr marL="594360" lvl="2" indent="0">
                  <a:buNone/>
                </a:pPr>
                <a:endParaRPr lang="en-US" i="1" dirty="0">
                  <a:latin typeface="Cambria Math"/>
                </a:endParaRPr>
              </a:p>
              <a:p>
                <a:pPr marL="594360" lvl="2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/>
                        </a:rPr>
                        <m:t>11 1110 0000 ∧ 10 1010 1010 = 10 1010 0000,</m:t>
                      </m:r>
                    </m:oMath>
                  </m:oMathPara>
                </a14:m>
                <a:endParaRPr lang="en-US" dirty="0"/>
              </a:p>
              <a:p>
                <a:pPr marL="594360" lvl="2" indent="0">
                  <a:buNone/>
                </a:pPr>
                <a:r>
                  <a:rPr lang="en-US" dirty="0"/>
                  <a:t>which corresponds to the set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{1, 3, 5}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594360" lvl="2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444" t="-2469" b="-1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0137446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46856" y="764704"/>
            <a:ext cx="8229600" cy="2808312"/>
          </a:xfrm>
        </p:spPr>
        <p:txBody>
          <a:bodyPr/>
          <a:lstStyle/>
          <a:p>
            <a:pPr algn="ctr"/>
            <a:r>
              <a:rPr lang="en-GB" dirty="0"/>
              <a:t>THE END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397392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rigin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168</TotalTime>
  <Words>3266</Words>
  <Application>Microsoft Office PowerPoint</Application>
  <PresentationFormat>On-screen Show (4:3)</PresentationFormat>
  <Paragraphs>301</Paragraphs>
  <Slides>45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1" baseType="lpstr">
      <vt:lpstr>Bookman Old Style</vt:lpstr>
      <vt:lpstr>Cambria Math</vt:lpstr>
      <vt:lpstr>Gill Sans MT</vt:lpstr>
      <vt:lpstr>Wingdings</vt:lpstr>
      <vt:lpstr>Wingdings 3</vt:lpstr>
      <vt:lpstr>Origin</vt:lpstr>
      <vt:lpstr>Chapter 2  Basic Structures: Sets, Functions, Sequences, Sums, and Matrices </vt:lpstr>
      <vt:lpstr>Sets</vt:lpstr>
      <vt:lpstr>Sets(Contd.)</vt:lpstr>
      <vt:lpstr>Sets(Contd.)</vt:lpstr>
      <vt:lpstr>Equal Sets</vt:lpstr>
      <vt:lpstr>Equal Sets(Contd.)</vt:lpstr>
      <vt:lpstr>Empty &amp; Singleton Sets</vt:lpstr>
      <vt:lpstr>Empty &amp; Singleton Sets(Contd.)</vt:lpstr>
      <vt:lpstr>Empty &amp; Singleton Sets(Contd.)</vt:lpstr>
      <vt:lpstr>Venn Diagram</vt:lpstr>
      <vt:lpstr>Subsets</vt:lpstr>
      <vt:lpstr>Cardinality</vt:lpstr>
      <vt:lpstr>Power Sets</vt:lpstr>
      <vt:lpstr>Power Sets(Contd.)</vt:lpstr>
      <vt:lpstr>Power Sets(Contd.)</vt:lpstr>
      <vt:lpstr>Ordered Pairs</vt:lpstr>
      <vt:lpstr>Ordered Pairs(Contd.)</vt:lpstr>
      <vt:lpstr>Cartesian Products</vt:lpstr>
      <vt:lpstr>Cartesian Products(Contd.)</vt:lpstr>
      <vt:lpstr>Cartesian Products(Contd.)</vt:lpstr>
      <vt:lpstr>Cartesian Products(Contd.)</vt:lpstr>
      <vt:lpstr>Section 2.2: Set Operations</vt:lpstr>
      <vt:lpstr>Union of Sets</vt:lpstr>
      <vt:lpstr>Union of Sets(Contd.)</vt:lpstr>
      <vt:lpstr>Union of Sets(Contd.)</vt:lpstr>
      <vt:lpstr>Intersection of Sets</vt:lpstr>
      <vt:lpstr>Intersection of Sets(Contd.)</vt:lpstr>
      <vt:lpstr>Intersection of Sets(Contd.)</vt:lpstr>
      <vt:lpstr>Disjoint Sets</vt:lpstr>
      <vt:lpstr>Difference of Sets</vt:lpstr>
      <vt:lpstr>Difference of Sets(Contd.)</vt:lpstr>
      <vt:lpstr>Difference of Sets(Contd.)</vt:lpstr>
      <vt:lpstr>Complement of Sets</vt:lpstr>
      <vt:lpstr>Complement of Sets(Contd.)</vt:lpstr>
      <vt:lpstr>Complement of Sets(Contd.)</vt:lpstr>
      <vt:lpstr>Set Identities</vt:lpstr>
      <vt:lpstr>Set Identities(Contd.)</vt:lpstr>
      <vt:lpstr>Set Identities(Contd.)</vt:lpstr>
      <vt:lpstr>Computer Representation of Sets</vt:lpstr>
      <vt:lpstr>Computer Representation of Sets(Contd.)</vt:lpstr>
      <vt:lpstr>Computer Representation of Sets(Contd.)</vt:lpstr>
      <vt:lpstr>Computer Representation of Sets(Contd.)</vt:lpstr>
      <vt:lpstr>Computer Representation of Sets(Contd.)</vt:lpstr>
      <vt:lpstr>Computer Representation of Sets(Contd.)</vt:lpstr>
      <vt:lpstr>THE 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2  Basic Structures: Sets, Functions, Sequences, Sums, and Matrices </dc:title>
  <dc:creator>Sunef</dc:creator>
  <cp:lastModifiedBy>ASUS</cp:lastModifiedBy>
  <cp:revision>14</cp:revision>
  <dcterms:created xsi:type="dcterms:W3CDTF">2006-08-16T00:00:00Z</dcterms:created>
  <dcterms:modified xsi:type="dcterms:W3CDTF">2020-10-11T05:56:57Z</dcterms:modified>
</cp:coreProperties>
</file>