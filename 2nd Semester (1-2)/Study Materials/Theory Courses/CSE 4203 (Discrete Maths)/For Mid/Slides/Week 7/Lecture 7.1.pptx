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81" r:id="rId3"/>
    <p:sldId id="316" r:id="rId4"/>
    <p:sldId id="317" r:id="rId5"/>
    <p:sldId id="318" r:id="rId6"/>
    <p:sldId id="319" r:id="rId7"/>
    <p:sldId id="320" r:id="rId8"/>
    <p:sldId id="321" r:id="rId9"/>
    <p:sldId id="322" r:id="rId10"/>
    <p:sldId id="323" r:id="rId11"/>
    <p:sldId id="327" r:id="rId12"/>
    <p:sldId id="328" r:id="rId13"/>
    <p:sldId id="324" r:id="rId14"/>
    <p:sldId id="325" r:id="rId15"/>
    <p:sldId id="326" r:id="rId16"/>
    <p:sldId id="329" r:id="rId17"/>
    <p:sldId id="280" r:id="rId18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Chapter 3[3.3]" id="{BCA1E553-9914-40C8-8BDE-FA02AD59CB75}">
          <p14:sldIdLst>
            <p14:sldId id="256"/>
          </p14:sldIdLst>
        </p14:section>
        <p14:section name="Complexity of Algorithms" id="{1451C4DB-80BC-44EA-ADDF-F4E57A50E383}">
          <p14:sldIdLst>
            <p14:sldId id="281"/>
            <p14:sldId id="316"/>
          </p14:sldIdLst>
        </p14:section>
        <p14:section name="Time Complexity" id="{4292B41E-013B-4B10-8E2E-D5341DF91394}">
          <p14:sldIdLst>
            <p14:sldId id="317"/>
            <p14:sldId id="318"/>
          </p14:sldIdLst>
        </p14:section>
        <p14:section name="Time Complexity of Algorithms" id="{1595F18C-7D3F-418E-B5D6-840ECE3A1C64}">
          <p14:sldIdLst>
            <p14:sldId id="319"/>
            <p14:sldId id="320"/>
            <p14:sldId id="321"/>
            <p14:sldId id="322"/>
            <p14:sldId id="323"/>
            <p14:sldId id="327"/>
            <p14:sldId id="328"/>
            <p14:sldId id="324"/>
          </p14:sldIdLst>
        </p14:section>
        <p14:section name="Algorithmic Paradigms" id="{6C9A2D53-9F95-498D-8340-5B703EE7FEEF}">
          <p14:sldIdLst>
            <p14:sldId id="325"/>
            <p14:sldId id="326"/>
            <p14:sldId id="329"/>
            <p14:sldId id="280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ED083AE6-46FA-4A59-8FB0-9F97EB10719F}" styleName="Light Style 3 - Accent 4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  <a:tblStyle styleId="{1E171933-4619-4E11-9A3F-F7608DF75F80}" styleName="Medium Style 1 - Accent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4">
              <a:tint val="20000"/>
            </a:schemeClr>
          </a:solidFill>
        </a:fill>
      </a:tcStyle>
    </a:band1H>
    <a:band1V>
      <a:tcStyle>
        <a:tcBdr/>
        <a:fill>
          <a:solidFill>
            <a:schemeClr val="accent4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Row>
  </a:tblStyle>
  <a:tblStyle styleId="{16D9F66E-5EB9-4882-86FB-DCBF35E3C3E4}" styleName="Medium Style 4 - Accent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6"/>
              </a:solidFill>
            </a:ln>
          </a:top>
        </a:tcBdr>
        <a:fill>
          <a:solidFill>
            <a:schemeClr val="accent6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6">
              <a:tint val="20000"/>
            </a:schemeClr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C4B1156A-380E-4F78-BDF5-A606A8083BF9}" styleName="Medium Style 4 - Accent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4"/>
              </a:solidFill>
            </a:ln>
          </a:top>
        </a:tcBdr>
        <a:fill>
          <a:solidFill>
            <a:schemeClr val="accent4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4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>
      <p:cViewPr varScale="1">
        <p:scale>
          <a:sx n="114" d="100"/>
          <a:sy n="114" d="100"/>
        </p:scale>
        <p:origin x="1506" y="10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1219200" y="3886200"/>
            <a:ext cx="6858000" cy="990600"/>
          </a:xfrm>
        </p:spPr>
        <p:txBody>
          <a:bodyPr anchor="t" anchorCtr="0"/>
          <a:lstStyle>
            <a:lvl1pPr algn="r">
              <a:defRPr sz="3200">
                <a:solidFill>
                  <a:schemeClr val="tx1"/>
                </a:solidFill>
              </a:defRPr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9" name="Subtitle 8"/>
          <p:cNvSpPr>
            <a:spLocks noGrp="1"/>
          </p:cNvSpPr>
          <p:nvPr>
            <p:ph type="subTitle" idx="1"/>
          </p:nvPr>
        </p:nvSpPr>
        <p:spPr>
          <a:xfrm>
            <a:off x="1219200" y="5124450"/>
            <a:ext cx="6858000" cy="533400"/>
          </a:xfrm>
        </p:spPr>
        <p:txBody>
          <a:bodyPr/>
          <a:lstStyle>
            <a:lvl1pPr marL="0" indent="0" algn="r">
              <a:buNone/>
              <a:defRPr sz="20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en-US"/>
              <a:t>Click to edit Master subtitle style</a:t>
            </a:r>
          </a:p>
        </p:txBody>
      </p:sp>
      <p:sp>
        <p:nvSpPr>
          <p:cNvPr id="28" name="Date Placeholder 27"/>
          <p:cNvSpPr>
            <a:spLocks noGrp="1"/>
          </p:cNvSpPr>
          <p:nvPr>
            <p:ph type="dt" sz="half" idx="10"/>
          </p:nvPr>
        </p:nvSpPr>
        <p:spPr>
          <a:xfrm>
            <a:off x="6400800" y="6355080"/>
            <a:ext cx="2286000" cy="365760"/>
          </a:xfrm>
        </p:spPr>
        <p:txBody>
          <a:bodyPr/>
          <a:lstStyle>
            <a:lvl1pPr>
              <a:defRPr sz="1400"/>
            </a:lvl1pPr>
          </a:lstStyle>
          <a:p>
            <a:fld id="{1D8BD707-D9CF-40AE-B4C6-C98DA3205C09}" type="datetimeFigureOut">
              <a:rPr lang="en-US" smtClean="0"/>
              <a:pPr/>
              <a:t>11/13/2020</a:t>
            </a:fld>
            <a:endParaRPr lang="en-US"/>
          </a:p>
        </p:txBody>
      </p:sp>
      <p:sp>
        <p:nvSpPr>
          <p:cNvPr id="17" name="Footer Placeholder 16"/>
          <p:cNvSpPr>
            <a:spLocks noGrp="1"/>
          </p:cNvSpPr>
          <p:nvPr>
            <p:ph type="ftr" sz="quarter" idx="11"/>
          </p:nvPr>
        </p:nvSpPr>
        <p:spPr>
          <a:xfrm>
            <a:off x="2898648" y="6355080"/>
            <a:ext cx="3474720" cy="365760"/>
          </a:xfrm>
        </p:spPr>
        <p:txBody>
          <a:bodyPr/>
          <a:lstStyle/>
          <a:p>
            <a:endParaRPr lang="en-US"/>
          </a:p>
        </p:txBody>
      </p:sp>
      <p:sp>
        <p:nvSpPr>
          <p:cNvPr id="29" name="Slide Number Placeholder 28"/>
          <p:cNvSpPr>
            <a:spLocks noGrp="1"/>
          </p:cNvSpPr>
          <p:nvPr>
            <p:ph type="sldNum" sz="quarter" idx="12"/>
          </p:nvPr>
        </p:nvSpPr>
        <p:spPr>
          <a:xfrm>
            <a:off x="1216152" y="6355080"/>
            <a:ext cx="1219200" cy="365760"/>
          </a:xfrm>
        </p:spPr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1" name="Rectangle 20"/>
          <p:cNvSpPr/>
          <p:nvPr/>
        </p:nvSpPr>
        <p:spPr>
          <a:xfrm>
            <a:off x="904875" y="3648075"/>
            <a:ext cx="7315200" cy="1280160"/>
          </a:xfrm>
          <a:prstGeom prst="rect">
            <a:avLst/>
          </a:prstGeom>
          <a:noFill/>
          <a:ln w="6350" cap="rnd" cmpd="sng" algn="ctr">
            <a:solidFill>
              <a:schemeClr val="accent1"/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33" name="Rectangle 32"/>
          <p:cNvSpPr/>
          <p:nvPr/>
        </p:nvSpPr>
        <p:spPr>
          <a:xfrm>
            <a:off x="914400" y="5048250"/>
            <a:ext cx="7315200" cy="685800"/>
          </a:xfrm>
          <a:prstGeom prst="rect">
            <a:avLst/>
          </a:prstGeom>
          <a:noFill/>
          <a:ln w="6350" cap="rnd" cmpd="sng" algn="ctr">
            <a:solidFill>
              <a:schemeClr val="accent2"/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2" name="Rectangle 21"/>
          <p:cNvSpPr/>
          <p:nvPr/>
        </p:nvSpPr>
        <p:spPr>
          <a:xfrm>
            <a:off x="904875" y="3648075"/>
            <a:ext cx="228600" cy="1280160"/>
          </a:xfrm>
          <a:prstGeom prst="rect">
            <a:avLst/>
          </a:prstGeom>
          <a:solidFill>
            <a:schemeClr val="accent1"/>
          </a:solidFill>
          <a:ln w="635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32" name="Rectangle 31"/>
          <p:cNvSpPr/>
          <p:nvPr/>
        </p:nvSpPr>
        <p:spPr>
          <a:xfrm>
            <a:off x="914400" y="5048250"/>
            <a:ext cx="228600" cy="685800"/>
          </a:xfrm>
          <a:prstGeom prst="rect">
            <a:avLst/>
          </a:prstGeom>
          <a:solidFill>
            <a:schemeClr val="accent2"/>
          </a:solidFill>
          <a:ln w="635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11/13/2020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Content Placeholder 7"/>
          <p:cNvSpPr>
            <a:spLocks noGrp="1"/>
          </p:cNvSpPr>
          <p:nvPr>
            <p:ph sz="quarter" idx="1"/>
          </p:nvPr>
        </p:nvSpPr>
        <p:spPr>
          <a:xfrm>
            <a:off x="457200" y="1219200"/>
            <a:ext cx="8229600" cy="4937760"/>
          </a:xfrm>
        </p:spPr>
        <p:txBody>
          <a:bodyPr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19200" y="2971800"/>
            <a:ext cx="6858000" cy="1066800"/>
          </a:xfrm>
        </p:spPr>
        <p:txBody>
          <a:bodyPr anchor="t" anchorCtr="0"/>
          <a:lstStyle>
            <a:lvl1pPr algn="r">
              <a:buNone/>
              <a:defRPr sz="3200" b="0" cap="none" baseline="0"/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0" y="4267200"/>
            <a:ext cx="6781800" cy="1143000"/>
          </a:xfrm>
        </p:spPr>
        <p:txBody>
          <a:bodyPr anchor="t" anchorCtr="0"/>
          <a:lstStyle>
            <a:lvl1pPr marL="0" indent="0" algn="r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400800" y="6355080"/>
            <a:ext cx="2286000" cy="365760"/>
          </a:xfrm>
        </p:spPr>
        <p:txBody>
          <a:bodyPr/>
          <a:lstStyle/>
          <a:p>
            <a:fld id="{1D8BD707-D9CF-40AE-B4C6-C98DA3205C09}" type="datetimeFigureOut">
              <a:rPr lang="en-US" smtClean="0"/>
              <a:pPr/>
              <a:t>11/13/2020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898648" y="6355080"/>
            <a:ext cx="3474720" cy="36576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69848" y="6355080"/>
            <a:ext cx="1520952" cy="365760"/>
          </a:xfrm>
        </p:spPr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914400" y="2819400"/>
            <a:ext cx="7315200" cy="1280160"/>
          </a:xfrm>
          <a:prstGeom prst="rect">
            <a:avLst/>
          </a:prstGeom>
          <a:noFill/>
          <a:ln w="6350" cap="rnd" cmpd="sng" algn="ctr">
            <a:solidFill>
              <a:schemeClr val="accent1"/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8" name="Rectangle 7"/>
          <p:cNvSpPr/>
          <p:nvPr/>
        </p:nvSpPr>
        <p:spPr>
          <a:xfrm>
            <a:off x="914400" y="2819400"/>
            <a:ext cx="228600" cy="1280160"/>
          </a:xfrm>
          <a:prstGeom prst="rect">
            <a:avLst/>
          </a:prstGeom>
          <a:solidFill>
            <a:schemeClr val="accent1"/>
          </a:solidFill>
          <a:ln w="635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28600"/>
            <a:ext cx="8229600" cy="914400"/>
          </a:xfrm>
        </p:spPr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11/13/2020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9" name="Content Placeholder 8"/>
          <p:cNvSpPr>
            <a:spLocks noGrp="1"/>
          </p:cNvSpPr>
          <p:nvPr>
            <p:ph sz="quarter" idx="1"/>
          </p:nvPr>
        </p:nvSpPr>
        <p:spPr>
          <a:xfrm>
            <a:off x="457200" y="1219200"/>
            <a:ext cx="4041648" cy="4937760"/>
          </a:xfrm>
        </p:spPr>
        <p:txBody>
          <a:bodyPr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2"/>
          </p:nvPr>
        </p:nvSpPr>
        <p:spPr>
          <a:xfrm>
            <a:off x="4632198" y="1216152"/>
            <a:ext cx="4041648" cy="4937760"/>
          </a:xfrm>
        </p:spPr>
        <p:txBody>
          <a:bodyPr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28600"/>
            <a:ext cx="8229600" cy="914400"/>
          </a:xfrm>
        </p:spPr>
        <p:txBody>
          <a:bodyPr anchor="ctr"/>
          <a:lstStyle>
            <a:lvl1pPr>
              <a:defRPr/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285875"/>
            <a:ext cx="4040188" cy="685800"/>
          </a:xfrm>
          <a:noFill/>
          <a:ln>
            <a:noFill/>
          </a:ln>
        </p:spPr>
        <p:txBody>
          <a:bodyPr lIns="91440" anchor="b" anchorCtr="0">
            <a:noAutofit/>
          </a:bodyPr>
          <a:lstStyle>
            <a:lvl1pPr marL="0" indent="0">
              <a:buNone/>
              <a:defRPr sz="2400" b="1">
                <a:solidFill>
                  <a:schemeClr val="accent2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3"/>
          </p:nvPr>
        </p:nvSpPr>
        <p:spPr>
          <a:xfrm>
            <a:off x="4648200" y="1295400"/>
            <a:ext cx="4041775" cy="685800"/>
          </a:xfrm>
          <a:noFill/>
          <a:ln>
            <a:noFill/>
          </a:ln>
        </p:spPr>
        <p:txBody>
          <a:bodyPr lIns="91440" anchor="b" anchorCtr="0"/>
          <a:lstStyle>
            <a:lvl1pPr marL="0" indent="0">
              <a:buNone/>
              <a:defRPr sz="2400" b="1">
                <a:solidFill>
                  <a:schemeClr val="accent2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11/13/2020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2"/>
          </p:nvPr>
        </p:nvSpPr>
        <p:spPr>
          <a:xfrm>
            <a:off x="457200" y="2133600"/>
            <a:ext cx="4038600" cy="4038600"/>
          </a:xfrm>
        </p:spPr>
        <p:txBody>
          <a:bodyPr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13" name="Content Placeholder 12"/>
          <p:cNvSpPr>
            <a:spLocks noGrp="1"/>
          </p:cNvSpPr>
          <p:nvPr>
            <p:ph sz="quarter" idx="4"/>
          </p:nvPr>
        </p:nvSpPr>
        <p:spPr>
          <a:xfrm>
            <a:off x="4648200" y="2133600"/>
            <a:ext cx="4038600" cy="4038600"/>
          </a:xfrm>
        </p:spPr>
        <p:txBody>
          <a:bodyPr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28600"/>
            <a:ext cx="8229600" cy="914400"/>
          </a:xfrm>
        </p:spPr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11/13/2020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6" name="Isosceles Triangle 5"/>
          <p:cNvSpPr>
            <a:spLocks noChangeAspect="1"/>
          </p:cNvSpPr>
          <p:nvPr/>
        </p:nvSpPr>
        <p:spPr>
          <a:xfrm rot="5400000">
            <a:off x="419100" y="6467475"/>
            <a:ext cx="190849" cy="120314"/>
          </a:xfrm>
          <a:prstGeom prst="triangle">
            <a:avLst>
              <a:gd name="adj" fmla="val 50000"/>
            </a:avLst>
          </a:prstGeom>
          <a:solidFill>
            <a:schemeClr val="accent2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11/13/2020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5" name="Straight Connector 4"/>
          <p:cNvSpPr>
            <a:spLocks noChangeShapeType="1"/>
          </p:cNvSpPr>
          <p:nvPr/>
        </p:nvSpPr>
        <p:spPr bwMode="auto">
          <a:xfrm>
            <a:off x="457200" y="6353175"/>
            <a:ext cx="822960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6" name="Isosceles Triangle 5"/>
          <p:cNvSpPr>
            <a:spLocks noChangeAspect="1"/>
          </p:cNvSpPr>
          <p:nvPr/>
        </p:nvSpPr>
        <p:spPr>
          <a:xfrm rot="5400000">
            <a:off x="419100" y="6467475"/>
            <a:ext cx="190849" cy="120314"/>
          </a:xfrm>
          <a:prstGeom prst="triangle">
            <a:avLst>
              <a:gd name="adj" fmla="val 50000"/>
            </a:avLst>
          </a:prstGeom>
          <a:solidFill>
            <a:schemeClr val="accent2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24600" y="304800"/>
            <a:ext cx="2514600" cy="838200"/>
          </a:xfrm>
        </p:spPr>
        <p:txBody>
          <a:bodyPr anchor="b" anchorCtr="0">
            <a:noAutofit/>
          </a:bodyPr>
          <a:lstStyle>
            <a:lvl1pPr algn="l">
              <a:buNone/>
              <a:defRPr sz="2000" b="1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6324600" y="1219200"/>
            <a:ext cx="2514600" cy="4843463"/>
          </a:xfrm>
        </p:spPr>
        <p:txBody>
          <a:bodyPr/>
          <a:lstStyle>
            <a:lvl1pPr marL="0" indent="0">
              <a:lnSpc>
                <a:spcPts val="2200"/>
              </a:lnSpc>
              <a:spcAft>
                <a:spcPts val="1000"/>
              </a:spcAft>
              <a:buNone/>
              <a:defRPr sz="1600">
                <a:solidFill>
                  <a:schemeClr val="tx2"/>
                </a:solidFill>
              </a:defRPr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11/13/2020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Straight Connector 7"/>
          <p:cNvSpPr>
            <a:spLocks noChangeShapeType="1"/>
          </p:cNvSpPr>
          <p:nvPr/>
        </p:nvSpPr>
        <p:spPr bwMode="auto">
          <a:xfrm>
            <a:off x="457200" y="6353175"/>
            <a:ext cx="822960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0" name="Straight Connector 9"/>
          <p:cNvSpPr>
            <a:spLocks noChangeShapeType="1"/>
          </p:cNvSpPr>
          <p:nvPr/>
        </p:nvSpPr>
        <p:spPr bwMode="auto">
          <a:xfrm rot="5400000">
            <a:off x="3160645" y="3324225"/>
            <a:ext cx="603504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dirty="0"/>
          </a:p>
        </p:txBody>
      </p:sp>
      <p:sp>
        <p:nvSpPr>
          <p:cNvPr id="9" name="Isosceles Triangle 8"/>
          <p:cNvSpPr>
            <a:spLocks noChangeAspect="1"/>
          </p:cNvSpPr>
          <p:nvPr/>
        </p:nvSpPr>
        <p:spPr>
          <a:xfrm rot="5400000">
            <a:off x="419100" y="6467475"/>
            <a:ext cx="190849" cy="120314"/>
          </a:xfrm>
          <a:prstGeom prst="triangle">
            <a:avLst>
              <a:gd name="adj" fmla="val 50000"/>
            </a:avLst>
          </a:prstGeom>
          <a:solidFill>
            <a:schemeClr val="accent2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2" name="Content Placeholder 11"/>
          <p:cNvSpPr>
            <a:spLocks noGrp="1"/>
          </p:cNvSpPr>
          <p:nvPr>
            <p:ph sz="quarter" idx="1"/>
          </p:nvPr>
        </p:nvSpPr>
        <p:spPr>
          <a:xfrm>
            <a:off x="304800" y="304800"/>
            <a:ext cx="5715000" cy="5715000"/>
          </a:xfrm>
        </p:spPr>
        <p:txBody>
          <a:bodyPr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00856"/>
            <a:ext cx="8229600" cy="674688"/>
          </a:xfrm>
          <a:ln>
            <a:solidFill>
              <a:schemeClr val="accent1"/>
            </a:solidFill>
          </a:ln>
        </p:spPr>
        <p:txBody>
          <a:bodyPr lIns="274320" anchor="ctr"/>
          <a:lstStyle>
            <a:lvl1pPr algn="r">
              <a:buNone/>
              <a:defRPr sz="2000" b="0">
                <a:solidFill>
                  <a:schemeClr val="tx1"/>
                </a:solidFill>
              </a:defRPr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457200" y="1905000"/>
            <a:ext cx="8229600" cy="4270248"/>
          </a:xfrm>
          <a:solidFill>
            <a:schemeClr val="tx1">
              <a:shade val="50000"/>
            </a:schemeClr>
          </a:solidFill>
          <a:ln>
            <a:noFill/>
          </a:ln>
          <a:effectLst/>
        </p:spPr>
        <p:txBody>
          <a:bodyPr/>
          <a:lstStyle>
            <a:lvl1pPr marL="0" indent="0">
              <a:spcBef>
                <a:spcPts val="600"/>
              </a:spcBef>
              <a:buNone/>
              <a:defRPr sz="3200"/>
            </a:lvl1pPr>
          </a:lstStyle>
          <a:p>
            <a:r>
              <a:rPr kumimoji="0" lang="en-US"/>
              <a:t>Click icon to add picture</a:t>
            </a:r>
            <a:endParaRPr kumimoji="0"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219200"/>
            <a:ext cx="8229600" cy="533400"/>
          </a:xfrm>
        </p:spPr>
        <p:txBody>
          <a:bodyPr anchor="ctr" anchorCtr="0"/>
          <a:lstStyle>
            <a:lvl1pPr marL="0" indent="0" algn="l">
              <a:buFontTx/>
              <a:buNone/>
              <a:defRPr sz="1400"/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11/13/2020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Straight Connector 7"/>
          <p:cNvSpPr>
            <a:spLocks noChangeShapeType="1"/>
          </p:cNvSpPr>
          <p:nvPr/>
        </p:nvSpPr>
        <p:spPr bwMode="auto">
          <a:xfrm>
            <a:off x="457200" y="6353175"/>
            <a:ext cx="822960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9" name="Isosceles Triangle 8"/>
          <p:cNvSpPr>
            <a:spLocks noChangeAspect="1"/>
          </p:cNvSpPr>
          <p:nvPr/>
        </p:nvSpPr>
        <p:spPr>
          <a:xfrm rot="5400000">
            <a:off x="419100" y="6467475"/>
            <a:ext cx="190849" cy="120314"/>
          </a:xfrm>
          <a:prstGeom prst="triangle">
            <a:avLst>
              <a:gd name="adj" fmla="val 50000"/>
            </a:avLst>
          </a:prstGeom>
          <a:solidFill>
            <a:schemeClr val="accent2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0" name="Rectangle 9"/>
          <p:cNvSpPr/>
          <p:nvPr/>
        </p:nvSpPr>
        <p:spPr>
          <a:xfrm>
            <a:off x="457200" y="500856"/>
            <a:ext cx="182880" cy="685800"/>
          </a:xfrm>
          <a:prstGeom prst="rect">
            <a:avLst/>
          </a:prstGeom>
          <a:solidFill>
            <a:schemeClr val="accent1"/>
          </a:solidFill>
          <a:ln w="635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11/13/2020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11/13/2020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Straight Connector 6"/>
          <p:cNvSpPr>
            <a:spLocks noChangeShapeType="1"/>
          </p:cNvSpPr>
          <p:nvPr/>
        </p:nvSpPr>
        <p:spPr bwMode="auto">
          <a:xfrm>
            <a:off x="457200" y="6353175"/>
            <a:ext cx="822960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8" name="Isosceles Triangle 7"/>
          <p:cNvSpPr>
            <a:spLocks noChangeAspect="1"/>
          </p:cNvSpPr>
          <p:nvPr/>
        </p:nvSpPr>
        <p:spPr>
          <a:xfrm rot="5400000">
            <a:off x="419100" y="6467475"/>
            <a:ext cx="190849" cy="120314"/>
          </a:xfrm>
          <a:prstGeom prst="triangle">
            <a:avLst>
              <a:gd name="adj" fmla="val 50000"/>
            </a:avLst>
          </a:prstGeom>
          <a:solidFill>
            <a:schemeClr val="accent2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9" name="Straight Connector 8"/>
          <p:cNvSpPr>
            <a:spLocks noChangeShapeType="1"/>
          </p:cNvSpPr>
          <p:nvPr/>
        </p:nvSpPr>
        <p:spPr bwMode="auto">
          <a:xfrm rot="5400000">
            <a:off x="3629607" y="3201952"/>
            <a:ext cx="585216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Title Placeholder 21"/>
          <p:cNvSpPr>
            <a:spLocks noGrp="1"/>
          </p:cNvSpPr>
          <p:nvPr>
            <p:ph type="title"/>
          </p:nvPr>
        </p:nvSpPr>
        <p:spPr>
          <a:xfrm>
            <a:off x="457200" y="152400"/>
            <a:ext cx="8229600" cy="990600"/>
          </a:xfrm>
          <a:prstGeom prst="rect">
            <a:avLst/>
          </a:prstGeom>
        </p:spPr>
        <p:txBody>
          <a:bodyPr vert="horz" anchor="b" anchorCtr="0">
            <a:normAutofit/>
          </a:bodyPr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13" name="Text Placeholder 12"/>
          <p:cNvSpPr>
            <a:spLocks noGrp="1"/>
          </p:cNvSpPr>
          <p:nvPr>
            <p:ph type="body" idx="1"/>
          </p:nvPr>
        </p:nvSpPr>
        <p:spPr>
          <a:xfrm>
            <a:off x="457200" y="1219200"/>
            <a:ext cx="8229600" cy="4910328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lvl="0" eaLnBrk="1" latinLnBrk="0" hangingPunct="1"/>
            <a:r>
              <a:rPr kumimoji="0" lang="en-US"/>
              <a:t>Click to edit Master text styles</a:t>
            </a:r>
          </a:p>
          <a:p>
            <a:pPr lvl="1" eaLnBrk="1" latinLnBrk="0" hangingPunct="1"/>
            <a:r>
              <a:rPr kumimoji="0" lang="en-US"/>
              <a:t>Second level</a:t>
            </a:r>
          </a:p>
          <a:p>
            <a:pPr lvl="2" eaLnBrk="1" latinLnBrk="0" hangingPunct="1"/>
            <a:r>
              <a:rPr kumimoji="0" lang="en-US"/>
              <a:t>Third level</a:t>
            </a:r>
          </a:p>
          <a:p>
            <a:pPr lvl="3" eaLnBrk="1" latinLnBrk="0" hangingPunct="1"/>
            <a:r>
              <a:rPr kumimoji="0" lang="en-US"/>
              <a:t>Fourth level</a:t>
            </a:r>
          </a:p>
          <a:p>
            <a:pPr lvl="4" eaLnBrk="1" latinLnBrk="0" hangingPunct="1"/>
            <a:r>
              <a:rPr kumimoji="0" lang="en-US"/>
              <a:t>Fifth level</a:t>
            </a:r>
          </a:p>
        </p:txBody>
      </p:sp>
      <p:sp>
        <p:nvSpPr>
          <p:cNvPr id="14" name="Date Placeholder 13"/>
          <p:cNvSpPr>
            <a:spLocks noGrp="1"/>
          </p:cNvSpPr>
          <p:nvPr>
            <p:ph type="dt" sz="half" idx="2"/>
          </p:nvPr>
        </p:nvSpPr>
        <p:spPr>
          <a:xfrm>
            <a:off x="6400800" y="6356350"/>
            <a:ext cx="2289048" cy="365760"/>
          </a:xfrm>
          <a:prstGeom prst="rect">
            <a:avLst/>
          </a:prstGeom>
        </p:spPr>
        <p:txBody>
          <a:bodyPr vert="horz"/>
          <a:lstStyle>
            <a:lvl1pPr algn="l" eaLnBrk="1" latinLnBrk="0" hangingPunct="1">
              <a:defRPr kumimoji="0" sz="1400">
                <a:solidFill>
                  <a:schemeClr val="tx2"/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11/13/2020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3"/>
          </p:nvPr>
        </p:nvSpPr>
        <p:spPr>
          <a:xfrm>
            <a:off x="2898648" y="6356350"/>
            <a:ext cx="3505200" cy="365760"/>
          </a:xfrm>
          <a:prstGeom prst="rect">
            <a:avLst/>
          </a:prstGeom>
        </p:spPr>
        <p:txBody>
          <a:bodyPr vert="horz"/>
          <a:lstStyle>
            <a:lvl1pPr algn="r" eaLnBrk="1" latinLnBrk="0" hangingPunct="1">
              <a:defRPr kumimoji="0" sz="1400"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23" name="Slide Number Placeholder 22"/>
          <p:cNvSpPr>
            <a:spLocks noGrp="1"/>
          </p:cNvSpPr>
          <p:nvPr>
            <p:ph type="sldNum" sz="quarter" idx="4"/>
          </p:nvPr>
        </p:nvSpPr>
        <p:spPr>
          <a:xfrm>
            <a:off x="612648" y="6356350"/>
            <a:ext cx="1981200" cy="365760"/>
          </a:xfrm>
          <a:prstGeom prst="rect">
            <a:avLst/>
          </a:prstGeom>
        </p:spPr>
        <p:txBody>
          <a:bodyPr vert="horz"/>
          <a:lstStyle>
            <a:lvl1pPr algn="l" eaLnBrk="1" latinLnBrk="0" hangingPunct="1">
              <a:defRPr kumimoji="0" sz="1400">
                <a:solidFill>
                  <a:schemeClr val="tx2"/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8" name="Straight Connector 27"/>
          <p:cNvSpPr>
            <a:spLocks noChangeShapeType="1"/>
          </p:cNvSpPr>
          <p:nvPr/>
        </p:nvSpPr>
        <p:spPr bwMode="auto">
          <a:xfrm>
            <a:off x="457200" y="6353175"/>
            <a:ext cx="822960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29" name="Straight Connector 28"/>
          <p:cNvSpPr>
            <a:spLocks noChangeShapeType="1"/>
          </p:cNvSpPr>
          <p:nvPr/>
        </p:nvSpPr>
        <p:spPr bwMode="auto">
          <a:xfrm>
            <a:off x="457200" y="1143000"/>
            <a:ext cx="822960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0" name="Isosceles Triangle 9"/>
          <p:cNvSpPr>
            <a:spLocks noChangeAspect="1"/>
          </p:cNvSpPr>
          <p:nvPr/>
        </p:nvSpPr>
        <p:spPr>
          <a:xfrm rot="5400000">
            <a:off x="419100" y="6467475"/>
            <a:ext cx="190849" cy="120314"/>
          </a:xfrm>
          <a:prstGeom prst="triangle">
            <a:avLst>
              <a:gd name="adj" fmla="val 50000"/>
            </a:avLst>
          </a:prstGeom>
          <a:solidFill>
            <a:schemeClr val="accent2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rtl="0" eaLnBrk="1" latinLnBrk="0" hangingPunct="1">
        <a:spcBef>
          <a:spcPct val="0"/>
        </a:spcBef>
        <a:buNone/>
        <a:defRPr kumimoji="0" sz="3200" kern="120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274320" indent="-274320" algn="l" rtl="0" eaLnBrk="1" latinLnBrk="0" hangingPunct="1">
        <a:spcBef>
          <a:spcPts val="600"/>
        </a:spcBef>
        <a:buClr>
          <a:schemeClr val="accent1"/>
        </a:buClr>
        <a:buSzPct val="76000"/>
        <a:buFont typeface="Wingdings 3"/>
        <a:buChar char=""/>
        <a:defRPr kumimoji="0" sz="2600" kern="1200">
          <a:solidFill>
            <a:schemeClr val="tx1"/>
          </a:solidFill>
          <a:latin typeface="+mn-lt"/>
          <a:ea typeface="+mn-ea"/>
          <a:cs typeface="+mn-cs"/>
        </a:defRPr>
      </a:lvl1pPr>
      <a:lvl2pPr marL="548640" indent="-274320" algn="l" rtl="0" eaLnBrk="1" latinLnBrk="0" hangingPunct="1">
        <a:spcBef>
          <a:spcPts val="500"/>
        </a:spcBef>
        <a:buClr>
          <a:schemeClr val="accent2"/>
        </a:buClr>
        <a:buSzPct val="76000"/>
        <a:buFont typeface="Wingdings 3"/>
        <a:buChar char=""/>
        <a:defRPr kumimoji="0" sz="2300" kern="1200">
          <a:solidFill>
            <a:schemeClr val="tx2"/>
          </a:solidFill>
          <a:latin typeface="+mn-lt"/>
          <a:ea typeface="+mn-ea"/>
          <a:cs typeface="+mn-cs"/>
        </a:defRPr>
      </a:lvl2pPr>
      <a:lvl3pPr marL="822960" indent="-228600" algn="l" rtl="0" eaLnBrk="1" latinLnBrk="0" hangingPunct="1">
        <a:spcBef>
          <a:spcPts val="500"/>
        </a:spcBef>
        <a:buClr>
          <a:schemeClr val="bg1">
            <a:shade val="50000"/>
          </a:schemeClr>
        </a:buClr>
        <a:buSzPct val="76000"/>
        <a:buFont typeface="Wingdings 3"/>
        <a:buChar char="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097280" indent="-228600" algn="l" rtl="0" eaLnBrk="1" latinLnBrk="0" hangingPunct="1">
        <a:spcBef>
          <a:spcPts val="400"/>
        </a:spcBef>
        <a:buClr>
          <a:schemeClr val="accent2">
            <a:shade val="75000"/>
          </a:schemeClr>
        </a:buClr>
        <a:buSzPct val="70000"/>
        <a:buFont typeface="Wingdings"/>
        <a:buChar char="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indent="-228600" algn="l" rtl="0" eaLnBrk="1" latinLnBrk="0" hangingPunct="1">
        <a:spcBef>
          <a:spcPts val="300"/>
        </a:spcBef>
        <a:buClr>
          <a:schemeClr val="accent2"/>
        </a:buClr>
        <a:buSzPct val="70000"/>
        <a:buFont typeface="Wingdings"/>
        <a:buChar char="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1645920" indent="-182880" algn="l" rtl="0" eaLnBrk="1" latinLnBrk="0" hangingPunct="1">
        <a:spcBef>
          <a:spcPts val="300"/>
        </a:spcBef>
        <a:buClr>
          <a:srgbClr val="9FB8CD">
            <a:shade val="75000"/>
          </a:srgbClr>
        </a:buClr>
        <a:buSzPct val="75000"/>
        <a:buFont typeface="Wingdings 3"/>
        <a:buChar char=""/>
        <a:defRPr kumimoji="0" lang="en-US" sz="1600" kern="1200" smtClean="0">
          <a:solidFill>
            <a:schemeClr val="tx1"/>
          </a:solidFill>
          <a:latin typeface="+mn-lt"/>
          <a:ea typeface="+mn-ea"/>
          <a:cs typeface="+mn-cs"/>
        </a:defRPr>
      </a:lvl6pPr>
      <a:lvl7pPr marL="1828800" indent="-182880" algn="l" rtl="0" eaLnBrk="1" latinLnBrk="0" hangingPunct="1">
        <a:spcBef>
          <a:spcPts val="300"/>
        </a:spcBef>
        <a:buClr>
          <a:srgbClr val="727CA3">
            <a:shade val="75000"/>
          </a:srgbClr>
        </a:buClr>
        <a:buSzPct val="75000"/>
        <a:buFont typeface="Wingdings 3"/>
        <a:buChar char=""/>
        <a:defRPr kumimoji="0" lang="en-US" sz="1400" kern="1200" smtClean="0">
          <a:solidFill>
            <a:schemeClr val="tx1"/>
          </a:solidFill>
          <a:latin typeface="+mn-lt"/>
          <a:ea typeface="+mn-ea"/>
          <a:cs typeface="+mn-cs"/>
        </a:defRPr>
      </a:lvl7pPr>
      <a:lvl8pPr marL="2011680" indent="-182880" algn="l" rtl="0" eaLnBrk="1" latinLnBrk="0" hangingPunct="1">
        <a:spcBef>
          <a:spcPts val="300"/>
        </a:spcBef>
        <a:buClr>
          <a:prstClr val="white">
            <a:shade val="50000"/>
          </a:prstClr>
        </a:buClr>
        <a:buSzPct val="75000"/>
        <a:buFont typeface="Wingdings 3"/>
        <a:buChar char=""/>
        <a:defRPr kumimoji="0" lang="en-US" sz="1400" kern="1200" smtClean="0">
          <a:solidFill>
            <a:schemeClr val="tx1"/>
          </a:solidFill>
          <a:latin typeface="+mn-lt"/>
          <a:ea typeface="+mn-ea"/>
          <a:cs typeface="+mn-cs"/>
        </a:defRPr>
      </a:lvl8pPr>
      <a:lvl9pPr marL="2194560" indent="-182880" algn="l" rtl="0" eaLnBrk="1" latinLnBrk="0" hangingPunct="1">
        <a:spcBef>
          <a:spcPts val="300"/>
        </a:spcBef>
        <a:buClr>
          <a:srgbClr val="9FB8CD"/>
        </a:buClr>
        <a:buSzPct val="75000"/>
        <a:buFont typeface="Wingdings 3"/>
        <a:buChar char=""/>
        <a:defRPr kumimoji="0" lang="en-US" sz="1200" kern="1200" smtClean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3"/>
          <p:cNvSpPr>
            <a:spLocks noGrp="1"/>
          </p:cNvSpPr>
          <p:nvPr>
            <p:ph type="ctrTitle"/>
          </p:nvPr>
        </p:nvSpPr>
        <p:spPr>
          <a:xfrm>
            <a:off x="1043608" y="3577208"/>
            <a:ext cx="7177608" cy="1375792"/>
          </a:xfrm>
        </p:spPr>
        <p:txBody>
          <a:bodyPr>
            <a:normAutofit/>
          </a:bodyPr>
          <a:lstStyle/>
          <a:p>
            <a:pPr algn="ctr"/>
            <a:r>
              <a:rPr lang="en-GB" b="1" u="sng" dirty="0"/>
              <a:t>Chapter 3</a:t>
            </a:r>
            <a:r>
              <a:rPr lang="en-GB" dirty="0"/>
              <a:t> </a:t>
            </a:r>
            <a:br>
              <a:rPr lang="en-GB" dirty="0"/>
            </a:br>
            <a:r>
              <a:rPr lang="en-US" b="1" dirty="0"/>
              <a:t>Algorithms</a:t>
            </a:r>
          </a:p>
        </p:txBody>
      </p:sp>
      <p:sp>
        <p:nvSpPr>
          <p:cNvPr id="7" name="Subtitle 4"/>
          <p:cNvSpPr>
            <a:spLocks noGrp="1"/>
          </p:cNvSpPr>
          <p:nvPr>
            <p:ph type="subTitle" idx="1"/>
          </p:nvPr>
        </p:nvSpPr>
        <p:spPr>
          <a:xfrm>
            <a:off x="1219200" y="5124450"/>
            <a:ext cx="6858000" cy="533400"/>
          </a:xfrm>
        </p:spPr>
        <p:txBody>
          <a:bodyPr>
            <a:normAutofit/>
          </a:bodyPr>
          <a:lstStyle/>
          <a:p>
            <a:r>
              <a:rPr lang="en-GB" dirty="0"/>
              <a:t>Section 3.3 : Complexity of Algorithms</a:t>
            </a:r>
          </a:p>
          <a:p>
            <a:endParaRPr lang="en-GB" dirty="0"/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63702257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GB" dirty="0"/>
              <a:t>Complexity of Algorithms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dirty="0">
                <a:solidFill>
                  <a:srgbClr val="242021"/>
                </a:solidFill>
              </a:rPr>
              <a:t>Few Questions</a:t>
            </a:r>
          </a:p>
          <a:p>
            <a:pPr lvl="1"/>
            <a:r>
              <a:rPr lang="en-US" dirty="0">
                <a:solidFill>
                  <a:srgbClr val="242021"/>
                </a:solidFill>
              </a:rPr>
              <a:t>When does an algorithm provide a satisfactory solution to a problem? </a:t>
            </a:r>
          </a:p>
          <a:p>
            <a:pPr lvl="2"/>
            <a:r>
              <a:rPr lang="en-US" dirty="0">
                <a:solidFill>
                  <a:srgbClr val="242021"/>
                </a:solidFill>
              </a:rPr>
              <a:t>First, it must always produce the correct answer. </a:t>
            </a:r>
          </a:p>
          <a:p>
            <a:pPr lvl="2"/>
            <a:r>
              <a:rPr lang="en-US" dirty="0"/>
              <a:t>Second, it should be efficient.</a:t>
            </a:r>
            <a:endParaRPr lang="en-US" dirty="0">
              <a:solidFill>
                <a:srgbClr val="242021"/>
              </a:solidFill>
            </a:endParaRPr>
          </a:p>
          <a:p>
            <a:pPr lvl="1"/>
            <a:r>
              <a:rPr lang="en-US" dirty="0">
                <a:solidFill>
                  <a:srgbClr val="242021"/>
                </a:solidFill>
              </a:rPr>
              <a:t>How can the efficiency of an algorithm be analyzed?</a:t>
            </a:r>
          </a:p>
          <a:p>
            <a:pPr lvl="2"/>
            <a:r>
              <a:rPr lang="en-US" dirty="0">
                <a:solidFill>
                  <a:srgbClr val="242021"/>
                </a:solidFill>
              </a:rPr>
              <a:t>One measure of efficiency is the time used by a computer to solve a problem using the algorithm.</a:t>
            </a:r>
          </a:p>
          <a:p>
            <a:pPr lvl="2"/>
            <a:r>
              <a:rPr lang="en-US" dirty="0">
                <a:solidFill>
                  <a:srgbClr val="242021"/>
                </a:solidFill>
              </a:rPr>
              <a:t>A second measure is the amount of computer memory required to implement the algorithm when input values are of a specified size.</a:t>
            </a:r>
          </a:p>
        </p:txBody>
      </p:sp>
      <p:sp>
        <p:nvSpPr>
          <p:cNvPr id="11" name="Rectangle 4">
            <a:extLst>
              <a:ext uri="{FF2B5EF4-FFF2-40B4-BE49-F238E27FC236}">
                <a16:creationId xmlns:a16="http://schemas.microsoft.com/office/drawing/2014/main" id="{522E4C56-BC29-4FCC-80C4-C4CBBAF7A48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95400" y="2590324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b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6766574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A016BE-E5AE-45D1-9A04-EAC95980BE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Complexity of Algorithms (Contd.)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7B132A1-B38D-4060-8B3E-D81FBCF70BD0}"/>
              </a:ext>
            </a:extLst>
          </p:cNvPr>
          <p:cNvSpPr>
            <a:spLocks noGrp="1"/>
          </p:cNvSpPr>
          <p:nvPr>
            <p:ph sz="quarter" idx="1"/>
          </p:nvPr>
        </p:nvSpPr>
        <p:spPr/>
        <p:txBody>
          <a:bodyPr>
            <a:normAutofit fontScale="92500"/>
          </a:bodyPr>
          <a:lstStyle/>
          <a:p>
            <a:r>
              <a:rPr lang="en-US" dirty="0"/>
              <a:t>Questions such as these involve the computational </a:t>
            </a:r>
            <a:r>
              <a:rPr lang="en-US" b="1" dirty="0"/>
              <a:t>complexity of the algorithm</a:t>
            </a:r>
            <a:r>
              <a:rPr lang="en-US" dirty="0"/>
              <a:t>.</a:t>
            </a:r>
          </a:p>
          <a:p>
            <a:pPr lvl="1"/>
            <a:r>
              <a:rPr lang="en-US" dirty="0"/>
              <a:t>An analysis of the time required to solve a problem of a particular size involves the </a:t>
            </a:r>
            <a:r>
              <a:rPr lang="en-US" b="1" dirty="0"/>
              <a:t>time complexity </a:t>
            </a:r>
            <a:r>
              <a:rPr lang="en-US" dirty="0"/>
              <a:t>of the algorithm. </a:t>
            </a:r>
          </a:p>
          <a:p>
            <a:pPr lvl="1"/>
            <a:r>
              <a:rPr lang="en-US" dirty="0"/>
              <a:t>An analysis of the computer memory required involves the </a:t>
            </a:r>
            <a:r>
              <a:rPr lang="en-US" b="1" dirty="0"/>
              <a:t>space complexity </a:t>
            </a:r>
            <a:r>
              <a:rPr lang="en-US" dirty="0"/>
              <a:t>of the algorithm. </a:t>
            </a:r>
          </a:p>
          <a:p>
            <a:r>
              <a:rPr lang="en-US" dirty="0"/>
              <a:t>Why study complexity of algorithm?</a:t>
            </a:r>
          </a:p>
          <a:p>
            <a:pPr lvl="1"/>
            <a:r>
              <a:rPr lang="en-US" dirty="0"/>
              <a:t>It is obviously important to know whether an algorithm will</a:t>
            </a:r>
            <a:br>
              <a:rPr lang="en-US" dirty="0"/>
            </a:br>
            <a:r>
              <a:rPr lang="en-US" dirty="0"/>
              <a:t>produce an answer in a microsecond, a minute, or a billion years. Hence, we need to take </a:t>
            </a:r>
            <a:r>
              <a:rPr lang="en-US" b="1" dirty="0"/>
              <a:t>time complexity</a:t>
            </a:r>
            <a:r>
              <a:rPr lang="en-US" dirty="0"/>
              <a:t> into account.</a:t>
            </a:r>
            <a:r>
              <a:rPr lang="en-US" b="1" dirty="0"/>
              <a:t> </a:t>
            </a:r>
            <a:endParaRPr lang="en-US" dirty="0"/>
          </a:p>
          <a:p>
            <a:pPr lvl="1"/>
            <a:r>
              <a:rPr lang="en-US" dirty="0"/>
              <a:t>Likewise, the required memory must be available to solve a problem, meaning, </a:t>
            </a:r>
            <a:r>
              <a:rPr lang="en-US" b="1" dirty="0"/>
              <a:t>space complexity </a:t>
            </a:r>
            <a:r>
              <a:rPr lang="en-US" dirty="0"/>
              <a:t>must be taken into account. </a:t>
            </a:r>
          </a:p>
          <a:p>
            <a:r>
              <a:rPr lang="en-US" dirty="0"/>
              <a:t>We will focus on </a:t>
            </a:r>
            <a:r>
              <a:rPr lang="en-US" b="1" dirty="0"/>
              <a:t>time complexity</a:t>
            </a:r>
            <a:r>
              <a:rPr lang="en-US" dirty="0"/>
              <a:t> in this course.</a:t>
            </a:r>
          </a:p>
        </p:txBody>
      </p:sp>
    </p:spTree>
    <p:extLst>
      <p:ext uri="{BB962C8B-B14F-4D97-AF65-F5344CB8AC3E}">
        <p14:creationId xmlns:p14="http://schemas.microsoft.com/office/powerpoint/2010/main" val="316610675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35F598-6EFA-404D-B259-109E8D8350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Time Complexity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7F8E231F-E911-4441-8E63-5A7B1776E81D}"/>
                  </a:ext>
                </a:extLst>
              </p:cNvPr>
              <p:cNvSpPr>
                <a:spLocks noGrp="1"/>
              </p:cNvSpPr>
              <p:nvPr>
                <p:ph sz="quarter" idx="1"/>
              </p:nvPr>
            </p:nvSpPr>
            <p:spPr/>
            <p:txBody>
              <a:bodyPr>
                <a:normAutofit fontScale="92500" lnSpcReduction="10000"/>
              </a:bodyPr>
              <a:lstStyle/>
              <a:p>
                <a:r>
                  <a:rPr lang="en-US" dirty="0"/>
                  <a:t>Can be expressed in terms of the number of operations used by the algorithm when the input has a particular size. </a:t>
                </a:r>
              </a:p>
              <a:p>
                <a:r>
                  <a:rPr lang="en-US" dirty="0"/>
                  <a:t>Why consider only </a:t>
                </a:r>
                <a14:m>
                  <m:oMath xmlns:m="http://schemas.openxmlformats.org/officeDocument/2006/math">
                    <m:r>
                      <a:rPr lang="en-US" b="0" i="0" dirty="0" smtClean="0">
                        <a:latin typeface="Cambria Math" panose="02040503050406030204" pitchFamily="18" charset="0"/>
                      </a:rPr>
                      <m:t>"</m:t>
                    </m:r>
                    <m:r>
                      <a:rPr lang="en-US" i="1" dirty="0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𝑛𝑢𝑚𝑏𝑒𝑟</m:t>
                    </m:r>
                    <m:r>
                      <a:rPr lang="en-US" i="1" dirty="0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i="1" dirty="0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𝑜𝑓</m:t>
                    </m:r>
                    <m:r>
                      <a:rPr lang="en-US" i="1" dirty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i="1" dirty="0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𝑜𝑝𝑒𝑟𝑎𝑡𝑖𝑜𝑛𝑠</m:t>
                    </m:r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"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dirty="0"/>
                  <a:t>and not </a:t>
                </a:r>
                <a14:m>
                  <m:oMath xmlns:m="http://schemas.openxmlformats.org/officeDocument/2006/math">
                    <m:r>
                      <a:rPr lang="en-US" b="0" i="0" dirty="0" smtClean="0">
                        <a:latin typeface="Cambria Math" panose="02040503050406030204" pitchFamily="18" charset="0"/>
                      </a:rPr>
                      <m:t>"</m:t>
                    </m:r>
                    <m:r>
                      <a:rPr lang="en-US" i="1" dirty="0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𝑎𝑐𝑡𝑢𝑎𝑙</m:t>
                    </m:r>
                    <m:r>
                      <a:rPr lang="en-US" i="1" dirty="0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i="1" dirty="0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𝑐𝑙𝑜𝑐𝑘</m:t>
                    </m:r>
                    <m:r>
                      <a:rPr lang="en-US" i="1" dirty="0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i="1" dirty="0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𝑐𝑦𝑐𝑙𝑒</m:t>
                    </m:r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"</m:t>
                    </m:r>
                  </m:oMath>
                </a14:m>
                <a:r>
                  <a:rPr lang="en-US" dirty="0"/>
                  <a:t>? </a:t>
                </a:r>
              </a:p>
              <a:p>
                <a:pPr lvl="1"/>
                <a:r>
                  <a:rPr lang="en-US" dirty="0"/>
                  <a:t>Because of the difference in time needed for different computers to perform basic operations. </a:t>
                </a:r>
              </a:p>
              <a:p>
                <a:pPr lvl="1"/>
                <a:r>
                  <a:rPr lang="en-US" dirty="0"/>
                  <a:t>Moreover, it is quite complicated to break all operations down to the basic bit operations that a computer uses. </a:t>
                </a:r>
              </a:p>
              <a:p>
                <a:pPr lvl="1"/>
                <a:r>
                  <a:rPr lang="en-US" dirty="0"/>
                  <a:t>Furthermore, the fastest computers in existence can perform basic</a:t>
                </a:r>
                <a:br>
                  <a:rPr lang="en-US" dirty="0"/>
                </a:br>
                <a:r>
                  <a:rPr lang="en-US" dirty="0"/>
                  <a:t>bit operations (for instance,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𝑎𝑑𝑑𝑖𝑛𝑔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𝑚𝑢𝑙𝑡𝑖𝑝𝑙𝑦𝑖𝑛𝑔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𝑐𝑜𝑚𝑝𝑎𝑟𝑖𝑛𝑔</m:t>
                    </m:r>
                  </m:oMath>
                </a14:m>
                <a:r>
                  <a:rPr lang="en-US" dirty="0"/>
                  <a:t>, or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𝑒𝑥𝑐h𝑎𝑛𝑔𝑖𝑛𝑔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𝑡𝑤𝑜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𝑏𝑖𝑡𝑠</m:t>
                    </m:r>
                  </m:oMath>
                </a14:m>
                <a:r>
                  <a:rPr lang="en-US" dirty="0"/>
                  <a:t>) in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b="0" i="1" dirty="0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 dirty="0" smtClean="0">
                            <a:latin typeface="Cambria Math" panose="02040503050406030204" pitchFamily="18" charset="0"/>
                          </a:rPr>
                          <m:t>10</m:t>
                        </m:r>
                      </m:e>
                      <m:sup>
                        <m:r>
                          <a:rPr lang="en-US" i="1" dirty="0" smtClean="0">
                            <a:latin typeface="Cambria Math" panose="02040503050406030204" pitchFamily="18" charset="0"/>
                          </a:rPr>
                          <m:t>−11</m:t>
                        </m:r>
                      </m:sup>
                    </m:sSup>
                    <m:r>
                      <a:rPr lang="en-US" i="1" dirty="0" smtClean="0">
                        <a:latin typeface="Cambria Math" panose="02040503050406030204" pitchFamily="18" charset="0"/>
                      </a:rPr>
                      <m:t>𝑠𝑒𝑐𝑜𝑛𝑑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 (10 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𝑝𝑖𝑐𝑜𝑠𝑒𝑐𝑜𝑛𝑑𝑠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/>
                  <a:t>, but personal computers may require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b="0" i="1" dirty="0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 dirty="0" smtClean="0">
                            <a:latin typeface="Cambria Math" panose="02040503050406030204" pitchFamily="18" charset="0"/>
                          </a:rPr>
                          <m:t>10</m:t>
                        </m:r>
                      </m:e>
                      <m:sup>
                        <m:r>
                          <a:rPr lang="en-US" i="1" dirty="0" smtClean="0">
                            <a:latin typeface="Cambria Math" panose="02040503050406030204" pitchFamily="18" charset="0"/>
                          </a:rPr>
                          <m:t>−8</m:t>
                        </m:r>
                      </m:sup>
                    </m:sSup>
                    <m:r>
                      <a:rPr lang="en-US" i="1" dirty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𝑠𝑒𝑐𝑜𝑛𝑑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 (10 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𝑛𝑎𝑛𝑜𝑠𝑒𝑐𝑜𝑛𝑑𝑠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/>
                  <a:t>,</a:t>
                </a:r>
                <a:br>
                  <a:rPr lang="en-US" dirty="0"/>
                </a:br>
                <a:r>
                  <a:rPr lang="en-US" dirty="0"/>
                  <a:t>which is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1000 </m:t>
                    </m:r>
                  </m:oMath>
                </a14:m>
                <a:r>
                  <a:rPr lang="en-US" dirty="0"/>
                  <a:t>times as long, to do the same operations. </a:t>
                </a:r>
                <a:br>
                  <a:rPr lang="en-US" dirty="0"/>
                </a:br>
                <a:endParaRPr lang="en-US" dirty="0"/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7F8E231F-E911-4441-8E63-5A7B1776E81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"/>
              </p:nvPr>
            </p:nvSpPr>
            <p:spPr>
              <a:blipFill>
                <a:blip r:embed="rId2"/>
                <a:stretch>
                  <a:fillRect l="-519" t="-1728" r="-163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50316738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35F598-6EFA-404D-B259-109E8D8350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Time Complexity (Contd.)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F8E231F-E911-4441-8E63-5A7B1776E81D}"/>
              </a:ext>
            </a:extLst>
          </p:cNvPr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dirty="0"/>
              <a:t>MEANWHILE CPU ….</a:t>
            </a: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37F6593C-4DF7-408F-B88F-1444FDE8E96B}"/>
              </a:ext>
            </a:extLst>
          </p:cNvPr>
          <p:cNvGrpSpPr/>
          <p:nvPr/>
        </p:nvGrpSpPr>
        <p:grpSpPr>
          <a:xfrm>
            <a:off x="2203450" y="1782521"/>
            <a:ext cx="4737100" cy="3292959"/>
            <a:chOff x="1816100" y="1676400"/>
            <a:chExt cx="5651500" cy="4054959"/>
          </a:xfrm>
        </p:grpSpPr>
        <p:pic>
          <p:nvPicPr>
            <p:cNvPr id="7" name="Picture 6">
              <a:extLst>
                <a:ext uri="{FF2B5EF4-FFF2-40B4-BE49-F238E27FC236}">
                  <a16:creationId xmlns:a16="http://schemas.microsoft.com/office/drawing/2014/main" id="{13882488-D4E6-42AF-9EC5-10E99971A0AE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duotone>
                <a:prstClr val="black"/>
                <a:schemeClr val="accent6">
                  <a:tint val="45000"/>
                  <a:satMod val="400000"/>
                </a:schemeClr>
              </a:duoton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816100" y="3343759"/>
              <a:ext cx="3213100" cy="2387600"/>
            </a:xfrm>
            <a:prstGeom prst="rect">
              <a:avLst/>
            </a:prstGeom>
          </p:spPr>
        </p:pic>
        <p:sp>
          <p:nvSpPr>
            <p:cNvPr id="8" name="Thought Bubble: Cloud 7">
              <a:extLst>
                <a:ext uri="{FF2B5EF4-FFF2-40B4-BE49-F238E27FC236}">
                  <a16:creationId xmlns:a16="http://schemas.microsoft.com/office/drawing/2014/main" id="{62B05A5C-66DC-4EA3-9419-38E79F55D9BF}"/>
                </a:ext>
              </a:extLst>
            </p:cNvPr>
            <p:cNvSpPr/>
            <p:nvPr/>
          </p:nvSpPr>
          <p:spPr>
            <a:xfrm>
              <a:off x="3581400" y="1676400"/>
              <a:ext cx="3886200" cy="2362200"/>
            </a:xfrm>
            <a:prstGeom prst="cloudCallou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Sometimes it’s obvious who the THIRD WHEEL is….</a:t>
              </a:r>
            </a:p>
            <a:p>
              <a:pPr algn="ctr"/>
              <a:r>
                <a:rPr lang="en-US" dirty="0"/>
                <a:t>ALL IS WELL….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423649257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35F598-6EFA-404D-B259-109E8D8350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Time Complexity of Algorithms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F8E231F-E911-4441-8E63-5A7B1776E81D}"/>
              </a:ext>
            </a:extLst>
          </p:cNvPr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dirty="0"/>
              <a:t>Example 1:</a:t>
            </a:r>
          </a:p>
          <a:p>
            <a:pPr marL="274320" lvl="1" indent="0">
              <a:buNone/>
            </a:pPr>
            <a:r>
              <a:rPr lang="en-US" dirty="0"/>
              <a:t>Describe the time complexity of the Algorithm for finding the maximum element in a finite set of integers.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26658E5-C02E-4FCE-9945-8023792393D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80732" y="2721157"/>
            <a:ext cx="5982535" cy="19338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6298938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35F598-6EFA-404D-B259-109E8D8350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Time Complexity of Algorithms (Contd.)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7F8E231F-E911-4441-8E63-5A7B1776E81D}"/>
                  </a:ext>
                </a:extLst>
              </p:cNvPr>
              <p:cNvSpPr>
                <a:spLocks noGrp="1"/>
              </p:cNvSpPr>
              <p:nvPr>
                <p:ph sz="quarter" idx="1"/>
              </p:nvPr>
            </p:nvSpPr>
            <p:spPr/>
            <p:txBody>
              <a:bodyPr>
                <a:normAutofit fontScale="77500" lnSpcReduction="20000"/>
              </a:bodyPr>
              <a:lstStyle/>
              <a:p>
                <a:r>
                  <a:rPr lang="en-US" dirty="0"/>
                  <a:t>Solution:</a:t>
                </a:r>
              </a:p>
              <a:p>
                <a:pPr lvl="1"/>
                <a14:m>
                  <m:oMath xmlns:m="http://schemas.openxmlformats.org/officeDocument/2006/math">
                    <m:r>
                      <a:rPr lang="en-US" i="1" dirty="0" smtClean="0">
                        <a:solidFill>
                          <a:srgbClr val="00B0F0"/>
                        </a:solidFill>
                        <a:latin typeface="Cambria Math" panose="02040503050406030204" pitchFamily="18" charset="0"/>
                      </a:rPr>
                      <m:t>𝐵𝑎𝑠𝑖𝑐</m:t>
                    </m:r>
                    <m:r>
                      <a:rPr lang="en-US" i="1" dirty="0" smtClean="0">
                        <a:solidFill>
                          <a:srgbClr val="00B0F0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i="1" dirty="0" smtClean="0">
                        <a:solidFill>
                          <a:srgbClr val="00B0F0"/>
                        </a:solidFill>
                        <a:latin typeface="Cambria Math" panose="02040503050406030204" pitchFamily="18" charset="0"/>
                      </a:rPr>
                      <m:t>𝑂𝑝𝑒𝑟𝑎𝑡𝑖𝑜𝑛𝑠</m:t>
                    </m:r>
                  </m:oMath>
                </a14:m>
                <a:r>
                  <a:rPr lang="en-US" dirty="0"/>
                  <a:t>: Comparisons.</a:t>
                </a:r>
              </a:p>
              <a:p>
                <a:pPr lvl="1"/>
                <a14:m>
                  <m:oMath xmlns:m="http://schemas.openxmlformats.org/officeDocument/2006/math">
                    <m:r>
                      <a:rPr lang="en-US" i="1" dirty="0" smtClean="0">
                        <a:solidFill>
                          <a:srgbClr val="00B050"/>
                        </a:solidFill>
                        <a:latin typeface="Cambria Math" panose="02040503050406030204" pitchFamily="18" charset="0"/>
                      </a:rPr>
                      <m:t>𝑀𝑒𝑎𝑠𝑢𝑟𝑒</m:t>
                    </m:r>
                    <m:r>
                      <a:rPr lang="en-US" i="1" dirty="0">
                        <a:solidFill>
                          <a:srgbClr val="00B050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i="1" dirty="0" smtClean="0">
                        <a:solidFill>
                          <a:srgbClr val="00B050"/>
                        </a:solidFill>
                        <a:latin typeface="Cambria Math" panose="02040503050406030204" pitchFamily="18" charset="0"/>
                      </a:rPr>
                      <m:t>𝑜𝑓</m:t>
                    </m:r>
                    <m:r>
                      <a:rPr lang="en-US" i="1" dirty="0" smtClean="0">
                        <a:solidFill>
                          <a:srgbClr val="00B050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i="1" dirty="0" smtClean="0">
                        <a:solidFill>
                          <a:srgbClr val="00B050"/>
                        </a:solidFill>
                        <a:latin typeface="Cambria Math" panose="02040503050406030204" pitchFamily="18" charset="0"/>
                      </a:rPr>
                      <m:t>𝑇𝑖𝑚𝑒</m:t>
                    </m:r>
                    <m:r>
                      <a:rPr lang="en-US" i="1" dirty="0" smtClean="0">
                        <a:solidFill>
                          <a:srgbClr val="00B050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i="1" dirty="0" smtClean="0">
                        <a:solidFill>
                          <a:srgbClr val="00B050"/>
                        </a:solidFill>
                        <a:latin typeface="Cambria Math" panose="02040503050406030204" pitchFamily="18" charset="0"/>
                      </a:rPr>
                      <m:t>𝐶𝑜𝑚𝑝𝑙𝑒𝑥𝑖𝑡𝑦</m:t>
                    </m:r>
                  </m:oMath>
                </a14:m>
                <a:r>
                  <a:rPr lang="en-US" dirty="0"/>
                  <a:t>:  The number of comparisons .</a:t>
                </a:r>
              </a:p>
              <a:p>
                <a:pPr lvl="1"/>
                <a:r>
                  <a:rPr lang="en-US" dirty="0"/>
                  <a:t>To find the maximum element of a set with </a:t>
                </a:r>
                <a14:m>
                  <m:oMath xmlns:m="http://schemas.openxmlformats.org/officeDocument/2006/math">
                    <m:r>
                      <a:rPr lang="en-US" i="1" dirty="0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US" i="1" dirty="0"/>
                  <a:t> </a:t>
                </a:r>
                <a:r>
                  <a:rPr lang="en-US" dirty="0"/>
                  <a:t>elements, listed in an arbitrary order,</a:t>
                </a:r>
              </a:p>
              <a:p>
                <a:pPr lvl="2"/>
                <a:r>
                  <a:rPr lang="en-US" dirty="0"/>
                  <a:t>The temporary maximum is first set equal to the initial term in the list. </a:t>
                </a:r>
              </a:p>
              <a:p>
                <a:pPr lvl="2"/>
                <a:r>
                  <a:rPr lang="en-US" dirty="0"/>
                  <a:t>Then, the procedure is continued, using </a:t>
                </a:r>
                <a14:m>
                  <m:oMath xmlns:m="http://schemas.openxmlformats.org/officeDocument/2006/math">
                    <m:r>
                      <a:rPr lang="en-US" i="1" dirty="0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lang="en-US" dirty="0"/>
                  <a:t> additional comparisons for each term of the list</a:t>
                </a:r>
              </a:p>
              <a:p>
                <a:pPr lvl="3"/>
                <a:r>
                  <a:rPr lang="en-US" dirty="0"/>
                  <a:t>Firstly, </a:t>
                </a:r>
                <a14:m>
                  <m:oMath xmlns:m="http://schemas.openxmlformats.org/officeDocument/2006/math">
                    <m:r>
                      <a:rPr lang="en-US" i="1" dirty="0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𝑖</m:t>
                    </m:r>
                    <m:r>
                      <a:rPr lang="en-US" i="1" dirty="0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m:rPr>
                        <m:sty m:val="p"/>
                      </m:rPr>
                      <a:rPr lang="en-US" i="1" dirty="0" err="1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n</m:t>
                    </m:r>
                  </m:oMath>
                </a14:m>
                <a:r>
                  <a:rPr lang="en-US" dirty="0">
                    <a:solidFill>
                      <a:srgbClr val="0070C0"/>
                    </a:solidFill>
                  </a:rPr>
                  <a:t>,</a:t>
                </a:r>
                <a:r>
                  <a:rPr lang="en-US" dirty="0"/>
                  <a:t> to determine if the end of the list has been reached.</a:t>
                </a:r>
              </a:p>
              <a:p>
                <a:pPr lvl="3"/>
                <a:r>
                  <a:rPr lang="en-US" dirty="0"/>
                  <a:t>Secondly,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i="1" dirty="0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max</m:t>
                    </m:r>
                    <m:r>
                      <a:rPr lang="en-US" i="1" dirty="0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sSub>
                      <m:sSubPr>
                        <m:ctrlPr>
                          <a:rPr lang="en-US" i="1" dirty="0" err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dirty="0" err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i="1" dirty="0" err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dirty="0"/>
                  <a:t>, to determine whether to update the temporary maximum. </a:t>
                </a:r>
              </a:p>
              <a:p>
                <a:pPr lvl="1"/>
                <a:r>
                  <a:rPr lang="en-US" dirty="0"/>
                  <a:t>Basic comparisons,</a:t>
                </a:r>
              </a:p>
              <a:p>
                <a:pPr lvl="2"/>
                <a14:m>
                  <m:oMath xmlns:m="http://schemas.openxmlformats.org/officeDocument/2006/math">
                    <m:r>
                      <a:rPr lang="en-US" i="1" dirty="0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dirty="0"/>
                  <a:t>comparisons for each of the </a:t>
                </a:r>
                <a14:m>
                  <m:oMath xmlns:m="http://schemas.openxmlformats.org/officeDocument/2006/math">
                    <m:r>
                      <a:rPr lang="en-US" i="1" dirty="0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US" i="1" baseline="30000" dirty="0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𝑛𝑑</m:t>
                    </m:r>
                  </m:oMath>
                </a14:m>
                <a:r>
                  <a:rPr lang="en-US" dirty="0">
                    <a:solidFill>
                      <a:srgbClr val="0070C0"/>
                    </a:solidFill>
                  </a:rPr>
                  <a:t> </a:t>
                </a:r>
                <a:r>
                  <a:rPr lang="en-US" dirty="0"/>
                  <a:t>through the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b="0" i="1" dirty="0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 dirty="0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p>
                        <m:r>
                          <a:rPr lang="en-US" i="1" dirty="0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𝑡h</m:t>
                        </m:r>
                      </m:sup>
                    </m:sSup>
                  </m:oMath>
                </a14:m>
                <a:r>
                  <a:rPr lang="en-US" dirty="0"/>
                  <a:t> elements </a:t>
                </a:r>
              </a:p>
              <a:p>
                <a:pPr lvl="2"/>
                <a14:m>
                  <m:oMath xmlns:m="http://schemas.openxmlformats.org/officeDocument/2006/math">
                    <m:r>
                      <a:rPr lang="en-US" i="1" dirty="0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lang="en-US" dirty="0"/>
                  <a:t> more comparison to exit the loop when </a:t>
                </a:r>
                <a14:m>
                  <m:oMath xmlns:m="http://schemas.openxmlformats.org/officeDocument/2006/math">
                    <m:r>
                      <a:rPr lang="en-US" i="1" dirty="0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𝑖</m:t>
                    </m:r>
                    <m:r>
                      <a:rPr lang="en-US" i="1" dirty="0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i="1" dirty="0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i="1" dirty="0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+1</m:t>
                    </m:r>
                  </m:oMath>
                </a14:m>
                <a:r>
                  <a:rPr lang="en-US" dirty="0"/>
                  <a:t>.</a:t>
                </a:r>
              </a:p>
              <a:p>
                <a:pPr lvl="1"/>
                <a:r>
                  <a:rPr lang="en-US" dirty="0"/>
                  <a:t>So, exactly </a:t>
                </a:r>
                <a14:m>
                  <m:oMath xmlns:m="http://schemas.openxmlformats.org/officeDocument/2006/math">
                    <m:r>
                      <a:rPr lang="en-US" i="1" dirty="0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2(</m:t>
                    </m:r>
                    <m:r>
                      <a:rPr lang="en-US" i="1" dirty="0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i="1" dirty="0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−1)+1=2</m:t>
                    </m:r>
                    <m:r>
                      <a:rPr lang="en-US" i="1" dirty="0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i="1" dirty="0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−1</m:t>
                    </m:r>
                  </m:oMath>
                </a14:m>
                <a:r>
                  <a:rPr lang="en-US" dirty="0">
                    <a:solidFill>
                      <a:srgbClr val="0070C0"/>
                    </a:solidFill>
                  </a:rPr>
                  <a:t> </a:t>
                </a:r>
                <a:r>
                  <a:rPr lang="en-US" dirty="0"/>
                  <a:t>comparisons are used.</a:t>
                </a:r>
              </a:p>
              <a:p>
                <a:pPr lvl="1"/>
                <a:r>
                  <a:rPr lang="en-US" dirty="0"/>
                  <a:t>Hence, this algorithm has time complexity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i="0" dirty="0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Θ</m:t>
                    </m:r>
                    <m:d>
                      <m:dPr>
                        <m:ctrlPr>
                          <a:rPr lang="en-US" i="1" dirty="0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 dirty="0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d>
                  </m:oMath>
                </a14:m>
                <a:r>
                  <a:rPr lang="en-US" dirty="0"/>
                  <a:t>, measured in terms of the number of comparisons used. </a:t>
                </a:r>
              </a:p>
              <a:p>
                <a:pPr marL="274320" lvl="1" indent="0">
                  <a:buNone/>
                </a:pPr>
                <a:endParaRPr lang="en-US" dirty="0"/>
              </a:p>
              <a:p>
                <a:pPr marL="274320" lvl="1" indent="0">
                  <a:buNone/>
                </a:pPr>
                <a:r>
                  <a:rPr lang="en-US" dirty="0"/>
                  <a:t>Note that for this algorithm the number of comparisons is independent of particular input of </a:t>
                </a:r>
                <a14:m>
                  <m:oMath xmlns:m="http://schemas.openxmlformats.org/officeDocument/2006/math">
                    <m:r>
                      <a:rPr lang="en-US" i="1" dirty="0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US" i="1" dirty="0"/>
                  <a:t> </a:t>
                </a:r>
                <a:r>
                  <a:rPr lang="en-US" dirty="0"/>
                  <a:t>numbers.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7F8E231F-E911-4441-8E63-5A7B1776E81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"/>
              </p:nvPr>
            </p:nvSpPr>
            <p:spPr>
              <a:blipFill>
                <a:blip r:embed="rId2"/>
                <a:stretch>
                  <a:fillRect l="-296" t="-1852" b="-185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99166535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35F598-6EFA-404D-B259-109E8D8350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Time Complexity of Algorithms (Contd.)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F8E231F-E911-4441-8E63-5A7B1776E81D}"/>
              </a:ext>
            </a:extLst>
          </p:cNvPr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dirty="0"/>
              <a:t>Worst-Case Complexity:</a:t>
            </a:r>
          </a:p>
          <a:p>
            <a:pPr lvl="1"/>
            <a:r>
              <a:rPr lang="en-US" dirty="0"/>
              <a:t>Worst-case analysis tells us the largest number of operations an algorithm requires to guarantee that it will produce a solution. </a:t>
            </a:r>
            <a:br>
              <a:rPr lang="en-US" dirty="0"/>
            </a:br>
            <a:endParaRPr lang="en-US" dirty="0"/>
          </a:p>
          <a:p>
            <a:r>
              <a:rPr lang="en-US" dirty="0"/>
              <a:t>Average-Case Complexity:</a:t>
            </a:r>
          </a:p>
          <a:p>
            <a:pPr lvl="1"/>
            <a:r>
              <a:rPr lang="en-US" dirty="0"/>
              <a:t>Average-case analysis tells us the number of operations used to solve a problem over all possible inputs of a given size. </a:t>
            </a:r>
          </a:p>
          <a:p>
            <a:pPr lvl="1"/>
            <a:r>
              <a:rPr lang="en-US" dirty="0"/>
              <a:t>Usually much more complicated than worst-case analysis. </a:t>
            </a:r>
            <a:br>
              <a:rPr lang="en-US" dirty="0"/>
            </a:b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2822733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35F598-6EFA-404D-B259-109E8D8350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Time Complexity of Algorithms (Contd.)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F8E231F-E911-4441-8E63-5A7B1776E81D}"/>
              </a:ext>
            </a:extLst>
          </p:cNvPr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dirty="0"/>
              <a:t>Example 2:</a:t>
            </a:r>
          </a:p>
          <a:p>
            <a:pPr marL="274320" lvl="1" indent="0">
              <a:buNone/>
            </a:pPr>
            <a:r>
              <a:rPr lang="en-US" dirty="0"/>
              <a:t>Describe the time complexity of the linear search algorithm </a:t>
            </a:r>
            <a:br>
              <a:rPr lang="en-US" dirty="0"/>
            </a:br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B5B16E5-6645-445A-B344-AAB10DC6887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4810" y="2819400"/>
            <a:ext cx="7554379" cy="24387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2199532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35F598-6EFA-404D-B259-109E8D8350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Time Complexity of Algorithms (Contd.)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7F8E231F-E911-4441-8E63-5A7B1776E81D}"/>
                  </a:ext>
                </a:extLst>
              </p:cNvPr>
              <p:cNvSpPr>
                <a:spLocks noGrp="1"/>
              </p:cNvSpPr>
              <p:nvPr>
                <p:ph sz="quarter" idx="1"/>
              </p:nvPr>
            </p:nvSpPr>
            <p:spPr/>
            <p:txBody>
              <a:bodyPr>
                <a:normAutofit fontScale="77500" lnSpcReduction="20000"/>
              </a:bodyPr>
              <a:lstStyle/>
              <a:p>
                <a:r>
                  <a:rPr lang="en-US" dirty="0"/>
                  <a:t>Solution:</a:t>
                </a:r>
              </a:p>
              <a:p>
                <a:pPr lvl="1"/>
                <a14:m>
                  <m:oMath xmlns:m="http://schemas.openxmlformats.org/officeDocument/2006/math">
                    <m:r>
                      <a:rPr lang="en-US" i="1" dirty="0" smtClean="0">
                        <a:solidFill>
                          <a:srgbClr val="00B0F0"/>
                        </a:solidFill>
                        <a:latin typeface="Cambria Math" panose="02040503050406030204" pitchFamily="18" charset="0"/>
                      </a:rPr>
                      <m:t>𝐵𝑎𝑠𝑖𝑐</m:t>
                    </m:r>
                    <m:r>
                      <a:rPr lang="en-US" i="1" dirty="0" smtClean="0">
                        <a:solidFill>
                          <a:srgbClr val="00B0F0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i="1" dirty="0" smtClean="0">
                        <a:solidFill>
                          <a:srgbClr val="00B0F0"/>
                        </a:solidFill>
                        <a:latin typeface="Cambria Math" panose="02040503050406030204" pitchFamily="18" charset="0"/>
                      </a:rPr>
                      <m:t>𝑂𝑝𝑒𝑟𝑎𝑡𝑖𝑜𝑛𝑠</m:t>
                    </m:r>
                  </m:oMath>
                </a14:m>
                <a:r>
                  <a:rPr lang="en-US" dirty="0"/>
                  <a:t>: Comparisons.</a:t>
                </a:r>
              </a:p>
              <a:p>
                <a:pPr lvl="1"/>
                <a14:m>
                  <m:oMath xmlns:m="http://schemas.openxmlformats.org/officeDocument/2006/math">
                    <m:r>
                      <a:rPr lang="en-US" i="1" dirty="0" smtClean="0">
                        <a:solidFill>
                          <a:srgbClr val="00B050"/>
                        </a:solidFill>
                        <a:latin typeface="Cambria Math" panose="02040503050406030204" pitchFamily="18" charset="0"/>
                      </a:rPr>
                      <m:t>𝑀𝑒𝑎𝑠𝑢𝑟𝑒</m:t>
                    </m:r>
                    <m:r>
                      <a:rPr lang="en-US" i="1" dirty="0">
                        <a:solidFill>
                          <a:srgbClr val="00B050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i="1" dirty="0">
                        <a:solidFill>
                          <a:srgbClr val="00B050"/>
                        </a:solidFill>
                        <a:latin typeface="Cambria Math" panose="02040503050406030204" pitchFamily="18" charset="0"/>
                      </a:rPr>
                      <m:t>𝑜𝑓</m:t>
                    </m:r>
                    <m:r>
                      <a:rPr lang="en-US" i="1" dirty="0">
                        <a:solidFill>
                          <a:srgbClr val="00B050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i="1" dirty="0">
                        <a:solidFill>
                          <a:srgbClr val="00B050"/>
                        </a:solidFill>
                        <a:latin typeface="Cambria Math" panose="02040503050406030204" pitchFamily="18" charset="0"/>
                      </a:rPr>
                      <m:t>𝑇𝑖𝑚𝑒</m:t>
                    </m:r>
                    <m:r>
                      <a:rPr lang="en-US" i="1" dirty="0">
                        <a:solidFill>
                          <a:srgbClr val="00B050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i="1" dirty="0">
                        <a:solidFill>
                          <a:srgbClr val="00B050"/>
                        </a:solidFill>
                        <a:latin typeface="Cambria Math" panose="02040503050406030204" pitchFamily="18" charset="0"/>
                      </a:rPr>
                      <m:t>𝐶𝑜𝑚𝑝𝑙𝑒𝑥𝑖𝑡𝑦</m:t>
                    </m:r>
                  </m:oMath>
                </a14:m>
                <a:r>
                  <a:rPr lang="en-US" dirty="0"/>
                  <a:t>:  The number of comparisons .</a:t>
                </a:r>
              </a:p>
              <a:p>
                <a:pPr lvl="1"/>
                <a:r>
                  <a:rPr lang="en-US" dirty="0"/>
                  <a:t>Comparisons</a:t>
                </a:r>
              </a:p>
              <a:p>
                <a:pPr lvl="2"/>
                <a:r>
                  <a:rPr lang="en-US" dirty="0"/>
                  <a:t>At each step of the loop in the algorithm, </a:t>
                </a:r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dirty="0"/>
                  <a:t>comparisons are performed, </a:t>
                </a:r>
              </a:p>
              <a:p>
                <a:pPr lvl="3"/>
                <a:r>
                  <a:rPr lang="en-US" dirty="0"/>
                  <a:t>Firstly, </a:t>
                </a:r>
                <a14:m>
                  <m:oMath xmlns:m="http://schemas.openxmlformats.org/officeDocument/2006/math">
                    <m:r>
                      <a:rPr lang="en-US" i="1" dirty="0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𝑖</m:t>
                    </m:r>
                    <m:r>
                      <a:rPr lang="en-US" i="1" dirty="0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US" b="0" i="1" dirty="0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US" dirty="0"/>
                  <a:t>, to determine if the end of the list has been reached.</a:t>
                </a:r>
              </a:p>
              <a:p>
                <a:pPr lvl="3"/>
                <a:r>
                  <a:rPr lang="en-US" dirty="0"/>
                  <a:t>Secondly, </a:t>
                </a:r>
                <a14:m>
                  <m:oMath xmlns:m="http://schemas.openxmlformats.org/officeDocument/2006/math">
                    <m:r>
                      <a:rPr lang="en-US" b="0" i="1" dirty="0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i="1" dirty="0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sSub>
                      <m:sSubPr>
                        <m:ctrlPr>
                          <a:rPr lang="en-US" i="1" dirty="0" err="1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dirty="0" err="1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i="1" dirty="0" err="1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dirty="0"/>
                  <a:t>, to compare the element </a:t>
                </a:r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US" dirty="0"/>
                  <a:t> with a term of the list. </a:t>
                </a:r>
              </a:p>
              <a:p>
                <a:pPr lvl="2"/>
                <a:r>
                  <a:rPr lang="en-US" dirty="0"/>
                  <a:t>Finally,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1 </m:t>
                    </m:r>
                  </m:oMath>
                </a14:m>
                <a:r>
                  <a:rPr lang="en-US" dirty="0"/>
                  <a:t>more comparison, </a:t>
                </a:r>
                <a14:m>
                  <m:oMath xmlns:m="http://schemas.openxmlformats.org/officeDocument/2006/math">
                    <m:r>
                      <a:rPr lang="en-US" i="1" dirty="0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𝑖</m:t>
                    </m:r>
                    <m:r>
                      <a:rPr lang="en-US" i="1" dirty="0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US" i="1" dirty="0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US" dirty="0">
                    <a:solidFill>
                      <a:srgbClr val="0070C0"/>
                    </a:solidFill>
                  </a:rPr>
                  <a:t> </a:t>
                </a:r>
                <a:r>
                  <a:rPr lang="en-US" dirty="0"/>
                  <a:t>outside the loop to return location.</a:t>
                </a:r>
              </a:p>
              <a:p>
                <a:pPr lvl="1"/>
                <a:r>
                  <a:rPr lang="en-US" dirty="0"/>
                  <a:t>So, for an element in the list, i.e. </a:t>
                </a:r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b="0" i="1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b="0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b="0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dirty="0"/>
                  <a:t>, then </a:t>
                </a:r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US" b="0" i="1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𝑖</m:t>
                    </m:r>
                    <m:r>
                      <a:rPr lang="en-US" b="0" i="1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+1</m:t>
                    </m:r>
                  </m:oMath>
                </a14:m>
                <a:r>
                  <a:rPr lang="en-US" dirty="0">
                    <a:solidFill>
                      <a:srgbClr val="0070C0"/>
                    </a:solidFill>
                  </a:rPr>
                  <a:t> </a:t>
                </a:r>
                <a:r>
                  <a:rPr lang="en-US" dirty="0"/>
                  <a:t>comparisons are used.</a:t>
                </a:r>
              </a:p>
              <a:p>
                <a:pPr lvl="1"/>
                <a:r>
                  <a:rPr lang="en-US" dirty="0"/>
                  <a:t>And, for an element not in the list, i.e. </a:t>
                </a:r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∀</m:t>
                    </m:r>
                    <m:r>
                      <a:rPr lang="en-US" b="0" i="1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𝑖</m:t>
                    </m:r>
                    <m:r>
                      <a:rPr lang="en-US" b="0" i="1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b="0" i="1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b="0" i="1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≠</m:t>
                    </m:r>
                    <m:sSub>
                      <m:sSubPr>
                        <m:ctrlPr>
                          <a:rPr lang="en-US" b="0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b="0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dirty="0"/>
                  <a:t>, in the worst-case, </a:t>
                </a:r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US" b="0" i="1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b="0" i="1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+2</m:t>
                    </m:r>
                  </m:oMath>
                </a14:m>
                <a:r>
                  <a:rPr lang="en-US" dirty="0">
                    <a:solidFill>
                      <a:srgbClr val="0070C0"/>
                    </a:solidFill>
                  </a:rPr>
                  <a:t> </a:t>
                </a:r>
                <a:r>
                  <a:rPr lang="en-US" dirty="0"/>
                  <a:t>comparisons are used where,</a:t>
                </a:r>
              </a:p>
              <a:p>
                <a:pPr lvl="2"/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US" b="0" i="1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US" dirty="0">
                    <a:solidFill>
                      <a:srgbClr val="0070C0"/>
                    </a:solidFill>
                  </a:rPr>
                  <a:t> </a:t>
                </a:r>
                <a:r>
                  <a:rPr lang="en-US" dirty="0"/>
                  <a:t>comparisons determine that </a:t>
                </a:r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b="0" i="1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≠</m:t>
                    </m:r>
                    <m:sSub>
                      <m:sSubPr>
                        <m:ctrlPr>
                          <a:rPr lang="en-US" b="0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b="0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dirty="0"/>
                  <a:t>.</a:t>
                </a:r>
              </a:p>
              <a:p>
                <a:pPr lvl="2"/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lang="en-US" dirty="0"/>
                  <a:t> comparison exits the loop.</a:t>
                </a:r>
              </a:p>
              <a:p>
                <a:pPr lvl="2"/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lang="en-US" dirty="0"/>
                  <a:t> comparison outside the loop returns location.</a:t>
                </a:r>
              </a:p>
              <a:p>
                <a:pPr marL="274320" lvl="1" indent="0">
                  <a:buNone/>
                </a:pPr>
                <a:endParaRPr lang="en-US" dirty="0"/>
              </a:p>
              <a:p>
                <a:pPr lvl="1"/>
                <a:r>
                  <a:rPr lang="en-US" dirty="0"/>
                  <a:t>Hence, this algorithm has time complexity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dirty="0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Θ</m:t>
                    </m:r>
                    <m:d>
                      <m:dPr>
                        <m:ctrlPr>
                          <a:rPr lang="en-US" i="1" dirty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 dirty="0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d>
                  </m:oMath>
                </a14:m>
                <a:r>
                  <a:rPr lang="en-US" dirty="0">
                    <a:solidFill>
                      <a:srgbClr val="C00000"/>
                    </a:solidFill>
                  </a:rPr>
                  <a:t> </a:t>
                </a:r>
                <a:r>
                  <a:rPr lang="en-US" dirty="0"/>
                  <a:t>in the </a:t>
                </a:r>
                <a:r>
                  <a:rPr lang="en-US" b="1" dirty="0"/>
                  <a:t>worst-case</a:t>
                </a:r>
                <a:r>
                  <a:rPr lang="en-US" dirty="0"/>
                  <a:t>, as </a:t>
                </a:r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US" b="0" i="1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b="0" i="1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+2</m:t>
                    </m:r>
                  </m:oMath>
                </a14:m>
                <a:r>
                  <a:rPr lang="en-US" dirty="0">
                    <a:solidFill>
                      <a:srgbClr val="0070C0"/>
                    </a:solidFill>
                  </a:rPr>
                  <a:t> </a:t>
                </a:r>
                <a:r>
                  <a:rPr lang="en-US" dirty="0"/>
                  <a:t>is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b="0" i="0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Θ</m:t>
                    </m:r>
                    <m:d>
                      <m:dPr>
                        <m:ctrlPr>
                          <a:rPr lang="en-US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d>
                  </m:oMath>
                </a14:m>
                <a:r>
                  <a:rPr lang="en-US" dirty="0"/>
                  <a:t>.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7F8E231F-E911-4441-8E63-5A7B1776E81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"/>
              </p:nvPr>
            </p:nvSpPr>
            <p:spPr>
              <a:blipFill>
                <a:blip r:embed="rId2"/>
                <a:stretch>
                  <a:fillRect l="-296" t="-1852" r="-37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94674853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35F598-6EFA-404D-B259-109E8D8350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Time Complexity of Algorithms (Contd.)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7F8E231F-E911-4441-8E63-5A7B1776E81D}"/>
                  </a:ext>
                </a:extLst>
              </p:cNvPr>
              <p:cNvSpPr>
                <a:spLocks noGrp="1"/>
              </p:cNvSpPr>
              <p:nvPr>
                <p:ph sz="quarter" idx="1"/>
              </p:nvPr>
            </p:nvSpPr>
            <p:spPr/>
            <p:txBody>
              <a:bodyPr/>
              <a:lstStyle/>
              <a:p>
                <a:r>
                  <a:rPr lang="en-US" dirty="0"/>
                  <a:t>Example 3:</a:t>
                </a:r>
              </a:p>
              <a:p>
                <a:pPr marL="274320" lvl="1" indent="0">
                  <a:buNone/>
                </a:pPr>
                <a:r>
                  <a:rPr lang="en-US" dirty="0"/>
                  <a:t>Describe the average-case performance of the linear search algorithm in terms of the average number of comparisons used, assuming that the integer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US" i="1" dirty="0"/>
                  <a:t> </a:t>
                </a:r>
                <a:r>
                  <a:rPr lang="en-US" dirty="0"/>
                  <a:t>is in the list and it is equally likely that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US" i="1" dirty="0"/>
                  <a:t> </a:t>
                </a:r>
                <a:r>
                  <a:rPr lang="en-US" dirty="0"/>
                  <a:t>is in any position. </a:t>
                </a:r>
                <a:br>
                  <a:rPr lang="en-US" dirty="0"/>
                </a:br>
                <a:br>
                  <a:rPr lang="en-US" dirty="0"/>
                </a:br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7F8E231F-E911-4441-8E63-5A7B1776E81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"/>
              </p:nvPr>
            </p:nvSpPr>
            <p:spPr>
              <a:blipFill>
                <a:blip r:embed="rId2"/>
                <a:stretch>
                  <a:fillRect l="-667" t="-1111" r="-177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" name="Picture 3">
            <a:extLst>
              <a:ext uri="{FF2B5EF4-FFF2-40B4-BE49-F238E27FC236}">
                <a16:creationId xmlns:a16="http://schemas.microsoft.com/office/drawing/2014/main" id="{1B5B16E5-6645-445A-B344-AAB10DC6887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4810" y="3450672"/>
            <a:ext cx="7554379" cy="24387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3423326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35F598-6EFA-404D-B259-109E8D8350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Time Complexity of Algorithms (Contd.)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7F8E231F-E911-4441-8E63-5A7B1776E81D}"/>
                  </a:ext>
                </a:extLst>
              </p:cNvPr>
              <p:cNvSpPr>
                <a:spLocks noGrp="1"/>
              </p:cNvSpPr>
              <p:nvPr>
                <p:ph sz="quarter" idx="1"/>
              </p:nvPr>
            </p:nvSpPr>
            <p:spPr/>
            <p:txBody>
              <a:bodyPr>
                <a:normAutofit fontScale="85000" lnSpcReduction="20000"/>
              </a:bodyPr>
              <a:lstStyle/>
              <a:p>
                <a:r>
                  <a:rPr lang="en-US" dirty="0"/>
                  <a:t>Solution:</a:t>
                </a:r>
              </a:p>
              <a:p>
                <a:pPr marL="594360" lvl="2" indent="0">
                  <a:buNone/>
                </a:pPr>
                <a:r>
                  <a:rPr lang="en-US" dirty="0"/>
                  <a:t>Comparisons-</a:t>
                </a:r>
              </a:p>
              <a:p>
                <a:pPr lvl="2"/>
                <a:r>
                  <a:rPr lang="en-US" dirty="0"/>
                  <a:t>At each step of the loop in the algorithm, </a:t>
                </a:r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dirty="0"/>
                  <a:t>comparisons are performed, </a:t>
                </a:r>
              </a:p>
              <a:p>
                <a:pPr lvl="3"/>
                <a:r>
                  <a:rPr lang="en-US" dirty="0"/>
                  <a:t>Firstly, </a:t>
                </a:r>
                <a14:m>
                  <m:oMath xmlns:m="http://schemas.openxmlformats.org/officeDocument/2006/math">
                    <m:r>
                      <a:rPr lang="en-US" i="1" dirty="0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𝑖</m:t>
                    </m:r>
                    <m:r>
                      <a:rPr lang="en-US" i="1" dirty="0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US" b="0" i="1" dirty="0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US" dirty="0"/>
                  <a:t>, to determine if the end of the list has been reached.</a:t>
                </a:r>
              </a:p>
              <a:p>
                <a:pPr lvl="3"/>
                <a:r>
                  <a:rPr lang="en-US" dirty="0"/>
                  <a:t>Secondly, </a:t>
                </a:r>
                <a14:m>
                  <m:oMath xmlns:m="http://schemas.openxmlformats.org/officeDocument/2006/math">
                    <m:r>
                      <a:rPr lang="en-US" b="0" i="1" dirty="0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b="0" i="1" dirty="0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≠</m:t>
                    </m:r>
                    <m:sSub>
                      <m:sSubPr>
                        <m:ctrlPr>
                          <a:rPr lang="en-US" i="1" dirty="0" err="1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dirty="0" err="1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i="1" dirty="0" err="1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dirty="0"/>
                  <a:t>, to compare the element </a:t>
                </a:r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US" dirty="0"/>
                  <a:t> with a term of the list. </a:t>
                </a:r>
              </a:p>
              <a:p>
                <a:pPr lvl="2"/>
                <a:r>
                  <a:rPr lang="en-US" dirty="0"/>
                  <a:t>Finally, </a:t>
                </a:r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dirty="0"/>
                  <a:t>more comparison, </a:t>
                </a:r>
                <a14:m>
                  <m:oMath xmlns:m="http://schemas.openxmlformats.org/officeDocument/2006/math">
                    <m:r>
                      <a:rPr lang="en-US" i="1" dirty="0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𝑖</m:t>
                    </m:r>
                    <m:r>
                      <a:rPr lang="en-US" i="1" dirty="0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US" i="1" dirty="0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US" dirty="0">
                    <a:solidFill>
                      <a:srgbClr val="0070C0"/>
                    </a:solidFill>
                  </a:rPr>
                  <a:t> </a:t>
                </a:r>
                <a:r>
                  <a:rPr lang="en-US" dirty="0"/>
                  <a:t>outside the loop to return location.</a:t>
                </a:r>
              </a:p>
              <a:p>
                <a:pPr marL="594360" lvl="2" indent="0">
                  <a:buNone/>
                </a:pPr>
                <a:r>
                  <a:rPr lang="en-US" dirty="0"/>
                  <a:t>So, for an element in the list, i.e. </a:t>
                </a:r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b="0" i="1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b="0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b="0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dirty="0"/>
                  <a:t>, then </a:t>
                </a:r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US" b="0" i="1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𝑖</m:t>
                    </m:r>
                    <m:r>
                      <a:rPr lang="en-US" b="0" i="1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+1</m:t>
                    </m:r>
                  </m:oMath>
                </a14:m>
                <a:r>
                  <a:rPr lang="en-US" dirty="0">
                    <a:solidFill>
                      <a:srgbClr val="0070C0"/>
                    </a:solidFill>
                  </a:rPr>
                  <a:t> </a:t>
                </a:r>
                <a:r>
                  <a:rPr lang="en-US" dirty="0"/>
                  <a:t>comparisons are used. Therefore, total comparisons, for</a:t>
                </a:r>
                <a:r>
                  <a:rPr lang="en-US" dirty="0">
                    <a:solidFill>
                      <a:srgbClr val="0070C0"/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𝑖</m:t>
                    </m:r>
                    <m:r>
                      <a:rPr lang="en-US" b="0" i="1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=1,2,3…</m:t>
                    </m:r>
                    <m:r>
                      <a:rPr lang="en-US" b="0" i="1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US" dirty="0">
                    <a:solidFill>
                      <a:srgbClr val="0070C0"/>
                    </a:solidFill>
                  </a:rPr>
                  <a:t> </a:t>
                </a:r>
                <a:r>
                  <a:rPr lang="en-US" dirty="0"/>
                  <a:t>using the relation </a:t>
                </a:r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US" b="0" i="1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𝑖</m:t>
                    </m:r>
                    <m:r>
                      <a:rPr lang="en-US" b="0" i="1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+1</m:t>
                    </m:r>
                  </m:oMath>
                </a14:m>
                <a:r>
                  <a:rPr lang="en-US" dirty="0">
                    <a:solidFill>
                      <a:srgbClr val="0070C0"/>
                    </a:solidFill>
                  </a:rPr>
                  <a:t> </a:t>
                </a:r>
                <a:r>
                  <a:rPr lang="en-US" dirty="0"/>
                  <a:t>is</a:t>
                </a:r>
              </a:p>
              <a:p>
                <a:pPr marL="594360" lvl="2" indent="0">
                  <a:buNone/>
                </a:pPr>
                <a:endParaRPr lang="en-US" dirty="0"/>
              </a:p>
              <a:p>
                <a:pPr marL="594360" lvl="2" indent="0">
                  <a:buNone/>
                </a:pPr>
                <a:endParaRPr lang="en-US" dirty="0"/>
              </a:p>
              <a:p>
                <a:pPr marL="594360" lvl="2" indent="0">
                  <a:buNone/>
                </a:pPr>
                <a:endParaRPr lang="en-US" dirty="0"/>
              </a:p>
              <a:p>
                <a:pPr marL="594360" lvl="2" indent="0">
                  <a:buNone/>
                </a:pPr>
                <a:endParaRPr lang="en-US" dirty="0"/>
              </a:p>
              <a:p>
                <a:pPr marL="594360" lvl="2" indent="0">
                  <a:buNone/>
                </a:pPr>
                <a:endParaRPr lang="en-US" dirty="0"/>
              </a:p>
              <a:p>
                <a:pPr marL="594360" lvl="2" indent="0">
                  <a:buNone/>
                </a:pPr>
                <a:endParaRPr lang="en-US" dirty="0"/>
              </a:p>
              <a:p>
                <a:pPr marL="594360" lvl="2" indent="0">
                  <a:buNone/>
                </a:pPr>
                <a:r>
                  <a:rPr lang="en-US" dirty="0"/>
                  <a:t>Thus, the average number of comparisons,</a:t>
                </a:r>
              </a:p>
              <a:p>
                <a:pPr marL="868680" lvl="3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i="1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  <m:d>
                            <m:dPr>
                              <m:ctrlPr>
                                <a:rPr lang="en-US" i="1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i="1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  <m:r>
                                <a:rPr lang="en-US" i="1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</a:rPr>
                                <m:t>+2</m:t>
                              </m:r>
                            </m:e>
                          </m:d>
                        </m:num>
                        <m:den>
                          <m:r>
                            <a:rPr lang="en-US" i="1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</m:den>
                      </m:f>
                      <m:r>
                        <a:rPr lang="en-US" i="1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US" i="1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i="1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en-US" i="1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+2</m:t>
                          </m:r>
                        </m:e>
                      </m:d>
                    </m:oMath>
                  </m:oMathPara>
                </a14:m>
                <a:endParaRPr lang="en-US" dirty="0"/>
              </a:p>
              <a:p>
                <a:pPr marL="594360" lvl="2" indent="0">
                  <a:buNone/>
                </a:pPr>
                <a:r>
                  <a:rPr lang="en-US" dirty="0"/>
                  <a:t>Hence, this algorithm has time complexity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dirty="0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Θ</m:t>
                    </m:r>
                    <m:d>
                      <m:dPr>
                        <m:ctrlPr>
                          <a:rPr lang="en-US" i="1" dirty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 dirty="0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d>
                  </m:oMath>
                </a14:m>
                <a:r>
                  <a:rPr lang="en-US" dirty="0">
                    <a:solidFill>
                      <a:srgbClr val="C00000"/>
                    </a:solidFill>
                  </a:rPr>
                  <a:t> </a:t>
                </a:r>
                <a:r>
                  <a:rPr lang="en-US" dirty="0"/>
                  <a:t>in the </a:t>
                </a:r>
                <a:r>
                  <a:rPr lang="en-US" b="1" dirty="0"/>
                  <a:t>average-case</a:t>
                </a:r>
                <a:r>
                  <a:rPr lang="en-US" dirty="0"/>
                  <a:t>, as </a:t>
                </a:r>
                <a14:m>
                  <m:oMath xmlns:m="http://schemas.openxmlformats.org/officeDocument/2006/math">
                    <m:r>
                      <a:rPr lang="en-US" i="1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i="1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+2</m:t>
                    </m:r>
                  </m:oMath>
                </a14:m>
                <a:r>
                  <a:rPr lang="en-US" dirty="0">
                    <a:solidFill>
                      <a:srgbClr val="0070C0"/>
                    </a:solidFill>
                  </a:rPr>
                  <a:t> </a:t>
                </a:r>
                <a:r>
                  <a:rPr lang="en-US" dirty="0"/>
                  <a:t>is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Θ</m:t>
                    </m:r>
                    <m:d>
                      <m:dPr>
                        <m:ctrlPr>
                          <a:rPr lang="en-US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d>
                  </m:oMath>
                </a14:m>
                <a:r>
                  <a:rPr lang="en-US" dirty="0"/>
                  <a:t>.</a:t>
                </a:r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7F8E231F-E911-4441-8E63-5A7B1776E81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"/>
              </p:nvPr>
            </p:nvSpPr>
            <p:spPr>
              <a:blipFill>
                <a:blip r:embed="rId2"/>
                <a:stretch>
                  <a:fillRect l="-370" t="-2222" b="-160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4" name="Table 3">
                <a:extLst>
                  <a:ext uri="{FF2B5EF4-FFF2-40B4-BE49-F238E27FC236}">
                    <a16:creationId xmlns:a16="http://schemas.microsoft.com/office/drawing/2014/main" id="{F80B51D0-1B08-4E54-9E7D-774FC7283825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266715045"/>
                  </p:ext>
                </p:extLst>
              </p:nvPr>
            </p:nvGraphicFramePr>
            <p:xfrm>
              <a:off x="2819400" y="3343013"/>
              <a:ext cx="5257800" cy="1459294"/>
            </p:xfrm>
            <a:graphic>
              <a:graphicData uri="http://schemas.openxmlformats.org/drawingml/2006/table">
                <a:tbl>
                  <a:tblPr>
                    <a:tableStyleId>{5C22544A-7EE6-4342-B048-85BDC9FD1C3A}</a:tableStyleId>
                  </a:tblPr>
                  <a:tblGrid>
                    <a:gridCol w="5257800">
                      <a:extLst>
                        <a:ext uri="{9D8B030D-6E8A-4147-A177-3AD203B41FA5}">
                          <a16:colId xmlns:a16="http://schemas.microsoft.com/office/drawing/2014/main" val="3980115803"/>
                        </a:ext>
                      </a:extLst>
                    </a:gridCol>
                  </a:tblGrid>
                  <a:tr h="1219200">
                    <a:tc>
                      <a:txBody>
                        <a:bodyPr/>
                        <a:lstStyle/>
                        <a:p>
                          <a:r>
                            <a:rPr lang="en-US" b="0" dirty="0"/>
                            <a:t>    </a:t>
                          </a:r>
                          <a14:m>
                            <m:oMath xmlns:m="http://schemas.openxmlformats.org/officeDocument/2006/math">
                              <m:r>
                                <a:rPr lang="en-US" sz="1600" b="0" i="1" smtClean="0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</a:rPr>
                                <m:t>3+5+7+…+</m:t>
                              </m:r>
                              <m:d>
                                <m:dPr>
                                  <m:ctrlPr>
                                    <a:rPr lang="en-US" sz="1600" b="0" i="1" smtClean="0">
                                      <a:solidFill>
                                        <a:srgbClr val="0070C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1600" b="0" i="1" smtClean="0">
                                      <a:solidFill>
                                        <a:srgbClr val="0070C0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  <m:r>
                                    <a:rPr lang="en-US" sz="1600" b="0" i="1" smtClean="0">
                                      <a:solidFill>
                                        <a:srgbClr val="0070C0"/>
                                      </a:solidFill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  <m:r>
                                    <a:rPr lang="en-US" sz="1600" b="0" i="1" smtClean="0">
                                      <a:solidFill>
                                        <a:srgbClr val="0070C0"/>
                                      </a:solidFill>
                                      <a:latin typeface="Cambria Math" panose="02040503050406030204" pitchFamily="18" charset="0"/>
                                    </a:rPr>
                                    <m:t>+1</m:t>
                                  </m:r>
                                </m:e>
                              </m:d>
                            </m:oMath>
                          </a14:m>
                          <a:r>
                            <a:rPr lang="en-US" sz="1600" b="0" dirty="0">
                              <a:solidFill>
                                <a:srgbClr val="0070C0"/>
                              </a:solidFill>
                            </a:rPr>
                            <a:t> </a:t>
                          </a:r>
                        </a:p>
                        <a:p>
                          <a14:m>
                            <m:oMath xmlns:m="http://schemas.openxmlformats.org/officeDocument/2006/math">
                              <m:r>
                                <a:rPr lang="en-US" sz="1600" b="0" i="1" smtClean="0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d>
                                <m:dPr>
                                  <m:ctrlPr>
                                    <a:rPr lang="en-US" sz="1600" b="0" i="1" smtClean="0">
                                      <a:solidFill>
                                        <a:srgbClr val="0070C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1600" b="0" i="1" smtClean="0">
                                      <a:solidFill>
                                        <a:srgbClr val="0070C0"/>
                                      </a:solidFill>
                                      <a:latin typeface="Cambria Math" panose="02040503050406030204" pitchFamily="18" charset="0"/>
                                    </a:rPr>
                                    <m:t>2∙1+1</m:t>
                                  </m:r>
                                </m:e>
                              </m:d>
                              <m:r>
                                <a:rPr lang="en-US" sz="1600" b="0" i="1" smtClean="0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d>
                                <m:dPr>
                                  <m:ctrlPr>
                                    <a:rPr lang="en-US" sz="1600" b="0" i="1" smtClean="0">
                                      <a:solidFill>
                                        <a:srgbClr val="0070C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1600" b="0" i="1" smtClean="0">
                                      <a:solidFill>
                                        <a:srgbClr val="0070C0"/>
                                      </a:solidFill>
                                      <a:latin typeface="Cambria Math" panose="02040503050406030204" pitchFamily="18" charset="0"/>
                                    </a:rPr>
                                    <m:t>2∙2+1</m:t>
                                  </m:r>
                                </m:e>
                              </m:d>
                              <m:r>
                                <a:rPr lang="en-US" sz="1600" b="0" i="1" smtClean="0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d>
                                <m:dPr>
                                  <m:ctrlPr>
                                    <a:rPr lang="en-US" sz="1600" b="0" i="1" smtClean="0">
                                      <a:solidFill>
                                        <a:srgbClr val="0070C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1600" b="0" i="1" smtClean="0">
                                      <a:solidFill>
                                        <a:srgbClr val="0070C0"/>
                                      </a:solidFill>
                                      <a:latin typeface="Cambria Math" panose="02040503050406030204" pitchFamily="18" charset="0"/>
                                    </a:rPr>
                                    <m:t>2∙3+1</m:t>
                                  </m:r>
                                </m:e>
                              </m:d>
                              <m:r>
                                <a:rPr lang="en-US" sz="1600" b="0" i="1" smtClean="0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</a:rPr>
                                <m:t>+…+(2∙</m:t>
                              </m:r>
                              <m:r>
                                <a:rPr lang="en-US" sz="1600" b="0" i="1" smtClean="0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  <m:r>
                                <a:rPr lang="en-US" sz="1600" b="0" i="1" smtClean="0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</a:rPr>
                                <m:t>+1)</m:t>
                              </m:r>
                            </m:oMath>
                          </a14:m>
                          <a:r>
                            <a:rPr lang="en-US" sz="1600" dirty="0">
                              <a:solidFill>
                                <a:srgbClr val="0070C0"/>
                              </a:solidFill>
                            </a:rPr>
                            <a:t> </a:t>
                          </a:r>
                        </a:p>
                        <a:p>
                          <a14:m>
                            <m:oMath xmlns:m="http://schemas.openxmlformats.org/officeDocument/2006/math">
                              <m:r>
                                <a:rPr lang="en-US" sz="1600" b="0" i="1" smtClean="0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</a:rPr>
                                <m:t>=2</m:t>
                              </m:r>
                              <m:d>
                                <m:dPr>
                                  <m:ctrlPr>
                                    <a:rPr lang="en-US" sz="1600" b="0" i="1" smtClean="0">
                                      <a:solidFill>
                                        <a:srgbClr val="0070C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1600" b="0" i="1" smtClean="0">
                                      <a:solidFill>
                                        <a:srgbClr val="0070C0"/>
                                      </a:solidFill>
                                      <a:latin typeface="Cambria Math" panose="02040503050406030204" pitchFamily="18" charset="0"/>
                                    </a:rPr>
                                    <m:t>1+2+3+…+</m:t>
                                  </m:r>
                                  <m:r>
                                    <a:rPr lang="en-US" sz="1600" b="0" i="1" smtClean="0">
                                      <a:solidFill>
                                        <a:srgbClr val="0070C0"/>
                                      </a:solidFill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e>
                              </m:d>
                              <m:r>
                                <a:rPr lang="en-US" sz="1600" b="0" i="1" smtClean="0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en-US" sz="1600" b="0" i="1" smtClean="0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oMath>
                          </a14:m>
                          <a:r>
                            <a:rPr lang="en-US" sz="1600" dirty="0">
                              <a:solidFill>
                                <a:srgbClr val="0070C0"/>
                              </a:solidFill>
                            </a:rPr>
                            <a:t> </a:t>
                          </a:r>
                        </a:p>
                        <a:p>
                          <a14:m>
                            <m:oMath xmlns:m="http://schemas.openxmlformats.org/officeDocument/2006/math">
                              <m:r>
                                <a:rPr lang="en-US" sz="1600" b="0" i="1" smtClean="0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f>
                                <m:fPr>
                                  <m:ctrlPr>
                                    <a:rPr lang="en-US" sz="1600" b="0" i="1" smtClean="0">
                                      <a:solidFill>
                                        <a:srgbClr val="0070C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sz="1600" b="0" i="1" smtClean="0">
                                      <a:solidFill>
                                        <a:srgbClr val="0070C0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  <m:r>
                                    <a:rPr lang="en-US" sz="1600" b="0" i="1" smtClean="0">
                                      <a:solidFill>
                                        <a:srgbClr val="0070C0"/>
                                      </a:solidFill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  <m:d>
                                    <m:dPr>
                                      <m:ctrlPr>
                                        <a:rPr lang="en-US" sz="1600" b="0" i="1" smtClean="0">
                                          <a:solidFill>
                                            <a:srgbClr val="0070C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sz="1600" b="0" i="1" smtClean="0">
                                          <a:solidFill>
                                            <a:srgbClr val="0070C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𝑛</m:t>
                                      </m:r>
                                      <m:r>
                                        <a:rPr lang="en-US" sz="1600" b="0" i="1" smtClean="0">
                                          <a:solidFill>
                                            <a:srgbClr val="0070C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+1</m:t>
                                      </m:r>
                                    </m:e>
                                  </m:d>
                                </m:num>
                                <m:den>
                                  <m:r>
                                    <a:rPr lang="en-US" sz="1600" b="0" i="1" smtClean="0">
                                      <a:solidFill>
                                        <a:srgbClr val="0070C0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den>
                              </m:f>
                              <m:r>
                                <a:rPr lang="en-US" sz="1600" b="0" i="1" smtClean="0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en-US" sz="1600" b="0" i="1" smtClean="0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oMath>
                          </a14:m>
                          <a:r>
                            <a:rPr lang="en-US" sz="1600" dirty="0">
                              <a:solidFill>
                                <a:srgbClr val="0070C0"/>
                              </a:solidFill>
                            </a:rPr>
                            <a:t> </a:t>
                          </a:r>
                        </a:p>
                        <a:p>
                          <a14:m>
                            <m:oMath xmlns:m="http://schemas.openxmlformats.org/officeDocument/2006/math">
                              <m:r>
                                <a:rPr lang="en-US" sz="1600" b="0" i="1" smtClean="0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r>
                                <a:rPr lang="en-US" sz="1600" b="0" i="1" smtClean="0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  <m:d>
                                <m:dPr>
                                  <m:ctrlPr>
                                    <a:rPr lang="en-US" sz="1600" b="0" i="1" smtClean="0">
                                      <a:solidFill>
                                        <a:srgbClr val="0070C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1600" b="0" i="1" smtClean="0">
                                      <a:solidFill>
                                        <a:srgbClr val="0070C0"/>
                                      </a:solidFill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  <m:r>
                                    <a:rPr lang="en-US" sz="1600" b="0" i="1" smtClean="0">
                                      <a:solidFill>
                                        <a:srgbClr val="0070C0"/>
                                      </a:solidFill>
                                      <a:latin typeface="Cambria Math" panose="02040503050406030204" pitchFamily="18" charset="0"/>
                                    </a:rPr>
                                    <m:t>+2</m:t>
                                  </m:r>
                                </m:e>
                              </m:d>
                            </m:oMath>
                          </a14:m>
                          <a:r>
                            <a:rPr lang="en-US" sz="1600" dirty="0">
                              <a:solidFill>
                                <a:srgbClr val="0070C0"/>
                              </a:solidFill>
                            </a:rPr>
                            <a:t> </a:t>
                          </a:r>
                        </a:p>
                      </a:txBody>
                      <a:tcP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997182297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4" name="Table 3">
                <a:extLst>
                  <a:ext uri="{FF2B5EF4-FFF2-40B4-BE49-F238E27FC236}">
                    <a16:creationId xmlns:a16="http://schemas.microsoft.com/office/drawing/2014/main" id="{F80B51D0-1B08-4E54-9E7D-774FC7283825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266715045"/>
                  </p:ext>
                </p:extLst>
              </p:nvPr>
            </p:nvGraphicFramePr>
            <p:xfrm>
              <a:off x="2819400" y="3343013"/>
              <a:ext cx="5257800" cy="1459294"/>
            </p:xfrm>
            <a:graphic>
              <a:graphicData uri="http://schemas.openxmlformats.org/drawingml/2006/table">
                <a:tbl>
                  <a:tblPr>
                    <a:tableStyleId>{5C22544A-7EE6-4342-B048-85BDC9FD1C3A}</a:tableStyleId>
                  </a:tblPr>
                  <a:tblGrid>
                    <a:gridCol w="5257800">
                      <a:extLst>
                        <a:ext uri="{9D8B030D-6E8A-4147-A177-3AD203B41FA5}">
                          <a16:colId xmlns:a16="http://schemas.microsoft.com/office/drawing/2014/main" val="3980115803"/>
                        </a:ext>
                      </a:extLst>
                    </a:gridCol>
                  </a:tblGrid>
                  <a:tr h="1459294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116" t="-417" r="-348" b="-833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997182297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254512322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35F598-6EFA-404D-B259-109E8D8350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Time Complexity of Algorithms (Contd.)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7F8E231F-E911-4441-8E63-5A7B1776E81D}"/>
                  </a:ext>
                </a:extLst>
              </p:cNvPr>
              <p:cNvSpPr>
                <a:spLocks noGrp="1"/>
              </p:cNvSpPr>
              <p:nvPr>
                <p:ph sz="quarter" idx="1"/>
              </p:nvPr>
            </p:nvSpPr>
            <p:spPr/>
            <p:txBody>
              <a:bodyPr>
                <a:normAutofit/>
              </a:bodyPr>
              <a:lstStyle/>
              <a:p>
                <a:r>
                  <a:rPr lang="en-US" dirty="0"/>
                  <a:t>NOTES:</a:t>
                </a:r>
              </a:p>
              <a:p>
                <a:pPr lvl="1"/>
                <a:r>
                  <a:rPr lang="en-US" dirty="0"/>
                  <a:t>In the analysis of Example 3 we assumed that </a:t>
                </a:r>
                <a14:m>
                  <m:oMath xmlns:m="http://schemas.openxmlformats.org/officeDocument/2006/math">
                    <m:r>
                      <a:rPr lang="en-US" i="1" dirty="0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dirty="0"/>
                  <a:t>is in the list being searched. It is also possible to do an average-case analysis of this algorithm when </a:t>
                </a:r>
                <a14:m>
                  <m:oMath xmlns:m="http://schemas.openxmlformats.org/officeDocument/2006/math">
                    <m:r>
                      <a:rPr lang="en-US" i="1" dirty="0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US" i="1" dirty="0"/>
                  <a:t> </a:t>
                </a:r>
                <a:r>
                  <a:rPr lang="en-US" dirty="0"/>
                  <a:t>may not be in the list </a:t>
                </a:r>
              </a:p>
              <a:p>
                <a:pPr lvl="1"/>
                <a:r>
                  <a:rPr lang="en-US" dirty="0"/>
                  <a:t>Although we have counted the comparisons needed to determine whether we have reached the end of a loop, these comparisons are often not counted. From this point on we will</a:t>
                </a:r>
                <a:br>
                  <a:rPr lang="en-US" dirty="0"/>
                </a:br>
                <a:r>
                  <a:rPr lang="en-US" dirty="0"/>
                  <a:t>ignore such comparisons. </a:t>
                </a:r>
                <a:br>
                  <a:rPr lang="en-US" dirty="0"/>
                </a:br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7F8E231F-E911-4441-8E63-5A7B1776E81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"/>
              </p:nvPr>
            </p:nvSpPr>
            <p:spPr>
              <a:blipFill>
                <a:blip r:embed="rId2"/>
                <a:stretch>
                  <a:fillRect l="-667" t="-1111" r="-170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4924681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35F598-6EFA-404D-B259-109E8D8350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Algorithmic Paradigms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F8E231F-E911-4441-8E63-5A7B1776E81D}"/>
              </a:ext>
            </a:extLst>
          </p:cNvPr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dirty="0"/>
              <a:t>Commonly used terminologies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A1B10F0-AF44-4996-B491-F8D6AA50508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38128" y="2052445"/>
            <a:ext cx="4067743" cy="27531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4542886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35F598-6EFA-404D-B259-109E8D8350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Algorithmic Paradigms (Contd.)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F8E231F-E911-4441-8E63-5A7B1776E81D}"/>
              </a:ext>
            </a:extLst>
          </p:cNvPr>
          <p:cNvSpPr>
            <a:spLocks noGrp="1"/>
          </p:cNvSpPr>
          <p:nvPr>
            <p:ph sz="quarter"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/>
              <a:t>Brute Force Algorithm:</a:t>
            </a:r>
          </a:p>
          <a:p>
            <a:pPr lvl="1"/>
            <a:r>
              <a:rPr lang="en-US" dirty="0"/>
              <a:t>An important, and basic, algorithmic paradigm. </a:t>
            </a:r>
          </a:p>
          <a:p>
            <a:pPr lvl="1"/>
            <a:r>
              <a:rPr lang="en-US" dirty="0"/>
              <a:t>A problem is solved in the most straightforward manner based on the statement of the problem and the definitions of terms. </a:t>
            </a:r>
          </a:p>
          <a:p>
            <a:pPr lvl="1"/>
            <a:r>
              <a:rPr lang="en-US" dirty="0"/>
              <a:t>Designed to solve problems without regard to the computing resources required. </a:t>
            </a:r>
          </a:p>
          <a:p>
            <a:pPr lvl="1"/>
            <a:r>
              <a:rPr lang="en-US" dirty="0"/>
              <a:t>Although often inefficient, are often quite useful. </a:t>
            </a:r>
            <a:br>
              <a:rPr lang="en-US" dirty="0"/>
            </a:br>
            <a:endParaRPr lang="en-US" dirty="0"/>
          </a:p>
          <a:p>
            <a:r>
              <a:rPr lang="en-US" dirty="0"/>
              <a:t>Tractable:</a:t>
            </a:r>
          </a:p>
          <a:p>
            <a:pPr lvl="1"/>
            <a:r>
              <a:rPr lang="en-US" dirty="0"/>
              <a:t>A problem that is solvable using an algorithm with polynomial worst-case complexity, because the expectation is that the algorithm will produce the solution to the problem for reasonably sized input in a relatively short time. </a:t>
            </a:r>
            <a:br>
              <a:rPr lang="en-US" dirty="0"/>
            </a:br>
            <a:endParaRPr lang="en-US" dirty="0"/>
          </a:p>
          <a:p>
            <a:pPr lvl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2286085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35F598-6EFA-404D-B259-109E8D8350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Algorithmic Paradigms (Contd.)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7F8E231F-E911-4441-8E63-5A7B1776E81D}"/>
                  </a:ext>
                </a:extLst>
              </p:cNvPr>
              <p:cNvSpPr>
                <a:spLocks noGrp="1"/>
              </p:cNvSpPr>
              <p:nvPr>
                <p:ph sz="quarter" idx="1"/>
              </p:nvPr>
            </p:nvSpPr>
            <p:spPr/>
            <p:txBody>
              <a:bodyPr>
                <a:normAutofit/>
              </a:bodyPr>
              <a:lstStyle/>
              <a:p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𝑃</m:t>
                    </m:r>
                  </m:oMath>
                </a14:m>
                <a:r>
                  <a:rPr lang="en-US" dirty="0"/>
                  <a:t> vs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𝑁𝑃</m:t>
                    </m:r>
                  </m:oMath>
                </a14:m>
                <a:r>
                  <a:rPr lang="en-US" dirty="0"/>
                  <a:t>:</a:t>
                </a:r>
              </a:p>
              <a:p>
                <a:pPr lvl="1"/>
                <a:r>
                  <a:rPr lang="en-US" dirty="0"/>
                  <a:t>Many solvable problems are believed to have the property that no algorithm with polynomial worst-case time complexity solves them.</a:t>
                </a:r>
              </a:p>
              <a:p>
                <a:pPr lvl="1"/>
                <a:r>
                  <a:rPr lang="en-US" dirty="0"/>
                  <a:t>But problems for which a solution, if known, can be checked in polynomial time are said to belong to the </a:t>
                </a:r>
                <a14:m>
                  <m:oMath xmlns:m="http://schemas.openxmlformats.org/officeDocument/2006/math">
                    <m:r>
                      <a:rPr lang="en-US" b="1" i="1" dirty="0" smtClean="0">
                        <a:latin typeface="Cambria Math" panose="02040503050406030204" pitchFamily="18" charset="0"/>
                      </a:rPr>
                      <m:t>𝒄𝒍𝒂𝒔𝒔</m:t>
                    </m:r>
                    <m:r>
                      <a:rPr lang="en-US" b="1" i="1" dirty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b="1" i="1" dirty="0" smtClean="0">
                        <a:latin typeface="Cambria Math" panose="02040503050406030204" pitchFamily="18" charset="0"/>
                      </a:rPr>
                      <m:t>𝑵𝑷</m:t>
                    </m:r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 </m:t>
                    </m:r>
                    <m:d>
                      <m:dPr>
                        <m:ctrlPr>
                          <a:rPr lang="en-US" b="0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𝑁𝑜𝑛</m:t>
                        </m:r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𝑑𝑒𝑡𝑒𝑟𝑚𝑖𝑛𝑖𝑠𝑡𝑖𝑐</m:t>
                        </m:r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𝑃𝑜𝑙𝑦𝑛𝑜𝑚𝑖𝑎𝑙</m:t>
                        </m:r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𝑡𝑖𝑚𝑒</m:t>
                        </m:r>
                      </m:e>
                    </m:d>
                  </m:oMath>
                </a14:m>
                <a:r>
                  <a:rPr lang="en-US" dirty="0"/>
                  <a:t>.</a:t>
                </a:r>
                <a:endParaRPr lang="en-US" b="1" dirty="0"/>
              </a:p>
              <a:p>
                <a:pPr lvl="1"/>
                <a:r>
                  <a:rPr lang="en-US" dirty="0"/>
                  <a:t>Tractable problems are said to belong to </a:t>
                </a:r>
                <a14:m>
                  <m:oMath xmlns:m="http://schemas.openxmlformats.org/officeDocument/2006/math">
                    <m:r>
                      <a:rPr lang="en-US" b="1" i="1" dirty="0" smtClean="0">
                        <a:latin typeface="Cambria Math" panose="02040503050406030204" pitchFamily="18" charset="0"/>
                      </a:rPr>
                      <m:t>𝒄𝒍𝒂𝒔𝒔</m:t>
                    </m:r>
                    <m:r>
                      <a:rPr lang="en-US" b="1" i="1" dirty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b="1" i="1" dirty="0" smtClean="0">
                        <a:latin typeface="Cambria Math" panose="02040503050406030204" pitchFamily="18" charset="0"/>
                      </a:rPr>
                      <m:t>𝑷</m:t>
                    </m:r>
                  </m:oMath>
                </a14:m>
                <a:r>
                  <a:rPr lang="en-US" dirty="0"/>
                  <a:t>. </a:t>
                </a:r>
              </a:p>
              <a:p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𝑁𝑃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𝑐𝑜𝑚𝑝𝑙𝑒𝑡𝑒</m:t>
                    </m:r>
                  </m:oMath>
                </a14:m>
                <a:r>
                  <a:rPr lang="en-US" dirty="0"/>
                  <a:t>:</a:t>
                </a:r>
              </a:p>
              <a:p>
                <a:pPr lvl="1"/>
                <a:r>
                  <a:rPr lang="en-US" dirty="0"/>
                  <a:t>If any problem can be solved by a polynomial worst-case time algorithm, then all problems in the </a:t>
                </a:r>
                <a14:m>
                  <m:oMath xmlns:m="http://schemas.openxmlformats.org/officeDocument/2006/math">
                    <m:r>
                      <a:rPr lang="en-US" b="1" i="1" dirty="0" smtClean="0">
                        <a:latin typeface="Cambria Math" panose="02040503050406030204" pitchFamily="18" charset="0"/>
                      </a:rPr>
                      <m:t>𝒄𝒍𝒂𝒔𝒔</m:t>
                    </m:r>
                    <m:r>
                      <a:rPr lang="en-US" b="1" i="1" dirty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b="1" i="1" dirty="0" smtClean="0">
                        <a:latin typeface="Cambria Math" panose="02040503050406030204" pitchFamily="18" charset="0"/>
                      </a:rPr>
                      <m:t>𝑵𝑷</m:t>
                    </m:r>
                  </m:oMath>
                </a14:m>
                <a:r>
                  <a:rPr lang="en-US" dirty="0"/>
                  <a:t> can be solved by polynomial worst-case time algorithms.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7F8E231F-E911-4441-8E63-5A7B1776E81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"/>
              </p:nvPr>
            </p:nvSpPr>
            <p:spPr>
              <a:blipFill>
                <a:blip r:embed="rId2"/>
                <a:stretch>
                  <a:fillRect t="-1111" r="-96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36295018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/>
          <p:cNvSpPr>
            <a:spLocks noGrp="1"/>
          </p:cNvSpPr>
          <p:nvPr>
            <p:ph type="title"/>
          </p:nvPr>
        </p:nvSpPr>
        <p:spPr>
          <a:xfrm>
            <a:off x="446856" y="764704"/>
            <a:ext cx="8229600" cy="2808312"/>
          </a:xfrm>
        </p:spPr>
        <p:txBody>
          <a:bodyPr/>
          <a:lstStyle/>
          <a:p>
            <a:pPr algn="ctr"/>
            <a:r>
              <a:rPr lang="en-GB" dirty="0"/>
              <a:t>THE END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53973928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Origin">
  <a:themeElements>
    <a:clrScheme name="Origin">
      <a:dk1>
        <a:sysClr val="windowText" lastClr="000000"/>
      </a:dk1>
      <a:lt1>
        <a:sysClr val="window" lastClr="FFFFFF"/>
      </a:lt1>
      <a:dk2>
        <a:srgbClr val="464653"/>
      </a:dk2>
      <a:lt2>
        <a:srgbClr val="DDE9EC"/>
      </a:lt2>
      <a:accent1>
        <a:srgbClr val="727CA3"/>
      </a:accent1>
      <a:accent2>
        <a:srgbClr val="9FB8CD"/>
      </a:accent2>
      <a:accent3>
        <a:srgbClr val="D2DA7A"/>
      </a:accent3>
      <a:accent4>
        <a:srgbClr val="FADA7A"/>
      </a:accent4>
      <a:accent5>
        <a:srgbClr val="B88472"/>
      </a:accent5>
      <a:accent6>
        <a:srgbClr val="8E736A"/>
      </a:accent6>
      <a:hlink>
        <a:srgbClr val="B292CA"/>
      </a:hlink>
      <a:folHlink>
        <a:srgbClr val="6B5680"/>
      </a:folHlink>
    </a:clrScheme>
    <a:fontScheme name="Origin">
      <a:majorFont>
        <a:latin typeface="Bookman Old Style"/>
        <a:ea typeface=""/>
        <a:cs typeface=""/>
        <a:font script="Grek" typeface="Cambria"/>
        <a:font script="Cyrl" typeface="Cambria"/>
        <a:font script="Jpan" typeface="HG明朝E"/>
        <a:font script="Hang" typeface="돋움"/>
        <a:font script="Hans" typeface="宋体"/>
        <a:font script="Hant" typeface="標楷體"/>
        <a:font script="Arab" typeface="Times New Roman"/>
        <a:font script="Hebr" typeface="Times New Roman"/>
        <a:font script="Thai" typeface="Browalli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Gill Sans MT"/>
        <a:ea typeface=""/>
        <a:cs typeface=""/>
        <a:font script="Grek" typeface="Calibri"/>
        <a:font script="Cyrl" typeface="Calibri"/>
        <a:font script="Jpan" typeface="ＭＳ Ｐゴシック"/>
        <a:font script="Hang" typeface="맑은 고딕"/>
        <a:font script="Hans" typeface="华文新魏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rigin">
      <a:fillStyleLst>
        <a:solidFill>
          <a:schemeClr val="phClr"/>
        </a:solidFill>
        <a:gradFill rotWithShape="1">
          <a:gsLst>
            <a:gs pos="0">
              <a:schemeClr val="phClr">
                <a:tint val="45000"/>
                <a:satMod val="200000"/>
              </a:schemeClr>
            </a:gs>
            <a:gs pos="30000">
              <a:schemeClr val="phClr">
                <a:tint val="61000"/>
                <a:satMod val="200000"/>
              </a:schemeClr>
            </a:gs>
            <a:gs pos="45000">
              <a:schemeClr val="phClr">
                <a:tint val="66000"/>
                <a:satMod val="200000"/>
              </a:schemeClr>
            </a:gs>
            <a:gs pos="55000">
              <a:schemeClr val="phClr">
                <a:tint val="66000"/>
                <a:satMod val="200000"/>
              </a:schemeClr>
            </a:gs>
            <a:gs pos="73000">
              <a:schemeClr val="phClr">
                <a:tint val="61000"/>
                <a:satMod val="200000"/>
              </a:schemeClr>
            </a:gs>
            <a:gs pos="100000">
              <a:schemeClr val="phClr">
                <a:tint val="45000"/>
                <a:satMod val="200000"/>
              </a:schemeClr>
            </a:gs>
          </a:gsLst>
          <a:lin ang="950000" scaled="1"/>
        </a:gradFill>
        <a:gradFill rotWithShape="1">
          <a:gsLst>
            <a:gs pos="0">
              <a:schemeClr val="phClr">
                <a:shade val="63000"/>
              </a:schemeClr>
            </a:gs>
            <a:gs pos="30000">
              <a:schemeClr val="phClr">
                <a:shade val="90000"/>
                <a:satMod val="110000"/>
              </a:schemeClr>
            </a:gs>
            <a:gs pos="45000">
              <a:schemeClr val="phClr">
                <a:shade val="100000"/>
                <a:satMod val="118000"/>
              </a:schemeClr>
            </a:gs>
            <a:gs pos="55000">
              <a:schemeClr val="phClr">
                <a:shade val="100000"/>
                <a:satMod val="118000"/>
              </a:schemeClr>
            </a:gs>
            <a:gs pos="73000">
              <a:schemeClr val="phClr">
                <a:shade val="90000"/>
                <a:satMod val="110000"/>
              </a:schemeClr>
            </a:gs>
            <a:gs pos="100000">
              <a:schemeClr val="phClr">
                <a:shade val="63000"/>
              </a:schemeClr>
            </a:gs>
          </a:gsLst>
          <a:lin ang="950000" scaled="1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25400" dir="5400000" rotWithShape="0">
              <a:srgbClr val="000000">
                <a:alpha val="40000"/>
              </a:srgbClr>
            </a:outerShdw>
          </a:effectLst>
        </a:effectStyle>
        <a:effectStyle>
          <a:effectLst>
            <a:outerShdw blurRad="50800" dist="43000" dir="5400000" rotWithShape="0">
              <a:srgbClr val="000000">
                <a:alpha val="40000"/>
              </a:srgbClr>
            </a:outerShdw>
          </a:effectLst>
          <a:scene3d>
            <a:camera prst="orthographicFront" fov="0">
              <a:rot lat="0" lon="0" rev="0"/>
            </a:camera>
            <a:lightRig rig="balanced" dir="t">
              <a:rot lat="0" lon="0" rev="0"/>
            </a:lightRig>
          </a:scene3d>
          <a:sp3d prstMaterial="matte">
            <a:bevelT w="0" h="0"/>
            <a:contourClr>
              <a:schemeClr val="phClr">
                <a:tint val="100000"/>
                <a:shade val="100000"/>
                <a:hueMod val="100000"/>
                <a:satMod val="100000"/>
              </a:schemeClr>
            </a:contourClr>
          </a:sp3d>
        </a:effectStyle>
        <a:effectStyle>
          <a:effectLst>
            <a:outerShdw blurRad="50800" dist="25400" dir="5400000" rotWithShape="0">
              <a:srgbClr val="000000">
                <a:alpha val="50000"/>
              </a:srgbClr>
            </a:outerShdw>
          </a:effectLst>
          <a:scene3d>
            <a:camera prst="orthographicFront" fov="0">
              <a:rot lat="0" lon="0" rev="0"/>
            </a:camera>
            <a:lightRig rig="soft" dir="t">
              <a:rot lat="0" lon="0" rev="2700000"/>
            </a:lightRig>
          </a:scene3d>
          <a:sp3d prstMaterial="matte">
            <a:bevelT w="50800" h="50800"/>
            <a:contourClr>
              <a:schemeClr val="phClr"/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shade val="60000"/>
                <a:satMod val="300000"/>
              </a:schemeClr>
            </a:gs>
            <a:gs pos="30000">
              <a:schemeClr val="phClr">
                <a:shade val="80000"/>
                <a:satMod val="230000"/>
              </a:schemeClr>
            </a:gs>
            <a:gs pos="100000">
              <a:schemeClr val="phClr">
                <a:tint val="97000"/>
                <a:satMod val="220000"/>
              </a:schemeClr>
            </a:gs>
          </a:gsLst>
          <a:lin ang="16200000" scaled="1"/>
        </a:gradFill>
        <a:blipFill>
          <a:blip xmlns:r="http://schemas.openxmlformats.org/officeDocument/2006/relationships" r:embed="rId1">
            <a:duotone>
              <a:schemeClr val="phClr">
                <a:shade val="6000"/>
                <a:satMod val="120000"/>
              </a:schemeClr>
              <a:schemeClr val="phClr">
                <a:tint val="90000"/>
              </a:schemeClr>
            </a:duotone>
          </a:blip>
          <a:tile tx="0" ty="0" sx="35000" sy="40000" flip="x" algn="tl"/>
        </a:blip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Origin</Template>
  <TotalTime>2543</TotalTime>
  <Words>1211</Words>
  <Application>Microsoft Office PowerPoint</Application>
  <PresentationFormat>On-screen Show (4:3)</PresentationFormat>
  <Paragraphs>120</Paragraphs>
  <Slides>17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4" baseType="lpstr">
      <vt:lpstr>Arial</vt:lpstr>
      <vt:lpstr>Bookman Old Style</vt:lpstr>
      <vt:lpstr>Cambria Math</vt:lpstr>
      <vt:lpstr>Gill Sans MT</vt:lpstr>
      <vt:lpstr>Wingdings</vt:lpstr>
      <vt:lpstr>Wingdings 3</vt:lpstr>
      <vt:lpstr>Origin</vt:lpstr>
      <vt:lpstr>Chapter 3  Algorithms</vt:lpstr>
      <vt:lpstr>Complexity of Algorithms</vt:lpstr>
      <vt:lpstr>Complexity of Algorithms (Contd.)</vt:lpstr>
      <vt:lpstr>Time Complexity</vt:lpstr>
      <vt:lpstr>Time Complexity (Contd.)</vt:lpstr>
      <vt:lpstr>Time Complexity of Algorithms</vt:lpstr>
      <vt:lpstr>Time Complexity of Algorithms (Contd.)</vt:lpstr>
      <vt:lpstr>Time Complexity of Algorithms (Contd.)</vt:lpstr>
      <vt:lpstr>Time Complexity of Algorithms (Contd.)</vt:lpstr>
      <vt:lpstr>Time Complexity of Algorithms (Contd.)</vt:lpstr>
      <vt:lpstr>Time Complexity of Algorithms (Contd.)</vt:lpstr>
      <vt:lpstr>Time Complexity of Algorithms (Contd.)</vt:lpstr>
      <vt:lpstr>Time Complexity of Algorithms (Contd.)</vt:lpstr>
      <vt:lpstr>Algorithmic Paradigms </vt:lpstr>
      <vt:lpstr>Algorithmic Paradigms (Contd.)</vt:lpstr>
      <vt:lpstr>Algorithmic Paradigms (Contd.)</vt:lpstr>
      <vt:lpstr>THE END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Chapter 2  Basic Structures: Sets, Functions, Sequences, Sums, and Matrices</dc:title>
  <dc:creator>Sunef</dc:creator>
  <cp:lastModifiedBy>ASUS</cp:lastModifiedBy>
  <cp:revision>104</cp:revision>
  <cp:lastPrinted>2020-10-25T20:17:08Z</cp:lastPrinted>
  <dcterms:created xsi:type="dcterms:W3CDTF">2006-08-16T00:00:00Z</dcterms:created>
  <dcterms:modified xsi:type="dcterms:W3CDTF">2020-11-13T08:22:54Z</dcterms:modified>
</cp:coreProperties>
</file>