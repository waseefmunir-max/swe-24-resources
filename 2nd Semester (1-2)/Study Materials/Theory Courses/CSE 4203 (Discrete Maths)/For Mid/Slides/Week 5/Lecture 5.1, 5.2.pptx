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3" r:id="rId14"/>
    <p:sldId id="294" r:id="rId15"/>
    <p:sldId id="295" r:id="rId16"/>
    <p:sldId id="296" r:id="rId17"/>
    <p:sldId id="292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280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2[2.3]" id="{BCA1E553-9914-40C8-8BDE-FA02AD59CB75}">
          <p14:sldIdLst>
            <p14:sldId id="256"/>
          </p14:sldIdLst>
        </p14:section>
        <p14:section name="Functions" id="{71634FA8-1597-4383-A69C-085F2563601B}">
          <p14:sldIdLst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One-to-One Functions/Injunctions" id="{BFF2B7FE-79E3-4DE8-AE13-432B9F57AFE0}">
          <p14:sldIdLst>
            <p14:sldId id="287"/>
            <p14:sldId id="288"/>
            <p14:sldId id="289"/>
            <p14:sldId id="290"/>
          </p14:sldIdLst>
        </p14:section>
        <p14:section name="Onto Functions/Surjections" id="{170B716D-83AD-4308-BF65-22DDDCA66DE4}">
          <p14:sldIdLst>
            <p14:sldId id="291"/>
            <p14:sldId id="293"/>
            <p14:sldId id="294"/>
          </p14:sldIdLst>
        </p14:section>
        <p14:section name="One-to-One Correspondence/Bijections" id="{3C6CF6D1-BDED-404A-957A-899D3760237A}">
          <p14:sldIdLst>
            <p14:sldId id="295"/>
            <p14:sldId id="296"/>
          </p14:sldIdLst>
        </p14:section>
        <p14:section name="Comparison" id="{DE242E04-D4BF-47FC-B9A8-D6F5F08CD3CB}">
          <p14:sldIdLst>
            <p14:sldId id="292"/>
          </p14:sldIdLst>
        </p14:section>
        <p14:section name="Inverse Functions" id="{F04B6E7D-8849-443B-B057-401C23975F53}">
          <p14:sldIdLst>
            <p14:sldId id="297"/>
            <p14:sldId id="298"/>
            <p14:sldId id="299"/>
            <p14:sldId id="300"/>
          </p14:sldIdLst>
        </p14:section>
        <p14:section name="Composition of Functions" id="{1B0FD097-505F-4B20-939E-26108834E1F7}">
          <p14:sldIdLst>
            <p14:sldId id="301"/>
            <p14:sldId id="302"/>
            <p14:sldId id="303"/>
          </p14:sldIdLst>
        </p14:section>
        <p14:section name="Floor &amp; Ceiling Functions" id="{0229B906-D819-4FC6-B80A-6CFBA89C462B}">
          <p14:sldIdLst>
            <p14:sldId id="304"/>
            <p14:sldId id="305"/>
            <p14:sldId id="306"/>
            <p14:sldId id="307"/>
            <p14:sldId id="308"/>
          </p14:sldIdLst>
        </p14:section>
        <p14:section name="Partial Fractions" id="{CB515EC2-EE60-4580-9E27-073352451A59}">
          <p14:sldIdLst>
            <p14:sldId id="309"/>
            <p14:sldId id="28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88" autoAdjust="0"/>
    <p:restoredTop sz="94660"/>
  </p:normalViewPr>
  <p:slideViewPr>
    <p:cSldViewPr>
      <p:cViewPr>
        <p:scale>
          <a:sx n="75" d="100"/>
          <a:sy n="75" d="100"/>
        </p:scale>
        <p:origin x="-112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14/09/2018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14/09/2018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14/09/2018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14/09/2018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14/09/2018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14/09/2018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14/09/2018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14/09/2018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14/09/2018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14/09/2018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14/09/2018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14/09/2018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ctrTitle"/>
          </p:nvPr>
        </p:nvSpPr>
        <p:spPr>
          <a:xfrm>
            <a:off x="1043608" y="3577208"/>
            <a:ext cx="7177608" cy="13757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u="sng" dirty="0" smtClean="0"/>
              <a:t>Chapter 2</a:t>
            </a:r>
            <a:r>
              <a:rPr lang="en-GB" dirty="0" smtClean="0"/>
              <a:t> </a:t>
            </a:r>
            <a:br>
              <a:rPr lang="en-GB" dirty="0" smtClean="0"/>
            </a:br>
            <a:r>
              <a:rPr lang="en-US" b="1" dirty="0" smtClean="0"/>
              <a:t>Basic </a:t>
            </a:r>
            <a:r>
              <a:rPr lang="en-US" b="1" dirty="0"/>
              <a:t>Structures: Sets, Functions,</a:t>
            </a:r>
            <a:br>
              <a:rPr lang="en-US" b="1" dirty="0"/>
            </a:br>
            <a:r>
              <a:rPr lang="en-US" b="1" dirty="0"/>
              <a:t>Sequences, Sums, and Matrices</a:t>
            </a:r>
            <a:r>
              <a:rPr lang="en-GB" b="1" dirty="0" smtClean="0"/>
              <a:t> </a:t>
            </a:r>
            <a:endParaRPr lang="en-US" b="1" dirty="0"/>
          </a:p>
        </p:txBody>
      </p:sp>
      <p:sp>
        <p:nvSpPr>
          <p:cNvPr id="7" name="Subtitle 4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>
            <a:normAutofit/>
          </a:bodyPr>
          <a:lstStyle/>
          <a:p>
            <a:r>
              <a:rPr lang="en-GB" dirty="0" smtClean="0"/>
              <a:t>Section </a:t>
            </a:r>
            <a:r>
              <a:rPr lang="en-GB" dirty="0" smtClean="0"/>
              <a:t>2.3 </a:t>
            </a:r>
            <a:r>
              <a:rPr lang="en-GB" dirty="0" smtClean="0"/>
              <a:t>: Functions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63702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mtClean="0"/>
              <a:t>Functions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 </a:t>
                </a:r>
                <a:r>
                  <a:rPr lang="en-US" dirty="0" smtClean="0"/>
                  <a:t>A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 smtClean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 smtClean="0"/>
                  <a:t> is an assignment of exactly one element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 smtClean="0"/>
                  <a:t> to each element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 smtClean="0"/>
                  <a:t>. </a:t>
                </a:r>
              </a:p>
              <a:p>
                <a:r>
                  <a:rPr lang="en-US" dirty="0" smtClean="0"/>
                  <a:t>We write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) =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dirty="0" smtClean="0"/>
                  <a:t> is the unique element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 smtClean="0"/>
                  <a:t> assigned by the function f to the element a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.</m:t>
                    </m:r>
                  </m:oMath>
                </a14:m>
                <a:endParaRPr lang="en-US" dirty="0" smtClean="0"/>
              </a:p>
              <a:p>
                <a:r>
                  <a:rPr lang="en-US" dirty="0" err="1" smtClean="0"/>
                  <a:t>Iff</a:t>
                </a:r>
                <a:r>
                  <a:rPr lang="en-US" dirty="0" smtClean="0"/>
                  <a:t> is a function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𝑡𝑜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 smtClean="0"/>
                  <a:t>, we write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: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→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766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IUT\Summer Semesters\CSE 4203\Contents\SLecture 9\Cap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6097" y="1828800"/>
            <a:ext cx="4485503" cy="275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 smtClean="0"/>
              <a:t>Functions (Contd.)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is a function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smtClean="0"/>
                  <a:t>then,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the domain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is the codomain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maps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) =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smtClean="0"/>
                  <a:t>then,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the image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a </a:t>
                </a:r>
                <a:r>
                  <a:rPr lang="en-US" dirty="0" smtClean="0"/>
                  <a:t>pre-image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 smtClean="0"/>
                  <a:t>The range/image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the set of all images of elements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593" t="-1111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609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 smtClean="0"/>
              <a:t> </a:t>
            </a:r>
            <a:r>
              <a:rPr lang="en-GB" dirty="0"/>
              <a:t>Functions (Contd.)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Example 1:</a:t>
                </a:r>
              </a:p>
              <a:p>
                <a:pPr lvl="1"/>
                <a:r>
                  <a:rPr lang="en-US" dirty="0"/>
                  <a:t>Suppose that each student in a discrete mathematics class is assigned a letter grade from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𝐶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𝐷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𝐹</m:t>
                    </m:r>
                    <m:r>
                      <a:rPr lang="en-US" i="1" dirty="0" smtClean="0">
                        <a:latin typeface="Cambria Math"/>
                      </a:rPr>
                      <m:t>}. </m:t>
                    </m:r>
                  </m:oMath>
                </a14:m>
                <a:r>
                  <a:rPr lang="en-US" dirty="0"/>
                  <a:t>And suppose that the grades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𝐴𝑑𝑎𝑚𝑠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𝐶h𝑜𝑢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𝐺𝑜𝑜𝑑𝑓𝑟𝑖𝑒𝑛𝑑</m:t>
                    </m:r>
                    <m:r>
                      <a:rPr lang="en-US" i="1" dirty="0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𝑅𝑜𝑑𝑟𝑖𝑔𝑢𝑒𝑧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𝐹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𝑆𝑡𝑒𝑣𝑒𝑛𝑠</m:t>
                    </m:r>
                    <m:r>
                      <a:rPr lang="en-US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 </a:t>
                </a:r>
              </a:p>
              <a:p>
                <a:pPr lvl="1"/>
                <a:r>
                  <a:rPr lang="en-US" dirty="0" smtClean="0"/>
                  <a:t>What </a:t>
                </a:r>
                <a:r>
                  <a:rPr lang="en-US" dirty="0"/>
                  <a:t>are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𝑑𝑜𝑚𝑎𝑖𝑛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𝑐𝑜𝑑𝑜𝑚𝑎𝑖𝑛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𝑟𝑎𝑛𝑔𝑒</m:t>
                    </m:r>
                  </m:oMath>
                </a14:m>
                <a:r>
                  <a:rPr lang="en-US" dirty="0"/>
                  <a:t> of the function that </a:t>
                </a:r>
                <a:r>
                  <a:rPr lang="en-US" dirty="0" smtClean="0"/>
                  <a:t>assigns </a:t>
                </a:r>
                <a:r>
                  <a:rPr lang="en-US" dirty="0"/>
                  <a:t>grades to </a:t>
                </a:r>
                <a:r>
                  <a:rPr lang="en-US" dirty="0" smtClean="0"/>
                  <a:t>students described </a:t>
                </a:r>
                <a:r>
                  <a:rPr lang="en-US" dirty="0"/>
                  <a:t>in the ﬁrst paragraph of the introduction of this section?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063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IUT\Summer Semesters\CSE 4203\Contents\SLecture 9\Cap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95400"/>
            <a:ext cx="44958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Functions (Contd.)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 Solution:</a:t>
                </a:r>
              </a:p>
              <a:p>
                <a:pPr lvl="1"/>
                <a:r>
                  <a:rPr lang="en-GB" dirty="0" smtClean="0"/>
                  <a:t>Let,</a:t>
                </a:r>
              </a:p>
              <a:p>
                <a:pPr marL="594360" lvl="2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en-US" dirty="0" smtClean="0"/>
                  <a:t> be </a:t>
                </a:r>
                <a:r>
                  <a:rPr lang="en-US" dirty="0"/>
                  <a:t>the function that assigns </a:t>
                </a:r>
                <a:r>
                  <a:rPr lang="en-US" dirty="0" smtClean="0"/>
                  <a:t>a</a:t>
                </a:r>
              </a:p>
              <a:p>
                <a:pPr marL="594360" lvl="2" indent="0">
                  <a:buNone/>
                </a:pPr>
                <a:r>
                  <a:rPr lang="en-US" dirty="0" smtClean="0"/>
                  <a:t>grade </a:t>
                </a:r>
                <a:r>
                  <a:rPr lang="en-US" dirty="0"/>
                  <a:t>to a student in our discrete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mathematics </a:t>
                </a:r>
                <a:r>
                  <a:rPr lang="en-US" dirty="0"/>
                  <a:t>class.</a:t>
                </a:r>
              </a:p>
              <a:p>
                <a:pPr marL="594360" lvl="2" indent="0">
                  <a:buNone/>
                </a:pPr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𝐴𝑑𝑎𝑚𝑠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 smtClean="0"/>
                  <a:t>.</a:t>
                </a:r>
                <a:r>
                  <a:rPr lang="en-US" dirty="0"/>
                  <a:t>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The </a:t>
                </a:r>
                <a:r>
                  <a:rPr lang="en-US" dirty="0"/>
                  <a:t>domain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en-US" dirty="0"/>
                  <a:t> is the set {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𝐴𝑑𝑎𝑚𝑠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𝐶h𝑜𝑢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err="1" smtClean="0">
                        <a:latin typeface="Cambria Math"/>
                      </a:rPr>
                      <m:t>𝐺𝑜𝑜𝑑𝑓𝑟𝑖𝑒𝑛𝑑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𝑅𝑜𝑑𝑟𝑖𝑔𝑢𝑒𝑧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𝑆𝑡𝑒𝑣𝑒𝑛𝑠</m:t>
                    </m:r>
                    <m:r>
                      <a:rPr lang="en-US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The </a:t>
                </a:r>
                <a:r>
                  <a:rPr lang="en-US" dirty="0"/>
                  <a:t>codomain is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𝐶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𝐷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𝐹</m:t>
                    </m:r>
                    <m:r>
                      <a:rPr lang="en-US" i="1" dirty="0" smtClean="0">
                        <a:latin typeface="Cambria Math"/>
                      </a:rPr>
                      <m:t>}. </m:t>
                    </m:r>
                  </m:oMath>
                </a14:m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The </a:t>
                </a:r>
                <a:r>
                  <a:rPr lang="en-US" dirty="0"/>
                  <a:t>range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dirty="0" smtClean="0"/>
                  <a:t>set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𝐶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𝐹</m:t>
                    </m:r>
                    <m:r>
                      <a:rPr lang="en-US" i="1" dirty="0">
                        <a:latin typeface="Cambria Math"/>
                      </a:rPr>
                      <m:t>}, </m:t>
                    </m:r>
                  </m:oMath>
                </a14:m>
                <a:r>
                  <a:rPr lang="en-US" dirty="0"/>
                  <a:t>because each grade except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dirty="0"/>
                  <a:t> is assigned to some student.</a:t>
                </a:r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66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 smtClean="0"/>
              <a:t> Functions(Contd.)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en-US" dirty="0" smtClean="0"/>
                  <a:t> be </a:t>
                </a:r>
                <a:r>
                  <a:rPr lang="en-US" dirty="0"/>
                  <a:t>functions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. </a:t>
                </a:r>
                <a:endParaRPr lang="en-US" dirty="0" smtClean="0"/>
              </a:p>
              <a:p>
                <a:r>
                  <a:rPr lang="en-US" dirty="0" smtClean="0"/>
                  <a:t>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1+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2 </m:t>
                    </m:r>
                  </m:oMath>
                </a14:m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en-US" dirty="0" smtClean="0"/>
                  <a:t> are </a:t>
                </a:r>
                <a:r>
                  <a:rPr lang="en-US" dirty="0"/>
                  <a:t>also functions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 smtClean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 deﬁned 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∈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by 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1+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2)(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1(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+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2(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2)(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1(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2(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).</m:t>
                    </m:r>
                    <m:r>
                      <a:rPr lang="en-GB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652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 Functions(Contd.)</a:t>
            </a:r>
            <a:r>
              <a:rPr lang="en-GB" dirty="0" smtClean="0"/>
              <a:t>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 smtClean="0"/>
                  <a:t> Example 2:</a:t>
                </a:r>
              </a:p>
              <a:p>
                <a:pPr lvl="1"/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en-US" dirty="0" smtClean="0"/>
                  <a:t> be </a:t>
                </a:r>
                <a:r>
                  <a:rPr lang="en-US" dirty="0"/>
                  <a:t>functions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1(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2(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 − </m:t>
                    </m:r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. </a:t>
                </a:r>
                <a:r>
                  <a:rPr lang="en-US" dirty="0"/>
                  <a:t>What </a:t>
                </a:r>
                <a:r>
                  <a:rPr lang="en-US" dirty="0" smtClean="0"/>
                  <a:t>are the </a:t>
                </a:r>
                <a:r>
                  <a:rPr lang="en-US" dirty="0"/>
                  <a:t>functions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1+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2 </m:t>
                    </m:r>
                  </m:oMath>
                </a14:m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2?</m:t>
                    </m:r>
                  </m:oMath>
                </a14:m>
                <a:endParaRPr lang="en-US" dirty="0" smtClean="0"/>
              </a:p>
              <a:p>
                <a:r>
                  <a:rPr lang="en-GB" dirty="0" smtClean="0"/>
                  <a:t>Solution : </a:t>
                </a:r>
              </a:p>
              <a:p>
                <a:pPr marL="594360" lvl="2" indent="0">
                  <a:buNone/>
                </a:pPr>
                <a:r>
                  <a:rPr lang="en-US" dirty="0"/>
                  <a:t>From the deﬁnition of the sum and product of functions, it follows </a:t>
                </a:r>
                <a:r>
                  <a:rPr lang="en-US" dirty="0" smtClean="0"/>
                  <a:t>that</a:t>
                </a: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(</m:t>
                      </m:r>
                      <m:r>
                        <a:rPr lang="en-US" i="1" dirty="0" smtClean="0">
                          <a:latin typeface="Cambria Math"/>
                        </a:rPr>
                        <m:t>𝑓</m:t>
                      </m:r>
                      <m:r>
                        <a:rPr lang="en-US" i="1" dirty="0" smtClean="0">
                          <a:latin typeface="Cambria Math"/>
                        </a:rPr>
                        <m:t>1+ </m:t>
                      </m:r>
                      <m:r>
                        <a:rPr lang="en-US" i="1" dirty="0" smtClean="0">
                          <a:latin typeface="Cambria Math"/>
                        </a:rPr>
                        <m:t>𝑓</m:t>
                      </m:r>
                      <m:r>
                        <a:rPr lang="en-US" i="1" dirty="0" smtClean="0">
                          <a:latin typeface="Cambria Math"/>
                        </a:rPr>
                        <m:t>2)(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>
                          <a:latin typeface="Cambria Math"/>
                        </a:rPr>
                        <m:t>) = </m:t>
                      </m:r>
                      <m:r>
                        <a:rPr lang="en-US" i="1" dirty="0" smtClean="0">
                          <a:latin typeface="Cambria Math"/>
                        </a:rPr>
                        <m:t>𝑓</m:t>
                      </m:r>
                      <m:r>
                        <a:rPr lang="en-US" i="1" dirty="0" smtClean="0">
                          <a:latin typeface="Cambria Math"/>
                        </a:rPr>
                        <m:t>1(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>
                          <a:latin typeface="Cambria Math"/>
                        </a:rPr>
                        <m:t>) + </m:t>
                      </m:r>
                      <m:r>
                        <a:rPr lang="en-US" i="1" dirty="0" smtClean="0">
                          <a:latin typeface="Cambria Math"/>
                        </a:rPr>
                        <m:t>𝑓</m:t>
                      </m:r>
                      <m:r>
                        <a:rPr lang="en-US" i="1" dirty="0" smtClean="0">
                          <a:latin typeface="Cambria Math"/>
                        </a:rPr>
                        <m:t>2(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>
                          <a:latin typeface="Cambria Math"/>
                        </a:rPr>
                        <m:t>) = </m:t>
                      </m:r>
                      <m:sSup>
                        <m:sSupPr>
                          <m:ctrlPr>
                            <a:rPr lang="en-GB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 smtClean="0">
                          <a:latin typeface="Cambria Math"/>
                        </a:rPr>
                        <m:t>+ </m:t>
                      </m:r>
                      <m:r>
                        <a:rPr lang="en-US" i="1" dirty="0">
                          <a:latin typeface="Cambria Math"/>
                        </a:rPr>
                        <m:t>(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>
                          <a:latin typeface="Cambria Math"/>
                        </a:rPr>
                        <m:t> − </m:t>
                      </m:r>
                      <m:sSup>
                        <m:sSupPr>
                          <m:ctrlPr>
                            <a:rPr lang="en-GB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 smtClean="0">
                          <a:latin typeface="Cambria Math"/>
                        </a:rPr>
                        <m:t>) </m:t>
                      </m:r>
                      <m:r>
                        <a:rPr lang="en-US" i="1" dirty="0">
                          <a:latin typeface="Cambria Math"/>
                        </a:rPr>
                        <m:t>= 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/>
                  <a:t>a</a:t>
                </a:r>
                <a:r>
                  <a:rPr lang="en-US" dirty="0" smtClean="0"/>
                  <a:t>nd</a:t>
                </a: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(</m:t>
                      </m:r>
                      <m:r>
                        <a:rPr lang="en-US" i="1" dirty="0" smtClean="0">
                          <a:latin typeface="Cambria Math"/>
                        </a:rPr>
                        <m:t>𝑓</m:t>
                      </m:r>
                      <m:r>
                        <a:rPr lang="en-US" i="1" dirty="0" smtClean="0">
                          <a:latin typeface="Cambria Math"/>
                        </a:rPr>
                        <m:t>1</m:t>
                      </m:r>
                      <m:r>
                        <a:rPr lang="en-US" i="1" dirty="0" smtClean="0">
                          <a:latin typeface="Cambria Math"/>
                        </a:rPr>
                        <m:t>𝑓</m:t>
                      </m:r>
                      <m:r>
                        <a:rPr lang="en-US" i="1" dirty="0" smtClean="0">
                          <a:latin typeface="Cambria Math"/>
                        </a:rPr>
                        <m:t>2)(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>
                          <a:latin typeface="Cambria Math"/>
                        </a:rPr>
                        <m:t>) = </m:t>
                      </m:r>
                      <m:sSup>
                        <m:sSupPr>
                          <m:ctrlPr>
                            <a:rPr lang="en-GB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 smtClean="0">
                          <a:latin typeface="Cambria Math"/>
                        </a:rPr>
                        <m:t>(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 − </m:t>
                      </m:r>
                      <m:sSup>
                        <m:sSupPr>
                          <m:ctrlPr>
                            <a:rPr lang="en-GB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 smtClean="0">
                          <a:latin typeface="Cambria Math"/>
                        </a:rPr>
                        <m:t>) </m:t>
                      </m:r>
                      <m:r>
                        <a:rPr lang="en-US" i="1" dirty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GB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i="1" dirty="0" smtClean="0">
                          <a:latin typeface="Cambria Math"/>
                        </a:rPr>
                        <m:t>− </m:t>
                      </m:r>
                      <m:sSup>
                        <m:sSupPr>
                          <m:ctrlPr>
                            <a:rPr lang="en-GB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i="1" dirty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is a function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, the image of a subset </a:t>
                </a:r>
                <a:r>
                  <a:rPr lang="en-US" dirty="0" smtClean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can also be deﬁned.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450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IUT\Summer Semesters\CSE 4203\Contents\SLecture 9\Cap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199" y="3581400"/>
            <a:ext cx="3363335" cy="253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 smtClean="0"/>
              <a:t>One-to-One Functions/Injunctions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 </a:t>
                </a:r>
                <a:r>
                  <a:rPr lang="en-US" dirty="0" smtClean="0"/>
                  <a:t>A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is said to be one-to-one, or an injunction, if and only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) =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 smtClean="0"/>
                  <a:t>implies </a:t>
                </a:r>
                <a:r>
                  <a:rPr lang="en-US" dirty="0" smtClean="0"/>
                  <a:t>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= </m:t>
                    </m:r>
                    <m:r>
                      <a:rPr lang="en-US" i="1" dirty="0">
                        <a:latin typeface="Cambria Math"/>
                      </a:rPr>
                      <m:t>𝑏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dirty="0"/>
                  <a:t> in the domain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.  </m:t>
                    </m:r>
                  </m:oMath>
                </a14:m>
                <a:r>
                  <a:rPr lang="en-US" dirty="0" smtClean="0"/>
                  <a:t>A </a:t>
                </a:r>
                <a:r>
                  <a:rPr lang="en-US" dirty="0"/>
                  <a:t>function is said to be injective if it is one-to-one</a:t>
                </a:r>
                <a:r>
                  <a:rPr lang="en-US" dirty="0" smtClean="0"/>
                  <a:t>.</a:t>
                </a:r>
              </a:p>
              <a:p>
                <a:r>
                  <a:rPr lang="en-US" dirty="0"/>
                  <a:t>Note that a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 smtClean="0"/>
                  <a:t>also one-to-one </a:t>
                </a:r>
                <a:r>
                  <a:rPr lang="en-US" dirty="0"/>
                  <a:t>if and only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) ≠</m:t>
                    </m:r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𝑏</m:t>
                    </m:r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whenever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≠ </m:t>
                    </m:r>
                    <m:r>
                      <a:rPr lang="en-US" i="1" dirty="0">
                        <a:latin typeface="Cambria Math"/>
                      </a:rPr>
                      <m:t>𝑏</m:t>
                    </m:r>
                    <m:r>
                      <a:rPr lang="en-US" i="1" dirty="0">
                        <a:latin typeface="Cambria Math"/>
                      </a:rPr>
                      <m:t>.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593" t="-1111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739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>One-to-One Functions</a:t>
            </a:r>
            <a:r>
              <a:rPr lang="en-GB" dirty="0"/>
              <a:t>/Injunctions </a:t>
            </a:r>
            <a:r>
              <a:rPr lang="en-GB" dirty="0" smtClean="0"/>
              <a:t>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Example 3:</a:t>
                </a:r>
              </a:p>
              <a:p>
                <a:pPr lvl="1"/>
                <a:r>
                  <a:rPr lang="en-US" dirty="0"/>
                  <a:t>Determine whether the function f from {a, b, c, d}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3, 4, 5} </m:t>
                    </m:r>
                    <m:r>
                      <a:rPr lang="en-US" i="1" dirty="0" smtClean="0">
                        <a:latin typeface="Cambria Math"/>
                      </a:rPr>
                      <m:t>𝑤𝑖𝑡h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) = 4,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) = 5,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>
                        <a:latin typeface="Cambria Math"/>
                      </a:rPr>
                      <m:t>) = 1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𝑑</m:t>
                    </m:r>
                    <m:r>
                      <a:rPr lang="en-US" i="1" dirty="0" smtClean="0">
                        <a:latin typeface="Cambria Math"/>
                      </a:rPr>
                      <m:t>) = 3 </m:t>
                    </m:r>
                  </m:oMath>
                </a14:m>
                <a:r>
                  <a:rPr lang="en-US" dirty="0"/>
                  <a:t>is one-to-one.</a:t>
                </a:r>
                <a:r>
                  <a:rPr lang="en-GB" dirty="0" smtClean="0"/>
                  <a:t> </a:t>
                </a:r>
              </a:p>
              <a:p>
                <a:pPr lvl="1"/>
                <a:endParaRPr lang="en-GB" dirty="0"/>
              </a:p>
              <a:p>
                <a:r>
                  <a:rPr lang="en-GB" dirty="0" smtClean="0"/>
                  <a:t>Solution :</a:t>
                </a:r>
              </a:p>
              <a:p>
                <a:pPr marL="594360" lvl="2" indent="0">
                  <a:buNone/>
                </a:pPr>
                <a:r>
                  <a:rPr lang="en-US" dirty="0"/>
                  <a:t>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one-to-one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takes on different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values </a:t>
                </a:r>
                <a:r>
                  <a:rPr lang="en-US" dirty="0"/>
                  <a:t>at the four </a:t>
                </a:r>
                <a:r>
                  <a:rPr lang="en-US" dirty="0" smtClean="0"/>
                  <a:t>elements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of </a:t>
                </a:r>
                <a:r>
                  <a:rPr lang="en-US" dirty="0"/>
                  <a:t>its domain.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C:\IUT\Summer Semesters\CSE 4203\Contents\SLecture 9\Captur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276600"/>
            <a:ext cx="41148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30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One-to-One </a:t>
            </a:r>
            <a:r>
              <a:rPr lang="en-GB" dirty="0" smtClean="0"/>
              <a:t>Functions</a:t>
            </a:r>
            <a:r>
              <a:rPr lang="en-GB" dirty="0"/>
              <a:t>/Injunctions </a:t>
            </a:r>
            <a:r>
              <a:rPr lang="en-GB" dirty="0" smtClean="0"/>
              <a:t>(</a:t>
            </a:r>
            <a:r>
              <a:rPr lang="en-GB" dirty="0"/>
              <a:t>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937760"/>
              </a:xfrm>
            </p:spPr>
            <p:txBody>
              <a:bodyPr/>
              <a:lstStyle/>
              <a:p>
                <a:r>
                  <a:rPr lang="en-GB" dirty="0" smtClean="0"/>
                  <a:t> Example 4:</a:t>
                </a:r>
              </a:p>
              <a:p>
                <a:pPr lvl="1"/>
                <a:r>
                  <a:rPr lang="en-US" dirty="0"/>
                  <a:t>Determine whether 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) = </m:t>
                    </m:r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from </a:t>
                </a:r>
                <a:r>
                  <a:rPr lang="en-US" dirty="0"/>
                  <a:t>the set of integers to the set of integers </a:t>
                </a:r>
                <a:r>
                  <a:rPr lang="en-US" dirty="0" smtClean="0"/>
                  <a:t>is one-to-one.</a:t>
                </a:r>
              </a:p>
              <a:p>
                <a:endParaRPr lang="en-GB" dirty="0"/>
              </a:p>
              <a:p>
                <a:r>
                  <a:rPr lang="en-GB" dirty="0" smtClean="0"/>
                  <a:t>Solution : </a:t>
                </a:r>
              </a:p>
              <a:p>
                <a:pPr marL="594360" lvl="2" indent="0">
                  <a:buNone/>
                </a:pPr>
                <a:r>
                  <a:rPr lang="en-US" dirty="0"/>
                  <a:t>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) = </m:t>
                    </m:r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is </a:t>
                </a:r>
                <a:r>
                  <a:rPr lang="en-US" dirty="0"/>
                  <a:t>not one-to-one because, for instance, </a:t>
                </a:r>
                <a:endParaRPr lang="en-US" dirty="0" smtClean="0"/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(1) = </m:t>
                    </m:r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(−1) = 1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594360" lvl="2" indent="0">
                  <a:buNone/>
                </a:pPr>
                <a:r>
                  <a:rPr lang="en-US" dirty="0"/>
                  <a:t>but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1 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i="1" dirty="0" smtClean="0">
                        <a:latin typeface="Cambria Math"/>
                      </a:rPr>
                      <m:t> −</m:t>
                    </m:r>
                    <m:r>
                      <a:rPr lang="en-US" i="1" dirty="0">
                        <a:latin typeface="Cambria Math"/>
                      </a:rPr>
                      <m:t>1.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937760"/>
              </a:xfrm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677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>One-to-One Function</a:t>
            </a:r>
            <a:r>
              <a:rPr lang="en-GB" dirty="0"/>
              <a:t>/Injunctions </a:t>
            </a:r>
            <a:r>
              <a:rPr lang="en-GB" dirty="0" smtClean="0"/>
              <a:t>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 Example 5:</a:t>
                </a:r>
              </a:p>
              <a:p>
                <a:pPr lvl="1"/>
                <a:r>
                  <a:rPr lang="en-US" dirty="0"/>
                  <a:t>Determine whether 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) = 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+ 1</m:t>
                    </m:r>
                  </m:oMath>
                </a14:m>
                <a:r>
                  <a:rPr lang="en-US" dirty="0"/>
                  <a:t> from the set of real numbers to itself is </a:t>
                </a:r>
                <a:r>
                  <a:rPr lang="en-US" dirty="0" smtClean="0"/>
                  <a:t>one-to-one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smtClean="0"/>
                  <a:t>Solution</a:t>
                </a:r>
                <a:r>
                  <a:rPr lang="en-US" dirty="0"/>
                  <a:t>: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The </a:t>
                </a:r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) = 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+ 1 </m:t>
                    </m:r>
                  </m:oMath>
                </a14:m>
                <a:r>
                  <a:rPr lang="en-US" dirty="0"/>
                  <a:t>is a one-to-one function. To demonstrate this, note </a:t>
                </a:r>
                <a:r>
                  <a:rPr lang="en-US" dirty="0" smtClean="0"/>
                  <a:t>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+ 1 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i="1" dirty="0">
                        <a:latin typeface="Cambria Math"/>
                      </a:rPr>
                      <m:t>𝑦</m:t>
                    </m:r>
                    <m:r>
                      <a:rPr lang="en-US" i="1" dirty="0">
                        <a:latin typeface="Cambria Math"/>
                      </a:rPr>
                      <m:t> + 1 </m:t>
                    </m:r>
                  </m:oMath>
                </a14:m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≠</m:t>
                    </m:r>
                    <m:r>
                      <a:rPr lang="en-US" i="1" dirty="0">
                        <a:latin typeface="Cambria Math"/>
                      </a:rPr>
                      <m:t>𝑦</m:t>
                    </m:r>
                    <m:r>
                      <a:rPr lang="en-US" i="1" dirty="0">
                        <a:latin typeface="Cambria Math"/>
                      </a:rPr>
                      <m:t>.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56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Onto Functions/Surjections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is called onto, or a surjection, if and only if for every </a:t>
                </a:r>
                <a:r>
                  <a:rPr lang="en-US" dirty="0" smtClean="0"/>
                  <a:t>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 ∈ 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there is an 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∈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) =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dirty="0"/>
                  <a:t>. A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:r>
                  <a:rPr lang="en-US" dirty="0" smtClean="0"/>
                  <a:t>also called </a:t>
                </a:r>
                <a:r>
                  <a:rPr lang="en-US" dirty="0" err="1"/>
                  <a:t>surjective</a:t>
                </a:r>
                <a:r>
                  <a:rPr lang="en-US" dirty="0"/>
                  <a:t> if it is onto.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2190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IUT\Summer Semesters\CSE 4203\Contents\SLecture 9\Cap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0379" y="3319420"/>
            <a:ext cx="3553621" cy="249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Onto Functions</a:t>
            </a:r>
            <a:r>
              <a:rPr lang="en-GB" dirty="0"/>
              <a:t>/Surjections </a:t>
            </a:r>
            <a:r>
              <a:rPr lang="en-GB" dirty="0" smtClean="0"/>
              <a:t>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Example 6: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Let </a:t>
                </a:r>
                <a:r>
                  <a:rPr lang="en-US" dirty="0"/>
                  <a:t>f be the function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𝑑</m:t>
                    </m:r>
                    <m:r>
                      <a:rPr lang="en-US" i="1" dirty="0" smtClean="0">
                        <a:latin typeface="Cambria Math"/>
                      </a:rPr>
                      <m:t>}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3} </m:t>
                    </m:r>
                  </m:oMath>
                </a14:m>
                <a:r>
                  <a:rPr lang="en-US" dirty="0"/>
                  <a:t>deﬁned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= 3,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) = 2,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 smtClean="0">
                        <a:latin typeface="Cambria Math"/>
                      </a:rPr>
                      <m:t>) = 1</m:t>
                    </m:r>
                  </m:oMath>
                </a14:m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𝑑</m:t>
                    </m:r>
                    <m:r>
                      <a:rPr lang="en-US" i="1" dirty="0" smtClean="0">
                        <a:latin typeface="Cambria Math"/>
                      </a:rPr>
                      <m:t>) = 3</m:t>
                    </m:r>
                  </m:oMath>
                </a14:m>
                <a:r>
                  <a:rPr lang="en-US" dirty="0"/>
                  <a:t>.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an onto function?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Solution</a:t>
                </a:r>
                <a:r>
                  <a:rPr lang="en-US" dirty="0"/>
                  <a:t>: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Because </a:t>
                </a:r>
                <a:r>
                  <a:rPr lang="en-US" dirty="0"/>
                  <a:t>all three elements of the </a:t>
                </a:r>
                <a:r>
                  <a:rPr lang="en-US" dirty="0" smtClean="0"/>
                  <a:t>codomain</a:t>
                </a:r>
              </a:p>
              <a:p>
                <a:pPr marL="594360" lvl="2" indent="0">
                  <a:buNone/>
                </a:pPr>
                <a:r>
                  <a:rPr lang="en-US" dirty="0" smtClean="0"/>
                  <a:t>are </a:t>
                </a:r>
                <a:r>
                  <a:rPr lang="en-US" dirty="0"/>
                  <a:t>images of elements in the domain,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we see </a:t>
                </a:r>
                <a:r>
                  <a:rPr lang="en-US" dirty="0"/>
                  <a:t>that f is onto. </a:t>
                </a:r>
                <a:r>
                  <a:rPr lang="en-US" dirty="0" smtClean="0"/>
                  <a:t>Note </a:t>
                </a:r>
                <a:r>
                  <a:rPr lang="en-US" dirty="0"/>
                  <a:t>that if the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codomain </a:t>
                </a:r>
                <a:r>
                  <a:rPr lang="en-US" dirty="0"/>
                  <a:t>were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3, 4</m:t>
                    </m:r>
                    <m:r>
                      <a:rPr lang="en-US" i="1" dirty="0" smtClean="0">
                        <a:latin typeface="Cambria Math"/>
                      </a:rPr>
                      <m:t>}, </m:t>
                    </m:r>
                  </m:oMath>
                </a14:m>
                <a:r>
                  <a:rPr lang="en-US" dirty="0" smtClean="0"/>
                  <a:t>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would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not </a:t>
                </a:r>
                <a:r>
                  <a:rPr lang="en-US" dirty="0"/>
                  <a:t>be onto.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593" t="-1111" b="-1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81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Onto </a:t>
            </a:r>
            <a:r>
              <a:rPr lang="en-GB" dirty="0" smtClean="0"/>
              <a:t>Functions</a:t>
            </a:r>
            <a:r>
              <a:rPr lang="en-GB" dirty="0"/>
              <a:t>/Surjections </a:t>
            </a:r>
            <a:r>
              <a:rPr lang="en-GB" dirty="0" smtClean="0"/>
              <a:t>(</a:t>
            </a:r>
            <a:r>
              <a:rPr lang="en-GB" dirty="0"/>
              <a:t>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 smtClean="0"/>
                  <a:t>Example 7: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Determine whether the following functions are onto functions from the set </a:t>
                </a:r>
                <a:r>
                  <a:rPr lang="en-GB" dirty="0" smtClean="0"/>
                  <a:t>of </a:t>
                </a:r>
                <a:r>
                  <a:rPr lang="en-GB" dirty="0" smtClean="0"/>
                  <a:t>integers to the set of integer?</a:t>
                </a: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𝑓</m:t>
                      </m:r>
                      <m:r>
                        <a:rPr lang="en-US" i="1" dirty="0" smtClean="0">
                          <a:latin typeface="Cambria Math"/>
                        </a:rPr>
                        <m:t>(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>
                          <a:latin typeface="Cambria Math"/>
                        </a:rPr>
                        <m:t>) = </m:t>
                      </m:r>
                      <m:sSup>
                        <m:sSupPr>
                          <m:ctrlPr>
                            <a:rPr lang="en-GB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𝑔</m:t>
                      </m:r>
                      <m:r>
                        <a:rPr lang="en-US" i="1" dirty="0" smtClean="0">
                          <a:latin typeface="Cambria Math"/>
                        </a:rPr>
                        <m:t>(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>
                          <a:latin typeface="Cambria Math"/>
                        </a:rPr>
                        <m:t>) = 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>
                          <a:latin typeface="Cambria Math"/>
                        </a:rPr>
                        <m:t> + 1 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GB" dirty="0" smtClean="0"/>
              </a:p>
              <a:p>
                <a:r>
                  <a:rPr lang="en-GB" dirty="0" smtClean="0"/>
                  <a:t>Solution : </a:t>
                </a:r>
              </a:p>
              <a:p>
                <a:pPr marL="594360" lvl="2" indent="0">
                  <a:buNone/>
                </a:pPr>
                <a:r>
                  <a:rPr lang="en-US" dirty="0"/>
                  <a:t>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is not onto because there is no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US" i="1" dirty="0">
                        <a:latin typeface="Cambria Math"/>
                      </a:rPr>
                      <m:t>−1</m:t>
                    </m:r>
                  </m:oMath>
                </a14:m>
                <a:r>
                  <a:rPr lang="en-US" dirty="0"/>
                  <a:t>, for instance.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 smtClean="0"/>
                  <a:t> is </a:t>
                </a:r>
                <a:r>
                  <a:rPr lang="en-US" dirty="0"/>
                  <a:t>onto, because for every integer y there is an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such </a:t>
                </a:r>
                <a:r>
                  <a:rPr lang="en-US" dirty="0" smtClean="0"/>
                  <a:t>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𝑔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a:rPr lang="en-US" i="1" dirty="0">
                        <a:latin typeface="Cambria Math"/>
                      </a:rPr>
                      <m:t>𝑦</m:t>
                    </m:r>
                    <m:r>
                      <a:rPr lang="en-US" i="1" dirty="0">
                        <a:latin typeface="Cambria Math"/>
                      </a:rPr>
                      <m:t>.  </m:t>
                    </m:r>
                  </m:oMath>
                </a14:m>
                <a:r>
                  <a:rPr lang="en-US" dirty="0" smtClean="0"/>
                  <a:t>To </a:t>
                </a:r>
                <a:r>
                  <a:rPr lang="en-US" dirty="0"/>
                  <a:t>see this, note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𝑔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a:rPr lang="en-US" i="1" dirty="0">
                        <a:latin typeface="Cambria Math"/>
                      </a:rPr>
                      <m:t>𝑦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if and only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+ 1 = </m:t>
                    </m:r>
                    <m:r>
                      <a:rPr lang="en-US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/>
                  <a:t>, which holds if and only </a:t>
                </a:r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= </m:t>
                    </m:r>
                    <m:r>
                      <a:rPr lang="en-US" i="1" dirty="0">
                        <a:latin typeface="Cambria Math"/>
                      </a:rPr>
                      <m:t>𝑦</m:t>
                    </m:r>
                    <m:r>
                      <a:rPr lang="en-US" i="1" dirty="0">
                        <a:latin typeface="Cambria Math"/>
                      </a:rPr>
                      <m:t> − 1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endParaRPr lang="en-US" dirty="0" smtClean="0"/>
              </a:p>
              <a:p>
                <a:pPr marL="594360" lvl="2" indent="0">
                  <a:buNone/>
                </a:pPr>
                <a:endParaRPr lang="en-GB" dirty="0"/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741" b="-1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63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One-to-One Correspondence/</a:t>
            </a:r>
            <a:r>
              <a:rPr lang="en-GB" dirty="0" err="1" smtClean="0"/>
              <a:t>Bijections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function f is a one-to-one correspondence, or a </a:t>
            </a:r>
            <a:r>
              <a:rPr lang="en-US" dirty="0" err="1"/>
              <a:t>bijection</a:t>
            </a:r>
            <a:r>
              <a:rPr lang="en-US" dirty="0"/>
              <a:t>, if it is both one-to-one </a:t>
            </a:r>
            <a:r>
              <a:rPr lang="en-US" dirty="0" smtClean="0"/>
              <a:t>and onto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also say that such a function is </a:t>
            </a:r>
            <a:r>
              <a:rPr lang="en-US" dirty="0" err="1"/>
              <a:t>bijective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282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One-to-One </a:t>
            </a:r>
            <a:r>
              <a:rPr lang="en-GB" dirty="0" smtClean="0"/>
              <a:t>Correspondence/</a:t>
            </a:r>
            <a:r>
              <a:rPr lang="en-GB" dirty="0" err="1" smtClean="0"/>
              <a:t>Bijections</a:t>
            </a:r>
            <a:r>
              <a:rPr lang="en-GB" dirty="0" smtClean="0"/>
              <a:t>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Example 8:</a:t>
                </a:r>
              </a:p>
              <a:p>
                <a:pPr lvl="1"/>
                <a:r>
                  <a:rPr lang="en-US" dirty="0"/>
                  <a:t>Let f be the function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𝑑</m:t>
                    </m:r>
                    <m:r>
                      <a:rPr lang="en-US" i="1" dirty="0" smtClean="0">
                        <a:latin typeface="Cambria Math"/>
                      </a:rPr>
                      <m:t>}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3, 4} </m:t>
                    </m:r>
                  </m:oMath>
                </a14:m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) = 4,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) = 2,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 smtClean="0">
                        <a:latin typeface="Cambria Math"/>
                      </a:rPr>
                      <m:t>) = 1,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𝑑</m:t>
                    </m:r>
                    <m:r>
                      <a:rPr lang="en-US" i="1" dirty="0">
                        <a:latin typeface="Cambria Math"/>
                      </a:rPr>
                      <m:t>) = 3</m:t>
                    </m:r>
                  </m:oMath>
                </a14:m>
                <a:r>
                  <a:rPr lang="en-US" dirty="0"/>
                  <a:t>.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a </a:t>
                </a:r>
                <a:r>
                  <a:rPr lang="en-US" dirty="0" err="1"/>
                  <a:t>bijection</a:t>
                </a:r>
                <a:r>
                  <a:rPr lang="en-US" dirty="0" smtClean="0"/>
                  <a:t>?</a:t>
                </a:r>
              </a:p>
              <a:p>
                <a:pPr lvl="1"/>
                <a:endParaRPr lang="en-GB" dirty="0"/>
              </a:p>
              <a:p>
                <a:r>
                  <a:rPr lang="en-GB" dirty="0" smtClean="0"/>
                  <a:t>Solution : </a:t>
                </a:r>
              </a:p>
              <a:p>
                <a:pPr marL="594360" lvl="2" indent="0">
                  <a:buNone/>
                </a:pPr>
                <a:r>
                  <a:rPr lang="en-US" dirty="0"/>
                  <a:t>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is one-to-one and onto. It is one-to-one because no two values </a:t>
                </a:r>
                <a:r>
                  <a:rPr lang="en-US" dirty="0" smtClean="0"/>
                  <a:t>in the </a:t>
                </a:r>
                <a:r>
                  <a:rPr lang="en-US" dirty="0"/>
                  <a:t>domain are assigned the same function value.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It </a:t>
                </a:r>
                <a:r>
                  <a:rPr lang="en-US" dirty="0"/>
                  <a:t>is onto because all four elements of </a:t>
                </a:r>
                <a:r>
                  <a:rPr lang="en-US" dirty="0" smtClean="0"/>
                  <a:t>the codomain </a:t>
                </a:r>
                <a:r>
                  <a:rPr lang="en-US" dirty="0"/>
                  <a:t>are images of elements in the domain. Hence,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is a </a:t>
                </a:r>
                <a:r>
                  <a:rPr lang="en-US" dirty="0" err="1" smtClean="0"/>
                  <a:t>bijection</a:t>
                </a:r>
                <a:r>
                  <a:rPr lang="en-US" dirty="0"/>
                  <a:t>.</a:t>
                </a:r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8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 smtClean="0"/>
              <a:t>Comparison of One-to-One, Onto, </a:t>
            </a:r>
            <a:r>
              <a:rPr lang="en-GB" dirty="0" err="1" smtClean="0"/>
              <a:t>Bijections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 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307073" y="1447800"/>
            <a:ext cx="6236727" cy="4191000"/>
            <a:chOff x="1307073" y="1447800"/>
            <a:chExt cx="6236727" cy="4191000"/>
          </a:xfrm>
        </p:grpSpPr>
        <p:pic>
          <p:nvPicPr>
            <p:cNvPr id="6146" name="Picture 2" descr="C:\IUT\Summer Semesters\CSE 4203\Contents\SLecture 9\Capture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073" y="1447800"/>
              <a:ext cx="1753284" cy="1763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47" name="Picture 3" descr="C:\IUT\Summer Semesters\CSE 4203\Contents\SLecture 9\Capture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201" y="1600200"/>
              <a:ext cx="1778000" cy="165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48" name="Picture 4" descr="C:\IUT\Summer Semesters\CSE 4203\Contents\SLecture 9\Capture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9463" y="1735137"/>
              <a:ext cx="1684337" cy="1552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49" name="Picture 5" descr="C:\IUT\Summer Semesters\CSE 4203\Contents\SLecture 9\Capture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6633" y="4052888"/>
              <a:ext cx="1596768" cy="1562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0" name="Picture 6" descr="C:\IUT\Summer Semesters\CSE 4203\Contents\SLecture 9\Capture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029075"/>
              <a:ext cx="1748630" cy="1609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7764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IUT\Summer Semesters\CSE 4203\Contents\SLecture 9\Cap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038600"/>
            <a:ext cx="4676775" cy="230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Inverse Functions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be a one-to-one </a:t>
                </a:r>
                <a:r>
                  <a:rPr lang="en-US" dirty="0" smtClean="0"/>
                  <a:t>correspondence (both one-to-one and onto) </a:t>
                </a:r>
                <a:r>
                  <a:rPr lang="en-US" dirty="0"/>
                  <a:t>from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to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. The inverse function </a:t>
                </a:r>
                <a:r>
                  <a:rPr lang="en-US" dirty="0" smtClean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the function that assigns to an 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dirty="0"/>
                  <a:t> belonging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the unique e</a:t>
                </a:r>
                <a:r>
                  <a:rPr lang="en-US" dirty="0" smtClean="0"/>
                  <a:t>lement </a:t>
                </a:r>
                <a:r>
                  <a:rPr lang="en-US" dirty="0"/>
                  <a:t>a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 smtClean="0"/>
                  <a:t> such </a:t>
                </a:r>
                <a:r>
                  <a:rPr lang="en-US" dirty="0"/>
                  <a:t>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) =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.  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The </a:t>
                </a:r>
                <a:r>
                  <a:rPr lang="en-US" dirty="0"/>
                  <a:t>inverse function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is </a:t>
                </a:r>
                <a:r>
                  <a:rPr lang="en-US" dirty="0"/>
                  <a:t>denoted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 smtClean="0"/>
                  <a:t>. </a:t>
                </a:r>
                <a:r>
                  <a:rPr lang="en-US" dirty="0"/>
                  <a:t>Hence, </a:t>
                </a:r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a:rPr lang="en-US" i="1" dirty="0">
                        <a:latin typeface="Cambria Math"/>
                      </a:rPr>
                      <m:t>𝑎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a:rPr lang="en-US" i="1" dirty="0">
                        <a:latin typeface="Cambria Math"/>
                      </a:rPr>
                      <m:t>𝑏</m:t>
                    </m:r>
                    <m:r>
                      <a:rPr lang="en-US" i="1" dirty="0">
                        <a:latin typeface="Cambria Math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593" t="-1111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169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Inverse Functions(Contd.)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 smtClean="0"/>
                  <a:t>Example 9:</a:t>
                </a:r>
              </a:p>
              <a:p>
                <a:pPr lvl="1"/>
                <a:r>
                  <a:rPr lang="en-US" dirty="0"/>
                  <a:t>Let f be the function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 smtClean="0">
                        <a:latin typeface="Cambria Math"/>
                      </a:rPr>
                      <m:t>}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3}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) = 2,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) = 3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dirty="0" smtClean="0"/>
                  <a:t>.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invertible, and if it is, what is its inverse?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Solution</a:t>
                </a:r>
                <a:r>
                  <a:rPr lang="en-US" dirty="0"/>
                  <a:t>: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The </a:t>
                </a:r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is invertible because it is a one-to-one correspondence. The </a:t>
                </a:r>
                <a:r>
                  <a:rPr lang="en-US" dirty="0" smtClean="0"/>
                  <a:t>inverse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 smtClean="0"/>
                  <a:t> reverses </a:t>
                </a:r>
                <a:r>
                  <a:rPr lang="en-US" dirty="0"/>
                  <a:t>the correspondence given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,</a:t>
                </a:r>
                <a:r>
                  <a:rPr lang="en-US" dirty="0" smtClean="0"/>
                  <a:t>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(1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a:rPr lang="en-US" i="1" dirty="0">
                        <a:latin typeface="Cambria Math"/>
                      </a:rPr>
                      <m:t>𝑐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(2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a:rPr lang="en-US" i="1" dirty="0">
                        <a:latin typeface="Cambria Math"/>
                      </a:rPr>
                      <m:t>𝑎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</m:oMath>
                </a14:m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(3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a:rPr lang="en-US" i="1" dirty="0">
                        <a:latin typeface="Cambria Math"/>
                      </a:rPr>
                      <m:t>𝑏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72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Inverse Functions(Contd.)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 smtClean="0"/>
                  <a:t>Example 10: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: </m:t>
                    </m:r>
                    <m:r>
                      <a:rPr lang="en-US" i="1" dirty="0" smtClean="0">
                        <a:latin typeface="Cambria Math"/>
                      </a:rPr>
                      <m:t>𝑍</m:t>
                    </m:r>
                    <m:r>
                      <a:rPr lang="en-US" i="1" dirty="0" smtClean="0">
                        <a:latin typeface="Cambria Math"/>
                      </a:rPr>
                      <m:t> → </m:t>
                    </m:r>
                    <m:r>
                      <a:rPr lang="en-US" i="1" dirty="0" smtClean="0">
                        <a:latin typeface="Cambria Math"/>
                      </a:rPr>
                      <m:t>𝑍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be 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) = 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+ 1</m:t>
                    </m:r>
                  </m:oMath>
                </a14:m>
                <a:r>
                  <a:rPr lang="en-US" dirty="0"/>
                  <a:t>.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invertible, and if it is, what is its inverse?</a:t>
                </a:r>
              </a:p>
              <a:p>
                <a:r>
                  <a:rPr lang="en-US" dirty="0"/>
                  <a:t>Solution: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The </a:t>
                </a:r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has an inverse because it is a one-to-one correspondence, as </a:t>
                </a:r>
                <a:r>
                  <a:rPr lang="en-US" dirty="0" smtClean="0"/>
                  <a:t>follows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𝐸𝑥𝑎𝑚𝑝𝑙𝑒𝑠</m:t>
                    </m:r>
                    <m:r>
                      <a:rPr lang="en-US" i="1" dirty="0" smtClean="0">
                        <a:latin typeface="Cambria Math"/>
                      </a:rPr>
                      <m:t> 5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7</m:t>
                    </m:r>
                  </m:oMath>
                </a14:m>
                <a:r>
                  <a:rPr lang="en-US" dirty="0" smtClean="0"/>
                  <a:t>.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To </a:t>
                </a:r>
                <a:r>
                  <a:rPr lang="en-US" dirty="0"/>
                  <a:t>reverse the </a:t>
                </a:r>
                <a:r>
                  <a:rPr lang="en-US" dirty="0" smtClean="0"/>
                  <a:t>correspondence</a:t>
                </a:r>
                <a:r>
                  <a:rPr lang="en-US" dirty="0"/>
                  <a:t>, suppose that </a:t>
                </a: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2781663"/>
                  </p:ext>
                </p:extLst>
              </p:nvPr>
            </p:nvGraphicFramePr>
            <p:xfrm>
              <a:off x="1447800" y="4191000"/>
              <a:ext cx="6096000" cy="1737360"/>
            </p:xfrm>
            <a:graphic>
              <a:graphicData uri="http://schemas.openxmlformats.org/drawingml/2006/table">
                <a:tbl>
                  <a:tblPr>
                    <a:tableStyleId>{00A15C55-8517-42AA-B614-E9B94910E393}</a:tableStyleId>
                  </a:tblPr>
                  <a:tblGrid>
                    <a:gridCol w="3048000"/>
                    <a:gridCol w="3048000"/>
                  </a:tblGrid>
                  <a:tr h="370840">
                    <a:tc>
                      <a:txBody>
                        <a:bodyPr/>
                        <a:lstStyle/>
                        <a:p>
                          <a:pPr marL="594360" lvl="2" indent="0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 dirty="0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i="1" dirty="0" smtClean="0">
                                  <a:latin typeface="Cambria Math"/>
                                </a:rPr>
                                <m:t>=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GB" b="0" i="1" dirty="0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GB" b="0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dirty="0" smtClean="0">
                                  <a:latin typeface="Cambria Math"/>
                                </a:rPr>
                                <m:t>+1 </m:t>
                              </m:r>
                            </m:oMath>
                          </a14:m>
                          <a:r>
                            <a:rPr lang="en-US" dirty="0" smtClean="0"/>
                            <a:t>   </a:t>
                          </a:r>
                          <a:endParaRPr lang="en-US" dirty="0" smtClean="0"/>
                        </a:p>
                        <a:p>
                          <a:pPr marL="594360" lvl="2" indent="0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𝑂𝑟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 = </m:t>
                              </m:r>
                              <m:sSup>
                                <m:sSupPr>
                                  <m:ctrlPr>
                                    <a:rPr lang="en-GB" b="0" i="1" dirty="0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i="1" dirty="0" smtClean="0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GB" i="1" dirty="0" smtClean="0"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GB" i="1" dirty="0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GB" dirty="0" smtClean="0"/>
                            <a:t> </a:t>
                          </a:r>
                        </a:p>
                        <a:p>
                          <a:pPr marL="594360" lvl="2" indent="0">
                            <a:buNone/>
                          </a:pPr>
                          <a:endParaRPr lang="en-GB" dirty="0" smtClean="0"/>
                        </a:p>
                        <a:p>
                          <a:pPr marL="594360" lvl="2" indent="0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𝐴𝑔𝑎𝑖𝑛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 = 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+1</m:t>
                              </m:r>
                            </m:oMath>
                          </a14:m>
                          <a:r>
                            <a:rPr lang="en-GB" dirty="0" smtClean="0"/>
                            <a:t> </a:t>
                          </a:r>
                          <a:endParaRPr lang="en-GB" dirty="0" smtClean="0"/>
                        </a:p>
                        <a:p>
                          <a:pPr marL="594360" lvl="2" indent="0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b="0" i="1" dirty="0" smtClean="0">
                                  <a:latin typeface="Cambria Math"/>
                                </a:rPr>
                                <m:t>𝑂𝑟</m:t>
                              </m:r>
                              <m:r>
                                <a:rPr lang="en-GB" b="0" i="1" dirty="0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= 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 smtClean="0"/>
                        </a:p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𝑆𝑜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GB" b="0" i="1" dirty="0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i="1" dirty="0" smtClean="0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GB" i="1" dirty="0" smtClean="0"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GB" i="1" dirty="0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GB" i="1" dirty="0" smtClean="0">
                                  <a:latin typeface="Cambria Math"/>
                                </a:rPr>
                                <m:t>) = </m:t>
                              </m:r>
                              <m:r>
                                <a:rPr lang="en-GB" i="1" baseline="0" dirty="0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GB" i="1" baseline="0" dirty="0" smtClean="0"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GB" baseline="0" dirty="0" smtClean="0"/>
                            <a:t> </a:t>
                          </a:r>
                          <a:endParaRPr lang="en-GB" baseline="0" dirty="0" smtClean="0"/>
                        </a:p>
                        <a:p>
                          <a:endParaRPr lang="en-GB" baseline="0" dirty="0" smtClean="0"/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GB" i="1" baseline="0" dirty="0" smtClean="0">
                                  <a:latin typeface="Cambria Math"/>
                                  <a:ea typeface="Cambria Math"/>
                                </a:rPr>
                                <m:t>∴</m:t>
                              </m:r>
                              <m:r>
                                <a:rPr lang="en-GB" i="1" baseline="0" dirty="0" smtClean="0">
                                  <a:latin typeface="Cambria Math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GB" b="0" i="1" baseline="0" dirty="0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GB" i="1" baseline="0" dirty="0" smtClean="0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GB" i="1" baseline="0" dirty="0" smtClean="0"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GB" i="1" baseline="0" dirty="0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GB" i="1" baseline="0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i="1" baseline="0" dirty="0" smtClean="0">
                                  <a:latin typeface="Cambria Math"/>
                                </a:rPr>
                                <m:t>) = </m:t>
                              </m:r>
                              <m:r>
                                <a:rPr lang="en-GB" i="1" baseline="0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i="1" baseline="0" dirty="0" smtClean="0"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2781663"/>
                  </p:ext>
                </p:extLst>
              </p:nvPr>
            </p:nvGraphicFramePr>
            <p:xfrm>
              <a:off x="1447800" y="4191000"/>
              <a:ext cx="6096000" cy="1737360"/>
            </p:xfrm>
            <a:graphic>
              <a:graphicData uri="http://schemas.openxmlformats.org/drawingml/2006/table">
                <a:tbl>
                  <a:tblPr>
                    <a:tableStyleId>{00A15C55-8517-42AA-B614-E9B94910E393}</a:tableStyleId>
                  </a:tblPr>
                  <a:tblGrid>
                    <a:gridCol w="3048000"/>
                    <a:gridCol w="3048000"/>
                  </a:tblGrid>
                  <a:tr h="1737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" t="-1754" r="-100000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200" t="-1754" b="-526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622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Inverse Functions(Contd.)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Example 11: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be the function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) = </m:t>
                    </m:r>
                    <m:sSup>
                      <m:sSup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.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invertible?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Solution</a:t>
                </a:r>
                <a:r>
                  <a:rPr lang="en-US" dirty="0"/>
                  <a:t>: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(−2) =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(2) = 4,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not one-to-one. If an inverse function were </a:t>
                </a:r>
                <a:r>
                  <a:rPr lang="en-US" dirty="0" smtClean="0"/>
                  <a:t>deﬁned, it </a:t>
                </a:r>
                <a:r>
                  <a:rPr lang="en-US" dirty="0"/>
                  <a:t>would have to assign two elements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4</m:t>
                    </m:r>
                  </m:oMath>
                </a14:m>
                <a:r>
                  <a:rPr lang="en-US" dirty="0"/>
                  <a:t>. Hence,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is not </a:t>
                </a:r>
                <a:r>
                  <a:rPr lang="en-US" dirty="0" smtClean="0"/>
                  <a:t>invertible</a:t>
                </a:r>
                <a:r>
                  <a:rPr lang="en-US" dirty="0"/>
                  <a:t>. (Note we can also </a:t>
                </a:r>
                <a:r>
                  <a:rPr lang="en-US" dirty="0" smtClean="0"/>
                  <a:t>show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is not invertible because it is not onto.)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326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Composition of </a:t>
            </a:r>
            <a:r>
              <a:rPr lang="en-GB" dirty="0" smtClean="0"/>
              <a:t>Functions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be a function from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to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and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be a function from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:r>
                  <a:rPr lang="en-US" dirty="0" smtClean="0"/>
                  <a:t>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. The </a:t>
                </a:r>
                <a:r>
                  <a:rPr lang="en-US" dirty="0" smtClean="0"/>
                  <a:t>composition </a:t>
                </a:r>
                <a:r>
                  <a:rPr lang="en-US" dirty="0"/>
                  <a:t>of the functions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, denoted 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∈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𝑓𝑜𝑔</m:t>
                    </m:r>
                  </m:oMath>
                </a14:m>
                <a:r>
                  <a:rPr lang="en-US" dirty="0"/>
                  <a:t>, is </a:t>
                </a:r>
                <a:r>
                  <a:rPr lang="en-US" dirty="0" smtClean="0"/>
                  <a:t>deﬁned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𝑓𝑜𝑔</m:t>
                    </m:r>
                    <m:r>
                      <a:rPr lang="en-US" i="1" dirty="0">
                        <a:latin typeface="Cambria Math"/>
                      </a:rPr>
                      <m:t>)(</m:t>
                    </m:r>
                    <m:r>
                      <a:rPr lang="en-US" i="1" dirty="0">
                        <a:latin typeface="Cambria Math"/>
                      </a:rPr>
                      <m:t>𝑎</m:t>
                    </m:r>
                    <m:r>
                      <a:rPr lang="en-US" i="1" dirty="0">
                        <a:latin typeface="Cambria Math"/>
                      </a:rPr>
                      <m:t>) = </m:t>
                    </m:r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 (</m:t>
                    </m:r>
                    <m:r>
                      <a:rPr lang="en-US" i="1" dirty="0">
                        <a:latin typeface="Cambria Math"/>
                      </a:rPr>
                      <m:t>𝑔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𝑎</m:t>
                    </m:r>
                    <m:r>
                      <a:rPr lang="en-US" i="1" dirty="0">
                        <a:latin typeface="Cambria Math"/>
                      </a:rPr>
                      <m:t>)).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 descr="C:\IUT\Summer Semesters\CSE 4203\Contents\SLecture 9\Captur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263" y="2971800"/>
            <a:ext cx="6154737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614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Composition of </a:t>
            </a:r>
            <a:r>
              <a:rPr lang="en-GB" dirty="0"/>
              <a:t>F</a:t>
            </a:r>
            <a:r>
              <a:rPr lang="en-GB" dirty="0" smtClean="0"/>
              <a:t>unctions(Contd</a:t>
            </a:r>
            <a:r>
              <a:rPr lang="en-GB" dirty="0" smtClean="0"/>
              <a:t>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Example 12: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be the functions from the set of integers to the set of integers deﬁned </a:t>
                </a:r>
                <a:r>
                  <a:rPr lang="en-US" dirty="0" smtClean="0"/>
                  <a:t>by </a:t>
                </a:r>
              </a:p>
              <a:p>
                <a:pPr marL="274320" lvl="1" indent="0" algn="ctr">
                  <a:buNone/>
                </a:pPr>
                <a:r>
                  <a:rPr lang="en-US" dirty="0" smtClean="0"/>
                  <a:t>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/>
                      </a:rPr>
                      <m:t>= 2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 + 3</m:t>
                    </m:r>
                  </m:oMath>
                </a14:m>
                <a:endParaRPr lang="en-GB" i="1" dirty="0" smtClean="0">
                  <a:latin typeface="Cambria Math"/>
                </a:endParaRPr>
              </a:p>
              <a:p>
                <a:pPr marL="27432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/>
                        </a:rPr>
                        <m:t>            </m:t>
                      </m:r>
                      <m:r>
                        <a:rPr lang="en-GB" b="0" i="1" dirty="0" smtClean="0">
                          <a:latin typeface="Cambria Math"/>
                        </a:rPr>
                        <m:t>𝑔</m:t>
                      </m:r>
                      <m:r>
                        <a:rPr lang="en-US" i="1" dirty="0" smtClean="0">
                          <a:latin typeface="Cambria Math"/>
                        </a:rPr>
                        <m:t>(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>
                          <a:latin typeface="Cambria Math"/>
                        </a:rPr>
                        <m:t>) = 3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>
                          <a:latin typeface="Cambria Math"/>
                        </a:rPr>
                        <m:t> + 2.</m:t>
                      </m:r>
                    </m:oMath>
                  </m:oMathPara>
                </a14:m>
                <a:endParaRPr lang="en-US" dirty="0" smtClean="0"/>
              </a:p>
              <a:p>
                <a:pPr marL="274320" lvl="1" indent="0">
                  <a:buNone/>
                </a:pPr>
                <a:r>
                  <a:rPr lang="en-US" dirty="0" smtClean="0"/>
                  <a:t>   What </a:t>
                </a:r>
                <a:r>
                  <a:rPr lang="en-US" dirty="0"/>
                  <a:t>is the composition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? What is the </a:t>
                </a:r>
                <a:r>
                  <a:rPr lang="en-US" dirty="0" smtClean="0"/>
                  <a:t>composition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and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6707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Composition of </a:t>
            </a:r>
            <a:r>
              <a:rPr lang="en-GB" dirty="0" smtClean="0"/>
              <a:t>Functions(Contd</a:t>
            </a:r>
            <a:r>
              <a:rPr lang="en-GB" dirty="0"/>
              <a:t>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Solution :</a:t>
            </a:r>
          </a:p>
          <a:p>
            <a:pPr marL="594360" lvl="2" indent="0">
              <a:buNone/>
            </a:pPr>
            <a:r>
              <a:rPr lang="en-US" dirty="0"/>
              <a:t>Both the compositions </a:t>
            </a:r>
            <a:r>
              <a:rPr lang="en-US" dirty="0" smtClean="0"/>
              <a:t>fog </a:t>
            </a:r>
            <a:r>
              <a:rPr lang="en-US" dirty="0"/>
              <a:t>and </a:t>
            </a:r>
            <a:r>
              <a:rPr lang="en-US" dirty="0" err="1" smtClean="0"/>
              <a:t>gof</a:t>
            </a:r>
            <a:r>
              <a:rPr lang="en-US" dirty="0" smtClean="0"/>
              <a:t> </a:t>
            </a:r>
            <a:r>
              <a:rPr lang="en-US" dirty="0"/>
              <a:t>are deﬁned. Moreover</a:t>
            </a:r>
            <a:r>
              <a:rPr lang="en-US" dirty="0" smtClean="0"/>
              <a:t>,</a:t>
            </a:r>
          </a:p>
          <a:p>
            <a:pPr marL="594360" lvl="2" indent="0">
              <a:buNone/>
            </a:pPr>
            <a:endParaRPr lang="en-US" dirty="0"/>
          </a:p>
          <a:p>
            <a:pPr marL="594360" lvl="2" indent="0">
              <a:buNone/>
            </a:pPr>
            <a:endParaRPr lang="en-US" dirty="0" smtClean="0"/>
          </a:p>
          <a:p>
            <a:pPr marL="594360" lvl="2" indent="0">
              <a:buNone/>
            </a:pPr>
            <a:endParaRPr lang="en-US" dirty="0"/>
          </a:p>
          <a:p>
            <a:pPr marL="594360" lvl="2" indent="0">
              <a:buNone/>
            </a:pPr>
            <a:endParaRPr lang="en-US" dirty="0" smtClean="0"/>
          </a:p>
          <a:p>
            <a:pPr marL="594360" lvl="2" indent="0">
              <a:buNone/>
            </a:pPr>
            <a:endParaRPr lang="en-US" dirty="0"/>
          </a:p>
          <a:p>
            <a:pPr marL="594360" lvl="2" indent="0">
              <a:buNone/>
            </a:pPr>
            <a:r>
              <a:rPr lang="en-US" dirty="0" smtClean="0"/>
              <a:t>and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5390086"/>
                  </p:ext>
                </p:extLst>
              </p:nvPr>
            </p:nvGraphicFramePr>
            <p:xfrm>
              <a:off x="1371600" y="2286000"/>
              <a:ext cx="6096000" cy="1224026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2000"/>
                    <a:gridCol w="482600"/>
                    <a:gridCol w="35814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𝑓𝑜𝑔</m:t>
                              </m:r>
                              <m:r>
                                <a:rPr lang="en-US" i="1" dirty="0">
                                  <a:latin typeface="Cambria Math"/>
                                </a:rPr>
                                <m:t>)(</m:t>
                              </m:r>
                              <m:r>
                                <a:rPr lang="en-US" i="1" dirty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GB" dirty="0" smtClean="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GB" b="0" dirty="0" smtClean="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GB" dirty="0" smtClean="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 dirty="0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i="1" dirty="0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i="1" dirty="0" smtClean="0">
                              <a:latin typeface="Cambria Math"/>
                            </a:rPr>
                            <a:t> </a:t>
                          </a:r>
                        </a:p>
                        <a:p>
                          <a:pPr marL="0" marR="0" lvl="2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 dirty="0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3</m:t>
                                  </m:r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 + 2</m:t>
                                  </m:r>
                                </m:e>
                              </m:d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i="1" dirty="0" smtClean="0">
                              <a:latin typeface="Cambria Math"/>
                            </a:rPr>
                            <a:t> </a:t>
                          </a:r>
                        </a:p>
                        <a:p>
                          <a:pPr marL="0" marR="0" lvl="2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i="1" dirty="0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3</m:t>
                                  </m:r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 + 2</m:t>
                                  </m:r>
                                </m:e>
                              </m:d>
                              <m:r>
                                <a:rPr lang="en-US" i="1" dirty="0" smtClean="0">
                                  <a:latin typeface="Cambria Math"/>
                                </a:rPr>
                                <m:t>+ 3 </m:t>
                              </m:r>
                            </m:oMath>
                          </a14:m>
                          <a:r>
                            <a:rPr lang="en-GB" i="1" dirty="0" smtClean="0">
                              <a:latin typeface="Cambria Math"/>
                            </a:rPr>
                            <a:t> </a:t>
                          </a:r>
                        </a:p>
                        <a:p>
                          <a:pPr marL="0" marR="0" lvl="2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 6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+ 7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5390086"/>
                  </p:ext>
                </p:extLst>
              </p:nvPr>
            </p:nvGraphicFramePr>
            <p:xfrm>
              <a:off x="1371600" y="2286000"/>
              <a:ext cx="6096000" cy="1224026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2000"/>
                    <a:gridCol w="482600"/>
                    <a:gridCol w="3581400"/>
                  </a:tblGrid>
                  <a:tr h="12240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2"/>
                          <a:stretch>
                            <a:fillRect t="-2488" r="-200300" b="-79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2"/>
                          <a:stretch>
                            <a:fillRect l="-416250" t="-2488" r="-733750" b="-79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2"/>
                          <a:stretch>
                            <a:fillRect l="-70358" t="-2488" b="-796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6290014"/>
                  </p:ext>
                </p:extLst>
              </p:nvPr>
            </p:nvGraphicFramePr>
            <p:xfrm>
              <a:off x="1371600" y="4495800"/>
              <a:ext cx="6096000" cy="1224026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2000"/>
                    <a:gridCol w="482600"/>
                    <a:gridCol w="358140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GB" b="0" i="1" dirty="0" smtClean="0">
                                  <a:latin typeface="Cambria Math"/>
                                </a:rPr>
                                <m:t>𝑔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𝑜</m:t>
                              </m:r>
                              <m:r>
                                <a:rPr lang="en-GB" b="0" i="1" dirty="0" smtClean="0"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i="1" dirty="0">
                                  <a:latin typeface="Cambria Math"/>
                                </a:rPr>
                                <m:t>)(</m:t>
                              </m:r>
                              <m:r>
                                <a:rPr lang="en-US" i="1" dirty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GB" dirty="0" smtClean="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GB" b="0" dirty="0" smtClean="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GB" dirty="0" smtClean="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2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i="1" dirty="0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i="1" dirty="0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GB" i="1" dirty="0" smtClean="0">
                              <a:latin typeface="Cambria Math"/>
                            </a:rPr>
                            <a:t> </a:t>
                          </a:r>
                        </a:p>
                        <a:p>
                          <a:pPr marL="0" marR="0" lvl="2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i="1" dirty="0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 + 3</m:t>
                                  </m:r>
                                </m:e>
                              </m:d>
                              <m:r>
                                <a:rPr lang="en-GB" b="0" i="1" dirty="0" smtClean="0"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i="1" dirty="0" smtClean="0">
                              <a:latin typeface="Cambria Math"/>
                            </a:rPr>
                            <a:t> </a:t>
                          </a:r>
                        </a:p>
                        <a:p>
                          <a:pPr marL="0" marR="0" lvl="2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3</m:t>
                              </m:r>
                              <m:d>
                                <m:dPr>
                                  <m:ctrlPr>
                                    <a:rPr lang="en-US" i="1" dirty="0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 + 3</m:t>
                                  </m:r>
                                </m:e>
                              </m:d>
                              <m:r>
                                <a:rPr lang="en-US" i="1" dirty="0" smtClean="0">
                                  <a:latin typeface="Cambria Math"/>
                                </a:rPr>
                                <m:t>+ 2 </m:t>
                              </m:r>
                            </m:oMath>
                          </a14:m>
                          <a:r>
                            <a:rPr lang="en-GB" i="1" dirty="0" smtClean="0">
                              <a:latin typeface="Cambria Math"/>
                            </a:rPr>
                            <a:t> </a:t>
                          </a:r>
                        </a:p>
                        <a:p>
                          <a:pPr marL="0" marR="0" lvl="2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 6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+11 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6290014"/>
                  </p:ext>
                </p:extLst>
              </p:nvPr>
            </p:nvGraphicFramePr>
            <p:xfrm>
              <a:off x="1371600" y="4495800"/>
              <a:ext cx="6096000" cy="1224026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2000"/>
                    <a:gridCol w="482600"/>
                    <a:gridCol w="3581400"/>
                  </a:tblGrid>
                  <a:tr h="12240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t="-2500" r="-200300" b="-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416250" t="-2500" r="-733750" b="-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70358" t="-2500" b="-8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6860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Floor &amp; Ceiling Functions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Floor function:</a:t>
                </a:r>
              </a:p>
              <a:p>
                <a:pPr lvl="1"/>
                <a:r>
                  <a:rPr lang="en-US" dirty="0" smtClean="0"/>
                  <a:t>The </a:t>
                </a:r>
                <a:r>
                  <a:rPr lang="en-US" dirty="0"/>
                  <a:t>ﬂoor function assigns to the real number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the largest integer that is less than or equal </a:t>
                </a:r>
                <a:r>
                  <a:rPr lang="en-US" dirty="0" smtClean="0"/>
                  <a:t>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/>
                  <a:t> The value of the ﬂoor function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is denoted by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  <a:endParaRPr lang="en-US" dirty="0" smtClean="0"/>
              </a:p>
              <a:p>
                <a:endParaRPr lang="en-GB" dirty="0" smtClean="0"/>
              </a:p>
              <a:p>
                <a:r>
                  <a:rPr lang="en-GB" dirty="0" smtClean="0"/>
                  <a:t>Ceiling function:</a:t>
                </a:r>
                <a:endParaRPr lang="en-US" dirty="0"/>
              </a:p>
              <a:p>
                <a:pPr lvl="1"/>
                <a:r>
                  <a:rPr lang="en-US" dirty="0" smtClean="0"/>
                  <a:t>The </a:t>
                </a:r>
                <a:r>
                  <a:rPr lang="en-US" dirty="0"/>
                  <a:t>ceiling </a:t>
                </a:r>
                <a:r>
                  <a:rPr lang="en-US" dirty="0" smtClean="0"/>
                  <a:t>function </a:t>
                </a:r>
                <a:r>
                  <a:rPr lang="en-US" dirty="0"/>
                  <a:t>assigns to </a:t>
                </a:r>
                <a:r>
                  <a:rPr lang="en-US" dirty="0" smtClean="0"/>
                  <a:t>the real </a:t>
                </a:r>
                <a:r>
                  <a:rPr lang="en-US" dirty="0"/>
                  <a:t>number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the smallest integer that is greater than or equal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/>
                  <a:t> The value of the </a:t>
                </a:r>
                <a:r>
                  <a:rPr lang="en-US" dirty="0" smtClean="0"/>
                  <a:t>ceiling function </a:t>
                </a:r>
                <a:r>
                  <a:rPr lang="en-US" dirty="0"/>
                  <a:t>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is denoted by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186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Floor &amp; Ceiling Functions(Contd.)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524000"/>
            <a:ext cx="5234197" cy="4191000"/>
          </a:xfrm>
        </p:spPr>
      </p:pic>
    </p:spTree>
    <p:extLst>
      <p:ext uri="{BB962C8B-B14F-4D97-AF65-F5344CB8AC3E}">
        <p14:creationId xmlns:p14="http://schemas.microsoft.com/office/powerpoint/2010/main" val="93664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Floor &amp; Ceiling Functions(Contd.)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Example 13:</a:t>
                </a:r>
              </a:p>
              <a:p>
                <a:pPr lvl="1"/>
                <a:r>
                  <a:rPr lang="en-US" dirty="0"/>
                  <a:t>Prove that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is a real number, then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/>
                          </a:rPr>
                          <m:t>2</m:t>
                        </m:r>
                        <m:r>
                          <a:rPr lang="en-GB" b="0" i="1" dirty="0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+</m:t>
                    </m:r>
                    <m:d>
                      <m:dPr>
                        <m:begChr m:val="⌊"/>
                        <m:endChr m:val="⌋"/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GB" b="0" i="1" dirty="0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GB" b="0" i="1" dirty="0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GB" b="0" i="1" dirty="0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dirty="0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 smtClean="0"/>
                  <a:t>.</a:t>
                </a:r>
                <a:r>
                  <a:rPr lang="en-GB" dirty="0" smtClean="0"/>
                  <a:t> </a:t>
                </a:r>
                <a:endParaRPr lang="en-GB" dirty="0" smtClean="0"/>
              </a:p>
              <a:p>
                <a:pPr lvl="1"/>
                <a:endParaRPr lang="en-GB" dirty="0"/>
              </a:p>
              <a:p>
                <a:r>
                  <a:rPr lang="en-GB" dirty="0" smtClean="0"/>
                  <a:t>Solution : </a:t>
                </a:r>
              </a:p>
              <a:p>
                <a:pPr marL="594360" lvl="2" indent="0">
                  <a:buNone/>
                </a:pPr>
                <a:r>
                  <a:rPr lang="en-GB" dirty="0" smtClean="0"/>
                  <a:t>Let,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  <m:r>
                      <a:rPr lang="en-GB" i="1" dirty="0" smtClean="0">
                        <a:latin typeface="Cambria Math"/>
                      </a:rPr>
                      <m:t> = </m:t>
                    </m:r>
                    <m:r>
                      <a:rPr lang="en-GB" i="1" dirty="0" err="1" smtClean="0">
                        <a:latin typeface="Cambria Math"/>
                      </a:rPr>
                      <m:t>𝑛</m:t>
                    </m:r>
                    <m:r>
                      <a:rPr lang="en-GB" i="1" dirty="0" err="1" smtClean="0">
                        <a:latin typeface="Cambria Math"/>
                      </a:rPr>
                      <m:t>+</m:t>
                    </m:r>
                    <m:r>
                      <a:rPr lang="en-GB" i="1" dirty="0" err="1" smtClean="0">
                        <a:latin typeface="Cambria Math"/>
                      </a:rPr>
                      <m:t>𝑒</m:t>
                    </m:r>
                    <m:r>
                      <a:rPr lang="en-GB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dirty="0" smtClean="0"/>
                  <a:t>where,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dirty="0" smtClean="0"/>
                  <a:t> is an integer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0</m:t>
                    </m:r>
                    <m:r>
                      <a:rPr lang="en-GB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GB" i="1" dirty="0" smtClean="0">
                        <a:latin typeface="Cambria Math"/>
                      </a:rPr>
                      <m:t>𝑒</m:t>
                    </m:r>
                    <m:r>
                      <a:rPr lang="en-GB" i="1" dirty="0" smtClean="0">
                        <a:latin typeface="Cambria Math"/>
                      </a:rPr>
                      <m:t>&lt;1</m:t>
                    </m:r>
                  </m:oMath>
                </a14:m>
                <a:r>
                  <a:rPr lang="en-GB" dirty="0" smtClean="0"/>
                  <a:t>.</a:t>
                </a:r>
                <a:r>
                  <a:rPr lang="en-US" dirty="0"/>
                  <a:t> There</a:t>
                </a:r>
              </a:p>
              <a:p>
                <a:pPr marL="594360" lvl="2" indent="0">
                  <a:buNone/>
                </a:pPr>
                <a:r>
                  <a:rPr lang="en-US" dirty="0"/>
                  <a:t>are two cases to consider, depending on whether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𝑒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&lt;</m:t>
                    </m:r>
                    <m:f>
                      <m:fPr>
                        <m:ctrlPr>
                          <a:rPr lang="en-GB" b="0" i="1" dirty="0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r>
                      <a:rPr lang="en-GB" b="0" i="1" dirty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  <a:ea typeface="Cambria Math"/>
                      </a:rPr>
                      <m:t>𝑜𝑟</m:t>
                    </m:r>
                    <m:r>
                      <a:rPr lang="en-GB" b="0" i="1" dirty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GB" b="0" i="1" dirty="0" smtClean="0">
                        <a:latin typeface="Cambria Math"/>
                        <a:ea typeface="Cambria Math"/>
                      </a:rPr>
                      <m:t>&gt;</m:t>
                    </m:r>
                    <m:f>
                      <m:fPr>
                        <m:ctrlPr>
                          <a:rPr lang="en-GB" b="0" i="1" dirty="0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r>
                      <a:rPr lang="en-GB" b="0" i="1" dirty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  <a:ea typeface="Cambria Math"/>
                      </a:rPr>
                      <m:t>𝑜𝑟</m:t>
                    </m:r>
                    <m:r>
                      <a:rPr lang="en-GB" b="0" i="1" dirty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GB" b="0" i="1" dirty="0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en-GB" b="0" i="1" dirty="0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GB" b="0" i="1" dirty="0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 smtClean="0"/>
                  <a:t>.</a:t>
                </a:r>
              </a:p>
              <a:p>
                <a:pPr marL="594360" lvl="2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053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Floor &amp; Ceiling Functions(Contd.)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594360" lvl="2" indent="0">
                  <a:buNone/>
                </a:pPr>
                <a:r>
                  <a:rPr lang="en-US" dirty="0" smtClean="0"/>
                  <a:t>We ﬁrst consider the case 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0 ≤ </m:t>
                    </m:r>
                    <m:r>
                      <a:rPr lang="en-US" i="1" dirty="0" smtClean="0">
                        <a:latin typeface="Cambria Math"/>
                      </a:rPr>
                      <m:t>𝑒</m:t>
                    </m:r>
                    <m:r>
                      <a:rPr lang="en-US" i="1" dirty="0" smtClean="0">
                        <a:latin typeface="Cambria Math"/>
                      </a:rPr>
                      <m:t>&lt;</m:t>
                    </m:r>
                    <m:f>
                      <m:fPr>
                        <m:ctrlPr>
                          <a:rPr lang="en-US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marL="594360" lvl="2" indent="0">
                  <a:buNone/>
                </a:pPr>
                <a:r>
                  <a:rPr lang="en-US" dirty="0"/>
                  <a:t>In this case,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2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= 2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+ 2</m:t>
                    </m:r>
                    <m:r>
                      <a:rPr lang="en-US" i="1" dirty="0" smtClean="0">
                        <a:latin typeface="Cambria Math"/>
                      </a:rPr>
                      <m:t>𝑒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/>
                          </a:rPr>
                          <m:t>2</m:t>
                        </m:r>
                        <m:r>
                          <a:rPr lang="en-GB" b="0" i="1" dirty="0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=2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 smtClean="0"/>
                  <a:t> 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0 ≤ 2</m:t>
                    </m:r>
                    <m:r>
                      <a:rPr lang="en-GB" b="0" i="1" dirty="0" smtClean="0">
                        <a:latin typeface="Cambria Math"/>
                      </a:rPr>
                      <m:t>𝑒</m:t>
                    </m:r>
                    <m:r>
                      <a:rPr lang="en-US" i="1" dirty="0" smtClean="0">
                        <a:latin typeface="Cambria Math"/>
                      </a:rPr>
                      <m:t>&lt;1</m:t>
                    </m:r>
                  </m:oMath>
                </a14:m>
                <a:r>
                  <a:rPr lang="en-US" dirty="0"/>
                  <a:t>.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Similarly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+</m:t>
                    </m:r>
                    <m:f>
                      <m:f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i="1" dirty="0" smtClean="0">
                        <a:latin typeface="Cambria Math"/>
                      </a:rPr>
                      <m:t>= 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+ (</m:t>
                    </m:r>
                    <m:f>
                      <m:f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i="1" dirty="0" smtClean="0">
                        <a:latin typeface="Cambria Math"/>
                      </a:rPr>
                      <m:t>+</m:t>
                    </m:r>
                    <m:r>
                      <a:rPr lang="en-GB" b="0" i="1" dirty="0" smtClean="0">
                        <a:latin typeface="Cambria Math"/>
                      </a:rPr>
                      <m:t>𝑒</m:t>
                    </m:r>
                    <m:r>
                      <a:rPr lang="en-GB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,</a:t>
                </a:r>
              </a:p>
              <a:p>
                <a:pPr marL="594360" lvl="2" indent="0">
                  <a:buNone/>
                </a:pPr>
                <a:r>
                  <a:rPr lang="en-US" dirty="0" smtClean="0"/>
                  <a:t>So,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  <m:r>
                          <a:rPr lang="en-US" i="1" dirty="0">
                            <a:latin typeface="Cambria Math"/>
                          </a:rPr>
                          <m:t> </m:t>
                        </m:r>
                        <m:r>
                          <a:rPr lang="en-US" i="1" dirty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GB" b="0" i="1" dirty="0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dirty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, because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/>
                      </a:rPr>
                      <m:t>0</m:t>
                    </m:r>
                    <m:r>
                      <a:rPr lang="en-US" i="1" dirty="0" smtClean="0">
                        <a:latin typeface="Cambria Math"/>
                      </a:rPr>
                      <m:t> &lt;</m:t>
                    </m:r>
                    <m:f>
                      <m:f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dirty="0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GB" b="0" i="1" dirty="0" smtClean="0">
                        <a:latin typeface="Cambria Math"/>
                      </a:rPr>
                      <m:t>+</m:t>
                    </m:r>
                    <m:r>
                      <a:rPr lang="en-GB" b="0" i="1" dirty="0" smtClean="0">
                        <a:latin typeface="Cambria Math"/>
                      </a:rPr>
                      <m:t>𝑒</m:t>
                    </m:r>
                    <m:r>
                      <a:rPr lang="en-US" i="1" dirty="0" smtClean="0">
                        <a:latin typeface="Cambria Math"/>
                      </a:rPr>
                      <m:t>&lt;1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594360" lvl="2" indent="0">
                  <a:buNone/>
                </a:pPr>
                <a:r>
                  <a:rPr lang="en-US" dirty="0" smtClean="0"/>
                  <a:t>Consequently,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/>
                          </a:rPr>
                          <m:t>2</m:t>
                        </m:r>
                        <m:r>
                          <a:rPr lang="en-GB" b="0" i="1" dirty="0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=2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+</m:t>
                    </m:r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  <m:r>
                          <a:rPr lang="en-US" i="1" dirty="0">
                            <a:latin typeface="Cambria Math"/>
                          </a:rPr>
                          <m:t> +</m:t>
                        </m:r>
                        <m:f>
                          <m:fPr>
                            <m:ctrlPr>
                              <a:rPr lang="en-GB" b="0" i="1" dirty="0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dirty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 dirty="0">
                        <a:latin typeface="Cambria Math"/>
                      </a:rPr>
                      <m:t>=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+ 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= 2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.</m:t>
                    </m:r>
                  </m:oMath>
                </a14:m>
                <a:endParaRPr lang="en-US" dirty="0"/>
              </a:p>
              <a:p>
                <a:pPr marL="594360" lvl="2" indent="0">
                  <a:buNone/>
                </a:pPr>
                <a:endParaRPr lang="en-GB" dirty="0" smtClean="0"/>
              </a:p>
              <a:p>
                <a:pPr marL="594360" lvl="2" indent="0">
                  <a:buNone/>
                </a:pPr>
                <a:r>
                  <a:rPr lang="en-US" dirty="0"/>
                  <a:t>Next, we consider the case </a:t>
                </a:r>
                <a:r>
                  <a:rPr lang="en-US" dirty="0" smtClean="0"/>
                  <a:t>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i="1" dirty="0" smtClean="0">
                        <a:latin typeface="Cambria Math"/>
                      </a:rPr>
                      <m:t>≤ </m:t>
                    </m:r>
                    <m:r>
                      <a:rPr lang="en-US" i="1" dirty="0" smtClean="0">
                        <a:latin typeface="Cambria Math"/>
                      </a:rPr>
                      <m:t>𝑒</m:t>
                    </m:r>
                    <m:r>
                      <a:rPr lang="en-US" i="1" dirty="0" smtClean="0">
                        <a:latin typeface="Cambria Math"/>
                      </a:rPr>
                      <m:t>&lt;1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594360" lvl="2" indent="0">
                  <a:buNone/>
                </a:pPr>
                <a:r>
                  <a:rPr lang="en-US" dirty="0"/>
                  <a:t>In this case,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2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= 2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+ 2</m:t>
                    </m:r>
                    <m:r>
                      <a:rPr lang="en-GB" b="0" i="1" dirty="0" smtClean="0">
                        <a:latin typeface="Cambria Math"/>
                      </a:rPr>
                      <m:t>𝑒</m:t>
                    </m:r>
                    <m:r>
                      <a:rPr lang="en-US" i="1" dirty="0" smtClean="0">
                        <a:latin typeface="Cambria Math"/>
                      </a:rPr>
                      <m:t> =(</m:t>
                    </m:r>
                    <m:r>
                      <a:rPr lang="en-US" i="1" dirty="0">
                        <a:latin typeface="Cambria Math"/>
                      </a:rPr>
                      <m:t>2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+ 1) + (2</m:t>
                    </m:r>
                    <m:r>
                      <a:rPr lang="en-GB" b="0" i="1" dirty="0" smtClean="0">
                        <a:latin typeface="Cambria Math"/>
                      </a:rPr>
                      <m:t>𝑒</m:t>
                    </m:r>
                    <m:r>
                      <a:rPr lang="en-US" i="1" dirty="0">
                        <a:latin typeface="Cambria Math"/>
                      </a:rPr>
                      <m:t> − 1).</m:t>
                    </m:r>
                  </m:oMath>
                </a14:m>
                <a:r>
                  <a:rPr lang="en-US" dirty="0"/>
                  <a:t> 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0 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i="1" dirty="0" smtClean="0">
                        <a:latin typeface="Cambria Math"/>
                      </a:rPr>
                      <m:t> 2</m:t>
                    </m:r>
                    <m:r>
                      <a:rPr lang="en-GB" b="0" i="1" dirty="0" smtClean="0">
                        <a:latin typeface="Cambria Math"/>
                      </a:rPr>
                      <m:t>𝑒</m:t>
                    </m:r>
                    <m:r>
                      <a:rPr lang="en-US" i="1" dirty="0" smtClean="0">
                        <a:latin typeface="Cambria Math"/>
                      </a:rPr>
                      <m:t>− 1 &lt; 1</m:t>
                    </m:r>
                  </m:oMath>
                </a14:m>
                <a:r>
                  <a:rPr lang="en-US" dirty="0"/>
                  <a:t>, it follows that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/>
                          </a:rPr>
                          <m:t>2</m:t>
                        </m:r>
                        <m:r>
                          <a:rPr lang="en-GB" b="0" i="1" dirty="0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=2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+ 1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594360" lvl="2" indent="0">
                  <a:buNone/>
                </a:pPr>
                <a:r>
                  <a:rPr lang="pt-BR" dirty="0" smtClean="0"/>
                  <a:t>As,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pt-BR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GB" b="0" i="1" dirty="0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GB" b="0" i="1" dirty="0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GB" b="0" i="1" dirty="0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dirty="0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pt-BR" i="1" dirty="0">
                        <a:latin typeface="Cambria Math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pt-BR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/>
                          </a:rPr>
                          <m:t>𝑛</m:t>
                        </m:r>
                        <m:r>
                          <a:rPr lang="en-GB" b="0" i="1" dirty="0" smtClean="0">
                            <a:latin typeface="Cambria Math"/>
                          </a:rPr>
                          <m:t>+</m:t>
                        </m:r>
                        <m:d>
                          <m:dPr>
                            <m:ctrlPr>
                              <a:rPr lang="en-GB" b="0" i="1" dirty="0" smtClean="0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dirty="0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GB" b="0" i="1" dirty="0" smtClean="0"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b="0" i="1" dirty="0" smtClean="0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GB" b="0" i="1" dirty="0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GB" b="0" i="1" dirty="0" smtClean="0">
                                <a:latin typeface="Cambria Math"/>
                              </a:rPr>
                              <m:t>𝑒</m:t>
                            </m:r>
                          </m:e>
                        </m:d>
                      </m:e>
                    </m:d>
                    <m:r>
                      <a:rPr lang="pt-BR" i="1" dirty="0">
                        <a:latin typeface="Cambria Math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pt-BR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/>
                          </a:rPr>
                          <m:t>𝑛</m:t>
                        </m:r>
                        <m:r>
                          <a:rPr lang="en-GB" b="0" i="1" dirty="0" smtClean="0">
                            <a:latin typeface="Cambria Math"/>
                          </a:rPr>
                          <m:t>+1+</m:t>
                        </m:r>
                        <m:d>
                          <m:dPr>
                            <m:ctrlPr>
                              <a:rPr lang="en-GB" b="0" i="1" dirty="0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GB" b="0" i="1" dirty="0" smtClean="0">
                                <a:latin typeface="Cambria Math"/>
                              </a:rPr>
                              <m:t>𝑒</m:t>
                            </m:r>
                            <m:r>
                              <a:rPr lang="en-GB" b="0" i="1" dirty="0" smtClean="0"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GB" b="0" i="1" dirty="0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GB" b="0" i="1" dirty="0" smtClean="0"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b="0" i="1" dirty="0" smtClean="0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0 ≤</m:t>
                    </m:r>
                    <m:r>
                      <a:rPr lang="en-GB" b="0" i="1" dirty="0" smtClean="0">
                        <a:latin typeface="Cambria Math"/>
                      </a:rPr>
                      <m:t>𝑒</m:t>
                    </m:r>
                    <m:r>
                      <a:rPr lang="en-US" i="1" dirty="0" smtClean="0">
                        <a:latin typeface="Cambria Math"/>
                      </a:rPr>
                      <m:t> −</m:t>
                    </m:r>
                    <m:f>
                      <m:fPr>
                        <m:ctrlPr>
                          <a:rPr lang="en-GB" b="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i="1" dirty="0" smtClean="0">
                        <a:latin typeface="Cambria Math"/>
                      </a:rPr>
                      <m:t>&lt;1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67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Floor &amp; Ceiling Functions(Contd.)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594360" lvl="2" indent="0">
                  <a:buNone/>
                </a:pPr>
                <a:r>
                  <a:rPr lang="en-US" dirty="0" smtClean="0"/>
                  <a:t>It follows that,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  <m:r>
                          <a:rPr lang="en-US" i="1" dirty="0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i="1" dirty="0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GB" b="0" i="1" dirty="0" smtClean="0">
                        <a:latin typeface="Cambria Math"/>
                      </a:rPr>
                      <m:t>𝑛</m:t>
                    </m:r>
                    <m:r>
                      <a:rPr lang="en-GB" b="0" i="1" dirty="0" smtClean="0">
                        <a:latin typeface="Cambria Math"/>
                      </a:rPr>
                      <m:t>+1</m:t>
                    </m:r>
                  </m:oMath>
                </a14:m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/>
                  <a:t>Consequently, </a:t>
                </a:r>
                <a:endParaRPr lang="en-US" dirty="0" smtClean="0"/>
              </a:p>
              <a:p>
                <a:pPr marL="594360" lvl="2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/>
                          </a:rPr>
                          <m:t>2</m:t>
                        </m:r>
                        <m:r>
                          <a:rPr lang="en-GB" b="0" i="1" dirty="0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=2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+ 1 </m:t>
                    </m:r>
                    <m:r>
                      <a:rPr lang="en-US" i="1" dirty="0" smtClean="0">
                        <a:latin typeface="Cambria Math"/>
                      </a:rPr>
                      <m:t>𝑎𝑛𝑑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+</m:t>
                    </m:r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GB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GB" b="0" i="1" dirty="0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GB" b="0" i="1" dirty="0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GB" b="0" i="1" dirty="0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dirty="0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 dirty="0">
                        <a:latin typeface="Cambria Math"/>
                      </a:rPr>
                      <m:t>=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+ </m:t>
                    </m:r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𝑛</m:t>
                        </m:r>
                        <m:r>
                          <a:rPr lang="en-US" i="1" dirty="0">
                            <a:latin typeface="Cambria Math"/>
                          </a:rPr>
                          <m:t> + 1</m:t>
                        </m:r>
                      </m:e>
                    </m:d>
                    <m:r>
                      <a:rPr lang="en-US" i="1" dirty="0">
                        <a:latin typeface="Cambria Math"/>
                      </a:rPr>
                      <m:t>= 2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  <m:r>
                      <a:rPr lang="en-US" i="1" dirty="0">
                        <a:latin typeface="Cambria Math"/>
                      </a:rPr>
                      <m:t> + 1.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 </a:t>
                </a:r>
                <a:endParaRPr lang="en-US" dirty="0" smtClean="0"/>
              </a:p>
              <a:p>
                <a:pPr marL="594360" lvl="2" indent="0">
                  <a:buNone/>
                </a:pPr>
                <a:r>
                  <a:rPr lang="en-US" dirty="0" smtClean="0"/>
                  <a:t>This concludes the </a:t>
                </a:r>
                <a:r>
                  <a:rPr lang="en-US" dirty="0"/>
                  <a:t>proof.</a:t>
                </a:r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432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Partial Functions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 partial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from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to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is an assignment to each element a in a </a:t>
                </a:r>
                <a:r>
                  <a:rPr lang="en-US" dirty="0" smtClean="0"/>
                  <a:t>subset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, called the domain of deﬁnition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, of a unique 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. </a:t>
                </a:r>
                <a:endParaRPr lang="en-US" dirty="0" smtClean="0"/>
              </a:p>
              <a:p>
                <a:r>
                  <a:rPr lang="en-US" dirty="0" smtClean="0"/>
                  <a:t>The </a:t>
                </a:r>
                <a:r>
                  <a:rPr lang="en-US" dirty="0"/>
                  <a:t>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are called </a:t>
                </a:r>
                <a:r>
                  <a:rPr lang="en-US" dirty="0"/>
                  <a:t>the domain and codomain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, respectively. </a:t>
                </a:r>
                <a:endParaRPr lang="en-US" dirty="0" smtClean="0"/>
              </a:p>
              <a:p>
                <a:r>
                  <a:rPr lang="en-US" dirty="0" smtClean="0"/>
                  <a:t>We </a:t>
                </a:r>
                <a:r>
                  <a:rPr lang="en-US" dirty="0"/>
                  <a:t>say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is undeﬁned for </a:t>
                </a:r>
                <a:r>
                  <a:rPr lang="en-US" dirty="0" smtClean="0"/>
                  <a:t>elements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that are not in the domain of deﬁnition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.</m:t>
                    </m:r>
                  </m:oMath>
                </a14:m>
                <a:r>
                  <a:rPr lang="en-US" dirty="0"/>
                  <a:t> </a:t>
                </a:r>
                <a:endParaRPr lang="en-US" dirty="0" smtClean="0"/>
              </a:p>
              <a:p>
                <a:r>
                  <a:rPr lang="en-US" dirty="0" smtClean="0"/>
                  <a:t>When </a:t>
                </a:r>
                <a:r>
                  <a:rPr lang="en-US" dirty="0"/>
                  <a:t>the domain of deﬁnition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equals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, we say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a total function.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852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46856" y="764704"/>
            <a:ext cx="8229600" cy="2808312"/>
          </a:xfrm>
        </p:spPr>
        <p:txBody>
          <a:bodyPr/>
          <a:lstStyle/>
          <a:p>
            <a:pPr algn="ctr"/>
            <a:r>
              <a:rPr lang="en-GB" dirty="0" smtClean="0"/>
              <a:t>THE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97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1062</TotalTime>
  <Words>2587</Words>
  <Application>Microsoft Office PowerPoint</Application>
  <PresentationFormat>On-screen Show (4:3)</PresentationFormat>
  <Paragraphs>204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Origin</vt:lpstr>
      <vt:lpstr>Chapter 2  Basic Structures: Sets, Functions, Sequences, Sums, and Matrices </vt:lpstr>
      <vt:lpstr>Functions </vt:lpstr>
      <vt:lpstr>Functions (Contd.) </vt:lpstr>
      <vt:lpstr> Functions (Contd.) </vt:lpstr>
      <vt:lpstr>Functions (Contd.) </vt:lpstr>
      <vt:lpstr> Functions(Contd.)</vt:lpstr>
      <vt:lpstr> Functions(Contd.) </vt:lpstr>
      <vt:lpstr>One-to-One Functions/Injunctions</vt:lpstr>
      <vt:lpstr>One-to-One Functions/Injunctions (Contd.)</vt:lpstr>
      <vt:lpstr>One-to-One Functions/Injunctions (Contd.)</vt:lpstr>
      <vt:lpstr>One-to-One Function/Injunctions (Contd.)</vt:lpstr>
      <vt:lpstr>Onto Functions/Surjections</vt:lpstr>
      <vt:lpstr>Onto Functions/Surjections (Contd.)</vt:lpstr>
      <vt:lpstr>Onto Functions/Surjections (Contd.)</vt:lpstr>
      <vt:lpstr>One-to-One Correspondence/Bijections</vt:lpstr>
      <vt:lpstr>One-to-One Correspondence/Bijections(Contd.)</vt:lpstr>
      <vt:lpstr>Comparison of One-to-One, Onto, Bijections</vt:lpstr>
      <vt:lpstr>Inverse Functions</vt:lpstr>
      <vt:lpstr>Inverse Functions(Contd.)</vt:lpstr>
      <vt:lpstr>Inverse Functions(Contd.)</vt:lpstr>
      <vt:lpstr>Inverse Functions(Contd.)</vt:lpstr>
      <vt:lpstr>Composition of Functions</vt:lpstr>
      <vt:lpstr>Composition of Functions(Contd.)</vt:lpstr>
      <vt:lpstr>Composition of Functions(Contd.)</vt:lpstr>
      <vt:lpstr>Floor &amp; Ceiling Functions</vt:lpstr>
      <vt:lpstr>Floor &amp; Ceiling Functions(Contd.)</vt:lpstr>
      <vt:lpstr>Floor &amp; Ceiling Functions(Contd.)</vt:lpstr>
      <vt:lpstr>Floor &amp; Ceiling Functions(Contd.)</vt:lpstr>
      <vt:lpstr>Floor &amp; Ceiling Functions(Contd.)</vt:lpstr>
      <vt:lpstr>Partial Functions</vt:lpstr>
      <vt:lpstr>THE END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 Basic Structures: Sets, Functions, Sequences, Sums, and Matrices </dc:title>
  <dc:creator>Sunef</dc:creator>
  <cp:lastModifiedBy>Sunef</cp:lastModifiedBy>
  <cp:revision>46</cp:revision>
  <dcterms:created xsi:type="dcterms:W3CDTF">2006-08-16T00:00:00Z</dcterms:created>
  <dcterms:modified xsi:type="dcterms:W3CDTF">2018-09-14T17:11:02Z</dcterms:modified>
</cp:coreProperties>
</file>