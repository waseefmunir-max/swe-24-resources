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81" r:id="rId3"/>
    <p:sldId id="282" r:id="rId4"/>
    <p:sldId id="283" r:id="rId5"/>
    <p:sldId id="284" r:id="rId6"/>
    <p:sldId id="285" r:id="rId7"/>
    <p:sldId id="286" r:id="rId8"/>
    <p:sldId id="310" r:id="rId9"/>
    <p:sldId id="287" r:id="rId10"/>
    <p:sldId id="288" r:id="rId11"/>
    <p:sldId id="311" r:id="rId12"/>
    <p:sldId id="289" r:id="rId13"/>
    <p:sldId id="290" r:id="rId14"/>
    <p:sldId id="291" r:id="rId15"/>
    <p:sldId id="312" r:id="rId16"/>
    <p:sldId id="293" r:id="rId17"/>
    <p:sldId id="295" r:id="rId18"/>
    <p:sldId id="294" r:id="rId19"/>
    <p:sldId id="28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hapter 2[2.4]" id="{BCA1E553-9914-40C8-8BDE-FA02AD59CB75}">
          <p14:sldIdLst>
            <p14:sldId id="256"/>
          </p14:sldIdLst>
        </p14:section>
        <p14:section name="Sequences" id="{CCEB05CC-95F9-4360-8961-47A841159CEB}">
          <p14:sldIdLst>
            <p14:sldId id="281"/>
            <p14:sldId id="282"/>
          </p14:sldIdLst>
        </p14:section>
        <p14:section name="Progressions" id="{56DA149C-A2EB-4AD6-843D-1B291C12B4AF}">
          <p14:sldIdLst>
            <p14:sldId id="283"/>
            <p14:sldId id="284"/>
            <p14:sldId id="285"/>
            <p14:sldId id="286"/>
            <p14:sldId id="310"/>
          </p14:sldIdLst>
        </p14:section>
        <p14:section name="Recurrence Relations" id="{BFF2B7FE-79E3-4DE8-AE13-432B9F57AFE0}">
          <p14:sldIdLst>
            <p14:sldId id="287"/>
            <p14:sldId id="288"/>
            <p14:sldId id="311"/>
            <p14:sldId id="289"/>
            <p14:sldId id="290"/>
            <p14:sldId id="291"/>
            <p14:sldId id="312"/>
            <p14:sldId id="293"/>
          </p14:sldIdLst>
        </p14:section>
        <p14:section name="Summation" id="{F024B57A-2AF6-4E9F-8CAE-EE195C293276}">
          <p14:sldIdLst>
            <p14:sldId id="295"/>
            <p14:sldId id="294"/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>
      <p:cViewPr varScale="1">
        <p:scale>
          <a:sx n="114" d="100"/>
          <a:sy n="114" d="100"/>
        </p:scale>
        <p:origin x="1506" y="10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1219200" y="3886200"/>
            <a:ext cx="6858000" cy="990600"/>
          </a:xfrm>
        </p:spPr>
        <p:txBody>
          <a:bodyPr anchor="t" anchorCtr="0"/>
          <a:lstStyle>
            <a:lvl1pPr algn="r">
              <a:defRPr sz="320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/>
          <a:lstStyle>
            <a:lvl1pPr marL="0" indent="0" algn="r">
              <a:buNone/>
              <a:defRPr sz="20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/>
              <a:t>Click to edit Master subtitle style</a:t>
            </a:r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>
            <a:lvl1pPr>
              <a:defRPr sz="1400"/>
            </a:lvl1pPr>
          </a:lstStyle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1216152" y="6355080"/>
            <a:ext cx="1219200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04875" y="3648075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3" name="Rectangle 32"/>
          <p:cNvSpPr/>
          <p:nvPr/>
        </p:nvSpPr>
        <p:spPr>
          <a:xfrm>
            <a:off x="914400" y="5048250"/>
            <a:ext cx="7315200" cy="685800"/>
          </a:xfrm>
          <a:prstGeom prst="rect">
            <a:avLst/>
          </a:prstGeom>
          <a:noFill/>
          <a:ln w="6350" cap="rnd" cmpd="sng" algn="ctr">
            <a:solidFill>
              <a:schemeClr val="accent2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2" name="Rectangle 21"/>
          <p:cNvSpPr/>
          <p:nvPr/>
        </p:nvSpPr>
        <p:spPr>
          <a:xfrm>
            <a:off x="904875" y="3648075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32" name="Rectangle 31"/>
          <p:cNvSpPr/>
          <p:nvPr/>
        </p:nvSpPr>
        <p:spPr>
          <a:xfrm>
            <a:off x="914400" y="5048250"/>
            <a:ext cx="228600" cy="685800"/>
          </a:xfrm>
          <a:prstGeom prst="rect">
            <a:avLst/>
          </a:prstGeom>
          <a:solidFill>
            <a:schemeClr val="accent2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8229600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19200" y="2971800"/>
            <a:ext cx="6858000" cy="1066800"/>
          </a:xfrm>
        </p:spPr>
        <p:txBody>
          <a:bodyPr anchor="t" anchorCtr="0"/>
          <a:lstStyle>
            <a:lvl1pPr algn="r">
              <a:buNone/>
              <a:defRPr sz="3200" b="0" cap="none" baseline="0"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267200"/>
            <a:ext cx="6781800" cy="1143000"/>
          </a:xfrm>
        </p:spPr>
        <p:txBody>
          <a:bodyPr anchor="t" anchorCtr="0"/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00800" y="6355080"/>
            <a:ext cx="2286000" cy="365760"/>
          </a:xfrm>
        </p:spPr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898648" y="6355080"/>
            <a:ext cx="3474720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9848" y="6355080"/>
            <a:ext cx="1520952" cy="365760"/>
          </a:xfrm>
        </p:spPr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914400" y="2819400"/>
            <a:ext cx="7315200" cy="1280160"/>
          </a:xfrm>
          <a:prstGeom prst="rect">
            <a:avLst/>
          </a:prstGeom>
          <a:noFill/>
          <a:ln w="6350" cap="rnd" cmpd="sng" algn="ctr">
            <a:solidFill>
              <a:schemeClr val="accent1"/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914400" y="2819400"/>
            <a:ext cx="228600" cy="128016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"/>
          </p:nvPr>
        </p:nvSpPr>
        <p:spPr>
          <a:xfrm>
            <a:off x="457200" y="1219200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632198" y="1216152"/>
            <a:ext cx="4041648" cy="493776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 anchor="ctr"/>
          <a:lstStyle>
            <a:lvl1pPr>
              <a:defRPr/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85875"/>
            <a:ext cx="4040188" cy="685800"/>
          </a:xfrm>
          <a:noFill/>
          <a:ln>
            <a:noFill/>
          </a:ln>
        </p:spPr>
        <p:txBody>
          <a:bodyPr lIns="91440" anchor="b" anchorCtr="0">
            <a:noAutofit/>
          </a:bodyPr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8200" y="1295400"/>
            <a:ext cx="4041775" cy="685800"/>
          </a:xfrm>
          <a:noFill/>
          <a:ln>
            <a:noFill/>
          </a:ln>
        </p:spPr>
        <p:txBody>
          <a:bodyPr lIns="91440" anchor="b" anchorCtr="0"/>
          <a:lstStyle>
            <a:lvl1pPr marL="0" indent="0">
              <a:buNone/>
              <a:defRPr sz="2400" b="1">
                <a:solidFill>
                  <a:schemeClr val="accent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Content Placeholder 10"/>
          <p:cNvSpPr>
            <a:spLocks noGrp="1"/>
          </p:cNvSpPr>
          <p:nvPr>
            <p:ph sz="quarter" idx="2"/>
          </p:nvPr>
        </p:nvSpPr>
        <p:spPr>
          <a:xfrm>
            <a:off x="457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4"/>
          </p:nvPr>
        </p:nvSpPr>
        <p:spPr>
          <a:xfrm>
            <a:off x="4648200" y="2133600"/>
            <a:ext cx="4038600" cy="40386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28600"/>
            <a:ext cx="8229600" cy="914400"/>
          </a:xfrm>
        </p:spPr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Straight Connector 4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6" name="Isosceles Triangle 5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24600" y="304800"/>
            <a:ext cx="2514600" cy="838200"/>
          </a:xfrm>
        </p:spPr>
        <p:txBody>
          <a:bodyPr anchor="b" anchorCtr="0">
            <a:noAutofit/>
          </a:bodyPr>
          <a:lstStyle>
            <a:lvl1pPr algn="l">
              <a:buNone/>
              <a:defRPr sz="2000" b="1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324600" y="1219200"/>
            <a:ext cx="2514600" cy="4843463"/>
          </a:xfrm>
        </p:spPr>
        <p:txBody>
          <a:bodyPr/>
          <a:lstStyle>
            <a:lvl1pPr marL="0" indent="0">
              <a:lnSpc>
                <a:spcPts val="22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Straight Connector 9"/>
          <p:cNvSpPr>
            <a:spLocks noChangeShapeType="1"/>
          </p:cNvSpPr>
          <p:nvPr/>
        </p:nvSpPr>
        <p:spPr bwMode="auto">
          <a:xfrm rot="5400000">
            <a:off x="3160645" y="3324225"/>
            <a:ext cx="603504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 dirty="0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Content Placeholder 11"/>
          <p:cNvSpPr>
            <a:spLocks noGrp="1"/>
          </p:cNvSpPr>
          <p:nvPr>
            <p:ph sz="quarter" idx="1"/>
          </p:nvPr>
        </p:nvSpPr>
        <p:spPr>
          <a:xfrm>
            <a:off x="304800" y="304800"/>
            <a:ext cx="5715000" cy="5715000"/>
          </a:xfrm>
        </p:spPr>
        <p:txBody>
          <a:bodyPr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00856"/>
            <a:ext cx="8229600" cy="674688"/>
          </a:xfrm>
          <a:ln>
            <a:solidFill>
              <a:schemeClr val="accent1"/>
            </a:solidFill>
          </a:ln>
        </p:spPr>
        <p:txBody>
          <a:bodyPr lIns="274320" anchor="ctr"/>
          <a:lstStyle>
            <a:lvl1pPr algn="r">
              <a:buNone/>
              <a:defRPr sz="2000" b="0">
                <a:solidFill>
                  <a:schemeClr val="tx1"/>
                </a:solidFill>
              </a:defRPr>
            </a:lvl1pPr>
          </a:lstStyle>
          <a:p>
            <a:r>
              <a:rPr kumimoji="0"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1905000"/>
            <a:ext cx="8229600" cy="4270248"/>
          </a:xfrm>
          <a:solidFill>
            <a:schemeClr val="tx1">
              <a:shade val="50000"/>
            </a:schemeClr>
          </a:solidFill>
          <a:ln>
            <a:noFill/>
          </a:ln>
          <a:effectLst/>
        </p:spPr>
        <p:txBody>
          <a:bodyPr/>
          <a:lstStyle>
            <a:lvl1pPr marL="0" indent="0">
              <a:spcBef>
                <a:spcPts val="600"/>
              </a:spcBef>
              <a:buNone/>
              <a:defRPr sz="3200"/>
            </a:lvl1pPr>
          </a:lstStyle>
          <a:p>
            <a:r>
              <a:rPr kumimoji="0" lang="en-US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219200"/>
            <a:ext cx="8229600" cy="533400"/>
          </a:xfrm>
        </p:spPr>
        <p:txBody>
          <a:bodyPr anchor="ctr" anchorCtr="0"/>
          <a:lstStyle>
            <a:lvl1pPr marL="0" indent="0" algn="l">
              <a:buFontTx/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Straight Connector 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9" name="Isosceles Triangle 8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457200" y="500856"/>
            <a:ext cx="182880" cy="685800"/>
          </a:xfrm>
          <a:prstGeom prst="rect">
            <a:avLst/>
          </a:prstGeom>
          <a:solidFill>
            <a:schemeClr val="accent1"/>
          </a:solidFill>
          <a:ln w="635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/>
              <a:t>Click to edit Master text styles</a:t>
            </a:r>
          </a:p>
          <a:p>
            <a:pPr lvl="1" eaLnBrk="1" latinLnBrk="0" hangingPunct="1"/>
            <a:r>
              <a:rPr lang="en-US"/>
              <a:t>Second level</a:t>
            </a:r>
          </a:p>
          <a:p>
            <a:pPr lvl="2" eaLnBrk="1" latinLnBrk="0" hangingPunct="1"/>
            <a:r>
              <a:rPr lang="en-US"/>
              <a:t>Third level</a:t>
            </a:r>
          </a:p>
          <a:p>
            <a:pPr lvl="3" eaLnBrk="1" latinLnBrk="0" hangingPunct="1"/>
            <a:r>
              <a:rPr lang="en-US"/>
              <a:t>Fourth level</a:t>
            </a:r>
          </a:p>
          <a:p>
            <a:pPr lvl="4" eaLnBrk="1" latinLnBrk="0" hangingPunct="1"/>
            <a:r>
              <a:rPr lang="en-US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Straight Connector 6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8" name="Isosceles Triangle 7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Straight Connector 8"/>
          <p:cNvSpPr>
            <a:spLocks noChangeShapeType="1"/>
          </p:cNvSpPr>
          <p:nvPr/>
        </p:nvSpPr>
        <p:spPr bwMode="auto">
          <a:xfrm rot="5400000">
            <a:off x="3629607" y="3201952"/>
            <a:ext cx="585216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990600"/>
          </a:xfrm>
          <a:prstGeom prst="rect">
            <a:avLst/>
          </a:prstGeom>
        </p:spPr>
        <p:txBody>
          <a:bodyPr vert="horz" anchor="b" anchorCtr="0">
            <a:normAutofit/>
          </a:bodyPr>
          <a:lstStyle/>
          <a:p>
            <a:r>
              <a:rPr kumimoji="0" lang="en-US"/>
              <a:t>Click to edit Master title style</a:t>
            </a:r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219200"/>
            <a:ext cx="8229600" cy="4910328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/>
              <a:t>Click to edit Master text styles</a:t>
            </a:r>
          </a:p>
          <a:p>
            <a:pPr lvl="1" eaLnBrk="1" latinLnBrk="0" hangingPunct="1"/>
            <a:r>
              <a:rPr kumimoji="0" lang="en-US"/>
              <a:t>Second level</a:t>
            </a:r>
          </a:p>
          <a:p>
            <a:pPr lvl="2" eaLnBrk="1" latinLnBrk="0" hangingPunct="1"/>
            <a:r>
              <a:rPr kumimoji="0" lang="en-US"/>
              <a:t>Third level</a:t>
            </a:r>
          </a:p>
          <a:p>
            <a:pPr lvl="3" eaLnBrk="1" latinLnBrk="0" hangingPunct="1"/>
            <a:r>
              <a:rPr kumimoji="0" lang="en-US"/>
              <a:t>Fourth level</a:t>
            </a:r>
          </a:p>
          <a:p>
            <a:pPr lvl="4" eaLnBrk="1" latinLnBrk="0" hangingPunct="1"/>
            <a:r>
              <a:rPr kumimoji="0" lang="en-US"/>
              <a:t>Fifth level</a:t>
            </a:r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6400800" y="6356350"/>
            <a:ext cx="2289048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10/22/2020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2898648" y="6356350"/>
            <a:ext cx="3505200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612648" y="6356350"/>
            <a:ext cx="19812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40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8" name="Straight Connector 27"/>
          <p:cNvSpPr>
            <a:spLocks noChangeShapeType="1"/>
          </p:cNvSpPr>
          <p:nvPr/>
        </p:nvSpPr>
        <p:spPr bwMode="auto">
          <a:xfrm>
            <a:off x="457200" y="6353175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29" name="Straight Connector 28"/>
          <p:cNvSpPr>
            <a:spLocks noChangeShapeType="1"/>
          </p:cNvSpPr>
          <p:nvPr/>
        </p:nvSpPr>
        <p:spPr bwMode="auto">
          <a:xfrm>
            <a:off x="457200" y="1143000"/>
            <a:ext cx="8229600" cy="0"/>
          </a:xfrm>
          <a:prstGeom prst="line">
            <a:avLst/>
          </a:prstGeom>
          <a:noFill/>
          <a:ln w="9525" cap="flat" cmpd="sng" algn="ctr">
            <a:solidFill>
              <a:schemeClr val="accent2"/>
            </a:solidFill>
            <a:prstDash val="dash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0" name="Isosceles Triangle 9"/>
          <p:cNvSpPr>
            <a:spLocks noChangeAspect="1"/>
          </p:cNvSpPr>
          <p:nvPr/>
        </p:nvSpPr>
        <p:spPr>
          <a:xfrm rot="5400000">
            <a:off x="419100" y="6467475"/>
            <a:ext cx="190849" cy="120314"/>
          </a:xfrm>
          <a:prstGeom prst="triangle">
            <a:avLst>
              <a:gd name="adj" fmla="val 50000"/>
            </a:avLst>
          </a:prstGeom>
          <a:solidFill>
            <a:schemeClr val="accent2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sz="3200" kern="120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1"/>
        </a:buClr>
        <a:buSzPct val="76000"/>
        <a:buFont typeface="Wingdings 3"/>
        <a:buChar char="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ts val="500"/>
        </a:spcBef>
        <a:buClr>
          <a:schemeClr val="accent2"/>
        </a:buClr>
        <a:buSzPct val="76000"/>
        <a:buFont typeface="Wingdings 3"/>
        <a:buChar char=""/>
        <a:defRPr kumimoji="0" sz="23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ts val="500"/>
        </a:spcBef>
        <a:buClr>
          <a:schemeClr val="bg1">
            <a:shade val="50000"/>
          </a:schemeClr>
        </a:buClr>
        <a:buSzPct val="76000"/>
        <a:buFont typeface="Wingdings 3"/>
        <a:buChar char="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ts val="400"/>
        </a:spcBef>
        <a:buClr>
          <a:schemeClr val="accent2">
            <a:shade val="75000"/>
          </a:schemeClr>
        </a:buClr>
        <a:buSzPct val="70000"/>
        <a:buFont typeface="Wingdings"/>
        <a:buChar char="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00"/>
        </a:spcBef>
        <a:buClr>
          <a:schemeClr val="accent2"/>
        </a:buClr>
        <a:buSzPct val="70000"/>
        <a:buFont typeface="Wingdings"/>
        <a:buChar char="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ts val="300"/>
        </a:spcBef>
        <a:buClr>
          <a:srgbClr val="9FB8CD">
            <a:shade val="75000"/>
          </a:srgbClr>
        </a:buClr>
        <a:buSzPct val="75000"/>
        <a:buFont typeface="Wingdings 3"/>
        <a:buChar char=""/>
        <a:defRPr kumimoji="0" lang="en-US" sz="1600" kern="1200" smtClean="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ts val="300"/>
        </a:spcBef>
        <a:buClr>
          <a:srgbClr val="727CA3">
            <a:shade val="75000"/>
          </a:srgb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7pPr>
      <a:lvl8pPr marL="2011680" indent="-182880" algn="l" rtl="0" eaLnBrk="1" latinLnBrk="0" hangingPunct="1">
        <a:spcBef>
          <a:spcPts val="300"/>
        </a:spcBef>
        <a:buClr>
          <a:prstClr val="white">
            <a:shade val="50000"/>
          </a:prstClr>
        </a:buClr>
        <a:buSzPct val="75000"/>
        <a:buFont typeface="Wingdings 3"/>
        <a:buChar char=""/>
        <a:defRPr kumimoji="0" lang="en-US" sz="1400" kern="1200" smtClean="0">
          <a:solidFill>
            <a:schemeClr val="tx1"/>
          </a:solidFill>
          <a:latin typeface="+mn-lt"/>
          <a:ea typeface="+mn-ea"/>
          <a:cs typeface="+mn-cs"/>
        </a:defRPr>
      </a:lvl8pPr>
      <a:lvl9pPr marL="2194560" indent="-182880" algn="l" rtl="0" eaLnBrk="1" latinLnBrk="0" hangingPunct="1">
        <a:spcBef>
          <a:spcPts val="300"/>
        </a:spcBef>
        <a:buClr>
          <a:srgbClr val="9FB8CD"/>
        </a:buClr>
        <a:buSzPct val="75000"/>
        <a:buFont typeface="Wingdings 3"/>
        <a:buChar char=""/>
        <a:defRPr kumimoji="0" lang="en-US" sz="1200" kern="1200" smtClean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png"/><Relationship Id="rId4" Type="http://schemas.openxmlformats.org/officeDocument/2006/relationships/image" Target="../media/image48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8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0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3"/>
          <p:cNvSpPr>
            <a:spLocks noGrp="1"/>
          </p:cNvSpPr>
          <p:nvPr>
            <p:ph type="ctrTitle"/>
          </p:nvPr>
        </p:nvSpPr>
        <p:spPr>
          <a:xfrm>
            <a:off x="1043608" y="3577208"/>
            <a:ext cx="7177608" cy="1375792"/>
          </a:xfrm>
        </p:spPr>
        <p:txBody>
          <a:bodyPr>
            <a:normAutofit fontScale="90000"/>
          </a:bodyPr>
          <a:lstStyle/>
          <a:p>
            <a:pPr algn="ctr"/>
            <a:r>
              <a:rPr lang="en-GB" b="1" u="sng" dirty="0"/>
              <a:t>Chapter 2</a:t>
            </a:r>
            <a:r>
              <a:rPr lang="en-GB" dirty="0"/>
              <a:t> </a:t>
            </a:r>
            <a:br>
              <a:rPr lang="en-GB" dirty="0"/>
            </a:br>
            <a:r>
              <a:rPr lang="en-US" b="1" dirty="0"/>
              <a:t>Basic Structures: Sets, Functions,</a:t>
            </a:r>
            <a:br>
              <a:rPr lang="en-US" b="1" dirty="0"/>
            </a:br>
            <a:r>
              <a:rPr lang="en-US" b="1" dirty="0"/>
              <a:t>Sequences, Sums, and Matrices</a:t>
            </a:r>
            <a:r>
              <a:rPr lang="en-GB" b="1" dirty="0"/>
              <a:t> </a:t>
            </a:r>
            <a:endParaRPr lang="en-US" b="1" dirty="0"/>
          </a:p>
        </p:txBody>
      </p:sp>
      <p:sp>
        <p:nvSpPr>
          <p:cNvPr id="7" name="Subtitle 4"/>
          <p:cNvSpPr>
            <a:spLocks noGrp="1"/>
          </p:cNvSpPr>
          <p:nvPr>
            <p:ph type="subTitle" idx="1"/>
          </p:nvPr>
        </p:nvSpPr>
        <p:spPr>
          <a:xfrm>
            <a:off x="1219200" y="5124450"/>
            <a:ext cx="6858000" cy="533400"/>
          </a:xfrm>
        </p:spPr>
        <p:txBody>
          <a:bodyPr>
            <a:normAutofit/>
          </a:bodyPr>
          <a:lstStyle/>
          <a:p>
            <a:r>
              <a:rPr lang="en-GB" dirty="0"/>
              <a:t>Section 2.4 : Sequences and Summations</a:t>
            </a:r>
          </a:p>
          <a:p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6370225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Sequences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A sequence is a discrete structure used to represent an ordered list. </a:t>
                </a:r>
              </a:p>
              <a:p>
                <a:r>
                  <a:rPr lang="en-US" dirty="0"/>
                  <a:t>It is defined as a function from a subset of the set of integers (usually either the set {0</a:t>
                </a:r>
                <a:r>
                  <a:rPr lang="en-US" i="1" dirty="0"/>
                  <a:t>, </a:t>
                </a:r>
                <a:r>
                  <a:rPr lang="en-US" dirty="0"/>
                  <a:t>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. . .</a:t>
                </a:r>
                <a:r>
                  <a:rPr lang="en-US" dirty="0"/>
                  <a:t>} or the set {1</a:t>
                </a:r>
                <a:r>
                  <a:rPr lang="en-US" i="1" dirty="0"/>
                  <a:t>, </a:t>
                </a:r>
                <a:r>
                  <a:rPr lang="en-US" dirty="0"/>
                  <a:t>2</a:t>
                </a:r>
                <a:r>
                  <a:rPr lang="en-US" i="1" dirty="0"/>
                  <a:t>, </a:t>
                </a:r>
                <a:r>
                  <a:rPr lang="en-US" dirty="0"/>
                  <a:t>3</a:t>
                </a:r>
                <a:r>
                  <a:rPr lang="en-US" i="1" dirty="0"/>
                  <a:t>, . . .</a:t>
                </a:r>
                <a:r>
                  <a:rPr lang="en-US" dirty="0"/>
                  <a:t>}) to a set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𝑆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use the notation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to denote the image of the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</a:t>
                </a:r>
              </a:p>
              <a:p>
                <a:r>
                  <a:rPr lang="en-US" dirty="0"/>
                  <a:t>We call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a </a:t>
                </a:r>
                <a:r>
                  <a:rPr lang="en-US" i="1" dirty="0"/>
                  <a:t>term </a:t>
                </a:r>
                <a:r>
                  <a:rPr lang="en-US" dirty="0"/>
                  <a:t>of the sequence.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 r="-88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767665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Sequences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Example 1: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Consider the sequence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, where,</a:t>
                </a:r>
              </a:p>
              <a:p>
                <a:pPr marL="274320" lvl="1" indent="0">
                  <a:buNone/>
                </a:pPr>
                <a:r>
                  <a:rPr lang="en-US" dirty="0"/>
                  <a:t> </a:t>
                </a:r>
              </a:p>
              <a:p>
                <a:pPr marL="594360" lvl="2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den>
                      </m:f>
                    </m:oMath>
                  </m:oMathPara>
                </a14:m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 list of the terms of this sequence, beginning 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 [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 is not possible as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=∞</m:t>
                    </m:r>
                  </m:oMath>
                </a14:m>
                <a:r>
                  <a:rPr lang="en-US" dirty="0"/>
                  <a:t> and the domain of the function is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</m:t>
                    </m:r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1, 2, 3, …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b="0" dirty="0"/>
                  <a:t> ] are,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b="0" dirty="0"/>
              </a:p>
              <a:p>
                <a:pPr marL="274320" lvl="1" indent="0">
                  <a:buNone/>
                </a:pPr>
                <a:r>
                  <a:rPr lang="en-US" b="0" dirty="0"/>
                  <a:t>Thus, the sequence will be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1,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,…</m:t>
                    </m:r>
                  </m:oMath>
                </a14:m>
                <a:endParaRPr lang="en-US" b="0" dirty="0"/>
              </a:p>
              <a:p>
                <a:endParaRPr lang="en-US" sz="2300" b="0" dirty="0"/>
              </a:p>
              <a:p>
                <a:pPr lvl="1"/>
                <a:endParaRPr lang="en-US" b="0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40609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Progressions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</p:spPr>
            <p:txBody>
              <a:bodyPr>
                <a:normAutofit/>
              </a:bodyPr>
              <a:lstStyle/>
              <a:p>
                <a:r>
                  <a:rPr lang="en-US" dirty="0"/>
                  <a:t>Geometric Progression:</a:t>
                </a:r>
              </a:p>
              <a:p>
                <a:pPr lvl="1"/>
                <a:r>
                  <a:rPr lang="en-US" dirty="0"/>
                  <a:t>A sequence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initial term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the </a:t>
                </a:r>
                <a:r>
                  <a:rPr lang="en-US" b="1" dirty="0"/>
                  <a:t>common ratio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are real numbers.</a:t>
                </a:r>
              </a:p>
              <a:p>
                <a:pPr lvl="1"/>
                <a:r>
                  <a:rPr lang="en-US" dirty="0"/>
                  <a:t>It is a discrete analogue of the exponential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𝑟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endParaRPr lang="en-US" dirty="0"/>
              </a:p>
              <a:p>
                <a:r>
                  <a:rPr lang="en-US" dirty="0"/>
                  <a:t>Arithmetic Progression:</a:t>
                </a:r>
              </a:p>
              <a:p>
                <a:pPr lvl="1"/>
                <a:r>
                  <a:rPr lang="en-US" dirty="0"/>
                  <a:t>A sequence of the form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…,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…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The </a:t>
                </a:r>
                <a:r>
                  <a:rPr lang="en-US" b="1" dirty="0"/>
                  <a:t>initial term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the </a:t>
                </a:r>
                <a:r>
                  <a:rPr lang="en-US" b="1" dirty="0"/>
                  <a:t>common difference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dirty="0"/>
                  <a:t> are real numbers.</a:t>
                </a:r>
              </a:p>
              <a:p>
                <a:pPr lvl="1"/>
                <a:r>
                  <a:rPr lang="en-US" dirty="0"/>
                  <a:t>It is a discrete analogue of the linear function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458200" cy="4937760"/>
              </a:xfrm>
              <a:blipFill>
                <a:blip r:embed="rId2"/>
                <a:stretch>
                  <a:fillRect l="-648" t="-1111" r="-86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0900637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Progressions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 Example 2: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Consider the following sequences</a:t>
                </a:r>
              </a:p>
              <a:p>
                <a:pPr marL="1051560" lvl="2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𝑏</m:t>
                            </m:r>
                          </m:e>
                          <m:sup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1051560" lvl="2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2 </m:t>
                        </m:r>
                        <m:r>
                          <a:rPr lang="en-US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1051560" lvl="2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𝑑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with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6∙</m:t>
                        </m:r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endParaRPr lang="en-GB" dirty="0"/>
              </a:p>
              <a:p>
                <a:pPr marL="320040" lvl="1" indent="0">
                  <a:buNone/>
                </a:pPr>
                <a:endParaRPr lang="en-GB" dirty="0"/>
              </a:p>
              <a:p>
                <a:pPr marL="320040" lvl="1" indent="0">
                  <a:buNone/>
                </a:pPr>
                <a:r>
                  <a:rPr lang="en-GB" dirty="0"/>
                  <a:t>Find out the following,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What type of progressions are they? 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What are the initial terms and common factors?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Find the list of terms in the sequences and their values.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6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506629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Progressions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Solution: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progressions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lang="en-US" dirty="0"/>
                  <a:t> are all geometric progressions.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initial terms and the common ratios are listed below,</a:t>
                </a:r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list of terms and their values are listed below,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E57FDF-CB90-40BB-8184-40CF1948ED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842978"/>
                  </p:ext>
                </p:extLst>
              </p:nvPr>
            </p:nvGraphicFramePr>
            <p:xfrm>
              <a:off x="2335371" y="2569337"/>
              <a:ext cx="4473258" cy="166211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409258">
                      <a:extLst>
                        <a:ext uri="{9D8B030D-6E8A-4147-A177-3AD203B41FA5}">
                          <a16:colId xmlns:a16="http://schemas.microsoft.com/office/drawing/2014/main" val="138375380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3984059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2646704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Initial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Common Ratio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1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161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0027589"/>
                      </a:ext>
                    </a:extLst>
                  </a:tr>
                  <a:tr h="196977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f>
                                  <m:fPr>
                                    <m:ctrlP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num>
                                  <m:den>
                                    <m:r>
                                      <a:rPr lang="en-US" sz="1600" i="1" dirty="0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10511823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E57FDF-CB90-40BB-8184-40CF1948ED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58842978"/>
                  </p:ext>
                </p:extLst>
              </p:nvPr>
            </p:nvGraphicFramePr>
            <p:xfrm>
              <a:off x="2335371" y="2569337"/>
              <a:ext cx="4473258" cy="1662113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409258">
                      <a:extLst>
                        <a:ext uri="{9D8B030D-6E8A-4147-A177-3AD203B41FA5}">
                          <a16:colId xmlns:a16="http://schemas.microsoft.com/office/drawing/2014/main" val="1383753802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439840591"/>
                        </a:ext>
                      </a:extLst>
                    </a:gridCol>
                    <a:gridCol w="2032000">
                      <a:extLst>
                        <a:ext uri="{9D8B030D-6E8A-4147-A177-3AD203B41FA5}">
                          <a16:colId xmlns:a16="http://schemas.microsoft.com/office/drawing/2014/main" val="12646704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Initial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Common Ratio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1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359" t="-101639" r="-100898" b="-2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0721" t="-101639" r="-1201" b="-2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61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359" t="-201639" r="-100898" b="-1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0721" t="-201639" r="-1201" b="-1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27589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0359" t="-202198" r="-100898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20721" t="-202198" r="-1201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105118233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D1E218-A5E5-44DF-ABD5-D5B444ECF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251929"/>
                  </p:ext>
                </p:extLst>
              </p:nvPr>
            </p:nvGraphicFramePr>
            <p:xfrm>
              <a:off x="2335371" y="4626545"/>
              <a:ext cx="4473258" cy="1662113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409388">
                      <a:extLst>
                        <a:ext uri="{9D8B030D-6E8A-4147-A177-3AD203B41FA5}">
                          <a16:colId xmlns:a16="http://schemas.microsoft.com/office/drawing/2014/main" val="1174081657"/>
                        </a:ext>
                      </a:extLst>
                    </a:gridCol>
                    <a:gridCol w="1829384">
                      <a:extLst>
                        <a:ext uri="{9D8B030D-6E8A-4147-A177-3AD203B41FA5}">
                          <a16:colId xmlns:a16="http://schemas.microsoft.com/office/drawing/2014/main" val="3512728560"/>
                        </a:ext>
                      </a:extLst>
                    </a:gridCol>
                    <a:gridCol w="2234486">
                      <a:extLst>
                        <a:ext uri="{9D8B030D-6E8A-4147-A177-3AD203B41FA5}">
                          <a16:colId xmlns:a16="http://schemas.microsoft.com/office/drawing/2014/main" val="14669484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215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𝑏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1,−1,1,−1,1,…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556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𝑐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2,10,50,250,1250,…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0025450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𝑑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4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6,2,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den>
                                </m:f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9</m:t>
                                    </m:r>
                                  </m:den>
                                </m:f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f>
                                  <m:f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num>
                                  <m:den>
                                    <m:r>
                                      <a:rPr lang="en-US" sz="1600" b="0" i="0" smtClean="0">
                                        <a:latin typeface="Cambria Math" panose="02040503050406030204" pitchFamily="18" charset="0"/>
                                      </a:rPr>
                                      <m:t>27</m:t>
                                    </m:r>
                                  </m:den>
                                </m:f>
                                <m:r>
                                  <a:rPr lang="en-US" sz="1600" b="0" i="0" smtClean="0">
                                    <a:latin typeface="Cambria Math" panose="02040503050406030204" pitchFamily="18" charset="0"/>
                                  </a:rPr>
                                  <m:t>, 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532782687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D1E218-A5E5-44DF-ABD5-D5B444ECF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28251929"/>
                  </p:ext>
                </p:extLst>
              </p:nvPr>
            </p:nvGraphicFramePr>
            <p:xfrm>
              <a:off x="2335371" y="4626545"/>
              <a:ext cx="4473258" cy="1662113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409388">
                      <a:extLst>
                        <a:ext uri="{9D8B030D-6E8A-4147-A177-3AD203B41FA5}">
                          <a16:colId xmlns:a16="http://schemas.microsoft.com/office/drawing/2014/main" val="1174081657"/>
                        </a:ext>
                      </a:extLst>
                    </a:gridCol>
                    <a:gridCol w="1829384">
                      <a:extLst>
                        <a:ext uri="{9D8B030D-6E8A-4147-A177-3AD203B41FA5}">
                          <a16:colId xmlns:a16="http://schemas.microsoft.com/office/drawing/2014/main" val="3512728560"/>
                        </a:ext>
                      </a:extLst>
                    </a:gridCol>
                    <a:gridCol w="2234486">
                      <a:extLst>
                        <a:ext uri="{9D8B030D-6E8A-4147-A177-3AD203B41FA5}">
                          <a16:colId xmlns:a16="http://schemas.microsoft.com/office/drawing/2014/main" val="14669484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215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2667" t="-101639" r="-123000" b="-2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272" t="-101639" r="-545" b="-2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556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2667" t="-201639" r="-123000" b="-152459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272" t="-201639" r="-545" b="-152459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25450"/>
                      </a:ext>
                    </a:extLst>
                  </a:tr>
                  <a:tr h="549593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c.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22667" t="-202198" r="-123000" b="-2198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6"/>
                          <a:stretch>
                            <a:fillRect l="-100272" t="-202198" r="-545" b="-2198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32782687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0965272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 Progressions (Contd.) 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GB" dirty="0"/>
                  <a:t> Example 3: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Consider the following sequences</a:t>
                </a:r>
              </a:p>
              <a:p>
                <a:pPr marL="1051560" lvl="2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smtClean="0">
                                <a:latin typeface="Cambria Math" panose="02040503050406030204" pitchFamily="18" charset="0"/>
                              </a:rPr>
                              <m:t>𝑠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−1+4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1051560" lvl="2" indent="-457200">
                  <a:buFont typeface="+mj-lt"/>
                  <a:buAutoNum type="alphaLcPeriod"/>
                </a:pP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𝑡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GB" dirty="0"/>
                  <a:t>with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7−3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endParaRPr lang="en-GB" dirty="0"/>
              </a:p>
              <a:p>
                <a:pPr marL="320040" lvl="1" indent="0">
                  <a:buNone/>
                </a:pPr>
                <a:endParaRPr lang="en-GB" dirty="0"/>
              </a:p>
              <a:p>
                <a:pPr marL="320040" lvl="1" indent="0">
                  <a:buNone/>
                </a:pPr>
                <a:r>
                  <a:rPr lang="en-GB" dirty="0"/>
                  <a:t>Find out the following,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What type of progressions are they? 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What are the initial terms and common factors?</a:t>
                </a:r>
              </a:p>
              <a:p>
                <a:pPr marL="1051560" lvl="2" indent="-457200">
                  <a:buFont typeface="+mj-lt"/>
                  <a:buAutoNum type="arabicPeriod"/>
                </a:pPr>
                <a:r>
                  <a:rPr lang="en-GB" dirty="0"/>
                  <a:t>Find the list of terms in the sequences and their values.</a:t>
                </a:r>
              </a:p>
              <a:p>
                <a:pPr lvl="1"/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54450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Progressions (Contd.) 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en-US" dirty="0"/>
                  <a:t>Solution: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progressions in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are all arithmetic progressions.</a:t>
                </a:r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initial terms and the common differences are listed below,</a:t>
                </a:r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endParaRPr lang="en-US" dirty="0"/>
              </a:p>
              <a:p>
                <a:pPr marL="731520" lvl="1" indent="-457200">
                  <a:buFont typeface="+mj-lt"/>
                  <a:buAutoNum type="arabicPeriod"/>
                </a:pPr>
                <a:r>
                  <a:rPr lang="en-US" dirty="0"/>
                  <a:t>The list of terms and their values are listed below,</a:t>
                </a:r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E57FDF-CB90-40BB-8184-40CF1948ED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174378"/>
                  </p:ext>
                </p:extLst>
              </p:nvPr>
            </p:nvGraphicFramePr>
            <p:xfrm>
              <a:off x="2335370" y="2569337"/>
              <a:ext cx="4903629" cy="111252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448633">
                      <a:extLst>
                        <a:ext uri="{9D8B030D-6E8A-4147-A177-3AD203B41FA5}">
                          <a16:colId xmlns:a16="http://schemas.microsoft.com/office/drawing/2014/main" val="1383753802"/>
                        </a:ext>
                      </a:extLst>
                    </a:gridCol>
                    <a:gridCol w="2227498">
                      <a:extLst>
                        <a:ext uri="{9D8B030D-6E8A-4147-A177-3AD203B41FA5}">
                          <a16:colId xmlns:a16="http://schemas.microsoft.com/office/drawing/2014/main" val="1439840591"/>
                        </a:ext>
                      </a:extLst>
                    </a:gridCol>
                    <a:gridCol w="2227498">
                      <a:extLst>
                        <a:ext uri="{9D8B030D-6E8A-4147-A177-3AD203B41FA5}">
                          <a16:colId xmlns:a16="http://schemas.microsoft.com/office/drawing/2014/main" val="12646704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Initial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Common Difference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1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dirty="0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sz="1600" i="1" dirty="0" smtClean="0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125161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7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−3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900027589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5" name="Table 4">
                <a:extLst>
                  <a:ext uri="{FF2B5EF4-FFF2-40B4-BE49-F238E27FC236}">
                    <a16:creationId xmlns:a16="http://schemas.microsoft.com/office/drawing/2014/main" id="{BEE57FDF-CB90-40BB-8184-40CF1948ED7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36174378"/>
                  </p:ext>
                </p:extLst>
              </p:nvPr>
            </p:nvGraphicFramePr>
            <p:xfrm>
              <a:off x="2335370" y="2569337"/>
              <a:ext cx="4903629" cy="1112520"/>
            </p:xfrm>
            <a:graphic>
              <a:graphicData uri="http://schemas.openxmlformats.org/drawingml/2006/table">
                <a:tbl>
                  <a:tblPr firstRow="1" bandRow="1">
                    <a:tableStyleId>{ED083AE6-46FA-4A59-8FB0-9F97EB10719F}</a:tableStyleId>
                  </a:tblPr>
                  <a:tblGrid>
                    <a:gridCol w="448633">
                      <a:extLst>
                        <a:ext uri="{9D8B030D-6E8A-4147-A177-3AD203B41FA5}">
                          <a16:colId xmlns:a16="http://schemas.microsoft.com/office/drawing/2014/main" val="1383753802"/>
                        </a:ext>
                      </a:extLst>
                    </a:gridCol>
                    <a:gridCol w="2227498">
                      <a:extLst>
                        <a:ext uri="{9D8B030D-6E8A-4147-A177-3AD203B41FA5}">
                          <a16:colId xmlns:a16="http://schemas.microsoft.com/office/drawing/2014/main" val="1439840591"/>
                        </a:ext>
                      </a:extLst>
                    </a:gridCol>
                    <a:gridCol w="2227498">
                      <a:extLst>
                        <a:ext uri="{9D8B030D-6E8A-4147-A177-3AD203B41FA5}">
                          <a16:colId xmlns:a16="http://schemas.microsoft.com/office/drawing/2014/main" val="126467046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Initial 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Common Difference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129417299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48" t="-101639" r="-101096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0219" t="-101639" r="-820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12516128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20548" t="-201639" r="-101096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3"/>
                          <a:stretch>
                            <a:fillRect l="-120219" t="-201639" r="-820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900027589"/>
                      </a:ext>
                    </a:extLst>
                  </a:tr>
                </a:tbl>
              </a:graphicData>
            </a:graphic>
          </p:graphicFrame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D1E218-A5E5-44DF-ABD5-D5B444ECF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793189"/>
                  </p:ext>
                </p:extLst>
              </p:nvPr>
            </p:nvGraphicFramePr>
            <p:xfrm>
              <a:off x="2335371" y="4343400"/>
              <a:ext cx="4473258" cy="111252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409388">
                      <a:extLst>
                        <a:ext uri="{9D8B030D-6E8A-4147-A177-3AD203B41FA5}">
                          <a16:colId xmlns:a16="http://schemas.microsoft.com/office/drawing/2014/main" val="1174081657"/>
                        </a:ext>
                      </a:extLst>
                    </a:gridCol>
                    <a:gridCol w="1829384">
                      <a:extLst>
                        <a:ext uri="{9D8B030D-6E8A-4147-A177-3AD203B41FA5}">
                          <a16:colId xmlns:a16="http://schemas.microsoft.com/office/drawing/2014/main" val="3512728560"/>
                        </a:ext>
                      </a:extLst>
                    </a:gridCol>
                    <a:gridCol w="2234486">
                      <a:extLst>
                        <a:ext uri="{9D8B030D-6E8A-4147-A177-3AD203B41FA5}">
                          <a16:colId xmlns:a16="http://schemas.microsoft.com/office/drawing/2014/main" val="14669484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215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𝑠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−1,3,7,11,…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202556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0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</m:t>
                                </m:r>
                                <m:sSub>
                                  <m:sSubPr>
                                    <m:ctrlP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sz="1600" b="0" i="1" smtClean="0"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b>
                                </m:sSub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1600" b="0" i="1" smtClean="0">
                                    <a:latin typeface="Cambria Math" panose="02040503050406030204" pitchFamily="18" charset="0"/>
                                  </a:rPr>
                                  <m:t>7,4,1,−2,…</m:t>
                                </m:r>
                              </m:oMath>
                            </m:oMathPara>
                          </a14:m>
                          <a:endParaRPr lang="en-US" sz="1600" dirty="0"/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349002545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6" name="Table 5">
                <a:extLst>
                  <a:ext uri="{FF2B5EF4-FFF2-40B4-BE49-F238E27FC236}">
                    <a16:creationId xmlns:a16="http://schemas.microsoft.com/office/drawing/2014/main" id="{37D1E218-A5E5-44DF-ABD5-D5B444ECF42C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513793189"/>
                  </p:ext>
                </p:extLst>
              </p:nvPr>
            </p:nvGraphicFramePr>
            <p:xfrm>
              <a:off x="2335371" y="4343400"/>
              <a:ext cx="4473258" cy="1112520"/>
            </p:xfrm>
            <a:graphic>
              <a:graphicData uri="http://schemas.openxmlformats.org/drawingml/2006/table">
                <a:tbl>
                  <a:tblPr firstRow="1" bandRow="1">
                    <a:tableStyleId>{C4B1156A-380E-4F78-BDF5-A606A8083BF9}</a:tableStyleId>
                  </a:tblPr>
                  <a:tblGrid>
                    <a:gridCol w="409388">
                      <a:extLst>
                        <a:ext uri="{9D8B030D-6E8A-4147-A177-3AD203B41FA5}">
                          <a16:colId xmlns:a16="http://schemas.microsoft.com/office/drawing/2014/main" val="1174081657"/>
                        </a:ext>
                      </a:extLst>
                    </a:gridCol>
                    <a:gridCol w="1829384">
                      <a:extLst>
                        <a:ext uri="{9D8B030D-6E8A-4147-A177-3AD203B41FA5}">
                          <a16:colId xmlns:a16="http://schemas.microsoft.com/office/drawing/2014/main" val="3512728560"/>
                        </a:ext>
                      </a:extLst>
                    </a:gridCol>
                    <a:gridCol w="2234486">
                      <a:extLst>
                        <a:ext uri="{9D8B030D-6E8A-4147-A177-3AD203B41FA5}">
                          <a16:colId xmlns:a16="http://schemas.microsoft.com/office/drawing/2014/main" val="146694842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algn="ctr"/>
                          <a:endParaRPr lang="en-US" dirty="0"/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Terms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sz="1600" dirty="0"/>
                            <a:t>Values</a:t>
                          </a:r>
                        </a:p>
                      </a:txBody>
                      <a:tcPr anchor="ctr"/>
                    </a:tc>
                    <a:extLst>
                      <a:ext uri="{0D108BD9-81ED-4DB2-BD59-A6C34878D82A}">
                        <a16:rowId xmlns:a16="http://schemas.microsoft.com/office/drawing/2014/main" val="423215346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a.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667" t="-101639" r="-123000" b="-1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272" t="-101639" r="-545" b="-1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025561017"/>
                      </a:ext>
                    </a:extLst>
                  </a:tr>
                  <a:tr h="370840"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US" dirty="0"/>
                            <a:t>b.</a:t>
                          </a:r>
                        </a:p>
                      </a:txBody>
                      <a:tcPr anchor="ctr"/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22667" t="-201639" r="-123000" b="-2623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blipFill>
                          <a:blip r:embed="rId4"/>
                          <a:stretch>
                            <a:fillRect l="-100272" t="-201639" r="-545" b="-26230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49002545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2039204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Recurrence Relations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 </a:t>
                </a:r>
                <a:r>
                  <a:rPr lang="en-US" dirty="0"/>
                  <a:t>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𝑅𝑒𝑐𝑢𝑟𝑟𝑒𝑛𝑐𝑒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𝑅𝑒𝑙𝑎𝑡𝑖𝑜𝑛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the sequence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i="1" dirty="0" err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err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} </m:t>
                    </m:r>
                  </m:oMath>
                </a14:m>
                <a:r>
                  <a:rPr lang="en-US" dirty="0"/>
                  <a:t>is</a:t>
                </a:r>
              </a:p>
              <a:p>
                <a:pPr lvl="1"/>
                <a:r>
                  <a:rPr lang="en-US" dirty="0"/>
                  <a:t>An equation that expresses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in terms of one or more of the previous terms of the sequence, namely,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, . . . ,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</m:oMath>
                </a14:m>
                <a:r>
                  <a:rPr lang="en-US" dirty="0"/>
                  <a:t>, for all integers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i="1" dirty="0"/>
                  <a:t> </a:t>
                </a:r>
                <a:r>
                  <a:rPr lang="en-US" dirty="0"/>
                  <a:t>with</a:t>
                </a:r>
                <a14:m>
                  <m:oMath xmlns:m="http://schemas.openxmlformats.org/officeDocument/2006/math"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is a nonnegative integer. </a:t>
                </a:r>
              </a:p>
              <a:p>
                <a:r>
                  <a:rPr lang="en-US" dirty="0"/>
                  <a:t>A sequence is called a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𝑠𝑜𝑙𝑢𝑡𝑖𝑜𝑛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of a recurrence</a:t>
                </a:r>
                <a:br>
                  <a:rPr lang="en-US" dirty="0"/>
                </a:br>
                <a:r>
                  <a:rPr lang="en-US" dirty="0"/>
                  <a:t>relation if its terms satisfy the recurrence relation. </a:t>
                </a:r>
              </a:p>
              <a:p>
                <a:r>
                  <a:rPr lang="en-US" dirty="0"/>
                  <a:t>A recurrence relation is said to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𝑟𝑒𝑐𝑢𝑟𝑠𝑖𝑣𝑒𝑙𝑦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𝑑𝑒𝑓𝑖𝑛𝑒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a sequence.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4"/>
                <a:stretch>
                  <a:fillRect l="-667" t="-1111" r="-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7392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Example 4: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Consider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satisfies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=1, 2, 3,…</m:t>
                    </m:r>
                  </m:oMath>
                </a14:m>
                <a:r>
                  <a:rPr lang="en-GB" dirty="0"/>
                  <a:t> and 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=2.</m:t>
                    </m:r>
                  </m:oMath>
                </a14:m>
                <a:r>
                  <a:rPr lang="en-GB" dirty="0"/>
                  <a:t> What are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r>
                  <a:rPr lang="en-GB" dirty="0"/>
                  <a:t>Solution :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From the recurrence relation it is clear that,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+3=2+3=5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+3=5+3=8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+3=8+3=11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marL="274320" lvl="1" indent="0">
                  <a:buNone/>
                </a:pPr>
                <a:endParaRPr lang="en-GB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5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503075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GB" dirty="0"/>
                  <a:t>Example 5:</a:t>
                </a:r>
              </a:p>
              <a:p>
                <a:pPr marL="274320" lvl="1" indent="0">
                  <a:buNone/>
                </a:pPr>
                <a:r>
                  <a:rPr lang="en-US" dirty="0"/>
                  <a:t>Consider the sequence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GB" dirty="0"/>
                  <a:t> which satisfies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GB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3, 4, …</m:t>
                    </m:r>
                  </m:oMath>
                </a14:m>
                <a:r>
                  <a:rPr lang="en-GB" dirty="0"/>
                  <a:t> and 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lang="en-GB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r>
                  <a:rPr lang="en-GB" dirty="0"/>
                  <a:t>.  What are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?</m:t>
                    </m:r>
                  </m:oMath>
                </a14:m>
                <a:endParaRPr lang="en-GB" dirty="0"/>
              </a:p>
              <a:p>
                <a:pPr lvl="1"/>
                <a:endParaRPr lang="en-GB" dirty="0"/>
              </a:p>
              <a:p>
                <a:r>
                  <a:rPr lang="en-GB" dirty="0"/>
                  <a:t>Solution :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From the recurrence relation it is clear that,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=5−3=2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=2−5=−3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=−3−2=−5</m:t>
                    </m:r>
                  </m:oMath>
                </a14:m>
                <a:r>
                  <a:rPr lang="en-US" b="0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−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=−5−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=−2</m:t>
                    </m:r>
                  </m:oMath>
                </a14:m>
                <a:r>
                  <a:rPr lang="en-GB" dirty="0"/>
                  <a:t> </a:t>
                </a:r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620994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</p:spPr>
            <p:txBody>
              <a:bodyPr>
                <a:normAutofit lnSpcReduction="10000"/>
              </a:bodyPr>
              <a:lstStyle/>
              <a:p>
                <a:r>
                  <a:rPr lang="en-US" dirty="0"/>
                  <a:t>One of the most commonly used sequences defined by a recurrence relation is 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𝐹𝑖𝑏𝑜𝑛𝑎𝑐𝑐𝑖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𝑆𝑒𝑞𝑢𝑒𝑛𝑐𝑒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r>
                  <a:rPr lang="en-US" dirty="0"/>
                  <a:t>It is defined by </a:t>
                </a:r>
              </a:p>
              <a:p>
                <a:pPr lvl="1"/>
                <a:r>
                  <a:rPr lang="en-US" dirty="0"/>
                  <a:t>The initial conditions,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=1.</m:t>
                    </m:r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=2, 3, 4, … </m:t>
                    </m:r>
                  </m:oMath>
                </a14:m>
                <a:endParaRPr lang="en-US" dirty="0"/>
              </a:p>
              <a:p>
                <a:r>
                  <a:rPr lang="en-US" dirty="0">
                    <a:latin typeface="Cambria Math" panose="02040503050406030204" pitchFamily="18" charset="0"/>
                  </a:rPr>
                  <a:t>The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𝐹𝑖𝑏𝑜𝑛𝑎𝑐𝑐𝑖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𝑆𝑒𝑞𝑢𝑒𝑛𝑐𝑒</m:t>
                    </m:r>
                  </m:oMath>
                </a14:m>
                <a:r>
                  <a:rPr lang="en-US" b="0" dirty="0">
                    <a:latin typeface="Cambria Math" panose="02040503050406030204" pitchFamily="18" charset="0"/>
                  </a:rPr>
                  <a:t> is as follows,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+ 0 = 1,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 + 1 = 2,</m:t>
                    </m:r>
                  </m:oMath>
                </a14:m>
                <a:r>
                  <a:rPr lang="en-US" i="1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 + 1 = 3,</m:t>
                    </m:r>
                  </m:oMath>
                </a14:m>
                <a:r>
                  <a:rPr lang="en-US" i="1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3 + 2 = 5,</m:t>
                    </m:r>
                  </m:oMath>
                </a14:m>
                <a:r>
                  <a:rPr lang="en-US" i="1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6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+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5 + 3 = 8.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……….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937760"/>
              </a:xfrm>
              <a:blipFill>
                <a:blip r:embed="rId3"/>
                <a:stretch>
                  <a:fillRect l="-667" t="-1852" r="-37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2867762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/>
          <a:lstStyle/>
          <a:p>
            <a:r>
              <a:rPr lang="en-GB" dirty="0"/>
              <a:t> </a:t>
            </a:r>
            <a:r>
              <a:rPr lang="en-US" dirty="0"/>
              <a:t>We say that we have solved the recurrence relation together with the initial conditions when we find an explicit formula, called a </a:t>
            </a:r>
            <a:r>
              <a:rPr lang="en-US" b="1" dirty="0"/>
              <a:t>closed formula</a:t>
            </a:r>
            <a:r>
              <a:rPr lang="en-US" dirty="0"/>
              <a:t>, for the terms of the sequence. </a:t>
            </a: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856913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85000" lnSpcReduction="20000"/>
              </a:bodyPr>
              <a:lstStyle/>
              <a:p>
                <a:r>
                  <a:rPr lang="en-US" dirty="0"/>
                  <a:t>Example 6:</a:t>
                </a:r>
              </a:p>
              <a:p>
                <a:pPr marL="274320" lvl="1" indent="0">
                  <a:buNone/>
                </a:pPr>
                <a:r>
                  <a:rPr lang="en-US" dirty="0"/>
                  <a:t>Determine whether the sequence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every nonnegative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is a solution of the recurrence relation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2, 3, 4, . . . 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every nonnegative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Then,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, we see that,</a:t>
                </a:r>
              </a:p>
              <a:p>
                <a:pPr marL="274320" lvl="1" indent="0">
                  <a:buNone/>
                </a:pPr>
                <a:br>
                  <a:rPr lang="en-US" dirty="0"/>
                </a:br>
                <a:r>
                  <a:rPr lang="en-US" dirty="0"/>
                  <a:t>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2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3</m:t>
                        </m:r>
                        <m:d>
                          <m:d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i="1" dirty="0" smtClean="0">
                                <a:latin typeface="Cambria Math" panose="02040503050406030204" pitchFamily="18" charset="0"/>
                              </a:rPr>
                              <m:t> − 1</m:t>
                            </m:r>
                          </m:e>
                        </m:d>
                      </m:e>
                    </m:d>
                    <m:r>
                      <a:rPr lang="en-US" i="1" dirty="0" smtClean="0">
                        <a:latin typeface="Cambria Math" panose="02040503050406030204" pitchFamily="18" charset="0"/>
                      </a:rPr>
                      <m:t>− 3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 − 2</m:t>
                        </m:r>
                      </m:e>
                    </m:d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:r>
                  <a:rPr lang="en-US" dirty="0"/>
                  <a:t>			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3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is a solution of the recurrence relation.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3"/>
                <a:stretch>
                  <a:fillRect l="-370" t="-222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21900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572000"/>
              </a:xfrm>
            </p:spPr>
            <p:txBody>
              <a:bodyPr>
                <a:normAutofit fontScale="70000" lnSpcReduction="20000"/>
              </a:bodyPr>
              <a:lstStyle/>
              <a:p>
                <a:r>
                  <a:rPr lang="en-US" dirty="0"/>
                  <a:t>Example 7:</a:t>
                </a:r>
              </a:p>
              <a:p>
                <a:pPr marL="274320" lvl="1" indent="0">
                  <a:buNone/>
                </a:pPr>
                <a:r>
                  <a:rPr lang="en-US" dirty="0"/>
                  <a:t>Determine whether the sequence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}, </m:t>
                    </m:r>
                  </m:oMath>
                </a14:m>
                <a:r>
                  <a:rPr lang="en-US" dirty="0"/>
                  <a:t>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every nonnegative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, is a solution of the recurrence relation </a:t>
                </a: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∙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</m:oMath>
                </a14:m>
                <a:r>
                  <a:rPr lang="en-US" dirty="0"/>
                  <a:t>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2, 3, 4, . . . </m:t>
                    </m:r>
                  </m:oMath>
                </a14:m>
                <a:r>
                  <a:rPr lang="en-US" dirty="0"/>
                  <a:t>. </a:t>
                </a:r>
                <a:br>
                  <a:rPr lang="en-US" dirty="0"/>
                </a:br>
                <a:endParaRPr lang="en-US" dirty="0"/>
              </a:p>
              <a:p>
                <a:r>
                  <a:rPr lang="en-US" dirty="0"/>
                  <a:t>Solution:</a:t>
                </a:r>
              </a:p>
              <a:p>
                <a:pPr marL="274320" lvl="1" indent="0">
                  <a:buNone/>
                </a:pPr>
                <a:r>
                  <a:rPr lang="en-US" dirty="0"/>
                  <a:t>Suppose that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for every nonnegative integer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dirty="0"/>
                  <a:t>. </a:t>
                </a:r>
              </a:p>
              <a:p>
                <a:pPr marL="274320" lvl="1" indent="0">
                  <a:buNone/>
                </a:pPr>
                <a:r>
                  <a:rPr lang="en-US" dirty="0"/>
                  <a:t>Note that,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=1,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=2,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=4.</m:t>
                    </m:r>
                  </m:oMath>
                </a14:m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Then, for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2</m:t>
                    </m:r>
                  </m:oMath>
                </a14:m>
                <a:r>
                  <a:rPr lang="en-US" dirty="0"/>
                  <a:t>, we see that,</a:t>
                </a:r>
              </a:p>
              <a:p>
                <a:pPr marL="274320" lvl="1" indent="0">
                  <a:buNone/>
                </a:pPr>
                <a:br>
                  <a:rPr lang="en-US" dirty="0"/>
                </a:br>
                <a14:m>
                  <m:oMath xmlns:m="http://schemas.openxmlformats.org/officeDocument/2006/math"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−2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lang="en-US" dirty="0"/>
                      <m:t>	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=2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∙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− </m:t>
                    </m:r>
                    <m:sSub>
                      <m:sSub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en-US" i="1" dirty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=2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∙2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:r>
                  <a:rPr lang="en-US" dirty="0"/>
                  <a:t>    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=3 </m:t>
                    </m:r>
                  </m:oMath>
                </a14:m>
                <a:r>
                  <a:rPr lang="en-US" i="1" dirty="0">
                    <a:latin typeface="Cambria Math" panose="02040503050406030204" pitchFamily="18" charset="0"/>
                  </a:rPr>
                  <a:t> 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But,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0" smtClean="0">
                        <a:latin typeface="Cambria Math" panose="02040503050406030204" pitchFamily="18" charset="0"/>
                      </a:rPr>
                      <m:t>=4</m:t>
                    </m:r>
                  </m:oMath>
                </a14:m>
                <a:r>
                  <a:rPr lang="en-US" dirty="0"/>
                  <a:t> from the equation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US" dirty="0"/>
                  <a:t>Therefore,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{</m:t>
                    </m:r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US" dirty="0"/>
                  <a:t>, where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i="1" dirty="0" smtClean="0">
                        <a:latin typeface="Cambria Math" panose="02040503050406030204" pitchFamily="18" charset="0"/>
                      </a:rPr>
                      <m:t> =</m:t>
                    </m:r>
                    <m:sSup>
                      <m:sSup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, </m:t>
                    </m:r>
                  </m:oMath>
                </a14:m>
                <a:r>
                  <a:rPr lang="en-US" dirty="0"/>
                  <a:t>is not a solution of the recurrence relation. </a:t>
                </a:r>
                <a:br>
                  <a:rPr lang="en-US" dirty="0"/>
                </a:br>
                <a:endParaRPr lang="en-US" dirty="0"/>
              </a:p>
            </p:txBody>
          </p:sp>
        </mc:Choice>
        <mc:Fallback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xfrm>
                <a:off x="457200" y="1219200"/>
                <a:ext cx="8229600" cy="4572000"/>
              </a:xfrm>
              <a:blipFill>
                <a:blip r:embed="rId2"/>
                <a:stretch>
                  <a:fillRect l="-74" t="-18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665702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Recurrence Relations (Contd.)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lang="en-GB" dirty="0"/>
                  <a:t>Example 8:</a:t>
                </a: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Solve the recurrence relation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lang="en-US" dirty="0"/>
                  <a:t> with the initial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r>
                  <a:rPr lang="en-US" dirty="0"/>
                  <a:t>Solution: </a:t>
                </a:r>
              </a:p>
              <a:p>
                <a:pPr marL="274320" lvl="1" indent="0">
                  <a:buNone/>
                </a:pPr>
                <a:r>
                  <a:rPr lang="en-US" dirty="0"/>
                  <a:t>Starting with the initial condition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 and applying the recursive relation successively upward until we reach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, we will try to find a closed formula for the sequence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b="0" i="1" dirty="0">
                  <a:latin typeface="Cambria Math" panose="02040503050406030204" pitchFamily="18" charset="0"/>
                </a:endParaRP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+3=2+3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2+3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+3=2+3∙2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2+3∙2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+3=2+3∙3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+3=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2+3∙</m:t>
                        </m:r>
                        <m:d>
                          <m:d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e>
                        </m:d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+3=2+3∙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 </a:t>
                </a:r>
              </a:p>
              <a:p>
                <a:pPr marL="274320" lvl="1" indent="0">
                  <a:buNone/>
                </a:pPr>
                <a:r>
                  <a:rPr lang="en-US" dirty="0"/>
                  <a:t>Evaluating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lang="en-US" dirty="0"/>
                  <a:t> at the initial condition i.e.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dirty="0"/>
                  <a:t>, we get,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   </m:t>
                    </m:r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=2+3∙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1−1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=2</m:t>
                    </m:r>
                  </m:oMath>
                </a14:m>
                <a:r>
                  <a:rPr lang="en-US" dirty="0"/>
                  <a:t>.</a:t>
                </a:r>
              </a:p>
              <a:p>
                <a:pPr marL="274320" lvl="1" indent="0">
                  <a:buNone/>
                </a:pPr>
                <a:endParaRPr lang="en-US" dirty="0"/>
              </a:p>
              <a:p>
                <a:pPr marL="274320" lvl="1" indent="0">
                  <a:buNone/>
                </a:pPr>
                <a:r>
                  <a:rPr lang="en-US" dirty="0"/>
                  <a:t>Thus, the closed formula for the sequence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endChr m:val="}"/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</m:e>
                    </m:d>
                  </m:oMath>
                </a14:m>
                <a:r>
                  <a:rPr lang="en-US" dirty="0"/>
                  <a:t> is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b="0" i="1" smtClean="0">
                        <a:latin typeface="Cambria Math" panose="02040503050406030204" pitchFamily="18" charset="0"/>
                      </a:rPr>
                      <m:t>=2+3∙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74" t="-172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3381386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Summations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/>
              <p:cNvSpPr>
                <a:spLocks noGrp="1"/>
              </p:cNvSpPr>
              <p:nvPr>
                <p:ph sz="quarter" idx="1"/>
              </p:nvPr>
            </p:nvSpPr>
            <p:spPr/>
            <p:txBody>
              <a:bodyPr/>
              <a:lstStyle/>
              <a:p>
                <a:r>
                  <a:rPr lang="en-US" dirty="0"/>
                  <a:t>Required for adding up the terms of a sequence.</a:t>
                </a:r>
              </a:p>
              <a:p>
                <a:r>
                  <a:rPr lang="en-US" dirty="0"/>
                  <a:t>The following formula is used for calculating the sum of terms of a geometric progression. Where, 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lang="en-US" dirty="0"/>
                  <a:t> are real numbers and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𝑟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≠0.</m:t>
                    </m:r>
                  </m:oMath>
                </a14:m>
                <a:r>
                  <a:rPr lang="en-US" dirty="0"/>
                  <a:t> </a:t>
                </a:r>
              </a:p>
              <a:p>
                <a:pPr marL="0" indent="0">
                  <a:buNone/>
                </a:pPr>
                <a:endParaRPr lang="en-US" b="0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US" b="0" i="1" smtClean="0">
                              <a:latin typeface="Cambria Math" panose="02040503050406030204" pitchFamily="18" charset="0"/>
                            </a:rPr>
                            <m:t>𝑗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𝑎</m:t>
                          </m:r>
                          <m:sSup>
                            <m:sSupPr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𝑟</m:t>
                              </m:r>
                            </m:e>
                            <m:sup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p>
                          </m:s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=</m:t>
                          </m:r>
                          <m:d>
                            <m:dPr>
                              <m:begChr m:val="{"/>
                              <m:endChr m:val=""/>
                              <m:ctrlP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m>
                                <m:mPr>
                                  <m:mcs>
                                    <m:mc>
                                      <m:mcPr>
                                        <m:count m:val="1"/>
                                        <m:mcJc m:val="center"/>
                                      </m:mcPr>
                                    </m:mc>
                                  </m:mcs>
                                  <m:ctrlPr>
                                    <a:rPr lang="en-US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mPr>
                                <m:mr>
                                  <m:e>
                                    <m:f>
                                      <m:f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fPr>
                                      <m:num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  <m:sSup>
                                          <m:sSupPr>
                                            <m:ctrl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pPr>
                                          <m:e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𝑟</m:t>
                                            </m:r>
                                          </m:e>
                                          <m:sup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𝑛</m:t>
                                            </m:r>
                                            <m:r>
                                              <a:rPr lang="en-US" b="0" i="1" smtClean="0">
                                                <a:latin typeface="Cambria Math" panose="02040503050406030204" pitchFamily="18" charset="0"/>
                                              </a:rPr>
                                              <m:t>+1</m:t>
                                            </m:r>
                                          </m:sup>
                                        </m:sSup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𝑎</m:t>
                                        </m:r>
                                      </m:num>
                                      <m:den>
                                        <m:r>
                                          <m:rPr>
                                            <m:brk m:alnAt="7"/>
                                          </m:r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𝑟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−1</m:t>
                                        </m:r>
                                      </m:den>
                                    </m:f>
                                    <m:r>
                                      <m:rPr>
                                        <m:brk m:alnAt="7"/>
                                      </m:rP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,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≠1</m:t>
                                    </m:r>
                                  </m:e>
                                </m:mr>
                                <m:mr>
                                  <m:e>
                                    <m:d>
                                      <m:dPr>
                                        <m:ctrlP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dPr>
                                      <m:e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𝑛</m:t>
                                        </m:r>
                                        <m:r>
                                          <a:rPr lang="en-US" b="0" i="1" smtClean="0">
                                            <a:latin typeface="Cambria Math" panose="02040503050406030204" pitchFamily="18" charset="0"/>
                                          </a:rPr>
                                          <m:t>+1</m:t>
                                        </m:r>
                                      </m:e>
                                    </m:d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𝑎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     ,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𝑖𝑓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 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𝑟</m:t>
                                    </m:r>
                                    <m:r>
                                      <a:rPr lang="en-US" b="0" i="1" smtClean="0">
                                        <a:latin typeface="Cambria Math" panose="02040503050406030204" pitchFamily="18" charset="0"/>
                                      </a:rPr>
                                      <m:t>=1</m:t>
                                    </m:r>
                                  </m:e>
                                </m:mr>
                              </m:m>
                            </m:e>
                          </m:d>
                        </m:e>
                      </m:nary>
                    </m:oMath>
                  </m:oMathPara>
                </a14:m>
                <a:endParaRPr lang="en-US" b="0" dirty="0"/>
              </a:p>
              <a:p>
                <a:pPr marL="0" indent="0">
                  <a:buNone/>
                </a:pPr>
                <a:br>
                  <a:rPr lang="en-US" dirty="0"/>
                </a:br>
                <a:endParaRPr lang="en-US" dirty="0"/>
              </a:p>
            </p:txBody>
          </p:sp>
        </mc:Choice>
        <mc:Fallback xmlns="">
          <p:sp>
            <p:nvSpPr>
              <p:cNvPr id="3" name="Conten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sz="quarter" idx="1"/>
              </p:nvPr>
            </p:nvSpPr>
            <p:spPr>
              <a:blipFill>
                <a:blip r:embed="rId2"/>
                <a:stretch>
                  <a:fillRect l="-667" t="-111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2928290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GB" dirty="0"/>
              <a:t>Summations (Contd.)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/>
        <p:txBody>
          <a:bodyPr>
            <a:normAutofit/>
          </a:bodyPr>
          <a:lstStyle/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US" dirty="0"/>
          </a:p>
          <a:p>
            <a:pPr marL="594360" lvl="2" indent="0">
              <a:buNone/>
            </a:pPr>
            <a:endParaRPr lang="en-GB" dirty="0"/>
          </a:p>
          <a:p>
            <a:pPr marL="594360" lvl="2" indent="0">
              <a:buNone/>
            </a:pP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735B2DC-3FAA-4A09-B2DD-37876E91BE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85734" y="1306497"/>
            <a:ext cx="4172532" cy="4763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863118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446856" y="764704"/>
            <a:ext cx="8229600" cy="2808312"/>
          </a:xfrm>
        </p:spPr>
        <p:txBody>
          <a:bodyPr/>
          <a:lstStyle/>
          <a:p>
            <a:pPr algn="ctr"/>
            <a:r>
              <a:rPr lang="en-GB" dirty="0"/>
              <a:t>THE END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539739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igin">
  <a:themeElements>
    <a:clrScheme name="Origin">
      <a:dk1>
        <a:sysClr val="windowText" lastClr="000000"/>
      </a:dk1>
      <a:lt1>
        <a:sysClr val="window" lastClr="FFFFFF"/>
      </a:lt1>
      <a:dk2>
        <a:srgbClr val="464653"/>
      </a:dk2>
      <a:lt2>
        <a:srgbClr val="DDE9EC"/>
      </a:lt2>
      <a:accent1>
        <a:srgbClr val="727CA3"/>
      </a:accent1>
      <a:accent2>
        <a:srgbClr val="9FB8CD"/>
      </a:accent2>
      <a:accent3>
        <a:srgbClr val="D2DA7A"/>
      </a:accent3>
      <a:accent4>
        <a:srgbClr val="FADA7A"/>
      </a:accent4>
      <a:accent5>
        <a:srgbClr val="B88472"/>
      </a:accent5>
      <a:accent6>
        <a:srgbClr val="8E736A"/>
      </a:accent6>
      <a:hlink>
        <a:srgbClr val="B292CA"/>
      </a:hlink>
      <a:folHlink>
        <a:srgbClr val="6B5680"/>
      </a:folHlink>
    </a:clrScheme>
    <a:fontScheme name="Origin">
      <a:majorFont>
        <a:latin typeface="Bookman Old Style"/>
        <a:ea typeface=""/>
        <a:cs typeface=""/>
        <a:font script="Grek" typeface="Cambria"/>
        <a:font script="Cyrl" typeface="Cambria"/>
        <a:font script="Jpan" typeface="HG明朝E"/>
        <a:font script="Hang" typeface="돋움"/>
        <a:font script="Hans" typeface="宋体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alibri"/>
        <a:font script="Cyrl" typeface="Calibri"/>
        <a:font script="Jpan" typeface="ＭＳ Ｐゴシック"/>
        <a:font script="Hang" typeface="맑은 고딕"/>
        <a:font script="Hans" typeface="华文新魏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rigin">
      <a:fillStyleLst>
        <a:solidFill>
          <a:schemeClr val="phClr"/>
        </a:solidFill>
        <a:gradFill rotWithShape="1">
          <a:gsLst>
            <a:gs pos="0">
              <a:schemeClr val="phClr">
                <a:tint val="45000"/>
                <a:satMod val="200000"/>
              </a:schemeClr>
            </a:gs>
            <a:gs pos="30000">
              <a:schemeClr val="phClr">
                <a:tint val="61000"/>
                <a:satMod val="200000"/>
              </a:schemeClr>
            </a:gs>
            <a:gs pos="45000">
              <a:schemeClr val="phClr">
                <a:tint val="66000"/>
                <a:satMod val="200000"/>
              </a:schemeClr>
            </a:gs>
            <a:gs pos="55000">
              <a:schemeClr val="phClr">
                <a:tint val="66000"/>
                <a:satMod val="200000"/>
              </a:schemeClr>
            </a:gs>
            <a:gs pos="73000">
              <a:schemeClr val="phClr">
                <a:tint val="61000"/>
                <a:satMod val="200000"/>
              </a:schemeClr>
            </a:gs>
            <a:gs pos="100000">
              <a:schemeClr val="phClr">
                <a:tint val="45000"/>
                <a:satMod val="200000"/>
              </a:schemeClr>
            </a:gs>
          </a:gsLst>
          <a:lin ang="950000" scaled="1"/>
        </a:gradFill>
        <a:gradFill rotWithShape="1">
          <a:gsLst>
            <a:gs pos="0">
              <a:schemeClr val="phClr">
                <a:shade val="63000"/>
              </a:schemeClr>
            </a:gs>
            <a:gs pos="30000">
              <a:schemeClr val="phClr">
                <a:shade val="90000"/>
                <a:satMod val="110000"/>
              </a:schemeClr>
            </a:gs>
            <a:gs pos="45000">
              <a:schemeClr val="phClr">
                <a:shade val="100000"/>
                <a:satMod val="118000"/>
              </a:schemeClr>
            </a:gs>
            <a:gs pos="55000">
              <a:schemeClr val="phClr">
                <a:shade val="100000"/>
                <a:satMod val="118000"/>
              </a:schemeClr>
            </a:gs>
            <a:gs pos="73000">
              <a:schemeClr val="phClr">
                <a:shade val="90000"/>
                <a:satMod val="110000"/>
              </a:schemeClr>
            </a:gs>
            <a:gs pos="100000">
              <a:schemeClr val="phClr">
                <a:shade val="63000"/>
              </a:schemeClr>
            </a:gs>
          </a:gsLst>
          <a:lin ang="950000" scaled="1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40000"/>
              </a:srgbClr>
            </a:outerShdw>
          </a:effectLst>
        </a:effectStyle>
        <a:effectStyle>
          <a:effectLst>
            <a:outerShdw blurRad="50800" dist="43000" dir="5400000" rotWithShape="0">
              <a:srgbClr val="000000">
                <a:alpha val="40000"/>
              </a:srgbClr>
            </a:outerShdw>
          </a:effectLst>
          <a:scene3d>
            <a:camera prst="orthographicFront" fov="0">
              <a:rot lat="0" lon="0" rev="0"/>
            </a:camera>
            <a:lightRig rig="balanced" dir="t">
              <a:rot lat="0" lon="0" rev="0"/>
            </a:lightRig>
          </a:scene3d>
          <a:sp3d prstMaterial="matte">
            <a:bevelT w="0" h="0"/>
            <a:contourClr>
              <a:schemeClr val="phClr">
                <a:tint val="100000"/>
                <a:shade val="100000"/>
                <a:hueMod val="100000"/>
                <a:satMod val="100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50000"/>
              </a:srgbClr>
            </a:outerShdw>
          </a:effectLst>
          <a:scene3d>
            <a:camera prst="orthographicFront" fov="0">
              <a:rot lat="0" lon="0" rev="0"/>
            </a:camera>
            <a:lightRig rig="soft" dir="t">
              <a:rot lat="0" lon="0" rev="2700000"/>
            </a:lightRig>
          </a:scene3d>
          <a:sp3d prstMaterial="matte">
            <a:bevelT w="50800" h="50800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60000"/>
                <a:satMod val="300000"/>
              </a:schemeClr>
            </a:gs>
            <a:gs pos="30000">
              <a:schemeClr val="phClr">
                <a:shade val="80000"/>
                <a:satMod val="230000"/>
              </a:schemeClr>
            </a:gs>
            <a:gs pos="100000">
              <a:schemeClr val="phClr">
                <a:tint val="97000"/>
                <a:satMod val="220000"/>
              </a:schemeClr>
            </a:gs>
          </a:gsLst>
          <a:lin ang="16200000" scaled="1"/>
        </a:gradFill>
        <a:blipFill>
          <a:blip xmlns:r="http://schemas.openxmlformats.org/officeDocument/2006/relationships" r:embed="rId1">
            <a:duotone>
              <a:schemeClr val="phClr">
                <a:shade val="6000"/>
                <a:satMod val="120000"/>
              </a:schemeClr>
              <a:schemeClr val="phClr">
                <a:tint val="90000"/>
              </a:schemeClr>
            </a:duotone>
          </a:blip>
          <a:tile tx="0" ty="0" sx="35000" sy="40000" flip="x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Origin</Template>
  <TotalTime>1190</TotalTime>
  <Words>1298</Words>
  <Application>Microsoft Office PowerPoint</Application>
  <PresentationFormat>On-screen Show (4:3)</PresentationFormat>
  <Paragraphs>191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5" baseType="lpstr">
      <vt:lpstr>Bookman Old Style</vt:lpstr>
      <vt:lpstr>Cambria Math</vt:lpstr>
      <vt:lpstr>Gill Sans MT</vt:lpstr>
      <vt:lpstr>Wingdings</vt:lpstr>
      <vt:lpstr>Wingdings 3</vt:lpstr>
      <vt:lpstr>Origin</vt:lpstr>
      <vt:lpstr>Chapter 2  Basic Structures: Sets, Functions, Sequences, Sums, and Matrices </vt:lpstr>
      <vt:lpstr>Sequences</vt:lpstr>
      <vt:lpstr>Sequences (Contd.) </vt:lpstr>
      <vt:lpstr>Progressions</vt:lpstr>
      <vt:lpstr>Progressions (Contd.) </vt:lpstr>
      <vt:lpstr>Progressions (Contd.) </vt:lpstr>
      <vt:lpstr> Progressions (Contd.) </vt:lpstr>
      <vt:lpstr>Progressions (Contd.) </vt:lpstr>
      <vt:lpstr>Recurrence Relations</vt:lpstr>
      <vt:lpstr>Recurrence Relations (Contd.)</vt:lpstr>
      <vt:lpstr>Recurrence Relations (Contd.)</vt:lpstr>
      <vt:lpstr>Recurrence Relations (Contd.)</vt:lpstr>
      <vt:lpstr>Recurrence Relations (Contd.)</vt:lpstr>
      <vt:lpstr>Recurrence Relations (Contd.)</vt:lpstr>
      <vt:lpstr>Recurrence Relations (Contd.)</vt:lpstr>
      <vt:lpstr>Recurrence Relations (Contd.)</vt:lpstr>
      <vt:lpstr>Summations</vt:lpstr>
      <vt:lpstr>Summations (Contd.)</vt:lpstr>
      <vt:lpstr>THE END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Chapter 2  Basic Structures: Sets, Functions, Sequences, Sums, and Matrices</dc:title>
  <dc:creator>Sunef</dc:creator>
  <cp:lastModifiedBy>ASUS</cp:lastModifiedBy>
  <cp:revision>63</cp:revision>
  <dcterms:created xsi:type="dcterms:W3CDTF">2006-08-16T00:00:00Z</dcterms:created>
  <dcterms:modified xsi:type="dcterms:W3CDTF">2020-10-22T04:02:06Z</dcterms:modified>
</cp:coreProperties>
</file>