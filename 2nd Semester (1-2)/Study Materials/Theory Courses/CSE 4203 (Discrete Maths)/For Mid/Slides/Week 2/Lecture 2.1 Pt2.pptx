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2" r:id="rId15"/>
    <p:sldId id="269" r:id="rId16"/>
    <p:sldId id="270" r:id="rId17"/>
    <p:sldId id="271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hapter 1[1.3]" id="{42B928C2-429A-49D2-BD36-67A728D66D05}">
          <p14:sldIdLst>
            <p14:sldId id="256"/>
          </p14:sldIdLst>
        </p14:section>
        <p14:section name="Tautology, Contradiction &amp; Contingency" id="{D2883293-1DD9-4818-909B-9B95280D2221}">
          <p14:sldIdLst>
            <p14:sldId id="257"/>
            <p14:sldId id="258"/>
          </p14:sldIdLst>
        </p14:section>
        <p14:section name="Logical Equivalences" id="{56B108E2-69CB-4D7C-A34B-DF6C7997DBAE}">
          <p14:sldIdLst>
            <p14:sldId id="259"/>
            <p14:sldId id="260"/>
            <p14:sldId id="261"/>
          </p14:sldIdLst>
        </p14:section>
        <p14:section name="Logical Equivalence Rules" id="{9B985704-4544-4840-B7BE-27B8298BF94D}">
          <p14:sldIdLst>
            <p14:sldId id="262"/>
            <p14:sldId id="263"/>
          </p14:sldIdLst>
        </p14:section>
        <p14:section name="Constructing New Logical Equivalences" id="{A54ADD5B-EDAB-4478-97A1-B2A7A5D0E23C}">
          <p14:sldIdLst>
            <p14:sldId id="264"/>
            <p14:sldId id="265"/>
            <p14:sldId id="266"/>
          </p14:sldIdLst>
        </p14:section>
        <p14:section name="Propositional Satisfiability" id="{5A82B88F-398D-4335-94D6-647678D35186}">
          <p14:sldIdLst>
            <p14:sldId id="267"/>
            <p14:sldId id="268"/>
            <p14:sldId id="272"/>
            <p14:sldId id="269"/>
            <p14:sldId id="270"/>
            <p14:sldId id="27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115" autoAdjust="0"/>
    <p:restoredTop sz="94660"/>
  </p:normalViewPr>
  <p:slideViewPr>
    <p:cSldViewPr>
      <p:cViewPr varScale="1">
        <p:scale>
          <a:sx n="70" d="100"/>
          <a:sy n="70" d="100"/>
        </p:scale>
        <p:origin x="-1152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fld id="{046C6261-CD1B-4CE8-B12F-97E962EF6FA4}" type="datetimeFigureOut">
              <a:rPr lang="en-US" smtClean="0"/>
              <a:t>7/2/2019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27F38103-7F17-4832-804F-4194889A870A}" type="slidenum">
              <a:rPr lang="en-US" smtClean="0"/>
              <a:t>‹#›</a:t>
            </a:fld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Rectangle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C6261-CD1B-4CE8-B12F-97E962EF6FA4}" type="datetimeFigureOut">
              <a:rPr lang="en-US" smtClean="0"/>
              <a:t>7/2/2019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38103-7F17-4832-804F-4194889A870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fld id="{046C6261-CD1B-4CE8-B12F-97E962EF6FA4}" type="datetimeFigureOut">
              <a:rPr lang="en-US" smtClean="0"/>
              <a:t>7/2/2019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27F38103-7F17-4832-804F-4194889A870A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C6261-CD1B-4CE8-B12F-97E962EF6FA4}" type="datetimeFigureOut">
              <a:rPr lang="en-US" smtClean="0"/>
              <a:t>7/2/2019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38103-7F17-4832-804F-4194889A870A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C6261-CD1B-4CE8-B12F-97E962EF6FA4}" type="datetimeFigureOut">
              <a:rPr lang="en-US" smtClean="0"/>
              <a:t>7/2/2019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38103-7F17-4832-804F-4194889A870A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C6261-CD1B-4CE8-B12F-97E962EF6FA4}" type="datetimeFigureOut">
              <a:rPr lang="en-US" smtClean="0"/>
              <a:t>7/2/2019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38103-7F17-4832-804F-4194889A870A}" type="slidenum">
              <a:rPr lang="en-US" smtClean="0"/>
              <a:t>‹#›</a:t>
            </a:fld>
            <a:endParaRPr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C6261-CD1B-4CE8-B12F-97E962EF6FA4}" type="datetimeFigureOut">
              <a:rPr lang="en-US" smtClean="0"/>
              <a:t>7/2/2019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38103-7F17-4832-804F-4194889A870A}" type="slidenum">
              <a:rPr lang="en-US" smtClean="0"/>
              <a:t>‹#›</a:t>
            </a:fld>
            <a:endParaRPr lang="en-US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C6261-CD1B-4CE8-B12F-97E962EF6FA4}" type="datetimeFigureOut">
              <a:rPr lang="en-US" smtClean="0"/>
              <a:t>7/2/2019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38103-7F17-4832-804F-4194889A870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C6261-CD1B-4CE8-B12F-97E962EF6FA4}" type="datetimeFigureOut">
              <a:rPr lang="en-US" smtClean="0"/>
              <a:t>7/2/2019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38103-7F17-4832-804F-4194889A870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C6261-CD1B-4CE8-B12F-97E962EF6FA4}" type="datetimeFigureOut">
              <a:rPr lang="en-US" smtClean="0"/>
              <a:t>7/2/2019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38103-7F17-4832-804F-4194889A870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C6261-CD1B-4CE8-B12F-97E962EF6FA4}" type="datetimeFigureOut">
              <a:rPr lang="en-US" smtClean="0"/>
              <a:t>7/2/2019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38103-7F17-4832-804F-4194889A870A}" type="slidenum">
              <a:rPr lang="en-US" smtClean="0"/>
              <a:t>‹#›</a:t>
            </a:fld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046C6261-CD1B-4CE8-B12F-97E962EF6FA4}" type="datetimeFigureOut">
              <a:rPr lang="en-US" smtClean="0"/>
              <a:t>7/2/2019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27F38103-7F17-4832-804F-4194889A870A}" type="slidenum">
              <a:rPr lang="en-US" smtClean="0"/>
              <a:t>‹#›</a:t>
            </a:fld>
            <a:endParaRPr lang="en-US"/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3"/>
          <p:cNvSpPr>
            <a:spLocks noGrp="1"/>
          </p:cNvSpPr>
          <p:nvPr>
            <p:ph type="ctrTitle"/>
          </p:nvPr>
        </p:nvSpPr>
        <p:spPr>
          <a:xfrm>
            <a:off x="1043608" y="3573016"/>
            <a:ext cx="7177608" cy="1375792"/>
          </a:xfrm>
        </p:spPr>
        <p:txBody>
          <a:bodyPr>
            <a:normAutofit fontScale="90000"/>
          </a:bodyPr>
          <a:lstStyle/>
          <a:p>
            <a:pPr algn="ctr"/>
            <a:r>
              <a:rPr lang="en-GB" b="1" u="sng" dirty="0" smtClean="0"/>
              <a:t>Chapter 1</a:t>
            </a:r>
            <a:r>
              <a:rPr lang="en-GB" dirty="0" smtClean="0"/>
              <a:t> </a:t>
            </a:r>
            <a:br>
              <a:rPr lang="en-GB" dirty="0" smtClean="0"/>
            </a:br>
            <a:r>
              <a:rPr lang="en-GB" b="1" dirty="0" smtClean="0"/>
              <a:t>The Foundations : Logic and Proofs</a:t>
            </a:r>
            <a:br>
              <a:rPr lang="en-GB" b="1" dirty="0" smtClean="0"/>
            </a:br>
            <a:r>
              <a:rPr lang="en-GB" b="1" dirty="0" smtClean="0"/>
              <a:t>Kenneth H. Rosen 7</a:t>
            </a:r>
            <a:r>
              <a:rPr lang="en-GB" b="1" baseline="30000" dirty="0" smtClean="0"/>
              <a:t>th</a:t>
            </a:r>
            <a:r>
              <a:rPr lang="en-GB" b="1" dirty="0" smtClean="0"/>
              <a:t> edition</a:t>
            </a:r>
            <a:endParaRPr lang="en-US" b="1" dirty="0"/>
          </a:p>
        </p:txBody>
      </p:sp>
      <p:sp>
        <p:nvSpPr>
          <p:cNvPr id="7" name="Subtitle 4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>
            <a:normAutofit/>
          </a:bodyPr>
          <a:lstStyle/>
          <a:p>
            <a:r>
              <a:rPr lang="en-GB" dirty="0" smtClean="0"/>
              <a:t>Section 1.3 :  Propositional Equivalences</a:t>
            </a:r>
          </a:p>
        </p:txBody>
      </p:sp>
    </p:spTree>
    <p:extLst>
      <p:ext uri="{BB962C8B-B14F-4D97-AF65-F5344CB8AC3E}">
        <p14:creationId xmlns:p14="http://schemas.microsoft.com/office/powerpoint/2010/main" val="18251834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 smtClean="0"/>
              <a:t>Tautology, Contradiction &amp; Contingency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GB" sz="2800" b="1" u="sng" dirty="0" smtClean="0"/>
              <a:t>Tautology:</a:t>
            </a:r>
            <a:endParaRPr lang="en-US" sz="2800" b="1" u="sng" dirty="0" smtClean="0"/>
          </a:p>
          <a:p>
            <a:pPr lvl="1"/>
            <a:r>
              <a:rPr lang="en-US" sz="2400" dirty="0" smtClean="0"/>
              <a:t>A </a:t>
            </a:r>
            <a:r>
              <a:rPr lang="en-US" sz="2400" dirty="0"/>
              <a:t>compound proposition that is always true, no matter what the truth values of the </a:t>
            </a:r>
            <a:r>
              <a:rPr lang="en-US" sz="2400" dirty="0" smtClean="0"/>
              <a:t>propositional variables </a:t>
            </a:r>
            <a:r>
              <a:rPr lang="en-US" sz="2400" dirty="0"/>
              <a:t>that occur in </a:t>
            </a:r>
            <a:r>
              <a:rPr lang="en-US" sz="2400" dirty="0" smtClean="0"/>
              <a:t>it</a:t>
            </a:r>
            <a:r>
              <a:rPr lang="en-US" sz="2400" dirty="0"/>
              <a:t>.</a:t>
            </a:r>
            <a:r>
              <a:rPr lang="en-US" sz="2400" dirty="0" smtClean="0"/>
              <a:t> </a:t>
            </a:r>
          </a:p>
          <a:p>
            <a:r>
              <a:rPr lang="en-GB" sz="2800" b="1" u="sng" dirty="0" smtClean="0"/>
              <a:t>Contradiction:</a:t>
            </a:r>
            <a:endParaRPr lang="en-US" sz="2800" b="1" u="sng" dirty="0" smtClean="0"/>
          </a:p>
          <a:p>
            <a:pPr lvl="1"/>
            <a:r>
              <a:rPr lang="en-US" sz="2400" dirty="0" smtClean="0"/>
              <a:t>A </a:t>
            </a:r>
            <a:r>
              <a:rPr lang="en-US" sz="2400" dirty="0"/>
              <a:t>compound </a:t>
            </a:r>
            <a:r>
              <a:rPr lang="en-US" sz="2400" dirty="0" smtClean="0"/>
              <a:t>proposition </a:t>
            </a:r>
            <a:r>
              <a:rPr lang="en-US" sz="2400" dirty="0"/>
              <a:t>that is </a:t>
            </a:r>
            <a:r>
              <a:rPr lang="en-US" sz="2400" dirty="0" smtClean="0"/>
              <a:t>always false </a:t>
            </a:r>
            <a:r>
              <a:rPr lang="en-US" sz="2400" dirty="0"/>
              <a:t>is called a contradiction. </a:t>
            </a:r>
            <a:endParaRPr lang="en-US" sz="2400" dirty="0" smtClean="0"/>
          </a:p>
          <a:p>
            <a:r>
              <a:rPr lang="en-GB" sz="2800" b="1" u="sng" dirty="0" smtClean="0"/>
              <a:t>Contingency:</a:t>
            </a:r>
            <a:endParaRPr lang="en-US" sz="2800" b="1" u="sng" dirty="0" smtClean="0"/>
          </a:p>
          <a:p>
            <a:pPr lvl="1"/>
            <a:r>
              <a:rPr lang="en-US" sz="2400" dirty="0" smtClean="0"/>
              <a:t>A </a:t>
            </a:r>
            <a:r>
              <a:rPr lang="en-US" sz="2400" dirty="0"/>
              <a:t>compound proposition that is neither a tautology nor </a:t>
            </a:r>
            <a:r>
              <a:rPr lang="en-US" sz="2400" dirty="0" smtClean="0"/>
              <a:t>a contradiction </a:t>
            </a:r>
            <a:r>
              <a:rPr lang="en-US" sz="2400" dirty="0"/>
              <a:t>is called a contingency.</a:t>
            </a:r>
          </a:p>
        </p:txBody>
      </p:sp>
    </p:spTree>
    <p:extLst>
      <p:ext uri="{BB962C8B-B14F-4D97-AF65-F5344CB8AC3E}">
        <p14:creationId xmlns:p14="http://schemas.microsoft.com/office/powerpoint/2010/main" val="9197963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GB" dirty="0"/>
              <a:t>Tautology, Contradiction &amp; </a:t>
            </a:r>
            <a:r>
              <a:rPr lang="en-GB" dirty="0" smtClean="0"/>
              <a:t>Contingency(Contd.)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b="1" u="sng" dirty="0" smtClean="0"/>
                  <a:t>Example 1:</a:t>
                </a:r>
                <a:endParaRPr lang="en-US" u="sng" dirty="0" smtClean="0"/>
              </a:p>
              <a:p>
                <a:r>
                  <a:rPr lang="en-US" b="1" u="sng" dirty="0" smtClean="0"/>
                  <a:t>Tautology:</a:t>
                </a:r>
                <a:endParaRPr lang="en-US" b="1" u="sng" dirty="0"/>
              </a:p>
              <a:p>
                <a:pPr lvl="1"/>
                <a:r>
                  <a:rPr lang="en-US" dirty="0" smtClean="0"/>
                  <a:t>Consider the </a:t>
                </a:r>
                <a:r>
                  <a:rPr lang="en-US" dirty="0"/>
                  <a:t>truth </a:t>
                </a:r>
                <a:r>
                  <a:rPr lang="en-US" dirty="0" smtClean="0"/>
                  <a:t>table </a:t>
                </a:r>
                <a:r>
                  <a:rPr lang="en-US" dirty="0"/>
                  <a:t>of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/>
                      </a:rPr>
                      <m:t>𝒑</m:t>
                    </m:r>
                    <m:r>
                      <a:rPr lang="en-US" b="1" i="1" dirty="0" smtClean="0">
                        <a:latin typeface="Cambria Math"/>
                      </a:rPr>
                      <m:t> ∨¬</m:t>
                    </m:r>
                    <m:r>
                      <a:rPr lang="en-US" b="1" i="1" dirty="0" smtClean="0">
                        <a:latin typeface="Cambria Math"/>
                      </a:rPr>
                      <m:t>𝒑</m:t>
                    </m:r>
                    <m:r>
                      <a:rPr lang="en-GB" b="0" i="0" dirty="0" smtClean="0">
                        <a:latin typeface="Cambria Math"/>
                      </a:rPr>
                      <m:t>.</m:t>
                    </m:r>
                  </m:oMath>
                </a14:m>
                <a:r>
                  <a:rPr lang="en-US" dirty="0" smtClean="0"/>
                  <a:t> Because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/>
                      </a:rPr>
                      <m:t>𝒑</m:t>
                    </m:r>
                    <m:r>
                      <a:rPr lang="en-US" b="1" i="1" dirty="0" smtClean="0">
                        <a:latin typeface="Cambria Math"/>
                      </a:rPr>
                      <m:t> ∨¬</m:t>
                    </m:r>
                    <m:r>
                      <a:rPr lang="en-US" b="1" i="1" dirty="0" smtClean="0">
                        <a:latin typeface="Cambria Math"/>
                      </a:rPr>
                      <m:t>𝒑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smtClean="0"/>
                  <a:t>is always </a:t>
                </a:r>
                <a:r>
                  <a:rPr lang="en-US" dirty="0"/>
                  <a:t>true, it is a tautology. </a:t>
                </a:r>
                <a:endParaRPr lang="en-US" dirty="0" smtClean="0"/>
              </a:p>
              <a:p>
                <a:r>
                  <a:rPr lang="en-GB" b="1" u="sng" dirty="0" smtClean="0"/>
                  <a:t>Contradiction:</a:t>
                </a:r>
                <a:endParaRPr lang="en-US" b="1" u="sng" dirty="0" smtClean="0"/>
              </a:p>
              <a:p>
                <a:pPr lvl="1"/>
                <a:r>
                  <a:rPr lang="en-US" dirty="0"/>
                  <a:t>Consider the truth table of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/>
                      </a:rPr>
                      <m:t>𝒑</m:t>
                    </m:r>
                    <m:r>
                      <a:rPr lang="en-US" b="1" i="1" dirty="0" smtClean="0">
                        <a:latin typeface="Cambria Math"/>
                      </a:rPr>
                      <m:t> ∧¬</m:t>
                    </m:r>
                    <m:r>
                      <a:rPr lang="en-US" b="1" i="1" dirty="0" smtClean="0">
                        <a:latin typeface="Cambria Math"/>
                      </a:rPr>
                      <m:t>𝒑</m:t>
                    </m:r>
                    <m:r>
                      <a:rPr lang="en-GB" b="1" i="1" dirty="0" smtClean="0">
                        <a:latin typeface="Cambria Math"/>
                      </a:rPr>
                      <m:t>. </m:t>
                    </m:r>
                  </m:oMath>
                </a14:m>
                <a:r>
                  <a:rPr lang="en-US" dirty="0" smtClean="0"/>
                  <a:t>Because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/>
                      </a:rPr>
                      <m:t>𝒑</m:t>
                    </m:r>
                    <m:r>
                      <a:rPr lang="en-US" b="1" i="1" dirty="0" smtClean="0">
                        <a:latin typeface="Cambria Math"/>
                      </a:rPr>
                      <m:t> ∧¬</m:t>
                    </m:r>
                    <m:r>
                      <a:rPr lang="en-US" b="1" i="1" dirty="0" smtClean="0">
                        <a:latin typeface="Cambria Math"/>
                      </a:rPr>
                      <m:t>𝒑</m:t>
                    </m:r>
                  </m:oMath>
                </a14:m>
                <a:r>
                  <a:rPr lang="en-US" dirty="0"/>
                  <a:t> is always false, it is a contradiction.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1259" t="-1111" r="-1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15104005"/>
                  </p:ext>
                </p:extLst>
              </p:nvPr>
            </p:nvGraphicFramePr>
            <p:xfrm>
              <a:off x="1475656" y="4692744"/>
              <a:ext cx="6096000" cy="1112520"/>
            </p:xfrm>
            <a:graphic>
              <a:graphicData uri="http://schemas.openxmlformats.org/drawingml/2006/table">
                <a:tbl>
                  <a:tblPr firstRow="1">
                    <a:tableStyleId>{ED083AE6-46FA-4A59-8FB0-9F97EB10719F}</a:tableStyleId>
                  </a:tblPr>
                  <a:tblGrid>
                    <a:gridCol w="1524000"/>
                    <a:gridCol w="1524000"/>
                    <a:gridCol w="1524000"/>
                    <a:gridCol w="1524000"/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smtClean="0">
                                    <a:latin typeface="Cambria Math"/>
                                  </a:rPr>
                                  <m:t>𝒑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smtClean="0">
                                    <a:latin typeface="Cambria Math"/>
                                  </a:rPr>
                                  <m:t>¬</m:t>
                                </m:r>
                                <m:r>
                                  <a:rPr lang="en-GB" b="1" i="1" smtClean="0">
                                    <a:latin typeface="Cambria Math"/>
                                  </a:rPr>
                                  <m:t>𝒑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smtClean="0">
                                    <a:latin typeface="Cambria Math"/>
                                  </a:rPr>
                                  <m:t>𝒑</m:t>
                                </m:r>
                                <m:r>
                                  <a:rPr lang="en-GB" b="1" i="1" smtClean="0">
                                    <a:latin typeface="Cambria Math"/>
                                    <a:ea typeface="Cambria Math"/>
                                  </a:rPr>
                                  <m:t>∨¬</m:t>
                                </m:r>
                                <m:r>
                                  <a:rPr lang="en-GB" b="1" i="1" smtClean="0">
                                    <a:latin typeface="Cambria Math"/>
                                    <a:ea typeface="Cambria Math"/>
                                  </a:rPr>
                                  <m:t>𝒑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smtClean="0">
                                    <a:latin typeface="Cambria Math"/>
                                  </a:rPr>
                                  <m:t>𝒑</m:t>
                                </m:r>
                                <m:r>
                                  <a:rPr lang="en-GB" b="1" i="1" smtClean="0">
                                    <a:latin typeface="Cambria Math"/>
                                    <a:ea typeface="Cambria Math"/>
                                  </a:rPr>
                                  <m:t>∧¬</m:t>
                                </m:r>
                                <m:r>
                                  <a:rPr lang="en-GB" b="1" i="1" smtClean="0">
                                    <a:latin typeface="Cambria Math"/>
                                    <a:ea typeface="Cambria Math"/>
                                  </a:rPr>
                                  <m:t>𝒑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F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T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T</a:t>
                          </a:r>
                          <a:endParaRPr lang="en-US" dirty="0"/>
                        </a:p>
                      </a:txBody>
                      <a:tcPr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F</a:t>
                          </a:r>
                          <a:endParaRPr lang="en-US" dirty="0"/>
                        </a:p>
                      </a:txBody>
                      <a:tcPr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T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F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T</a:t>
                          </a:r>
                          <a:endParaRPr lang="en-US" dirty="0"/>
                        </a:p>
                      </a:txBody>
                      <a:tcPr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F</a:t>
                          </a:r>
                          <a:endParaRPr lang="en-US" dirty="0"/>
                        </a:p>
                      </a:txBody>
                      <a:tcPr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15104005"/>
                  </p:ext>
                </p:extLst>
              </p:nvPr>
            </p:nvGraphicFramePr>
            <p:xfrm>
              <a:off x="1475656" y="4692744"/>
              <a:ext cx="6096000" cy="1112520"/>
            </p:xfrm>
            <a:graphic>
              <a:graphicData uri="http://schemas.openxmlformats.org/drawingml/2006/table">
                <a:tbl>
                  <a:tblPr firstRow="1">
                    <a:tableStyleId>{ED083AE6-46FA-4A59-8FB0-9F97EB10719F}</a:tableStyleId>
                  </a:tblPr>
                  <a:tblGrid>
                    <a:gridCol w="1524000"/>
                    <a:gridCol w="1524000"/>
                    <a:gridCol w="1524000"/>
                    <a:gridCol w="1524000"/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t="-8197" r="-300400" b="-2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100000" t="-8197" r="-200400" b="-2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200000" t="-8197" r="-100400" b="-2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300000" t="-8197" r="-400" b="-222951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F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T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T</a:t>
                          </a:r>
                          <a:endParaRPr lang="en-US" dirty="0"/>
                        </a:p>
                      </a:txBody>
                      <a:tcPr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F</a:t>
                          </a:r>
                          <a:endParaRPr lang="en-US" dirty="0"/>
                        </a:p>
                      </a:txBody>
                      <a:tcPr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T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F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T</a:t>
                          </a:r>
                          <a:endParaRPr lang="en-US" dirty="0"/>
                        </a:p>
                      </a:txBody>
                      <a:tcPr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F</a:t>
                          </a:r>
                          <a:endParaRPr lang="en-US" dirty="0"/>
                        </a:p>
                      </a:txBody>
                      <a:tcPr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1679929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Logical Equivalences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dirty="0"/>
                  <a:t>Compound propositions that have the same truth values in all possible cases are called </a:t>
                </a:r>
                <a:r>
                  <a:rPr lang="en-US" dirty="0" smtClean="0"/>
                  <a:t>logically equivalent.</a:t>
                </a:r>
              </a:p>
              <a:p>
                <a:pPr lvl="1"/>
                <a:r>
                  <a:rPr lang="en-US" dirty="0"/>
                  <a:t>The compound propositions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/>
                      </a:rPr>
                      <m:t>𝒑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/>
                      </a:rPr>
                      <m:t>𝒒</m:t>
                    </m:r>
                  </m:oMath>
                </a14:m>
                <a:r>
                  <a:rPr lang="en-US" dirty="0"/>
                  <a:t> are called logically equivalent if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/>
                      </a:rPr>
                      <m:t>𝒑</m:t>
                    </m:r>
                    <m:r>
                      <a:rPr lang="en-US" b="1" i="1" dirty="0" smtClean="0">
                        <a:latin typeface="Cambria Math"/>
                      </a:rPr>
                      <m:t> ↔ </m:t>
                    </m:r>
                    <m:r>
                      <a:rPr lang="en-US" b="1" i="1" dirty="0" smtClean="0">
                        <a:latin typeface="Cambria Math"/>
                      </a:rPr>
                      <m:t>𝒒</m:t>
                    </m:r>
                  </m:oMath>
                </a14:m>
                <a:r>
                  <a:rPr lang="en-US" dirty="0"/>
                  <a:t> is a tautology.</a:t>
                </a:r>
              </a:p>
              <a:p>
                <a:pPr lvl="1"/>
                <a:r>
                  <a:rPr lang="en-US" dirty="0"/>
                  <a:t>The notation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/>
                      </a:rPr>
                      <m:t>𝒑</m:t>
                    </m:r>
                    <m:r>
                      <a:rPr lang="en-US" b="1" i="1" dirty="0" smtClean="0">
                        <a:latin typeface="Cambria Math"/>
                      </a:rPr>
                      <m:t> ≡ </m:t>
                    </m:r>
                    <m:r>
                      <a:rPr lang="en-US" b="1" i="1" dirty="0" smtClean="0">
                        <a:latin typeface="Cambria Math"/>
                      </a:rPr>
                      <m:t>𝒒</m:t>
                    </m:r>
                  </m:oMath>
                </a14:m>
                <a:r>
                  <a:rPr lang="en-US" dirty="0"/>
                  <a:t> denotes that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/>
                      </a:rPr>
                      <m:t>𝒑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/>
                      </a:rPr>
                      <m:t>𝒒</m:t>
                    </m:r>
                  </m:oMath>
                </a14:m>
                <a:r>
                  <a:rPr lang="en-US" dirty="0"/>
                  <a:t> are logically equivalent.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593" t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775358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 smtClean="0"/>
              <a:t>Logical Equivalences(Contd.)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GB" sz="2800" b="1" u="sng" dirty="0" smtClean="0"/>
                  <a:t>Example 1:</a:t>
                </a:r>
              </a:p>
              <a:p>
                <a:pPr lvl="1"/>
                <a:r>
                  <a:rPr lang="en-US" sz="2500" dirty="0"/>
                  <a:t>Show that </a:t>
                </a:r>
                <a14:m>
                  <m:oMath xmlns:m="http://schemas.openxmlformats.org/officeDocument/2006/math">
                    <m:r>
                      <a:rPr lang="en-US" sz="2500" b="1" i="1" dirty="0" smtClean="0">
                        <a:latin typeface="Cambria Math"/>
                      </a:rPr>
                      <m:t>¬(</m:t>
                    </m:r>
                    <m:r>
                      <a:rPr lang="en-US" sz="2500" b="1" i="1" dirty="0" smtClean="0">
                        <a:latin typeface="Cambria Math"/>
                      </a:rPr>
                      <m:t>𝒑</m:t>
                    </m:r>
                    <m:r>
                      <a:rPr lang="en-US" sz="2500" b="1" i="1" dirty="0" smtClean="0">
                        <a:latin typeface="Cambria Math"/>
                      </a:rPr>
                      <m:t> ∨ </m:t>
                    </m:r>
                    <m:r>
                      <a:rPr lang="en-US" sz="2500" b="1" i="1" dirty="0" smtClean="0">
                        <a:latin typeface="Cambria Math"/>
                      </a:rPr>
                      <m:t>𝒒</m:t>
                    </m:r>
                    <m:r>
                      <a:rPr lang="en-US" sz="2500" b="1" i="1" dirty="0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sz="2500" dirty="0"/>
                  <a:t> and </a:t>
                </a:r>
                <a14:m>
                  <m:oMath xmlns:m="http://schemas.openxmlformats.org/officeDocument/2006/math">
                    <m:r>
                      <a:rPr lang="en-US" sz="2500" b="1" i="1" dirty="0" smtClean="0">
                        <a:latin typeface="Cambria Math"/>
                      </a:rPr>
                      <m:t>¬</m:t>
                    </m:r>
                    <m:r>
                      <a:rPr lang="en-US" sz="2500" b="1" i="1" dirty="0" smtClean="0">
                        <a:latin typeface="Cambria Math"/>
                      </a:rPr>
                      <m:t>𝒑</m:t>
                    </m:r>
                    <m:r>
                      <a:rPr lang="en-US" sz="2500" b="1" i="1" dirty="0" smtClean="0">
                        <a:latin typeface="Cambria Math"/>
                      </a:rPr>
                      <m:t> ∧¬</m:t>
                    </m:r>
                    <m:r>
                      <a:rPr lang="en-US" sz="2500" b="1" i="1" dirty="0" smtClean="0">
                        <a:latin typeface="Cambria Math"/>
                      </a:rPr>
                      <m:t>𝒒</m:t>
                    </m:r>
                  </m:oMath>
                </a14:m>
                <a:r>
                  <a:rPr lang="en-US" sz="2500" dirty="0"/>
                  <a:t> are logically equivalent</a:t>
                </a:r>
                <a:r>
                  <a:rPr lang="en-US" sz="2500" dirty="0" smtClean="0"/>
                  <a:t>.</a:t>
                </a:r>
              </a:p>
              <a:p>
                <a:r>
                  <a:rPr lang="en-GB" sz="2800" b="1" u="sng" dirty="0" smtClean="0"/>
                  <a:t>Solution:</a:t>
                </a:r>
              </a:p>
              <a:p>
                <a:pPr lvl="1"/>
                <a:r>
                  <a:rPr lang="en-GB" sz="2500" dirty="0" smtClean="0"/>
                  <a:t>We can verify from the following truth table that, </a:t>
                </a:r>
                <a14:m>
                  <m:oMath xmlns:m="http://schemas.openxmlformats.org/officeDocument/2006/math">
                    <m:r>
                      <a:rPr lang="en-US" sz="2500" b="1" i="1" dirty="0">
                        <a:latin typeface="Cambria Math"/>
                      </a:rPr>
                      <m:t>¬(</m:t>
                    </m:r>
                    <m:r>
                      <a:rPr lang="en-US" sz="2500" b="1" i="1" dirty="0">
                        <a:latin typeface="Cambria Math"/>
                      </a:rPr>
                      <m:t>𝒑</m:t>
                    </m:r>
                    <m:r>
                      <a:rPr lang="en-US" sz="2500" b="1" i="1" dirty="0">
                        <a:latin typeface="Cambria Math"/>
                      </a:rPr>
                      <m:t> ∨ </m:t>
                    </m:r>
                    <m:r>
                      <a:rPr lang="en-US" sz="2500" b="1" i="1" dirty="0">
                        <a:latin typeface="Cambria Math"/>
                      </a:rPr>
                      <m:t>𝒒</m:t>
                    </m:r>
                    <m:r>
                      <a:rPr lang="en-US" sz="2500" b="1" i="1" dirty="0">
                        <a:latin typeface="Cambria Math"/>
                      </a:rPr>
                      <m:t>)</m:t>
                    </m:r>
                  </m:oMath>
                </a14:m>
                <a:r>
                  <a:rPr lang="en-US" sz="2500" dirty="0"/>
                  <a:t> </a:t>
                </a:r>
                <a14:m>
                  <m:oMath xmlns:m="http://schemas.openxmlformats.org/officeDocument/2006/math">
                    <m:r>
                      <a:rPr lang="en-US" sz="2500" i="1" dirty="0" smtClean="0">
                        <a:latin typeface="Cambria Math"/>
                        <a:ea typeface="Cambria Math"/>
                      </a:rPr>
                      <m:t>≡</m:t>
                    </m:r>
                  </m:oMath>
                </a14:m>
                <a:r>
                  <a:rPr lang="en-US" sz="2500" dirty="0" smtClean="0"/>
                  <a:t> </a:t>
                </a:r>
                <a14:m>
                  <m:oMath xmlns:m="http://schemas.openxmlformats.org/officeDocument/2006/math">
                    <m:r>
                      <a:rPr lang="en-US" sz="2500" b="1" i="1" dirty="0">
                        <a:latin typeface="Cambria Math"/>
                      </a:rPr>
                      <m:t>¬</m:t>
                    </m:r>
                    <m:r>
                      <a:rPr lang="en-US" sz="2500" b="1" i="1" dirty="0">
                        <a:latin typeface="Cambria Math"/>
                      </a:rPr>
                      <m:t>𝒑</m:t>
                    </m:r>
                    <m:r>
                      <a:rPr lang="en-US" sz="2500" b="1" i="1" dirty="0">
                        <a:latin typeface="Cambria Math"/>
                      </a:rPr>
                      <m:t> ∧¬</m:t>
                    </m:r>
                    <m:r>
                      <a:rPr lang="en-US" sz="2500" b="1" i="1" dirty="0">
                        <a:latin typeface="Cambria Math"/>
                      </a:rPr>
                      <m:t>𝒒</m:t>
                    </m:r>
                  </m:oMath>
                </a14:m>
                <a:r>
                  <a:rPr lang="en-US" sz="2500" dirty="0" smtClean="0"/>
                  <a:t>.</a:t>
                </a:r>
                <a:endParaRPr lang="en-US" sz="25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741" t="-12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32999878"/>
                  </p:ext>
                </p:extLst>
              </p:nvPr>
            </p:nvGraphicFramePr>
            <p:xfrm>
              <a:off x="2094767" y="3951064"/>
              <a:ext cx="5069521" cy="1854200"/>
            </p:xfrm>
            <a:graphic>
              <a:graphicData uri="http://schemas.openxmlformats.org/drawingml/2006/table">
                <a:tbl>
                  <a:tblPr firstRow="1">
                    <a:tableStyleId>{ED083AE6-46FA-4A59-8FB0-9F97EB10719F}</a:tableStyleId>
                  </a:tblPr>
                  <a:tblGrid>
                    <a:gridCol w="387667"/>
                    <a:gridCol w="384493"/>
                    <a:gridCol w="559117"/>
                    <a:gridCol w="555943"/>
                    <a:gridCol w="952817"/>
                    <a:gridCol w="1124267"/>
                    <a:gridCol w="1105217"/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smtClean="0">
                                    <a:latin typeface="Cambria Math"/>
                                  </a:rPr>
                                  <m:t>𝒑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smtClean="0">
                                    <a:latin typeface="Cambria Math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smtClean="0">
                                    <a:latin typeface="Cambria Math"/>
                                  </a:rPr>
                                  <m:t>¬</m:t>
                                </m:r>
                                <m:r>
                                  <a:rPr lang="en-GB" b="1" i="1" smtClean="0">
                                    <a:latin typeface="Cambria Math"/>
                                  </a:rPr>
                                  <m:t>𝒑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smtClean="0">
                                    <a:latin typeface="Cambria Math"/>
                                  </a:rPr>
                                  <m:t>¬</m:t>
                                </m:r>
                                <m:r>
                                  <a:rPr lang="en-GB" b="1" i="1" smtClean="0">
                                    <a:latin typeface="Cambria Math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smtClean="0"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GB" b="1" i="1" smtClean="0">
                                    <a:latin typeface="Cambria Math"/>
                                  </a:rPr>
                                  <m:t>𝒑</m:t>
                                </m:r>
                                <m:r>
                                  <a:rPr lang="en-GB" b="1" i="1" smtClean="0">
                                    <a:latin typeface="Cambria Math"/>
                                    <a:ea typeface="Cambria Math"/>
                                  </a:rPr>
                                  <m:t>∨</m:t>
                                </m:r>
                                <m:r>
                                  <a:rPr lang="en-GB" b="1" i="1" smtClean="0">
                                    <a:latin typeface="Cambria Math"/>
                                    <a:ea typeface="Cambria Math"/>
                                  </a:rPr>
                                  <m:t>𝒒</m:t>
                                </m:r>
                                <m:r>
                                  <a:rPr lang="en-GB" b="1" i="1" smtClean="0">
                                    <a:latin typeface="Cambria Math"/>
                                    <a:ea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smtClean="0">
                                    <a:latin typeface="Cambria Math"/>
                                  </a:rPr>
                                  <m:t>¬(</m:t>
                                </m:r>
                                <m:r>
                                  <a:rPr lang="en-GB" b="1" i="1" smtClean="0">
                                    <a:latin typeface="Cambria Math"/>
                                  </a:rPr>
                                  <m:t>𝒑</m:t>
                                </m:r>
                                <m:r>
                                  <a:rPr lang="en-GB" b="1" i="1" smtClean="0">
                                    <a:latin typeface="Cambria Math"/>
                                    <a:ea typeface="Cambria Math"/>
                                  </a:rPr>
                                  <m:t>∨</m:t>
                                </m:r>
                                <m:r>
                                  <a:rPr lang="en-GB" b="1" i="1" smtClean="0">
                                    <a:latin typeface="Cambria Math"/>
                                    <a:ea typeface="Cambria Math"/>
                                  </a:rPr>
                                  <m:t>𝒒</m:t>
                                </m:r>
                                <m:r>
                                  <a:rPr lang="en-GB" b="1" i="1" smtClean="0">
                                    <a:latin typeface="Cambria Math"/>
                                    <a:ea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smtClean="0">
                                    <a:latin typeface="Cambria Math"/>
                                  </a:rPr>
                                  <m:t>¬</m:t>
                                </m:r>
                                <m:r>
                                  <a:rPr lang="en-GB" b="1" i="1" smtClean="0">
                                    <a:latin typeface="Cambria Math"/>
                                  </a:rPr>
                                  <m:t>𝒑</m:t>
                                </m:r>
                                <m:r>
                                  <a:rPr lang="en-GB" b="1" i="1" smtClean="0">
                                    <a:latin typeface="Cambria Math"/>
                                    <a:ea typeface="Cambria Math"/>
                                  </a:rPr>
                                  <m:t>∧¬</m:t>
                                </m:r>
                                <m:r>
                                  <a:rPr lang="en-GB" b="1" i="1" smtClean="0">
                                    <a:latin typeface="Cambria Math"/>
                                    <a:ea typeface="Cambria Math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F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F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T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T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F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T</a:t>
                          </a:r>
                          <a:endParaRPr lang="en-US" dirty="0"/>
                        </a:p>
                      </a:txBody>
                      <a:tcPr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T</a:t>
                          </a:r>
                          <a:endParaRPr lang="en-US" dirty="0"/>
                        </a:p>
                      </a:txBody>
                      <a:tcPr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F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T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T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F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T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F</a:t>
                          </a:r>
                          <a:endParaRPr lang="en-US" dirty="0"/>
                        </a:p>
                      </a:txBody>
                      <a:tcPr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F</a:t>
                          </a:r>
                          <a:endParaRPr lang="en-US" dirty="0"/>
                        </a:p>
                      </a:txBody>
                      <a:tcPr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T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F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F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T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T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F</a:t>
                          </a:r>
                          <a:endParaRPr lang="en-US" dirty="0"/>
                        </a:p>
                      </a:txBody>
                      <a:tcPr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F</a:t>
                          </a:r>
                          <a:endParaRPr lang="en-US" dirty="0"/>
                        </a:p>
                      </a:txBody>
                      <a:tcPr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T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T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F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F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T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F</a:t>
                          </a:r>
                          <a:endParaRPr lang="en-US" dirty="0"/>
                        </a:p>
                      </a:txBody>
                      <a:tcPr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F</a:t>
                          </a:r>
                          <a:endParaRPr lang="en-US" dirty="0"/>
                        </a:p>
                      </a:txBody>
                      <a:tcPr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32999878"/>
                  </p:ext>
                </p:extLst>
              </p:nvPr>
            </p:nvGraphicFramePr>
            <p:xfrm>
              <a:off x="2094767" y="3951064"/>
              <a:ext cx="5069521" cy="1854200"/>
            </p:xfrm>
            <a:graphic>
              <a:graphicData uri="http://schemas.openxmlformats.org/drawingml/2006/table">
                <a:tbl>
                  <a:tblPr firstRow="1">
                    <a:tableStyleId>{ED083AE6-46FA-4A59-8FB0-9F97EB10719F}</a:tableStyleId>
                  </a:tblPr>
                  <a:tblGrid>
                    <a:gridCol w="387667"/>
                    <a:gridCol w="384493"/>
                    <a:gridCol w="559117"/>
                    <a:gridCol w="555943"/>
                    <a:gridCol w="952817"/>
                    <a:gridCol w="1124267"/>
                    <a:gridCol w="1105217"/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1563" t="-8197" r="-1200000" b="-4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103175" t="-8197" r="-1119048" b="-4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140659" t="-8197" r="-674725" b="-4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240659" t="-8197" r="-574725" b="-4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197452" t="-8197" r="-233121" b="-4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253804" t="-8197" r="-98913" b="-4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359669" t="-8197" r="-552" b="-422951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F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F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T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T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F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T</a:t>
                          </a:r>
                          <a:endParaRPr lang="en-US" dirty="0"/>
                        </a:p>
                      </a:txBody>
                      <a:tcPr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T</a:t>
                          </a:r>
                          <a:endParaRPr lang="en-US" dirty="0"/>
                        </a:p>
                      </a:txBody>
                      <a:tcPr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F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T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T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F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T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F</a:t>
                          </a:r>
                          <a:endParaRPr lang="en-US" dirty="0"/>
                        </a:p>
                      </a:txBody>
                      <a:tcPr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F</a:t>
                          </a:r>
                          <a:endParaRPr lang="en-US" dirty="0"/>
                        </a:p>
                      </a:txBody>
                      <a:tcPr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T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F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F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T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T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F</a:t>
                          </a:r>
                          <a:endParaRPr lang="en-US" dirty="0"/>
                        </a:p>
                      </a:txBody>
                      <a:tcPr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F</a:t>
                          </a:r>
                          <a:endParaRPr lang="en-US" dirty="0"/>
                        </a:p>
                      </a:txBody>
                      <a:tcPr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T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T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F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F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T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F</a:t>
                          </a:r>
                          <a:endParaRPr lang="en-US" dirty="0"/>
                        </a:p>
                      </a:txBody>
                      <a:tcPr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F</a:t>
                          </a:r>
                          <a:endParaRPr lang="en-US" dirty="0"/>
                        </a:p>
                      </a:txBody>
                      <a:tcPr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5405741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Logical Equivalences(Contd.)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GB" sz="2800" b="1" u="sng" dirty="0" smtClean="0"/>
                  <a:t>Exercises:</a:t>
                </a:r>
              </a:p>
              <a:p>
                <a:pPr lvl="1"/>
                <a:r>
                  <a:rPr lang="en-US" sz="2500" dirty="0"/>
                  <a:t>Show that </a:t>
                </a:r>
                <a14:m>
                  <m:oMath xmlns:m="http://schemas.openxmlformats.org/officeDocument/2006/math">
                    <m:r>
                      <a:rPr lang="en-US" sz="2500" b="1" i="1" dirty="0" smtClean="0">
                        <a:latin typeface="Cambria Math"/>
                      </a:rPr>
                      <m:t>𝒑</m:t>
                    </m:r>
                    <m:r>
                      <a:rPr lang="en-US" sz="2500" b="1" i="1" dirty="0" smtClean="0">
                        <a:latin typeface="Cambria Math"/>
                      </a:rPr>
                      <m:t> → </m:t>
                    </m:r>
                    <m:r>
                      <a:rPr lang="en-US" sz="2500" b="1" i="1" dirty="0" smtClean="0">
                        <a:latin typeface="Cambria Math"/>
                      </a:rPr>
                      <m:t>𝒒</m:t>
                    </m:r>
                  </m:oMath>
                </a14:m>
                <a:r>
                  <a:rPr lang="en-US" sz="2500" dirty="0"/>
                  <a:t> </a:t>
                </a:r>
                <a:r>
                  <a:rPr lang="en-US" sz="2500" dirty="0" smtClean="0"/>
                  <a:t>and </a:t>
                </a:r>
                <a14:m>
                  <m:oMath xmlns:m="http://schemas.openxmlformats.org/officeDocument/2006/math">
                    <m:r>
                      <a:rPr lang="en-US" sz="2500" b="1" i="1" dirty="0" smtClean="0">
                        <a:latin typeface="Cambria Math"/>
                      </a:rPr>
                      <m:t>¬</m:t>
                    </m:r>
                    <m:r>
                      <a:rPr lang="en-US" sz="2500" b="1" i="1" dirty="0" smtClean="0">
                        <a:latin typeface="Cambria Math"/>
                      </a:rPr>
                      <m:t>𝒑</m:t>
                    </m:r>
                    <m:r>
                      <a:rPr lang="en-US" sz="2500" b="1" i="1" dirty="0" smtClean="0">
                        <a:latin typeface="Cambria Math"/>
                      </a:rPr>
                      <m:t> ∨ </m:t>
                    </m:r>
                    <m:r>
                      <a:rPr lang="en-US" sz="2500" b="1" i="1" dirty="0" smtClean="0">
                        <a:latin typeface="Cambria Math"/>
                      </a:rPr>
                      <m:t>𝒒</m:t>
                    </m:r>
                  </m:oMath>
                </a14:m>
                <a:r>
                  <a:rPr lang="en-US" sz="2500" dirty="0"/>
                  <a:t> </a:t>
                </a:r>
                <a:r>
                  <a:rPr lang="en-US" sz="2500" dirty="0" smtClean="0"/>
                  <a:t>are </a:t>
                </a:r>
                <a:r>
                  <a:rPr lang="en-US" sz="2500" dirty="0"/>
                  <a:t>logically equivalent</a:t>
                </a:r>
                <a:r>
                  <a:rPr lang="en-US" sz="2500" dirty="0" smtClean="0"/>
                  <a:t>.</a:t>
                </a:r>
              </a:p>
              <a:p>
                <a:pPr lvl="1"/>
                <a:r>
                  <a:rPr lang="en-US" sz="2500" dirty="0"/>
                  <a:t>Show that </a:t>
                </a:r>
                <a14:m>
                  <m:oMath xmlns:m="http://schemas.openxmlformats.org/officeDocument/2006/math">
                    <m:r>
                      <a:rPr lang="en-US" sz="2500" b="1" i="1" dirty="0" smtClean="0">
                        <a:latin typeface="Cambria Math"/>
                      </a:rPr>
                      <m:t>𝒑</m:t>
                    </m:r>
                    <m:r>
                      <a:rPr lang="en-US" sz="2500" b="1" i="1" dirty="0" smtClean="0">
                        <a:latin typeface="Cambria Math"/>
                      </a:rPr>
                      <m:t> ∨ (</m:t>
                    </m:r>
                    <m:r>
                      <a:rPr lang="en-US" sz="2500" b="1" i="1" dirty="0" smtClean="0">
                        <a:latin typeface="Cambria Math"/>
                      </a:rPr>
                      <m:t>𝒒</m:t>
                    </m:r>
                    <m:r>
                      <a:rPr lang="en-US" sz="2500" b="1" i="1" dirty="0" smtClean="0">
                        <a:latin typeface="Cambria Math"/>
                      </a:rPr>
                      <m:t> ∧ </m:t>
                    </m:r>
                    <m:r>
                      <a:rPr lang="en-US" sz="2500" b="1" i="1" dirty="0" smtClean="0">
                        <a:latin typeface="Cambria Math"/>
                      </a:rPr>
                      <m:t>𝒓</m:t>
                    </m:r>
                    <m:r>
                      <a:rPr lang="en-US" sz="2500" b="1" i="1" dirty="0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sz="2500" dirty="0"/>
                  <a:t> and </a:t>
                </a:r>
                <a14:m>
                  <m:oMath xmlns:m="http://schemas.openxmlformats.org/officeDocument/2006/math">
                    <m:r>
                      <a:rPr lang="en-US" sz="2500" b="1" i="1" dirty="0" smtClean="0">
                        <a:latin typeface="Cambria Math"/>
                      </a:rPr>
                      <m:t>(</m:t>
                    </m:r>
                    <m:r>
                      <a:rPr lang="en-US" sz="2500" b="1" i="1" dirty="0" smtClean="0">
                        <a:latin typeface="Cambria Math"/>
                      </a:rPr>
                      <m:t>𝒑</m:t>
                    </m:r>
                    <m:r>
                      <a:rPr lang="en-US" sz="2500" b="1" i="1" dirty="0" smtClean="0">
                        <a:latin typeface="Cambria Math"/>
                      </a:rPr>
                      <m:t> ∨ </m:t>
                    </m:r>
                    <m:r>
                      <a:rPr lang="en-US" sz="2500" b="1" i="1" dirty="0" smtClean="0">
                        <a:latin typeface="Cambria Math"/>
                      </a:rPr>
                      <m:t>𝒒</m:t>
                    </m:r>
                    <m:r>
                      <a:rPr lang="en-US" sz="2500" b="1" i="1" dirty="0" smtClean="0">
                        <a:latin typeface="Cambria Math"/>
                      </a:rPr>
                      <m:t>) ∧ (</m:t>
                    </m:r>
                    <m:r>
                      <a:rPr lang="en-US" sz="2500" b="1" i="1" dirty="0" smtClean="0">
                        <a:latin typeface="Cambria Math"/>
                      </a:rPr>
                      <m:t>𝒑</m:t>
                    </m:r>
                    <m:r>
                      <a:rPr lang="en-US" sz="2500" b="1" i="1" dirty="0" smtClean="0">
                        <a:latin typeface="Cambria Math"/>
                      </a:rPr>
                      <m:t> ∨ </m:t>
                    </m:r>
                    <m:r>
                      <a:rPr lang="en-US" sz="2500" b="1" i="1" dirty="0" smtClean="0">
                        <a:latin typeface="Cambria Math"/>
                      </a:rPr>
                      <m:t>𝒓</m:t>
                    </m:r>
                    <m:r>
                      <a:rPr lang="en-US" sz="2500" b="1" i="1" dirty="0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sz="2500" dirty="0"/>
                  <a:t> are logically equivalent.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741" t="-12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295828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 smtClean="0"/>
              <a:t>Logical Equivalence Rules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GB" sz="2800" b="1" u="sng" dirty="0" smtClean="0"/>
              <a:t>Important rules</a:t>
            </a:r>
          </a:p>
          <a:p>
            <a:pPr marL="0" indent="0">
              <a:buNone/>
            </a:pPr>
            <a:endParaRPr lang="en-US" sz="28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9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73031917"/>
                  </p:ext>
                </p:extLst>
              </p:nvPr>
            </p:nvGraphicFramePr>
            <p:xfrm>
              <a:off x="107504" y="1915120"/>
              <a:ext cx="8928992" cy="4394200"/>
            </p:xfrm>
            <a:graphic>
              <a:graphicData uri="http://schemas.openxmlformats.org/drawingml/2006/table">
                <a:tbl>
                  <a:tblPr firstRow="1">
                    <a:tableStyleId>{ED083AE6-46FA-4A59-8FB0-9F97EB10719F}</a:tableStyleId>
                  </a:tblPr>
                  <a:tblGrid>
                    <a:gridCol w="1843786"/>
                    <a:gridCol w="1756614"/>
                    <a:gridCol w="3836225"/>
                    <a:gridCol w="1492367"/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smtClean="0">
                                    <a:latin typeface="Cambria Math"/>
                                  </a:rPr>
                                  <m:t>𝑬𝒒𝒖𝒊𝒗𝒂𝒍𝒆𝒏𝒄𝒆𝒔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smtClean="0">
                                    <a:latin typeface="Cambria Math"/>
                                  </a:rPr>
                                  <m:t>𝑵𝒂𝒎𝒆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smtClean="0">
                                    <a:latin typeface="Cambria Math"/>
                                  </a:rPr>
                                  <m:t>𝑬𝒒𝒖𝒊𝒗𝒂𝒍𝒆𝒏𝒄𝒆𝒔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smtClean="0">
                                    <a:latin typeface="Cambria Math"/>
                                  </a:rPr>
                                  <m:t>𝑵𝒂𝒎𝒆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/>
                                  </a:rPr>
                                  <m:t>𝑝</m:t>
                                </m:r>
                                <m:r>
                                  <a:rPr lang="en-GB" b="0" i="1" smtClean="0">
                                    <a:latin typeface="Cambria Math"/>
                                    <a:ea typeface="Cambria Math"/>
                                  </a:rPr>
                                  <m:t>∧</m:t>
                                </m:r>
                                <m:r>
                                  <a:rPr lang="en-GB" b="0" i="1" smtClean="0">
                                    <a:latin typeface="Cambria Math"/>
                                    <a:ea typeface="Cambria Math"/>
                                  </a:rPr>
                                  <m:t>𝑇</m:t>
                                </m:r>
                                <m:r>
                                  <a:rPr lang="en-GB" b="0" i="1" smtClean="0">
                                    <a:latin typeface="Cambria Math"/>
                                    <a:ea typeface="Cambria Math"/>
                                  </a:rPr>
                                  <m:t>≡</m:t>
                                </m:r>
                                <m:r>
                                  <a:rPr lang="en-GB" b="0" i="1" smtClean="0">
                                    <a:latin typeface="Cambria Math"/>
                                    <a:ea typeface="Cambria Math"/>
                                  </a:rPr>
                                  <m:t>𝑝</m:t>
                                </m:r>
                              </m:oMath>
                            </m:oMathPara>
                          </a14:m>
                          <a:endParaRPr lang="en-GB" b="0" dirty="0" smtClean="0">
                            <a:ea typeface="Cambria Math"/>
                          </a:endParaRP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/>
                                  </a:rPr>
                                  <m:t>𝑝</m:t>
                                </m:r>
                                <m:r>
                                  <a:rPr lang="en-GB" b="0" i="1" smtClean="0">
                                    <a:latin typeface="Cambria Math"/>
                                    <a:ea typeface="Cambria Math"/>
                                  </a:rPr>
                                  <m:t>∨</m:t>
                                </m:r>
                                <m:r>
                                  <a:rPr lang="en-GB" b="0" i="1" smtClean="0">
                                    <a:latin typeface="Cambria Math"/>
                                    <a:ea typeface="Cambria Math"/>
                                  </a:rPr>
                                  <m:t>𝐹</m:t>
                                </m:r>
                                <m:r>
                                  <a:rPr lang="en-GB" b="0" i="1" smtClean="0">
                                    <a:latin typeface="Cambria Math"/>
                                    <a:ea typeface="Cambria Math"/>
                                  </a:rPr>
                                  <m:t>≡</m:t>
                                </m:r>
                                <m:r>
                                  <a:rPr lang="en-GB" b="0" i="1" smtClean="0">
                                    <a:latin typeface="Cambria Math"/>
                                    <a:ea typeface="Cambria Math"/>
                                  </a:rPr>
                                  <m:t>𝑝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Identity Laws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pt-BR" sz="1800" i="1" kern="1200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+mn-ea"/>
                                    <a:cs typeface="+mn-cs"/>
                                  </a:rPr>
                                  <m:t>(</m:t>
                                </m:r>
                                <m:r>
                                  <a:rPr kumimoji="0" lang="pt-BR" sz="1800" i="1" kern="1200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+mn-ea"/>
                                    <a:cs typeface="+mn-cs"/>
                                  </a:rPr>
                                  <m:t>𝑝</m:t>
                                </m:r>
                                <m:r>
                                  <a:rPr kumimoji="0" lang="pt-BR" sz="1800" i="1" kern="1200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+mn-ea"/>
                                    <a:cs typeface="+mn-cs"/>
                                  </a:rPr>
                                  <m:t> ∨ </m:t>
                                </m:r>
                                <m:r>
                                  <a:rPr kumimoji="0" lang="pt-BR" sz="1800" i="1" kern="1200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+mn-ea"/>
                                    <a:cs typeface="+mn-cs"/>
                                  </a:rPr>
                                  <m:t>𝑞</m:t>
                                </m:r>
                                <m:r>
                                  <a:rPr kumimoji="0" lang="pt-BR" sz="1800" i="1" kern="1200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+mn-ea"/>
                                    <a:cs typeface="+mn-cs"/>
                                  </a:rPr>
                                  <m:t>) ∨ </m:t>
                                </m:r>
                                <m:r>
                                  <a:rPr kumimoji="0" lang="pt-BR" sz="1800" i="1" kern="1200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+mn-ea"/>
                                    <a:cs typeface="+mn-cs"/>
                                  </a:rPr>
                                  <m:t>𝑟</m:t>
                                </m:r>
                                <m:r>
                                  <a:rPr kumimoji="0" lang="pt-BR" sz="1800" i="1" kern="1200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+mn-ea"/>
                                    <a:cs typeface="+mn-cs"/>
                                  </a:rPr>
                                  <m:t> ≡ </m:t>
                                </m:r>
                                <m:r>
                                  <a:rPr kumimoji="0" lang="pt-BR" sz="1800" i="1" kern="1200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+mn-ea"/>
                                    <a:cs typeface="+mn-cs"/>
                                  </a:rPr>
                                  <m:t>𝑝</m:t>
                                </m:r>
                                <m:r>
                                  <a:rPr kumimoji="0" lang="pt-BR" sz="1800" i="1" kern="1200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+mn-ea"/>
                                    <a:cs typeface="+mn-cs"/>
                                  </a:rPr>
                                  <m:t> ∨ (</m:t>
                                </m:r>
                                <m:r>
                                  <a:rPr kumimoji="0" lang="pt-BR" sz="1800" i="1" kern="1200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+mn-ea"/>
                                    <a:cs typeface="+mn-cs"/>
                                  </a:rPr>
                                  <m:t>𝑞</m:t>
                                </m:r>
                                <m:r>
                                  <a:rPr kumimoji="0" lang="pt-BR" sz="1800" i="1" kern="1200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+mn-ea"/>
                                    <a:cs typeface="+mn-cs"/>
                                  </a:rPr>
                                  <m:t> ∨ </m:t>
                                </m:r>
                                <m:r>
                                  <a:rPr kumimoji="0" lang="pt-BR" sz="1800" i="1" kern="1200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+mn-ea"/>
                                    <a:cs typeface="+mn-cs"/>
                                  </a:rPr>
                                  <m:t>𝑟</m:t>
                                </m:r>
                                <m:r>
                                  <a:rPr kumimoji="0" lang="pt-BR" sz="1800" i="1" kern="1200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+mn-ea"/>
                                    <a:cs typeface="+mn-cs"/>
                                  </a:rPr>
                                  <m:t>) </m:t>
                                </m:r>
                              </m:oMath>
                            </m:oMathPara>
                          </a14:m>
                          <a:endParaRPr kumimoji="0" lang="pt-BR" sz="1800" kern="1200" dirty="0" smtClean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pt-BR" sz="1800" i="1" kern="1200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+mn-ea"/>
                                    <a:cs typeface="+mn-cs"/>
                                  </a:rPr>
                                  <m:t>(</m:t>
                                </m:r>
                                <m:r>
                                  <a:rPr kumimoji="0" lang="pt-BR" sz="1800" i="1" kern="1200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+mn-ea"/>
                                    <a:cs typeface="+mn-cs"/>
                                  </a:rPr>
                                  <m:t>𝑝</m:t>
                                </m:r>
                                <m:r>
                                  <a:rPr kumimoji="0" lang="pt-BR" sz="1800" i="1" kern="1200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+mn-ea"/>
                                    <a:cs typeface="+mn-cs"/>
                                  </a:rPr>
                                  <m:t> ∧ </m:t>
                                </m:r>
                                <m:r>
                                  <a:rPr kumimoji="0" lang="pt-BR" sz="1800" i="1" kern="1200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+mn-ea"/>
                                    <a:cs typeface="+mn-cs"/>
                                  </a:rPr>
                                  <m:t>𝑞</m:t>
                                </m:r>
                                <m:r>
                                  <a:rPr kumimoji="0" lang="pt-BR" sz="1800" i="1" kern="1200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+mn-ea"/>
                                    <a:cs typeface="+mn-cs"/>
                                  </a:rPr>
                                  <m:t>) ∧ </m:t>
                                </m:r>
                                <m:r>
                                  <a:rPr kumimoji="0" lang="pt-BR" sz="1800" i="1" kern="1200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+mn-ea"/>
                                    <a:cs typeface="+mn-cs"/>
                                  </a:rPr>
                                  <m:t>𝑟</m:t>
                                </m:r>
                                <m:r>
                                  <a:rPr kumimoji="0" lang="pt-BR" sz="1800" i="1" kern="1200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+mn-ea"/>
                                    <a:cs typeface="+mn-cs"/>
                                  </a:rPr>
                                  <m:t> ≡ </m:t>
                                </m:r>
                                <m:r>
                                  <a:rPr kumimoji="0" lang="pt-BR" sz="1800" i="1" kern="1200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+mn-ea"/>
                                    <a:cs typeface="+mn-cs"/>
                                  </a:rPr>
                                  <m:t>𝑝</m:t>
                                </m:r>
                                <m:r>
                                  <a:rPr kumimoji="0" lang="pt-BR" sz="1800" i="1" kern="1200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+mn-ea"/>
                                    <a:cs typeface="+mn-cs"/>
                                  </a:rPr>
                                  <m:t> ∧ (</m:t>
                                </m:r>
                                <m:r>
                                  <a:rPr kumimoji="0" lang="pt-BR" sz="1800" i="1" kern="1200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+mn-ea"/>
                                    <a:cs typeface="+mn-cs"/>
                                  </a:rPr>
                                  <m:t>𝑞</m:t>
                                </m:r>
                                <m:r>
                                  <a:rPr kumimoji="0" lang="pt-BR" sz="1800" i="1" kern="1200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+mn-ea"/>
                                    <a:cs typeface="+mn-cs"/>
                                  </a:rPr>
                                  <m:t> ∧ </m:t>
                                </m:r>
                                <m:r>
                                  <a:rPr kumimoji="0" lang="pt-BR" sz="1800" i="1" kern="1200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+mn-ea"/>
                                    <a:cs typeface="+mn-cs"/>
                                  </a:rPr>
                                  <m:t>𝑟</m:t>
                                </m:r>
                                <m:r>
                                  <a:rPr kumimoji="0" lang="pt-BR" sz="1800" i="1" kern="1200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+mn-ea"/>
                                    <a:cs typeface="+mn-cs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pt-BR" sz="1800" kern="1200" dirty="0" smtClean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Associative Laws</a:t>
                          </a:r>
                        </a:p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/>
                                  </a:rPr>
                                  <m:t>𝑝</m:t>
                                </m:r>
                                <m:r>
                                  <a:rPr lang="en-GB" b="0" i="1" smtClean="0">
                                    <a:latin typeface="Cambria Math"/>
                                    <a:ea typeface="Cambria Math"/>
                                  </a:rPr>
                                  <m:t>∨</m:t>
                                </m:r>
                                <m:r>
                                  <a:rPr lang="en-GB" b="0" i="1" smtClean="0">
                                    <a:latin typeface="Cambria Math"/>
                                    <a:ea typeface="Cambria Math"/>
                                  </a:rPr>
                                  <m:t>𝑇</m:t>
                                </m:r>
                                <m:r>
                                  <a:rPr lang="en-GB" b="0" i="1" smtClean="0">
                                    <a:latin typeface="Cambria Math"/>
                                    <a:ea typeface="Cambria Math"/>
                                  </a:rPr>
                                  <m:t>≡</m:t>
                                </m:r>
                                <m:r>
                                  <a:rPr lang="en-GB" b="0" i="1" smtClean="0">
                                    <a:latin typeface="Cambria Math"/>
                                    <a:ea typeface="Cambria Math"/>
                                  </a:rPr>
                                  <m:t>𝑇</m:t>
                                </m:r>
                              </m:oMath>
                            </m:oMathPara>
                          </a14:m>
                          <a:endParaRPr lang="en-US" dirty="0" smtClean="0"/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/>
                                  </a:rPr>
                                  <m:t>𝑝</m:t>
                                </m:r>
                                <m:r>
                                  <a:rPr lang="en-GB" b="0" i="1" smtClean="0">
                                    <a:latin typeface="Cambria Math"/>
                                    <a:ea typeface="Cambria Math"/>
                                  </a:rPr>
                                  <m:t>∧</m:t>
                                </m:r>
                                <m:r>
                                  <a:rPr lang="en-GB" b="0" i="1" smtClean="0">
                                    <a:latin typeface="Cambria Math"/>
                                    <a:ea typeface="Cambria Math"/>
                                  </a:rPr>
                                  <m:t>𝐹</m:t>
                                </m:r>
                                <m:r>
                                  <a:rPr lang="en-GB" b="0" i="1" smtClean="0">
                                    <a:latin typeface="Cambria Math"/>
                                    <a:ea typeface="Cambria Math"/>
                                  </a:rPr>
                                  <m:t>≡</m:t>
                                </m:r>
                                <m:r>
                                  <a:rPr lang="en-GB" b="0" i="1" smtClean="0">
                                    <a:latin typeface="Cambria Math"/>
                                    <a:ea typeface="Cambria Math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Domination</a:t>
                          </a:r>
                          <a:r>
                            <a:rPr lang="en-GB" baseline="0" dirty="0" smtClean="0"/>
                            <a:t> Laws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pt-BR" sz="1800" i="1" kern="1200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+mn-ea"/>
                                    <a:cs typeface="+mn-cs"/>
                                  </a:rPr>
                                  <m:t>𝑝</m:t>
                                </m:r>
                                <m:r>
                                  <a:rPr kumimoji="0" lang="pt-BR" sz="1800" i="1" kern="1200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+mn-ea"/>
                                    <a:cs typeface="+mn-cs"/>
                                  </a:rPr>
                                  <m:t> ∨ </m:t>
                                </m:r>
                                <m:d>
                                  <m:dPr>
                                    <m:ctrlPr>
                                      <a:rPr kumimoji="0" lang="pt-BR" sz="1800" i="1" kern="1200" dirty="0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a:rPr kumimoji="0" lang="pt-BR" sz="1800" i="1" kern="1200" dirty="0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  <m:t>𝑞</m:t>
                                    </m:r>
                                    <m:r>
                                      <a:rPr kumimoji="0" lang="pt-BR" sz="1800" i="1" kern="1200" dirty="0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  <m:t> ∧ </m:t>
                                    </m:r>
                                    <m:r>
                                      <a:rPr kumimoji="0" lang="pt-BR" sz="1800" i="1" kern="1200" dirty="0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  <m:t>𝑟</m:t>
                                    </m:r>
                                  </m:e>
                                </m:d>
                                <m:r>
                                  <a:rPr kumimoji="0" lang="pt-BR" sz="1800" i="1" kern="1200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Cambria Math"/>
                                    <a:cs typeface="+mn-cs"/>
                                  </a:rPr>
                                  <m:t>≡</m:t>
                                </m:r>
                                <m:r>
                                  <a:rPr kumimoji="0" lang="pt-BR" sz="1800" i="1" kern="1200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+mn-ea"/>
                                    <a:cs typeface="+mn-cs"/>
                                  </a:rPr>
                                  <m:t> </m:t>
                                </m:r>
                                <m:d>
                                  <m:dPr>
                                    <m:ctrlPr>
                                      <a:rPr kumimoji="0" lang="pt-BR" sz="1800" i="1" kern="1200" dirty="0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a:rPr kumimoji="0" lang="pt-BR" sz="1800" i="1" kern="1200" dirty="0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  <m:t>𝑝</m:t>
                                    </m:r>
                                    <m:r>
                                      <a:rPr kumimoji="0" lang="pt-BR" sz="1800" i="1" kern="1200" dirty="0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  <m:t> ∨ </m:t>
                                    </m:r>
                                    <m:r>
                                      <a:rPr kumimoji="0" lang="pt-BR" sz="1800" i="1" kern="1200" dirty="0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  <m:t>𝑞</m:t>
                                    </m:r>
                                  </m:e>
                                </m:d>
                                <m:r>
                                  <a:rPr kumimoji="0" lang="pt-BR" sz="1800" i="1" kern="1200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+mn-ea"/>
                                    <a:cs typeface="+mn-cs"/>
                                  </a:rPr>
                                  <m:t>∧ </m:t>
                                </m:r>
                                <m:d>
                                  <m:dPr>
                                    <m:ctrlPr>
                                      <a:rPr kumimoji="0" lang="pt-BR" sz="1800" i="1" kern="1200" dirty="0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a:rPr kumimoji="0" lang="pt-BR" sz="1800" i="1" kern="1200" dirty="0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  <m:t>𝑝</m:t>
                                    </m:r>
                                    <m:r>
                                      <a:rPr kumimoji="0" lang="pt-BR" sz="1800" i="1" kern="1200" dirty="0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  <m:t> ∨ </m:t>
                                    </m:r>
                                    <m:r>
                                      <a:rPr kumimoji="0" lang="pt-BR" sz="1800" i="1" kern="1200" dirty="0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  <a:ea typeface="+mn-ea"/>
                                        <a:cs typeface="+mn-cs"/>
                                      </a:rPr>
                                      <m:t>𝑟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kumimoji="0" lang="en-GB" sz="1800" i="1" kern="1200" dirty="0" smtClean="0">
                            <a:solidFill>
                              <a:schemeClr val="tx1"/>
                            </a:solidFill>
                            <a:latin typeface="Cambria Math"/>
                            <a:ea typeface="+mn-ea"/>
                            <a:cs typeface="+mn-cs"/>
                          </a:endParaRP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pt-BR" sz="1800" i="1" kern="1200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+mn-ea"/>
                                    <a:cs typeface="+mn-cs"/>
                                  </a:rPr>
                                  <m:t>𝑝</m:t>
                                </m:r>
                                <m:r>
                                  <a:rPr kumimoji="0" lang="pt-BR" sz="1800" i="1" kern="1200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+mn-ea"/>
                                    <a:cs typeface="+mn-cs"/>
                                  </a:rPr>
                                  <m:t> ∧ (</m:t>
                                </m:r>
                                <m:r>
                                  <a:rPr kumimoji="0" lang="pt-BR" sz="1800" i="1" kern="1200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+mn-ea"/>
                                    <a:cs typeface="+mn-cs"/>
                                  </a:rPr>
                                  <m:t>𝑞</m:t>
                                </m:r>
                                <m:r>
                                  <a:rPr kumimoji="0" lang="pt-BR" sz="1800" i="1" kern="1200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+mn-ea"/>
                                    <a:cs typeface="+mn-cs"/>
                                  </a:rPr>
                                  <m:t> ∨ </m:t>
                                </m:r>
                                <m:r>
                                  <a:rPr kumimoji="0" lang="pt-BR" sz="1800" i="1" kern="1200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+mn-ea"/>
                                    <a:cs typeface="+mn-cs"/>
                                  </a:rPr>
                                  <m:t>𝑟</m:t>
                                </m:r>
                                <m:r>
                                  <a:rPr kumimoji="0" lang="pt-BR" sz="1800" i="1" kern="1200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+mn-ea"/>
                                    <a:cs typeface="+mn-cs"/>
                                  </a:rPr>
                                  <m:t>) ≡ (</m:t>
                                </m:r>
                                <m:r>
                                  <a:rPr kumimoji="0" lang="pt-BR" sz="1800" i="1" kern="1200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+mn-ea"/>
                                    <a:cs typeface="+mn-cs"/>
                                  </a:rPr>
                                  <m:t>𝑝</m:t>
                                </m:r>
                                <m:r>
                                  <a:rPr kumimoji="0" lang="pt-BR" sz="1800" i="1" kern="1200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+mn-ea"/>
                                    <a:cs typeface="+mn-cs"/>
                                  </a:rPr>
                                  <m:t> ∧ </m:t>
                                </m:r>
                                <m:r>
                                  <a:rPr kumimoji="0" lang="pt-BR" sz="1800" i="1" kern="1200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+mn-ea"/>
                                    <a:cs typeface="+mn-cs"/>
                                  </a:rPr>
                                  <m:t>𝑞</m:t>
                                </m:r>
                                <m:r>
                                  <a:rPr kumimoji="0" lang="pt-BR" sz="1800" i="1" kern="1200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+mn-ea"/>
                                    <a:cs typeface="+mn-cs"/>
                                  </a:rPr>
                                  <m:t>) ∨ (</m:t>
                                </m:r>
                                <m:r>
                                  <a:rPr kumimoji="0" lang="pt-BR" sz="1800" i="1" kern="1200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+mn-ea"/>
                                    <a:cs typeface="+mn-cs"/>
                                  </a:rPr>
                                  <m:t>𝑝</m:t>
                                </m:r>
                                <m:r>
                                  <a:rPr kumimoji="0" lang="pt-BR" sz="1800" i="1" kern="1200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+mn-ea"/>
                                    <a:cs typeface="+mn-cs"/>
                                  </a:rPr>
                                  <m:t> ∧ </m:t>
                                </m:r>
                                <m:r>
                                  <a:rPr kumimoji="0" lang="pt-BR" sz="1800" i="1" kern="1200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+mn-ea"/>
                                    <a:cs typeface="+mn-cs"/>
                                  </a:rPr>
                                  <m:t>𝑟</m:t>
                                </m:r>
                                <m:r>
                                  <a:rPr kumimoji="0" lang="pt-BR" sz="1800" i="1" kern="1200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+mn-ea"/>
                                    <a:cs typeface="+mn-cs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pt-BR" sz="1800" kern="1200" dirty="0" smtClean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Distributive Laws</a:t>
                          </a:r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/>
                                  </a:rPr>
                                  <m:t>𝑝</m:t>
                                </m:r>
                                <m:r>
                                  <a:rPr lang="en-GB" b="0" i="1" smtClean="0">
                                    <a:latin typeface="Cambria Math"/>
                                    <a:ea typeface="Cambria Math"/>
                                  </a:rPr>
                                  <m:t>∧</m:t>
                                </m:r>
                                <m:r>
                                  <a:rPr lang="en-GB" b="0" i="1" smtClean="0">
                                    <a:latin typeface="Cambria Math"/>
                                    <a:ea typeface="Cambria Math"/>
                                  </a:rPr>
                                  <m:t>𝑝</m:t>
                                </m:r>
                                <m:r>
                                  <a:rPr lang="en-GB" b="0" i="1" smtClean="0">
                                    <a:latin typeface="Cambria Math"/>
                                    <a:ea typeface="Cambria Math"/>
                                  </a:rPr>
                                  <m:t>≡</m:t>
                                </m:r>
                                <m:r>
                                  <a:rPr lang="en-GB" b="0" i="1" smtClean="0">
                                    <a:latin typeface="Cambria Math"/>
                                    <a:ea typeface="Cambria Math"/>
                                  </a:rPr>
                                  <m:t>𝑝</m:t>
                                </m:r>
                              </m:oMath>
                            </m:oMathPara>
                          </a14:m>
                          <a:endParaRPr lang="en-GB" b="0" dirty="0" smtClean="0">
                            <a:ea typeface="Cambria Math"/>
                          </a:endParaRP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/>
                                  </a:rPr>
                                  <m:t>𝑝</m:t>
                                </m:r>
                                <m:r>
                                  <a:rPr lang="en-GB" b="0" i="1" smtClean="0">
                                    <a:latin typeface="Cambria Math"/>
                                    <a:ea typeface="Cambria Math"/>
                                  </a:rPr>
                                  <m:t>∨</m:t>
                                </m:r>
                                <m:r>
                                  <a:rPr lang="en-GB" b="0" i="1" smtClean="0">
                                    <a:latin typeface="Cambria Math"/>
                                    <a:ea typeface="Cambria Math"/>
                                  </a:rPr>
                                  <m:t>𝑝</m:t>
                                </m:r>
                                <m:r>
                                  <a:rPr lang="en-GB" b="0" i="1" smtClean="0">
                                    <a:latin typeface="Cambria Math"/>
                                    <a:ea typeface="Cambria Math"/>
                                  </a:rPr>
                                  <m:t>≡</m:t>
                                </m:r>
                                <m:r>
                                  <a:rPr lang="en-GB" b="0" i="1" smtClean="0">
                                    <a:latin typeface="Cambria Math"/>
                                    <a:ea typeface="Cambria Math"/>
                                  </a:rPr>
                                  <m:t>𝑝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Idempotent Laws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¬(</m:t>
                                </m:r>
                                <m:r>
                                  <a:rPr lang="en-US" i="1" dirty="0" smtClean="0">
                                    <a:latin typeface="Cambria Math"/>
                                  </a:rPr>
                                  <m:t>𝑝</m:t>
                                </m:r>
                                <m:r>
                                  <a:rPr lang="en-US" i="1" dirty="0" smtClean="0">
                                    <a:latin typeface="Cambria Math"/>
                                  </a:rPr>
                                  <m:t> ∧ </m:t>
                                </m:r>
                                <m:r>
                                  <a:rPr lang="en-US" i="1" dirty="0" smtClean="0">
                                    <a:latin typeface="Cambria Math"/>
                                  </a:rPr>
                                  <m:t>𝑞</m:t>
                                </m:r>
                                <m:r>
                                  <a:rPr lang="en-US" i="1" dirty="0" smtClean="0">
                                    <a:latin typeface="Cambria Math"/>
                                  </a:rPr>
                                  <m:t>) ≡¬</m:t>
                                </m:r>
                                <m:r>
                                  <a:rPr lang="en-US" i="1" dirty="0" smtClean="0">
                                    <a:latin typeface="Cambria Math"/>
                                  </a:rPr>
                                  <m:t>𝑝</m:t>
                                </m:r>
                                <m:r>
                                  <a:rPr lang="en-US" i="1" dirty="0" smtClean="0">
                                    <a:latin typeface="Cambria Math"/>
                                  </a:rPr>
                                  <m:t> ∨¬</m:t>
                                </m:r>
                                <m:r>
                                  <a:rPr lang="en-US" i="1" dirty="0" smtClean="0">
                                    <a:latin typeface="Cambria Math"/>
                                  </a:rPr>
                                  <m:t>𝑞</m:t>
                                </m:r>
                              </m:oMath>
                            </m:oMathPara>
                          </a14:m>
                          <a:endParaRPr lang="en-US" dirty="0" smtClean="0"/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¬(</m:t>
                                </m:r>
                                <m:r>
                                  <a:rPr lang="en-US" i="1" dirty="0" smtClean="0">
                                    <a:latin typeface="Cambria Math"/>
                                  </a:rPr>
                                  <m:t>𝑝</m:t>
                                </m:r>
                                <m:r>
                                  <a:rPr lang="en-US" i="1" dirty="0" smtClean="0">
                                    <a:latin typeface="Cambria Math"/>
                                  </a:rPr>
                                  <m:t> ∨ </m:t>
                                </m:r>
                                <m:r>
                                  <a:rPr lang="en-US" i="1" dirty="0" smtClean="0">
                                    <a:latin typeface="Cambria Math"/>
                                  </a:rPr>
                                  <m:t>𝑞</m:t>
                                </m:r>
                                <m:r>
                                  <a:rPr lang="en-US" i="1" dirty="0" smtClean="0">
                                    <a:latin typeface="Cambria Math"/>
                                  </a:rPr>
                                  <m:t>) ≡¬</m:t>
                                </m:r>
                                <m:r>
                                  <a:rPr lang="en-US" i="1" dirty="0" smtClean="0">
                                    <a:latin typeface="Cambria Math"/>
                                  </a:rPr>
                                  <m:t>𝑝</m:t>
                                </m:r>
                                <m:r>
                                  <a:rPr lang="en-US" i="1" dirty="0" smtClean="0">
                                    <a:latin typeface="Cambria Math"/>
                                  </a:rPr>
                                  <m:t> ∧¬</m:t>
                                </m:r>
                                <m:r>
                                  <a:rPr lang="en-US" i="1" dirty="0" smtClean="0">
                                    <a:latin typeface="Cambria Math"/>
                                  </a:rPr>
                                  <m:t>𝑞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 De Morgan’s Laws</a:t>
                          </a:r>
                          <a:endParaRPr 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/>
                                  </a:rPr>
                                  <m:t>¬(¬</m:t>
                                </m:r>
                                <m:r>
                                  <a:rPr lang="en-GB" b="0" i="1" smtClean="0">
                                    <a:latin typeface="Cambria Math"/>
                                  </a:rPr>
                                  <m:t>𝑝</m:t>
                                </m:r>
                                <m:r>
                                  <a:rPr lang="en-GB" b="0" i="1" smtClean="0">
                                    <a:latin typeface="Cambria Math"/>
                                  </a:rPr>
                                  <m:t>)≡</m:t>
                                </m:r>
                                <m:r>
                                  <a:rPr lang="en-GB" b="0" i="1" smtClean="0">
                                    <a:latin typeface="Cambria Math"/>
                                    <a:ea typeface="Cambria Math"/>
                                  </a:rPr>
                                  <m:t>𝑝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Double</a:t>
                          </a:r>
                          <a:r>
                            <a:rPr lang="en-GB" baseline="0" dirty="0" smtClean="0"/>
                            <a:t> Negation Law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1800" i="1" kern="1200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+mn-ea"/>
                                    <a:cs typeface="+mn-cs"/>
                                  </a:rPr>
                                  <m:t>𝑝</m:t>
                                </m:r>
                                <m:r>
                                  <a:rPr kumimoji="0" lang="en-US" sz="1800" i="1" kern="1200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+mn-ea"/>
                                    <a:cs typeface="+mn-cs"/>
                                  </a:rPr>
                                  <m:t> ∨ (</m:t>
                                </m:r>
                                <m:r>
                                  <a:rPr kumimoji="0" lang="en-US" sz="1800" i="1" kern="1200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+mn-ea"/>
                                    <a:cs typeface="+mn-cs"/>
                                  </a:rPr>
                                  <m:t>𝑝</m:t>
                                </m:r>
                                <m:r>
                                  <a:rPr kumimoji="0" lang="en-US" sz="1800" i="1" kern="1200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+mn-ea"/>
                                    <a:cs typeface="+mn-cs"/>
                                  </a:rPr>
                                  <m:t> ∧ </m:t>
                                </m:r>
                                <m:r>
                                  <a:rPr kumimoji="0" lang="en-US" sz="1800" i="1" kern="1200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+mn-ea"/>
                                    <a:cs typeface="+mn-cs"/>
                                  </a:rPr>
                                  <m:t>𝑞</m:t>
                                </m:r>
                                <m:r>
                                  <a:rPr kumimoji="0" lang="en-US" sz="1800" i="1" kern="1200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+mn-ea"/>
                                    <a:cs typeface="+mn-cs"/>
                                  </a:rPr>
                                  <m:t>) ≡ </m:t>
                                </m:r>
                                <m:r>
                                  <a:rPr kumimoji="0" lang="en-US" sz="1800" i="1" kern="1200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+mn-ea"/>
                                    <a:cs typeface="+mn-cs"/>
                                  </a:rPr>
                                  <m:t>𝑝</m:t>
                                </m:r>
                                <m:r>
                                  <a:rPr kumimoji="0" lang="en-US" sz="1800" i="1" kern="1200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+mn-ea"/>
                                    <a:cs typeface="+mn-cs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kumimoji="0" lang="en-US" sz="1800" kern="1200" dirty="0" smtClean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1800" i="1" kern="1200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+mn-ea"/>
                                    <a:cs typeface="+mn-cs"/>
                                  </a:rPr>
                                  <m:t>𝑝</m:t>
                                </m:r>
                                <m:r>
                                  <a:rPr kumimoji="0" lang="en-US" sz="1800" i="1" kern="1200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+mn-ea"/>
                                    <a:cs typeface="+mn-cs"/>
                                  </a:rPr>
                                  <m:t> ∧ (</m:t>
                                </m:r>
                                <m:r>
                                  <a:rPr kumimoji="0" lang="en-US" sz="1800" i="1" kern="1200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+mn-ea"/>
                                    <a:cs typeface="+mn-cs"/>
                                  </a:rPr>
                                  <m:t>𝑝</m:t>
                                </m:r>
                                <m:r>
                                  <a:rPr kumimoji="0" lang="en-US" sz="1800" i="1" kern="1200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+mn-ea"/>
                                    <a:cs typeface="+mn-cs"/>
                                  </a:rPr>
                                  <m:t> ∨ </m:t>
                                </m:r>
                                <m:r>
                                  <a:rPr kumimoji="0" lang="en-US" sz="1800" i="1" kern="1200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+mn-ea"/>
                                    <a:cs typeface="+mn-cs"/>
                                  </a:rPr>
                                  <m:t>𝑞</m:t>
                                </m:r>
                                <m:r>
                                  <a:rPr kumimoji="0" lang="en-US" sz="1800" i="1" kern="1200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+mn-ea"/>
                                    <a:cs typeface="+mn-cs"/>
                                  </a:rPr>
                                  <m:t>) ≡ </m:t>
                                </m:r>
                                <m:r>
                                  <a:rPr kumimoji="0" lang="en-US" sz="1800" i="1" kern="1200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+mn-ea"/>
                                    <a:cs typeface="+mn-cs"/>
                                  </a:rPr>
                                  <m:t>𝑝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Absorption Laws</a:t>
                          </a:r>
                          <a:endParaRPr 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1800" i="1" kern="1200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+mn-ea"/>
                                    <a:cs typeface="+mn-cs"/>
                                  </a:rPr>
                                  <m:t>𝑝</m:t>
                                </m:r>
                                <m:r>
                                  <a:rPr kumimoji="0" lang="en-US" sz="1800" i="1" kern="1200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+mn-ea"/>
                                    <a:cs typeface="+mn-cs"/>
                                  </a:rPr>
                                  <m:t> ∨ </m:t>
                                </m:r>
                                <m:r>
                                  <a:rPr kumimoji="0" lang="en-US" sz="1800" i="1" kern="1200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+mn-ea"/>
                                    <a:cs typeface="+mn-cs"/>
                                  </a:rPr>
                                  <m:t>𝑞</m:t>
                                </m:r>
                                <m:r>
                                  <a:rPr kumimoji="0" lang="en-US" sz="1800" i="1" kern="1200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+mn-ea"/>
                                    <a:cs typeface="+mn-cs"/>
                                  </a:rPr>
                                  <m:t> ≡ </m:t>
                                </m:r>
                                <m:r>
                                  <a:rPr kumimoji="0" lang="en-US" sz="1800" i="1" kern="1200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+mn-ea"/>
                                    <a:cs typeface="+mn-cs"/>
                                  </a:rPr>
                                  <m:t>𝑞</m:t>
                                </m:r>
                                <m:r>
                                  <a:rPr kumimoji="0" lang="en-US" sz="1800" i="1" kern="1200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+mn-ea"/>
                                    <a:cs typeface="+mn-cs"/>
                                  </a:rPr>
                                  <m:t> ∨ </m:t>
                                </m:r>
                                <m:r>
                                  <a:rPr kumimoji="0" lang="en-US" sz="1800" i="1" kern="1200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+mn-ea"/>
                                    <a:cs typeface="+mn-cs"/>
                                  </a:rPr>
                                  <m:t>𝑝</m:t>
                                </m:r>
                              </m:oMath>
                            </m:oMathPara>
                          </a14:m>
                          <a:endParaRPr kumimoji="0" lang="en-US" sz="1800" kern="1200" dirty="0" smtClean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1800" i="1" kern="1200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+mn-ea"/>
                                    <a:cs typeface="+mn-cs"/>
                                  </a:rPr>
                                  <m:t>𝑝</m:t>
                                </m:r>
                                <m:r>
                                  <a:rPr kumimoji="0" lang="en-US" sz="1800" i="1" kern="1200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+mn-ea"/>
                                    <a:cs typeface="+mn-cs"/>
                                  </a:rPr>
                                  <m:t> ∧ </m:t>
                                </m:r>
                                <m:r>
                                  <a:rPr kumimoji="0" lang="en-US" sz="1800" i="1" kern="1200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+mn-ea"/>
                                    <a:cs typeface="+mn-cs"/>
                                  </a:rPr>
                                  <m:t>𝑞</m:t>
                                </m:r>
                                <m:r>
                                  <a:rPr kumimoji="0" lang="en-US" sz="1800" i="1" kern="1200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+mn-ea"/>
                                    <a:cs typeface="+mn-cs"/>
                                  </a:rPr>
                                  <m:t> ≡ </m:t>
                                </m:r>
                                <m:r>
                                  <a:rPr kumimoji="0" lang="en-US" sz="1800" i="1" kern="1200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+mn-ea"/>
                                    <a:cs typeface="+mn-cs"/>
                                  </a:rPr>
                                  <m:t>𝑞</m:t>
                                </m:r>
                                <m:r>
                                  <a:rPr kumimoji="0" lang="en-US" sz="1800" i="1" kern="1200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+mn-ea"/>
                                    <a:cs typeface="+mn-cs"/>
                                  </a:rPr>
                                  <m:t> ∧ </m:t>
                                </m:r>
                                <m:r>
                                  <a:rPr kumimoji="0" lang="en-US" sz="1800" i="1" kern="1200" dirty="0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+mn-ea"/>
                                    <a:cs typeface="+mn-cs"/>
                                  </a:rPr>
                                  <m:t>𝑝</m:t>
                                </m:r>
                              </m:oMath>
                            </m:oMathPara>
                          </a14:m>
                          <a:endParaRPr kumimoji="0" lang="en-US" sz="1800" kern="1200" dirty="0" smtClean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800" kern="1200" dirty="0" smtClean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Commutative Laws</a:t>
                          </a:r>
                        </a:p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𝑝</m:t>
                                </m:r>
                                <m:r>
                                  <a:rPr lang="en-US" i="1" dirty="0" smtClean="0">
                                    <a:latin typeface="Cambria Math"/>
                                  </a:rPr>
                                  <m:t> ∨¬</m:t>
                                </m:r>
                                <m:r>
                                  <a:rPr lang="en-US" i="1" dirty="0" smtClean="0">
                                    <a:latin typeface="Cambria Math"/>
                                  </a:rPr>
                                  <m:t>𝑝</m:t>
                                </m:r>
                                <m:r>
                                  <a:rPr lang="en-US" i="1" dirty="0" smtClean="0">
                                    <a:latin typeface="Cambria Math"/>
                                  </a:rPr>
                                  <m:t> ≡ </m:t>
                                </m:r>
                                <m:r>
                                  <a:rPr lang="en-US" i="1" dirty="0" smtClean="0">
                                    <a:latin typeface="Cambria Math"/>
                                  </a:rPr>
                                  <m:t>𝑇</m:t>
                                </m:r>
                              </m:oMath>
                            </m:oMathPara>
                          </a14:m>
                          <a:endParaRPr lang="en-US" dirty="0" smtClean="0"/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𝑝</m:t>
                                </m:r>
                                <m:r>
                                  <a:rPr lang="en-US" i="1" dirty="0" smtClean="0">
                                    <a:latin typeface="Cambria Math"/>
                                  </a:rPr>
                                  <m:t> ∧¬</m:t>
                                </m:r>
                                <m:r>
                                  <a:rPr lang="en-US" i="1" dirty="0" smtClean="0">
                                    <a:latin typeface="Cambria Math"/>
                                  </a:rPr>
                                  <m:t>𝑝</m:t>
                                </m:r>
                                <m:r>
                                  <a:rPr lang="en-US" i="1" dirty="0" smtClean="0">
                                    <a:latin typeface="Cambria Math"/>
                                  </a:rPr>
                                  <m:t> ≡ </m:t>
                                </m:r>
                                <m:r>
                                  <a:rPr lang="en-US" i="1" dirty="0" smtClean="0">
                                    <a:latin typeface="Cambria Math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Negation laws</a:t>
                          </a:r>
                          <a:endParaRPr 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9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73031917"/>
                  </p:ext>
                </p:extLst>
              </p:nvPr>
            </p:nvGraphicFramePr>
            <p:xfrm>
              <a:off x="107504" y="1915120"/>
              <a:ext cx="8928992" cy="4119880"/>
            </p:xfrm>
            <a:graphic>
              <a:graphicData uri="http://schemas.openxmlformats.org/drawingml/2006/table">
                <a:tbl>
                  <a:tblPr firstRow="1">
                    <a:tableStyleId>{ED083AE6-46FA-4A59-8FB0-9F97EB10719F}</a:tableStyleId>
                  </a:tblPr>
                  <a:tblGrid>
                    <a:gridCol w="1843786"/>
                    <a:gridCol w="1756614"/>
                    <a:gridCol w="3836225"/>
                    <a:gridCol w="1492367"/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331" t="-8197" r="-385099" b="-10344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105208" t="-8197" r="-303819" b="-10344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93959" t="-8197" r="-39110" b="-10344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497959" t="-8197" r="-408" b="-1034426"/>
                          </a:stretch>
                        </a:blipFill>
                      </a:tcPr>
                    </a:tc>
                  </a:tr>
                  <a:tr h="9144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331" t="-44000" r="-385099" b="-32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Identity Laws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93959" t="-44000" r="-39110" b="-32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pt-BR" sz="1800" kern="1200" dirty="0" smtClean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Associative Laws</a:t>
                          </a:r>
                        </a:p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</a:tr>
                  <a:tr h="6400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331" t="-205714" r="-385099" b="-3580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Domination</a:t>
                          </a:r>
                          <a:r>
                            <a:rPr lang="en-GB" baseline="0" dirty="0" smtClean="0"/>
                            <a:t> Laws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93959" t="-205714" r="-39110" b="-3580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pt-BR" sz="1800" kern="1200" dirty="0" smtClean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Distributive Laws</a:t>
                          </a:r>
                          <a:endParaRPr kumimoji="0" lang="pt-BR" sz="1800" kern="1200" dirty="0" smtClean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</a:tr>
                  <a:tr h="6400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331" t="-305714" r="-385099" b="-2580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Idempotent Laws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93959" t="-305714" r="-39110" b="-2580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 De Morgan’s Laws</a:t>
                          </a:r>
                          <a:endParaRPr lang="en-US" dirty="0"/>
                        </a:p>
                      </a:txBody>
                      <a:tcPr/>
                    </a:tc>
                  </a:tr>
                  <a:tr h="6400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331" t="-405714" r="-385099" b="-1580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Double</a:t>
                          </a:r>
                          <a:r>
                            <a:rPr lang="en-GB" baseline="0" dirty="0" smtClean="0"/>
                            <a:t> Negation Law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93959" t="-405714" r="-39110" b="-1580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Absorption Laws</a:t>
                          </a:r>
                          <a:endParaRPr lang="en-US" dirty="0"/>
                        </a:p>
                      </a:txBody>
                      <a:tcPr/>
                    </a:tc>
                  </a:tr>
                  <a:tr h="9144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331" t="-354000" r="-385099" b="-1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800" kern="1200" dirty="0" smtClean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Commutative Laws</a:t>
                          </a:r>
                        </a:p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93959" t="-354000" r="-39110" b="-1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Negation laws</a:t>
                          </a:r>
                          <a:endParaRPr 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9955131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Logical Equivalence </a:t>
            </a:r>
            <a:r>
              <a:rPr lang="en-GB" dirty="0" smtClean="0"/>
              <a:t>Rules(Contd.)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27544"/>
            <a:ext cx="8229600" cy="4937760"/>
          </a:xfrm>
        </p:spPr>
        <p:txBody>
          <a:bodyPr>
            <a:normAutofit/>
          </a:bodyPr>
          <a:lstStyle/>
          <a:p>
            <a:r>
              <a:rPr lang="en-GB" sz="2800" b="1" u="sng" dirty="0" smtClean="0"/>
              <a:t>Important Rules </a:t>
            </a:r>
            <a:r>
              <a:rPr lang="en-GB" sz="2800" b="1" u="sng" smtClean="0"/>
              <a:t>Regarding Conditionals</a:t>
            </a:r>
            <a:endParaRPr lang="en-US" sz="28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27813265"/>
                  </p:ext>
                </p:extLst>
              </p:nvPr>
            </p:nvGraphicFramePr>
            <p:xfrm>
              <a:off x="516578" y="2348880"/>
              <a:ext cx="8159878" cy="2560320"/>
            </p:xfrm>
            <a:graphic>
              <a:graphicData uri="http://schemas.openxmlformats.org/drawingml/2006/table">
                <a:tbl>
                  <a:tblPr firstRow="1">
                    <a:tableStyleId>{ED083AE6-46FA-4A59-8FB0-9F97EB10719F}</a:tableStyleId>
                  </a:tblPr>
                  <a:tblGrid>
                    <a:gridCol w="4318826"/>
                    <a:gridCol w="3841052"/>
                  </a:tblGrid>
                  <a:tr h="370840">
                    <a:tc>
                      <a:txBody>
                        <a:bodyPr/>
                        <a:lstStyle/>
                        <a:p>
                          <a:pPr marL="285750" indent="-285750" algn="l">
                            <a:buFont typeface="Arial" pitchFamily="34" charset="0"/>
                            <a:buChar char="•"/>
                          </a:pPr>
                          <a14:m>
                            <m:oMath xmlns:m="http://schemas.openxmlformats.org/officeDocument/2006/math">
                              <m:r>
                                <a:rPr kumimoji="0" lang="en-US" sz="1800" b="0" i="1" kern="120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𝑝</m:t>
                              </m:r>
                              <m:r>
                                <a:rPr kumimoji="0" lang="en-US" sz="1800" b="0" i="1" kern="120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 → </m:t>
                              </m:r>
                              <m:r>
                                <a:rPr kumimoji="0" lang="en-US" sz="1800" b="0" i="1" kern="120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𝑞</m:t>
                              </m:r>
                              <m:r>
                                <a:rPr kumimoji="0" lang="en-US" sz="1800" b="0" i="1" kern="120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 ≡¬</m:t>
                              </m:r>
                              <m:r>
                                <a:rPr kumimoji="0" lang="en-US" sz="1800" b="0" i="1" kern="120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𝑝</m:t>
                              </m:r>
                              <m:r>
                                <a:rPr kumimoji="0" lang="en-US" sz="1800" b="0" i="1" kern="120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 ∨ </m:t>
                              </m:r>
                              <m:r>
                                <a:rPr kumimoji="0" lang="en-US" sz="1800" b="0" i="1" kern="120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𝑞</m:t>
                              </m:r>
                            </m:oMath>
                          </a14:m>
                          <a:endParaRPr kumimoji="0" lang="en-US" sz="1800" b="0" kern="1200" dirty="0" smtClean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marL="285750" indent="-285750" algn="l">
                            <a:buFont typeface="Arial" pitchFamily="34" charset="0"/>
                            <a:buChar char="•"/>
                          </a:pPr>
                          <a14:m>
                            <m:oMath xmlns:m="http://schemas.openxmlformats.org/officeDocument/2006/math">
                              <m:r>
                                <a:rPr kumimoji="0" lang="en-US" sz="1800" b="0" i="1" kern="120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𝑝</m:t>
                              </m:r>
                              <m:r>
                                <a:rPr kumimoji="0" lang="en-US" sz="1800" b="0" i="1" kern="120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 → </m:t>
                              </m:r>
                              <m:r>
                                <a:rPr kumimoji="0" lang="en-US" sz="1800" b="0" i="1" kern="120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𝑞</m:t>
                              </m:r>
                              <m:r>
                                <a:rPr kumimoji="0" lang="en-US" sz="1800" b="0" i="1" kern="120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 ≡¬</m:t>
                              </m:r>
                              <m:r>
                                <a:rPr kumimoji="0" lang="en-US" sz="1800" b="0" i="1" kern="120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𝑞</m:t>
                              </m:r>
                              <m:r>
                                <a:rPr kumimoji="0" lang="en-US" sz="1800" b="0" i="1" kern="120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 →¬</m:t>
                              </m:r>
                              <m:r>
                                <a:rPr kumimoji="0" lang="en-US" sz="1800" b="0" i="1" kern="120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𝑝</m:t>
                              </m:r>
                            </m:oMath>
                          </a14:m>
                          <a:endParaRPr kumimoji="0" lang="en-US" sz="1800" b="0" kern="1200" dirty="0" smtClean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marL="285750" indent="-285750" algn="l">
                            <a:buFont typeface="Arial" pitchFamily="34" charset="0"/>
                            <a:buChar char="•"/>
                          </a:pPr>
                          <a14:m>
                            <m:oMath xmlns:m="http://schemas.openxmlformats.org/officeDocument/2006/math">
                              <m:r>
                                <a:rPr kumimoji="0" lang="en-US" sz="1800" b="0" i="1" kern="120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𝑝</m:t>
                              </m:r>
                              <m:r>
                                <a:rPr kumimoji="0" lang="en-US" sz="1800" b="0" i="1" kern="120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 ∨ </m:t>
                              </m:r>
                              <m:r>
                                <a:rPr kumimoji="0" lang="en-US" sz="1800" b="0" i="1" kern="120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𝑞</m:t>
                              </m:r>
                              <m:r>
                                <a:rPr kumimoji="0" lang="en-US" sz="1800" b="0" i="1" kern="120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 ≡¬</m:t>
                              </m:r>
                              <m:r>
                                <a:rPr kumimoji="0" lang="en-US" sz="1800" b="0" i="1" kern="120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𝑝</m:t>
                              </m:r>
                              <m:r>
                                <a:rPr kumimoji="0" lang="en-US" sz="1800" b="0" i="1" kern="120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 → </m:t>
                              </m:r>
                              <m:r>
                                <a:rPr kumimoji="0" lang="en-US" sz="1800" b="0" i="1" kern="120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𝑞</m:t>
                              </m:r>
                            </m:oMath>
                          </a14:m>
                          <a:endParaRPr kumimoji="0" lang="en-US" sz="1800" b="0" kern="1200" dirty="0" smtClean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marL="285750" indent="-285750" algn="l">
                            <a:buFont typeface="Arial" pitchFamily="34" charset="0"/>
                            <a:buChar char="•"/>
                          </a:pPr>
                          <a14:m>
                            <m:oMath xmlns:m="http://schemas.openxmlformats.org/officeDocument/2006/math">
                              <m:r>
                                <a:rPr kumimoji="0" lang="en-US" sz="1800" b="0" i="1" kern="120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𝑝</m:t>
                              </m:r>
                              <m:r>
                                <a:rPr kumimoji="0" lang="en-US" sz="1800" b="0" i="1" kern="120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 ∧ </m:t>
                              </m:r>
                              <m:r>
                                <a:rPr kumimoji="0" lang="en-US" sz="1800" b="0" i="1" kern="120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𝑞</m:t>
                              </m:r>
                              <m:r>
                                <a:rPr kumimoji="0" lang="en-US" sz="1800" b="0" i="1" kern="120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 ≡¬(</m:t>
                              </m:r>
                              <m:r>
                                <a:rPr kumimoji="0" lang="en-US" sz="1800" b="0" i="1" kern="120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𝑝</m:t>
                              </m:r>
                              <m:r>
                                <a:rPr kumimoji="0" lang="en-US" sz="1800" b="0" i="1" kern="120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 →¬</m:t>
                              </m:r>
                              <m:r>
                                <a:rPr kumimoji="0" lang="en-US" sz="1800" b="0" i="1" kern="120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𝑞</m:t>
                              </m:r>
                              <m:r>
                                <a:rPr kumimoji="0" lang="en-US" sz="1800" b="0" i="1" kern="120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)</m:t>
                              </m:r>
                            </m:oMath>
                          </a14:m>
                          <a:endParaRPr kumimoji="0" lang="en-US" sz="1800" b="0" kern="1200" dirty="0" smtClean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marL="285750" indent="-285750" algn="l">
                            <a:buFont typeface="Arial" pitchFamily="34" charset="0"/>
                            <a:buChar char="•"/>
                          </a:pPr>
                          <a14:m>
                            <m:oMath xmlns:m="http://schemas.openxmlformats.org/officeDocument/2006/math">
                              <m:r>
                                <a:rPr kumimoji="0" lang="en-US" sz="1800" b="0" i="1" kern="120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¬(</m:t>
                              </m:r>
                              <m:r>
                                <a:rPr kumimoji="0" lang="en-US" sz="1800" b="0" i="1" kern="120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𝑝</m:t>
                              </m:r>
                              <m:r>
                                <a:rPr kumimoji="0" lang="en-US" sz="1800" b="0" i="1" kern="120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 → </m:t>
                              </m:r>
                              <m:r>
                                <a:rPr kumimoji="0" lang="en-US" sz="1800" b="0" i="1" kern="120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𝑞</m:t>
                              </m:r>
                              <m:r>
                                <a:rPr kumimoji="0" lang="en-US" sz="1800" b="0" i="1" kern="120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) ≡ </m:t>
                              </m:r>
                              <m:r>
                                <a:rPr kumimoji="0" lang="en-US" sz="1800" b="0" i="1" kern="120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𝑝</m:t>
                              </m:r>
                              <m:r>
                                <a:rPr kumimoji="0" lang="en-US" sz="1800" b="0" i="1" kern="120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 ∧¬</m:t>
                              </m:r>
                              <m:r>
                                <a:rPr kumimoji="0" lang="en-US" sz="1800" b="0" i="1" kern="120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𝑞</m:t>
                              </m:r>
                            </m:oMath>
                          </a14:m>
                          <a:endParaRPr kumimoji="0" lang="en-US" sz="1800" b="0" kern="1200" dirty="0" smtClean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marL="285750" indent="-285750" algn="l">
                            <a:buFont typeface="Arial" pitchFamily="34" charset="0"/>
                            <a:buChar char="•"/>
                          </a:pPr>
                          <a14:m>
                            <m:oMath xmlns:m="http://schemas.openxmlformats.org/officeDocument/2006/math">
                              <m:r>
                                <a:rPr kumimoji="0" lang="pt-BR" sz="1800" b="0" i="1" kern="120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(</m:t>
                              </m:r>
                              <m:r>
                                <a:rPr kumimoji="0" lang="pt-BR" sz="1800" b="0" i="1" kern="120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𝑝</m:t>
                              </m:r>
                              <m:r>
                                <a:rPr kumimoji="0" lang="pt-BR" sz="1800" b="0" i="1" kern="120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 → </m:t>
                              </m:r>
                              <m:r>
                                <a:rPr kumimoji="0" lang="pt-BR" sz="1800" b="0" i="1" kern="120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𝑞</m:t>
                              </m:r>
                              <m:r>
                                <a:rPr kumimoji="0" lang="pt-BR" sz="1800" b="0" i="1" kern="120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) ∧ (</m:t>
                              </m:r>
                              <m:r>
                                <a:rPr kumimoji="0" lang="pt-BR" sz="1800" b="0" i="1" kern="120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𝑝</m:t>
                              </m:r>
                              <m:r>
                                <a:rPr kumimoji="0" lang="pt-BR" sz="1800" b="0" i="1" kern="120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 → </m:t>
                              </m:r>
                              <m:r>
                                <a:rPr kumimoji="0" lang="pt-BR" sz="1800" b="0" i="1" kern="120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𝑟</m:t>
                              </m:r>
                              <m:r>
                                <a:rPr kumimoji="0" lang="pt-BR" sz="1800" b="0" i="1" kern="120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) ≡ </m:t>
                              </m:r>
                              <m:r>
                                <a:rPr kumimoji="0" lang="pt-BR" sz="1800" b="0" i="1" kern="120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𝑝</m:t>
                              </m:r>
                              <m:r>
                                <a:rPr kumimoji="0" lang="pt-BR" sz="1800" b="0" i="1" kern="120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 → (</m:t>
                              </m:r>
                              <m:r>
                                <a:rPr kumimoji="0" lang="pt-BR" sz="1800" b="0" i="1" kern="120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𝑞</m:t>
                              </m:r>
                              <m:r>
                                <a:rPr kumimoji="0" lang="pt-BR" sz="1800" b="0" i="1" kern="120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 ∧ </m:t>
                              </m:r>
                              <m:r>
                                <a:rPr kumimoji="0" lang="pt-BR" sz="1800" b="0" i="1" kern="120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𝑟</m:t>
                              </m:r>
                              <m:r>
                                <a:rPr kumimoji="0" lang="pt-BR" sz="1800" b="0" i="1" kern="120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)</m:t>
                              </m:r>
                            </m:oMath>
                          </a14:m>
                          <a:endParaRPr kumimoji="0" lang="pt-BR" sz="1800" b="0" kern="1200" dirty="0" smtClean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marL="285750" indent="-285750" algn="l">
                            <a:buFont typeface="Arial" pitchFamily="34" charset="0"/>
                            <a:buChar char="•"/>
                          </a:pPr>
                          <a14:m>
                            <m:oMath xmlns:m="http://schemas.openxmlformats.org/officeDocument/2006/math">
                              <m:r>
                                <a:rPr kumimoji="0" lang="pt-BR" sz="1800" b="0" i="1" kern="120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(</m:t>
                              </m:r>
                              <m:r>
                                <a:rPr kumimoji="0" lang="pt-BR" sz="1800" b="0" i="1" kern="120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𝑝</m:t>
                              </m:r>
                              <m:r>
                                <a:rPr kumimoji="0" lang="pt-BR" sz="1800" b="0" i="1" kern="120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 → </m:t>
                              </m:r>
                              <m:r>
                                <a:rPr kumimoji="0" lang="pt-BR" sz="1800" b="0" i="1" kern="120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𝑟</m:t>
                              </m:r>
                              <m:r>
                                <a:rPr kumimoji="0" lang="pt-BR" sz="1800" b="0" i="1" kern="120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) ∧ (</m:t>
                              </m:r>
                              <m:r>
                                <a:rPr kumimoji="0" lang="pt-BR" sz="1800" b="0" i="1" kern="120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𝑞</m:t>
                              </m:r>
                              <m:r>
                                <a:rPr kumimoji="0" lang="pt-BR" sz="1800" b="0" i="1" kern="120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 → </m:t>
                              </m:r>
                              <m:r>
                                <a:rPr kumimoji="0" lang="pt-BR" sz="1800" b="0" i="1" kern="120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𝑟</m:t>
                              </m:r>
                              <m:r>
                                <a:rPr kumimoji="0" lang="pt-BR" sz="1800" b="0" i="1" kern="120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) ≡ (</m:t>
                              </m:r>
                              <m:r>
                                <a:rPr kumimoji="0" lang="pt-BR" sz="1800" b="0" i="1" kern="120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𝑝</m:t>
                              </m:r>
                              <m:r>
                                <a:rPr kumimoji="0" lang="pt-BR" sz="1800" b="0" i="1" kern="120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 ∨ </m:t>
                              </m:r>
                              <m:r>
                                <a:rPr kumimoji="0" lang="pt-BR" sz="1800" b="0" i="1" kern="120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𝑞</m:t>
                              </m:r>
                              <m:r>
                                <a:rPr kumimoji="0" lang="pt-BR" sz="1800" b="0" i="1" kern="120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) → </m:t>
                              </m:r>
                              <m:r>
                                <a:rPr kumimoji="0" lang="pt-BR" sz="1800" b="0" i="1" kern="120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𝑟</m:t>
                              </m:r>
                            </m:oMath>
                          </a14:m>
                          <a:endParaRPr kumimoji="0" lang="pt-BR" sz="1800" b="0" kern="1200" dirty="0" smtClean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marL="285750" indent="-285750" algn="l">
                            <a:buFont typeface="Arial" pitchFamily="34" charset="0"/>
                            <a:buChar char="•"/>
                          </a:pPr>
                          <a14:m>
                            <m:oMath xmlns:m="http://schemas.openxmlformats.org/officeDocument/2006/math">
                              <m:r>
                                <a:rPr kumimoji="0" lang="pt-BR" sz="1800" b="0" i="1" kern="120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(</m:t>
                              </m:r>
                              <m:r>
                                <a:rPr kumimoji="0" lang="pt-BR" sz="1800" b="0" i="1" kern="120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𝑝</m:t>
                              </m:r>
                              <m:r>
                                <a:rPr kumimoji="0" lang="pt-BR" sz="1800" b="0" i="1" kern="120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 → </m:t>
                              </m:r>
                              <m:r>
                                <a:rPr kumimoji="0" lang="pt-BR" sz="1800" b="0" i="1" kern="120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𝑞</m:t>
                              </m:r>
                              <m:r>
                                <a:rPr kumimoji="0" lang="pt-BR" sz="1800" b="0" i="1" kern="120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) ∨ (</m:t>
                              </m:r>
                              <m:r>
                                <a:rPr kumimoji="0" lang="pt-BR" sz="1800" b="0" i="1" kern="120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𝑝</m:t>
                              </m:r>
                              <m:r>
                                <a:rPr kumimoji="0" lang="pt-BR" sz="1800" b="0" i="1" kern="120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 → </m:t>
                              </m:r>
                              <m:r>
                                <a:rPr kumimoji="0" lang="pt-BR" sz="1800" b="0" i="1" kern="120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𝑟</m:t>
                              </m:r>
                              <m:r>
                                <a:rPr kumimoji="0" lang="pt-BR" sz="1800" b="0" i="1" kern="120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) ≡ </m:t>
                              </m:r>
                              <m:r>
                                <a:rPr kumimoji="0" lang="pt-BR" sz="1800" b="0" i="1" kern="120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𝑝</m:t>
                              </m:r>
                              <m:r>
                                <a:rPr kumimoji="0" lang="pt-BR" sz="1800" b="0" i="1" kern="120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 → (</m:t>
                              </m:r>
                              <m:r>
                                <a:rPr kumimoji="0" lang="pt-BR" sz="1800" b="0" i="1" kern="120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𝑞</m:t>
                              </m:r>
                              <m:r>
                                <a:rPr kumimoji="0" lang="pt-BR" sz="1800" b="0" i="1" kern="120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 ∨ </m:t>
                              </m:r>
                              <m:r>
                                <a:rPr kumimoji="0" lang="pt-BR" sz="1800" b="0" i="1" kern="120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𝑟</m:t>
                              </m:r>
                              <m:r>
                                <a:rPr kumimoji="0" lang="pt-BR" sz="1800" b="0" i="1" kern="120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)</m:t>
                              </m:r>
                            </m:oMath>
                          </a14:m>
                          <a:endParaRPr kumimoji="0" lang="pt-BR" sz="1800" b="0" kern="1200" dirty="0" smtClean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marL="285750" indent="-285750" algn="l">
                            <a:buFont typeface="Arial" pitchFamily="34" charset="0"/>
                            <a:buChar char="•"/>
                          </a:pPr>
                          <a14:m>
                            <m:oMath xmlns:m="http://schemas.openxmlformats.org/officeDocument/2006/math">
                              <m:r>
                                <a:rPr kumimoji="0" lang="pt-BR" sz="1800" b="0" i="1" kern="120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(</m:t>
                              </m:r>
                              <m:r>
                                <a:rPr kumimoji="0" lang="pt-BR" sz="1800" b="0" i="1" kern="120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𝑝</m:t>
                              </m:r>
                              <m:r>
                                <a:rPr kumimoji="0" lang="pt-BR" sz="1800" b="0" i="1" kern="120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 → </m:t>
                              </m:r>
                              <m:r>
                                <a:rPr kumimoji="0" lang="pt-BR" sz="1800" b="0" i="1" kern="120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𝑟</m:t>
                              </m:r>
                              <m:r>
                                <a:rPr kumimoji="0" lang="pt-BR" sz="1800" b="0" i="1" kern="120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) ∨ (</m:t>
                              </m:r>
                              <m:r>
                                <a:rPr kumimoji="0" lang="pt-BR" sz="1800" b="0" i="1" kern="120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𝑞</m:t>
                              </m:r>
                              <m:r>
                                <a:rPr kumimoji="0" lang="pt-BR" sz="1800" b="0" i="1" kern="120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 → </m:t>
                              </m:r>
                              <m:r>
                                <a:rPr kumimoji="0" lang="pt-BR" sz="1800" b="0" i="1" kern="120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𝑟</m:t>
                              </m:r>
                              <m:r>
                                <a:rPr kumimoji="0" lang="pt-BR" sz="1800" b="0" i="1" kern="120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) ≡ (</m:t>
                              </m:r>
                              <m:r>
                                <a:rPr kumimoji="0" lang="pt-BR" sz="1800" b="0" i="1" kern="120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𝑝</m:t>
                              </m:r>
                              <m:r>
                                <a:rPr kumimoji="0" lang="pt-BR" sz="1800" b="0" i="1" kern="120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 ∧ </m:t>
                              </m:r>
                              <m:r>
                                <a:rPr kumimoji="0" lang="pt-BR" sz="1800" b="0" i="1" kern="120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𝑞</m:t>
                              </m:r>
                              <m:r>
                                <a:rPr kumimoji="0" lang="pt-BR" sz="1800" b="0" i="1" kern="120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) → </m:t>
                              </m:r>
                              <m:r>
                                <a:rPr kumimoji="0" lang="pt-BR" sz="1800" b="0" i="1" kern="120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𝑟</m:t>
                              </m:r>
                            </m:oMath>
                          </a14:m>
                          <a:endParaRPr lang="en-US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285750" indent="-285750" algn="l">
                            <a:buFont typeface="Arial" pitchFamily="34" charset="0"/>
                            <a:buChar char="•"/>
                          </a:pPr>
                          <a14:m>
                            <m:oMath xmlns:m="http://schemas.openxmlformats.org/officeDocument/2006/math">
                              <m:r>
                                <a:rPr lang="en-US" b="0" i="1" dirty="0" smtClean="0">
                                  <a:latin typeface="Cambria Math"/>
                                </a:rPr>
                                <m:t>𝑝</m:t>
                              </m:r>
                              <m:r>
                                <a:rPr lang="en-US" b="0" i="1" dirty="0" smtClean="0">
                                  <a:latin typeface="Cambria Math"/>
                                </a:rPr>
                                <m:t> ↔ </m:t>
                              </m:r>
                              <m:r>
                                <a:rPr lang="en-US" b="0" i="1" dirty="0" smtClean="0">
                                  <a:latin typeface="Cambria Math"/>
                                </a:rPr>
                                <m:t>𝑞</m:t>
                              </m:r>
                              <m:r>
                                <a:rPr lang="en-US" b="0" i="1" dirty="0" smtClean="0">
                                  <a:latin typeface="Cambria Math"/>
                                </a:rPr>
                                <m:t> ≡ (</m:t>
                              </m:r>
                              <m:r>
                                <a:rPr lang="en-US" b="0" i="1" dirty="0" smtClean="0">
                                  <a:latin typeface="Cambria Math"/>
                                </a:rPr>
                                <m:t>𝑝</m:t>
                              </m:r>
                              <m:r>
                                <a:rPr lang="en-US" b="0" i="1" dirty="0" smtClean="0">
                                  <a:latin typeface="Cambria Math"/>
                                </a:rPr>
                                <m:t> → </m:t>
                              </m:r>
                              <m:r>
                                <a:rPr lang="en-US" b="0" i="1" dirty="0" smtClean="0">
                                  <a:latin typeface="Cambria Math"/>
                                </a:rPr>
                                <m:t>𝑞</m:t>
                              </m:r>
                              <m:r>
                                <a:rPr lang="en-US" b="0" i="1" dirty="0" smtClean="0">
                                  <a:latin typeface="Cambria Math"/>
                                </a:rPr>
                                <m:t>) ∧ (</m:t>
                              </m:r>
                              <m:r>
                                <a:rPr lang="en-US" b="0" i="1" dirty="0" smtClean="0">
                                  <a:latin typeface="Cambria Math"/>
                                </a:rPr>
                                <m:t>𝑞</m:t>
                              </m:r>
                              <m:r>
                                <a:rPr lang="en-US" b="0" i="1" dirty="0" smtClean="0">
                                  <a:latin typeface="Cambria Math"/>
                                </a:rPr>
                                <m:t> → </m:t>
                              </m:r>
                              <m:r>
                                <a:rPr lang="en-US" b="0" i="1" dirty="0" smtClean="0">
                                  <a:latin typeface="Cambria Math"/>
                                </a:rPr>
                                <m:t>𝑝</m:t>
                              </m:r>
                              <m:r>
                                <a:rPr lang="en-US" b="0" i="1" dirty="0" smtClean="0">
                                  <a:latin typeface="Cambria Math"/>
                                </a:rPr>
                                <m:t>)</m:t>
                              </m:r>
                            </m:oMath>
                          </a14:m>
                          <a:endParaRPr lang="en-US" b="0" dirty="0" smtClean="0"/>
                        </a:p>
                        <a:p>
                          <a:pPr marL="285750" indent="-285750" algn="l">
                            <a:buFont typeface="Arial" pitchFamily="34" charset="0"/>
                            <a:buChar char="•"/>
                          </a:pPr>
                          <a14:m>
                            <m:oMath xmlns:m="http://schemas.openxmlformats.org/officeDocument/2006/math">
                              <m:r>
                                <a:rPr lang="en-US" b="0" i="1" dirty="0" smtClean="0">
                                  <a:latin typeface="Cambria Math"/>
                                </a:rPr>
                                <m:t>𝑝</m:t>
                              </m:r>
                              <m:r>
                                <a:rPr lang="en-US" b="0" i="1" dirty="0" smtClean="0">
                                  <a:latin typeface="Cambria Math"/>
                                </a:rPr>
                                <m:t> ↔ </m:t>
                              </m:r>
                              <m:r>
                                <a:rPr lang="en-US" b="0" i="1" dirty="0" smtClean="0">
                                  <a:latin typeface="Cambria Math"/>
                                </a:rPr>
                                <m:t>𝑞</m:t>
                              </m:r>
                              <m:r>
                                <a:rPr lang="en-US" b="0" i="1" dirty="0" smtClean="0">
                                  <a:latin typeface="Cambria Math"/>
                                </a:rPr>
                                <m:t> ≡¬</m:t>
                              </m:r>
                              <m:r>
                                <a:rPr lang="en-US" b="0" i="1" dirty="0" smtClean="0">
                                  <a:latin typeface="Cambria Math"/>
                                </a:rPr>
                                <m:t>𝑝</m:t>
                              </m:r>
                              <m:r>
                                <a:rPr lang="en-US" b="0" i="1" dirty="0" smtClean="0">
                                  <a:latin typeface="Cambria Math"/>
                                </a:rPr>
                                <m:t> ↔¬</m:t>
                              </m:r>
                              <m:r>
                                <a:rPr lang="en-US" b="0" i="1" dirty="0" smtClean="0">
                                  <a:latin typeface="Cambria Math"/>
                                </a:rPr>
                                <m:t>𝑞</m:t>
                              </m:r>
                            </m:oMath>
                          </a14:m>
                          <a:endParaRPr lang="en-US" b="0" dirty="0" smtClean="0"/>
                        </a:p>
                        <a:p>
                          <a:pPr marL="285750" indent="-285750" algn="l">
                            <a:buFont typeface="Arial" pitchFamily="34" charset="0"/>
                            <a:buChar char="•"/>
                          </a:pPr>
                          <a14:m>
                            <m:oMath xmlns:m="http://schemas.openxmlformats.org/officeDocument/2006/math">
                              <m:r>
                                <a:rPr lang="en-US" b="0" i="1" dirty="0" smtClean="0">
                                  <a:latin typeface="Cambria Math"/>
                                </a:rPr>
                                <m:t>𝑝</m:t>
                              </m:r>
                              <m:r>
                                <a:rPr lang="en-US" b="0" i="1" dirty="0" smtClean="0">
                                  <a:latin typeface="Cambria Math"/>
                                </a:rPr>
                                <m:t> ↔ </m:t>
                              </m:r>
                              <m:r>
                                <a:rPr lang="en-US" b="0" i="1" dirty="0" smtClean="0">
                                  <a:latin typeface="Cambria Math"/>
                                </a:rPr>
                                <m:t>𝑞</m:t>
                              </m:r>
                              <m:r>
                                <a:rPr lang="en-US" b="0" i="1" dirty="0" smtClean="0">
                                  <a:latin typeface="Cambria Math"/>
                                </a:rPr>
                                <m:t> ≡ (</m:t>
                              </m:r>
                              <m:r>
                                <a:rPr lang="en-US" b="0" i="1" dirty="0" smtClean="0">
                                  <a:latin typeface="Cambria Math"/>
                                </a:rPr>
                                <m:t>𝑝</m:t>
                              </m:r>
                              <m:r>
                                <a:rPr lang="en-US" b="0" i="1" dirty="0" smtClean="0">
                                  <a:latin typeface="Cambria Math"/>
                                </a:rPr>
                                <m:t> ∧ </m:t>
                              </m:r>
                              <m:r>
                                <a:rPr lang="en-US" b="0" i="1" dirty="0" smtClean="0">
                                  <a:latin typeface="Cambria Math"/>
                                </a:rPr>
                                <m:t>𝑞</m:t>
                              </m:r>
                              <m:r>
                                <a:rPr lang="en-US" b="0" i="1" dirty="0" smtClean="0">
                                  <a:latin typeface="Cambria Math"/>
                                </a:rPr>
                                <m:t>) ∨ (¬</m:t>
                              </m:r>
                              <m:r>
                                <a:rPr lang="en-US" b="0" i="1" dirty="0" smtClean="0">
                                  <a:latin typeface="Cambria Math"/>
                                </a:rPr>
                                <m:t>𝑝</m:t>
                              </m:r>
                              <m:r>
                                <a:rPr lang="en-US" b="0" i="1" dirty="0" smtClean="0">
                                  <a:latin typeface="Cambria Math"/>
                                </a:rPr>
                                <m:t> ∧¬</m:t>
                              </m:r>
                              <m:r>
                                <a:rPr lang="en-US" b="0" i="1" dirty="0" smtClean="0">
                                  <a:latin typeface="Cambria Math"/>
                                </a:rPr>
                                <m:t>𝑞</m:t>
                              </m:r>
                              <m:r>
                                <a:rPr lang="en-US" b="0" i="1" dirty="0" smtClean="0">
                                  <a:latin typeface="Cambria Math"/>
                                </a:rPr>
                                <m:t>)</m:t>
                              </m:r>
                            </m:oMath>
                          </a14:m>
                          <a:endParaRPr lang="en-US" b="0" dirty="0" smtClean="0"/>
                        </a:p>
                        <a:p>
                          <a:pPr marL="285750" indent="-285750" algn="l">
                            <a:buFont typeface="Arial" pitchFamily="34" charset="0"/>
                            <a:buChar char="•"/>
                          </a:pPr>
                          <a14:m>
                            <m:oMath xmlns:m="http://schemas.openxmlformats.org/officeDocument/2006/math">
                              <m:r>
                                <a:rPr lang="en-US" b="0" i="1" dirty="0" smtClean="0">
                                  <a:latin typeface="Cambria Math"/>
                                </a:rPr>
                                <m:t>¬(</m:t>
                              </m:r>
                              <m:r>
                                <a:rPr lang="en-US" b="0" i="1" dirty="0" smtClean="0">
                                  <a:latin typeface="Cambria Math"/>
                                </a:rPr>
                                <m:t>𝑝</m:t>
                              </m:r>
                              <m:r>
                                <a:rPr lang="en-US" b="0" i="1" dirty="0" smtClean="0">
                                  <a:latin typeface="Cambria Math"/>
                                </a:rPr>
                                <m:t> ↔ </m:t>
                              </m:r>
                              <m:r>
                                <a:rPr lang="en-US" b="0" i="1" dirty="0" smtClean="0">
                                  <a:latin typeface="Cambria Math"/>
                                </a:rPr>
                                <m:t>𝑞</m:t>
                              </m:r>
                              <m:r>
                                <a:rPr lang="en-US" b="0" i="1" dirty="0" smtClean="0">
                                  <a:latin typeface="Cambria Math"/>
                                </a:rPr>
                                <m:t>) ≡ </m:t>
                              </m:r>
                              <m:r>
                                <a:rPr lang="en-US" b="0" i="1" dirty="0" smtClean="0">
                                  <a:latin typeface="Cambria Math"/>
                                </a:rPr>
                                <m:t>𝑝</m:t>
                              </m:r>
                              <m:r>
                                <a:rPr lang="en-US" b="0" i="1" dirty="0" smtClean="0">
                                  <a:latin typeface="Cambria Math"/>
                                </a:rPr>
                                <m:t> ↔¬</m:t>
                              </m:r>
                              <m:r>
                                <a:rPr lang="en-US" b="0" i="1" dirty="0" smtClean="0">
                                  <a:latin typeface="Cambria Math"/>
                                </a:rPr>
                                <m:t>𝑞</m:t>
                              </m:r>
                            </m:oMath>
                          </a14:m>
                          <a:endParaRPr lang="en-US" b="0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27813265"/>
                  </p:ext>
                </p:extLst>
              </p:nvPr>
            </p:nvGraphicFramePr>
            <p:xfrm>
              <a:off x="516578" y="2348880"/>
              <a:ext cx="8159878" cy="2560320"/>
            </p:xfrm>
            <a:graphic>
              <a:graphicData uri="http://schemas.openxmlformats.org/drawingml/2006/table">
                <a:tbl>
                  <a:tblPr firstRow="1">
                    <a:tableStyleId>{ED083AE6-46FA-4A59-8FB0-9F97EB10719F}</a:tableStyleId>
                  </a:tblPr>
                  <a:tblGrid>
                    <a:gridCol w="4318826"/>
                    <a:gridCol w="3841052"/>
                  </a:tblGrid>
                  <a:tr h="25603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141" t="-1190" r="-89124" b="-38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112540" t="-1190" r="-159" b="-3810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2332518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 smtClean="0"/>
              <a:t>Constructing New Logical Equivalences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GB" b="1" u="sng" dirty="0" smtClean="0"/>
                  <a:t>Example 1:</a:t>
                </a:r>
                <a:endParaRPr lang="en-US" b="1" u="sng" dirty="0" smtClean="0"/>
              </a:p>
              <a:p>
                <a:pPr lvl="1"/>
                <a:r>
                  <a:rPr lang="en-US" dirty="0" smtClean="0"/>
                  <a:t>Show that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¬(</m:t>
                    </m:r>
                    <m:r>
                      <a:rPr lang="en-US" i="1" dirty="0" smtClean="0">
                        <a:latin typeface="Cambria Math"/>
                      </a:rPr>
                      <m:t>𝑝</m:t>
                    </m:r>
                    <m:r>
                      <a:rPr lang="en-US" i="1" dirty="0" smtClean="0">
                        <a:latin typeface="Cambria Math"/>
                      </a:rPr>
                      <m:t> → </m:t>
                    </m:r>
                    <m:r>
                      <a:rPr lang="en-US" i="1" dirty="0" smtClean="0">
                        <a:latin typeface="Cambria Math"/>
                      </a:rPr>
                      <m:t>𝑞</m:t>
                    </m:r>
                    <m:r>
                      <a:rPr lang="en-US" i="1" dirty="0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𝑝</m:t>
                    </m:r>
                    <m:r>
                      <a:rPr lang="en-US" i="1" dirty="0" smtClean="0">
                        <a:latin typeface="Cambria Math"/>
                      </a:rPr>
                      <m:t> ∧¬</m:t>
                    </m:r>
                    <m:r>
                      <a:rPr lang="en-US" i="1" dirty="0" smtClean="0">
                        <a:latin typeface="Cambria Math"/>
                      </a:rPr>
                      <m:t>𝑞</m:t>
                    </m:r>
                  </m:oMath>
                </a14:m>
                <a:r>
                  <a:rPr lang="en-US" dirty="0"/>
                  <a:t> are logically equivalent</a:t>
                </a:r>
                <a:r>
                  <a:rPr lang="en-US" dirty="0" smtClean="0"/>
                  <a:t>.</a:t>
                </a:r>
              </a:p>
              <a:p>
                <a:endParaRPr lang="en-GB" dirty="0" smtClean="0"/>
              </a:p>
              <a:p>
                <a:r>
                  <a:rPr lang="en-GB" b="1" u="sng" dirty="0" smtClean="0"/>
                  <a:t>Solution:</a:t>
                </a:r>
              </a:p>
              <a:p>
                <a:pPr lvl="1"/>
                <a:endParaRPr lang="en-US" i="1" dirty="0" smtClean="0">
                  <a:latin typeface="Cambria Math"/>
                </a:endParaRPr>
              </a:p>
              <a:p>
                <a:pPr marL="274320" lvl="1" indent="0">
                  <a:buNone/>
                </a:pPr>
                <a:r>
                  <a:rPr lang="en-US" dirty="0" smtClean="0"/>
                  <a:t>		</a:t>
                </a:r>
                <a:endParaRPr lang="en-GB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593" t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19719265"/>
                  </p:ext>
                </p:extLst>
              </p:nvPr>
            </p:nvGraphicFramePr>
            <p:xfrm>
              <a:off x="1331640" y="3212976"/>
              <a:ext cx="6334252" cy="1381760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1288796"/>
                    <a:gridCol w="417830"/>
                    <a:gridCol w="1549908"/>
                    <a:gridCol w="3077718"/>
                  </a:tblGrid>
                  <a:tr h="370840"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¬</m:t>
                                </m:r>
                                <m:d>
                                  <m:dPr>
                                    <m:ctrlPr>
                                      <a:rPr lang="en-US" i="1" dirty="0" smtClean="0">
                                        <a:latin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 dirty="0" smtClean="0">
                                        <a:latin typeface="Cambria Math"/>
                                      </a:rPr>
                                      <m:t>𝑝</m:t>
                                    </m:r>
                                    <m:r>
                                      <a:rPr lang="en-US" i="1" dirty="0" smtClean="0">
                                        <a:latin typeface="Cambria Math"/>
                                      </a:rPr>
                                      <m:t> → </m:t>
                                    </m:r>
                                    <m:r>
                                      <a:rPr lang="en-US" i="1" dirty="0" smtClean="0">
                                        <a:latin typeface="Cambria Math"/>
                                      </a:rPr>
                                      <m:t>𝑞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≡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¬(¬</m:t>
                                </m:r>
                                <m:r>
                                  <a:rPr lang="en-US" i="1" dirty="0" smtClean="0">
                                    <a:latin typeface="Cambria Math"/>
                                  </a:rPr>
                                  <m:t>𝑝</m:t>
                                </m:r>
                                <m:r>
                                  <a:rPr lang="en-US" i="1" dirty="0" smtClean="0">
                                    <a:latin typeface="Cambria Math"/>
                                  </a:rPr>
                                  <m:t> ∨ </m:t>
                                </m:r>
                                <m:r>
                                  <a:rPr lang="en-US" i="1" dirty="0" smtClean="0">
                                    <a:latin typeface="Cambria Math"/>
                                  </a:rPr>
                                  <m:t>𝑞</m:t>
                                </m:r>
                                <m:r>
                                  <a:rPr lang="en-US" i="1" dirty="0" smtClean="0">
                                    <a:latin typeface="Cambria Math"/>
                                  </a:rPr>
                                  <m:t>) 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1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>
                              <a:solidFill>
                                <a:srgbClr val="00B0F0"/>
                              </a:solidFill>
                            </a:rPr>
                            <a:t>by Rule</a:t>
                          </a:r>
                        </a:p>
                      </a:txBody>
                      <a:tcPr>
                        <a:noFill/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endParaRPr lang="en-US"/>
                        </a:p>
                      </a:txBody>
                      <a:tcPr>
                        <a:lnT w="12700" cmpd="sng">
                          <a:noFill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≡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¬(¬</m:t>
                                </m:r>
                                <m:r>
                                  <a:rPr lang="en-US" i="1" dirty="0" smtClean="0">
                                    <a:latin typeface="Cambria Math"/>
                                  </a:rPr>
                                  <m:t>𝑝</m:t>
                                </m:r>
                                <m:r>
                                  <a:rPr lang="en-US" i="1" dirty="0" smtClean="0">
                                    <a:latin typeface="Cambria Math"/>
                                  </a:rPr>
                                  <m:t>) ∧¬</m:t>
                                </m:r>
                                <m:r>
                                  <a:rPr lang="en-US" i="1" dirty="0" smtClean="0">
                                    <a:latin typeface="Cambria Math"/>
                                  </a:rPr>
                                  <m:t>𝑞</m:t>
                                </m:r>
                                <m:r>
                                  <a:rPr lang="en-US" i="1" dirty="0" smtClean="0">
                                    <a:latin typeface="Cambria Math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1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>
                              <a:solidFill>
                                <a:srgbClr val="00B0F0"/>
                              </a:solidFill>
                            </a:rPr>
                            <a:t>by the second De Morgan Law</a:t>
                          </a:r>
                        </a:p>
                      </a:txBody>
                      <a:tcPr>
                        <a:noFill/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endParaRPr lang="en-US" dirty="0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≡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dirty="0" smtClean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i="1" dirty="0">
                                  <a:latin typeface="Cambria Math"/>
                                </a:rPr>
                                <m:t>𝑝</m:t>
                              </m:r>
                              <m:r>
                                <a:rPr lang="en-US" i="1" dirty="0">
                                  <a:latin typeface="Cambria Math"/>
                                </a:rPr>
                                <m:t> ∧¬</m:t>
                              </m:r>
                              <m:r>
                                <a:rPr lang="en-US" i="1" dirty="0">
                                  <a:latin typeface="Cambria Math"/>
                                </a:rPr>
                                <m:t>𝑞</m:t>
                              </m:r>
                            </m:oMath>
                          </a14:m>
                          <a:endParaRPr lang="en-US" dirty="0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1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>
                              <a:solidFill>
                                <a:srgbClr val="00B0F0"/>
                              </a:solidFill>
                            </a:rPr>
                            <a:t>by the Double Negation Law</a:t>
                          </a:r>
                        </a:p>
                      </a:txBody>
                      <a:tcPr>
                        <a:noFill/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19719265"/>
                  </p:ext>
                </p:extLst>
              </p:nvPr>
            </p:nvGraphicFramePr>
            <p:xfrm>
              <a:off x="1331640" y="3212976"/>
              <a:ext cx="6334252" cy="1112520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1288796"/>
                    <a:gridCol w="417830"/>
                    <a:gridCol w="1549908"/>
                    <a:gridCol w="3077718"/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t="-8197" r="-390566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blipFill rotWithShape="1">
                          <a:blip r:embed="rId3"/>
                          <a:stretch>
                            <a:fillRect l="-311765" t="-8197" r="-1117647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blipFill rotWithShape="1">
                          <a:blip r:embed="rId3"/>
                          <a:stretch>
                            <a:fillRect l="-109804" t="-8197" r="-198039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1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>
                              <a:solidFill>
                                <a:srgbClr val="00B0F0"/>
                              </a:solidFill>
                            </a:rPr>
                            <a:t>by Rule</a:t>
                          </a:r>
                        </a:p>
                      </a:txBody>
                      <a:tcPr>
                        <a:noFill/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endParaRPr lang="en-US"/>
                        </a:p>
                      </a:txBody>
                      <a:tcPr>
                        <a:lnT w="12700" cmpd="sng">
                          <a:noFill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311765" t="-108197" r="-1117647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109804" t="-108197" r="-198039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1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>
                              <a:solidFill>
                                <a:srgbClr val="00B0F0"/>
                              </a:solidFill>
                            </a:rPr>
                            <a:t>by the second De Morgan Law</a:t>
                          </a:r>
                        </a:p>
                      </a:txBody>
                      <a:tcPr>
                        <a:noFill/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endParaRPr lang="en-US" dirty="0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311765" t="-208197" r="-1117647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109804" t="-208197" r="-198039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1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>
                              <a:solidFill>
                                <a:srgbClr val="00B0F0"/>
                              </a:solidFill>
                            </a:rPr>
                            <a:t>by the Double Negation Law</a:t>
                          </a:r>
                        </a:p>
                      </a:txBody>
                      <a:tcPr>
                        <a:noFill/>
                      </a:tcPr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1777238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GB" dirty="0"/>
              <a:t>Constructing New Logical </a:t>
            </a:r>
            <a:r>
              <a:rPr lang="en-GB" dirty="0" smtClean="0"/>
              <a:t>Equivalences(Contd.)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GB" b="1" u="sng" dirty="0" smtClean="0"/>
                  <a:t>Example 2:</a:t>
                </a:r>
                <a:endParaRPr lang="en-US" b="1" u="sng" dirty="0" smtClean="0"/>
              </a:p>
              <a:p>
                <a:pPr lvl="1"/>
                <a:r>
                  <a:rPr lang="en-US" dirty="0" smtClean="0"/>
                  <a:t>Show </a:t>
                </a:r>
                <a:r>
                  <a:rPr lang="en-US" dirty="0"/>
                  <a:t>that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¬(</m:t>
                    </m:r>
                    <m:r>
                      <a:rPr lang="en-US" i="1" dirty="0" smtClean="0">
                        <a:latin typeface="Cambria Math"/>
                      </a:rPr>
                      <m:t>𝑝</m:t>
                    </m:r>
                    <m:r>
                      <a:rPr lang="en-US" i="1" dirty="0" smtClean="0">
                        <a:latin typeface="Cambria Math"/>
                      </a:rPr>
                      <m:t> ∨ (¬</m:t>
                    </m:r>
                    <m:r>
                      <a:rPr lang="en-US" i="1" dirty="0" smtClean="0">
                        <a:latin typeface="Cambria Math"/>
                      </a:rPr>
                      <m:t>𝑝</m:t>
                    </m:r>
                    <m:r>
                      <a:rPr lang="en-US" i="1" dirty="0" smtClean="0">
                        <a:latin typeface="Cambria Math"/>
                      </a:rPr>
                      <m:t> ∧ </m:t>
                    </m:r>
                    <m:r>
                      <a:rPr lang="en-US" i="1" dirty="0" smtClean="0">
                        <a:latin typeface="Cambria Math"/>
                      </a:rPr>
                      <m:t>𝑞</m:t>
                    </m:r>
                    <m:r>
                      <a:rPr lang="en-US" i="1" dirty="0" smtClean="0">
                        <a:latin typeface="Cambria Math"/>
                      </a:rPr>
                      <m:t>))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¬</m:t>
                    </m:r>
                    <m:r>
                      <a:rPr lang="en-US" i="1" dirty="0" smtClean="0">
                        <a:latin typeface="Cambria Math"/>
                      </a:rPr>
                      <m:t>𝑝</m:t>
                    </m:r>
                    <m:r>
                      <a:rPr lang="en-US" i="1" dirty="0" smtClean="0">
                        <a:latin typeface="Cambria Math"/>
                      </a:rPr>
                      <m:t> ∧¬</m:t>
                    </m:r>
                    <m:r>
                      <a:rPr lang="en-US" i="1" dirty="0" smtClean="0">
                        <a:latin typeface="Cambria Math"/>
                      </a:rPr>
                      <m:t>𝑞</m:t>
                    </m:r>
                  </m:oMath>
                </a14:m>
                <a:r>
                  <a:rPr lang="en-US" dirty="0"/>
                  <a:t> are logically equivalent by developing a series </a:t>
                </a:r>
                <a:r>
                  <a:rPr lang="en-US" dirty="0" smtClean="0"/>
                  <a:t>of logical </a:t>
                </a:r>
                <a:r>
                  <a:rPr lang="en-US" dirty="0"/>
                  <a:t>equivalences</a:t>
                </a:r>
                <a:r>
                  <a:rPr lang="en-US" dirty="0" smtClean="0"/>
                  <a:t>.</a:t>
                </a:r>
              </a:p>
              <a:p>
                <a:endParaRPr lang="en-GB" dirty="0"/>
              </a:p>
              <a:p>
                <a:r>
                  <a:rPr lang="en-GB" b="1" u="sng" dirty="0" smtClean="0"/>
                  <a:t>Solution: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593" t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67006580"/>
                  </p:ext>
                </p:extLst>
              </p:nvPr>
            </p:nvGraphicFramePr>
            <p:xfrm>
              <a:off x="190246" y="3356992"/>
              <a:ext cx="8846250" cy="2865120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2087689"/>
                    <a:gridCol w="379730"/>
                    <a:gridCol w="2676271"/>
                    <a:gridCol w="3702560"/>
                  </a:tblGrid>
                  <a:tr h="370840"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¬(</m:t>
                                </m:r>
                                <m:r>
                                  <a:rPr lang="en-US" i="1" dirty="0" smtClean="0">
                                    <a:latin typeface="Cambria Math"/>
                                  </a:rPr>
                                  <m:t>𝑝</m:t>
                                </m:r>
                                <m:r>
                                  <a:rPr lang="en-US" i="1" dirty="0" smtClean="0">
                                    <a:latin typeface="Cambria Math"/>
                                  </a:rPr>
                                  <m:t> ∨ (¬</m:t>
                                </m:r>
                                <m:r>
                                  <a:rPr lang="en-US" i="1" dirty="0" smtClean="0">
                                    <a:latin typeface="Cambria Math"/>
                                  </a:rPr>
                                  <m:t>𝑝</m:t>
                                </m:r>
                                <m:r>
                                  <a:rPr lang="en-US" i="1" dirty="0" smtClean="0">
                                    <a:latin typeface="Cambria Math"/>
                                  </a:rPr>
                                  <m:t> ∧ </m:t>
                                </m:r>
                                <m:r>
                                  <a:rPr lang="en-US" i="1" dirty="0" smtClean="0">
                                    <a:latin typeface="Cambria Math"/>
                                  </a:rPr>
                                  <m:t>𝑞</m:t>
                                </m:r>
                                <m:r>
                                  <a:rPr lang="en-US" i="1" dirty="0" smtClean="0">
                                    <a:latin typeface="Cambria Math"/>
                                  </a:rPr>
                                  <m:t>)) 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≡</a:t>
                          </a:r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1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¬</m:t>
                                </m:r>
                                <m:r>
                                  <a:rPr lang="en-US" i="1" dirty="0" smtClean="0">
                                    <a:latin typeface="Cambria Math"/>
                                  </a:rPr>
                                  <m:t>𝑝</m:t>
                                </m:r>
                                <m:r>
                                  <a:rPr lang="en-US" i="1" dirty="0" smtClean="0">
                                    <a:latin typeface="Cambria Math"/>
                                  </a:rPr>
                                  <m:t> ∧¬(¬</m:t>
                                </m:r>
                                <m:r>
                                  <a:rPr lang="en-US" i="1" dirty="0" smtClean="0">
                                    <a:latin typeface="Cambria Math"/>
                                  </a:rPr>
                                  <m:t>𝑝</m:t>
                                </m:r>
                                <m:r>
                                  <a:rPr lang="en-US" i="1" dirty="0" smtClean="0">
                                    <a:latin typeface="Cambria Math"/>
                                  </a:rPr>
                                  <m:t> ∧ </m:t>
                                </m:r>
                                <m:r>
                                  <a:rPr lang="en-US" i="1" dirty="0" smtClean="0">
                                    <a:latin typeface="Cambria Math"/>
                                  </a:rPr>
                                  <m:t>𝑞</m:t>
                                </m:r>
                                <m:r>
                                  <a:rPr lang="en-US" i="1" dirty="0" smtClean="0"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dirty="0" smtClean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1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>
                              <a:solidFill>
                                <a:srgbClr val="00B0F0"/>
                              </a:solidFill>
                            </a:rPr>
                            <a:t>by the second De Morgan law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/>
                            <a:t>≡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¬</m:t>
                                </m:r>
                                <m:r>
                                  <a:rPr lang="en-US" i="1" dirty="0" smtClean="0">
                                    <a:latin typeface="Cambria Math"/>
                                  </a:rPr>
                                  <m:t>𝑝</m:t>
                                </m:r>
                                <m:r>
                                  <a:rPr lang="en-US" i="1" dirty="0" smtClean="0">
                                    <a:latin typeface="Cambria Math"/>
                                  </a:rPr>
                                  <m:t> ∧[¬(¬</m:t>
                                </m:r>
                                <m:r>
                                  <a:rPr lang="en-US" i="1" dirty="0" smtClean="0">
                                    <a:latin typeface="Cambria Math"/>
                                  </a:rPr>
                                  <m:t>𝑝</m:t>
                                </m:r>
                                <m:r>
                                  <a:rPr lang="en-US" i="1" dirty="0" smtClean="0">
                                    <a:latin typeface="Cambria Math"/>
                                  </a:rPr>
                                  <m:t>) ∨¬</m:t>
                                </m:r>
                                <m:r>
                                  <a:rPr lang="en-US" i="1" dirty="0" smtClean="0">
                                    <a:latin typeface="Cambria Math"/>
                                  </a:rPr>
                                  <m:t>𝑞</m:t>
                                </m:r>
                                <m:r>
                                  <a:rPr lang="en-US" i="1" dirty="0" smtClean="0">
                                    <a:latin typeface="Cambria Math"/>
                                  </a:rPr>
                                  <m:t>] 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1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>
                              <a:solidFill>
                                <a:srgbClr val="00B0F0"/>
                              </a:solidFill>
                            </a:rPr>
                            <a:t>by the ﬁrst De Morgan law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/>
                            <a:t>≡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1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¬</m:t>
                                </m:r>
                                <m:r>
                                  <a:rPr lang="en-US" i="1" dirty="0" smtClean="0">
                                    <a:latin typeface="Cambria Math"/>
                                  </a:rPr>
                                  <m:t>𝑝</m:t>
                                </m:r>
                                <m:r>
                                  <a:rPr lang="en-US" i="1" dirty="0" smtClean="0">
                                    <a:latin typeface="Cambria Math"/>
                                  </a:rPr>
                                  <m:t> ∧ (</m:t>
                                </m:r>
                                <m:r>
                                  <a:rPr lang="en-US" i="1" dirty="0" smtClean="0">
                                    <a:latin typeface="Cambria Math"/>
                                  </a:rPr>
                                  <m:t>𝑝</m:t>
                                </m:r>
                                <m:r>
                                  <a:rPr lang="en-US" i="1" dirty="0" smtClean="0">
                                    <a:latin typeface="Cambria Math"/>
                                  </a:rPr>
                                  <m:t> ∨¬</m:t>
                                </m:r>
                                <m:r>
                                  <a:rPr lang="en-US" i="1" dirty="0" smtClean="0">
                                    <a:latin typeface="Cambria Math"/>
                                  </a:rPr>
                                  <m:t>𝑞</m:t>
                                </m:r>
                                <m:r>
                                  <a:rPr lang="en-US" i="1" dirty="0" smtClean="0"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dirty="0" smtClean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1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>
                              <a:solidFill>
                                <a:srgbClr val="00B0F0"/>
                              </a:solidFill>
                            </a:rPr>
                            <a:t>by the double negation law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/>
                            <a:t>≡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(¬</m:t>
                                </m:r>
                                <m:r>
                                  <a:rPr lang="en-US" i="1" dirty="0" smtClean="0">
                                    <a:latin typeface="Cambria Math"/>
                                  </a:rPr>
                                  <m:t>𝑝</m:t>
                                </m:r>
                                <m:r>
                                  <a:rPr lang="en-US" i="1" dirty="0" smtClean="0">
                                    <a:latin typeface="Cambria Math"/>
                                  </a:rPr>
                                  <m:t> ∧ </m:t>
                                </m:r>
                                <m:r>
                                  <a:rPr lang="en-US" i="1" dirty="0" smtClean="0">
                                    <a:latin typeface="Cambria Math"/>
                                  </a:rPr>
                                  <m:t>𝑝</m:t>
                                </m:r>
                                <m:r>
                                  <a:rPr lang="en-US" i="1" dirty="0" smtClean="0">
                                    <a:latin typeface="Cambria Math"/>
                                  </a:rPr>
                                  <m:t>) ∨ (¬</m:t>
                                </m:r>
                                <m:r>
                                  <a:rPr lang="en-US" i="1" dirty="0" smtClean="0">
                                    <a:latin typeface="Cambria Math"/>
                                  </a:rPr>
                                  <m:t>𝑝</m:t>
                                </m:r>
                                <m:r>
                                  <a:rPr lang="en-US" i="1" dirty="0" smtClean="0">
                                    <a:latin typeface="Cambria Math"/>
                                  </a:rPr>
                                  <m:t> ∧¬</m:t>
                                </m:r>
                                <m:r>
                                  <a:rPr lang="en-US" i="1" dirty="0" smtClean="0">
                                    <a:latin typeface="Cambria Math"/>
                                  </a:rPr>
                                  <m:t>𝑞</m:t>
                                </m:r>
                                <m:r>
                                  <a:rPr lang="en-US" i="1" dirty="0" smtClean="0">
                                    <a:latin typeface="Cambria Math"/>
                                  </a:rPr>
                                  <m:t>) 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1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>
                              <a:solidFill>
                                <a:srgbClr val="00B0F0"/>
                              </a:solidFill>
                            </a:rPr>
                            <a:t>by the second distributive law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/>
                            <a:t>≡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𝐹</m:t>
                                </m:r>
                                <m:r>
                                  <a:rPr lang="en-US" i="1" dirty="0" smtClean="0">
                                    <a:latin typeface="Cambria Math"/>
                                  </a:rPr>
                                  <m:t> ∨ (¬</m:t>
                                </m:r>
                                <m:r>
                                  <a:rPr lang="en-US" i="1" dirty="0" smtClean="0">
                                    <a:latin typeface="Cambria Math"/>
                                  </a:rPr>
                                  <m:t>𝑝</m:t>
                                </m:r>
                                <m:r>
                                  <a:rPr lang="en-US" i="1" dirty="0" smtClean="0">
                                    <a:latin typeface="Cambria Math"/>
                                  </a:rPr>
                                  <m:t> ∧¬</m:t>
                                </m:r>
                                <m:r>
                                  <a:rPr lang="en-US" i="1" dirty="0" smtClean="0">
                                    <a:latin typeface="Cambria Math"/>
                                  </a:rPr>
                                  <m:t>𝑞</m:t>
                                </m:r>
                                <m:r>
                                  <a:rPr lang="en-US" i="1" dirty="0" smtClean="0">
                                    <a:latin typeface="Cambria Math"/>
                                  </a:rPr>
                                  <m:t>) 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1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>
                              <a:solidFill>
                                <a:srgbClr val="00B0F0"/>
                              </a:solidFill>
                            </a:rPr>
                            <a:t>because </a:t>
                          </a:r>
                          <a14:m>
                            <m:oMath xmlns:m="http://schemas.openxmlformats.org/officeDocument/2006/math">
                              <m:r>
                                <a:rPr lang="en-US" i="1" dirty="0" smtClean="0">
                                  <a:solidFill>
                                    <a:srgbClr val="00B0F0"/>
                                  </a:solidFill>
                                  <a:latin typeface="Cambria Math"/>
                                </a:rPr>
                                <m:t>¬</m:t>
                              </m:r>
                              <m:r>
                                <a:rPr lang="en-US" i="1" dirty="0" smtClean="0">
                                  <a:solidFill>
                                    <a:srgbClr val="00B0F0"/>
                                  </a:solidFill>
                                  <a:latin typeface="Cambria Math"/>
                                </a:rPr>
                                <m:t>𝑝</m:t>
                              </m:r>
                              <m:r>
                                <a:rPr lang="en-US" i="1" dirty="0" smtClean="0">
                                  <a:solidFill>
                                    <a:srgbClr val="00B0F0"/>
                                  </a:solidFill>
                                  <a:latin typeface="Cambria Math"/>
                                </a:rPr>
                                <m:t> ∧ </m:t>
                              </m:r>
                              <m:r>
                                <a:rPr lang="en-US" i="1" dirty="0" smtClean="0">
                                  <a:solidFill>
                                    <a:srgbClr val="00B0F0"/>
                                  </a:solidFill>
                                  <a:latin typeface="Cambria Math"/>
                                </a:rPr>
                                <m:t>𝑝</m:t>
                              </m:r>
                              <m:r>
                                <a:rPr lang="en-US" i="1" dirty="0" smtClean="0">
                                  <a:solidFill>
                                    <a:srgbClr val="00B0F0"/>
                                  </a:solidFill>
                                  <a:latin typeface="Cambria Math"/>
                                </a:rPr>
                                <m:t> ≡ </m:t>
                              </m:r>
                              <m:r>
                                <a:rPr lang="en-US" i="1" dirty="0" smtClean="0">
                                  <a:solidFill>
                                    <a:srgbClr val="00B0F0"/>
                                  </a:solidFill>
                                  <a:latin typeface="Cambria Math"/>
                                </a:rPr>
                                <m:t>𝐹</m:t>
                              </m:r>
                            </m:oMath>
                          </a14:m>
                          <a:endParaRPr lang="en-US" dirty="0" smtClean="0">
                            <a:solidFill>
                              <a:srgbClr val="00B0F0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/>
                            <a:t>≡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(¬</m:t>
                                </m:r>
                                <m:r>
                                  <a:rPr lang="en-US" i="1" dirty="0" smtClean="0">
                                    <a:latin typeface="Cambria Math"/>
                                  </a:rPr>
                                  <m:t>𝑝</m:t>
                                </m:r>
                                <m:r>
                                  <a:rPr lang="en-US" i="1" dirty="0" smtClean="0">
                                    <a:latin typeface="Cambria Math"/>
                                  </a:rPr>
                                  <m:t> ∧¬</m:t>
                                </m:r>
                                <m:r>
                                  <a:rPr lang="en-US" i="1" dirty="0" smtClean="0">
                                    <a:latin typeface="Cambria Math"/>
                                  </a:rPr>
                                  <m:t>𝑞</m:t>
                                </m:r>
                                <m:r>
                                  <a:rPr lang="en-US" i="1" dirty="0" smtClean="0">
                                    <a:latin typeface="Cambria Math"/>
                                  </a:rPr>
                                  <m:t>) ∨ </m:t>
                                </m:r>
                                <m:r>
                                  <a:rPr lang="en-US" i="1" dirty="0" smtClean="0">
                                    <a:latin typeface="Cambria Math"/>
                                  </a:rPr>
                                  <m:t>𝐹</m:t>
                                </m:r>
                                <m:r>
                                  <a:rPr lang="en-US" i="1" dirty="0" smtClean="0">
                                    <a:latin typeface="Cambria Math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1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>
                              <a:solidFill>
                                <a:srgbClr val="00B0F0"/>
                              </a:solidFill>
                            </a:rPr>
                            <a:t>by the commutative law of disjunction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/>
                            <a:t>≡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¬</m:t>
                                </m:r>
                                <m:r>
                                  <a:rPr lang="en-US" i="1" dirty="0" smtClean="0">
                                    <a:latin typeface="Cambria Math"/>
                                  </a:rPr>
                                  <m:t>𝑝</m:t>
                                </m:r>
                                <m:r>
                                  <a:rPr lang="en-US" i="1" dirty="0" smtClean="0">
                                    <a:latin typeface="Cambria Math"/>
                                  </a:rPr>
                                  <m:t> ∧¬</m:t>
                                </m:r>
                                <m:r>
                                  <a:rPr lang="en-US" i="1" dirty="0" smtClean="0">
                                    <a:latin typeface="Cambria Math"/>
                                  </a:rPr>
                                  <m:t>𝑞</m:t>
                                </m:r>
                                <m:r>
                                  <a:rPr lang="en-US" i="1" dirty="0" smtClean="0">
                                    <a:latin typeface="Cambria Math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1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>
                              <a:solidFill>
                                <a:srgbClr val="00B0F0"/>
                              </a:solidFill>
                            </a:rPr>
                            <a:t>by the identity law for </a:t>
                          </a:r>
                          <a14:m>
                            <m:oMath xmlns:m="http://schemas.openxmlformats.org/officeDocument/2006/math">
                              <m:r>
                                <a:rPr lang="en-US" i="1" dirty="0" smtClean="0">
                                  <a:solidFill>
                                    <a:srgbClr val="00B0F0"/>
                                  </a:solidFill>
                                  <a:latin typeface="Cambria Math"/>
                                </a:rPr>
                                <m:t>𝐹</m:t>
                              </m:r>
                            </m:oMath>
                          </a14:m>
                          <a:endParaRPr lang="en-US" dirty="0" smtClean="0">
                            <a:solidFill>
                              <a:srgbClr val="00B0F0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67006580"/>
                  </p:ext>
                </p:extLst>
              </p:nvPr>
            </p:nvGraphicFramePr>
            <p:xfrm>
              <a:off x="190246" y="3356992"/>
              <a:ext cx="8846250" cy="2595880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2087689"/>
                    <a:gridCol w="379730"/>
                    <a:gridCol w="2676271"/>
                    <a:gridCol w="3702560"/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t="-8197" r="-324561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≡</a:t>
                          </a:r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l="-92255" t="-8197" r="-138497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1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>
                              <a:solidFill>
                                <a:srgbClr val="00B0F0"/>
                              </a:solidFill>
                            </a:rPr>
                            <a:t>by the second De Morgan law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/>
                            <a:t>≡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l="-92255" t="-108197" r="-138497" b="-5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1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>
                              <a:solidFill>
                                <a:srgbClr val="00B0F0"/>
                              </a:solidFill>
                            </a:rPr>
                            <a:t>by the ﬁrst De Morgan law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/>
                            <a:t>≡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l="-92255" t="-208197" r="-138497" b="-4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1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>
                              <a:solidFill>
                                <a:srgbClr val="00B0F0"/>
                              </a:solidFill>
                            </a:rPr>
                            <a:t>by the double negation law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/>
                            <a:t>≡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l="-92255" t="-313333" r="-138497" b="-33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1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>
                              <a:solidFill>
                                <a:srgbClr val="00B0F0"/>
                              </a:solidFill>
                            </a:rPr>
                            <a:t>by the second distributive law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/>
                            <a:t>≡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l="-92255" t="-406557" r="-138497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l="-139044" t="-406557" r="-165" b="-224590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/>
                            <a:t>≡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l="-92255" t="-506557" r="-138497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1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>
                              <a:solidFill>
                                <a:srgbClr val="00B0F0"/>
                              </a:solidFill>
                            </a:rPr>
                            <a:t>by the commutative law of disjunction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/>
                            <a:t>≡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l="-92255" t="-606557" r="-138497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l="-139044" t="-606557" r="-165" b="-24590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7723772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GB" dirty="0"/>
              <a:t>Constructing New Logical Equivalences(Contd.)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GB" b="1" u="sng" dirty="0" smtClean="0"/>
                  <a:t>Example 3:</a:t>
                </a:r>
                <a:endParaRPr lang="en-US" b="1" u="sng" dirty="0" smtClean="0"/>
              </a:p>
              <a:p>
                <a:pPr lvl="1"/>
                <a:r>
                  <a:rPr lang="en-US" dirty="0" smtClean="0"/>
                  <a:t>Show that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(</m:t>
                    </m:r>
                    <m:r>
                      <a:rPr lang="en-US" i="1" dirty="0" smtClean="0">
                        <a:latin typeface="Cambria Math"/>
                      </a:rPr>
                      <m:t>𝑝</m:t>
                    </m:r>
                    <m:r>
                      <a:rPr lang="en-US" i="1" dirty="0" smtClean="0">
                        <a:latin typeface="Cambria Math"/>
                      </a:rPr>
                      <m:t> ∧ </m:t>
                    </m:r>
                    <m:r>
                      <a:rPr lang="en-US" i="1" dirty="0" smtClean="0">
                        <a:latin typeface="Cambria Math"/>
                      </a:rPr>
                      <m:t>𝑞</m:t>
                    </m:r>
                    <m:r>
                      <a:rPr lang="en-US" i="1" dirty="0" smtClean="0">
                        <a:latin typeface="Cambria Math"/>
                      </a:rPr>
                      <m:t>) → (</m:t>
                    </m:r>
                    <m:r>
                      <a:rPr lang="en-US" i="1" dirty="0" smtClean="0">
                        <a:latin typeface="Cambria Math"/>
                      </a:rPr>
                      <m:t>𝑝</m:t>
                    </m:r>
                    <m:r>
                      <a:rPr lang="en-US" i="1" dirty="0" smtClean="0">
                        <a:latin typeface="Cambria Math"/>
                      </a:rPr>
                      <m:t> ∨ </m:t>
                    </m:r>
                    <m:r>
                      <a:rPr lang="en-US" i="1" dirty="0" smtClean="0">
                        <a:latin typeface="Cambria Math"/>
                      </a:rPr>
                      <m:t>𝑞</m:t>
                    </m:r>
                    <m:r>
                      <a:rPr lang="en-US" i="1" dirty="0" smtClean="0">
                        <a:latin typeface="Cambria Math"/>
                      </a:rPr>
                      <m:t>) </m:t>
                    </m:r>
                  </m:oMath>
                </a14:m>
                <a:r>
                  <a:rPr lang="en-US" dirty="0"/>
                  <a:t>is a tautology</a:t>
                </a:r>
                <a:r>
                  <a:rPr lang="en-US" dirty="0" smtClean="0"/>
                  <a:t>.</a:t>
                </a:r>
              </a:p>
              <a:p>
                <a:endParaRPr lang="en-GB" sz="2000" dirty="0"/>
              </a:p>
              <a:p>
                <a:r>
                  <a:rPr lang="en-GB" b="1" u="sng" dirty="0" smtClean="0"/>
                  <a:t>Solution: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593" t="-9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36761953"/>
                  </p:ext>
                </p:extLst>
              </p:nvPr>
            </p:nvGraphicFramePr>
            <p:xfrm>
              <a:off x="167896" y="3021904"/>
              <a:ext cx="8868600" cy="3215640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2296223"/>
                    <a:gridCol w="379730"/>
                    <a:gridCol w="2505773"/>
                    <a:gridCol w="3686874"/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dirty="0" smtClean="0"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800" i="1" dirty="0" smtClean="0">
                                    <a:latin typeface="Cambria Math"/>
                                  </a:rPr>
                                  <m:t>𝑝</m:t>
                                </m:r>
                                <m:r>
                                  <a:rPr lang="en-US" sz="1800" i="1" dirty="0" smtClean="0">
                                    <a:latin typeface="Cambria Math"/>
                                  </a:rPr>
                                  <m:t> ∧ </m:t>
                                </m:r>
                                <m:r>
                                  <a:rPr lang="en-US" sz="1800" i="1" dirty="0" smtClean="0">
                                    <a:latin typeface="Cambria Math"/>
                                  </a:rPr>
                                  <m:t>𝑞</m:t>
                                </m:r>
                                <m:r>
                                  <a:rPr lang="en-US" sz="1800" i="1" dirty="0" smtClean="0">
                                    <a:latin typeface="Cambria Math"/>
                                  </a:rPr>
                                  <m:t>) → (</m:t>
                                </m:r>
                                <m:r>
                                  <a:rPr lang="en-US" sz="1800" i="1" dirty="0" smtClean="0">
                                    <a:latin typeface="Cambria Math"/>
                                  </a:rPr>
                                  <m:t>𝑝</m:t>
                                </m:r>
                                <m:r>
                                  <a:rPr lang="en-US" sz="1800" i="1" dirty="0" smtClean="0">
                                    <a:latin typeface="Cambria Math"/>
                                  </a:rPr>
                                  <m:t> ∨ </m:t>
                                </m:r>
                                <m:r>
                                  <a:rPr lang="en-US" sz="1800" i="1" dirty="0" smtClean="0">
                                    <a:latin typeface="Cambria Math"/>
                                  </a:rPr>
                                  <m:t>𝑞</m:t>
                                </m:r>
                                <m:r>
                                  <a:rPr lang="en-US" sz="1800" i="1" dirty="0" smtClean="0">
                                    <a:latin typeface="Cambria Math"/>
                                  </a:rPr>
                                  <m:t>) 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/>
                            <a:t>≡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1800" i="1" dirty="0" smtClean="0">
                                    <a:latin typeface="Cambria Math"/>
                                  </a:rPr>
                                  <m:t>¬(</m:t>
                                </m:r>
                                <m:r>
                                  <a:rPr lang="en-US" sz="1800" i="1" dirty="0" smtClean="0">
                                    <a:latin typeface="Cambria Math"/>
                                  </a:rPr>
                                  <m:t>𝑝</m:t>
                                </m:r>
                                <m:r>
                                  <a:rPr lang="en-US" sz="1800" i="1" dirty="0" smtClean="0">
                                    <a:latin typeface="Cambria Math"/>
                                  </a:rPr>
                                  <m:t> ∧ </m:t>
                                </m:r>
                                <m:r>
                                  <a:rPr lang="en-US" sz="1800" i="1" dirty="0" smtClean="0">
                                    <a:latin typeface="Cambria Math"/>
                                  </a:rPr>
                                  <m:t>𝑞</m:t>
                                </m:r>
                                <m:r>
                                  <a:rPr lang="en-US" sz="1800" i="1" dirty="0" smtClean="0">
                                    <a:latin typeface="Cambria Math"/>
                                  </a:rPr>
                                  <m:t>) ∨ (</m:t>
                                </m:r>
                                <m:r>
                                  <a:rPr lang="en-US" sz="1800" i="1" dirty="0" smtClean="0">
                                    <a:latin typeface="Cambria Math"/>
                                  </a:rPr>
                                  <m:t>𝑝</m:t>
                                </m:r>
                                <m:r>
                                  <a:rPr lang="en-US" sz="1800" i="1" dirty="0" smtClean="0">
                                    <a:latin typeface="Cambria Math"/>
                                  </a:rPr>
                                  <m:t> ∨ </m:t>
                                </m:r>
                                <m:r>
                                  <a:rPr lang="en-US" sz="1800" i="1" dirty="0" smtClean="0">
                                    <a:latin typeface="Cambria Math"/>
                                  </a:rPr>
                                  <m:t>𝑞</m:t>
                                </m:r>
                                <m:r>
                                  <a:rPr lang="en-US" sz="1800" i="1" dirty="0" smtClean="0"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800" dirty="0" smtClean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 smtClean="0">
                              <a:solidFill>
                                <a:srgbClr val="00B0F0"/>
                              </a:solidFill>
                            </a:rPr>
                            <a:t>by law of conditional</a:t>
                          </a:r>
                          <a:endParaRPr lang="en-US" dirty="0">
                            <a:solidFill>
                              <a:srgbClr val="00B0F0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/>
                            <a:t>≡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dirty="0" smtClean="0">
                                    <a:latin typeface="Cambria Math"/>
                                  </a:rPr>
                                  <m:t>(¬</m:t>
                                </m:r>
                                <m:r>
                                  <a:rPr lang="en-US" sz="1800" i="1" dirty="0" smtClean="0">
                                    <a:latin typeface="Cambria Math"/>
                                  </a:rPr>
                                  <m:t>𝑝</m:t>
                                </m:r>
                                <m:r>
                                  <a:rPr lang="en-US" sz="1800" i="1" dirty="0" smtClean="0">
                                    <a:latin typeface="Cambria Math"/>
                                  </a:rPr>
                                  <m:t> ∨¬</m:t>
                                </m:r>
                                <m:r>
                                  <a:rPr lang="en-US" sz="1800" i="1" dirty="0" smtClean="0">
                                    <a:latin typeface="Cambria Math"/>
                                  </a:rPr>
                                  <m:t>𝑞</m:t>
                                </m:r>
                                <m:r>
                                  <a:rPr lang="en-US" sz="1800" i="1" dirty="0" smtClean="0">
                                    <a:latin typeface="Cambria Math"/>
                                  </a:rPr>
                                  <m:t>) ∨ (</m:t>
                                </m:r>
                                <m:r>
                                  <a:rPr lang="en-US" sz="1800" i="1" dirty="0" smtClean="0">
                                    <a:latin typeface="Cambria Math"/>
                                  </a:rPr>
                                  <m:t>𝑝</m:t>
                                </m:r>
                                <m:r>
                                  <a:rPr lang="en-US" sz="1800" i="1" dirty="0" smtClean="0">
                                    <a:latin typeface="Cambria Math"/>
                                  </a:rPr>
                                  <m:t> ∨ </m:t>
                                </m:r>
                                <m:r>
                                  <a:rPr lang="en-US" sz="1800" i="1" dirty="0" smtClean="0">
                                    <a:latin typeface="Cambria Math"/>
                                  </a:rPr>
                                  <m:t>𝑞</m:t>
                                </m:r>
                                <m:r>
                                  <a:rPr lang="en-US" sz="1800" i="1" dirty="0" smtClean="0">
                                    <a:latin typeface="Cambria Math"/>
                                  </a:rPr>
                                  <m:t>) 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 smtClean="0">
                              <a:solidFill>
                                <a:srgbClr val="00B0F0"/>
                              </a:solidFill>
                            </a:rPr>
                            <a:t>by the ﬁrst De Morgan law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/>
                            <a:t>≡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dirty="0" smtClean="0">
                                    <a:latin typeface="Cambria Math"/>
                                  </a:rPr>
                                  <m:t>(¬</m:t>
                                </m:r>
                                <m:r>
                                  <a:rPr lang="en-US" sz="1800" i="1" dirty="0" smtClean="0">
                                    <a:latin typeface="Cambria Math"/>
                                  </a:rPr>
                                  <m:t>𝑝</m:t>
                                </m:r>
                                <m:r>
                                  <a:rPr lang="en-US" sz="1800" i="1" dirty="0" smtClean="0">
                                    <a:latin typeface="Cambria Math"/>
                                  </a:rPr>
                                  <m:t> ∨ </m:t>
                                </m:r>
                                <m:r>
                                  <a:rPr lang="en-US" sz="1800" i="1" dirty="0" smtClean="0">
                                    <a:latin typeface="Cambria Math"/>
                                  </a:rPr>
                                  <m:t>𝑝</m:t>
                                </m:r>
                                <m:r>
                                  <a:rPr lang="en-US" sz="1800" i="1" dirty="0" smtClean="0">
                                    <a:latin typeface="Cambria Math"/>
                                  </a:rPr>
                                  <m:t>) ∨ (¬</m:t>
                                </m:r>
                                <m:r>
                                  <a:rPr lang="en-US" sz="1800" i="1" dirty="0" smtClean="0">
                                    <a:latin typeface="Cambria Math"/>
                                  </a:rPr>
                                  <m:t>𝑞</m:t>
                                </m:r>
                                <m:r>
                                  <a:rPr lang="en-US" sz="1800" i="1" dirty="0" smtClean="0">
                                    <a:latin typeface="Cambria Math"/>
                                  </a:rPr>
                                  <m:t> ∨ </m:t>
                                </m:r>
                                <m:r>
                                  <a:rPr lang="en-US" sz="1800" i="1" dirty="0" smtClean="0">
                                    <a:latin typeface="Cambria Math"/>
                                  </a:rPr>
                                  <m:t>𝑞</m:t>
                                </m:r>
                                <m:r>
                                  <a:rPr lang="en-US" sz="1800" i="1" dirty="0" smtClean="0"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800" dirty="0" smtClean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dirty="0" smtClean="0">
                              <a:solidFill>
                                <a:srgbClr val="00B0F0"/>
                              </a:solidFill>
                            </a:rPr>
                            <a:t>by the associative and commutative</a:t>
                          </a:r>
                        </a:p>
                        <a:p>
                          <a:r>
                            <a:rPr lang="en-US" sz="1800" dirty="0" smtClean="0">
                              <a:solidFill>
                                <a:srgbClr val="00B0F0"/>
                              </a:solidFill>
                            </a:rPr>
                            <a:t>laws of </a:t>
                          </a:r>
                          <a:r>
                            <a:rPr lang="en-US" sz="1800" dirty="0" smtClean="0">
                              <a:solidFill>
                                <a:srgbClr val="00B0F0"/>
                              </a:solidFill>
                            </a:rPr>
                            <a:t>disjunction (or simply</a:t>
                          </a:r>
                          <a:r>
                            <a:rPr lang="en-US" sz="1800" baseline="0" dirty="0" smtClean="0">
                              <a:solidFill>
                                <a:srgbClr val="00B0F0"/>
                              </a:solidFill>
                            </a:rPr>
                            <a:t> rearranging </a:t>
                          </a:r>
                          <a:r>
                            <a:rPr lang="en-US" sz="1800" baseline="0" smtClean="0">
                              <a:solidFill>
                                <a:srgbClr val="00B0F0"/>
                              </a:solidFill>
                            </a:rPr>
                            <a:t>the terms)</a:t>
                          </a:r>
                          <a:endParaRPr lang="en-US" sz="1800" dirty="0" smtClean="0">
                            <a:solidFill>
                              <a:srgbClr val="00B0F0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/>
                            <a:t>≡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 xmlns:m="http://schemas.openxmlformats.org/officeDocument/2006/math">
                              <m:r>
                                <a:rPr lang="en-US" i="1" dirty="0" smtClean="0">
                                  <a:latin typeface="Cambria Math"/>
                                </a:rPr>
                                <m:t>𝑇</m:t>
                              </m:r>
                              <m:r>
                                <a:rPr lang="en-US" i="1" dirty="0" smtClean="0">
                                  <a:latin typeface="Cambria Math"/>
                                </a:rPr>
                                <m:t> ∨ </m:t>
                              </m:r>
                              <m:r>
                                <a:rPr lang="en-US" i="1" dirty="0" smtClean="0">
                                  <a:latin typeface="Cambria Math"/>
                                </a:rPr>
                                <m:t>𝑇</m:t>
                              </m:r>
                            </m:oMath>
                          </a14:m>
                          <a:r>
                            <a:rPr lang="en-US" dirty="0" smtClean="0"/>
                            <a:t> </a:t>
                          </a:r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>
                              <a:solidFill>
                                <a:srgbClr val="00B0F0"/>
                              </a:solidFill>
                            </a:rPr>
                            <a:t>by negation law and the commutative</a:t>
                          </a:r>
                        </a:p>
                        <a:p>
                          <a:r>
                            <a:rPr lang="en-US" dirty="0" smtClean="0">
                              <a:solidFill>
                                <a:srgbClr val="00B0F0"/>
                              </a:solidFill>
                            </a:rPr>
                            <a:t>law of disjunction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/>
                            <a:t>≡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𝑇</m:t>
                                </m:r>
                              </m:oMath>
                            </m:oMathPara>
                          </a14:m>
                          <a:endParaRPr lang="en-US" dirty="0" smtClean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>
                              <a:solidFill>
                                <a:srgbClr val="00B0F0"/>
                              </a:solidFill>
                            </a:rPr>
                            <a:t>by the domination law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</a:tr>
                </a:tbl>
              </a:graphicData>
            </a:graphic>
          </p:graphicFrame>
        </mc:Choice>
        <mc:Fallback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36761953"/>
                  </p:ext>
                </p:extLst>
              </p:nvPr>
            </p:nvGraphicFramePr>
            <p:xfrm>
              <a:off x="167896" y="3021904"/>
              <a:ext cx="8868600" cy="3215640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2296223"/>
                    <a:gridCol w="379730"/>
                    <a:gridCol w="2505773"/>
                    <a:gridCol w="3686874"/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l="-266" t="-6557" r="-286968" b="-7901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/>
                            <a:t>≡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l="-107056" t="-6557" r="-147202" b="-7901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 smtClean="0">
                              <a:solidFill>
                                <a:srgbClr val="00B0F0"/>
                              </a:solidFill>
                            </a:rPr>
                            <a:t>by law of conditional</a:t>
                          </a:r>
                          <a:endParaRPr lang="en-US" dirty="0">
                            <a:solidFill>
                              <a:srgbClr val="00B0F0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/>
                            <a:t>≡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l="-107056" t="-106557" r="-147202" b="-6901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 smtClean="0">
                              <a:solidFill>
                                <a:srgbClr val="00B0F0"/>
                              </a:solidFill>
                            </a:rPr>
                            <a:t>by the ﬁrst De Morgan law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</a:tr>
                  <a:tr h="11887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/>
                            <a:t>≡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l="-107056" t="-64948" r="-147202" b="-1170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dirty="0" smtClean="0">
                              <a:solidFill>
                                <a:srgbClr val="00B0F0"/>
                              </a:solidFill>
                            </a:rPr>
                            <a:t>by the associative and commutative</a:t>
                          </a:r>
                        </a:p>
                        <a:p>
                          <a:r>
                            <a:rPr lang="en-US" sz="1800" dirty="0" smtClean="0">
                              <a:solidFill>
                                <a:srgbClr val="00B0F0"/>
                              </a:solidFill>
                            </a:rPr>
                            <a:t>laws of </a:t>
                          </a:r>
                          <a:r>
                            <a:rPr lang="en-US" sz="1800" dirty="0" smtClean="0">
                              <a:solidFill>
                                <a:srgbClr val="00B0F0"/>
                              </a:solidFill>
                            </a:rPr>
                            <a:t>disjunction (or simply</a:t>
                          </a:r>
                          <a:r>
                            <a:rPr lang="en-US" sz="1800" baseline="0" dirty="0" smtClean="0">
                              <a:solidFill>
                                <a:srgbClr val="00B0F0"/>
                              </a:solidFill>
                            </a:rPr>
                            <a:t> rearranging </a:t>
                          </a:r>
                          <a:r>
                            <a:rPr lang="en-US" sz="1800" baseline="0" smtClean="0">
                              <a:solidFill>
                                <a:srgbClr val="00B0F0"/>
                              </a:solidFill>
                            </a:rPr>
                            <a:t>the terms)</a:t>
                          </a:r>
                          <a:endParaRPr lang="en-US" sz="1800" dirty="0" smtClean="0">
                            <a:solidFill>
                              <a:srgbClr val="00B0F0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</a:tr>
                  <a:tr h="9144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/>
                            <a:t>≡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l="-107056" t="-213333" r="-147202" b="-51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>
                              <a:solidFill>
                                <a:srgbClr val="00B0F0"/>
                              </a:solidFill>
                            </a:rPr>
                            <a:t>by negation law and the commutative</a:t>
                          </a:r>
                        </a:p>
                        <a:p>
                          <a:r>
                            <a:rPr lang="en-US" dirty="0" smtClean="0">
                              <a:solidFill>
                                <a:srgbClr val="00B0F0"/>
                              </a:solidFill>
                            </a:rPr>
                            <a:t>law of disjunction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/>
                            <a:t>≡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l="-107056" t="-770492" r="-147202" b="-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>
                              <a:solidFill>
                                <a:srgbClr val="00B0F0"/>
                              </a:solidFill>
                            </a:rPr>
                            <a:t>by the domination law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4324622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Propositional </a:t>
            </a:r>
            <a:r>
              <a:rPr lang="en-US" dirty="0" err="1" smtClean="0"/>
              <a:t>Satisfiability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en-US" sz="2800" dirty="0" smtClean="0"/>
                  <a:t>A compound </a:t>
                </a:r>
                <a:r>
                  <a:rPr lang="en-US" sz="2800" dirty="0"/>
                  <a:t>proposition is </a:t>
                </a:r>
                <a14:m>
                  <m:oMath xmlns:m="http://schemas.openxmlformats.org/officeDocument/2006/math">
                    <m:r>
                      <a:rPr lang="en-US" sz="2800" b="1" i="1" dirty="0" smtClean="0">
                        <a:solidFill>
                          <a:srgbClr val="00B0F0"/>
                        </a:solidFill>
                        <a:latin typeface="Cambria Math"/>
                      </a:rPr>
                      <m:t>𝒔𝒂𝒕𝒊𝒔</m:t>
                    </m:r>
                    <m:r>
                      <a:rPr lang="en-GB" sz="2800" b="1" i="1" dirty="0" smtClean="0">
                        <a:solidFill>
                          <a:srgbClr val="00B0F0"/>
                        </a:solidFill>
                        <a:latin typeface="Cambria Math"/>
                      </a:rPr>
                      <m:t>𝒇𝒊</m:t>
                    </m:r>
                    <m:r>
                      <a:rPr lang="en-US" sz="2800" b="1" i="1" dirty="0" smtClean="0">
                        <a:solidFill>
                          <a:srgbClr val="00B0F0"/>
                        </a:solidFill>
                        <a:latin typeface="Cambria Math"/>
                      </a:rPr>
                      <m:t>𝒂𝒃𝒍𝒆</m:t>
                    </m:r>
                  </m:oMath>
                </a14:m>
                <a:r>
                  <a:rPr lang="en-US" sz="2800" dirty="0"/>
                  <a:t> if there is an assignment of truth values to its variables </a:t>
                </a:r>
                <a:r>
                  <a:rPr lang="en-US" sz="2800" dirty="0" smtClean="0"/>
                  <a:t>that makes </a:t>
                </a:r>
                <a:r>
                  <a:rPr lang="en-US" sz="2800" dirty="0"/>
                  <a:t>it </a:t>
                </a:r>
                <a14:m>
                  <m:oMath xmlns:m="http://schemas.openxmlformats.org/officeDocument/2006/math">
                    <m:r>
                      <a:rPr lang="en-US" sz="2800" b="1" i="1" dirty="0" smtClean="0">
                        <a:solidFill>
                          <a:srgbClr val="00B050"/>
                        </a:solidFill>
                        <a:latin typeface="Cambria Math"/>
                      </a:rPr>
                      <m:t>𝒕𝒓𝒖𝒆</m:t>
                    </m:r>
                  </m:oMath>
                </a14:m>
                <a:r>
                  <a:rPr lang="en-US" sz="2800" dirty="0"/>
                  <a:t>. </a:t>
                </a:r>
                <a:endParaRPr lang="en-US" sz="2800" dirty="0" smtClean="0"/>
              </a:p>
              <a:p>
                <a:r>
                  <a:rPr lang="en-US" sz="2800" dirty="0" smtClean="0"/>
                  <a:t>When </a:t>
                </a:r>
                <a:r>
                  <a:rPr lang="en-US" sz="2800" dirty="0"/>
                  <a:t>no such assignments exists, that is, when the compound proposition is </a:t>
                </a:r>
                <a14:m>
                  <m:oMath xmlns:m="http://schemas.openxmlformats.org/officeDocument/2006/math">
                    <m:r>
                      <a:rPr lang="en-US" sz="2800" b="1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𝒇𝒂𝒍𝒔𝒆</m:t>
                    </m:r>
                  </m:oMath>
                </a14:m>
                <a:r>
                  <a:rPr lang="en-US" sz="2800" dirty="0" smtClean="0"/>
                  <a:t> for </a:t>
                </a:r>
                <a:r>
                  <a:rPr lang="en-US" sz="2800" dirty="0"/>
                  <a:t>all assignments of truth values to its variables, the compound proposition is </a:t>
                </a:r>
                <a14:m>
                  <m:oMath xmlns:m="http://schemas.openxmlformats.org/officeDocument/2006/math">
                    <m:r>
                      <a:rPr lang="en-US" sz="2800" b="1" i="1" dirty="0" smtClean="0">
                        <a:solidFill>
                          <a:srgbClr val="00B0F0"/>
                        </a:solidFill>
                        <a:latin typeface="Cambria Math"/>
                      </a:rPr>
                      <m:t>𝒖𝒏𝒔𝒂𝒕𝒊𝒔</m:t>
                    </m:r>
                    <m:r>
                      <a:rPr lang="en-GB" sz="2800" b="1" i="1" dirty="0" smtClean="0">
                        <a:solidFill>
                          <a:srgbClr val="00B0F0"/>
                        </a:solidFill>
                        <a:latin typeface="Cambria Math"/>
                      </a:rPr>
                      <m:t>𝒇𝒊</m:t>
                    </m:r>
                    <m:r>
                      <a:rPr lang="en-US" sz="2800" b="1" i="1" dirty="0" smtClean="0">
                        <a:solidFill>
                          <a:srgbClr val="00B0F0"/>
                        </a:solidFill>
                        <a:latin typeface="Cambria Math"/>
                      </a:rPr>
                      <m:t>𝒂𝒃𝒍𝒆</m:t>
                    </m:r>
                  </m:oMath>
                </a14:m>
                <a:r>
                  <a:rPr lang="en-US" sz="2800" b="1" dirty="0"/>
                  <a:t>.</a:t>
                </a:r>
              </a:p>
              <a:p>
                <a:r>
                  <a:rPr lang="en-US" sz="2800" dirty="0" smtClean="0"/>
                  <a:t>To </a:t>
                </a:r>
                <a:r>
                  <a:rPr lang="en-US" sz="2800" dirty="0"/>
                  <a:t>show that a compound proposition is </a:t>
                </a:r>
                <a14:m>
                  <m:oMath xmlns:m="http://schemas.openxmlformats.org/officeDocument/2006/math">
                    <m:r>
                      <a:rPr lang="en-US" sz="2800" b="1" i="1" dirty="0" smtClean="0">
                        <a:solidFill>
                          <a:srgbClr val="00B0F0"/>
                        </a:solidFill>
                        <a:latin typeface="Cambria Math"/>
                      </a:rPr>
                      <m:t>𝒖𝒏𝒔𝒂𝒕𝒊</m:t>
                    </m:r>
                    <m:r>
                      <a:rPr lang="en-GB" sz="2800" b="1" i="1" dirty="0" smtClean="0">
                        <a:solidFill>
                          <a:srgbClr val="00B0F0"/>
                        </a:solidFill>
                        <a:latin typeface="Cambria Math"/>
                      </a:rPr>
                      <m:t>𝒇𝒊</m:t>
                    </m:r>
                    <m:r>
                      <a:rPr lang="en-US" sz="2800" b="1" i="1" dirty="0" smtClean="0">
                        <a:solidFill>
                          <a:srgbClr val="00B0F0"/>
                        </a:solidFill>
                        <a:latin typeface="Cambria Math"/>
                      </a:rPr>
                      <m:t>𝒂𝒃𝒍𝒆</m:t>
                    </m:r>
                  </m:oMath>
                </a14:m>
                <a:r>
                  <a:rPr lang="en-US" sz="2800" dirty="0"/>
                  <a:t>, we </a:t>
                </a:r>
                <a:r>
                  <a:rPr lang="en-US" sz="2800" dirty="0" smtClean="0"/>
                  <a:t>need to </a:t>
                </a:r>
                <a:r>
                  <a:rPr lang="en-US" sz="2800" dirty="0"/>
                  <a:t>show that every assignment of truth values to its variables makes it </a:t>
                </a:r>
                <a14:m>
                  <m:oMath xmlns:m="http://schemas.openxmlformats.org/officeDocument/2006/math">
                    <m:r>
                      <a:rPr lang="en-US" sz="2800" b="1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𝒇𝒂𝒍𝒔𝒆</m:t>
                    </m:r>
                  </m:oMath>
                </a14:m>
                <a:r>
                  <a:rPr lang="en-US" sz="2800" dirty="0"/>
                  <a:t>. </a:t>
                </a:r>
                <a:endParaRPr lang="en-US" sz="2800" dirty="0" smtClean="0"/>
              </a:p>
              <a:p>
                <a:r>
                  <a:rPr lang="en-GB" sz="2800" dirty="0" smtClean="0"/>
                  <a:t>We can logically reason with the values of each variable. But in our case, we will use the truth table.</a:t>
                </a:r>
                <a:endParaRPr lang="en-US" sz="28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593" t="-1852" r="-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936057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Propositional </a:t>
            </a:r>
            <a:r>
              <a:rPr lang="en-US" dirty="0" err="1" smtClean="0"/>
              <a:t>Satisfiability</a:t>
            </a:r>
            <a:r>
              <a:rPr lang="en-US" dirty="0" smtClean="0"/>
              <a:t>(Contd.)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GB" b="1" u="sng" dirty="0" smtClean="0"/>
                  <a:t>Example 1:</a:t>
                </a:r>
                <a:endParaRPr lang="en-US" b="1" u="sng" dirty="0" smtClean="0"/>
              </a:p>
              <a:p>
                <a:pPr lvl="1"/>
                <a:r>
                  <a:rPr lang="en-US" dirty="0" smtClean="0"/>
                  <a:t>Determine the </a:t>
                </a:r>
                <a:r>
                  <a:rPr lang="en-US" dirty="0" err="1" smtClean="0"/>
                  <a:t>satisfiability</a:t>
                </a:r>
                <a:r>
                  <a:rPr lang="en-US" dirty="0" smtClean="0"/>
                  <a:t> of the compound proposition</a:t>
                </a:r>
              </a:p>
              <a:p>
                <a:pPr lvl="2"/>
                <a14:m>
                  <m:oMath xmlns:m="http://schemas.openxmlformats.org/officeDocument/2006/math">
                    <m:d>
                      <m:dPr>
                        <m:ctrlPr>
                          <a:rPr lang="en-US" i="1" dirty="0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/>
                          </a:rPr>
                          <m:t>𝑝</m:t>
                        </m:r>
                        <m:r>
                          <a:rPr lang="en-US" i="1" dirty="0">
                            <a:latin typeface="Cambria Math"/>
                          </a:rPr>
                          <m:t> ∨¬</m:t>
                        </m:r>
                        <m:r>
                          <a:rPr lang="en-US" i="1" dirty="0">
                            <a:latin typeface="Cambria Math"/>
                          </a:rPr>
                          <m:t>𝑞</m:t>
                        </m:r>
                      </m:e>
                    </m:d>
                    <m:r>
                      <a:rPr lang="en-US" i="1" dirty="0">
                        <a:latin typeface="Cambria Math"/>
                      </a:rPr>
                      <m:t>∧ </m:t>
                    </m:r>
                    <m:d>
                      <m:dPr>
                        <m:ctrlPr>
                          <a:rPr lang="en-US" i="1" dirty="0">
                            <a:latin typeface="Cambria Math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/>
                          </a:rPr>
                          <m:t>𝑞</m:t>
                        </m:r>
                        <m:r>
                          <a:rPr lang="en-US" i="1" dirty="0">
                            <a:latin typeface="Cambria Math"/>
                          </a:rPr>
                          <m:t> ∨¬</m:t>
                        </m:r>
                        <m:r>
                          <a:rPr lang="en-US" i="1" dirty="0">
                            <a:latin typeface="Cambria Math"/>
                          </a:rPr>
                          <m:t>𝑟</m:t>
                        </m:r>
                      </m:e>
                    </m:d>
                    <m:r>
                      <a:rPr lang="en-US" i="1" dirty="0" smtClean="0">
                        <a:latin typeface="Cambria Math"/>
                      </a:rPr>
                      <m:t>∧</m:t>
                    </m:r>
                    <m:d>
                      <m:dPr>
                        <m:ctrlPr>
                          <a:rPr lang="en-US" i="1" dirty="0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/>
                          </a:rPr>
                          <m:t>𝑟</m:t>
                        </m:r>
                        <m:r>
                          <a:rPr lang="en-US" i="1" dirty="0">
                            <a:latin typeface="Cambria Math"/>
                          </a:rPr>
                          <m:t> ∨¬</m:t>
                        </m:r>
                        <m:r>
                          <a:rPr lang="en-US" i="1" dirty="0">
                            <a:latin typeface="Cambria Math"/>
                          </a:rPr>
                          <m:t>𝑝</m:t>
                        </m:r>
                      </m:e>
                    </m:d>
                  </m:oMath>
                </a14:m>
                <a:endParaRPr lang="en-GB" dirty="0" smtClean="0"/>
              </a:p>
              <a:p>
                <a:pPr marL="0" indent="0">
                  <a:buNone/>
                </a:pPr>
                <a:endParaRPr lang="en-US" dirty="0" smtClean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1259" t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971808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Propositional </a:t>
            </a:r>
            <a:r>
              <a:rPr lang="en-US" dirty="0" err="1"/>
              <a:t>Satisfiability</a:t>
            </a:r>
            <a:r>
              <a:rPr lang="en-US" dirty="0"/>
              <a:t>(Contd.)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GB" b="1" u="sng" dirty="0"/>
                  <a:t>Solution:</a:t>
                </a:r>
              </a:p>
              <a:p>
                <a:pPr marL="548640" lvl="2">
                  <a:spcBef>
                    <a:spcPts val="600"/>
                  </a:spcBef>
                  <a:buClr>
                    <a:schemeClr val="accent1"/>
                  </a:buClr>
                </a:pPr>
                <a:r>
                  <a:rPr lang="en-GB" dirty="0" smtClean="0"/>
                  <a:t>Let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/>
                      </a:rPr>
                      <m:t>𝑠</m:t>
                    </m:r>
                    <m:r>
                      <a:rPr lang="en-GB" i="1">
                        <a:latin typeface="Cambria Math"/>
                      </a:rPr>
                      <m:t>=</m:t>
                    </m:r>
                    <m:d>
                      <m:dPr>
                        <m:ctrlPr>
                          <a:rPr lang="en-US" i="1" dirty="0">
                            <a:latin typeface="Cambria Math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/>
                          </a:rPr>
                          <m:t>𝑝</m:t>
                        </m:r>
                        <m:r>
                          <a:rPr lang="en-US" i="1" dirty="0">
                            <a:latin typeface="Cambria Math"/>
                          </a:rPr>
                          <m:t> ∨¬</m:t>
                        </m:r>
                        <m:r>
                          <a:rPr lang="en-US" i="1" dirty="0">
                            <a:latin typeface="Cambria Math"/>
                          </a:rPr>
                          <m:t>𝑞</m:t>
                        </m:r>
                      </m:e>
                    </m:d>
                    <m:r>
                      <a:rPr lang="en-US" i="1" dirty="0">
                        <a:latin typeface="Cambria Math"/>
                      </a:rPr>
                      <m:t>∧ </m:t>
                    </m:r>
                    <m:d>
                      <m:dPr>
                        <m:ctrlPr>
                          <a:rPr lang="en-US" i="1" dirty="0">
                            <a:latin typeface="Cambria Math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/>
                          </a:rPr>
                          <m:t>𝑞</m:t>
                        </m:r>
                        <m:r>
                          <a:rPr lang="en-US" i="1" dirty="0">
                            <a:latin typeface="Cambria Math"/>
                          </a:rPr>
                          <m:t> ∨¬</m:t>
                        </m:r>
                        <m:r>
                          <a:rPr lang="en-US" i="1" dirty="0">
                            <a:latin typeface="Cambria Math"/>
                          </a:rPr>
                          <m:t>𝑟</m:t>
                        </m:r>
                      </m:e>
                    </m:d>
                    <m:r>
                      <a:rPr lang="en-US" i="1" dirty="0">
                        <a:latin typeface="Cambria Math"/>
                      </a:rPr>
                      <m:t>∧</m:t>
                    </m:r>
                    <m:d>
                      <m:dPr>
                        <m:ctrlPr>
                          <a:rPr lang="en-US" i="1" dirty="0">
                            <a:latin typeface="Cambria Math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/>
                          </a:rPr>
                          <m:t>𝑟</m:t>
                        </m:r>
                        <m:r>
                          <a:rPr lang="en-US" i="1" dirty="0">
                            <a:latin typeface="Cambria Math"/>
                          </a:rPr>
                          <m:t> ∨¬</m:t>
                        </m:r>
                        <m:r>
                          <a:rPr lang="en-US" i="1" dirty="0">
                            <a:latin typeface="Cambria Math"/>
                          </a:rPr>
                          <m:t>𝑝</m:t>
                        </m:r>
                      </m:e>
                    </m:d>
                  </m:oMath>
                </a14:m>
                <a:endParaRPr lang="en-GB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593" t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21446483"/>
                  </p:ext>
                </p:extLst>
              </p:nvPr>
            </p:nvGraphicFramePr>
            <p:xfrm>
              <a:off x="1547664" y="2348880"/>
              <a:ext cx="6048672" cy="3291840"/>
            </p:xfrm>
            <a:graphic>
              <a:graphicData uri="http://schemas.openxmlformats.org/drawingml/2006/table">
                <a:tbl>
                  <a:tblPr firstRow="1">
                    <a:tableStyleId>{ED083AE6-46FA-4A59-8FB0-9F97EB10719F}</a:tableStyleId>
                  </a:tblPr>
                  <a:tblGrid>
                    <a:gridCol w="313811"/>
                    <a:gridCol w="314607"/>
                    <a:gridCol w="299773"/>
                    <a:gridCol w="442800"/>
                    <a:gridCol w="442800"/>
                    <a:gridCol w="442800"/>
                    <a:gridCol w="1107611"/>
                    <a:gridCol w="1086179"/>
                    <a:gridCol w="1089752"/>
                    <a:gridCol w="508539"/>
                  </a:tblGrid>
                  <a:tr h="280031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dirty="0" smtClean="0">
                                    <a:latin typeface="Cambria Math"/>
                                  </a:rPr>
                                  <m:t>𝒑</m:t>
                                </m:r>
                              </m:oMath>
                            </m:oMathPara>
                          </a14:m>
                          <a:endParaRPr lang="en-US" b="1" dirty="0"/>
                        </a:p>
                      </a:txBody>
                      <a:tcP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dirty="0" smtClean="0">
                                    <a:latin typeface="Cambria Math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n-US" b="1" dirty="0"/>
                        </a:p>
                      </a:txBody>
                      <a:tcP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dirty="0" smtClean="0">
                                    <a:latin typeface="Cambria Math"/>
                                  </a:rPr>
                                  <m:t>𝒓</m:t>
                                </m:r>
                              </m:oMath>
                            </m:oMathPara>
                          </a14:m>
                          <a:endParaRPr lang="en-US" b="1" dirty="0"/>
                        </a:p>
                      </a:txBody>
                      <a:tcP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dirty="0" smtClean="0">
                                    <a:latin typeface="Cambria Math"/>
                                  </a:rPr>
                                  <m:t>¬</m:t>
                                </m:r>
                                <m:r>
                                  <a:rPr lang="en-US" b="1" i="1" dirty="0" smtClean="0">
                                    <a:latin typeface="Cambria Math"/>
                                  </a:rPr>
                                  <m:t>𝒑</m:t>
                                </m:r>
                              </m:oMath>
                            </m:oMathPara>
                          </a14:m>
                          <a:endParaRPr lang="en-US" b="1" dirty="0"/>
                        </a:p>
                      </a:txBody>
                      <a:tcP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dirty="0" smtClean="0">
                                    <a:latin typeface="Cambria Math"/>
                                  </a:rPr>
                                  <m:t>¬</m:t>
                                </m:r>
                                <m:r>
                                  <a:rPr lang="en-US" b="1" i="1" dirty="0" smtClean="0">
                                    <a:latin typeface="Cambria Math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n-US" b="1" dirty="0"/>
                        </a:p>
                      </a:txBody>
                      <a:tcP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dirty="0" smtClean="0">
                                    <a:latin typeface="Cambria Math"/>
                                  </a:rPr>
                                  <m:t>¬</m:t>
                                </m:r>
                                <m:r>
                                  <a:rPr lang="en-US" b="1" i="1" dirty="0" smtClean="0">
                                    <a:latin typeface="Cambria Math"/>
                                  </a:rPr>
                                  <m:t>𝒓</m:t>
                                </m:r>
                              </m:oMath>
                            </m:oMathPara>
                          </a14:m>
                          <a:endParaRPr lang="en-US" b="1" dirty="0"/>
                        </a:p>
                      </a:txBody>
                      <a:tcP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dirty="0" smtClean="0">
                                    <a:latin typeface="Cambria Math"/>
                                  </a:rPr>
                                  <m:t>𝒑</m:t>
                                </m:r>
                                <m:r>
                                  <a:rPr lang="en-US" b="1" i="1" dirty="0" smtClean="0">
                                    <a:latin typeface="Cambria Math"/>
                                  </a:rPr>
                                  <m:t> ∨¬</m:t>
                                </m:r>
                                <m:r>
                                  <a:rPr lang="en-US" b="1" i="1" dirty="0" smtClean="0">
                                    <a:latin typeface="Cambria Math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en-US" b="1" dirty="0"/>
                        </a:p>
                      </a:txBody>
                      <a:tcP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dirty="0" smtClean="0">
                                    <a:latin typeface="Cambria Math"/>
                                  </a:rPr>
                                  <m:t>𝒒</m:t>
                                </m:r>
                                <m:r>
                                  <a:rPr lang="en-US" b="1" i="1" dirty="0" smtClean="0">
                                    <a:latin typeface="Cambria Math"/>
                                  </a:rPr>
                                  <m:t> ∨¬</m:t>
                                </m:r>
                                <m:r>
                                  <a:rPr lang="en-US" b="1" i="1" dirty="0" smtClean="0">
                                    <a:latin typeface="Cambria Math"/>
                                  </a:rPr>
                                  <m:t>𝒓</m:t>
                                </m:r>
                              </m:oMath>
                            </m:oMathPara>
                          </a14:m>
                          <a:endParaRPr lang="en-US" b="1" dirty="0"/>
                        </a:p>
                      </a:txBody>
                      <a:tcP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dirty="0" smtClean="0">
                                    <a:latin typeface="Cambria Math"/>
                                  </a:rPr>
                                  <m:t>𝒓</m:t>
                                </m:r>
                                <m:r>
                                  <a:rPr lang="en-US" b="1" i="1" dirty="0" smtClean="0">
                                    <a:latin typeface="Cambria Math"/>
                                  </a:rPr>
                                  <m:t> ∨¬</m:t>
                                </m:r>
                                <m:r>
                                  <a:rPr lang="en-US" b="1" i="1" dirty="0" smtClean="0">
                                    <a:latin typeface="Cambria Math"/>
                                  </a:rPr>
                                  <m:t>𝒑</m:t>
                                </m:r>
                              </m:oMath>
                            </m:oMathPara>
                          </a14:m>
                          <a:endParaRPr lang="en-US" b="1" dirty="0"/>
                        </a:p>
                      </a:txBody>
                      <a:tcP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smtClean="0">
                                    <a:latin typeface="Cambria Math"/>
                                  </a:rPr>
                                  <m:t>𝒔</m:t>
                                </m:r>
                              </m:oMath>
                            </m:oMathPara>
                          </a14:m>
                          <a:endParaRPr lang="en-US" b="1" dirty="0"/>
                        </a:p>
                      </a:txBody>
                      <a:tcP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</a:tr>
                  <a:tr h="28003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F</a:t>
                          </a:r>
                          <a:endParaRPr lang="en-US" dirty="0"/>
                        </a:p>
                      </a:txBody>
                      <a:tcPr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F</a:t>
                          </a:r>
                          <a:endParaRPr lang="en-US" dirty="0"/>
                        </a:p>
                      </a:txBody>
                      <a:tcPr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F</a:t>
                          </a:r>
                          <a:endParaRPr lang="en-US" dirty="0"/>
                        </a:p>
                      </a:txBody>
                      <a:tcPr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T</a:t>
                          </a:r>
                          <a:endParaRPr lang="en-US" dirty="0"/>
                        </a:p>
                      </a:txBody>
                      <a:tcPr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T</a:t>
                          </a:r>
                          <a:endParaRPr lang="en-US" dirty="0"/>
                        </a:p>
                      </a:txBody>
                      <a:tcPr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T</a:t>
                          </a:r>
                          <a:endParaRPr lang="en-US" dirty="0"/>
                        </a:p>
                      </a:txBody>
                      <a:tcPr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T</a:t>
                          </a:r>
                          <a:endParaRPr lang="en-US" dirty="0"/>
                        </a:p>
                      </a:txBody>
                      <a:tcPr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T</a:t>
                          </a:r>
                          <a:endParaRPr lang="en-US" dirty="0"/>
                        </a:p>
                      </a:txBody>
                      <a:tcPr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T</a:t>
                          </a:r>
                          <a:endParaRPr lang="en-US" dirty="0"/>
                        </a:p>
                      </a:txBody>
                      <a:tcPr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T</a:t>
                          </a:r>
                          <a:endParaRPr lang="en-US" dirty="0"/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</a:tr>
                  <a:tr h="28003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F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F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T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T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T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F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T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F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T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F</a:t>
                          </a:r>
                          <a:endParaRPr lang="en-US" dirty="0"/>
                        </a:p>
                      </a:txBody>
                      <a:tcPr/>
                    </a:tc>
                  </a:tr>
                  <a:tr h="28003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F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T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F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T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F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T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F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T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T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F</a:t>
                          </a:r>
                          <a:endParaRPr lang="en-US" dirty="0"/>
                        </a:p>
                      </a:txBody>
                      <a:tcPr/>
                    </a:tc>
                  </a:tr>
                  <a:tr h="28003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F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T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T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T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F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F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F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T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T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F</a:t>
                          </a:r>
                          <a:endParaRPr lang="en-US" dirty="0"/>
                        </a:p>
                      </a:txBody>
                      <a:tcPr/>
                    </a:tc>
                  </a:tr>
                  <a:tr h="28003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T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F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F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F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T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T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T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T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F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F</a:t>
                          </a:r>
                          <a:endParaRPr lang="en-US" dirty="0"/>
                        </a:p>
                      </a:txBody>
                      <a:tcPr/>
                    </a:tc>
                  </a:tr>
                  <a:tr h="28003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T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F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T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F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T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F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T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F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T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F</a:t>
                          </a:r>
                          <a:endParaRPr lang="en-US" dirty="0"/>
                        </a:p>
                      </a:txBody>
                      <a:tcPr/>
                    </a:tc>
                  </a:tr>
                  <a:tr h="28003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T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T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F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F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F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T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T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T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F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F</a:t>
                          </a:r>
                          <a:endParaRPr lang="en-US" dirty="0"/>
                        </a:p>
                      </a:txBody>
                      <a:tcPr/>
                    </a:tc>
                  </a:tr>
                  <a:tr h="28003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T</a:t>
                          </a:r>
                          <a:endParaRPr lang="en-US" dirty="0"/>
                        </a:p>
                      </a:txBody>
                      <a:tcPr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T</a:t>
                          </a:r>
                          <a:endParaRPr lang="en-US" dirty="0"/>
                        </a:p>
                      </a:txBody>
                      <a:tcPr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T</a:t>
                          </a:r>
                          <a:endParaRPr lang="en-US" dirty="0"/>
                        </a:p>
                      </a:txBody>
                      <a:tcPr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F</a:t>
                          </a:r>
                          <a:endParaRPr lang="en-US" dirty="0"/>
                        </a:p>
                      </a:txBody>
                      <a:tcPr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F</a:t>
                          </a:r>
                          <a:endParaRPr lang="en-US" dirty="0"/>
                        </a:p>
                      </a:txBody>
                      <a:tcPr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F</a:t>
                          </a:r>
                          <a:endParaRPr lang="en-US" dirty="0"/>
                        </a:p>
                      </a:txBody>
                      <a:tcPr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T</a:t>
                          </a:r>
                          <a:endParaRPr lang="en-US" dirty="0"/>
                        </a:p>
                      </a:txBody>
                      <a:tcPr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T</a:t>
                          </a:r>
                          <a:endParaRPr lang="en-US" dirty="0"/>
                        </a:p>
                      </a:txBody>
                      <a:tcPr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T</a:t>
                          </a:r>
                          <a:endParaRPr lang="en-US" dirty="0"/>
                        </a:p>
                      </a:txBody>
                      <a:tcPr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T</a:t>
                          </a:r>
                          <a:endParaRPr lang="en-US" dirty="0"/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21446483"/>
                  </p:ext>
                </p:extLst>
              </p:nvPr>
            </p:nvGraphicFramePr>
            <p:xfrm>
              <a:off x="1547664" y="2348880"/>
              <a:ext cx="6048672" cy="3291840"/>
            </p:xfrm>
            <a:graphic>
              <a:graphicData uri="http://schemas.openxmlformats.org/drawingml/2006/table">
                <a:tbl>
                  <a:tblPr firstRow="1">
                    <a:tableStyleId>{ED083AE6-46FA-4A59-8FB0-9F97EB10719F}</a:tableStyleId>
                  </a:tblPr>
                  <a:tblGrid>
                    <a:gridCol w="313811"/>
                    <a:gridCol w="314607"/>
                    <a:gridCol w="299773"/>
                    <a:gridCol w="442800"/>
                    <a:gridCol w="442800"/>
                    <a:gridCol w="442800"/>
                    <a:gridCol w="1107611"/>
                    <a:gridCol w="1086179"/>
                    <a:gridCol w="1089752"/>
                    <a:gridCol w="508539"/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1961" t="-8333" r="-1847059" b="-8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100000" t="-8333" r="-1711538" b="-8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212245" t="-8333" r="-1716327" b="-8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209589" t="-8333" r="-1052055" b="-8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313889" t="-8333" r="-966667" b="-8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408219" t="-8333" r="-853425" b="-8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203846" t="-8333" r="-242308" b="-8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310674" t="-8333" r="-147753" b="-8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408380" t="-8333" r="-46927" b="-8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1096386" t="-8333" r="-1205" b="-826667"/>
                          </a:stretch>
                        </a:blipFill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F</a:t>
                          </a:r>
                          <a:endParaRPr lang="en-US" dirty="0"/>
                        </a:p>
                      </a:txBody>
                      <a:tcPr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F</a:t>
                          </a:r>
                          <a:endParaRPr lang="en-US" dirty="0"/>
                        </a:p>
                      </a:txBody>
                      <a:tcPr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F</a:t>
                          </a:r>
                          <a:endParaRPr lang="en-US" dirty="0"/>
                        </a:p>
                      </a:txBody>
                      <a:tcPr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T</a:t>
                          </a:r>
                          <a:endParaRPr lang="en-US" dirty="0"/>
                        </a:p>
                      </a:txBody>
                      <a:tcPr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T</a:t>
                          </a:r>
                          <a:endParaRPr lang="en-US" dirty="0"/>
                        </a:p>
                      </a:txBody>
                      <a:tcPr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T</a:t>
                          </a:r>
                          <a:endParaRPr lang="en-US" dirty="0"/>
                        </a:p>
                      </a:txBody>
                      <a:tcPr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T</a:t>
                          </a:r>
                          <a:endParaRPr lang="en-US" dirty="0"/>
                        </a:p>
                      </a:txBody>
                      <a:tcPr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T</a:t>
                          </a:r>
                          <a:endParaRPr lang="en-US" dirty="0"/>
                        </a:p>
                      </a:txBody>
                      <a:tcPr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T</a:t>
                          </a:r>
                          <a:endParaRPr lang="en-US" dirty="0"/>
                        </a:p>
                      </a:txBody>
                      <a:tcPr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T</a:t>
                          </a:r>
                          <a:endParaRPr lang="en-US" dirty="0"/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F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F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T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T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T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F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T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F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T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F</a:t>
                          </a:r>
                          <a:endParaRPr lang="en-US" dirty="0"/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F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T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F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T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F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T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F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T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T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F</a:t>
                          </a:r>
                          <a:endParaRPr lang="en-US" dirty="0"/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F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T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T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T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F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F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F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T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T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F</a:t>
                          </a:r>
                          <a:endParaRPr lang="en-US" dirty="0"/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T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F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F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F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T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T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T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T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F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F</a:t>
                          </a:r>
                          <a:endParaRPr lang="en-US" dirty="0"/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T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F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T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F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T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F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T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F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T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F</a:t>
                          </a:r>
                          <a:endParaRPr lang="en-US" dirty="0"/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T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T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F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F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F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T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T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T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F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F</a:t>
                          </a:r>
                          <a:endParaRPr lang="en-US" dirty="0"/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T</a:t>
                          </a:r>
                          <a:endParaRPr lang="en-US" dirty="0"/>
                        </a:p>
                      </a:txBody>
                      <a:tcPr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T</a:t>
                          </a:r>
                          <a:endParaRPr lang="en-US" dirty="0"/>
                        </a:p>
                      </a:txBody>
                      <a:tcPr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T</a:t>
                          </a:r>
                          <a:endParaRPr lang="en-US" dirty="0"/>
                        </a:p>
                      </a:txBody>
                      <a:tcPr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F</a:t>
                          </a:r>
                          <a:endParaRPr lang="en-US" dirty="0"/>
                        </a:p>
                      </a:txBody>
                      <a:tcPr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F</a:t>
                          </a:r>
                          <a:endParaRPr lang="en-US" dirty="0"/>
                        </a:p>
                      </a:txBody>
                      <a:tcPr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F</a:t>
                          </a:r>
                          <a:endParaRPr lang="en-US" dirty="0"/>
                        </a:p>
                      </a:txBody>
                      <a:tcPr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T</a:t>
                          </a:r>
                          <a:endParaRPr lang="en-US" dirty="0"/>
                        </a:p>
                      </a:txBody>
                      <a:tcPr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T</a:t>
                          </a:r>
                          <a:endParaRPr lang="en-US" dirty="0"/>
                        </a:p>
                      </a:txBody>
                      <a:tcPr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T</a:t>
                          </a:r>
                          <a:endParaRPr lang="en-US" dirty="0"/>
                        </a:p>
                      </a:txBody>
                      <a:tcPr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smtClean="0"/>
                            <a:t>T</a:t>
                          </a:r>
                          <a:endParaRPr lang="en-US" dirty="0"/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1773020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Propositional </a:t>
            </a:r>
            <a:r>
              <a:rPr lang="en-US" dirty="0" err="1"/>
              <a:t>Satisfiability</a:t>
            </a:r>
            <a:r>
              <a:rPr lang="en-US" dirty="0"/>
              <a:t>(Contd.)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pPr marL="594360" lvl="2" indent="0">
                  <a:buNone/>
                </a:pPr>
                <a:r>
                  <a:rPr lang="en-GB" dirty="0" smtClean="0"/>
                  <a:t>Since </a:t>
                </a:r>
                <a:r>
                  <a:rPr lang="en-GB" dirty="0"/>
                  <a:t>there is at least one combination of input for the variables </a:t>
                </a:r>
                <a14:m>
                  <m:oMath xmlns:m="http://schemas.openxmlformats.org/officeDocument/2006/math">
                    <m:r>
                      <a:rPr lang="en-GB" b="1" i="1">
                        <a:latin typeface="Cambria Math"/>
                      </a:rPr>
                      <m:t>𝒑</m:t>
                    </m:r>
                    <m:r>
                      <a:rPr lang="en-GB" b="1" i="1">
                        <a:latin typeface="Cambria Math"/>
                      </a:rPr>
                      <m:t>,</m:t>
                    </m:r>
                    <m:r>
                      <a:rPr lang="en-GB" b="1" i="1">
                        <a:latin typeface="Cambria Math"/>
                      </a:rPr>
                      <m:t>𝒒</m:t>
                    </m:r>
                    <m:r>
                      <a:rPr lang="en-GB" b="1" i="1">
                        <a:latin typeface="Cambria Math"/>
                      </a:rPr>
                      <m:t>,</m:t>
                    </m:r>
                    <m:r>
                      <a:rPr lang="en-GB" b="1" i="1">
                        <a:latin typeface="Cambria Math"/>
                      </a:rPr>
                      <m:t>𝒓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of the compound proposition, which gives a true value for the compound proposition </a:t>
                </a:r>
                <a14:m>
                  <m:oMath xmlns:m="http://schemas.openxmlformats.org/officeDocument/2006/math">
                    <m:r>
                      <a:rPr lang="en-GB" b="1" i="1">
                        <a:latin typeface="Cambria Math"/>
                      </a:rPr>
                      <m:t>𝒔</m:t>
                    </m:r>
                    <m:r>
                      <a:rPr lang="en-GB" i="1">
                        <a:latin typeface="Cambria Math"/>
                      </a:rPr>
                      <m:t>, </m:t>
                    </m:r>
                  </m:oMath>
                </a14:m>
                <a:r>
                  <a:rPr lang="en-US" dirty="0"/>
                  <a:t>we can say that the </a:t>
                </a:r>
                <a14:m>
                  <m:oMath xmlns:m="http://schemas.openxmlformats.org/officeDocument/2006/math">
                    <m:r>
                      <a:rPr lang="en-GB" b="1" i="1">
                        <a:latin typeface="Cambria Math"/>
                      </a:rPr>
                      <m:t>𝒔</m:t>
                    </m:r>
                  </m:oMath>
                </a14:m>
                <a:r>
                  <a:rPr lang="en-US" dirty="0"/>
                  <a:t> is </a:t>
                </a:r>
                <a:r>
                  <a:rPr lang="en-US" dirty="0" err="1"/>
                  <a:t>satisfiable</a:t>
                </a:r>
                <a:r>
                  <a:rPr lang="en-US" dirty="0"/>
                  <a:t>.</a:t>
                </a:r>
              </a:p>
              <a:p>
                <a:pPr marL="594360" lvl="2" indent="0">
                  <a:buNone/>
                </a:pPr>
                <a:endParaRPr lang="en-GB" dirty="0" smtClean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t="-6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158184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Propositional </a:t>
            </a:r>
            <a:r>
              <a:rPr lang="en-US" dirty="0" err="1"/>
              <a:t>Satisfiability</a:t>
            </a:r>
            <a:r>
              <a:rPr lang="en-US" dirty="0"/>
              <a:t>(Contd.)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GB" b="1" u="sng" dirty="0" smtClean="0"/>
                  <a:t>Exercises:</a:t>
                </a:r>
                <a:endParaRPr lang="en-US" b="1" u="sng" dirty="0" smtClean="0"/>
              </a:p>
              <a:p>
                <a:pPr lvl="1"/>
                <a:r>
                  <a:rPr lang="en-US" dirty="0" smtClean="0"/>
                  <a:t>Determine the </a:t>
                </a:r>
                <a:r>
                  <a:rPr lang="en-US" dirty="0" err="1" smtClean="0"/>
                  <a:t>satisfiability</a:t>
                </a:r>
                <a:r>
                  <a:rPr lang="en-US" dirty="0" smtClean="0"/>
                  <a:t> of </a:t>
                </a:r>
                <a:r>
                  <a:rPr lang="en-US" dirty="0"/>
                  <a:t>each of the compound </a:t>
                </a:r>
                <a:r>
                  <a:rPr lang="en-US" dirty="0" smtClean="0"/>
                  <a:t>propositions</a:t>
                </a:r>
              </a:p>
              <a:p>
                <a:endParaRPr lang="en-US" dirty="0" smtClean="0"/>
              </a:p>
              <a:p>
                <a:pPr lvl="2"/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(</m:t>
                    </m:r>
                    <m:r>
                      <a:rPr lang="en-US" i="1" dirty="0" smtClean="0">
                        <a:latin typeface="Cambria Math"/>
                      </a:rPr>
                      <m:t>𝑝</m:t>
                    </m:r>
                    <m:r>
                      <a:rPr lang="en-US" i="1" dirty="0" smtClean="0">
                        <a:latin typeface="Cambria Math"/>
                      </a:rPr>
                      <m:t> ∨ </m:t>
                    </m:r>
                    <m:r>
                      <a:rPr lang="en-US" i="1" dirty="0">
                        <a:latin typeface="Cambria Math"/>
                      </a:rPr>
                      <m:t>𝑞</m:t>
                    </m:r>
                    <m:r>
                      <a:rPr lang="en-US" i="1" dirty="0">
                        <a:latin typeface="Cambria Math"/>
                      </a:rPr>
                      <m:t> ∨ </m:t>
                    </m:r>
                    <m:r>
                      <a:rPr lang="en-US" i="1" dirty="0">
                        <a:latin typeface="Cambria Math"/>
                      </a:rPr>
                      <m:t>𝑟</m:t>
                    </m:r>
                    <m:r>
                      <a:rPr lang="en-US" i="1" dirty="0">
                        <a:latin typeface="Cambria Math"/>
                      </a:rPr>
                      <m:t>) ∧ (¬</m:t>
                    </m:r>
                    <m:r>
                      <a:rPr lang="en-US" i="1" dirty="0">
                        <a:latin typeface="Cambria Math"/>
                      </a:rPr>
                      <m:t>𝑝</m:t>
                    </m:r>
                    <m:r>
                      <a:rPr lang="en-US" i="1" dirty="0">
                        <a:latin typeface="Cambria Math"/>
                      </a:rPr>
                      <m:t> ∨¬</m:t>
                    </m:r>
                    <m:r>
                      <a:rPr lang="en-US" i="1" dirty="0">
                        <a:latin typeface="Cambria Math"/>
                      </a:rPr>
                      <m:t>𝑞</m:t>
                    </m:r>
                    <m:r>
                      <a:rPr lang="en-US" i="1" dirty="0">
                        <a:latin typeface="Cambria Math"/>
                      </a:rPr>
                      <m:t> ∨¬</m:t>
                    </m:r>
                    <m:r>
                      <a:rPr lang="en-US" i="1" dirty="0" smtClean="0">
                        <a:latin typeface="Cambria Math"/>
                      </a:rPr>
                      <m:t>𝑟</m:t>
                    </m:r>
                    <m:r>
                      <a:rPr lang="en-US" i="1" dirty="0" smtClean="0">
                        <a:latin typeface="Cambria Math"/>
                      </a:rPr>
                      <m:t>)</m:t>
                    </m:r>
                  </m:oMath>
                </a14:m>
                <a:endParaRPr lang="en-US" dirty="0" smtClean="0"/>
              </a:p>
              <a:p>
                <a:pPr lvl="2"/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(</m:t>
                    </m:r>
                    <m:r>
                      <a:rPr lang="en-US" i="1" dirty="0" smtClean="0">
                        <a:latin typeface="Cambria Math"/>
                      </a:rPr>
                      <m:t>𝑝</m:t>
                    </m:r>
                    <m:r>
                      <a:rPr lang="en-US" i="1" dirty="0" smtClean="0">
                        <a:latin typeface="Cambria Math"/>
                      </a:rPr>
                      <m:t> ∨¬</m:t>
                    </m:r>
                    <m:r>
                      <a:rPr lang="en-US" i="1" dirty="0">
                        <a:latin typeface="Cambria Math"/>
                      </a:rPr>
                      <m:t>𝑞</m:t>
                    </m:r>
                    <m:r>
                      <a:rPr lang="en-US" i="1" dirty="0">
                        <a:latin typeface="Cambria Math"/>
                      </a:rPr>
                      <m:t>) ∧ (</m:t>
                    </m:r>
                    <m:r>
                      <a:rPr lang="en-US" i="1" dirty="0">
                        <a:latin typeface="Cambria Math"/>
                      </a:rPr>
                      <m:t>𝑞</m:t>
                    </m:r>
                    <m:r>
                      <a:rPr lang="en-US" i="1" dirty="0">
                        <a:latin typeface="Cambria Math"/>
                      </a:rPr>
                      <m:t> ∨¬</m:t>
                    </m:r>
                    <m:r>
                      <a:rPr lang="en-US" i="1" dirty="0">
                        <a:latin typeface="Cambria Math"/>
                      </a:rPr>
                      <m:t>𝑟</m:t>
                    </m:r>
                    <m:r>
                      <a:rPr lang="en-US" i="1" dirty="0">
                        <a:latin typeface="Cambria Math"/>
                      </a:rPr>
                      <m:t>) ∧ (</m:t>
                    </m:r>
                    <m:r>
                      <a:rPr lang="en-US" i="1" dirty="0">
                        <a:latin typeface="Cambria Math"/>
                      </a:rPr>
                      <m:t>𝑟</m:t>
                    </m:r>
                    <m:r>
                      <a:rPr lang="en-US" i="1" dirty="0">
                        <a:latin typeface="Cambria Math"/>
                      </a:rPr>
                      <m:t> ∨¬</m:t>
                    </m:r>
                    <m:r>
                      <a:rPr lang="en-US" i="1" dirty="0">
                        <a:latin typeface="Cambria Math"/>
                      </a:rPr>
                      <m:t>𝑝</m:t>
                    </m:r>
                    <m:r>
                      <a:rPr lang="en-US" i="1" dirty="0">
                        <a:latin typeface="Cambria Math"/>
                      </a:rPr>
                      <m:t>) ∧(</m:t>
                    </m:r>
                    <m:r>
                      <a:rPr lang="en-US" i="1" dirty="0">
                        <a:latin typeface="Cambria Math"/>
                      </a:rPr>
                      <m:t>𝑝</m:t>
                    </m:r>
                    <m:r>
                      <a:rPr lang="en-US" i="1" dirty="0">
                        <a:latin typeface="Cambria Math"/>
                      </a:rPr>
                      <m:t> ∨ </m:t>
                    </m:r>
                    <m:r>
                      <a:rPr lang="en-US" i="1" dirty="0">
                        <a:latin typeface="Cambria Math"/>
                      </a:rPr>
                      <m:t>𝑞</m:t>
                    </m:r>
                    <m:r>
                      <a:rPr lang="en-US" i="1" dirty="0">
                        <a:latin typeface="Cambria Math"/>
                      </a:rPr>
                      <m:t> ∨ </m:t>
                    </m:r>
                    <m:r>
                      <a:rPr lang="en-US" i="1" dirty="0">
                        <a:latin typeface="Cambria Math"/>
                      </a:rPr>
                      <m:t>𝑟</m:t>
                    </m:r>
                    <m:r>
                      <a:rPr lang="en-US" i="1" dirty="0">
                        <a:latin typeface="Cambria Math"/>
                      </a:rPr>
                      <m:t>) ∧ (¬</m:t>
                    </m:r>
                    <m:r>
                      <a:rPr lang="en-US" i="1" dirty="0">
                        <a:latin typeface="Cambria Math"/>
                      </a:rPr>
                      <m:t>𝑝</m:t>
                    </m:r>
                    <m:r>
                      <a:rPr lang="en-US" i="1" dirty="0">
                        <a:latin typeface="Cambria Math"/>
                      </a:rPr>
                      <m:t> ∨¬</m:t>
                    </m:r>
                    <m:r>
                      <a:rPr lang="en-US" i="1" dirty="0">
                        <a:latin typeface="Cambria Math"/>
                      </a:rPr>
                      <m:t>𝑞</m:t>
                    </m:r>
                    <m:r>
                      <a:rPr lang="en-US" i="1" dirty="0">
                        <a:latin typeface="Cambria Math"/>
                      </a:rPr>
                      <m:t> ∨¬</m:t>
                    </m:r>
                    <m:r>
                      <a:rPr lang="en-US" i="1" dirty="0">
                        <a:latin typeface="Cambria Math"/>
                      </a:rPr>
                      <m:t>𝑟</m:t>
                    </m:r>
                    <m:r>
                      <a:rPr lang="en-US" i="1" dirty="0" smtClean="0">
                        <a:latin typeface="Cambria Math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593" t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343766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46856" y="764704"/>
            <a:ext cx="8229600" cy="2808312"/>
          </a:xfrm>
        </p:spPr>
        <p:txBody>
          <a:bodyPr/>
          <a:lstStyle/>
          <a:p>
            <a:pPr algn="ctr"/>
            <a:r>
              <a:rPr lang="en-GB" dirty="0" smtClean="0"/>
              <a:t>THE END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341139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rigin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638</TotalTime>
  <Words>1442</Words>
  <Application>Microsoft Office PowerPoint</Application>
  <PresentationFormat>On-screen Show (4:3)</PresentationFormat>
  <Paragraphs>303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Origin</vt:lpstr>
      <vt:lpstr>Chapter 1  The Foundations : Logic and Proofs Kenneth H. Rosen 7th edition</vt:lpstr>
      <vt:lpstr>Tautology, Contradiction &amp; Contingency</vt:lpstr>
      <vt:lpstr>Tautology, Contradiction &amp; Contingency(Contd.)</vt:lpstr>
      <vt:lpstr>Logical Equivalences</vt:lpstr>
      <vt:lpstr>Logical Equivalences(Contd.)</vt:lpstr>
      <vt:lpstr>Logical Equivalences(Contd.)</vt:lpstr>
      <vt:lpstr>Logical Equivalence Rules</vt:lpstr>
      <vt:lpstr>Logical Equivalence Rules(Contd.)</vt:lpstr>
      <vt:lpstr>Constructing New Logical Equivalences</vt:lpstr>
      <vt:lpstr>Constructing New Logical Equivalences(Contd.)</vt:lpstr>
      <vt:lpstr>Constructing New Logical Equivalences(Contd.)</vt:lpstr>
      <vt:lpstr>Propositional Satisfiability</vt:lpstr>
      <vt:lpstr>Propositional Satisfiability(Contd.)</vt:lpstr>
      <vt:lpstr>Propositional Satisfiability(Contd.)</vt:lpstr>
      <vt:lpstr>Propositional Satisfiability(Contd.)</vt:lpstr>
      <vt:lpstr>Propositional Satisfiability(Contd.)</vt:lpstr>
      <vt:lpstr>THE END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  The Foundations : Logic and Proofs Kenneth H. Rosen 7th edition</dc:title>
  <dc:creator>Sunef</dc:creator>
  <cp:lastModifiedBy>Windows User</cp:lastModifiedBy>
  <cp:revision>24</cp:revision>
  <dcterms:created xsi:type="dcterms:W3CDTF">2018-07-10T18:12:29Z</dcterms:created>
  <dcterms:modified xsi:type="dcterms:W3CDTF">2019-07-02T01:24:48Z</dcterms:modified>
</cp:coreProperties>
</file>