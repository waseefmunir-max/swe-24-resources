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310" r:id="rId9"/>
    <p:sldId id="287" r:id="rId10"/>
    <p:sldId id="288" r:id="rId11"/>
    <p:sldId id="311" r:id="rId12"/>
    <p:sldId id="289" r:id="rId13"/>
    <p:sldId id="290" r:id="rId14"/>
    <p:sldId id="291" r:id="rId15"/>
    <p:sldId id="293" r:id="rId16"/>
    <p:sldId id="295" r:id="rId17"/>
    <p:sldId id="313" r:id="rId18"/>
    <p:sldId id="314" r:id="rId19"/>
    <p:sldId id="315" r:id="rId20"/>
    <p:sldId id="312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3[3.1]" id="{BCA1E553-9914-40C8-8BDE-FA02AD59CB75}">
          <p14:sldIdLst>
            <p14:sldId id="256"/>
          </p14:sldIdLst>
        </p14:section>
        <p14:section name="Algorithms" id="{1451C4DB-80BC-44EA-ADDF-F4E57A50E383}">
          <p14:sldIdLst>
            <p14:sldId id="281"/>
            <p14:sldId id="282"/>
          </p14:sldIdLst>
        </p14:section>
        <p14:section name="Searching Algorithms" id="{18B4B4B0-E4A1-4A64-849E-B1BE5DA3AE87}">
          <p14:sldIdLst>
            <p14:sldId id="283"/>
            <p14:sldId id="284"/>
            <p14:sldId id="285"/>
          </p14:sldIdLst>
        </p14:section>
        <p14:section name="Sorting Algorithms" id="{7C6FB180-EBAA-468D-9C6B-91A2D3D3291B}">
          <p14:sldIdLst>
            <p14:sldId id="286"/>
            <p14:sldId id="310"/>
            <p14:sldId id="287"/>
          </p14:sldIdLst>
        </p14:section>
        <p14:section name="Greedy Algorithms" id="{77FF77C6-2831-4EB9-9CEE-A55D8BB1F426}">
          <p14:sldIdLst>
            <p14:sldId id="288"/>
            <p14:sldId id="311"/>
            <p14:sldId id="289"/>
          </p14:sldIdLst>
        </p14:section>
        <p14:section name="Halting Problem" id="{6860406D-E5BF-4E07-B955-1263C55E4C49}">
          <p14:sldIdLst>
            <p14:sldId id="290"/>
            <p14:sldId id="291"/>
            <p14:sldId id="293"/>
            <p14:sldId id="295"/>
            <p14:sldId id="313"/>
            <p14:sldId id="314"/>
            <p14:sldId id="315"/>
            <p14:sldId id="312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/>
          </a:bodyPr>
          <a:lstStyle/>
          <a:p>
            <a:pPr algn="ctr"/>
            <a:r>
              <a:rPr lang="en-GB" b="1" u="sng" dirty="0"/>
              <a:t>Chapter 3</a:t>
            </a:r>
            <a:r>
              <a:rPr lang="en-GB" dirty="0"/>
              <a:t> </a:t>
            </a:r>
            <a:br>
              <a:rPr lang="en-GB" dirty="0"/>
            </a:br>
            <a:r>
              <a:rPr lang="en-US" b="1" dirty="0"/>
              <a:t>Algorithms</a:t>
            </a:r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/>
              <a:t>Section 3.1 : Algorithms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02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Algorithms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242021"/>
                    </a:solidFill>
                  </a:rPr>
                  <a:t>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242021"/>
                        </a:solidFill>
                        <a:latin typeface="Cambria Math" panose="02040503050406030204" pitchFamily="18" charset="0"/>
                      </a:rPr>
                      <m:t>𝑎𝑙𝑔𝑜𝑟𝑖𝑡h𝑚</m:t>
                    </m:r>
                  </m:oMath>
                </a14:m>
                <a:r>
                  <a:rPr lang="en-US" i="1" dirty="0">
                    <a:solidFill>
                      <a:srgbClr val="242021"/>
                    </a:solidFill>
                  </a:rPr>
                  <a:t> </a:t>
                </a:r>
                <a:r>
                  <a:rPr lang="en-US" dirty="0">
                    <a:solidFill>
                      <a:srgbClr val="242021"/>
                    </a:solidFill>
                  </a:rPr>
                  <a:t>is a finite sequence of precise instructions for performing a computation or for solving a problem.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𝑃𝑠𝑒𝑢𝑑𝑜𝑐𝑜𝑑𝑒𝑠</m:t>
                    </m:r>
                  </m:oMath>
                </a14:m>
                <a:r>
                  <a:rPr lang="en-US" dirty="0"/>
                  <a:t> are used to generalize any algorithm across different programming languages.</a:t>
                </a:r>
              </a:p>
              <a:p>
                <a:pPr lvl="1"/>
                <a:r>
                  <a:rPr lang="en-US" dirty="0"/>
                  <a:t>Provides an intermediate step between an English language description of an algorithm and an implementation of this algorithm in a programming language.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4">
            <a:extLst>
              <a:ext uri="{FF2B5EF4-FFF2-40B4-BE49-F238E27FC236}">
                <a16:creationId xmlns:a16="http://schemas.microsoft.com/office/drawing/2014/main" id="{522E4C56-BC29-4FCC-80C4-C4CBBAF7A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59032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6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Properties of Algorithms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𝑰𝒏𝒑𝒖𝒕</m:t>
                    </m:r>
                    <m:r>
                      <a:rPr lang="en-US" b="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An algorithm has input values from a specified set. 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𝑶𝒖𝒕𝒑𝒖𝒕</m:t>
                    </m:r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From each set of input values an algorithm produces output values from a specified set. The output values are the solutions to the problem.</a:t>
                </a:r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𝑫𝒆𝒇𝒊𝒏𝒊𝒕𝒆𝒏𝒆𝒔𝒔</m:t>
                    </m:r>
                    <m:r>
                      <a:rPr lang="en-US" b="1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The steps of an algorithm must be defined precisely.</a:t>
                </a:r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𝑭𝒊𝒏𝒊𝒕𝒆𝒏𝒆𝒔𝒔</m:t>
                    </m:r>
                    <m:r>
                      <a:rPr lang="en-US" b="1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An algorithm should produce the desired output after a finite (but perhaps large) number of steps for any input in the set.</a:t>
                </a:r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𝑬𝒇𝒇𝒆𝒄𝒕𝒊𝒗𝒆𝒏𝒆𝒔𝒔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It must be possible to perform each step of an algorithm exactly and in a finite amount of time.</a:t>
                </a:r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𝑮𝒆𝒏𝒆𝒓𝒂𝒍𝒊𝒕𝒚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The procedure should be applicable for all problems of the desired form, not just for a particular set of input values.</a:t>
                </a:r>
                <a:r>
                  <a:rPr lang="en-US" sz="2400" dirty="0"/>
                  <a:t> </a:t>
                </a:r>
                <a:br>
                  <a:rPr lang="en-US" sz="2400" dirty="0"/>
                </a:br>
                <a:endParaRPr lang="en-US" sz="2300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>
                <a:blip r:embed="rId2"/>
                <a:stretch>
                  <a:fillRect l="-519" t="-2469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0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Searching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>
            <a:normAutofit/>
          </a:bodyPr>
          <a:lstStyle/>
          <a:p>
            <a:r>
              <a:rPr lang="en-US" dirty="0"/>
              <a:t>The task of locating an element in an ordered list in different contexts are called </a:t>
            </a:r>
            <a:r>
              <a:rPr lang="en-US" b="1" dirty="0"/>
              <a:t>searching problems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For instance, a program that checks the spelling of words searches for them in a dictionary, which is just an ordered list of words. </a:t>
            </a:r>
          </a:p>
          <a:p>
            <a:r>
              <a:rPr lang="en-US" dirty="0"/>
              <a:t>Searching Algorithms:</a:t>
            </a:r>
          </a:p>
          <a:p>
            <a:pPr lvl="1"/>
            <a:r>
              <a:rPr lang="en-US" dirty="0"/>
              <a:t>Linear Search</a:t>
            </a:r>
          </a:p>
          <a:p>
            <a:pPr lvl="1"/>
            <a:r>
              <a:rPr lang="en-US" dirty="0"/>
              <a:t>Binary Search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6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Searching Algorithms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Linear Search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INPUT</a:t>
            </a:r>
            <a:r>
              <a:rPr lang="en-GB" dirty="0"/>
              <a:t>: An ordered list of elements.</a:t>
            </a:r>
          </a:p>
          <a:p>
            <a:pPr lvl="1"/>
            <a:r>
              <a:rPr lang="en-GB" dirty="0">
                <a:solidFill>
                  <a:srgbClr val="00B050"/>
                </a:solidFill>
              </a:rPr>
              <a:t>OUTPUT</a:t>
            </a:r>
            <a:r>
              <a:rPr lang="en-GB" dirty="0"/>
              <a:t>: Index of the desired element in the list (if found).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B4F2B-0754-4DBC-8673-334F7163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2819400"/>
            <a:ext cx="755437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6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Searching Algorithms (Contd.)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Binary Search: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INPUT:</a:t>
            </a:r>
            <a:r>
              <a:rPr lang="en-US" dirty="0"/>
              <a:t> A list of elements sorted in Ascending order.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/>
              <a:t>: </a:t>
            </a:r>
            <a:r>
              <a:rPr lang="en-GB" dirty="0"/>
              <a:t>Index of the desired element in the list (if found).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1E542-BE5E-4300-AA3F-E0147A22A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" y="2819400"/>
            <a:ext cx="7535327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2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 Sorting Algorithms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task of ordering elements from an unordered list, in ascending or descending order.</a:t>
                </a:r>
              </a:p>
              <a:p>
                <a:pPr lvl="1"/>
                <a:r>
                  <a:rPr lang="en-US" dirty="0"/>
                  <a:t>For instance, sorting in ascending order, the list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7, 2, 1, 4, 5, 9 </m:t>
                    </m:r>
                  </m:oMath>
                </a14:m>
                <a:r>
                  <a:rPr lang="en-US" dirty="0"/>
                  <a:t>produces the list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1, 2, 4, 5, 7, 9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list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(using alphabetical order) produces the list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Sorting Algorithms:</a:t>
                </a:r>
              </a:p>
              <a:p>
                <a:pPr lvl="1"/>
                <a:r>
                  <a:rPr lang="en-GB" dirty="0"/>
                  <a:t>Bubble Sort</a:t>
                </a:r>
              </a:p>
              <a:p>
                <a:pPr lvl="1"/>
                <a:r>
                  <a:rPr lang="en-GB" dirty="0"/>
                  <a:t>Insertion Sort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  <a:blipFill>
                <a:blip r:embed="rId2"/>
                <a:stretch>
                  <a:fillRect l="-648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5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Sorting Algorithms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305800" cy="49377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Bubble Sort:</a:t>
                </a:r>
              </a:p>
              <a:p>
                <a:pPr lvl="1"/>
                <a:r>
                  <a:rPr lang="en-US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: An unsorted list of elements.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 A sorted list of elements in ascending(or descending) order.</a:t>
                </a:r>
              </a:p>
              <a:p>
                <a:pPr lvl="1"/>
                <a:r>
                  <a:rPr lang="en-US" dirty="0"/>
                  <a:t>Smaller Elements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𝑏𝑢𝑏𝑏𝑙𝑒</m:t>
                    </m:r>
                  </m:oMath>
                </a14:m>
                <a:r>
                  <a:rPr lang="en-US" dirty="0"/>
                  <a:t>” to the top while the Larger Elements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𝑠𝑖𝑛𝑘</m:t>
                    </m:r>
                  </m:oMath>
                </a14:m>
                <a:r>
                  <a:rPr lang="en-US" dirty="0"/>
                  <a:t>” to the bottom.</a:t>
                </a:r>
              </a:p>
              <a:p>
                <a:pPr lvl="1"/>
                <a:r>
                  <a:rPr lang="en-US" dirty="0"/>
                  <a:t>Simplest but not the most efficient one.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305800" cy="4937760"/>
              </a:xfrm>
              <a:blipFill>
                <a:blip r:embed="rId2"/>
                <a:stretch>
                  <a:fillRect l="-660" t="-1111" r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23A5323-1053-47F4-BD20-DE9BE5F88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73" y="4343400"/>
            <a:ext cx="7544853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2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Sorting Algorithms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US" dirty="0"/>
              <a:t>Insertion Sort: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INPUT</a:t>
            </a:r>
            <a:r>
              <a:rPr lang="en-US" dirty="0"/>
              <a:t>: An unsorted list of elements.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/>
              <a:t>: A sorted list of elements in ascending(or descending) order.</a:t>
            </a:r>
          </a:p>
          <a:p>
            <a:pPr lvl="1"/>
            <a:r>
              <a:rPr lang="en-US" dirty="0"/>
              <a:t>Simple but usually not the most efficient one.</a:t>
            </a:r>
          </a:p>
          <a:p>
            <a:pPr marL="274320" lvl="1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344329-FA9F-478F-98F1-E01A0042FAE2}"/>
              </a:ext>
            </a:extLst>
          </p:cNvPr>
          <p:cNvGrpSpPr/>
          <p:nvPr/>
        </p:nvGrpSpPr>
        <p:grpSpPr>
          <a:xfrm>
            <a:off x="804336" y="3581400"/>
            <a:ext cx="7535327" cy="2749771"/>
            <a:chOff x="804336" y="3581400"/>
            <a:chExt cx="7535327" cy="27497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DCF0AF5-6E6F-4C3B-8D5E-0AAF2EB80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4336" y="3581400"/>
              <a:ext cx="7535327" cy="274977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535593-B68E-4C43-BBC0-475B8E0BC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3688080"/>
              <a:ext cx="1876687" cy="2524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739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Greedy Algorithms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Selects the best option instead of considering all possible options that may lead to an optimal solution.</a:t>
                </a:r>
              </a:p>
              <a:p>
                <a:r>
                  <a:rPr lang="en-US" b="0" dirty="0"/>
                  <a:t>Once known</a:t>
                </a:r>
                <a:r>
                  <a:rPr lang="en-US" dirty="0"/>
                  <a:t>, that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𝐺𝑟𝑒𝑒𝑑𝑦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𝐴𝑙𝑔𝑜𝑟𝑖𝑡h𝑚</m:t>
                    </m:r>
                  </m:oMath>
                </a14:m>
                <a:r>
                  <a:rPr lang="en-US" b="0" dirty="0"/>
                  <a:t> finds a feasible solution, it is necessary to determine optimality of the solution.</a:t>
                </a:r>
              </a:p>
              <a:p>
                <a:pPr marL="27432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30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Greedy Algorithms(Contd.)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Example 5: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Consider the problem of making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cents change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𝑞𝑢𝑎𝑟𝑡𝑒𝑟𝑠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𝑑𝑖𝑚𝑒𝑠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𝑛𝑖𝑐𝑘𝑒𝑙𝑠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𝑝𝑒𝑛𝑛𝑖𝑒𝑠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, and using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𝑙𝑒𝑎𝑠𝑡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coins.</a:t>
                </a:r>
              </a:p>
              <a:p>
                <a:r>
                  <a:rPr lang="en-US" dirty="0"/>
                  <a:t>Solution:	 </a:t>
                </a:r>
              </a:p>
              <a:p>
                <a:pPr marL="274320" lvl="1" indent="0">
                  <a:buNone/>
                </a:pPr>
                <a:r>
                  <a:rPr lang="en-US" dirty="0"/>
                  <a:t>We can devise a greedy algorithm for making change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cents by making a locally optimal choice at each step; that is, at each step we choose the coin of the largest denomination possible to add to the pile of change without exceeding </a:t>
                </a:r>
                <a:r>
                  <a:rPr lang="en-US" i="1" dirty="0"/>
                  <a:t>n </a:t>
                </a:r>
                <a:r>
                  <a:rPr lang="en-US" dirty="0"/>
                  <a:t>cents. </a:t>
                </a:r>
              </a:p>
              <a:p>
                <a:pPr lvl="1"/>
                <a:r>
                  <a:rPr lang="en-US" dirty="0"/>
                  <a:t>For example, to make change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67 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𝑐𝑒𝑛𝑡𝑠</m:t>
                    </m:r>
                  </m:oMath>
                </a14:m>
                <a:r>
                  <a:rPr lang="en-US" dirty="0"/>
                  <a:t>, we first select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𝑞𝑢𝑎𝑟𝑡𝑒𝑟</m:t>
                    </m:r>
                  </m:oMath>
                </a14:m>
                <a:r>
                  <a:rPr lang="en-US" dirty="0"/>
                  <a:t> (leaving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42 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𝑐𝑒𝑛𝑡𝑠</m:t>
                    </m:r>
                  </m:oMath>
                </a14:m>
                <a:r>
                  <a:rPr lang="en-US" dirty="0"/>
                  <a:t>). We next select a second quarter (leaving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𝑐𝑒𝑛𝑡𝑠</m:t>
                    </m:r>
                  </m:oMath>
                </a14:m>
                <a:r>
                  <a:rPr lang="en-US" dirty="0"/>
                  <a:t>), followed by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𝑑𝑖𝑚𝑒</m:t>
                    </m:r>
                  </m:oMath>
                </a14:m>
                <a:r>
                  <a:rPr lang="en-US" dirty="0"/>
                  <a:t> (leaving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𝑐𝑒𝑛𝑡𝑠</m:t>
                    </m:r>
                  </m:oMath>
                </a14:m>
                <a:r>
                  <a:rPr lang="en-US" dirty="0"/>
                  <a:t>), followed by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𝑛𝑖𝑐𝑘𝑒𝑙</m:t>
                    </m:r>
                  </m:oMath>
                </a14:m>
                <a:r>
                  <a:rPr lang="en-US" dirty="0"/>
                  <a:t> (leaving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𝑐𝑒𝑛𝑡𝑠</m:t>
                    </m:r>
                  </m:oMath>
                </a14:m>
                <a:r>
                  <a:rPr lang="en-US" dirty="0"/>
                  <a:t>), followed by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𝑝𝑒𝑛𝑛𝑦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(leaving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𝑐𝑒𝑛𝑡</m:t>
                    </m:r>
                  </m:oMath>
                </a14:m>
                <a:r>
                  <a:rPr lang="en-US" dirty="0"/>
                  <a:t>), followed by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1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𝑝𝑒𝑛𝑛𝑦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 r="-74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09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Greedy Algorithms(Contd.)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C22A13-4123-4BB6-B4AA-12298260A60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99573" y="1180750"/>
            <a:ext cx="7544853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7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The Halting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Problem Statement: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𝑝𝑟𝑜𝑐𝑒𝑑𝑢𝑟𝑒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𝑡𝑎𝑘𝑒𝑠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𝑐𝑜𝑚𝑝𝑢𝑡𝑒𝑟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𝑛𝑝𝑢𝑡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𝑑𝑒𝑡𝑒𝑟𝑚𝑖𝑛𝑒𝑠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𝑤h𝑒𝑡h𝑒𝑟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𝑤𝑖𝑙𝑙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𝑒𝑣𝑒𝑛𝑡𝑢𝑎𝑙𝑙𝑦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𝑠𝑡𝑜𝑝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𝑤h𝑒𝑛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𝑟𝑢𝑛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𝑡h𝑖𝑠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56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Discussion:</a:t>
                </a:r>
              </a:p>
              <a:p>
                <a:pPr lvl="1"/>
                <a:r>
                  <a:rPr lang="en-US" dirty="0"/>
                  <a:t>Consider a procedure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dirty="0"/>
                  <a:t> with the following:</a:t>
                </a:r>
              </a:p>
              <a:p>
                <a:pPr lvl="2"/>
                <a:r>
                  <a:rPr lang="en-US" b="0" dirty="0">
                    <a:solidFill>
                      <a:srgbClr val="00B0F0"/>
                    </a:solidFill>
                  </a:rPr>
                  <a:t>INPUT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𝑝𝑟𝑜𝑐𝑒𝑑𝑢𝑟𝑒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as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𝑖𝑛𝑝𝑢𝑡</m:t>
                    </m:r>
                  </m:oMath>
                </a14:m>
                <a:r>
                  <a:rPr lang="en-US" dirty="0"/>
                  <a:t> to the procedure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 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𝐻𝑎𝑙𝑡𝑠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𝐿𝑜𝑜𝑝𝑠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𝐹𝑜𝑟𝑒𝑣𝑒𝑟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𝑠𝑡𝑜𝑝𝑠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𝑤𝑖𝑡h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𝑖𝑛𝑝𝑢𝑡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POINT to be noted!!:</a:t>
                </a:r>
              </a:p>
              <a:p>
                <a:pPr lvl="2"/>
                <a:r>
                  <a:rPr lang="en-US" dirty="0"/>
                  <a:t>When a procedure is coded, it is expressed as a string of characters, which can be interpreted as a sequence of bits. Meaning, the procedure itself can be interpreted as an </a:t>
                </a:r>
                <a:r>
                  <a:rPr lang="en-US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.  Thus, it is safe to assume that,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can take the procedure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as both of its parameters,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 is possible.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19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Consider another procedure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 dirty="0"/>
                  <a:t>with the following:</a:t>
                </a:r>
              </a:p>
              <a:p>
                <a:pPr lvl="2"/>
                <a:r>
                  <a:rPr lang="en-US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: The output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 which is either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𝐻𝑎𝑙𝑡𝑠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𝐿𝑜𝑜𝑝𝑠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𝐹𝑜𝑟𝑒𝑣𝑒𝑟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>
                    <a:solidFill>
                      <a:srgbClr val="00B050"/>
                    </a:solidFill>
                  </a:rPr>
                  <a:t>OUTPUT</a:t>
                </a:r>
                <a:r>
                  <a:rPr lang="en-US" dirty="0"/>
                  <a:t>: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𝐻𝑎𝑙𝑡𝑠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𝐿𝑜𝑜𝑠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𝐹𝑜𝑟𝑒𝑣𝑒𝑟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𝑜𝑢𝑡𝑝𝑢𝑡𝑠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"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𝐿𝑜𝑜𝑝𝑠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𝐹𝑜𝑟𝑒𝑣𝑒𝑟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e>
                        </m:mr>
                        <m:m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𝑜𝑢𝑡𝑝𝑢𝑡𝑠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"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𝐻𝑎𝑙𝑡𝑠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"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594360" lvl="2" indent="0">
                  <a:buNone/>
                </a:pPr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 specifies the opposite of whatever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 gives as output.</a:t>
                </a:r>
              </a:p>
              <a:p>
                <a:r>
                  <a:rPr lang="en-US" dirty="0"/>
                  <a:t>With all these definitions in mind, let us now 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itself becomes the </a:t>
                </a:r>
                <a:r>
                  <a:rPr lang="en-US" dirty="0">
                    <a:solidFill>
                      <a:srgbClr val="00B0F0"/>
                    </a:solidFill>
                  </a:rPr>
                  <a:t>INPUT</a:t>
                </a:r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will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𝐻𝑎𝑙𝑡𝑠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𝐿𝑜𝑜𝑝𝑠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𝐹𝑜𝑟𝑒𝑣𝑒𝑟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>
                <a:blip r:embed="rId2"/>
                <a:stretch>
                  <a:fillRect l="-667" t="-111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13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So, for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to give an output, it first needs to know the output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𝑂𝑈𝑇𝑃𝑈𝑇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"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𝐻𝑎𝑙𝑡𝑠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𝑂𝑈𝑇𝑃𝑈𝑇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"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𝐿𝑜𝑜𝑝𝑠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𝐹𝑜𝑟𝑒𝑣𝑒𝑟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𝑂𝑈𝑇𝑃𝑈𝑇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"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𝐿𝑜𝑜𝑝𝑠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𝐹𝑜𝑟𝑒𝑣𝑒𝑟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𝑂𝑈𝑇𝑃𝑈𝑇</m:t>
                    </m:r>
                    <m:d>
                      <m:d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"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𝐻𝑎𝑙𝑡𝑠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D992C4-EA9C-4B65-A866-A02A0F3FF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035" y="3357134"/>
            <a:ext cx="268076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82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9C6E-530A-4B6A-BC65-FEE9B6B2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4C7E1-A974-4D8B-8589-B114ABCD43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We knew that was easy!!!!!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64B931-0B71-4BA6-B6E5-F90ADED62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025" y="2438400"/>
            <a:ext cx="3409950" cy="249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9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9C6E-530A-4B6A-BC65-FEE9B6B2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4C7E1-A974-4D8B-8589-B114ABCD43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Wait…….WHAT!!!!!?????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08AD5-976F-40DB-AED5-8D632EF2C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312" y="2266473"/>
            <a:ext cx="4143375" cy="284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26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2A49-FE97-4638-8A76-2407CAF4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B0582-D8FA-463E-991E-F6D3162DFE6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THIS IS NOT POSSIBLE!!!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cannot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𝐻𝑎𝑙𝑡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𝐿𝑜𝑜𝑝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𝐹𝑜𝑟𝑒𝑣𝑒𝑟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 AT THE SAME TIME!!!</a:t>
                </a:r>
              </a:p>
              <a:p>
                <a:r>
                  <a:rPr lang="en-US" dirty="0"/>
                  <a:t>Clearly this is a contradiction!!!</a:t>
                </a:r>
              </a:p>
              <a:p>
                <a:r>
                  <a:rPr lang="en-US" dirty="0"/>
                  <a:t>Thus, we can conclude,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𝑇h𝑒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𝐻𝑎𝑙𝑡𝑖𝑛𝑔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𝑃𝑟𝑜𝑏𝑙𝑒𝑚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𝑈𝑁𝑆𝑂𝐿𝑉𝐴𝐵𝐿𝐸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“</m:t>
                    </m:r>
                  </m:oMath>
                </a14:m>
                <a:r>
                  <a:rPr lang="en-US" dirty="0"/>
                  <a:t> – courtesy of Alan Turing.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B0582-D8FA-463E-991E-F6D3162DF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46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Halting Problem(Contd.)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B6E65-BD60-4FA5-B4A7-935A0ADBE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06" y="2333472"/>
            <a:ext cx="6544588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70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2485</TotalTime>
  <Words>994</Words>
  <Application>Microsoft Office PowerPoint</Application>
  <PresentationFormat>On-screen Show (4:3)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Bookman Old Style</vt:lpstr>
      <vt:lpstr>Cambria Math</vt:lpstr>
      <vt:lpstr>Gill Sans MT</vt:lpstr>
      <vt:lpstr>Wingdings</vt:lpstr>
      <vt:lpstr>Wingdings 3</vt:lpstr>
      <vt:lpstr>Origin</vt:lpstr>
      <vt:lpstr>Chapter 3  Algorithms</vt:lpstr>
      <vt:lpstr>Algorithms</vt:lpstr>
      <vt:lpstr>Properties of Algorithms</vt:lpstr>
      <vt:lpstr>Searching Algorithms</vt:lpstr>
      <vt:lpstr>Searching Algorithms (Contd.)</vt:lpstr>
      <vt:lpstr>Searching Algorithms (Contd.) </vt:lpstr>
      <vt:lpstr> Sorting Algorithms (Contd.) </vt:lpstr>
      <vt:lpstr>Sorting Algorithms (Contd.) </vt:lpstr>
      <vt:lpstr>Sorting Algorithms (Contd.)</vt:lpstr>
      <vt:lpstr>Greedy Algorithms</vt:lpstr>
      <vt:lpstr>Greedy Algorithms(Contd.)</vt:lpstr>
      <vt:lpstr>Greedy Algorithms(Contd.)</vt:lpstr>
      <vt:lpstr>The Halting Problem</vt:lpstr>
      <vt:lpstr>The Halting Problem(Contd.)</vt:lpstr>
      <vt:lpstr>The Halting Problem(Contd.)</vt:lpstr>
      <vt:lpstr>The Halting Problem(Contd.)</vt:lpstr>
      <vt:lpstr>The Halting Problem(Contd.)</vt:lpstr>
      <vt:lpstr>The Halting Problem(Contd.)</vt:lpstr>
      <vt:lpstr>The Halting Problem(Contd.)</vt:lpstr>
      <vt:lpstr>The Halting Problem(Contd.)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</dc:title>
  <dc:creator>Sunef</dc:creator>
  <cp:lastModifiedBy>ASUS</cp:lastModifiedBy>
  <cp:revision>87</cp:revision>
  <cp:lastPrinted>2020-10-25T20:17:08Z</cp:lastPrinted>
  <dcterms:created xsi:type="dcterms:W3CDTF">2006-08-16T00:00:00Z</dcterms:created>
  <dcterms:modified xsi:type="dcterms:W3CDTF">2020-11-02T17:38:09Z</dcterms:modified>
</cp:coreProperties>
</file>