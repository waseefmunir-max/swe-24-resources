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1" r:id="rId3"/>
    <p:sldId id="282" r:id="rId4"/>
    <p:sldId id="283" r:id="rId5"/>
    <p:sldId id="284" r:id="rId6"/>
    <p:sldId id="285" r:id="rId7"/>
    <p:sldId id="286" r:id="rId8"/>
    <p:sldId id="310" r:id="rId9"/>
    <p:sldId id="287" r:id="rId10"/>
    <p:sldId id="288" r:id="rId11"/>
    <p:sldId id="311" r:id="rId12"/>
    <p:sldId id="312" r:id="rId13"/>
    <p:sldId id="313" r:id="rId14"/>
    <p:sldId id="320" r:id="rId15"/>
    <p:sldId id="314" r:id="rId16"/>
    <p:sldId id="315" r:id="rId17"/>
    <p:sldId id="316" r:id="rId18"/>
    <p:sldId id="317" r:id="rId19"/>
    <p:sldId id="318" r:id="rId20"/>
    <p:sldId id="321" r:id="rId21"/>
    <p:sldId id="319" r:id="rId22"/>
    <p:sldId id="322" r:id="rId23"/>
    <p:sldId id="324" r:id="rId24"/>
    <p:sldId id="323" r:id="rId25"/>
    <p:sldId id="325" r:id="rId26"/>
    <p:sldId id="326" r:id="rId27"/>
    <p:sldId id="327" r:id="rId28"/>
    <p:sldId id="328" r:id="rId29"/>
    <p:sldId id="280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3[3.2]" id="{F41DDFA8-9EB7-483C-B51A-2C5885D431E8}">
          <p14:sldIdLst>
            <p14:sldId id="256"/>
          </p14:sldIdLst>
        </p14:section>
        <p14:section name="Introduction" id="{AB213BF0-7EAC-4F60-9243-BADC7A48CE68}">
          <p14:sldIdLst>
            <p14:sldId id="281"/>
          </p14:sldIdLst>
        </p14:section>
        <p14:section name="big-O Notation" id="{6CB925CD-2139-4E7E-A65B-B9E5070C9CA4}">
          <p14:sldIdLst>
            <p14:sldId id="282"/>
            <p14:sldId id="283"/>
            <p14:sldId id="284"/>
            <p14:sldId id="285"/>
            <p14:sldId id="286"/>
            <p14:sldId id="310"/>
            <p14:sldId id="287"/>
            <p14:sldId id="288"/>
            <p14:sldId id="311"/>
          </p14:sldIdLst>
        </p14:section>
        <p14:section name="big-O Estimates" id="{12F499D3-C43B-487B-A376-0D64482A9781}">
          <p14:sldIdLst>
            <p14:sldId id="312"/>
            <p14:sldId id="313"/>
            <p14:sldId id="320"/>
            <p14:sldId id="314"/>
            <p14:sldId id="315"/>
            <p14:sldId id="316"/>
          </p14:sldIdLst>
        </p14:section>
        <p14:section name="Growth of Combination of Functions" id="{BA9D5716-CF84-4A4D-A025-644F98DA4E22}">
          <p14:sldIdLst>
            <p14:sldId id="317"/>
            <p14:sldId id="318"/>
            <p14:sldId id="321"/>
            <p14:sldId id="319"/>
            <p14:sldId id="322"/>
            <p14:sldId id="324"/>
          </p14:sldIdLst>
        </p14:section>
        <p14:section name="Big-Omega and Big-Theta Notation" id="{58CB327A-C77A-40C4-91BD-98769665A07A}">
          <p14:sldIdLst>
            <p14:sldId id="323"/>
            <p14:sldId id="325"/>
            <p14:sldId id="326"/>
            <p14:sldId id="327"/>
            <p14:sldId id="328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40" d="100"/>
          <a:sy n="40" d="100"/>
        </p:scale>
        <p:origin x="1470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>
            <a:spLocks noGrp="1"/>
          </p:cNvSpPr>
          <p:nvPr>
            <p:ph type="ctrTitle"/>
          </p:nvPr>
        </p:nvSpPr>
        <p:spPr>
          <a:xfrm>
            <a:off x="1043608" y="3577208"/>
            <a:ext cx="7177608" cy="1375792"/>
          </a:xfrm>
        </p:spPr>
        <p:txBody>
          <a:bodyPr>
            <a:normAutofit/>
          </a:bodyPr>
          <a:lstStyle/>
          <a:p>
            <a:pPr algn="ctr"/>
            <a:r>
              <a:rPr lang="en-GB" b="1" u="sng" dirty="0"/>
              <a:t>Chapter 3</a:t>
            </a:r>
            <a:r>
              <a:rPr lang="en-GB" dirty="0"/>
              <a:t> </a:t>
            </a:r>
            <a:br>
              <a:rPr lang="en-GB" dirty="0"/>
            </a:br>
            <a:r>
              <a:rPr lang="en-US" b="1" dirty="0"/>
              <a:t>Algorithms</a:t>
            </a:r>
          </a:p>
        </p:txBody>
      </p:sp>
      <p:sp>
        <p:nvSpPr>
          <p:cNvPr id="7" name="Subtitle 4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>
            <a:normAutofit/>
          </a:bodyPr>
          <a:lstStyle/>
          <a:p>
            <a:r>
              <a:rPr lang="en-GB" dirty="0"/>
              <a:t>Section 3.2 :Growth of Functions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7022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Introduction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The time required to solve a problem depends on-</a:t>
                </a:r>
              </a:p>
              <a:p>
                <a:pPr lvl="1"/>
                <a:r>
                  <a:rPr lang="en-US" dirty="0"/>
                  <a:t>The number of operations it uses. </a:t>
                </a:r>
              </a:p>
              <a:p>
                <a:pPr lvl="1"/>
                <a:r>
                  <a:rPr lang="en-US" dirty="0"/>
                  <a:t>The hardware and software used to run the program that implements the algorithm. </a:t>
                </a:r>
              </a:p>
              <a:p>
                <a:r>
                  <a:rPr lang="en-US" dirty="0"/>
                  <a:t>However, with the change of the hardware and software used to implement an algorithm for a problem 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can be approximated by-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𝑇𝑖𝑚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𝑛𝑒𝑤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 = </m:t>
                    </m:r>
                    <m:r>
                      <a:rPr lang="en-US" i="1" dirty="0" err="1" smtClean="0">
                        <a:latin typeface="Cambria Math" panose="02040503050406030204" pitchFamily="18" charset="0"/>
                      </a:rPr>
                      <m:t>𝑇𝑖𝑚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𝑝𝑟𝑒𝑣𝑖𝑜𝑢𝑠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×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,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is a constant. </a:t>
                </a:r>
              </a:p>
              <a:p>
                <a:pPr lvl="1"/>
                <a:r>
                  <a:rPr lang="en-US" dirty="0"/>
                  <a:t>For example, on a supercomputer a problem of size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can be solved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𝑚𝑖𝑙𝑙𝑖𝑜𝑛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𝑡𝑖𝑚𝑒𝑠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faster than on a PC. </a:t>
                </a:r>
              </a:p>
              <a:p>
                <a:pPr lvl="1"/>
                <a:r>
                  <a:rPr lang="en-US" dirty="0"/>
                  <a:t>However, this factor of one million will not depend 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(except perhaps in some minor ways). </a:t>
                </a:r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1728" r="-1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7665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big-O Notation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big-O Notation:</a:t>
                </a:r>
              </a:p>
              <a:p>
                <a:pPr lvl="1"/>
                <a:r>
                  <a:rPr lang="en-US" dirty="0"/>
                  <a:t>Used to estimate the growth of a function.</a:t>
                </a:r>
              </a:p>
              <a:p>
                <a:pPr lvl="2"/>
                <a:r>
                  <a:rPr lang="en-US" dirty="0"/>
                  <a:t>i.e. To estimate the number of operations an algorithm uses</a:t>
                </a:r>
                <a:br>
                  <a:rPr lang="en-US" dirty="0"/>
                </a:br>
                <a:r>
                  <a:rPr lang="en-US" dirty="0"/>
                  <a:t>as its input grows.</a:t>
                </a:r>
              </a:p>
              <a:p>
                <a:pPr lvl="1"/>
                <a:r>
                  <a:rPr lang="en-US" dirty="0"/>
                  <a:t>Advantages-</a:t>
                </a:r>
              </a:p>
              <a:p>
                <a:pPr lvl="2"/>
                <a:r>
                  <a:rPr lang="en-US" dirty="0"/>
                  <a:t>Don’t have to worry about –</a:t>
                </a:r>
              </a:p>
              <a:p>
                <a:pPr lvl="3"/>
                <a:r>
                  <a:rPr lang="en-US" dirty="0"/>
                  <a:t>The Hardware and the Software used in the implementation.</a:t>
                </a:r>
              </a:p>
              <a:p>
                <a:pPr lvl="3"/>
                <a:r>
                  <a:rPr lang="en-US" b="0" dirty="0"/>
                  <a:t>Constant multiplie</a:t>
                </a:r>
                <a:r>
                  <a:rPr lang="en-US" dirty="0"/>
                  <a:t>rs or smaller order terms.</a:t>
                </a:r>
              </a:p>
              <a:p>
                <a:pPr lvl="2"/>
                <a:r>
                  <a:rPr lang="en-US" b="0" dirty="0"/>
                  <a:t>Can assume different operations in an algorithm take the same time and simplify analysis considerably.</a:t>
                </a:r>
              </a:p>
              <a:p>
                <a:pPr lvl="1"/>
                <a:r>
                  <a:rPr lang="en-US" b="0" dirty="0"/>
                  <a:t>Application-</a:t>
                </a:r>
              </a:p>
              <a:p>
                <a:pPr lvl="2"/>
                <a:r>
                  <a:rPr lang="en-US" dirty="0"/>
                  <a:t>Determine whether an algorithm is suitable for solving a particular problem as its input grows or not.</a:t>
                </a:r>
              </a:p>
              <a:p>
                <a:pPr lvl="2"/>
                <a:r>
                  <a:rPr lang="en-US" b="0" dirty="0"/>
                  <a:t>Compare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US" b="0" dirty="0"/>
                  <a:t> algorithms and determine the most efficient one with increasing inputs.</a:t>
                </a:r>
              </a:p>
              <a:p>
                <a:endParaRPr lang="en-US" sz="2300" b="0" dirty="0"/>
              </a:p>
              <a:p>
                <a:pPr lvl="1"/>
                <a:endParaRPr lang="en-US" b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1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609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big-O Notation 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458200" cy="4937760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Definition 1:</a:t>
                </a:r>
              </a:p>
              <a:p>
                <a:pPr lvl="1" algn="just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be functions from the set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𝑖𝑛𝑡𝑒𝑔𝑒𝑟𝑠</m:t>
                    </m:r>
                  </m:oMath>
                </a14:m>
                <a:r>
                  <a:rPr lang="en-US" dirty="0"/>
                  <a:t> or the set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𝑟𝑒𝑎𝑙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𝑛𝑢𝑚𝑏𝑒𝑟𝑠</m:t>
                    </m:r>
                  </m:oMath>
                </a14:m>
                <a:r>
                  <a:rPr lang="en-US" dirty="0"/>
                  <a:t> to the set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𝑟𝑒𝑎𝑙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𝑛𝑢𝑚𝑏𝑒𝑟𝑠</m:t>
                    </m:r>
                  </m:oMath>
                </a14:m>
                <a:r>
                  <a:rPr lang="en-US" dirty="0"/>
                  <a:t>. We say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[read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𝑏𝑖𝑔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𝑜h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"</m:t>
                    </m:r>
                  </m:oMath>
                </a14:m>
                <a:r>
                  <a:rPr lang="en-US" dirty="0"/>
                  <a:t>] if there are constants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such that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|"/>
                        <m:endChr m:val="|"/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, whenever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Intuitively, the definition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i="1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says that,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grows slower than some fixed multiple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solidFill>
                      <a:srgbClr val="00B050"/>
                    </a:solidFill>
                  </a:rPr>
                  <a:t> </a:t>
                </a:r>
                <a:r>
                  <a:rPr lang="en-US" dirty="0"/>
                  <a:t>as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grows without bound. </a:t>
                </a:r>
              </a:p>
              <a:p>
                <a:pPr lvl="1"/>
                <a:r>
                  <a:rPr lang="en-US" dirty="0"/>
                  <a:t>The constants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are called </a:t>
                </a:r>
                <a:r>
                  <a:rPr lang="en-US" b="1" dirty="0">
                    <a:solidFill>
                      <a:srgbClr val="0070C0"/>
                    </a:solidFill>
                  </a:rPr>
                  <a:t>witnesses</a:t>
                </a:r>
                <a:r>
                  <a:rPr lang="en-US" dirty="0"/>
                  <a:t> to the relation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 lvl="2"/>
                <a:r>
                  <a:rPr lang="en-US" dirty="0"/>
                  <a:t>We need to find only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𝑝𝑎𝑖𝑟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witnesses</a:t>
                </a:r>
                <a:r>
                  <a:rPr lang="en-US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such that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|"/>
                        <m:endChr m:val="|"/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, whenever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2"/>
                <a:r>
                  <a:rPr lang="en-US" dirty="0"/>
                  <a:t>If there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1 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𝑝𝑎𝑖𝑟</m:t>
                    </m:r>
                  </m:oMath>
                </a14:m>
                <a:r>
                  <a:rPr lang="en-US" dirty="0"/>
                  <a:t> of witnesses, then there are infinitely many pairs as well.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 are a pair of witnesses, then any pair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, is also a pair of witnesses as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|"/>
                        <m:endChr m:val="|"/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′</m:t>
                    </m:r>
                    <m:d>
                      <m:dPr>
                        <m:begChr m:val="|"/>
                        <m:endChr m:val="|"/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whenever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′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458200" cy="4937760"/>
              </a:xfrm>
              <a:blipFill>
                <a:blip r:embed="rId2"/>
                <a:stretch>
                  <a:fillRect l="-504" t="-2469" r="-7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0063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big-O Notation 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/>
                  <a:t> Finding witnesses-</a:t>
                </a:r>
              </a:p>
              <a:p>
                <a:pPr lvl="1"/>
                <a:r>
                  <a:rPr lang="en-GB" dirty="0"/>
                  <a:t>Firstly, select a value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GB" dirty="0"/>
                  <a:t> for which the size of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GB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GB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i="1" dirty="0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GB" dirty="0"/>
                  <a:t> can be readily estimated when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GB" i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.</a:t>
                </a:r>
              </a:p>
              <a:p>
                <a:pPr lvl="1"/>
                <a:r>
                  <a:rPr lang="en-GB" dirty="0"/>
                  <a:t>Secondly, use this estimate to find a value of </a:t>
                </a:r>
                <a14:m>
                  <m:oMath xmlns:m="http://schemas.openxmlformats.org/officeDocument/2006/math">
                    <m:r>
                      <a:rPr lang="en-GB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GB" dirty="0"/>
                  <a:t> for which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| ≤ </m:t>
                    </m:r>
                    <m:r>
                      <a:rPr lang="en-US" i="1" dirty="0" err="1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|"/>
                        <m:endChr m:val="|"/>
                        <m:ctrlPr>
                          <a:rPr lang="en-US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en-US" i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 </a:t>
                </a:r>
                <a:br>
                  <a:rPr lang="en-US" dirty="0"/>
                </a:b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662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big-O Notation 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Example 1:</a:t>
                </a:r>
              </a:p>
              <a:p>
                <a:pPr marL="274320" lvl="1" indent="0">
                  <a:buNone/>
                </a:pPr>
                <a:r>
                  <a:rPr lang="en-US" dirty="0"/>
                  <a:t>Show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r>
                  <a:rPr lang="en-US" dirty="0"/>
                  <a:t>Solution:</a:t>
                </a:r>
              </a:p>
              <a:p>
                <a:pPr marL="274320" lvl="1" indent="0">
                  <a:buNone/>
                </a:pPr>
                <a:r>
                  <a:rPr lang="en-US" dirty="0"/>
                  <a:t>We can readily estimate the size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&gt;1.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274320" lvl="1" indent="0">
                  <a:buNone/>
                </a:pPr>
                <a:r>
                  <a:rPr lang="en-US" dirty="0"/>
                  <a:t>Because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 then,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 Thus, i</a:t>
                </a:r>
                <a:r>
                  <a:rPr lang="en-US" b="0" dirty="0"/>
                  <a:t>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b="0" dirty="0"/>
                  <a:t> then,  </a:t>
                </a:r>
              </a:p>
              <a:p>
                <a:pPr marL="274320" lvl="1" indent="0">
                  <a:buNone/>
                </a:pPr>
                <a:endParaRPr lang="en-US" b="0" dirty="0"/>
              </a:p>
              <a:p>
                <a:pPr marL="274320" lvl="1" indent="0">
                  <a:buNone/>
                </a:pPr>
                <a:r>
                  <a:rPr lang="en-US" b="0" dirty="0"/>
                  <a:t>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0≤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+2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274320" lvl="1" indent="0">
                  <a:buNone/>
                </a:pPr>
                <a:r>
                  <a:rPr lang="en-US" dirty="0"/>
                  <a:t>	</a:t>
                </a:r>
              </a:p>
              <a:p>
                <a:pPr marL="274320" lvl="1" indent="0">
                  <a:buNone/>
                </a:pPr>
                <a:r>
                  <a:rPr lang="en-US" dirty="0"/>
                  <a:t>Consequently, we can take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as witnesses to show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+1)&lt;4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whenever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&gt;1.</m:t>
                    </m:r>
                  </m:oMath>
                </a14:m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But, can we find another pair of witnesses to this function?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852" b="-23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6527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big-O Notation 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pPr marL="274320" lvl="1" indent="0">
                  <a:buNone/>
                </a:pPr>
                <a:r>
                  <a:rPr lang="en-GB" dirty="0"/>
                  <a:t>Let’s estimate the size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dirty="0"/>
                  <a:t>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GB" dirty="0"/>
                  <a:t>.</a:t>
                </a:r>
              </a:p>
              <a:p>
                <a:pPr marL="274320" lvl="1" indent="0">
                  <a:buNone/>
                </a:pPr>
                <a:endParaRPr lang="en-GB" dirty="0"/>
              </a:p>
              <a:p>
                <a:pPr marL="274320" lvl="1" indent="0">
                  <a:buNone/>
                </a:pPr>
                <a:r>
                  <a:rPr lang="en-GB" dirty="0"/>
                  <a:t>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GB" dirty="0"/>
                  <a:t>,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. </a:t>
                </a:r>
                <a:r>
                  <a:rPr lang="en-US" dirty="0"/>
                  <a:t>Thus, if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US" dirty="0"/>
                  <a:t> then,  </a:t>
                </a:r>
              </a:p>
              <a:p>
                <a:pPr marL="274320" lvl="1" indent="0" algn="ctr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274320" lvl="1" indent="0" algn="ctr">
                  <a:buNone/>
                </a:pP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274320" lvl="1" indent="0">
                  <a:buNone/>
                </a:pPr>
                <a:r>
                  <a:rPr lang="en-GB" dirty="0"/>
                  <a:t>	</a:t>
                </a:r>
              </a:p>
              <a:p>
                <a:pPr marL="274320" lvl="1" indent="0">
                  <a:buNone/>
                </a:pPr>
                <a:r>
                  <a:rPr lang="en-US" dirty="0"/>
                  <a:t>Consequently, we can take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3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as witnesses to show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i.e.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+1)&lt;3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whenever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&gt;2.</m:t>
                    </m:r>
                  </m:oMath>
                </a14:m>
                <a:endParaRPr lang="en-US" dirty="0"/>
              </a:p>
              <a:p>
                <a:pPr marL="274320" lvl="1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t="-988" r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4505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big-O Notation 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Note :</a:t>
                </a:r>
              </a:p>
              <a:p>
                <a:pPr marL="274320" lvl="1" indent="0">
                  <a:buNone/>
                </a:pPr>
                <a:r>
                  <a:rPr lang="en-US" dirty="0"/>
                  <a:t>In Example 1, we have two functions, </a:t>
                </a:r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 and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b="0" dirty="0"/>
              </a:p>
              <a:p>
                <a:pPr marL="274320" lvl="1" indent="0">
                  <a:buNone/>
                </a:pPr>
                <a:r>
                  <a:rPr lang="en-US" dirty="0"/>
                  <a:t>Such that </a:t>
                </a:r>
                <a14:m>
                  <m:oMath xmlns:m="http://schemas.openxmlformats.org/officeDocument/2006/math">
                    <m:r>
                      <a:rPr lang="en-US" dirty="0" smtClean="0">
                        <a:ln>
                          <a:solidFill>
                            <a:srgbClr val="0070C0"/>
                          </a:solidFill>
                        </a:ln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i="1" dirty="0">
                        <a:ln>
                          <a:solidFill>
                            <a:srgbClr val="0070C0"/>
                          </a:solidFill>
                        </a:ln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ln>
                              <a:solidFill>
                                <a:srgbClr val="0070C0"/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n>
                              <a:solidFill>
                                <a:srgbClr val="0070C0"/>
                              </a:solidFill>
                            </a:ln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>
                    <a:ln>
                      <a:solidFill>
                        <a:srgbClr val="0070C0"/>
                      </a:solidFill>
                    </a:ln>
                  </a:rPr>
                  <a:t> is </a:t>
                </a:r>
                <a14:m>
                  <m:oMath xmlns:m="http://schemas.openxmlformats.org/officeDocument/2006/math">
                    <m:r>
                      <a:rPr lang="en-US" i="1" dirty="0">
                        <a:ln>
                          <a:solidFill>
                            <a:srgbClr val="0070C0"/>
                          </a:solidFill>
                        </a:ln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n>
                              <a:solidFill>
                                <a:srgbClr val="0070C0"/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n>
                              <a:solidFill>
                                <a:srgbClr val="0070C0"/>
                              </a:solidFill>
                            </a:ln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>
                                <a:ln>
                                  <a:solidFill>
                                    <a:srgbClr val="0070C0"/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n>
                                  <a:solidFill>
                                    <a:srgbClr val="0070C0"/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i="1" dirty="0">
                        <a:ln>
                          <a:solidFill>
                            <a:srgbClr val="0070C0"/>
                          </a:solidFill>
                        </a:ln>
                        <a:latin typeface="Cambria Math" panose="02040503050406030204" pitchFamily="18" charset="0"/>
                      </a:rPr>
                      <m:t>"</m:t>
                    </m:r>
                  </m:oMath>
                </a14:m>
                <a:r>
                  <a:rPr lang="en-US" i="1" dirty="0">
                    <a:ln>
                      <a:solidFill>
                        <a:srgbClr val="0070C0"/>
                      </a:solidFill>
                    </a:ln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n>
                          <a:solidFill>
                            <a:srgbClr val="00B050"/>
                          </a:solidFill>
                        </a:ln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i="1" dirty="0" smtClean="0">
                        <a:ln>
                          <a:solidFill>
                            <a:srgbClr val="00B050"/>
                          </a:solidFill>
                        </a:ln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dirty="0" smtClean="0">
                            <a:ln>
                              <a:solidFill>
                                <a:srgbClr val="00B050"/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n>
                              <a:solidFill>
                                <a:srgbClr val="00B050"/>
                              </a:solidFill>
                            </a:ln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i="1" dirty="0">
                    <a:ln>
                      <a:solidFill>
                        <a:srgbClr val="00B050"/>
                      </a:solidFill>
                    </a:ln>
                  </a:rPr>
                  <a:t> </a:t>
                </a:r>
                <a:r>
                  <a:rPr lang="en-US" dirty="0">
                    <a:ln>
                      <a:solidFill>
                        <a:srgbClr val="00B050"/>
                      </a:solidFill>
                    </a:ln>
                  </a:rPr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n>
                          <a:solidFill>
                            <a:srgbClr val="00B050"/>
                          </a:solidFill>
                        </a:ln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n>
                              <a:solidFill>
                                <a:srgbClr val="00B050"/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n>
                              <a:solidFill>
                                <a:srgbClr val="00B050"/>
                              </a:solidFill>
                            </a:ln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lang="en-US" i="1" dirty="0" smtClean="0">
                            <a:ln>
                              <a:solidFill>
                                <a:srgbClr val="00B050"/>
                              </a:solidFill>
                            </a:ln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 dirty="0" smtClean="0">
                                <a:ln>
                                  <a:solidFill>
                                    <a:srgbClr val="00B050"/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n>
                                  <a:solidFill>
                                    <a:srgbClr val="00B050"/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>
                    <a:ln>
                      <a:solidFill>
                        <a:srgbClr val="00B050"/>
                      </a:solidFill>
                    </a:ln>
                  </a:rPr>
                  <a:t>”</a:t>
                </a:r>
                <a:r>
                  <a:rPr lang="en-US" dirty="0"/>
                  <a:t>—the latter fact following from the inequality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n>
                              <a:solidFill>
                                <a:srgbClr val="00B050"/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n>
                              <a:solidFill>
                                <a:srgbClr val="00B050"/>
                              </a:solidFill>
                            </a:ln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n>
                              <a:solidFill>
                                <a:srgbClr val="00B050"/>
                              </a:solidFill>
                            </a:ln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n>
                          <a:solidFill>
                            <a:srgbClr val="00B050"/>
                          </a:solidFill>
                        </a:ln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dirty="0" smtClean="0">
                            <a:ln>
                              <a:solidFill>
                                <a:srgbClr val="00B050"/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n>
                              <a:solidFill>
                                <a:srgbClr val="00B050"/>
                              </a:solidFill>
                            </a:ln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n>
                              <a:solidFill>
                                <a:srgbClr val="00B050"/>
                              </a:solidFill>
                            </a:ln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n>
                          <a:solidFill>
                            <a:srgbClr val="00B050"/>
                          </a:solidFill>
                        </a:ln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i="1" dirty="0" smtClean="0">
                        <a:ln>
                          <a:solidFill>
                            <a:srgbClr val="00B050"/>
                          </a:solidFill>
                        </a:ln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n>
                          <a:solidFill>
                            <a:srgbClr val="00B050"/>
                          </a:solidFill>
                        </a:ln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n>
                          <a:solidFill>
                            <a:srgbClr val="00B050"/>
                          </a:solidFill>
                        </a:ln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dirty="0"/>
                  <a:t>, which holds for all nonnegative real numbers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274320" lvl="1" indent="0">
                  <a:buNone/>
                </a:pPr>
                <a:r>
                  <a:rPr lang="en-US" dirty="0"/>
                  <a:t>We say that two functions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that satisfy both of these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𝑏𝑖𝑔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relationships are of the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𝒔𝒂𝒎𝒆</m:t>
                    </m:r>
                    <m:r>
                      <a:rPr lang="en-US" b="1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dirty="0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𝒐𝒓𝒅𝒆𝒓</m:t>
                    </m:r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03920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big-O Notation 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763000" cy="493776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GB" dirty="0"/>
                  <a:t> Discussion:</a:t>
                </a:r>
              </a:p>
              <a:p>
                <a:pPr marL="274320" lvl="1" indent="0">
                  <a:buNone/>
                </a:pPr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n>
                          <a:solidFill>
                            <a:srgbClr val="00B0F0"/>
                          </a:solidFill>
                        </a:ln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n>
                              <a:solidFill>
                                <a:srgbClr val="00B0F0"/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n>
                              <a:solidFill>
                                <a:srgbClr val="00B0F0"/>
                              </a:solidFill>
                            </a:ln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i="1" dirty="0">
                    <a:ln>
                      <a:solidFill>
                        <a:srgbClr val="00B0F0"/>
                      </a:solidFill>
                    </a:ln>
                  </a:rPr>
                  <a:t> </a:t>
                </a:r>
                <a:r>
                  <a:rPr lang="en-US" dirty="0">
                    <a:ln>
                      <a:solidFill>
                        <a:srgbClr val="00B0F0"/>
                      </a:solidFill>
                    </a:ln>
                  </a:rPr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n>
                          <a:solidFill>
                            <a:srgbClr val="00B0F0"/>
                          </a:solidFill>
                        </a:ln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n>
                              <a:solidFill>
                                <a:srgbClr val="00B0F0"/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n>
                              <a:solidFill>
                                <a:srgbClr val="00B0F0"/>
                              </a:solidFill>
                            </a:ln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 smtClean="0">
                                <a:ln>
                                  <a:solidFill>
                                    <a:srgbClr val="00B0F0"/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n>
                                  <a:solidFill>
                                    <a:srgbClr val="00B0F0"/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h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a function that has larger absolute values than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does for sufficiently large values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, it follows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n>
                          <a:solidFill>
                            <a:srgbClr val="00B050"/>
                          </a:solidFill>
                        </a:ln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n>
                          <a:solidFill>
                            <a:srgbClr val="00B050"/>
                          </a:solidFill>
                        </a:ln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n>
                          <a:solidFill>
                            <a:srgbClr val="00B050"/>
                          </a:solidFill>
                        </a:ln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n>
                          <a:solidFill>
                            <a:srgbClr val="00B050"/>
                          </a:solidFill>
                        </a:ln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ln>
                      <a:solidFill>
                        <a:srgbClr val="00B050"/>
                      </a:solidFill>
                    </a:ln>
                  </a:rPr>
                  <a:t> </a:t>
                </a:r>
                <a:r>
                  <a:rPr lang="en-US" dirty="0">
                    <a:ln>
                      <a:solidFill>
                        <a:srgbClr val="00B050"/>
                      </a:solidFill>
                    </a:ln>
                  </a:rPr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n>
                          <a:solidFill>
                            <a:srgbClr val="00B050"/>
                          </a:solidFill>
                        </a:ln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n>
                              <a:solidFill>
                                <a:srgbClr val="00B050"/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n>
                              <a:solidFill>
                                <a:srgbClr val="00B050"/>
                              </a:solidFill>
                            </a:ln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i="1" dirty="0" smtClean="0">
                                <a:ln>
                                  <a:solidFill>
                                    <a:srgbClr val="00B050"/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n>
                                  <a:solidFill>
                                    <a:srgbClr val="00B050"/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 marL="274320" lvl="1" indent="0">
                  <a:buNone/>
                </a:pPr>
                <a:r>
                  <a:rPr lang="en-US" dirty="0"/>
                  <a:t>In other words, the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in the relationship </a:t>
                </a:r>
                <a14:m>
                  <m:oMath xmlns:m="http://schemas.openxmlformats.org/officeDocument/2006/math">
                    <m:r>
                      <a:rPr lang="en-US" i="1" dirty="0" smtClean="0">
                        <a:ln>
                          <a:solidFill>
                            <a:srgbClr val="00B0F0"/>
                          </a:solidFill>
                        </a:ln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n>
                              <a:solidFill>
                                <a:srgbClr val="00B0F0"/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n>
                              <a:solidFill>
                                <a:srgbClr val="00B0F0"/>
                              </a:solidFill>
                            </a:ln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i="1" dirty="0">
                    <a:ln>
                      <a:solidFill>
                        <a:srgbClr val="00B0F0"/>
                      </a:solidFill>
                    </a:ln>
                  </a:rPr>
                  <a:t> </a:t>
                </a:r>
                <a:r>
                  <a:rPr lang="en-US" dirty="0">
                    <a:ln>
                      <a:solidFill>
                        <a:srgbClr val="00B0F0"/>
                      </a:solidFill>
                    </a:ln>
                  </a:rPr>
                  <a:t>is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n>
                          <a:solidFill>
                            <a:srgbClr val="00B0F0"/>
                          </a:solidFill>
                        </a:ln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n>
                          <a:solidFill>
                            <a:srgbClr val="00B0F0"/>
                          </a:solidFill>
                        </a:ln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n>
                              <a:solidFill>
                                <a:srgbClr val="00B0F0"/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n>
                              <a:solidFill>
                                <a:srgbClr val="00B0F0"/>
                              </a:solidFill>
                            </a:ln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>
                                <a:ln>
                                  <a:solidFill>
                                    <a:srgbClr val="00B0F0"/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n>
                                  <a:solidFill>
                                    <a:srgbClr val="00B0F0"/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can be replaced by a function with larger absolute values. 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To see this, note that, </a:t>
                </a:r>
              </a:p>
              <a:p>
                <a:pPr marL="274320" lvl="1" indent="0">
                  <a:buNone/>
                </a:pPr>
                <a:r>
                  <a:rPr lang="en-US" dirty="0"/>
                  <a:t>if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(</m:t>
                    </m:r>
                    <m:d>
                      <m:dPr>
                        <m:begChr m:val="|"/>
                        <m:endChr m:val="|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|"/>
                        <m:endChr m:val="|"/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</m:t>
                    </m:r>
                    <m:d>
                      <m:dPr>
                        <m:begChr m:val="|"/>
                        <m:endChr m:val="|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then,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(</m:t>
                    </m:r>
                    <m:d>
                      <m:dPr>
                        <m:begChr m:val="|"/>
                        <m:endChr m:val="|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dirty="0" smtClean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|"/>
                        <m:endChr m:val="|"/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if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.</a:t>
                </a:r>
                <a:r>
                  <a:rPr lang="en-US" dirty="0"/>
                  <a:t> </a:t>
                </a:r>
                <a:br>
                  <a:rPr lang="en-US" dirty="0"/>
                </a:br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Hence, </a:t>
                </a:r>
                <a14:m>
                  <m:oMath xmlns:m="http://schemas.openxmlformats.org/officeDocument/2006/math">
                    <m:r>
                      <a:rPr lang="en-US" i="1" dirty="0">
                        <a:ln>
                          <a:solidFill>
                            <a:srgbClr val="00B050"/>
                          </a:solidFill>
                        </a:ln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n>
                          <a:solidFill>
                            <a:srgbClr val="00B050"/>
                          </a:solidFill>
                        </a:ln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n>
                          <a:solidFill>
                            <a:srgbClr val="00B050"/>
                          </a:solidFill>
                        </a:ln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n>
                          <a:solidFill>
                            <a:srgbClr val="00B050"/>
                          </a:solidFill>
                        </a:ln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>
                    <a:ln>
                      <a:solidFill>
                        <a:srgbClr val="00B050"/>
                      </a:solidFill>
                    </a:ln>
                  </a:rPr>
                  <a:t> </a:t>
                </a:r>
                <a:r>
                  <a:rPr lang="en-US" dirty="0">
                    <a:ln>
                      <a:solidFill>
                        <a:srgbClr val="00B050"/>
                      </a:solidFill>
                    </a:ln>
                  </a:rPr>
                  <a:t>is </a:t>
                </a:r>
                <a14:m>
                  <m:oMath xmlns:m="http://schemas.openxmlformats.org/officeDocument/2006/math">
                    <m:r>
                      <a:rPr lang="en-US" i="1" dirty="0">
                        <a:ln>
                          <a:solidFill>
                            <a:srgbClr val="00B050"/>
                          </a:solidFill>
                        </a:ln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n>
                              <a:solidFill>
                                <a:srgbClr val="00B050"/>
                              </a:solidFill>
                            </a:ln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n>
                              <a:solidFill>
                                <a:srgbClr val="00B050"/>
                              </a:solidFill>
                            </a:ln>
                            <a:latin typeface="Cambria Math" panose="02040503050406030204" pitchFamily="18" charset="0"/>
                          </a:rPr>
                          <m:t>h</m:t>
                        </m:r>
                        <m:d>
                          <m:dPr>
                            <m:ctrlPr>
                              <a:rPr lang="en-US" i="1" dirty="0">
                                <a:ln>
                                  <a:solidFill>
                                    <a:srgbClr val="00B050"/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n>
                                  <a:solidFill>
                                    <a:srgbClr val="00B050"/>
                                  </a:solidFill>
                                </a:ln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. 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763000" cy="4937760"/>
              </a:xfrm>
              <a:blipFill>
                <a:blip r:embed="rId2"/>
                <a:stretch>
                  <a:fillRect l="-626" t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7392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big-O Notation 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GB" dirty="0"/>
                  <a:t>Example 2:</a:t>
                </a:r>
              </a:p>
              <a:p>
                <a:pPr marL="274320" lvl="1" indent="0">
                  <a:buNone/>
                </a:pPr>
                <a:r>
                  <a:rPr lang="en-US" dirty="0"/>
                  <a:t>Show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GB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GB" dirty="0"/>
                  <a:t>.</a:t>
                </a:r>
              </a:p>
              <a:p>
                <a:pPr lvl="1"/>
                <a:endParaRPr lang="en-GB" dirty="0"/>
              </a:p>
              <a:p>
                <a:r>
                  <a:rPr lang="en-GB" dirty="0"/>
                  <a:t>Solution :</a:t>
                </a:r>
                <a:endParaRPr lang="en-US" dirty="0"/>
              </a:p>
              <a:p>
                <a:pPr marL="274320" lvl="1" indent="0">
                  <a:buNone/>
                </a:pPr>
                <a:r>
                  <a:rPr lang="en-US" b="0" dirty="0"/>
                  <a:t>Note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&gt;7</m:t>
                    </m:r>
                  </m:oMath>
                </a14:m>
                <a:r>
                  <a:rPr lang="en-US" b="0" dirty="0"/>
                  <a:t>,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&lt;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b="0" dirty="0"/>
                  <a:t> [ Multiplying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 on both sides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&gt;7</m:t>
                    </m:r>
                  </m:oMath>
                </a14:m>
                <a:r>
                  <a:rPr lang="en-US" b="0" dirty="0"/>
                  <a:t>].</a:t>
                </a:r>
              </a:p>
              <a:p>
                <a:pPr marL="274320" lvl="1" indent="0">
                  <a:buNone/>
                </a:pPr>
                <a:r>
                  <a:rPr lang="en-US" dirty="0"/>
                  <a:t>From this we can take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b="0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b="0" dirty="0"/>
                  <a:t> as witnesses to establish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b="0" dirty="0"/>
                  <a:t>.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pPr marL="274320" lvl="1" indent="0">
                  <a:buNone/>
                </a:pPr>
                <a:r>
                  <a:rPr lang="en-US" b="0" dirty="0"/>
                  <a:t>Again,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b="0" dirty="0"/>
                  <a:t>,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&lt;7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en-US" b="0" dirty="0"/>
                  <a:t> [Multiplying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7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b="0" dirty="0"/>
                  <a:t> on both sides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&gt;7</m:t>
                    </m:r>
                  </m:oMath>
                </a14:m>
                <a:r>
                  <a:rPr lang="en-US" b="0" dirty="0"/>
                  <a:t>].</a:t>
                </a:r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From this we can also take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=7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as witnesses to establish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7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274320" lvl="1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852" r="-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0307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big-O Notation (Contd.)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1F6B85B-B0BB-48F2-AB9A-8A01F9212339}"/>
              </a:ext>
            </a:extLst>
          </p:cNvPr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1180626" y="1453838"/>
            <a:ext cx="6782747" cy="4467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099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3B13-7528-4FDE-A22B-B03EB22E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big-O Estimates of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Polynomials can often be used to estimate the growth of functions. </a:t>
                </a:r>
              </a:p>
              <a:p>
                <a:r>
                  <a:rPr lang="en-US" dirty="0"/>
                  <a:t>The leading term of a polynomial dominates its growth by asserting that a polynomial of degree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𝑙𝑒𝑠𝑠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THEOREM 1:</a:t>
                </a:r>
              </a:p>
              <a:p>
                <a:pPr marL="274320" lvl="1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are real numbers.</a:t>
                </a:r>
              </a:p>
              <a:p>
                <a:pPr marL="274320" lvl="1" indent="0">
                  <a:buNone/>
                </a:pPr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b="0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274320" lvl="1" indent="0">
                  <a:buNone/>
                </a:pPr>
                <a:r>
                  <a:rPr lang="en-US" dirty="0"/>
                  <a:t>i.e.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+…+|</m:t>
                    </m:r>
                    <m:sSub>
                      <m:sSubPr>
                        <m:ctrlP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dirty="0"/>
                  <a:t> whenever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. Hence, the witnesses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show that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27432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852" r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59300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3B13-7528-4FDE-A22B-B03EB22E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big-O Estimates of Functions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 3:</a:t>
                </a:r>
              </a:p>
              <a:p>
                <a:pPr marL="274320" lvl="1" indent="0">
                  <a:buNone/>
                </a:pPr>
                <a:r>
                  <a:rPr lang="en-US" dirty="0"/>
                  <a:t>How can big-O notation be used to estimate the sum of the first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positive integers?</a:t>
                </a:r>
              </a:p>
              <a:p>
                <a:endParaRPr lang="en-US" dirty="0"/>
              </a:p>
              <a:p>
                <a:r>
                  <a:rPr lang="en-US" dirty="0"/>
                  <a:t>Solution:</a:t>
                </a:r>
              </a:p>
              <a:p>
                <a:pPr marL="274320" lvl="1" indent="0">
                  <a:buNone/>
                </a:pPr>
                <a:r>
                  <a:rPr lang="en-US" dirty="0"/>
                  <a:t>Because each of the integers in the sum of the first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positive integers does not exceed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it follows that 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=1+2+…+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+…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br>
                  <a:rPr lang="en-US" dirty="0"/>
                </a:br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This inequality it shows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, taking witnesses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52487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3B13-7528-4FDE-A22B-B03EB22E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big-O Estimates of Functions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Example 4:</a:t>
                </a:r>
              </a:p>
              <a:p>
                <a:pPr marL="274320" lvl="1" indent="0">
                  <a:buNone/>
                </a:pPr>
                <a:r>
                  <a:rPr lang="en-US" dirty="0"/>
                  <a:t>Give big-</a:t>
                </a:r>
                <a:r>
                  <a:rPr lang="en-US" i="1" dirty="0"/>
                  <a:t>O </a:t>
                </a:r>
                <a:r>
                  <a:rPr lang="en-US" dirty="0"/>
                  <a:t>estimates for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𝑓𝑎𝑐𝑡𝑜𝑟𝑖𝑎𝑙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𝑓𝑢𝑛𝑐𝑡𝑖𝑜𝑛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𝑙𝑜𝑔𝑎𝑟𝑖𝑡h𝑚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𝑓𝑎𝑐𝑡𝑜𝑟𝑖𝑎𝑙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𝑓𝑢𝑛𝑐𝑡𝑖𝑜𝑛</m:t>
                    </m:r>
                  </m:oMath>
                </a14:m>
                <a:r>
                  <a:rPr lang="en-US" dirty="0"/>
                  <a:t>, where the factorial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dirty="0"/>
                  <a:t> is defined by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! = 1 · 2 · 3 · · · · ·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br>
                  <a:rPr lang="en-US" i="1" dirty="0"/>
                </a:br>
                <a:r>
                  <a:rPr lang="en-US" dirty="0"/>
                  <a:t>whenever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a positive integer,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0! = 1</m:t>
                    </m:r>
                  </m:oMath>
                </a14:m>
                <a:r>
                  <a:rPr lang="en-US" dirty="0"/>
                  <a:t>. 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88865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3B13-7528-4FDE-A22B-B03EB22E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big-O Estimates of Functions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Solution:</a:t>
                </a:r>
              </a:p>
              <a:p>
                <a:pPr marL="274320" lvl="1" indent="0">
                  <a:buNone/>
                </a:pPr>
                <a:r>
                  <a:rPr lang="en-US" dirty="0"/>
                  <a:t>We can write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dirty="0"/>
                  <a:t> in the following way and note that each term in the expression does not exceed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!=1∙2∙3∙…∙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dirty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!≤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∙…∙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</m:oMath>
                  </m:oMathPara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!≤</m:t>
                      </m:r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                      </m:t>
                      </m:r>
                    </m:oMath>
                  </m:oMathPara>
                </a14:m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This inequality shows that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, taking witnesses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Taking logarithm on both sides we get,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dirty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!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This inequality shows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func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, taking witnesses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marL="274320" lvl="1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852" r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56200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3B13-7528-4FDE-A22B-B03EB22E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big-O Estimates of Functions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As mentioned before, big-</a:t>
                </a:r>
                <a:r>
                  <a:rPr lang="en-US" i="1" dirty="0"/>
                  <a:t>O </a:t>
                </a:r>
                <a:r>
                  <a:rPr lang="en-US" dirty="0"/>
                  <a:t>notation is used to estimate the number of operations needed to solve a problem using a specified procedure or algorithm. The functions used in these estimates often include the following: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1,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!</m:t>
                      </m:r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Each function in this list is smaller than the succeeding function, in the sense that the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𝑟𝑎𝑡𝑖𝑜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𝑓𝑢𝑛𝑐𝑡𝑖𝑜𝑛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𝑡h𝑒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𝑠𝑢𝑐𝑐𝑒𝑒𝑑𝑖𝑛𝑔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𝑓𝑢𝑛𝑐𝑡𝑖𝑜𝑛</m:t>
                    </m:r>
                  </m:oMath>
                </a14:m>
                <a:r>
                  <a:rPr lang="en-US" dirty="0"/>
                  <a:t> tends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𝑧𝑒𝑟𝑜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grows without bound. </a:t>
                </a:r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37418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3B13-7528-4FDE-A22B-B03EB22E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big-O Estimates of Functions 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Theorem 1 shows that </a:t>
                </a:r>
              </a:p>
              <a:p>
                <a:pPr marL="274320" lvl="1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is a polynomial of degree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r>
                  <a:rPr lang="en-US" dirty="0"/>
                  <a:t>Applying</a:t>
                </a:r>
                <a:br>
                  <a:rPr lang="en-US" dirty="0"/>
                </a:br>
                <a:r>
                  <a:rPr lang="en-US" dirty="0"/>
                  <a:t>this theorem, we see that if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&gt;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&gt; 1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err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Taking this into account,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unc>
                              <m:func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0" i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sub>
                                </m:sSub>
                              </m:fName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</m:func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sup>
                    </m:sSup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𝒁</m:t>
                        </m:r>
                      </m:e>
                      <m: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2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39874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3B13-7528-4FDE-A22B-B03EB22E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Growth of Combination of 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2767B-9DC5-42BF-9A9A-0D809B98C44D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Many algorithms are made up of two or more separate sub-procedures.</a:t>
            </a:r>
          </a:p>
          <a:p>
            <a:r>
              <a:rPr lang="en-US" dirty="0"/>
              <a:t>To give a big-O estimate for the number of steps needed, it is necessary to,</a:t>
            </a:r>
          </a:p>
          <a:p>
            <a:pPr lvl="1"/>
            <a:r>
              <a:rPr lang="en-US" dirty="0"/>
              <a:t>Find big-O estimates for the number of steps used by each sub-procedure</a:t>
            </a:r>
          </a:p>
          <a:p>
            <a:pPr lvl="1"/>
            <a:r>
              <a:rPr lang="en-US" dirty="0"/>
              <a:t>Combine these estimates.</a:t>
            </a:r>
          </a:p>
          <a:p>
            <a:r>
              <a:rPr lang="en-US" dirty="0"/>
              <a:t>Big-O estimates of combinations of functions can be provided if care is taken when different big-O estimates are combined. In particular, </a:t>
            </a:r>
          </a:p>
          <a:p>
            <a:pPr lvl="1"/>
            <a:r>
              <a:rPr lang="en-US" dirty="0"/>
              <a:t>Estimate the growth of the </a:t>
            </a:r>
            <a:r>
              <a:rPr lang="en-US" b="1" dirty="0"/>
              <a:t>sum</a:t>
            </a:r>
            <a:r>
              <a:rPr lang="en-US" dirty="0"/>
              <a:t> of two functions.</a:t>
            </a:r>
          </a:p>
          <a:p>
            <a:pPr lvl="1"/>
            <a:r>
              <a:rPr lang="en-US" dirty="0"/>
              <a:t>Estimate the growth of the </a:t>
            </a:r>
            <a:r>
              <a:rPr lang="en-US" b="1" dirty="0"/>
              <a:t>product</a:t>
            </a:r>
            <a:r>
              <a:rPr lang="en-US" dirty="0"/>
              <a:t> of two functions.</a:t>
            </a:r>
          </a:p>
        </p:txBody>
      </p:sp>
    </p:spTree>
    <p:extLst>
      <p:ext uri="{BB962C8B-B14F-4D97-AF65-F5344CB8AC3E}">
        <p14:creationId xmlns:p14="http://schemas.microsoft.com/office/powerpoint/2010/main" val="28164279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3B13-7528-4FDE-A22B-B03EB22E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Growth of Combination of Functions(Contd.)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686800" cy="4937760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From the definition of big-O notation,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,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,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Now,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274320" lvl="1" indent="0">
                  <a:buNone/>
                </a:pPr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274320" lvl="1" indent="0">
                  <a:buNone/>
                </a:pPr>
                <a:r>
                  <a:rPr lang="en-US" dirty="0"/>
                  <a:t>           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</a:t>
                </a:r>
              </a:p>
              <a:p>
                <a:pPr marL="274320" lvl="1" indent="0">
                  <a:buNone/>
                </a:pPr>
                <a:r>
                  <a:rPr lang="en-US" dirty="0"/>
                  <a:t>	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max</m:t>
                        </m:r>
                      </m:fName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 </m:t>
                            </m:r>
                            <m:d>
                              <m:dPr>
                                <m:begChr m:val="|"/>
                                <m:endChr m:val="|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func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686800" cy="4937760"/>
              </a:xfrm>
              <a:blipFill>
                <a:blip r:embed="rId2"/>
                <a:stretch>
                  <a:fillRect l="-351" t="-1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AC630DB-93D5-4CD1-86D6-A7995D11F2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9692723"/>
                  </p:ext>
                </p:extLst>
              </p:nvPr>
            </p:nvGraphicFramePr>
            <p:xfrm>
              <a:off x="1447800" y="3048000"/>
              <a:ext cx="5410200" cy="146304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410200">
                      <a:extLst>
                        <a:ext uri="{9D8B030D-6E8A-4147-A177-3AD203B41FA5}">
                          <a16:colId xmlns:a16="http://schemas.microsoft.com/office/drawing/2014/main" val="35009587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≤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≤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≤</m:t>
                                </m:r>
                                <m:d>
                                  <m:d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𝐶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</m:e>
                                </m:d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𝑔</m:t>
                                    </m:r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     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348048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AC630DB-93D5-4CD1-86D6-A7995D11F2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9692723"/>
                  </p:ext>
                </p:extLst>
              </p:nvPr>
            </p:nvGraphicFramePr>
            <p:xfrm>
              <a:off x="1447800" y="3048000"/>
              <a:ext cx="5410200" cy="146304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410200">
                      <a:extLst>
                        <a:ext uri="{9D8B030D-6E8A-4147-A177-3AD203B41FA5}">
                          <a16:colId xmlns:a16="http://schemas.microsoft.com/office/drawing/2014/main" val="3500958775"/>
                        </a:ext>
                      </a:extLst>
                    </a:gridCol>
                  </a:tblGrid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3" t="-833" r="-338" b="-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48048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505480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3B13-7528-4FDE-A22B-B03EB22E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Growth of Combination of Functions(Contd.)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686800" cy="4937760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.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From the definition of big-O notation,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,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, when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Now,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pPr marL="274320" lvl="1" indent="0">
                  <a:buNone/>
                </a:pPr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274320" lvl="1" indent="0">
                  <a:buNone/>
                </a:pPr>
                <a:r>
                  <a:rPr lang="en-US" dirty="0"/>
                  <a:t>           </a:t>
                </a: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max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686800" cy="4937760"/>
              </a:xfrm>
              <a:blipFill>
                <a:blip r:embed="rId2"/>
                <a:stretch>
                  <a:fillRect l="-491" t="-1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AC630DB-93D5-4CD1-86D6-A7995D11F2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2457862"/>
                  </p:ext>
                </p:extLst>
              </p:nvPr>
            </p:nvGraphicFramePr>
            <p:xfrm>
              <a:off x="1371600" y="3352800"/>
              <a:ext cx="5410200" cy="146304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410200">
                      <a:extLst>
                        <a:ext uri="{9D8B030D-6E8A-4147-A177-3AD203B41FA5}">
                          <a16:colId xmlns:a16="http://schemas.microsoft.com/office/drawing/2014/main" val="3500958775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≤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    ≤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     ≤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∙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𝐶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n-US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          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𝑓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𝑔</m:t>
                                            </m:r>
                                          </m:e>
                                          <m:sub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            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03480485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1AC630DB-93D5-4CD1-86D6-A7995D11F28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2457862"/>
                  </p:ext>
                </p:extLst>
              </p:nvPr>
            </p:nvGraphicFramePr>
            <p:xfrm>
              <a:off x="1371600" y="3352800"/>
              <a:ext cx="5410200" cy="146304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5410200">
                      <a:extLst>
                        <a:ext uri="{9D8B030D-6E8A-4147-A177-3AD203B41FA5}">
                          <a16:colId xmlns:a16="http://schemas.microsoft.com/office/drawing/2014/main" val="3500958775"/>
                        </a:ext>
                      </a:extLst>
                    </a:gridCol>
                  </a:tblGrid>
                  <a:tr h="14630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225" t="-833" r="-225" b="-37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480485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967962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3B13-7528-4FDE-A22B-B03EB22E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Growth of Combination of Functions(Contd.)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THEOREM 2:</a:t>
                </a:r>
              </a:p>
              <a:p>
                <a:pPr marL="274320" lvl="1" indent="0">
                  <a:buNone/>
                </a:pPr>
                <a:r>
                  <a:rPr lang="en-US" dirty="0"/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and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. 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𝑔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pPr lvl="1"/>
                <a:r>
                  <a:rPr lang="en-US" dirty="0"/>
                  <a:t>COROLLARY 2.1:</a:t>
                </a:r>
              </a:p>
              <a:p>
                <a:pPr marL="594360" lvl="2" indent="0">
                  <a:buNone/>
                </a:pPr>
                <a:r>
                  <a:rPr lang="en-US" dirty="0"/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are both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. 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also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THEOREM 3:</a:t>
                </a:r>
              </a:p>
              <a:p>
                <a:pPr marL="274320" lvl="1" indent="0">
                  <a:buNone/>
                </a:pPr>
                <a:r>
                  <a:rPr lang="en-US" dirty="0"/>
                  <a:t>Suppose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and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. 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985318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3B13-7528-4FDE-A22B-B03EB22E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Growth of Combination of Functions(Contd.)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77500" lnSpcReduction="20000"/>
              </a:bodyPr>
              <a:lstStyle/>
              <a:p>
                <a:r>
                  <a:rPr lang="en-US" dirty="0"/>
                  <a:t>Example 5:</a:t>
                </a:r>
              </a:p>
              <a:p>
                <a:pPr marL="274320" lvl="1" indent="0">
                  <a:buNone/>
                </a:pPr>
                <a:r>
                  <a:rPr lang="pt-BR" dirty="0"/>
                  <a:t>Give a big-</a:t>
                </a:r>
                <a:r>
                  <a:rPr lang="pt-BR" i="1" dirty="0"/>
                  <a:t>O </a:t>
                </a:r>
                <a:r>
                  <a:rPr lang="pt-BR" dirty="0"/>
                  <a:t>estimate for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i="1" dirty="0" smtClean="0">
                        <a:latin typeface="Cambria Math" panose="02040503050406030204" pitchFamily="18" charset="0"/>
                      </a:rPr>
                      <m:t>=3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 dirty="0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</m:func>
                    <m:r>
                      <a:rPr lang="pt-BR" i="1" dirty="0" smtClean="0">
                        <a:latin typeface="Cambria Math" panose="02040503050406030204" pitchFamily="18" charset="0"/>
                      </a:rPr>
                      <m:t>+(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+3) </m:t>
                    </m:r>
                    <m:r>
                      <m:rPr>
                        <m:sty m:val="p"/>
                      </m:rPr>
                      <a:rPr lang="pt-BR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dirty="0"/>
                  <a:t>, where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pt-BR" i="1" dirty="0"/>
                  <a:t> </a:t>
                </a:r>
                <a:r>
                  <a:rPr lang="pt-BR" dirty="0"/>
                  <a:t>is a positive integer. </a:t>
                </a:r>
              </a:p>
              <a:p>
                <a:pPr marL="274320" lvl="1" indent="0">
                  <a:buNone/>
                </a:pPr>
                <a:endParaRPr lang="pt-BR" dirty="0"/>
              </a:p>
              <a:p>
                <a:r>
                  <a:rPr lang="pt-BR" dirty="0"/>
                  <a:t>Solution:</a:t>
                </a:r>
              </a:p>
              <a:p>
                <a:pPr marL="274320" lvl="1" indent="0">
                  <a:buNone/>
                </a:pPr>
                <a:r>
                  <a:rPr lang="en-US" dirty="0"/>
                  <a:t>Firstly, the product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 dirty="0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</m:func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will be estimated.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From </a:t>
                </a:r>
                <a:r>
                  <a:rPr lang="en-US" b="1" dirty="0"/>
                  <a:t>Example 4 </a:t>
                </a:r>
                <a:r>
                  <a:rPr lang="en-US" dirty="0"/>
                  <a:t>we know that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</m:func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Theorem 3 gives the estimate that </a:t>
                </a:r>
                <a14:m>
                  <m:oMath xmlns:m="http://schemas.openxmlformats.org/officeDocument/2006/math">
                    <m:r>
                      <a:rPr lang="pt-BR" i="1" dirty="0">
                        <a:latin typeface="Cambria Math" panose="02040503050406030204" pitchFamily="18" charset="0"/>
                      </a:rPr>
                      <m:t>3</m:t>
                    </m:r>
                    <m:r>
                      <a:rPr lang="pt-BR" i="1" dirty="0"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pt-BR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pt-BR" i="1" dirty="0">
                                <a:latin typeface="Cambria Math" panose="02040503050406030204" pitchFamily="18" charset="0"/>
                              </a:rPr>
                              <m:t>!</m:t>
                            </m:r>
                          </m:e>
                        </m:d>
                      </m:e>
                    </m:func>
                    <m:r>
                      <a:rPr lang="pt-B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.</a:t>
                </a:r>
              </a:p>
              <a:p>
                <a:pPr marL="274320" lvl="1" indent="0">
                  <a:buNone/>
                </a:pPr>
                <a:br>
                  <a:rPr lang="en-US" i="1" dirty="0"/>
                </a:br>
                <a:r>
                  <a:rPr lang="en-US" dirty="0"/>
                  <a:t>Secondly, the product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3) 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will be estimated. </a:t>
                </a:r>
              </a:p>
              <a:p>
                <a:pPr lvl="1"/>
                <a:r>
                  <a:rPr lang="en-US" dirty="0"/>
                  <a:t>Because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3)&lt;2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US" dirty="0"/>
                  <a:t>, it follows that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+3)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Thus, from Theorem 3 it follows that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+3) </m:t>
                    </m:r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Finally, Theorem 2 tells us that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dirty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  <m: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p>
                                  <m:sSup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p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func>
                                  <m:funcPr>
                                    <m:ctrlP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dirty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</m:func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274320" lvl="1" indent="0">
                  <a:buNone/>
                </a:pPr>
                <a:br>
                  <a:rPr lang="en-US" dirty="0"/>
                </a:br>
                <a:r>
                  <a:rPr lang="en-US" dirty="0"/>
                  <a:t>Using Corollary 2.1 it follows that,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i="1" dirty="0"/>
                  <a:t>.</a:t>
                </a:r>
                <a:r>
                  <a:rPr lang="en-US" dirty="0"/>
                  <a:t> 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296" t="-1852" r="-11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68134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3B13-7528-4FDE-A22B-B03EB22E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dirty="0"/>
              <a:t>Growth of Combination of Functions(Contd.)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Example 6:</a:t>
                </a:r>
              </a:p>
              <a:p>
                <a:pPr marL="274320" lvl="1" indent="0">
                  <a:buNone/>
                </a:pPr>
                <a:r>
                  <a:rPr lang="pt-BR" dirty="0"/>
                  <a:t>Give a big-</a:t>
                </a:r>
                <a:r>
                  <a:rPr lang="pt-BR" i="1" dirty="0"/>
                  <a:t>O </a:t>
                </a:r>
                <a:r>
                  <a:rPr lang="pt-BR" dirty="0"/>
                  <a:t>estimate for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pt-BR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sv-SE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sv-SE" i="0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sv-SE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sv-SE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sv-SE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sv-SE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sv-SE" i="1" dirty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e>
                    </m:func>
                    <m:r>
                      <a:rPr lang="pt-BR" i="1" dirty="0" smtClean="0">
                        <a:latin typeface="Cambria Math" panose="02040503050406030204" pitchFamily="18" charset="0"/>
                      </a:rPr>
                      <m:t>+3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pt-BR" dirty="0"/>
                  <a:t>, where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i="1" dirty="0"/>
                  <a:t> </a:t>
                </a:r>
                <a:r>
                  <a:rPr lang="pt-BR" dirty="0"/>
                  <a:t>is a positive integer. </a:t>
                </a:r>
              </a:p>
              <a:p>
                <a:pPr marL="274320" lvl="1" indent="0">
                  <a:buNone/>
                </a:pPr>
                <a:endParaRPr lang="pt-BR" dirty="0"/>
              </a:p>
              <a:p>
                <a:r>
                  <a:rPr lang="pt-BR" dirty="0"/>
                  <a:t>Solution:</a:t>
                </a:r>
              </a:p>
              <a:p>
                <a:pPr marL="274320" lvl="1" indent="0">
                  <a:buNone/>
                </a:pPr>
                <a:r>
                  <a:rPr lang="en-US" dirty="0"/>
                  <a:t>Firstly, a big-</a:t>
                </a:r>
                <a:r>
                  <a:rPr lang="en-US" i="1" dirty="0"/>
                  <a:t>O </a:t>
                </a:r>
                <a:r>
                  <a:rPr lang="en-US" dirty="0"/>
                  <a:t>estimate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+1)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⁡(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will be found. </a:t>
                </a:r>
              </a:p>
              <a:p>
                <a:pPr lvl="1"/>
                <a:r>
                  <a:rPr lang="en-US" dirty="0"/>
                  <a:t>Note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Furthermore,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+1≤ 2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. Hence, if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&gt;2</m:t>
                    </m:r>
                  </m:oMath>
                </a14:m>
                <a:r>
                  <a:rPr lang="en-US" dirty="0"/>
                  <a:t>,</a:t>
                </a:r>
              </a:p>
              <a:p>
                <a:pPr lvl="1"/>
                <a:endParaRPr lang="en-US" dirty="0"/>
              </a:p>
              <a:p>
                <a:pPr marL="274320" lvl="1" indent="0">
                  <a:buNone/>
                </a:pPr>
                <a:endParaRPr lang="en-US" dirty="0"/>
              </a:p>
              <a:p>
                <a:pPr marL="274320" lvl="1" indent="0">
                  <a:buNone/>
                </a:pPr>
                <a:endParaRPr lang="en-US" dirty="0"/>
              </a:p>
              <a:p>
                <a:pPr lvl="1"/>
                <a:r>
                  <a:rPr lang="en-US" dirty="0"/>
                  <a:t>This shows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⁡(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 dirty="0" err="1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From Theorem 3 it follows that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+1)</m:t>
                    </m:r>
                    <m:r>
                      <m:rPr>
                        <m:sty m:val="p"/>
                      </m:rPr>
                      <a:rPr lang="en-US" i="1" dirty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⁡(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dirty="0" err="1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func>
                      </m:e>
                    </m:d>
                  </m:oMath>
                </a14:m>
                <a:r>
                  <a:rPr lang="en-US" i="1" dirty="0"/>
                  <a:t>. 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Secondly, a big-</a:t>
                </a:r>
                <a:r>
                  <a:rPr lang="en-US" i="1" dirty="0"/>
                  <a:t>O </a:t>
                </a:r>
                <a:r>
                  <a:rPr lang="en-US" dirty="0"/>
                  <a:t>estimate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,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Finally, Theorem 2 tells us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i="0" dirty="0" smtClean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func>
                                  <m:funcPr>
                                    <m:ctrlP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  <m:r>
                                  <a:rPr lang="en-US" i="1" dirty="0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p>
                                  <m:sSup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d>
                          </m:e>
                        </m:func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Because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i="1" dirty="0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, it follows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74" t="-1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AD1DDA2-9C56-4F8E-8ED2-022983E06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0022873"/>
                  </p:ext>
                </p:extLst>
              </p:nvPr>
            </p:nvGraphicFramePr>
            <p:xfrm>
              <a:off x="5257800" y="2785844"/>
              <a:ext cx="3733800" cy="10668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733800">
                      <a:extLst>
                        <a:ext uri="{9D8B030D-6E8A-4147-A177-3AD203B41FA5}">
                          <a16:colId xmlns:a16="http://schemas.microsoft.com/office/drawing/2014/main" val="4264089130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274320" lvl="1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unc>
                                  <m:funcPr>
                                    <m:ctrlPr>
                                      <a:rPr lang="en-US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600" b="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6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p>
                                          <m:sSupPr>
                                            <m:ctrlPr>
                                              <a:rPr lang="en-US" sz="16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sz="1600" b="0" i="1" dirty="0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</m:e>
                                </m:func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≤</m:t>
                                </m:r>
                                <m:func>
                                  <m:funcPr>
                                    <m:ctrlPr>
                                      <a:rPr lang="en-US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600" b="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16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6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  <m:sSup>
                                          <m:sSupPr>
                                            <m:ctrlPr>
                                              <a:rPr lang="en-US" sz="16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16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e>
                                          <m:sup>
                                            <m:r>
                                              <a:rPr lang="en-US" sz="1600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d>
                                  </m:e>
                                </m:func>
                              </m:oMath>
                            </m:oMathPara>
                          </a14:m>
                          <a:endParaRPr lang="en-US" sz="1600" b="0" i="1" dirty="0"/>
                        </a:p>
                        <a:p>
                          <a:pPr marL="274320" lvl="1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=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2+</m:t>
                                </m:r>
                                <m:func>
                                  <m:funcPr>
                                    <m:ctrlPr>
                                      <a:rPr lang="en-US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600" b="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sSup>
                                      <m:sSupPr>
                                        <m:ctrlPr>
                                          <a:rPr lang="en-US" sz="1600" b="0" i="1" dirty="0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1600" b="0" i="1" dirty="0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  <m:sup>
                                        <m:r>
                                          <a:rPr lang="en-US" sz="1600" b="0" i="1" dirty="0" smtClean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func>
                              </m:oMath>
                            </m:oMathPara>
                          </a14:m>
                          <a:endParaRPr lang="en-US" sz="1600" b="0" dirty="0"/>
                        </a:p>
                        <a:p>
                          <a:pPr marL="274320" lvl="1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                                =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log</m:t>
                                </m:r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2+2</m:t>
                                </m:r>
                                <m:func>
                                  <m:funcPr>
                                    <m:ctrlPr>
                                      <a:rPr lang="en-US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600" b="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16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1600" b="0" i="1" dirty="0"/>
                        </a:p>
                        <a:p>
                          <a:pPr marL="274320" lvl="1" indent="0"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                    ≤3</m:t>
                                </m:r>
                                <m:func>
                                  <m:funcPr>
                                    <m:ctrlPr>
                                      <a:rPr lang="en-US" sz="16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1600" b="0" i="0" dirty="0" smtClean="0">
                                        <a:latin typeface="Cambria Math" panose="02040503050406030204" pitchFamily="18" charset="0"/>
                                      </a:rPr>
                                      <m:t>log</m:t>
                                    </m:r>
                                  </m:fName>
                                  <m:e>
                                    <m:r>
                                      <a:rPr lang="en-US" sz="1600" b="0" i="1" dirty="0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func>
                              </m:oMath>
                            </m:oMathPara>
                          </a14:m>
                          <a:endParaRPr lang="en-US" sz="1600" b="0" dirty="0"/>
                        </a:p>
                      </a:txBody>
                      <a:tcP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58061258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AD1DDA2-9C56-4F8E-8ED2-022983E06F6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0022873"/>
                  </p:ext>
                </p:extLst>
              </p:nvPr>
            </p:nvGraphicFramePr>
            <p:xfrm>
              <a:off x="5257800" y="2785844"/>
              <a:ext cx="3733800" cy="1066800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3733800">
                      <a:extLst>
                        <a:ext uri="{9D8B030D-6E8A-4147-A177-3AD203B41FA5}">
                          <a16:colId xmlns:a16="http://schemas.microsoft.com/office/drawing/2014/main" val="4264089130"/>
                        </a:ext>
                      </a:extLst>
                    </a:gridCol>
                  </a:tblGrid>
                  <a:tr h="10668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63" t="-568" r="-489" b="-397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58061258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761382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3B13-7528-4FDE-A22B-B03EB22E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Big-Omega and Big Theta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b="1" dirty="0"/>
                  <a:t>big-</a:t>
                </a:r>
                <a:r>
                  <a:rPr lang="en-US" b="1" i="1" dirty="0"/>
                  <a:t>O</a:t>
                </a:r>
                <a:r>
                  <a:rPr lang="en-US" i="1" dirty="0"/>
                  <a:t> </a:t>
                </a:r>
                <a:r>
                  <a:rPr lang="en-US" dirty="0"/>
                  <a:t>notation is used extensively to describe the growth of functions, but it has limitations. </a:t>
                </a:r>
              </a:p>
              <a:p>
                <a:pPr lvl="1"/>
                <a:r>
                  <a:rPr lang="en-US" dirty="0"/>
                  <a:t>In particular, when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, we have an </a:t>
                </a:r>
                <a:r>
                  <a:rPr lang="en-US" b="1" dirty="0"/>
                  <a:t>upper bound</a:t>
                </a:r>
                <a:r>
                  <a:rPr lang="en-US" dirty="0"/>
                  <a:t>, in terms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for the size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large values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 </a:t>
                </a:r>
              </a:p>
              <a:p>
                <a:pPr lvl="1"/>
                <a:r>
                  <a:rPr lang="en-US" dirty="0"/>
                  <a:t>However, big-O notation does not provide a </a:t>
                </a:r>
                <a:r>
                  <a:rPr lang="en-US" b="1" dirty="0"/>
                  <a:t>lower bound </a:t>
                </a:r>
                <a:r>
                  <a:rPr lang="en-US" dirty="0"/>
                  <a:t>for the size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large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We use </a:t>
                </a:r>
                <a:r>
                  <a:rPr lang="en-US" b="1" dirty="0"/>
                  <a:t>big-Omega (big-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𝛀</m:t>
                    </m:r>
                  </m:oMath>
                </a14:m>
                <a:r>
                  <a:rPr lang="en-US" b="1" dirty="0"/>
                  <a:t>) </a:t>
                </a:r>
                <a:r>
                  <a:rPr lang="en-US" dirty="0"/>
                  <a:t>notation provide a </a:t>
                </a:r>
                <a:r>
                  <a:rPr lang="en-US" b="1" dirty="0"/>
                  <a:t>lower bound </a:t>
                </a:r>
                <a:r>
                  <a:rPr lang="en-US" dirty="0"/>
                  <a:t>for the size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for large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When we want to give both an </a:t>
                </a:r>
                <a:r>
                  <a:rPr lang="en-US" b="1" dirty="0"/>
                  <a:t>upper</a:t>
                </a:r>
                <a:r>
                  <a:rPr lang="en-US" dirty="0"/>
                  <a:t> and a </a:t>
                </a:r>
                <a:r>
                  <a:rPr lang="en-US" b="1" dirty="0"/>
                  <a:t>lower bound </a:t>
                </a:r>
                <a:r>
                  <a:rPr lang="en-US" dirty="0"/>
                  <a:t>on the size of a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relative to a reference function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we use </a:t>
                </a:r>
                <a:r>
                  <a:rPr lang="en-US" b="1" dirty="0"/>
                  <a:t>big-Theta (big-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𝚯</m:t>
                    </m:r>
                  </m:oMath>
                </a14:m>
                <a:r>
                  <a:rPr lang="en-US" b="1" dirty="0"/>
                  <a:t>) </a:t>
                </a:r>
                <a:r>
                  <a:rPr lang="en-US" dirty="0"/>
                  <a:t>notation. </a:t>
                </a:r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519" t="-1728" r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012762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3B13-7528-4FDE-A22B-B03EB22E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Big-Omega and Big Theta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Definition 2:</a:t>
                </a:r>
              </a:p>
              <a:p>
                <a:pPr lvl="1" algn="just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be functions from the set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𝑖𝑛𝑡𝑒𝑔𝑒𝑟𝑠</m:t>
                    </m:r>
                  </m:oMath>
                </a14:m>
                <a:r>
                  <a:rPr lang="en-US" dirty="0"/>
                  <a:t> or the set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𝑟𝑒𝑎𝑙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𝑛𝑢𝑚𝑏𝑒𝑟𝑠</m:t>
                    </m:r>
                  </m:oMath>
                </a14:m>
                <a:r>
                  <a:rPr lang="en-US" dirty="0"/>
                  <a:t> to the set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𝑟𝑒𝑎𝑙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𝑛𝑢𝑚𝑏𝑒𝑟𝑠</m:t>
                    </m:r>
                  </m:oMath>
                </a14:m>
                <a:r>
                  <a:rPr lang="en-US" dirty="0"/>
                  <a:t>. We say that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[read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𝑏𝑖𝑔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𝑂𝑚𝑒𝑔𝑎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"</m:t>
                    </m:r>
                  </m:oMath>
                </a14:m>
                <a:r>
                  <a:rPr lang="en-US" dirty="0"/>
                  <a:t>] if there are constants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such that</a:t>
                </a:r>
                <a14:m>
                  <m:oMath xmlns:m="http://schemas.openxmlformats.org/officeDocument/2006/math">
                    <m:r>
                      <a:rPr lang="en-US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|"/>
                        <m:endChr m:val="|"/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, whenever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There is a strong connection between big-O and big-Omega notation. In particular,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if and only if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10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16460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03B13-7528-4FDE-A22B-B03EB22EDC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Big-Omega and Big Theta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153400" cy="493776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Definition 3:</a:t>
                </a:r>
              </a:p>
              <a:p>
                <a:pPr lvl="1" algn="just"/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lang="en-US" dirty="0"/>
                  <a:t> be functions from the set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𝑖𝑛𝑡𝑒𝑔𝑒𝑟𝑠</m:t>
                    </m:r>
                  </m:oMath>
                </a14:m>
                <a:r>
                  <a:rPr lang="en-US" dirty="0"/>
                  <a:t> or the set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𝑟𝑒𝑎𝑙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𝑛𝑢𝑚𝑏𝑒𝑟𝑠</m:t>
                    </m:r>
                  </m:oMath>
                </a14:m>
                <a:r>
                  <a:rPr lang="en-US" dirty="0"/>
                  <a:t> to the set of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𝑟𝑒𝑎𝑙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𝑛𝑢𝑚𝑏𝑒𝑟𝑠</m:t>
                    </m:r>
                  </m:oMath>
                </a14:m>
                <a:r>
                  <a:rPr lang="en-US" dirty="0"/>
                  <a:t>. We say that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0" dirty="0" smtClean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[read as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"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𝑏𝑖𝑔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𝑇h𝑒𝑡𝑎</m:t>
                    </m:r>
                  </m:oMath>
                </a14:m>
                <a:r>
                  <a:rPr lang="en-US" dirty="0"/>
                  <a:t> of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"</m:t>
                    </m:r>
                  </m:oMath>
                </a14:m>
                <a:r>
                  <a:rPr lang="en-US" dirty="0"/>
                  <a:t>] if </a:t>
                </a:r>
              </a:p>
              <a:p>
                <a:pPr lvl="2" algn="just"/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2" algn="just"/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of the order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are of the same order.</a:t>
                </a:r>
              </a:p>
              <a:p>
                <a:pPr lvl="2"/>
                <a:r>
                  <a:rPr lang="en-US" dirty="0"/>
                  <a:t>If there are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such that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i="0" dirty="0">
                  <a:solidFill>
                    <a:srgbClr val="7030A0"/>
                  </a:solidFill>
                  <a:latin typeface="Cambria Math" panose="02040503050406030204" pitchFamily="18" charset="0"/>
                </a:endParaRPr>
              </a:p>
              <a:p>
                <a:pPr lvl="3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≤</m:t>
                    </m:r>
                    <m:d>
                      <m:dPr>
                        <m:begChr m:val="|"/>
                        <m:endChr m:val="|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F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dirty="0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begChr m:val="|"/>
                        <m:endChr m:val="|"/>
                        <m:ctrlPr>
                          <a:rPr lang="en-US" i="1" dirty="0" err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, whenever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i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3"/>
                <a:r>
                  <a:rPr lang="en-US" dirty="0"/>
                  <a:t>The existence of the constants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i="1" dirty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 dirty="0">
                        <a:solidFill>
                          <a:schemeClr val="accent4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tells us that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US" i="1" dirty="0">
                        <a:solidFill>
                          <a:schemeClr val="bg2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>
                  <a:solidFill>
                    <a:schemeClr val="bg2">
                      <a:lumMod val="50000"/>
                    </a:schemeClr>
                  </a:solidFill>
                </a:endParaRPr>
              </a:p>
              <a:p>
                <a:pPr marL="868680" lvl="3" indent="0">
                  <a:buNone/>
                </a:pPr>
                <a:r>
                  <a:rPr lang="en-US" dirty="0"/>
                  <a:t>    and that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 dirty="0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chemeClr val="bg2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O</m:t>
                    </m:r>
                    <m:d>
                      <m:dPr>
                        <m:ctrlPr>
                          <a:rPr lang="en-US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 dirty="0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>
                                <a:solidFill>
                                  <a:schemeClr val="bg2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, respectively 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6F2767B-9DC5-42BF-9A9A-0D809B98C44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153400" cy="4937760"/>
              </a:xfrm>
              <a:blipFill>
                <a:blip r:embed="rId2"/>
                <a:stretch>
                  <a:fillRect l="-673" t="-1111" r="-9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300260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A3996-4422-4FF8-AC2C-1FA6ABE7B5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Big-Omega and Big Theta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851A52-BBD9-4003-9FBE-F91B3F7D32EA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493776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Example 7:</a:t>
                </a:r>
              </a:p>
              <a:p>
                <a:pPr marL="274320" lvl="1" indent="0">
                  <a:buNone/>
                </a:pPr>
                <a:r>
                  <a:rPr lang="en-US" dirty="0"/>
                  <a:t>Show that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 </a:t>
                </a:r>
              </a:p>
              <a:p>
                <a:endParaRPr lang="en-US" dirty="0"/>
              </a:p>
              <a:p>
                <a:r>
                  <a:rPr lang="en-US" dirty="0"/>
                  <a:t>Solution:</a:t>
                </a:r>
              </a:p>
              <a:p>
                <a:pPr marL="274320" lvl="1" indent="0">
                  <a:buNone/>
                </a:pPr>
                <a:r>
                  <a:rPr lang="en-US" dirty="0"/>
                  <a:t>Because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0≤8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≤8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&gt;1</m:t>
                    </m:r>
                  </m:oMath>
                </a14:m>
                <a:r>
                  <a:rPr lang="en-US" dirty="0"/>
                  <a:t>it follows that, 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  <m:func>
                        <m:func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i="0" dirty="0" smtClean="0"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func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11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  <a:p>
                <a:pPr marL="274320" lvl="1" indent="0">
                  <a:buNone/>
                </a:pPr>
                <a:br>
                  <a:rPr lang="en-US" dirty="0"/>
                </a:br>
                <a:r>
                  <a:rPr lang="en-US" dirty="0"/>
                  <a:t>Consequently,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274320" lvl="1" indent="0">
                  <a:buNone/>
                </a:pPr>
                <a:r>
                  <a:rPr lang="en-US" dirty="0"/>
                  <a:t>Clearly,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(3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8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US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274320" lvl="1" indent="0">
                  <a:buNone/>
                </a:pPr>
                <a:r>
                  <a:rPr lang="en-US" dirty="0"/>
                  <a:t>Consequently,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3</m:t>
                    </m:r>
                    <m:sSup>
                      <m:sSup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+8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𝑥</m:t>
                    </m:r>
                    <m:func>
                      <m:func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dirty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func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.</a:t>
                </a:r>
                <a:br>
                  <a:rPr lang="en-US" dirty="0"/>
                </a:b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3851A52-BBD9-4003-9FBE-F91B3F7D32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4937760"/>
              </a:xfrm>
              <a:blipFill>
                <a:blip r:embed="rId2"/>
                <a:stretch>
                  <a:fillRect l="-667" t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877973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466963-C537-48C5-9BF4-7D62E9B16E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Big-Omega and Big Theta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0E3DC0-7826-4D1E-B8FB-B98610DE54EC}"/>
                  </a:ext>
                </a:extLst>
              </p:cNvPr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THEOREM 4:</a:t>
                </a:r>
              </a:p>
              <a:p>
                <a:pPr marL="274320" lvl="1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+…+</m:t>
                    </m:r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are real numbers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 .</a:t>
                </a:r>
              </a:p>
              <a:p>
                <a:pPr marL="274320" lvl="1" indent="0">
                  <a:buNone/>
                </a:pPr>
                <a:r>
                  <a:rPr lang="en-US" dirty="0"/>
                  <a:t>Then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is of the order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r>
                  <a:rPr lang="en-US" dirty="0"/>
                  <a:t>Example 8:</a:t>
                </a:r>
              </a:p>
              <a:p>
                <a:pPr marL="274320" lvl="1" indent="0">
                  <a:buNone/>
                </a:pPr>
                <a:r>
                  <a:rPr lang="en-US" dirty="0"/>
                  <a:t>The polynomials,</a:t>
                </a:r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8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+10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7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+221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i="1" dirty="0">
                          <a:latin typeface="Cambria Math" panose="02040503050406030204" pitchFamily="18" charset="0"/>
                        </a:rPr>
                        <m:t>+1444,</m:t>
                      </m:r>
                    </m:oMath>
                  </m:oMathPara>
                </a14:m>
                <a:endParaRPr lang="en-US" dirty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−18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−10112</m:t>
                      </m:r>
                    </m:oMath>
                  </m:oMathPara>
                </a14:m>
                <a:endParaRPr lang="en-US" dirty="0"/>
              </a:p>
              <a:p>
                <a:pPr marL="27432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+40001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US" i="1" dirty="0" smtClean="0">
                              <a:latin typeface="Cambria Math" panose="02040503050406030204" pitchFamily="18" charset="0"/>
                            </a:rPr>
                            <m:t>98</m:t>
                          </m:r>
                        </m:sup>
                      </m:sSup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+100003</m:t>
                      </m:r>
                      <m:r>
                        <a:rPr lang="en-US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i="1" dirty="0"/>
              </a:p>
              <a:p>
                <a:pPr marL="274320" lvl="1" indent="0">
                  <a:buNone/>
                </a:pPr>
                <a:endParaRPr lang="en-US" i="1" dirty="0"/>
              </a:p>
              <a:p>
                <a:pPr marL="274320" lvl="1" indent="0">
                  <a:buNone/>
                </a:pPr>
                <a:r>
                  <a:rPr lang="en-US" i="1" dirty="0"/>
                  <a:t> </a:t>
                </a:r>
                <a:r>
                  <a:rPr lang="en-US" dirty="0"/>
                  <a:t>are of orders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19</m:t>
                        </m:r>
                      </m:sup>
                    </m:sSup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99</m:t>
                        </m:r>
                      </m:sup>
                    </m:sSup>
                  </m:oMath>
                </a14:m>
                <a:r>
                  <a:rPr lang="en-US" dirty="0"/>
                  <a:t>, respectively. 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A0E3DC0-7826-4D1E-B8FB-B98610DE54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8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78265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46856" y="764704"/>
            <a:ext cx="8229600" cy="2808312"/>
          </a:xfrm>
        </p:spPr>
        <p:txBody>
          <a:bodyPr/>
          <a:lstStyle/>
          <a:p>
            <a:pPr algn="ctr"/>
            <a:r>
              <a:rPr lang="en-GB" dirty="0"/>
              <a:t>THE 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9739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1639</TotalTime>
  <Words>2495</Words>
  <Application>Microsoft Office PowerPoint</Application>
  <PresentationFormat>On-screen Show (4:3)</PresentationFormat>
  <Paragraphs>263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Bookman Old Style</vt:lpstr>
      <vt:lpstr>Cambria Math</vt:lpstr>
      <vt:lpstr>Gill Sans MT</vt:lpstr>
      <vt:lpstr>Wingdings</vt:lpstr>
      <vt:lpstr>Wingdings 3</vt:lpstr>
      <vt:lpstr>Origin</vt:lpstr>
      <vt:lpstr>Chapter 3  Algorithms</vt:lpstr>
      <vt:lpstr>Introduction</vt:lpstr>
      <vt:lpstr>big-O Notation</vt:lpstr>
      <vt:lpstr>big-O Notation (Contd.)</vt:lpstr>
      <vt:lpstr>big-O Notation (Contd.)</vt:lpstr>
      <vt:lpstr>big-O Notation (Contd.)</vt:lpstr>
      <vt:lpstr>big-O Notation (Contd.)</vt:lpstr>
      <vt:lpstr>big-O Notation (Contd.)</vt:lpstr>
      <vt:lpstr>big-O Notation (Contd.)</vt:lpstr>
      <vt:lpstr>big-O Notation (Contd.)</vt:lpstr>
      <vt:lpstr>big-O Notation (Contd.)</vt:lpstr>
      <vt:lpstr>big-O Estimates of Functions</vt:lpstr>
      <vt:lpstr>big-O Estimates of Functions (Contd.)</vt:lpstr>
      <vt:lpstr>big-O Estimates of Functions (Contd.)</vt:lpstr>
      <vt:lpstr>big-O Estimates of Functions (Contd.)</vt:lpstr>
      <vt:lpstr>big-O Estimates of Functions (Contd.)</vt:lpstr>
      <vt:lpstr>big-O Estimates of Functions (Contd.)</vt:lpstr>
      <vt:lpstr>Growth of Combination of Functions</vt:lpstr>
      <vt:lpstr>Growth of Combination of Functions(Contd.)</vt:lpstr>
      <vt:lpstr>Growth of Combination of Functions(Contd.)</vt:lpstr>
      <vt:lpstr>Growth of Combination of Functions(Contd.)</vt:lpstr>
      <vt:lpstr>Growth of Combination of Functions(Contd.)</vt:lpstr>
      <vt:lpstr>Growth of Combination of Functions(Contd.)</vt:lpstr>
      <vt:lpstr>Big-Omega and Big Theta</vt:lpstr>
      <vt:lpstr>Big-Omega and Big Theta</vt:lpstr>
      <vt:lpstr>Big-Omega and Big Theta</vt:lpstr>
      <vt:lpstr>Big-Omega and Big Theta</vt:lpstr>
      <vt:lpstr>Big-Omega and Big Theta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 Basic Structures: Sets, Functions, Sequences, Sums, and Matrices</dc:title>
  <dc:creator>Sunef</dc:creator>
  <cp:lastModifiedBy>ASUS</cp:lastModifiedBy>
  <cp:revision>101</cp:revision>
  <cp:lastPrinted>2020-11-01T19:54:54Z</cp:lastPrinted>
  <dcterms:created xsi:type="dcterms:W3CDTF">2006-08-16T00:00:00Z</dcterms:created>
  <dcterms:modified xsi:type="dcterms:W3CDTF">2020-11-02T17:38:42Z</dcterms:modified>
</cp:coreProperties>
</file>