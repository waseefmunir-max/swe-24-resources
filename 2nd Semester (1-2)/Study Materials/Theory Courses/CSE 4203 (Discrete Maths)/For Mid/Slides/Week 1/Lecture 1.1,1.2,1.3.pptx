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handoutMasterIdLst>
    <p:handoutMasterId r:id="rId42"/>
  </p:handoutMasterIdLst>
  <p:sldIdLst>
    <p:sldId id="256" r:id="rId2"/>
    <p:sldId id="257" r:id="rId3"/>
    <p:sldId id="29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7" r:id="rId21"/>
    <p:sldId id="278" r:id="rId22"/>
    <p:sldId id="279" r:id="rId23"/>
    <p:sldId id="280" r:id="rId24"/>
    <p:sldId id="276" r:id="rId25"/>
    <p:sldId id="273"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rse and Teacher Info" id="{20C1D165-EFF4-4993-B327-9F21FEAB6EC0}">
          <p14:sldIdLst>
            <p14:sldId id="256"/>
          </p14:sldIdLst>
        </p14:section>
        <p14:section name="Course Introduction" id="{3F7EDC36-07A5-4F08-9A6A-035D6BC51BEB}">
          <p14:sldIdLst>
            <p14:sldId id="257"/>
          </p14:sldIdLst>
        </p14:section>
        <p14:section name="Chapter 1[1.1]" id="{2F36D426-C364-48F3-8632-7B431F1335C8}">
          <p14:sldIdLst>
            <p14:sldId id="296"/>
          </p14:sldIdLst>
        </p14:section>
        <p14:section name="Propositions" id="{DD6EE230-34B1-4EF7-8C27-8148CA87298F}">
          <p14:sldIdLst>
            <p14:sldId id="258"/>
            <p14:sldId id="259"/>
            <p14:sldId id="260"/>
            <p14:sldId id="261"/>
            <p14:sldId id="262"/>
          </p14:sldIdLst>
        </p14:section>
        <p14:section name="Logical Operators" id="{3563C16D-37E9-4DB7-9A9D-4BCBFD77AF34}">
          <p14:sldIdLst>
            <p14:sldId id="263"/>
          </p14:sldIdLst>
        </p14:section>
        <p14:section name="Negation" id="{44A1ED3B-6728-427F-8F8F-C034A53B1545}">
          <p14:sldIdLst>
            <p14:sldId id="264"/>
            <p14:sldId id="265"/>
          </p14:sldIdLst>
        </p14:section>
        <p14:section name="Conjunction" id="{071B4BBF-EA48-4ADC-98C9-A090DCF1C613}">
          <p14:sldIdLst>
            <p14:sldId id="266"/>
            <p14:sldId id="267"/>
          </p14:sldIdLst>
        </p14:section>
        <p14:section name="Disjunction" id="{38315568-88B9-4150-ACD6-617F8FC2BB2A}">
          <p14:sldIdLst>
            <p14:sldId id="268"/>
          </p14:sldIdLst>
        </p14:section>
        <p14:section name="Exlusive Or" id="{66AE621B-E052-4DC3-8AC2-7D521E4FBEA3}">
          <p14:sldIdLst>
            <p14:sldId id="269"/>
          </p14:sldIdLst>
        </p14:section>
        <p14:section name="Conditionals/Implications" id="{F6217CB0-A128-4B5F-A48F-CB01A07D5F49}">
          <p14:sldIdLst>
            <p14:sldId id="270"/>
            <p14:sldId id="271"/>
            <p14:sldId id="272"/>
            <p14:sldId id="274"/>
            <p14:sldId id="277"/>
            <p14:sldId id="278"/>
            <p14:sldId id="279"/>
          </p14:sldIdLst>
        </p14:section>
        <p14:section name="Converse,Contrapositive,Inverse" id="{C23A9635-0D02-4C27-BFA3-889C816F002F}">
          <p14:sldIdLst>
            <p14:sldId id="280"/>
            <p14:sldId id="276"/>
            <p14:sldId id="273"/>
            <p14:sldId id="281"/>
            <p14:sldId id="282"/>
            <p14:sldId id="283"/>
          </p14:sldIdLst>
        </p14:section>
        <p14:section name="Biconditionals" id="{675ABBE7-9C74-4B5D-968C-1E40D2CEBCAF}">
          <p14:sldIdLst>
            <p14:sldId id="284"/>
            <p14:sldId id="285"/>
            <p14:sldId id="286"/>
            <p14:sldId id="287"/>
          </p14:sldIdLst>
        </p14:section>
        <p14:section name="Truth Table of compound propositions" id="{44FF8D8B-78D2-44A3-BA8E-983D8A4202F2}">
          <p14:sldIdLst>
            <p14:sldId id="288"/>
          </p14:sldIdLst>
        </p14:section>
        <p14:section name="Precedence of Logical Operators" id="{FB6F9052-6C2E-43E1-9FEB-F8D761849FE4}">
          <p14:sldIdLst>
            <p14:sldId id="289"/>
            <p14:sldId id="290"/>
          </p14:sldIdLst>
        </p14:section>
        <p14:section name="Logic and Bit Operations" id="{468CEDF2-8B8A-44BE-996B-6DF670529EEE}">
          <p14:sldIdLst>
            <p14:sldId id="291"/>
            <p14:sldId id="292"/>
            <p14:sldId id="293"/>
            <p14:sldId id="294"/>
            <p14:sldId id="29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97" autoAdjust="0"/>
    <p:restoredTop sz="94660"/>
  </p:normalViewPr>
  <p:slideViewPr>
    <p:cSldViewPr>
      <p:cViewPr varScale="1">
        <p:scale>
          <a:sx n="62" d="100"/>
          <a:sy n="62" d="100"/>
        </p:scale>
        <p:origin x="1278"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30459177-0270-49FF-A5C8-621CA1BE9D3A}" type="datetimeFigureOut">
              <a:rPr lang="en-US" smtClean="0"/>
              <a:t>9/21/2020</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4A8C04CD-A0FD-450B-9179-457B3F836F30}" type="slidenum">
              <a:rPr lang="en-US" smtClean="0"/>
              <a:t>‹#›</a:t>
            </a:fld>
            <a:endParaRPr lang="en-US"/>
          </a:p>
        </p:txBody>
      </p:sp>
    </p:spTree>
    <p:extLst>
      <p:ext uri="{BB962C8B-B14F-4D97-AF65-F5344CB8AC3E}">
        <p14:creationId xmlns:p14="http://schemas.microsoft.com/office/powerpoint/2010/main" val="214513333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E629ACB2-16FD-49FF-824D-BAB5C5A42B99}" type="datetimeFigureOut">
              <a:rPr lang="en-US" smtClean="0"/>
              <a:t>9/21/2020</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500680E8-98D1-4DD8-B445-D19A078C3246}" type="slidenum">
              <a:rPr lang="en-US" smtClean="0"/>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E629ACB2-16FD-49FF-824D-BAB5C5A42B9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680E8-98D1-4DD8-B445-D19A078C3246}" type="slidenum">
              <a:rPr lang="en-US" smtClean="0"/>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E629ACB2-16FD-49FF-824D-BAB5C5A42B99}" type="datetimeFigureOut">
              <a:rPr lang="en-US" smtClean="0"/>
              <a:t>9/21/2020</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500680E8-98D1-4DD8-B445-D19A078C3246}" type="slidenum">
              <a:rPr lang="en-US" smtClean="0"/>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E629ACB2-16FD-49FF-824D-BAB5C5A42B99}"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680E8-98D1-4DD8-B445-D19A078C3246}" type="slidenum">
              <a:rPr lang="en-US" smtClean="0"/>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E629ACB2-16FD-49FF-824D-BAB5C5A42B99}" type="datetimeFigureOut">
              <a:rPr lang="en-US" smtClean="0"/>
              <a:t>9/21/2020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0680E8-98D1-4DD8-B445-D19A078C3246}" type="slidenum">
              <a:rPr lang="en-US" smtClean="0"/>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629ACB2-16FD-49FF-824D-BAB5C5A42B99}" type="datetimeFigureOut">
              <a:rPr lang="en-US" smtClean="0"/>
              <a:t>9/21/2020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0680E8-98D1-4DD8-B445-D19A078C3246}" type="slidenum">
              <a:rPr lang="en-US" smtClean="0"/>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29ACB2-16FD-49FF-824D-BAB5C5A42B99}" type="datetimeFigureOut">
              <a:rPr lang="en-US" smtClean="0"/>
              <a:t>9/21/2020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0680E8-98D1-4DD8-B445-D19A078C3246}" type="slidenum">
              <a:rPr lang="en-US" smtClean="0"/>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629ACB2-16FD-49FF-824D-BAB5C5A42B99}"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680E8-98D1-4DD8-B445-D19A078C3246}"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629ACB2-16FD-49FF-824D-BAB5C5A42B99}" type="datetimeFigureOut">
              <a:rPr lang="en-US" smtClean="0"/>
              <a:t>9/21/2020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680E8-98D1-4DD8-B445-D19A078C3246}" type="slidenum">
              <a:rPr lang="en-US" smtClean="0"/>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9ACB2-16FD-49FF-824D-BAB5C5A42B9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680E8-98D1-4DD8-B445-D19A078C324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9ACB2-16FD-49FF-824D-BAB5C5A42B99}" type="datetimeFigureOut">
              <a:rPr lang="en-US" smtClean="0"/>
              <a:t>9/21/2020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680E8-98D1-4DD8-B445-D19A078C3246}" type="slidenum">
              <a:rPr lang="en-US" smtClean="0"/>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E629ACB2-16FD-49FF-824D-BAB5C5A42B99}" type="datetimeFigureOut">
              <a:rPr lang="en-US" smtClean="0"/>
              <a:t>9/21/2020</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500680E8-98D1-4DD8-B445-D19A078C3246}" type="slidenum">
              <a:rPr lang="en-US" smtClean="0"/>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645024"/>
            <a:ext cx="6858000" cy="1375792"/>
          </a:xfrm>
        </p:spPr>
        <p:txBody>
          <a:bodyPr>
            <a:normAutofit/>
          </a:bodyPr>
          <a:lstStyle/>
          <a:p>
            <a:r>
              <a:rPr lang="en-GB" dirty="0"/>
              <a:t>CSE 4203 </a:t>
            </a:r>
            <a:br>
              <a:rPr lang="en-GB" dirty="0"/>
            </a:br>
            <a:r>
              <a:rPr lang="en-GB" dirty="0"/>
              <a:t>DISCRETE MATHEMATICS</a:t>
            </a:r>
            <a:endParaRPr lang="en-US" dirty="0"/>
          </a:p>
        </p:txBody>
      </p:sp>
      <p:sp>
        <p:nvSpPr>
          <p:cNvPr id="3" name="Subtitle 2"/>
          <p:cNvSpPr>
            <a:spLocks noGrp="1"/>
          </p:cNvSpPr>
          <p:nvPr>
            <p:ph type="subTitle" idx="1"/>
          </p:nvPr>
        </p:nvSpPr>
        <p:spPr>
          <a:xfrm>
            <a:off x="1331640" y="5088582"/>
            <a:ext cx="6858000" cy="788690"/>
          </a:xfrm>
        </p:spPr>
        <p:txBody>
          <a:bodyPr>
            <a:normAutofit/>
          </a:bodyPr>
          <a:lstStyle/>
          <a:p>
            <a:r>
              <a:rPr lang="en-GB" dirty="0"/>
              <a:t>Mohammad </a:t>
            </a:r>
            <a:r>
              <a:rPr lang="en-GB" dirty="0" err="1"/>
              <a:t>Ridwan</a:t>
            </a:r>
            <a:r>
              <a:rPr lang="en-GB" dirty="0"/>
              <a:t> </a:t>
            </a:r>
            <a:r>
              <a:rPr lang="en-GB" dirty="0" err="1"/>
              <a:t>Kabir</a:t>
            </a:r>
            <a:r>
              <a:rPr lang="en-GB" dirty="0"/>
              <a:t> (MRK)</a:t>
            </a:r>
            <a:br>
              <a:rPr lang="en-GB" dirty="0"/>
            </a:br>
            <a:r>
              <a:rPr lang="en-GB" dirty="0"/>
              <a:t>Email </a:t>
            </a:r>
            <a:r>
              <a:rPr lang="en-GB"/>
              <a:t>: cse.ridwankabir</a:t>
            </a:r>
            <a:r>
              <a:rPr lang="en-GB" dirty="0"/>
              <a:t>@iut-dhaka.edu</a:t>
            </a:r>
            <a:endParaRPr lang="en-US" dirty="0"/>
          </a:p>
        </p:txBody>
      </p:sp>
    </p:spTree>
    <p:extLst>
      <p:ext uri="{BB962C8B-B14F-4D97-AF65-F5344CB8AC3E}">
        <p14:creationId xmlns:p14="http://schemas.microsoft.com/office/powerpoint/2010/main" val="277052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a:t>Introduction</a:t>
            </a:r>
            <a:endParaRPr lang="en-US" dirty="0"/>
          </a:p>
        </p:txBody>
      </p:sp>
      <p:sp>
        <p:nvSpPr>
          <p:cNvPr id="3" name="Content Placeholder 2"/>
          <p:cNvSpPr>
            <a:spLocks noGrp="1"/>
          </p:cNvSpPr>
          <p:nvPr>
            <p:ph sz="quarter" idx="1"/>
          </p:nvPr>
        </p:nvSpPr>
        <p:spPr/>
        <p:txBody>
          <a:bodyPr>
            <a:normAutofit lnSpcReduction="10000"/>
          </a:bodyPr>
          <a:lstStyle/>
          <a:p>
            <a:r>
              <a:rPr lang="en-GB" dirty="0"/>
              <a:t>Contents</a:t>
            </a:r>
          </a:p>
          <a:p>
            <a:pPr lvl="1"/>
            <a:r>
              <a:rPr lang="en-GB" sz="3200" dirty="0"/>
              <a:t>Discrete Mathematics  and its applications-</a:t>
            </a:r>
          </a:p>
          <a:p>
            <a:pPr marL="274320" lvl="1" indent="0">
              <a:buNone/>
            </a:pPr>
            <a:r>
              <a:rPr lang="en-GB" sz="3200" dirty="0"/>
              <a:t>   7</a:t>
            </a:r>
            <a:r>
              <a:rPr lang="en-GB" sz="3200" baseline="30000" dirty="0"/>
              <a:t>th</a:t>
            </a:r>
            <a:r>
              <a:rPr lang="en-GB" sz="3200" dirty="0"/>
              <a:t> edition – Kenneth H. Rosen</a:t>
            </a:r>
          </a:p>
          <a:p>
            <a:pPr lvl="1"/>
            <a:r>
              <a:rPr lang="en-GB" sz="3200" dirty="0"/>
              <a:t>References and slides as provided in the class.</a:t>
            </a:r>
          </a:p>
          <a:p>
            <a:r>
              <a:rPr lang="en-GB" sz="2800" dirty="0"/>
              <a:t>Quizzes and Assignments</a:t>
            </a:r>
          </a:p>
          <a:p>
            <a:pPr lvl="1"/>
            <a:r>
              <a:rPr lang="en-GB" sz="3200" dirty="0"/>
              <a:t>4 quizzes ( 2 before mid + 2 after mid ). Best 3 will be counted.</a:t>
            </a:r>
          </a:p>
          <a:p>
            <a:pPr lvl="1"/>
            <a:r>
              <a:rPr lang="en-GB" sz="3200"/>
              <a:t>There will </a:t>
            </a:r>
            <a:r>
              <a:rPr lang="en-GB" sz="3200" dirty="0"/>
              <a:t>be </a:t>
            </a:r>
            <a:r>
              <a:rPr lang="en-GB" sz="3200"/>
              <a:t>surprise quizzes as well.</a:t>
            </a:r>
            <a:endParaRPr lang="en-GB" sz="3200" dirty="0"/>
          </a:p>
          <a:p>
            <a:pPr lvl="1"/>
            <a:r>
              <a:rPr lang="en-GB" sz="3200" dirty="0"/>
              <a:t>2 assignments will be given.</a:t>
            </a:r>
          </a:p>
          <a:p>
            <a:pPr marL="0" indent="0">
              <a:buNone/>
            </a:pPr>
            <a:endParaRPr lang="en-GB" sz="3500" dirty="0"/>
          </a:p>
        </p:txBody>
      </p:sp>
    </p:spTree>
    <p:extLst>
      <p:ext uri="{BB962C8B-B14F-4D97-AF65-F5344CB8AC3E}">
        <p14:creationId xmlns:p14="http://schemas.microsoft.com/office/powerpoint/2010/main" val="1597644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043608" y="3573016"/>
            <a:ext cx="7177608" cy="1375792"/>
          </a:xfrm>
        </p:spPr>
        <p:txBody>
          <a:bodyPr>
            <a:normAutofit fontScale="90000"/>
          </a:bodyPr>
          <a:lstStyle/>
          <a:p>
            <a:pPr algn="ctr"/>
            <a:r>
              <a:rPr lang="en-GB" b="1" u="sng" dirty="0"/>
              <a:t>Chapter 1</a:t>
            </a:r>
            <a:r>
              <a:rPr lang="en-GB" dirty="0"/>
              <a:t> </a:t>
            </a:r>
            <a:br>
              <a:rPr lang="en-GB" dirty="0"/>
            </a:br>
            <a:r>
              <a:rPr lang="en-GB" b="1" dirty="0"/>
              <a:t>The Foundations : Logic and Proofs</a:t>
            </a:r>
            <a:br>
              <a:rPr lang="en-GB" b="1" dirty="0"/>
            </a:br>
            <a:r>
              <a:rPr lang="en-GB" b="1" dirty="0"/>
              <a:t>Kenneth H. Rosen 7</a:t>
            </a:r>
            <a:r>
              <a:rPr lang="en-GB" b="1" baseline="30000" dirty="0"/>
              <a:t>th</a:t>
            </a:r>
            <a:r>
              <a:rPr lang="en-GB" b="1" dirty="0"/>
              <a:t> edition</a:t>
            </a:r>
            <a:endParaRPr lang="en-US" b="1" dirty="0"/>
          </a:p>
        </p:txBody>
      </p:sp>
      <p:sp>
        <p:nvSpPr>
          <p:cNvPr id="5" name="Subtitle 4"/>
          <p:cNvSpPr>
            <a:spLocks noGrp="1"/>
          </p:cNvSpPr>
          <p:nvPr>
            <p:ph type="subTitle" idx="1"/>
          </p:nvPr>
        </p:nvSpPr>
        <p:spPr>
          <a:xfrm>
            <a:off x="1219200" y="5124450"/>
            <a:ext cx="6858000" cy="533400"/>
          </a:xfrm>
        </p:spPr>
        <p:txBody>
          <a:bodyPr>
            <a:normAutofit/>
          </a:bodyPr>
          <a:lstStyle/>
          <a:p>
            <a:r>
              <a:rPr lang="en-GB" dirty="0"/>
              <a:t>Section 1.1 : Propositional Logic</a:t>
            </a:r>
          </a:p>
        </p:txBody>
      </p:sp>
    </p:spTree>
    <p:extLst>
      <p:ext uri="{BB962C8B-B14F-4D97-AF65-F5344CB8AC3E}">
        <p14:creationId xmlns:p14="http://schemas.microsoft.com/office/powerpoint/2010/main" val="3703919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err="1"/>
              <a:t>Propositios</a:t>
            </a:r>
            <a:endParaRPr lang="en-US" dirty="0"/>
          </a:p>
        </p:txBody>
      </p:sp>
      <p:sp>
        <p:nvSpPr>
          <p:cNvPr id="3" name="Content Placeholder 2"/>
          <p:cNvSpPr>
            <a:spLocks noGrp="1"/>
          </p:cNvSpPr>
          <p:nvPr>
            <p:ph sz="quarter" idx="1"/>
          </p:nvPr>
        </p:nvSpPr>
        <p:spPr/>
        <p:txBody>
          <a:bodyPr>
            <a:normAutofit/>
          </a:bodyPr>
          <a:lstStyle/>
          <a:p>
            <a:r>
              <a:rPr lang="en-GB" sz="3200" dirty="0"/>
              <a:t>A declarative sentence,  i.e. declares a fact</a:t>
            </a:r>
          </a:p>
          <a:p>
            <a:pPr lvl="1"/>
            <a:r>
              <a:rPr lang="en-GB" sz="2900" dirty="0"/>
              <a:t>Either true</a:t>
            </a:r>
          </a:p>
          <a:p>
            <a:pPr lvl="1"/>
            <a:r>
              <a:rPr lang="en-GB" sz="2900" dirty="0"/>
              <a:t>Or false</a:t>
            </a:r>
          </a:p>
          <a:p>
            <a:pPr lvl="1"/>
            <a:r>
              <a:rPr lang="en-GB" sz="2900" dirty="0"/>
              <a:t>But not both</a:t>
            </a:r>
            <a:endParaRPr lang="en-US" sz="2900" dirty="0"/>
          </a:p>
          <a:p>
            <a:pPr marL="274320" lvl="1" indent="0">
              <a:buNone/>
            </a:pPr>
            <a:endParaRPr lang="en-GB" sz="2900" dirty="0"/>
          </a:p>
        </p:txBody>
      </p:sp>
      <p:graphicFrame>
        <p:nvGraphicFramePr>
          <p:cNvPr id="4" name="Table 3"/>
          <p:cNvGraphicFramePr>
            <a:graphicFrameLocks noGrp="1"/>
          </p:cNvGraphicFramePr>
          <p:nvPr>
            <p:extLst>
              <p:ext uri="{D42A27DB-BD31-4B8C-83A1-F6EECF244321}">
                <p14:modId xmlns:p14="http://schemas.microsoft.com/office/powerpoint/2010/main" val="2847212753"/>
              </p:ext>
            </p:extLst>
          </p:nvPr>
        </p:nvGraphicFramePr>
        <p:xfrm>
          <a:off x="179512" y="3861048"/>
          <a:ext cx="8784976" cy="1854200"/>
        </p:xfrm>
        <a:graphic>
          <a:graphicData uri="http://schemas.openxmlformats.org/drawingml/2006/table">
            <a:tbl>
              <a:tblPr firstRow="1" bandRow="1">
                <a:tableStyleId>{BC89EF96-8CEA-46FF-86C4-4CE0E7609802}</a:tableStyleId>
              </a:tblPr>
              <a:tblGrid>
                <a:gridCol w="4392488">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tblGrid>
              <a:tr h="370840">
                <a:tc>
                  <a:txBody>
                    <a:bodyPr/>
                    <a:lstStyle/>
                    <a:p>
                      <a:pPr algn="ctr"/>
                      <a:r>
                        <a:rPr lang="en-GB" dirty="0"/>
                        <a:t>Propositions</a:t>
                      </a:r>
                      <a:endParaRPr lang="en-US" dirty="0"/>
                    </a:p>
                  </a:txBody>
                  <a:tcPr/>
                </a:tc>
                <a:tc>
                  <a:txBody>
                    <a:bodyPr/>
                    <a:lstStyle/>
                    <a:p>
                      <a:pPr algn="ctr"/>
                      <a:r>
                        <a:rPr lang="en-GB" dirty="0"/>
                        <a:t>Not propositions</a:t>
                      </a:r>
                      <a:endParaRPr lang="en-US" dirty="0"/>
                    </a:p>
                  </a:txBody>
                  <a:tcPr/>
                </a:tc>
                <a:extLst>
                  <a:ext uri="{0D108BD9-81ED-4DB2-BD59-A6C34878D82A}">
                    <a16:rowId xmlns:a16="http://schemas.microsoft.com/office/drawing/2014/main" val="10000"/>
                  </a:ext>
                </a:extLst>
              </a:tr>
              <a:tr h="370840">
                <a:tc>
                  <a:txBody>
                    <a:bodyPr/>
                    <a:lstStyle/>
                    <a:p>
                      <a:pPr algn="ctr"/>
                      <a:r>
                        <a:rPr lang="en-GB" dirty="0"/>
                        <a:t>2+2=4</a:t>
                      </a:r>
                      <a:endParaRPr lang="en-US" dirty="0"/>
                    </a:p>
                  </a:txBody>
                  <a:tcPr/>
                </a:tc>
                <a:tc>
                  <a:txBody>
                    <a:bodyPr/>
                    <a:lstStyle/>
                    <a:p>
                      <a:pPr algn="ctr"/>
                      <a:r>
                        <a:rPr lang="en-GB" dirty="0"/>
                        <a:t>What time is it?</a:t>
                      </a:r>
                      <a:endParaRPr lang="en-US" dirty="0"/>
                    </a:p>
                  </a:txBody>
                  <a:tcPr/>
                </a:tc>
                <a:extLst>
                  <a:ext uri="{0D108BD9-81ED-4DB2-BD59-A6C34878D82A}">
                    <a16:rowId xmlns:a16="http://schemas.microsoft.com/office/drawing/2014/main" val="10001"/>
                  </a:ext>
                </a:extLst>
              </a:tr>
              <a:tr h="370840">
                <a:tc>
                  <a:txBody>
                    <a:bodyPr/>
                    <a:lstStyle/>
                    <a:p>
                      <a:pPr algn="ctr"/>
                      <a:r>
                        <a:rPr lang="en-GB" dirty="0"/>
                        <a:t>2+2=3</a:t>
                      </a:r>
                    </a:p>
                  </a:txBody>
                  <a:tcPr/>
                </a:tc>
                <a:tc>
                  <a:txBody>
                    <a:bodyPr/>
                    <a:lstStyle/>
                    <a:p>
                      <a:pPr algn="ctr"/>
                      <a:r>
                        <a:rPr lang="en-GB" dirty="0"/>
                        <a:t>x+1=3</a:t>
                      </a:r>
                      <a:endParaRPr lang="en-US" dirty="0"/>
                    </a:p>
                  </a:txBody>
                  <a:tcPr/>
                </a:tc>
                <a:extLst>
                  <a:ext uri="{0D108BD9-81ED-4DB2-BD59-A6C34878D82A}">
                    <a16:rowId xmlns:a16="http://schemas.microsoft.com/office/drawing/2014/main" val="10002"/>
                  </a:ext>
                </a:extLst>
              </a:tr>
              <a:tr h="370840">
                <a:tc>
                  <a:txBody>
                    <a:bodyPr/>
                    <a:lstStyle/>
                    <a:p>
                      <a:pPr algn="ctr"/>
                      <a:r>
                        <a:rPr lang="en-GB" dirty="0"/>
                        <a:t>Dhaka is the</a:t>
                      </a:r>
                      <a:r>
                        <a:rPr lang="en-GB" baseline="0" dirty="0"/>
                        <a:t> capital of Bangladesh</a:t>
                      </a:r>
                      <a:endParaRPr lang="en-US" dirty="0"/>
                    </a:p>
                  </a:txBody>
                  <a:tcPr/>
                </a:tc>
                <a:tc>
                  <a:txBody>
                    <a:bodyPr/>
                    <a:lstStyle/>
                    <a:p>
                      <a:pPr algn="ctr"/>
                      <a:r>
                        <a:rPr lang="en-GB" dirty="0"/>
                        <a:t>x +</a:t>
                      </a:r>
                      <a:r>
                        <a:rPr lang="en-GB" baseline="0" dirty="0"/>
                        <a:t> y = z </a:t>
                      </a:r>
                      <a:endParaRPr lang="en-US" dirty="0"/>
                    </a:p>
                  </a:txBody>
                  <a:tcPr/>
                </a:tc>
                <a:extLst>
                  <a:ext uri="{0D108BD9-81ED-4DB2-BD59-A6C34878D82A}">
                    <a16:rowId xmlns:a16="http://schemas.microsoft.com/office/drawing/2014/main" val="10003"/>
                  </a:ext>
                </a:extLst>
              </a:tr>
              <a:tr h="370840">
                <a:tc>
                  <a:txBody>
                    <a:bodyPr/>
                    <a:lstStyle/>
                    <a:p>
                      <a:pPr algn="ctr"/>
                      <a:r>
                        <a:rPr lang="en-GB" dirty="0"/>
                        <a:t>Toronto</a:t>
                      </a:r>
                      <a:r>
                        <a:rPr lang="en-GB" baseline="0" dirty="0"/>
                        <a:t> is the capital of USA</a:t>
                      </a:r>
                      <a:endParaRPr lang="en-US" dirty="0"/>
                    </a:p>
                  </a:txBody>
                  <a:tcPr/>
                </a:tc>
                <a:tc>
                  <a:txBody>
                    <a:bodyPr/>
                    <a:lstStyle/>
                    <a:p>
                      <a:pPr algn="ctr"/>
                      <a:r>
                        <a:rPr lang="en-GB" dirty="0"/>
                        <a:t>Read this</a:t>
                      </a:r>
                      <a:r>
                        <a:rPr lang="en-GB" baseline="0" dirty="0"/>
                        <a:t> carefully</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01473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Propositional variables</a:t>
            </a:r>
            <a:endParaRPr lang="en-US" dirty="0"/>
          </a:p>
        </p:txBody>
      </p:sp>
      <p:sp>
        <p:nvSpPr>
          <p:cNvPr id="3" name="Content Placeholder 2"/>
          <p:cNvSpPr>
            <a:spLocks noGrp="1"/>
          </p:cNvSpPr>
          <p:nvPr>
            <p:ph sz="quarter" idx="1"/>
          </p:nvPr>
        </p:nvSpPr>
        <p:spPr/>
        <p:txBody>
          <a:bodyPr>
            <a:normAutofit fontScale="77500" lnSpcReduction="20000"/>
          </a:bodyPr>
          <a:lstStyle/>
          <a:p>
            <a:r>
              <a:rPr lang="en-GB" sz="3200" dirty="0"/>
              <a:t>Variables used to represent propositions</a:t>
            </a:r>
          </a:p>
          <a:p>
            <a:r>
              <a:rPr lang="en-GB" sz="3200" b="1" u="sng" dirty="0"/>
              <a:t>Example: </a:t>
            </a:r>
          </a:p>
          <a:p>
            <a:pPr lvl="1"/>
            <a:r>
              <a:rPr lang="en-GB" sz="2900" dirty="0"/>
              <a:t>Donald is a good guy.</a:t>
            </a:r>
          </a:p>
          <a:p>
            <a:pPr lvl="1"/>
            <a:r>
              <a:rPr lang="en-GB" sz="2900" dirty="0"/>
              <a:t>Rebecca is a talented girl.</a:t>
            </a:r>
            <a:endParaRPr lang="en-US" sz="2900" dirty="0"/>
          </a:p>
          <a:p>
            <a:r>
              <a:rPr lang="en-GB" sz="3200" dirty="0"/>
              <a:t>Assigning variables to propositions:</a:t>
            </a:r>
          </a:p>
          <a:p>
            <a:pPr lvl="1"/>
            <a:r>
              <a:rPr lang="en-GB" sz="2900" dirty="0"/>
              <a:t>p = “Donald is a good guy.”</a:t>
            </a:r>
          </a:p>
          <a:p>
            <a:pPr lvl="1"/>
            <a:r>
              <a:rPr lang="en-GB" sz="2900" dirty="0"/>
              <a:t>q = “Rebecca is a talented girl.”</a:t>
            </a:r>
          </a:p>
          <a:p>
            <a:r>
              <a:rPr lang="en-GB" sz="3200" dirty="0"/>
              <a:t>Most commonly used variables are p, q, r, s…</a:t>
            </a:r>
          </a:p>
          <a:p>
            <a:r>
              <a:rPr lang="en-GB" sz="3200" dirty="0"/>
              <a:t>The truth values of a proposition is denoted by</a:t>
            </a:r>
          </a:p>
          <a:p>
            <a:pPr lvl="1"/>
            <a:r>
              <a:rPr lang="en-GB" sz="2900" dirty="0"/>
              <a:t>T, if the proposition is true.</a:t>
            </a:r>
          </a:p>
          <a:p>
            <a:pPr lvl="1"/>
            <a:r>
              <a:rPr lang="en-GB" sz="2900" dirty="0"/>
              <a:t>F, if the proposition is false.</a:t>
            </a:r>
          </a:p>
          <a:p>
            <a:pPr lvl="1"/>
            <a:r>
              <a:rPr lang="en-GB" sz="2900" dirty="0"/>
              <a:t>We can also use the  following convention</a:t>
            </a:r>
          </a:p>
          <a:p>
            <a:pPr lvl="2"/>
            <a:r>
              <a:rPr lang="en-GB" sz="2600" dirty="0"/>
              <a:t>1, if the proposition is true.</a:t>
            </a:r>
          </a:p>
          <a:p>
            <a:pPr lvl="2"/>
            <a:r>
              <a:rPr lang="en-GB" sz="2600" dirty="0"/>
              <a:t>0, if the proposition is false.</a:t>
            </a:r>
          </a:p>
        </p:txBody>
      </p:sp>
    </p:spTree>
    <p:extLst>
      <p:ext uri="{BB962C8B-B14F-4D97-AF65-F5344CB8AC3E}">
        <p14:creationId xmlns:p14="http://schemas.microsoft.com/office/powerpoint/2010/main" val="1083314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Propositional variables (contd.)</a:t>
            </a:r>
            <a:endParaRPr lang="en-US" dirty="0"/>
          </a:p>
        </p:txBody>
      </p:sp>
      <p:sp>
        <p:nvSpPr>
          <p:cNvPr id="3" name="Content Placeholder 2"/>
          <p:cNvSpPr>
            <a:spLocks noGrp="1"/>
          </p:cNvSpPr>
          <p:nvPr>
            <p:ph sz="quarter" idx="1"/>
          </p:nvPr>
        </p:nvSpPr>
        <p:spPr/>
        <p:txBody>
          <a:bodyPr>
            <a:normAutofit fontScale="92500" lnSpcReduction="10000"/>
          </a:bodyPr>
          <a:lstStyle/>
          <a:p>
            <a:r>
              <a:rPr lang="en-GB" sz="3200" dirty="0"/>
              <a:t>Converting sentences into propositions:</a:t>
            </a:r>
          </a:p>
          <a:p>
            <a:pPr lvl="1"/>
            <a:r>
              <a:rPr lang="en-GB" sz="2900" dirty="0"/>
              <a:t>Consider the sentence,  X+Y=Z</a:t>
            </a:r>
          </a:p>
          <a:p>
            <a:pPr lvl="1"/>
            <a:r>
              <a:rPr lang="en-GB" sz="2900" dirty="0"/>
              <a:t>This is not a proposition.</a:t>
            </a:r>
          </a:p>
          <a:p>
            <a:pPr lvl="1"/>
            <a:r>
              <a:rPr lang="en-GB" sz="2900" dirty="0"/>
              <a:t>The sentence contains variables only.</a:t>
            </a:r>
          </a:p>
          <a:p>
            <a:pPr lvl="1"/>
            <a:r>
              <a:rPr lang="en-GB" sz="2900" dirty="0"/>
              <a:t>To convert this sentence into a proposition,</a:t>
            </a:r>
            <a:r>
              <a:rPr lang="en-US" sz="2900" dirty="0"/>
              <a:t> we have to assign values to the variables.</a:t>
            </a:r>
          </a:p>
          <a:p>
            <a:pPr lvl="1"/>
            <a:r>
              <a:rPr lang="en-GB" sz="2900" dirty="0"/>
              <a:t>Let’s say, X=2, Y=4, Z=6</a:t>
            </a:r>
          </a:p>
          <a:p>
            <a:pPr lvl="2"/>
            <a:r>
              <a:rPr lang="en-GB" sz="2600" dirty="0"/>
              <a:t>Thus, X+Y=Z or 2+4=6 becomes a proposition as the outcome is true.</a:t>
            </a:r>
          </a:p>
          <a:p>
            <a:pPr lvl="1"/>
            <a:r>
              <a:rPr lang="en-GB" sz="2900" dirty="0"/>
              <a:t>Again let’s say X=2,Y=4,Z=3</a:t>
            </a:r>
          </a:p>
          <a:p>
            <a:pPr lvl="2"/>
            <a:r>
              <a:rPr lang="en-GB" sz="2600" dirty="0"/>
              <a:t>Again, X+Y=Z or 2+4=3 becomes a proposition as the outcome is false.</a:t>
            </a:r>
          </a:p>
        </p:txBody>
      </p:sp>
    </p:spTree>
    <p:extLst>
      <p:ext uri="{BB962C8B-B14F-4D97-AF65-F5344CB8AC3E}">
        <p14:creationId xmlns:p14="http://schemas.microsoft.com/office/powerpoint/2010/main" val="4230338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Propositional calculus/logic</a:t>
            </a:r>
            <a:endParaRPr lang="en-US" dirty="0"/>
          </a:p>
        </p:txBody>
      </p:sp>
      <p:sp>
        <p:nvSpPr>
          <p:cNvPr id="3" name="Content Placeholder 2"/>
          <p:cNvSpPr>
            <a:spLocks noGrp="1"/>
          </p:cNvSpPr>
          <p:nvPr>
            <p:ph sz="quarter" idx="1"/>
          </p:nvPr>
        </p:nvSpPr>
        <p:spPr/>
        <p:txBody>
          <a:bodyPr>
            <a:normAutofit/>
          </a:bodyPr>
          <a:lstStyle/>
          <a:p>
            <a:r>
              <a:rPr lang="en-GB" sz="3200" dirty="0"/>
              <a:t>Area of logic that deals with propositions, is called propositional calculus or propositional logic.</a:t>
            </a:r>
            <a:endParaRPr lang="en-US" sz="3200" dirty="0"/>
          </a:p>
        </p:txBody>
      </p:sp>
    </p:spTree>
    <p:extLst>
      <p:ext uri="{BB962C8B-B14F-4D97-AF65-F5344CB8AC3E}">
        <p14:creationId xmlns:p14="http://schemas.microsoft.com/office/powerpoint/2010/main" val="1688151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Compound Propositions</a:t>
            </a:r>
            <a:endParaRPr lang="en-US" dirty="0"/>
          </a:p>
        </p:txBody>
      </p:sp>
      <p:sp>
        <p:nvSpPr>
          <p:cNvPr id="3" name="Content Placeholder 2"/>
          <p:cNvSpPr>
            <a:spLocks noGrp="1"/>
          </p:cNvSpPr>
          <p:nvPr>
            <p:ph sz="quarter" idx="1"/>
          </p:nvPr>
        </p:nvSpPr>
        <p:spPr/>
        <p:txBody>
          <a:bodyPr>
            <a:normAutofit/>
          </a:bodyPr>
          <a:lstStyle/>
          <a:p>
            <a:r>
              <a:rPr lang="en-GB" sz="3200" dirty="0"/>
              <a:t>New propositions are formed by combining one or more propositions.</a:t>
            </a:r>
          </a:p>
          <a:p>
            <a:r>
              <a:rPr lang="en-GB" sz="3200" dirty="0"/>
              <a:t>These are formed from existing propositions using logical operators</a:t>
            </a:r>
          </a:p>
          <a:p>
            <a:r>
              <a:rPr lang="en-GB" sz="3200" dirty="0"/>
              <a:t>The newly formed propositions are termed as COMPOUND PROPOSITIONS.</a:t>
            </a:r>
            <a:endParaRPr lang="en-US" sz="3200" dirty="0"/>
          </a:p>
        </p:txBody>
      </p:sp>
    </p:spTree>
    <p:extLst>
      <p:ext uri="{BB962C8B-B14F-4D97-AF65-F5344CB8AC3E}">
        <p14:creationId xmlns:p14="http://schemas.microsoft.com/office/powerpoint/2010/main" val="172513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Logical Operators</a:t>
            </a:r>
            <a:endParaRPr lang="en-US" dirty="0"/>
          </a:p>
        </p:txBody>
      </p:sp>
      <p:grpSp>
        <p:nvGrpSpPr>
          <p:cNvPr id="60" name="Group 59"/>
          <p:cNvGrpSpPr/>
          <p:nvPr/>
        </p:nvGrpSpPr>
        <p:grpSpPr>
          <a:xfrm>
            <a:off x="611560" y="2161378"/>
            <a:ext cx="8281047" cy="2645066"/>
            <a:chOff x="763248" y="2161378"/>
            <a:chExt cx="8281047" cy="2645066"/>
          </a:xfrm>
        </p:grpSpPr>
        <p:sp>
          <p:nvSpPr>
            <p:cNvPr id="4" name="TextBox 3"/>
            <p:cNvSpPr txBox="1"/>
            <p:nvPr/>
          </p:nvSpPr>
          <p:spPr>
            <a:xfrm>
              <a:off x="3275856" y="2161378"/>
              <a:ext cx="2443298" cy="461665"/>
            </a:xfrm>
            <a:prstGeom prst="rect">
              <a:avLst/>
            </a:prstGeom>
            <a:noFill/>
          </p:spPr>
          <p:txBody>
            <a:bodyPr wrap="none" rtlCol="0">
              <a:spAutoFit/>
            </a:bodyPr>
            <a:lstStyle/>
            <a:p>
              <a:r>
                <a:rPr lang="en-GB" sz="2400" dirty="0"/>
                <a:t>Logical Operators</a:t>
              </a:r>
            </a:p>
          </p:txBody>
        </p:sp>
        <p:sp>
          <p:nvSpPr>
            <p:cNvPr id="6" name="TextBox 5"/>
            <p:cNvSpPr txBox="1"/>
            <p:nvPr/>
          </p:nvSpPr>
          <p:spPr>
            <a:xfrm>
              <a:off x="827584" y="2996952"/>
              <a:ext cx="1518364" cy="369332"/>
            </a:xfrm>
            <a:prstGeom prst="rect">
              <a:avLst/>
            </a:prstGeom>
            <a:noFill/>
          </p:spPr>
          <p:txBody>
            <a:bodyPr wrap="none" rtlCol="0">
              <a:spAutoFit/>
            </a:bodyPr>
            <a:lstStyle/>
            <a:p>
              <a:r>
                <a:rPr lang="en-GB" dirty="0"/>
                <a:t>Negation ( ¬ )</a:t>
              </a:r>
            </a:p>
          </p:txBody>
        </p:sp>
        <mc:AlternateContent xmlns:mc="http://schemas.openxmlformats.org/markup-compatibility/2006" xmlns:a14="http://schemas.microsoft.com/office/drawing/2010/main">
          <mc:Choice Requires="a14">
            <p:sp>
              <p:nvSpPr>
                <p:cNvPr id="7" name="TextBox 6"/>
                <p:cNvSpPr txBox="1"/>
                <p:nvPr/>
              </p:nvSpPr>
              <p:spPr>
                <a:xfrm>
                  <a:off x="979272" y="3707740"/>
                  <a:ext cx="2836995" cy="369332"/>
                </a:xfrm>
                <a:prstGeom prst="rect">
                  <a:avLst/>
                </a:prstGeom>
                <a:noFill/>
              </p:spPr>
              <p:txBody>
                <a:bodyPr wrap="none" rtlCol="0">
                  <a:spAutoFit/>
                </a:bodyPr>
                <a:lstStyle/>
                <a:p>
                  <a:r>
                    <a:rPr lang="en-GB" dirty="0"/>
                    <a:t>     Conjunction / AND ( </a:t>
                  </a:r>
                  <a14:m>
                    <m:oMath xmlns:m="http://schemas.openxmlformats.org/officeDocument/2006/math">
                      <m:r>
                        <a:rPr lang="en-GB" i="1" smtClean="0">
                          <a:latin typeface="Cambria Math"/>
                          <a:ea typeface="Cambria Math"/>
                        </a:rPr>
                        <m:t>⋀</m:t>
                      </m:r>
                    </m:oMath>
                  </a14:m>
                  <a:r>
                    <a:rPr lang="en-GB" dirty="0"/>
                    <a:t> )</a:t>
                  </a:r>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979272" y="3707740"/>
                  <a:ext cx="2836995" cy="369332"/>
                </a:xfrm>
                <a:prstGeom prst="rect">
                  <a:avLst/>
                </a:prstGeom>
                <a:blipFill rotWithShape="1">
                  <a:blip r:embed="rId2"/>
                  <a:stretch>
                    <a:fillRect l="-1935" t="-8197" r="-3226"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719154" y="2996952"/>
                  <a:ext cx="3325141" cy="369332"/>
                </a:xfrm>
                <a:prstGeom prst="rect">
                  <a:avLst/>
                </a:prstGeom>
                <a:noFill/>
              </p:spPr>
              <p:txBody>
                <a:bodyPr wrap="none" rtlCol="0">
                  <a:spAutoFit/>
                </a:bodyPr>
                <a:lstStyle/>
                <a:p>
                  <a:r>
                    <a:rPr lang="en-GB" dirty="0"/>
                    <a:t>Exclusive Disjunction/ XOR ( </a:t>
                  </a:r>
                  <a14:m>
                    <m:oMath xmlns:m="http://schemas.openxmlformats.org/officeDocument/2006/math">
                      <m:r>
                        <a:rPr lang="en-GB" i="1" smtClean="0">
                          <a:latin typeface="Cambria Math"/>
                          <a:ea typeface="Cambria Math"/>
                        </a:rPr>
                        <m:t>⨁</m:t>
                      </m:r>
                    </m:oMath>
                  </a14:m>
                  <a:r>
                    <a:rPr lang="en-GB" dirty="0"/>
                    <a:t> )</a:t>
                  </a:r>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5719154" y="2996952"/>
                  <a:ext cx="3325141" cy="369332"/>
                </a:xfrm>
                <a:prstGeom prst="rect">
                  <a:avLst/>
                </a:prstGeom>
                <a:blipFill rotWithShape="1">
                  <a:blip r:embed="rId3"/>
                  <a:stretch>
                    <a:fillRect l="-1465" t="-8333" r="-2564" b="-26667"/>
                  </a:stretch>
                </a:blipFill>
              </p:spPr>
              <p:txBody>
                <a:bodyPr/>
                <a:lstStyle/>
                <a:p>
                  <a:r>
                    <a:rPr lang="en-US">
                      <a:noFill/>
                    </a:rPr>
                    <a:t> </a:t>
                  </a:r>
                </a:p>
              </p:txBody>
            </p:sp>
          </mc:Fallback>
        </mc:AlternateContent>
        <p:cxnSp>
          <p:nvCxnSpPr>
            <p:cNvPr id="16" name="Elbow Connector 15"/>
            <p:cNvCxnSpPr>
              <a:stCxn id="4" idx="1"/>
              <a:endCxn id="6" idx="0"/>
            </p:cNvCxnSpPr>
            <p:nvPr/>
          </p:nvCxnSpPr>
          <p:spPr>
            <a:xfrm rot="10800000" flipV="1">
              <a:off x="1586766" y="2392210"/>
              <a:ext cx="1689090" cy="604741"/>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4" idx="3"/>
              <a:endCxn id="9" idx="0"/>
            </p:cNvCxnSpPr>
            <p:nvPr/>
          </p:nvCxnSpPr>
          <p:spPr>
            <a:xfrm>
              <a:off x="5719154" y="2392211"/>
              <a:ext cx="1662571" cy="604741"/>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4" idx="2"/>
              <a:endCxn id="61" idx="0"/>
            </p:cNvCxnSpPr>
            <p:nvPr/>
          </p:nvCxnSpPr>
          <p:spPr>
            <a:xfrm rot="16200000" flipH="1">
              <a:off x="4976869" y="2143678"/>
              <a:ext cx="1084697" cy="2043425"/>
            </a:xfrm>
            <a:prstGeom prst="bentConnector3">
              <a:avLst>
                <a:gd name="adj1" fmla="val 7255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4" idx="2"/>
              <a:endCxn id="7" idx="0"/>
            </p:cNvCxnSpPr>
            <p:nvPr/>
          </p:nvCxnSpPr>
          <p:spPr>
            <a:xfrm rot="5400000">
              <a:off x="2905290" y="2115524"/>
              <a:ext cx="1084697" cy="2099735"/>
            </a:xfrm>
            <a:prstGeom prst="bentConnector3">
              <a:avLst>
                <a:gd name="adj1" fmla="val 72559"/>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p:cNvSpPr txBox="1"/>
                <p:nvPr/>
              </p:nvSpPr>
              <p:spPr>
                <a:xfrm>
                  <a:off x="763248" y="4437112"/>
                  <a:ext cx="3193503" cy="369332"/>
                </a:xfrm>
                <a:prstGeom prst="rect">
                  <a:avLst/>
                </a:prstGeom>
                <a:noFill/>
              </p:spPr>
              <p:txBody>
                <a:bodyPr wrap="none" rtlCol="0">
                  <a:spAutoFit/>
                </a:bodyPr>
                <a:lstStyle/>
                <a:p>
                  <a:r>
                    <a:rPr lang="en-GB" dirty="0"/>
                    <a:t>Conditionals / Implications ( </a:t>
                  </a:r>
                  <a14:m>
                    <m:oMath xmlns:m="http://schemas.openxmlformats.org/officeDocument/2006/math">
                      <m:r>
                        <a:rPr lang="en-GB" b="0" i="1" smtClean="0">
                          <a:latin typeface="Cambria Math"/>
                          <a:ea typeface="Cambria Math"/>
                        </a:rPr>
                        <m:t>→ </m:t>
                      </m:r>
                    </m:oMath>
                  </a14:m>
                  <a:r>
                    <a:rPr lang="en-US" dirty="0"/>
                    <a:t>)</a:t>
                  </a:r>
                </a:p>
              </p:txBody>
            </p:sp>
          </mc:Choice>
          <mc:Fallback xmlns="">
            <p:sp>
              <p:nvSpPr>
                <p:cNvPr id="38" name="TextBox 37"/>
                <p:cNvSpPr txBox="1">
                  <a:spLocks noRot="1" noChangeAspect="1" noMove="1" noResize="1" noEditPoints="1" noAdjustHandles="1" noChangeArrowheads="1" noChangeShapeType="1" noTextEdit="1"/>
                </p:cNvSpPr>
                <p:nvPr/>
              </p:nvSpPr>
              <p:spPr>
                <a:xfrm>
                  <a:off x="763248" y="4437112"/>
                  <a:ext cx="3193503" cy="369332"/>
                </a:xfrm>
                <a:prstGeom prst="rect">
                  <a:avLst/>
                </a:prstGeom>
                <a:blipFill rotWithShape="1">
                  <a:blip r:embed="rId4"/>
                  <a:stretch>
                    <a:fillRect l="-1527" t="-8333" r="-2863"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011720" y="4437112"/>
                  <a:ext cx="2116285" cy="369332"/>
                </a:xfrm>
                <a:prstGeom prst="rect">
                  <a:avLst/>
                </a:prstGeom>
                <a:noFill/>
              </p:spPr>
              <p:txBody>
                <a:bodyPr wrap="none" rtlCol="0">
                  <a:spAutoFit/>
                </a:bodyPr>
                <a:lstStyle/>
                <a:p>
                  <a:r>
                    <a:rPr lang="en-GB" dirty="0"/>
                    <a:t>Bi-conditionals ( </a:t>
                  </a:r>
                  <a14:m>
                    <m:oMath xmlns:m="http://schemas.openxmlformats.org/officeDocument/2006/math">
                      <m:r>
                        <a:rPr lang="en-GB" b="0" i="1" smtClean="0">
                          <a:latin typeface="Cambria Math"/>
                          <a:ea typeface="Cambria Math"/>
                        </a:rPr>
                        <m:t>↔</m:t>
                      </m:r>
                    </m:oMath>
                  </a14:m>
                  <a:r>
                    <a:rPr lang="en-US" dirty="0"/>
                    <a:t> )</a:t>
                  </a:r>
                </a:p>
              </p:txBody>
            </p:sp>
          </mc:Choice>
          <mc:Fallback xmlns="">
            <p:sp>
              <p:nvSpPr>
                <p:cNvPr id="39" name="TextBox 38"/>
                <p:cNvSpPr txBox="1">
                  <a:spLocks noRot="1" noChangeAspect="1" noMove="1" noResize="1" noEditPoints="1" noAdjustHandles="1" noChangeArrowheads="1" noChangeShapeType="1" noTextEdit="1"/>
                </p:cNvSpPr>
                <p:nvPr/>
              </p:nvSpPr>
              <p:spPr>
                <a:xfrm>
                  <a:off x="5011720" y="4437112"/>
                  <a:ext cx="2116285" cy="369332"/>
                </a:xfrm>
                <a:prstGeom prst="rect">
                  <a:avLst/>
                </a:prstGeom>
                <a:blipFill rotWithShape="1">
                  <a:blip r:embed="rId5"/>
                  <a:stretch>
                    <a:fillRect l="-2305" t="-8333" r="-4899" b="-26667"/>
                  </a:stretch>
                </a:blipFill>
              </p:spPr>
              <p:txBody>
                <a:bodyPr/>
                <a:lstStyle/>
                <a:p>
                  <a:r>
                    <a:rPr lang="en-US">
                      <a:noFill/>
                    </a:rPr>
                    <a:t> </a:t>
                  </a:r>
                </a:p>
              </p:txBody>
            </p:sp>
          </mc:Fallback>
        </mc:AlternateContent>
        <p:cxnSp>
          <p:nvCxnSpPr>
            <p:cNvPr id="41" name="Elbow Connector 40"/>
            <p:cNvCxnSpPr>
              <a:stCxn id="4" idx="2"/>
              <a:endCxn id="38" idx="3"/>
            </p:cNvCxnSpPr>
            <p:nvPr/>
          </p:nvCxnSpPr>
          <p:spPr>
            <a:xfrm rot="5400000">
              <a:off x="3227761" y="3352033"/>
              <a:ext cx="1998735" cy="54075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Elbow Connector 42"/>
            <p:cNvCxnSpPr>
              <a:stCxn id="4" idx="2"/>
              <a:endCxn id="39" idx="1"/>
            </p:cNvCxnSpPr>
            <p:nvPr/>
          </p:nvCxnSpPr>
          <p:spPr>
            <a:xfrm rot="16200000" flipH="1">
              <a:off x="3755245" y="3365302"/>
              <a:ext cx="1998735" cy="51421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1" name="TextBox 60"/>
              <p:cNvSpPr txBox="1"/>
              <p:nvPr/>
            </p:nvSpPr>
            <p:spPr>
              <a:xfrm>
                <a:off x="5254155" y="3707740"/>
                <a:ext cx="2270173" cy="369332"/>
              </a:xfrm>
              <a:prstGeom prst="rect">
                <a:avLst/>
              </a:prstGeom>
              <a:noFill/>
            </p:spPr>
            <p:txBody>
              <a:bodyPr wrap="none" rtlCol="0">
                <a:spAutoFit/>
              </a:bodyPr>
              <a:lstStyle/>
              <a:p>
                <a:r>
                  <a:rPr lang="en-GB" dirty="0"/>
                  <a:t>Disjunction / OR ( </a:t>
                </a:r>
                <a14:m>
                  <m:oMath xmlns:m="http://schemas.openxmlformats.org/officeDocument/2006/math">
                    <m:r>
                      <a:rPr lang="en-GB" i="1" smtClean="0">
                        <a:latin typeface="Cambria Math"/>
                        <a:ea typeface="Cambria Math"/>
                      </a:rPr>
                      <m:t>⋁</m:t>
                    </m:r>
                  </m:oMath>
                </a14:m>
                <a:r>
                  <a:rPr lang="en-GB" dirty="0"/>
                  <a:t> )</a:t>
                </a:r>
                <a:endParaRPr lang="en-US" dirty="0"/>
              </a:p>
            </p:txBody>
          </p:sp>
        </mc:Choice>
        <mc:Fallback xmlns="">
          <p:sp>
            <p:nvSpPr>
              <p:cNvPr id="61" name="TextBox 60"/>
              <p:cNvSpPr txBox="1">
                <a:spLocks noRot="1" noChangeAspect="1" noMove="1" noResize="1" noEditPoints="1" noAdjustHandles="1" noChangeArrowheads="1" noChangeShapeType="1" noTextEdit="1"/>
              </p:cNvSpPr>
              <p:nvPr/>
            </p:nvSpPr>
            <p:spPr>
              <a:xfrm>
                <a:off x="5254155" y="3707740"/>
                <a:ext cx="2270173" cy="369332"/>
              </a:xfrm>
              <a:prstGeom prst="rect">
                <a:avLst/>
              </a:prstGeom>
              <a:blipFill rotWithShape="1">
                <a:blip r:embed="rId6"/>
                <a:stretch>
                  <a:fillRect l="-2419" t="-8197" r="-4301" b="-24590"/>
                </a:stretch>
              </a:blipFill>
            </p:spPr>
            <p:txBody>
              <a:bodyPr/>
              <a:lstStyle/>
              <a:p>
                <a:r>
                  <a:rPr lang="en-US">
                    <a:noFill/>
                  </a:rPr>
                  <a:t> </a:t>
                </a:r>
              </a:p>
            </p:txBody>
          </p:sp>
        </mc:Fallback>
      </mc:AlternateContent>
    </p:spTree>
    <p:extLst>
      <p:ext uri="{BB962C8B-B14F-4D97-AF65-F5344CB8AC3E}">
        <p14:creationId xmlns:p14="http://schemas.microsoft.com/office/powerpoint/2010/main" val="32989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Negation Operator (¬)</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227544"/>
                <a:ext cx="8229600" cy="4937760"/>
              </a:xfrm>
            </p:spPr>
            <p:txBody>
              <a:bodyPr/>
              <a:lstStyle/>
              <a:p>
                <a:r>
                  <a:rPr lang="en-GB" sz="3200" b="1" u="sng" dirty="0"/>
                  <a:t>Definition</a:t>
                </a:r>
                <a:r>
                  <a:rPr lang="en-GB" b="1" u="sng" dirty="0"/>
                  <a:t>:</a:t>
                </a:r>
              </a:p>
              <a:p>
                <a:pPr lvl="1"/>
                <a:r>
                  <a:rPr lang="en-US" sz="2500" dirty="0"/>
                  <a:t>Let </a:t>
                </a:r>
                <a14:m>
                  <m:oMath xmlns:m="http://schemas.openxmlformats.org/officeDocument/2006/math">
                    <m:r>
                      <a:rPr lang="en-US" sz="2500" b="1" i="1" dirty="0" smtClean="0">
                        <a:latin typeface="Cambria Math"/>
                      </a:rPr>
                      <m:t>𝒑</m:t>
                    </m:r>
                  </m:oMath>
                </a14:m>
                <a:r>
                  <a:rPr lang="en-US" sz="2500" dirty="0"/>
                  <a:t> be a proposition. </a:t>
                </a:r>
              </a:p>
              <a:p>
                <a:pPr lvl="1"/>
                <a:r>
                  <a:rPr lang="en-US" sz="2500" dirty="0"/>
                  <a:t>The negation of </a:t>
                </a:r>
                <a14:m>
                  <m:oMath xmlns:m="http://schemas.openxmlformats.org/officeDocument/2006/math">
                    <m:r>
                      <a:rPr lang="en-US" sz="2500" b="1" i="1" dirty="0" smtClean="0">
                        <a:latin typeface="Cambria Math"/>
                      </a:rPr>
                      <m:t>𝒑</m:t>
                    </m:r>
                  </m:oMath>
                </a14:m>
                <a:r>
                  <a:rPr lang="en-US" sz="2500" dirty="0"/>
                  <a:t>, denoted by </a:t>
                </a:r>
                <a14:m>
                  <m:oMath xmlns:m="http://schemas.openxmlformats.org/officeDocument/2006/math">
                    <m:r>
                      <a:rPr lang="en-US" sz="2500" b="1" i="0" dirty="0" smtClean="0">
                        <a:latin typeface="Cambria Math"/>
                      </a:rPr>
                      <m:t>¬</m:t>
                    </m:r>
                    <m:r>
                      <a:rPr lang="en-US" sz="2500" b="1" i="1" dirty="0" smtClean="0">
                        <a:latin typeface="Cambria Math"/>
                      </a:rPr>
                      <m:t>𝒑</m:t>
                    </m:r>
                  </m:oMath>
                </a14:m>
                <a:r>
                  <a:rPr lang="en-US" sz="2500" dirty="0"/>
                  <a:t> (also denoted by </a:t>
                </a:r>
                <a14:m>
                  <m:oMath xmlns:m="http://schemas.openxmlformats.org/officeDocument/2006/math">
                    <m:acc>
                      <m:accPr>
                        <m:chr m:val="̅"/>
                        <m:ctrlPr>
                          <a:rPr lang="en-US" sz="2500" b="1" i="1" smtClean="0">
                            <a:latin typeface="Cambria Math" panose="02040503050406030204" pitchFamily="18" charset="0"/>
                          </a:rPr>
                        </m:ctrlPr>
                      </m:accPr>
                      <m:e>
                        <m:r>
                          <a:rPr lang="en-GB" sz="2500" b="1" i="1" smtClean="0">
                            <a:latin typeface="Cambria Math"/>
                          </a:rPr>
                          <m:t>𝒑</m:t>
                        </m:r>
                      </m:e>
                    </m:acc>
                  </m:oMath>
                </a14:m>
                <a:r>
                  <a:rPr lang="en-US" sz="2500" dirty="0"/>
                  <a:t>), is the proposition,</a:t>
                </a:r>
                <a:r>
                  <a:rPr lang="en-US" sz="2500" i="1" dirty="0"/>
                  <a:t> </a:t>
                </a:r>
                <a:r>
                  <a:rPr lang="en-US" sz="2800" dirty="0"/>
                  <a:t>“It is not the case that </a:t>
                </a:r>
                <a14:m>
                  <m:oMath xmlns:m="http://schemas.openxmlformats.org/officeDocument/2006/math">
                    <m:r>
                      <a:rPr lang="en-US" sz="2800" b="1" i="1" dirty="0" smtClean="0">
                        <a:latin typeface="Cambria Math"/>
                      </a:rPr>
                      <m:t>𝒑</m:t>
                    </m:r>
                  </m:oMath>
                </a14:m>
                <a:r>
                  <a:rPr lang="en-US" sz="2800" dirty="0"/>
                  <a:t>.”</a:t>
                </a:r>
              </a:p>
              <a:p>
                <a:pPr lvl="1"/>
                <a:r>
                  <a:rPr lang="en-US" sz="2500" dirty="0"/>
                  <a:t>The proposition </a:t>
                </a:r>
                <a14:m>
                  <m:oMath xmlns:m="http://schemas.openxmlformats.org/officeDocument/2006/math">
                    <m:r>
                      <a:rPr lang="en-US" sz="2500" b="1" i="1" dirty="0" smtClean="0">
                        <a:latin typeface="Cambria Math"/>
                      </a:rPr>
                      <m:t>¬</m:t>
                    </m:r>
                    <m:r>
                      <a:rPr lang="en-US" sz="2500" b="1" i="1" dirty="0" smtClean="0">
                        <a:latin typeface="Cambria Math"/>
                      </a:rPr>
                      <m:t>𝒑</m:t>
                    </m:r>
                  </m:oMath>
                </a14:m>
                <a:r>
                  <a:rPr lang="en-US" sz="2500" b="1" dirty="0"/>
                  <a:t> </a:t>
                </a:r>
                <a:r>
                  <a:rPr lang="en-US" sz="2500" dirty="0"/>
                  <a:t>or </a:t>
                </a:r>
                <a14:m>
                  <m:oMath xmlns:m="http://schemas.openxmlformats.org/officeDocument/2006/math">
                    <m:acc>
                      <m:accPr>
                        <m:chr m:val="̅"/>
                        <m:ctrlPr>
                          <a:rPr lang="en-US" sz="2500" b="1" i="1" smtClean="0">
                            <a:latin typeface="Cambria Math" panose="02040503050406030204" pitchFamily="18" charset="0"/>
                          </a:rPr>
                        </m:ctrlPr>
                      </m:accPr>
                      <m:e>
                        <m:r>
                          <a:rPr lang="en-GB" sz="2500" b="1" i="1" smtClean="0">
                            <a:latin typeface="Cambria Math"/>
                          </a:rPr>
                          <m:t>𝒑</m:t>
                        </m:r>
                      </m:e>
                    </m:acc>
                  </m:oMath>
                </a14:m>
                <a:r>
                  <a:rPr lang="en-US" sz="2500" dirty="0"/>
                  <a:t> is read “</a:t>
                </a:r>
                <a:r>
                  <a:rPr lang="en-US" sz="2500" b="1" dirty="0"/>
                  <a:t>not p</a:t>
                </a:r>
                <a:r>
                  <a:rPr lang="en-US" sz="2500" dirty="0"/>
                  <a:t>.” </a:t>
                </a:r>
              </a:p>
              <a:p>
                <a:pPr lvl="1"/>
                <a:r>
                  <a:rPr lang="en-US" sz="2500" dirty="0"/>
                  <a:t>The truth value of </a:t>
                </a:r>
                <a14:m>
                  <m:oMath xmlns:m="http://schemas.openxmlformats.org/officeDocument/2006/math">
                    <m:r>
                      <a:rPr lang="en-US" sz="2500" b="1" i="1" dirty="0" smtClean="0">
                        <a:latin typeface="Cambria Math"/>
                      </a:rPr>
                      <m:t>¬</m:t>
                    </m:r>
                    <m:r>
                      <a:rPr lang="en-US" sz="2500" b="1" i="1" dirty="0" smtClean="0">
                        <a:latin typeface="Cambria Math"/>
                      </a:rPr>
                      <m:t>𝒑</m:t>
                    </m:r>
                  </m:oMath>
                </a14:m>
                <a:r>
                  <a:rPr lang="en-US" sz="2500" dirty="0"/>
                  <a:t>, is the opposite of that of </a:t>
                </a:r>
                <a14:m>
                  <m:oMath xmlns:m="http://schemas.openxmlformats.org/officeDocument/2006/math">
                    <m:r>
                      <a:rPr lang="en-US" sz="2500" b="1" i="1" dirty="0" smtClean="0">
                        <a:latin typeface="Cambria Math"/>
                      </a:rPr>
                      <m:t>𝒑</m:t>
                    </m:r>
                  </m:oMath>
                </a14:m>
                <a:r>
                  <a:rPr lang="en-US" sz="2500"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227544"/>
                <a:ext cx="8229600" cy="4937760"/>
              </a:xfrm>
              <a:blipFill rotWithShape="1">
                <a:blip r:embed="rId2"/>
                <a:stretch>
                  <a:fillRect l="-1037" t="-1605" r="-5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907768219"/>
                  </p:ext>
                </p:extLst>
              </p:nvPr>
            </p:nvGraphicFramePr>
            <p:xfrm>
              <a:off x="1547664" y="4365104"/>
              <a:ext cx="6096000" cy="1112520"/>
            </p:xfrm>
            <a:graphic>
              <a:graphicData uri="http://schemas.openxmlformats.org/drawingml/2006/table">
                <a:tbl>
                  <a:tblPr firstRow="1">
                    <a:tableStyleId>{ED083AE6-46FA-4A59-8FB0-9F97EB10719F}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GB" smtClean="0">
                                        <a:latin typeface="Cambria Math"/>
                                      </a:rPr>
                                      <m:t>𝒑</m:t>
                                    </m:r>
                                  </m:e>
                                </m:acc>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907768219"/>
                  </p:ext>
                </p:extLst>
              </p:nvPr>
            </p:nvGraphicFramePr>
            <p:xfrm>
              <a:off x="1547664" y="4365104"/>
              <a:ext cx="6096000" cy="1112520"/>
            </p:xfrm>
            <a:graphic>
              <a:graphicData uri="http://schemas.openxmlformats.org/drawingml/2006/table">
                <a:tbl>
                  <a:tblPr firstRow="1">
                    <a:tableStyleId>{ED083AE6-46FA-4A59-8FB0-9F97EB10719F}</a:tableStyleId>
                  </a:tblPr>
                  <a:tblGrid>
                    <a:gridCol w="3048000"/>
                    <a:gridCol w="3048000"/>
                  </a:tblGrid>
                  <a:tr h="370840">
                    <a:tc>
                      <a:txBody>
                        <a:bodyPr/>
                        <a:lstStyle/>
                        <a:p>
                          <a:endParaRPr lang="en-US"/>
                        </a:p>
                      </a:txBody>
                      <a:tcPr>
                        <a:blipFill rotWithShape="1">
                          <a:blip r:embed="rId3"/>
                          <a:stretch>
                            <a:fillRect l="-200" t="-8197" r="-100000" b="-224590"/>
                          </a:stretch>
                        </a:blipFill>
                      </a:tcPr>
                    </a:tc>
                    <a:tc>
                      <a:txBody>
                        <a:bodyPr/>
                        <a:lstStyle/>
                        <a:p>
                          <a:endParaRPr lang="en-US"/>
                        </a:p>
                      </a:txBody>
                      <a:tcPr>
                        <a:blipFill rotWithShape="1">
                          <a:blip r:embed="rId3"/>
                          <a:stretch>
                            <a:fillRect l="-100200" t="-8197" b="-224590"/>
                          </a:stretch>
                        </a:blipFill>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1802019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Negation Operator (¬) (contd.)</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fontScale="85000" lnSpcReduction="10000"/>
              </a:bodyPr>
              <a:lstStyle/>
              <a:p>
                <a:r>
                  <a:rPr lang="en-GB" sz="3200" b="1" u="sng" dirty="0"/>
                  <a:t>Examples:</a:t>
                </a:r>
              </a:p>
              <a:p>
                <a:pPr lvl="1"/>
                <a14:m>
                  <m:oMath xmlns:m="http://schemas.openxmlformats.org/officeDocument/2006/math">
                    <m:r>
                      <a:rPr lang="en-GB" sz="2900" b="1" i="1" smtClean="0">
                        <a:latin typeface="Cambria Math"/>
                      </a:rPr>
                      <m:t>𝒑</m:t>
                    </m:r>
                    <m:r>
                      <a:rPr lang="en-GB" sz="2900" b="1" i="1" smtClean="0">
                        <a:latin typeface="Cambria Math"/>
                      </a:rPr>
                      <m:t> : </m:t>
                    </m:r>
                  </m:oMath>
                </a14:m>
                <a:r>
                  <a:rPr lang="en-GB" sz="2900" dirty="0"/>
                  <a:t>“Adam has a high resolution PC.” </a:t>
                </a:r>
              </a:p>
              <a:p>
                <a:pPr lvl="1"/>
                <a14:m>
                  <m:oMath xmlns:m="http://schemas.openxmlformats.org/officeDocument/2006/math">
                    <m:r>
                      <a:rPr lang="en-GB" sz="2900" b="1" i="1" dirty="0" smtClean="0">
                        <a:latin typeface="Cambria Math"/>
                      </a:rPr>
                      <m:t>¬</m:t>
                    </m:r>
                    <m:r>
                      <a:rPr lang="en-GB" sz="2900" b="1" i="1" dirty="0" smtClean="0">
                        <a:latin typeface="Cambria Math"/>
                      </a:rPr>
                      <m:t>𝒑</m:t>
                    </m:r>
                    <m:r>
                      <a:rPr lang="en-GB" sz="2900" b="1" i="1" dirty="0" smtClean="0">
                        <a:latin typeface="Cambria Math"/>
                      </a:rPr>
                      <m:t> </m:t>
                    </m:r>
                  </m:oMath>
                </a14:m>
                <a:r>
                  <a:rPr lang="en-GB" sz="2900" dirty="0"/>
                  <a:t>: </a:t>
                </a:r>
              </a:p>
              <a:p>
                <a:pPr lvl="2"/>
                <a:r>
                  <a:rPr lang="en-GB" sz="2600" dirty="0"/>
                  <a:t>“Adam does not have a high resolution PC.”  </a:t>
                </a:r>
                <a:r>
                  <a:rPr lang="en-GB" sz="2600" b="1" dirty="0"/>
                  <a:t>Or</a:t>
                </a:r>
                <a:r>
                  <a:rPr lang="en-GB" sz="2600" dirty="0"/>
                  <a:t>,</a:t>
                </a:r>
              </a:p>
              <a:p>
                <a:pPr lvl="2"/>
                <a:r>
                  <a:rPr lang="en-GB" sz="2600" dirty="0"/>
                  <a:t>“It is not the case that  Adam has a high resolution PC.”</a:t>
                </a:r>
              </a:p>
              <a:p>
                <a:pPr lvl="1"/>
                <a:endParaRPr lang="en-GB" sz="2900" dirty="0"/>
              </a:p>
              <a:p>
                <a:pPr lvl="1"/>
                <a14:m>
                  <m:oMath xmlns:m="http://schemas.openxmlformats.org/officeDocument/2006/math">
                    <m:r>
                      <a:rPr lang="en-GB" sz="2900" b="1" i="1">
                        <a:latin typeface="Cambria Math"/>
                      </a:rPr>
                      <m:t>𝒑</m:t>
                    </m:r>
                    <m:r>
                      <a:rPr lang="en-GB" sz="2900" b="1" i="1">
                        <a:latin typeface="Cambria Math"/>
                      </a:rPr>
                      <m:t> : </m:t>
                    </m:r>
                  </m:oMath>
                </a14:m>
                <a:r>
                  <a:rPr lang="en-GB" sz="2900" dirty="0"/>
                  <a:t>“Dean’s smartphone has at least 32GB of memory.”</a:t>
                </a:r>
              </a:p>
              <a:p>
                <a:pPr lvl="1"/>
                <a14:m>
                  <m:oMath xmlns:m="http://schemas.openxmlformats.org/officeDocument/2006/math">
                    <m:r>
                      <a:rPr lang="en-GB" sz="2900" b="1" i="1" dirty="0">
                        <a:latin typeface="Cambria Math"/>
                      </a:rPr>
                      <m:t>¬</m:t>
                    </m:r>
                    <m:r>
                      <a:rPr lang="en-GB" sz="2900" b="1" i="1" dirty="0">
                        <a:latin typeface="Cambria Math"/>
                      </a:rPr>
                      <m:t>𝒑</m:t>
                    </m:r>
                    <m:r>
                      <a:rPr lang="en-GB" sz="2900" b="1" i="1" dirty="0">
                        <a:latin typeface="Cambria Math"/>
                      </a:rPr>
                      <m:t> </m:t>
                    </m:r>
                  </m:oMath>
                </a14:m>
                <a:r>
                  <a:rPr lang="en-GB" sz="2900" dirty="0"/>
                  <a:t>: </a:t>
                </a:r>
              </a:p>
              <a:p>
                <a:pPr lvl="2"/>
                <a:r>
                  <a:rPr lang="en-GB" sz="2600" dirty="0"/>
                  <a:t>“Dean’s smartphone does not have at least 32GB of memory.”   </a:t>
                </a:r>
                <a:r>
                  <a:rPr lang="en-GB" sz="2600" b="1" dirty="0"/>
                  <a:t>Or</a:t>
                </a:r>
                <a:r>
                  <a:rPr lang="en-GB" sz="2600" dirty="0"/>
                  <a:t>,</a:t>
                </a:r>
              </a:p>
              <a:p>
                <a:pPr lvl="2"/>
                <a:r>
                  <a:rPr lang="en-GB" sz="2600" dirty="0"/>
                  <a:t>“It is not the case that Dean’s smartphone has at least 32GB of memory.”   </a:t>
                </a:r>
                <a:r>
                  <a:rPr lang="en-GB" sz="2600" b="1" dirty="0"/>
                  <a:t>Or</a:t>
                </a:r>
                <a:r>
                  <a:rPr lang="en-GB" sz="2600" dirty="0"/>
                  <a:t>,</a:t>
                </a:r>
              </a:p>
              <a:p>
                <a:pPr lvl="2"/>
                <a:r>
                  <a:rPr lang="en-GB" sz="2600" dirty="0"/>
                  <a:t>“Dean’s smartphone has less than 32 GB of memory.”</a:t>
                </a:r>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741" t="-2099" r="-1556" b="-2222"/>
                </a:stretch>
              </a:blipFill>
            </p:spPr>
            <p:txBody>
              <a:bodyPr/>
              <a:lstStyle/>
              <a:p>
                <a:r>
                  <a:rPr lang="en-US">
                    <a:noFill/>
                  </a:rPr>
                  <a:t> </a:t>
                </a:r>
              </a:p>
            </p:txBody>
          </p:sp>
        </mc:Fallback>
      </mc:AlternateContent>
    </p:spTree>
    <p:extLst>
      <p:ext uri="{BB962C8B-B14F-4D97-AF65-F5344CB8AC3E}">
        <p14:creationId xmlns:p14="http://schemas.microsoft.com/office/powerpoint/2010/main" val="2222969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pPr algn="ctr"/>
                <a:r>
                  <a:rPr lang="en-GB" dirty="0"/>
                  <a:t>Conjunction / AND operator ( </a:t>
                </a:r>
                <a14:m>
                  <m:oMath xmlns:m="http://schemas.openxmlformats.org/officeDocument/2006/math">
                    <m:r>
                      <a:rPr lang="en-GB" i="1" smtClean="0">
                        <a:latin typeface="Cambria Math"/>
                        <a:ea typeface="Cambria Math"/>
                      </a:rPr>
                      <m:t>⋀</m:t>
                    </m:r>
                  </m:oMath>
                </a14:m>
                <a:r>
                  <a:rPr lang="en-US" dirty="0"/>
                  <a:t> )</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b="-19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Definition:</a:t>
                </a:r>
              </a:p>
              <a:p>
                <a:pPr lvl="1"/>
                <a:r>
                  <a:rPr lang="en-US" sz="2500" dirty="0"/>
                  <a:t>Let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be propositions. </a:t>
                </a:r>
              </a:p>
              <a:p>
                <a:pPr lvl="1"/>
                <a:r>
                  <a:rPr lang="en-US" sz="2500" dirty="0"/>
                  <a:t>The conjunction of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denoted by </a:t>
                </a:r>
                <a14:m>
                  <m:oMath xmlns:m="http://schemas.openxmlformats.org/officeDocument/2006/math">
                    <m:r>
                      <a:rPr lang="en-US" sz="2500" b="1" i="1" dirty="0" smtClean="0">
                        <a:latin typeface="Cambria Math"/>
                      </a:rPr>
                      <m:t>𝒑</m:t>
                    </m:r>
                    <m:r>
                      <a:rPr lang="en-US" sz="2500" b="1" i="1" dirty="0" smtClean="0">
                        <a:latin typeface="Cambria Math"/>
                      </a:rPr>
                      <m:t>∧</m:t>
                    </m:r>
                    <m:r>
                      <a:rPr lang="en-US" sz="2500" b="1" i="1" dirty="0" smtClean="0">
                        <a:latin typeface="Cambria Math"/>
                      </a:rPr>
                      <m:t>𝒒</m:t>
                    </m:r>
                  </m:oMath>
                </a14:m>
                <a:r>
                  <a:rPr lang="en-US" sz="2500" dirty="0"/>
                  <a:t>, is the proposition ,“</a:t>
                </a:r>
                <a14:m>
                  <m:oMath xmlns:m="http://schemas.openxmlformats.org/officeDocument/2006/math">
                    <m:r>
                      <a:rPr lang="en-US" sz="2500" b="1" i="1" dirty="0" smtClean="0">
                        <a:latin typeface="Cambria Math"/>
                      </a:rPr>
                      <m:t>𝒑</m:t>
                    </m:r>
                    <m:r>
                      <a:rPr lang="en-US" sz="2500" b="1" i="1" dirty="0" smtClean="0">
                        <a:latin typeface="Cambria Math"/>
                      </a:rPr>
                      <m:t> </m:t>
                    </m:r>
                    <m:r>
                      <a:rPr lang="en-US" sz="2500" b="1" i="1" dirty="0">
                        <a:latin typeface="Cambria Math"/>
                      </a:rPr>
                      <m:t>𝒂𝒏𝒅</m:t>
                    </m:r>
                    <m:r>
                      <a:rPr lang="en-US" sz="2500" b="1" i="1" dirty="0">
                        <a:latin typeface="Cambria Math"/>
                      </a:rPr>
                      <m:t> </m:t>
                    </m:r>
                    <m:r>
                      <a:rPr lang="en-US" sz="2500" b="1" i="1" dirty="0">
                        <a:latin typeface="Cambria Math"/>
                      </a:rPr>
                      <m:t>𝒒</m:t>
                    </m:r>
                  </m:oMath>
                </a14:m>
                <a:r>
                  <a:rPr lang="en-US" sz="2500" dirty="0"/>
                  <a:t>” </a:t>
                </a:r>
              </a:p>
              <a:p>
                <a:pPr lvl="1"/>
                <a:r>
                  <a:rPr lang="en-US" sz="2500" dirty="0"/>
                  <a:t>The conjunction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is true when both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are true and is false otherwise.</a:t>
                </a:r>
                <a:endParaRPr lang="en-GB" sz="7700" dirty="0"/>
              </a:p>
              <a:p>
                <a:pPr lvl="1"/>
                <a:endParaRPr lang="en-US" sz="29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1037" t="-1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915939207"/>
                  </p:ext>
                </p:extLst>
              </p:nvPr>
            </p:nvGraphicFramePr>
            <p:xfrm>
              <a:off x="1619672" y="4149080"/>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915939207"/>
                  </p:ext>
                </p:extLst>
              </p:nvPr>
            </p:nvGraphicFramePr>
            <p:xfrm>
              <a:off x="1619672" y="4149080"/>
              <a:ext cx="6096000" cy="185420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4"/>
                          <a:stretch>
                            <a:fillRect l="-300" t="-8197" r="-200300" b="-422951"/>
                          </a:stretch>
                        </a:blipFill>
                      </a:tcPr>
                    </a:tc>
                    <a:tc>
                      <a:txBody>
                        <a:bodyPr/>
                        <a:lstStyle/>
                        <a:p>
                          <a:endParaRPr lang="en-US"/>
                        </a:p>
                      </a:txBody>
                      <a:tcPr>
                        <a:blipFill rotWithShape="1">
                          <a:blip r:embed="rId4"/>
                          <a:stretch>
                            <a:fillRect l="-100000" t="-8197" r="-99701" b="-422951"/>
                          </a:stretch>
                        </a:blipFill>
                      </a:tcPr>
                    </a:tc>
                    <a:tc>
                      <a:txBody>
                        <a:bodyPr/>
                        <a:lstStyle/>
                        <a:p>
                          <a:endParaRPr lang="en-US"/>
                        </a:p>
                      </a:txBody>
                      <a:tcPr>
                        <a:blipFill rotWithShape="1">
                          <a:blip r:embed="rId4"/>
                          <a:stretch>
                            <a:fillRect l="-200601"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359278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pPr algn="ctr"/>
                <a:r>
                  <a:rPr lang="en-GB" dirty="0"/>
                  <a:t>Conjunction / AND operator ( </a:t>
                </a:r>
                <a14:m>
                  <m:oMath xmlns:m="http://schemas.openxmlformats.org/officeDocument/2006/math">
                    <m:r>
                      <a:rPr lang="en-GB" i="1">
                        <a:latin typeface="Cambria Math"/>
                        <a:ea typeface="Cambria Math"/>
                      </a:rPr>
                      <m:t>⋀</m:t>
                    </m:r>
                  </m:oMath>
                </a14:m>
                <a:r>
                  <a:rPr lang="en-US" dirty="0"/>
                  <a:t> )(Contd.)</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b="-177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Examples:</a:t>
                </a:r>
              </a:p>
              <a:p>
                <a:pPr lvl="1"/>
                <a14:m>
                  <m:oMath xmlns:m="http://schemas.openxmlformats.org/officeDocument/2006/math">
                    <m:r>
                      <a:rPr lang="en-GB" sz="2500" b="1" i="1">
                        <a:latin typeface="Cambria Math"/>
                      </a:rPr>
                      <m:t>𝒑</m:t>
                    </m:r>
                    <m:r>
                      <a:rPr lang="en-GB" sz="2500" b="1" i="1">
                        <a:latin typeface="Cambria Math"/>
                      </a:rPr>
                      <m:t> :</m:t>
                    </m:r>
                  </m:oMath>
                </a14:m>
                <a:r>
                  <a:rPr lang="en-US" sz="2500" dirty="0"/>
                  <a:t> “Dean’s PC has more than 32GB of free hard disk space.”</a:t>
                </a:r>
              </a:p>
              <a:p>
                <a:pPr lvl="1"/>
                <a14:m>
                  <m:oMath xmlns:m="http://schemas.openxmlformats.org/officeDocument/2006/math">
                    <m:r>
                      <a:rPr lang="en-GB" sz="2500" b="1" i="1" smtClean="0">
                        <a:latin typeface="Cambria Math"/>
                      </a:rPr>
                      <m:t>𝒒</m:t>
                    </m:r>
                    <m:r>
                      <a:rPr lang="en-GB" sz="2500" b="1" i="1" smtClean="0">
                        <a:latin typeface="Cambria Math"/>
                      </a:rPr>
                      <m:t> :</m:t>
                    </m:r>
                  </m:oMath>
                </a14:m>
                <a:r>
                  <a:rPr lang="en-US" sz="2500" dirty="0"/>
                  <a:t> “The processor in Dean’s PC runs faster than 1GHz.”</a:t>
                </a:r>
              </a:p>
              <a:p>
                <a:pPr lvl="1"/>
                <a14:m>
                  <m:oMath xmlns:m="http://schemas.openxmlformats.org/officeDocument/2006/math">
                    <m:r>
                      <a:rPr lang="en-GB" sz="2500" b="1" i="1" smtClean="0">
                        <a:latin typeface="Cambria Math"/>
                      </a:rPr>
                      <m:t>𝒑</m:t>
                    </m:r>
                    <m:r>
                      <a:rPr lang="en-GB" sz="2500" b="1" i="1" smtClean="0">
                        <a:latin typeface="Cambria Math"/>
                        <a:ea typeface="Cambria Math"/>
                      </a:rPr>
                      <m:t>∧</m:t>
                    </m:r>
                    <m:r>
                      <a:rPr lang="en-GB" sz="2500" b="1" i="1" smtClean="0">
                        <a:latin typeface="Cambria Math"/>
                        <a:ea typeface="Cambria Math"/>
                      </a:rPr>
                      <m:t>𝒒</m:t>
                    </m:r>
                  </m:oMath>
                </a14:m>
                <a:r>
                  <a:rPr lang="en-US" sz="2500" b="1" dirty="0"/>
                  <a:t> </a:t>
                </a:r>
                <a:r>
                  <a:rPr lang="en-US" sz="2500" dirty="0"/>
                  <a:t>:</a:t>
                </a:r>
              </a:p>
              <a:p>
                <a:pPr lvl="2"/>
                <a:r>
                  <a:rPr lang="en-GB" sz="2200" dirty="0"/>
                  <a:t>“Dean’s PC has more than 32GB of free hard disk space and the processor in Dean’s PC runs faster than 1GHz.”   </a:t>
                </a:r>
                <a:r>
                  <a:rPr lang="en-GB" sz="2200" b="1" dirty="0"/>
                  <a:t>Or</a:t>
                </a:r>
                <a:r>
                  <a:rPr lang="en-GB" sz="2200" dirty="0"/>
                  <a:t>,</a:t>
                </a:r>
              </a:p>
              <a:p>
                <a:pPr lvl="2"/>
                <a:r>
                  <a:rPr lang="en-GB" sz="2200" dirty="0"/>
                  <a:t>“Dean’s PC has more than 32GB of free hard disk space and its processor runs faster than 1GHz.”</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1037" t="-1605" r="-1185"/>
                </a:stretch>
              </a:blipFill>
            </p:spPr>
            <p:txBody>
              <a:bodyPr/>
              <a:lstStyle/>
              <a:p>
                <a:r>
                  <a:rPr lang="en-US">
                    <a:noFill/>
                  </a:rPr>
                  <a:t> </a:t>
                </a:r>
              </a:p>
            </p:txBody>
          </p:sp>
        </mc:Fallback>
      </mc:AlternateContent>
    </p:spTree>
    <p:extLst>
      <p:ext uri="{BB962C8B-B14F-4D97-AF65-F5344CB8AC3E}">
        <p14:creationId xmlns:p14="http://schemas.microsoft.com/office/powerpoint/2010/main" val="2278142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pPr algn="ctr"/>
                <a:r>
                  <a:rPr lang="en-GB" dirty="0"/>
                  <a:t>Disjunction / OR operator ( </a:t>
                </a:r>
                <a14:m>
                  <m:oMath xmlns:m="http://schemas.openxmlformats.org/officeDocument/2006/math">
                    <m:r>
                      <a:rPr lang="en-GB" i="1" smtClean="0">
                        <a:latin typeface="Cambria Math"/>
                        <a:ea typeface="Cambria Math"/>
                      </a:rPr>
                      <m:t>∨</m:t>
                    </m:r>
                  </m:oMath>
                </a14:m>
                <a:r>
                  <a:rPr lang="en-US" dirty="0"/>
                  <a:t> )</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b="-19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Definition:</a:t>
                </a:r>
              </a:p>
              <a:p>
                <a:pPr lvl="1"/>
                <a:r>
                  <a:rPr lang="en-US" sz="2500" dirty="0"/>
                  <a:t>Let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be propositions. </a:t>
                </a:r>
              </a:p>
              <a:p>
                <a:pPr lvl="1"/>
                <a:r>
                  <a:rPr lang="en-US" sz="2500" dirty="0"/>
                  <a:t>The disjunction of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denoted by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is the proposition “</a:t>
                </a:r>
                <a14:m>
                  <m:oMath xmlns:m="http://schemas.openxmlformats.org/officeDocument/2006/math">
                    <m:r>
                      <a:rPr lang="en-US" sz="2500" b="1" i="1" dirty="0" smtClean="0">
                        <a:latin typeface="Cambria Math"/>
                      </a:rPr>
                      <m:t>𝒑</m:t>
                    </m:r>
                    <m:r>
                      <a:rPr lang="en-US" sz="2500" b="1" i="1" dirty="0" smtClean="0">
                        <a:latin typeface="Cambria Math"/>
                      </a:rPr>
                      <m:t> </m:t>
                    </m:r>
                    <m:r>
                      <a:rPr lang="en-US" sz="2500" b="1" i="1" dirty="0">
                        <a:latin typeface="Cambria Math"/>
                      </a:rPr>
                      <m:t>𝒐𝒓</m:t>
                    </m:r>
                    <m:r>
                      <a:rPr lang="en-US" sz="2500" b="1" i="1" dirty="0">
                        <a:latin typeface="Cambria Math"/>
                      </a:rPr>
                      <m:t> </m:t>
                    </m:r>
                    <m:r>
                      <a:rPr lang="en-US" sz="2500" b="1" i="1" dirty="0">
                        <a:latin typeface="Cambria Math"/>
                      </a:rPr>
                      <m:t>𝒒</m:t>
                    </m:r>
                  </m:oMath>
                </a14:m>
                <a:r>
                  <a:rPr lang="en-US" sz="2500" dirty="0"/>
                  <a:t>.”</a:t>
                </a:r>
              </a:p>
              <a:p>
                <a:pPr lvl="1"/>
                <a:r>
                  <a:rPr lang="en-US" sz="2500" dirty="0"/>
                  <a:t>The disjunction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r>
                      <a:rPr lang="en-US" sz="2500" b="1" i="1" dirty="0" smtClean="0">
                        <a:latin typeface="Cambria Math"/>
                      </a:rPr>
                      <m:t> </m:t>
                    </m:r>
                  </m:oMath>
                </a14:m>
                <a:r>
                  <a:rPr lang="en-US" sz="2500" dirty="0"/>
                  <a:t>is false when both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are false and is true otherwise.</a:t>
                </a:r>
                <a:endParaRPr lang="en-US" sz="77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1037" t="-1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931250575"/>
                  </p:ext>
                </p:extLst>
              </p:nvPr>
            </p:nvGraphicFramePr>
            <p:xfrm>
              <a:off x="1619672" y="4149080"/>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931250575"/>
                  </p:ext>
                </p:extLst>
              </p:nvPr>
            </p:nvGraphicFramePr>
            <p:xfrm>
              <a:off x="1619672" y="4149080"/>
              <a:ext cx="6096000" cy="185420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4"/>
                          <a:stretch>
                            <a:fillRect l="-300" t="-8197" r="-200300" b="-422951"/>
                          </a:stretch>
                        </a:blipFill>
                      </a:tcPr>
                    </a:tc>
                    <a:tc>
                      <a:txBody>
                        <a:bodyPr/>
                        <a:lstStyle/>
                        <a:p>
                          <a:endParaRPr lang="en-US"/>
                        </a:p>
                      </a:txBody>
                      <a:tcPr>
                        <a:blipFill rotWithShape="1">
                          <a:blip r:embed="rId4"/>
                          <a:stretch>
                            <a:fillRect l="-100000" t="-8197" r="-99701" b="-422951"/>
                          </a:stretch>
                        </a:blipFill>
                      </a:tcPr>
                    </a:tc>
                    <a:tc>
                      <a:txBody>
                        <a:bodyPr/>
                        <a:lstStyle/>
                        <a:p>
                          <a:endParaRPr lang="en-US"/>
                        </a:p>
                      </a:txBody>
                      <a:tcPr>
                        <a:blipFill rotWithShape="1">
                          <a:blip r:embed="rId4"/>
                          <a:stretch>
                            <a:fillRect l="-200601"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4135389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pPr algn="ctr"/>
                <a:r>
                  <a:rPr lang="en-GB" dirty="0"/>
                  <a:t>Exclusive OR/ XOR operator ( </a:t>
                </a:r>
                <a14:m>
                  <m:oMath xmlns:m="http://schemas.openxmlformats.org/officeDocument/2006/math">
                    <m:r>
                      <a:rPr lang="en-GB" i="1" smtClean="0">
                        <a:latin typeface="Cambria Math"/>
                        <a:ea typeface="Cambria Math"/>
                      </a:rPr>
                      <m:t>⨁</m:t>
                    </m:r>
                  </m:oMath>
                </a14:m>
                <a:r>
                  <a:rPr lang="en-US" dirty="0"/>
                  <a:t> )</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1">
                <a:blip r:embed="rId2"/>
                <a:stretch>
                  <a:fillRect b="-19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Definition:</a:t>
                </a:r>
              </a:p>
              <a:p>
                <a:pPr lvl="1"/>
                <a:r>
                  <a:rPr lang="en-US" sz="2500" dirty="0"/>
                  <a:t>Let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be propositions. </a:t>
                </a:r>
              </a:p>
              <a:p>
                <a:pPr lvl="1"/>
                <a:r>
                  <a:rPr lang="en-US" sz="2500" dirty="0"/>
                  <a:t>The exclusive or of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denoted by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is the proposition “</a:t>
                </a:r>
                <a14:m>
                  <m:oMath xmlns:m="http://schemas.openxmlformats.org/officeDocument/2006/math">
                    <m:r>
                      <a:rPr lang="en-US" sz="2500" b="1" i="1" dirty="0">
                        <a:latin typeface="Cambria Math"/>
                      </a:rPr>
                      <m:t>𝒑</m:t>
                    </m:r>
                    <m:r>
                      <a:rPr lang="en-US" sz="2500" b="1" i="1" dirty="0">
                        <a:latin typeface="Cambria Math"/>
                      </a:rPr>
                      <m:t> </m:t>
                    </m:r>
                    <m:r>
                      <a:rPr lang="en-US" sz="2500" b="1" i="1" dirty="0">
                        <a:latin typeface="Cambria Math"/>
                      </a:rPr>
                      <m:t>𝒐𝒓</m:t>
                    </m:r>
                    <m:r>
                      <a:rPr lang="en-US" sz="2500" b="1" i="1" dirty="0">
                        <a:latin typeface="Cambria Math"/>
                      </a:rPr>
                      <m:t> </m:t>
                    </m:r>
                    <m:r>
                      <a:rPr lang="en-US" sz="2500" b="1" i="1" dirty="0">
                        <a:latin typeface="Cambria Math"/>
                      </a:rPr>
                      <m:t>𝒒</m:t>
                    </m:r>
                    <m:r>
                      <a:rPr lang="en-GB" sz="2500" b="1" i="1" dirty="0" smtClean="0">
                        <a:latin typeface="Cambria Math"/>
                      </a:rPr>
                      <m:t> </m:t>
                    </m:r>
                    <m:r>
                      <a:rPr lang="en-GB" sz="2500" b="1" i="1" dirty="0" smtClean="0">
                        <a:latin typeface="Cambria Math"/>
                      </a:rPr>
                      <m:t>𝒃𝒖𝒕</m:t>
                    </m:r>
                    <m:r>
                      <a:rPr lang="en-GB" sz="2500" b="1" i="1" dirty="0" smtClean="0">
                        <a:latin typeface="Cambria Math"/>
                      </a:rPr>
                      <m:t> </m:t>
                    </m:r>
                    <m:r>
                      <a:rPr lang="en-GB" sz="2500" b="1" i="1" dirty="0" smtClean="0">
                        <a:latin typeface="Cambria Math"/>
                      </a:rPr>
                      <m:t>𝒏𝒐𝒕</m:t>
                    </m:r>
                    <m:r>
                      <a:rPr lang="en-GB" sz="2500" b="1" i="1" dirty="0" smtClean="0">
                        <a:latin typeface="Cambria Math"/>
                      </a:rPr>
                      <m:t> </m:t>
                    </m:r>
                    <m:r>
                      <a:rPr lang="en-GB" sz="2500" b="1" i="1" dirty="0" smtClean="0">
                        <a:latin typeface="Cambria Math"/>
                      </a:rPr>
                      <m:t>𝒃𝒐𝒕𝒉</m:t>
                    </m:r>
                  </m:oMath>
                </a14:m>
                <a:r>
                  <a:rPr lang="en-US" sz="2500" dirty="0"/>
                  <a:t>”.</a:t>
                </a:r>
              </a:p>
              <a:p>
                <a:pPr lvl="1"/>
                <a:r>
                  <a:rPr lang="en-US" sz="2500" dirty="0"/>
                  <a:t>The exclusive or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is true when </a:t>
                </a:r>
                <a:r>
                  <a:rPr lang="en-US" sz="2500" b="1" dirty="0"/>
                  <a:t>EXACTLY ONE </a:t>
                </a:r>
                <a:r>
                  <a:rPr lang="en-US" sz="2500" dirty="0"/>
                  <a:t>of </a:t>
                </a:r>
                <a14:m>
                  <m:oMath xmlns:m="http://schemas.openxmlformats.org/officeDocument/2006/math">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is true and is false otherwise.</a:t>
                </a:r>
                <a:endParaRPr lang="en-US" sz="77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3"/>
                <a:stretch>
                  <a:fillRect l="-1037" t="-1605" r="-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882546381"/>
                  </p:ext>
                </p:extLst>
              </p:nvPr>
            </p:nvGraphicFramePr>
            <p:xfrm>
              <a:off x="1619672" y="4149080"/>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882546381"/>
                  </p:ext>
                </p:extLst>
              </p:nvPr>
            </p:nvGraphicFramePr>
            <p:xfrm>
              <a:off x="1619672" y="4149080"/>
              <a:ext cx="6096000" cy="185420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4"/>
                          <a:stretch>
                            <a:fillRect l="-300" t="-8197" r="-200300" b="-422951"/>
                          </a:stretch>
                        </a:blipFill>
                      </a:tcPr>
                    </a:tc>
                    <a:tc>
                      <a:txBody>
                        <a:bodyPr/>
                        <a:lstStyle/>
                        <a:p>
                          <a:endParaRPr lang="en-US"/>
                        </a:p>
                      </a:txBody>
                      <a:tcPr>
                        <a:blipFill rotWithShape="1">
                          <a:blip r:embed="rId4"/>
                          <a:stretch>
                            <a:fillRect l="-100000" t="-8197" r="-99701" b="-422951"/>
                          </a:stretch>
                        </a:blipFill>
                      </a:tcPr>
                    </a:tc>
                    <a:tc>
                      <a:txBody>
                        <a:bodyPr/>
                        <a:lstStyle/>
                        <a:p>
                          <a:endParaRPr lang="en-US"/>
                        </a:p>
                      </a:txBody>
                      <a:tcPr>
                        <a:blipFill rotWithShape="1">
                          <a:blip r:embed="rId4"/>
                          <a:stretch>
                            <a:fillRect l="-200601"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bl>
              </a:graphicData>
            </a:graphic>
          </p:graphicFrame>
        </mc:Fallback>
      </mc:AlternateContent>
    </p:spTree>
    <p:extLst>
      <p:ext uri="{BB962C8B-B14F-4D97-AF65-F5344CB8AC3E}">
        <p14:creationId xmlns:p14="http://schemas.microsoft.com/office/powerpoint/2010/main" val="1458680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Conditionals/Implications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Definition:</a:t>
                </a:r>
              </a:p>
              <a:p>
                <a:pPr lvl="1"/>
                <a:r>
                  <a:rPr lang="en-US" sz="2000" dirty="0"/>
                  <a:t>Let </a:t>
                </a:r>
                <a14:m>
                  <m:oMath xmlns:m="http://schemas.openxmlformats.org/officeDocument/2006/math">
                    <m:r>
                      <a:rPr lang="en-US" sz="2000" b="1" i="1" dirty="0" smtClean="0">
                        <a:latin typeface="Cambria Math"/>
                      </a:rPr>
                      <m:t>𝒑</m:t>
                    </m:r>
                  </m:oMath>
                </a14:m>
                <a:r>
                  <a:rPr lang="en-US" sz="2000" dirty="0"/>
                  <a:t> and </a:t>
                </a:r>
                <a14:m>
                  <m:oMath xmlns:m="http://schemas.openxmlformats.org/officeDocument/2006/math">
                    <m:r>
                      <a:rPr lang="en-US" sz="2000" b="1" i="1" dirty="0" smtClean="0">
                        <a:latin typeface="Cambria Math"/>
                      </a:rPr>
                      <m:t>𝒒</m:t>
                    </m:r>
                  </m:oMath>
                </a14:m>
                <a:r>
                  <a:rPr lang="en-US" sz="2000" dirty="0"/>
                  <a:t> be propositions. </a:t>
                </a:r>
              </a:p>
              <a:p>
                <a:pPr lvl="1"/>
                <a:r>
                  <a:rPr lang="en-US" sz="2000" dirty="0"/>
                  <a:t>The conditional statement </a:t>
                </a:r>
                <a14:m>
                  <m:oMath xmlns:m="http://schemas.openxmlformats.org/officeDocument/2006/math">
                    <m:r>
                      <a:rPr lang="en-US" sz="2000" b="1" i="1" dirty="0" smtClean="0">
                        <a:latin typeface="Cambria Math"/>
                      </a:rPr>
                      <m:t>𝒑</m:t>
                    </m:r>
                    <m:r>
                      <a:rPr lang="en-US" sz="2000" b="1" i="1" dirty="0" smtClean="0">
                        <a:latin typeface="Cambria Math"/>
                      </a:rPr>
                      <m:t> → </m:t>
                    </m:r>
                    <m:r>
                      <a:rPr lang="en-US" sz="2000" b="1" i="1" dirty="0" smtClean="0">
                        <a:latin typeface="Cambria Math"/>
                      </a:rPr>
                      <m:t>𝒒</m:t>
                    </m:r>
                    <m:r>
                      <a:rPr lang="en-US" sz="2000" b="1" i="1" dirty="0" smtClean="0">
                        <a:latin typeface="Cambria Math"/>
                      </a:rPr>
                      <m:t> </m:t>
                    </m:r>
                  </m:oMath>
                </a14:m>
                <a:r>
                  <a:rPr lang="en-US" sz="2000" dirty="0"/>
                  <a:t>is the proposition “</a:t>
                </a:r>
                <a14:m>
                  <m:oMath xmlns:m="http://schemas.openxmlformats.org/officeDocument/2006/math">
                    <m:r>
                      <a:rPr lang="en-US" sz="2000" b="1" i="1" dirty="0" smtClean="0">
                        <a:latin typeface="Cambria Math"/>
                      </a:rPr>
                      <m:t>𝒊𝒇</m:t>
                    </m:r>
                    <m:r>
                      <a:rPr lang="en-US" sz="2000" b="1" i="1" dirty="0" smtClean="0">
                        <a:latin typeface="Cambria Math"/>
                      </a:rPr>
                      <m:t> </m:t>
                    </m:r>
                    <m:r>
                      <a:rPr lang="en-US" sz="2000" b="1" i="1" dirty="0" smtClean="0">
                        <a:latin typeface="Cambria Math"/>
                      </a:rPr>
                      <m:t>𝒑</m:t>
                    </m:r>
                    <m:r>
                      <a:rPr lang="en-US" sz="2000" b="1" i="1" dirty="0" smtClean="0">
                        <a:latin typeface="Cambria Math"/>
                      </a:rPr>
                      <m:t>, </m:t>
                    </m:r>
                    <m:r>
                      <a:rPr lang="en-US" sz="2000" b="1" i="1" dirty="0" smtClean="0">
                        <a:latin typeface="Cambria Math"/>
                      </a:rPr>
                      <m:t>𝒕𝒉𝒆𝒏</m:t>
                    </m:r>
                    <m:r>
                      <a:rPr lang="en-US" sz="2000" b="1" i="1" dirty="0" smtClean="0">
                        <a:latin typeface="Cambria Math"/>
                      </a:rPr>
                      <m:t> </m:t>
                    </m:r>
                    <m:r>
                      <a:rPr lang="en-US" sz="2000" b="1" i="1" dirty="0" smtClean="0">
                        <a:latin typeface="Cambria Math"/>
                      </a:rPr>
                      <m:t>𝒒</m:t>
                    </m:r>
                  </m:oMath>
                </a14:m>
                <a:r>
                  <a:rPr lang="en-US" sz="2000" dirty="0"/>
                  <a:t>.” </a:t>
                </a:r>
              </a:p>
              <a:p>
                <a:pPr lvl="1"/>
                <a:r>
                  <a:rPr lang="en-US" sz="2000" dirty="0"/>
                  <a:t>The conditional statement </a:t>
                </a:r>
                <a14:m>
                  <m:oMath xmlns:m="http://schemas.openxmlformats.org/officeDocument/2006/math">
                    <m:r>
                      <a:rPr lang="en-US" sz="2000" b="1" i="1" dirty="0" smtClean="0">
                        <a:latin typeface="Cambria Math"/>
                      </a:rPr>
                      <m:t>𝒑</m:t>
                    </m:r>
                    <m:r>
                      <a:rPr lang="en-US" sz="2000" b="1" i="1" dirty="0" smtClean="0">
                        <a:latin typeface="Cambria Math"/>
                      </a:rPr>
                      <m:t> → </m:t>
                    </m:r>
                    <m:r>
                      <a:rPr lang="en-US" sz="2000" b="1" i="1" dirty="0" smtClean="0">
                        <a:latin typeface="Cambria Math"/>
                      </a:rPr>
                      <m:t>𝒒</m:t>
                    </m:r>
                  </m:oMath>
                </a14:m>
                <a:r>
                  <a:rPr lang="en-US" sz="2000" dirty="0"/>
                  <a:t> is false when </a:t>
                </a:r>
                <a14:m>
                  <m:oMath xmlns:m="http://schemas.openxmlformats.org/officeDocument/2006/math">
                    <m:r>
                      <a:rPr lang="en-US" sz="2000" b="1" i="1" dirty="0" smtClean="0">
                        <a:latin typeface="Cambria Math"/>
                      </a:rPr>
                      <m:t>𝒑</m:t>
                    </m:r>
                  </m:oMath>
                </a14:m>
                <a:r>
                  <a:rPr lang="en-US" sz="2000" dirty="0"/>
                  <a:t> is true and </a:t>
                </a:r>
                <a14:m>
                  <m:oMath xmlns:m="http://schemas.openxmlformats.org/officeDocument/2006/math">
                    <m:r>
                      <a:rPr lang="en-US" sz="2000" b="1" i="1" dirty="0" smtClean="0">
                        <a:latin typeface="Cambria Math"/>
                      </a:rPr>
                      <m:t>𝒒</m:t>
                    </m:r>
                  </m:oMath>
                </a14:m>
                <a:r>
                  <a:rPr lang="en-US" sz="2000" dirty="0"/>
                  <a:t> is false, and true otherwise. </a:t>
                </a:r>
              </a:p>
              <a:p>
                <a:pPr lvl="1"/>
                <a:r>
                  <a:rPr lang="en-US" sz="2000" dirty="0"/>
                  <a:t>In the conditional statement </a:t>
                </a:r>
                <a14:m>
                  <m:oMath xmlns:m="http://schemas.openxmlformats.org/officeDocument/2006/math">
                    <m:r>
                      <a:rPr lang="en-US" sz="2000" b="1" i="1" dirty="0" smtClean="0">
                        <a:latin typeface="Cambria Math"/>
                      </a:rPr>
                      <m:t>𝒑</m:t>
                    </m:r>
                    <m:r>
                      <a:rPr lang="en-US" sz="2000" b="1" i="1" dirty="0" smtClean="0">
                        <a:latin typeface="Cambria Math"/>
                      </a:rPr>
                      <m:t> → </m:t>
                    </m:r>
                    <m:r>
                      <a:rPr lang="en-US" sz="2000" b="1" i="1" dirty="0" smtClean="0">
                        <a:latin typeface="Cambria Math"/>
                      </a:rPr>
                      <m:t>𝒒</m:t>
                    </m:r>
                  </m:oMath>
                </a14:m>
                <a:r>
                  <a:rPr lang="en-US" sz="2000" dirty="0"/>
                  <a:t>, </a:t>
                </a:r>
              </a:p>
              <a:p>
                <a:pPr lvl="2"/>
                <a14:m>
                  <m:oMath xmlns:m="http://schemas.openxmlformats.org/officeDocument/2006/math">
                    <m:r>
                      <a:rPr lang="en-US" b="1" i="1" dirty="0" smtClean="0">
                        <a:latin typeface="Cambria Math"/>
                      </a:rPr>
                      <m:t>𝒑</m:t>
                    </m:r>
                  </m:oMath>
                </a14:m>
                <a:r>
                  <a:rPr lang="en-US" dirty="0"/>
                  <a:t> is called the hypothesis (or antecedent or premise)</a:t>
                </a:r>
              </a:p>
              <a:p>
                <a:pPr lvl="2"/>
                <a14:m>
                  <m:oMath xmlns:m="http://schemas.openxmlformats.org/officeDocument/2006/math">
                    <m:r>
                      <a:rPr lang="en-US" b="1" i="1" dirty="0" smtClean="0">
                        <a:latin typeface="Cambria Math"/>
                      </a:rPr>
                      <m:t>𝒒</m:t>
                    </m:r>
                  </m:oMath>
                </a14:m>
                <a:r>
                  <a:rPr lang="en-US" dirty="0"/>
                  <a:t> is called the conclusion (or consequence).</a:t>
                </a:r>
              </a:p>
              <a:p>
                <a:pPr marL="594360" lvl="2"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037" t="-16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3"/>
              <p:cNvGraphicFramePr>
                <a:graphicFrameLocks/>
              </p:cNvGraphicFramePr>
              <p:nvPr>
                <p:extLst>
                  <p:ext uri="{D42A27DB-BD31-4B8C-83A1-F6EECF244321}">
                    <p14:modId xmlns:p14="http://schemas.microsoft.com/office/powerpoint/2010/main" val="835346186"/>
                  </p:ext>
                </p:extLst>
              </p:nvPr>
            </p:nvGraphicFramePr>
            <p:xfrm>
              <a:off x="1547664" y="4383112"/>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5" name="Content Placeholder 3"/>
              <p:cNvGraphicFramePr>
                <a:graphicFrameLocks/>
              </p:cNvGraphicFramePr>
              <p:nvPr>
                <p:extLst>
                  <p:ext uri="{D42A27DB-BD31-4B8C-83A1-F6EECF244321}">
                    <p14:modId xmlns:p14="http://schemas.microsoft.com/office/powerpoint/2010/main" val="835346186"/>
                  </p:ext>
                </p:extLst>
              </p:nvPr>
            </p:nvGraphicFramePr>
            <p:xfrm>
              <a:off x="1547664" y="4383112"/>
              <a:ext cx="6096000" cy="185420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3"/>
                          <a:stretch>
                            <a:fillRect l="-300" t="-8197" r="-200300" b="-422951"/>
                          </a:stretch>
                        </a:blipFill>
                      </a:tcPr>
                    </a:tc>
                    <a:tc>
                      <a:txBody>
                        <a:bodyPr/>
                        <a:lstStyle/>
                        <a:p>
                          <a:endParaRPr lang="en-US"/>
                        </a:p>
                      </a:txBody>
                      <a:tcPr>
                        <a:blipFill rotWithShape="1">
                          <a:blip r:embed="rId3"/>
                          <a:stretch>
                            <a:fillRect l="-100000" t="-8197" r="-99701" b="-422951"/>
                          </a:stretch>
                        </a:blipFill>
                      </a:tcPr>
                    </a:tc>
                    <a:tc>
                      <a:txBody>
                        <a:bodyPr/>
                        <a:lstStyle/>
                        <a:p>
                          <a:endParaRPr lang="en-US"/>
                        </a:p>
                      </a:txBody>
                      <a:tcPr>
                        <a:blipFill rotWithShape="1">
                          <a:blip r:embed="rId3"/>
                          <a:stretch>
                            <a:fillRect l="-200601"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2613220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dirty="0"/>
              <a:t>Conditionals/Implications(Contd.)</a:t>
            </a:r>
            <a:endParaRPr lang="en-US" dirty="0"/>
          </a:p>
        </p:txBody>
      </p:sp>
      <p:sp>
        <p:nvSpPr>
          <p:cNvPr id="5" name="Content Placeholder 4"/>
          <p:cNvSpPr>
            <a:spLocks noGrp="1"/>
          </p:cNvSpPr>
          <p:nvPr>
            <p:ph sz="quarter" idx="1"/>
          </p:nvPr>
        </p:nvSpPr>
        <p:spPr/>
        <p:txBody>
          <a:bodyPr>
            <a:normAutofit fontScale="77500" lnSpcReduction="20000"/>
          </a:bodyPr>
          <a:lstStyle/>
          <a:p>
            <a:r>
              <a:rPr lang="en-GB" sz="3200" dirty="0"/>
              <a:t>Terminologies to express implication:</a:t>
            </a:r>
          </a:p>
          <a:p>
            <a:pPr lvl="1"/>
            <a:r>
              <a:rPr lang="en-US" sz="2800" dirty="0"/>
              <a:t>“if p, then q”</a:t>
            </a:r>
          </a:p>
          <a:p>
            <a:pPr lvl="1"/>
            <a:r>
              <a:rPr lang="en-US" sz="2800" dirty="0"/>
              <a:t>“p implies q”</a:t>
            </a:r>
          </a:p>
          <a:p>
            <a:pPr lvl="1"/>
            <a:r>
              <a:rPr lang="en-US" sz="2800" dirty="0"/>
              <a:t>“if p, q”</a:t>
            </a:r>
          </a:p>
          <a:p>
            <a:pPr lvl="1"/>
            <a:r>
              <a:rPr lang="en-US" sz="2800" dirty="0">
                <a:solidFill>
                  <a:srgbClr val="FF0000"/>
                </a:solidFill>
              </a:rPr>
              <a:t>“p only if q”</a:t>
            </a:r>
          </a:p>
          <a:p>
            <a:pPr lvl="1"/>
            <a:r>
              <a:rPr lang="en-US" sz="2800" dirty="0"/>
              <a:t>“p is sufﬁcient for q” </a:t>
            </a:r>
          </a:p>
          <a:p>
            <a:pPr lvl="1"/>
            <a:r>
              <a:rPr lang="en-US" sz="2800" dirty="0"/>
              <a:t>“a sufﬁcient condition for q is p”</a:t>
            </a:r>
          </a:p>
          <a:p>
            <a:pPr lvl="1"/>
            <a:r>
              <a:rPr lang="en-US" sz="2800" dirty="0"/>
              <a:t>“q if p”</a:t>
            </a:r>
          </a:p>
          <a:p>
            <a:pPr lvl="1"/>
            <a:r>
              <a:rPr lang="en-US" sz="2800" dirty="0"/>
              <a:t>“q whenever p”</a:t>
            </a:r>
          </a:p>
          <a:p>
            <a:pPr lvl="1"/>
            <a:r>
              <a:rPr lang="en-US" sz="2800" dirty="0"/>
              <a:t>“q when p”</a:t>
            </a:r>
          </a:p>
          <a:p>
            <a:pPr lvl="1"/>
            <a:r>
              <a:rPr lang="en-US" sz="2800" dirty="0"/>
              <a:t>“q is necessary for p”</a:t>
            </a:r>
          </a:p>
          <a:p>
            <a:pPr lvl="1"/>
            <a:r>
              <a:rPr lang="en-US" sz="2800" dirty="0"/>
              <a:t>“a necessary condition for p is q”</a:t>
            </a:r>
          </a:p>
          <a:p>
            <a:pPr lvl="1"/>
            <a:r>
              <a:rPr lang="en-US" sz="2800" dirty="0"/>
              <a:t>“q follows from p”</a:t>
            </a:r>
          </a:p>
          <a:p>
            <a:pPr lvl="1"/>
            <a:r>
              <a:rPr lang="en-US" sz="2800" dirty="0">
                <a:solidFill>
                  <a:srgbClr val="FF0000"/>
                </a:solidFill>
              </a:rPr>
              <a:t>“q unless ¬p”</a:t>
            </a:r>
            <a:endParaRPr lang="en-US" sz="8000" dirty="0">
              <a:solidFill>
                <a:srgbClr val="FF0000"/>
              </a:solidFill>
            </a:endParaRPr>
          </a:p>
        </p:txBody>
      </p:sp>
    </p:spTree>
    <p:extLst>
      <p:ext uri="{BB962C8B-B14F-4D97-AF65-F5344CB8AC3E}">
        <p14:creationId xmlns:p14="http://schemas.microsoft.com/office/powerpoint/2010/main" val="2483037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Conditionals/Implications(Contd.)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sz="2800" dirty="0"/>
                  <a:t>A useful way to understand the truth value of a conditional statement is to think of an obligation or a contract. </a:t>
                </a:r>
              </a:p>
              <a:p>
                <a:r>
                  <a:rPr lang="en-GB" sz="2800" dirty="0"/>
                  <a:t>Confusions:</a:t>
                </a:r>
              </a:p>
              <a:p>
                <a:pPr lvl="1"/>
                <a:r>
                  <a:rPr lang="en-US" sz="2500" dirty="0"/>
                  <a:t>Of the various ways to express the conditional statement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the two that seem to cause </a:t>
                </a:r>
                <a:r>
                  <a:rPr lang="en-US" sz="2800" dirty="0"/>
                  <a:t>the most confusion are </a:t>
                </a:r>
              </a:p>
              <a:p>
                <a:pPr lvl="2"/>
                <a:r>
                  <a:rPr lang="en-US" sz="2500" dirty="0"/>
                  <a:t>“</a:t>
                </a:r>
                <a14:m>
                  <m:oMath xmlns:m="http://schemas.openxmlformats.org/officeDocument/2006/math">
                    <m:r>
                      <a:rPr lang="en-US" sz="2500" b="1" i="1" dirty="0" smtClean="0">
                        <a:latin typeface="Cambria Math"/>
                      </a:rPr>
                      <m:t>𝒑</m:t>
                    </m:r>
                    <m:r>
                      <a:rPr lang="en-US" sz="2500" b="1" i="1" dirty="0" smtClean="0">
                        <a:latin typeface="Cambria Math"/>
                      </a:rPr>
                      <m:t> </m:t>
                    </m:r>
                    <m:r>
                      <a:rPr lang="en-US" sz="2500" b="1" i="1" dirty="0" smtClean="0">
                        <a:latin typeface="Cambria Math"/>
                      </a:rPr>
                      <m:t>𝒐𝒏𝒍𝒚</m:t>
                    </m:r>
                    <m:r>
                      <a:rPr lang="en-US" sz="2500" b="1" i="1" dirty="0" smtClean="0">
                        <a:latin typeface="Cambria Math"/>
                      </a:rPr>
                      <m:t> </m:t>
                    </m:r>
                    <m:r>
                      <a:rPr lang="en-US" sz="2500" b="1" i="1" dirty="0" smtClean="0">
                        <a:latin typeface="Cambria Math"/>
                      </a:rPr>
                      <m:t>𝒊𝒇</m:t>
                    </m:r>
                    <m:r>
                      <a:rPr lang="en-US" sz="2500" b="1" i="1" dirty="0" smtClean="0">
                        <a:latin typeface="Cambria Math"/>
                      </a:rPr>
                      <m:t> </m:t>
                    </m:r>
                    <m:r>
                      <a:rPr lang="en-US" sz="2500" b="1" i="1" dirty="0" smtClean="0">
                        <a:latin typeface="Cambria Math"/>
                      </a:rPr>
                      <m:t>𝒒</m:t>
                    </m:r>
                  </m:oMath>
                </a14:m>
                <a:r>
                  <a:rPr lang="en-US" sz="2500" dirty="0"/>
                  <a:t>” </a:t>
                </a:r>
              </a:p>
              <a:p>
                <a:pPr lvl="2"/>
                <a:r>
                  <a:rPr lang="en-US" sz="2500" dirty="0"/>
                  <a:t>“</a:t>
                </a:r>
                <a14:m>
                  <m:oMath xmlns:m="http://schemas.openxmlformats.org/officeDocument/2006/math">
                    <m:r>
                      <a:rPr lang="en-US" sz="2500" b="1" i="1" dirty="0" smtClean="0">
                        <a:latin typeface="Cambria Math"/>
                      </a:rPr>
                      <m:t>𝒒</m:t>
                    </m:r>
                    <m:r>
                      <a:rPr lang="en-US" sz="2500" b="1" i="1" dirty="0" smtClean="0">
                        <a:latin typeface="Cambria Math"/>
                      </a:rPr>
                      <m:t> </m:t>
                    </m:r>
                    <m:r>
                      <a:rPr lang="en-US" sz="2500" b="1" i="1" dirty="0">
                        <a:latin typeface="Cambria Math"/>
                      </a:rPr>
                      <m:t>𝒖𝒏𝒍𝒆𝒔𝒔</m:t>
                    </m:r>
                    <m:r>
                      <a:rPr lang="en-US" sz="2500" b="1" i="1" dirty="0">
                        <a:latin typeface="Cambria Math"/>
                      </a:rPr>
                      <m:t> ¬</m:t>
                    </m:r>
                    <m:r>
                      <a:rPr lang="en-US" sz="2500" b="1" i="1" dirty="0">
                        <a:latin typeface="Cambria Math"/>
                      </a:rPr>
                      <m:t>𝒑</m:t>
                    </m:r>
                  </m:oMath>
                </a14:m>
                <a:r>
                  <a:rPr lang="en-US" sz="2500" dirty="0"/>
                  <a:t>”</a:t>
                </a:r>
                <a:endParaRPr lang="en-US" sz="69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41" t="-1235" r="-2593"/>
                </a:stretch>
              </a:blipFill>
            </p:spPr>
            <p:txBody>
              <a:bodyPr/>
              <a:lstStyle/>
              <a:p>
                <a:r>
                  <a:rPr lang="en-US">
                    <a:noFill/>
                  </a:rPr>
                  <a:t> </a:t>
                </a:r>
              </a:p>
            </p:txBody>
          </p:sp>
        </mc:Fallback>
      </mc:AlternateContent>
    </p:spTree>
    <p:extLst>
      <p:ext uri="{BB962C8B-B14F-4D97-AF65-F5344CB8AC3E}">
        <p14:creationId xmlns:p14="http://schemas.microsoft.com/office/powerpoint/2010/main" val="1304931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Conditionals/Implications(Contd.)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2800" dirty="0"/>
                  <a:t>“</a:t>
                </a:r>
                <a14:m>
                  <m:oMath xmlns:m="http://schemas.openxmlformats.org/officeDocument/2006/math">
                    <m:r>
                      <a:rPr lang="en-US" sz="2800" b="1" i="1" dirty="0">
                        <a:latin typeface="Cambria Math"/>
                      </a:rPr>
                      <m:t>𝒑</m:t>
                    </m:r>
                    <m:r>
                      <a:rPr lang="en-US" sz="2800" b="1" i="1" dirty="0">
                        <a:latin typeface="Cambria Math"/>
                      </a:rPr>
                      <m:t> </m:t>
                    </m:r>
                    <m:r>
                      <a:rPr lang="en-US" sz="2800" b="1" i="1" dirty="0">
                        <a:latin typeface="Cambria Math"/>
                      </a:rPr>
                      <m:t>𝒐𝒏𝒍𝒚</m:t>
                    </m:r>
                    <m:r>
                      <a:rPr lang="en-US" sz="2800" b="1" i="1" dirty="0">
                        <a:latin typeface="Cambria Math"/>
                      </a:rPr>
                      <m:t> </m:t>
                    </m:r>
                    <m:r>
                      <a:rPr lang="en-US" sz="2800" b="1" i="1" dirty="0">
                        <a:latin typeface="Cambria Math"/>
                      </a:rPr>
                      <m:t>𝒊𝒇</m:t>
                    </m:r>
                    <m:r>
                      <a:rPr lang="en-US" sz="2800" b="1" i="1" dirty="0">
                        <a:latin typeface="Cambria Math"/>
                      </a:rPr>
                      <m:t> </m:t>
                    </m:r>
                    <m:r>
                      <a:rPr lang="en-US" sz="2800" b="1" i="1" dirty="0">
                        <a:latin typeface="Cambria Math"/>
                      </a:rPr>
                      <m:t>𝒒</m:t>
                    </m:r>
                  </m:oMath>
                </a14:m>
                <a:r>
                  <a:rPr lang="en-US" sz="2800" dirty="0"/>
                  <a:t>”</a:t>
                </a:r>
              </a:p>
              <a:p>
                <a:pPr lvl="1"/>
                <a:r>
                  <a:rPr lang="en-US" sz="2500" dirty="0"/>
                  <a:t>Expresses the same thing as “</a:t>
                </a:r>
                <a14:m>
                  <m:oMath xmlns:m="http://schemas.openxmlformats.org/officeDocument/2006/math">
                    <m:r>
                      <a:rPr lang="en-US" sz="2500" b="1" i="1" dirty="0" smtClean="0">
                        <a:latin typeface="Cambria Math"/>
                      </a:rPr>
                      <m:t>𝒊𝒇</m:t>
                    </m:r>
                    <m:r>
                      <a:rPr lang="en-US" sz="2500" b="1" i="1" dirty="0" smtClean="0">
                        <a:latin typeface="Cambria Math"/>
                      </a:rPr>
                      <m:t> </m:t>
                    </m:r>
                    <m:r>
                      <a:rPr lang="en-US" sz="2500" b="1" i="1" dirty="0" smtClean="0">
                        <a:latin typeface="Cambria Math"/>
                      </a:rPr>
                      <m:t>𝒑</m:t>
                    </m:r>
                    <m:r>
                      <a:rPr lang="en-US" sz="2500" b="1" i="1" dirty="0" smtClean="0">
                        <a:latin typeface="Cambria Math"/>
                      </a:rPr>
                      <m:t>, </m:t>
                    </m:r>
                    <m:r>
                      <a:rPr lang="en-US" sz="2500" b="1" i="1" dirty="0" smtClean="0">
                        <a:latin typeface="Cambria Math"/>
                      </a:rPr>
                      <m:t>𝒕𝒉𝒆𝒏</m:t>
                    </m:r>
                    <m:r>
                      <a:rPr lang="en-US" sz="2500" b="1" i="1" dirty="0" smtClean="0">
                        <a:latin typeface="Cambria Math"/>
                      </a:rPr>
                      <m:t> </m:t>
                    </m:r>
                    <m:r>
                      <a:rPr lang="en-US" sz="2500" b="1" i="1" dirty="0" smtClean="0">
                        <a:latin typeface="Cambria Math"/>
                      </a:rPr>
                      <m:t>𝒒</m:t>
                    </m:r>
                  </m:oMath>
                </a14:m>
                <a:r>
                  <a:rPr lang="en-US" sz="2500" dirty="0"/>
                  <a:t>.”</a:t>
                </a:r>
              </a:p>
              <a:p>
                <a:pPr lvl="1"/>
                <a:r>
                  <a:rPr lang="en-GB" sz="2500" dirty="0"/>
                  <a:t>It means, </a:t>
                </a:r>
                <a14:m>
                  <m:oMath xmlns:m="http://schemas.openxmlformats.org/officeDocument/2006/math">
                    <m:r>
                      <a:rPr lang="en-US" sz="2500" b="1" i="1" dirty="0" smtClean="0">
                        <a:latin typeface="Cambria Math"/>
                      </a:rPr>
                      <m:t>𝒑</m:t>
                    </m:r>
                  </m:oMath>
                </a14:m>
                <a:r>
                  <a:rPr lang="en-US" sz="2500" dirty="0"/>
                  <a:t> cannot be true when </a:t>
                </a:r>
                <a14:m>
                  <m:oMath xmlns:m="http://schemas.openxmlformats.org/officeDocument/2006/math">
                    <m:r>
                      <a:rPr lang="en-US" sz="2500" b="1" i="1" dirty="0" smtClean="0">
                        <a:latin typeface="Cambria Math"/>
                      </a:rPr>
                      <m:t>𝒒</m:t>
                    </m:r>
                  </m:oMath>
                </a14:m>
                <a:r>
                  <a:rPr lang="en-US" sz="2500" dirty="0"/>
                  <a:t> is not true. </a:t>
                </a:r>
              </a:p>
              <a:p>
                <a:pPr lvl="1"/>
                <a:r>
                  <a:rPr lang="en-GB" sz="2500" dirty="0"/>
                  <a:t>i.e.</a:t>
                </a:r>
                <a:r>
                  <a:rPr lang="en-US" sz="2500" dirty="0"/>
                  <a:t> the statement is false if </a:t>
                </a:r>
                <a14:m>
                  <m:oMath xmlns:m="http://schemas.openxmlformats.org/officeDocument/2006/math">
                    <m:r>
                      <a:rPr lang="en-US" sz="2500" b="1" i="1" dirty="0" smtClean="0">
                        <a:latin typeface="Cambria Math"/>
                      </a:rPr>
                      <m:t>𝒑</m:t>
                    </m:r>
                  </m:oMath>
                </a14:m>
                <a:r>
                  <a:rPr lang="en-US" sz="2500" dirty="0"/>
                  <a:t> is true, but </a:t>
                </a:r>
                <a14:m>
                  <m:oMath xmlns:m="http://schemas.openxmlformats.org/officeDocument/2006/math">
                    <m:r>
                      <a:rPr lang="en-US" sz="2500" b="1" i="1" dirty="0" smtClean="0">
                        <a:latin typeface="Cambria Math"/>
                      </a:rPr>
                      <m:t>𝒒</m:t>
                    </m:r>
                  </m:oMath>
                </a14:m>
                <a:r>
                  <a:rPr lang="en-US" sz="2500" dirty="0"/>
                  <a:t> is false. </a:t>
                </a:r>
              </a:p>
              <a:p>
                <a:pPr lvl="1"/>
                <a:r>
                  <a:rPr lang="en-US" sz="2500" dirty="0"/>
                  <a:t>When </a:t>
                </a:r>
                <a14:m>
                  <m:oMath xmlns:m="http://schemas.openxmlformats.org/officeDocument/2006/math">
                    <m:r>
                      <a:rPr lang="en-US" sz="2500" b="1" i="1" dirty="0" smtClean="0">
                        <a:latin typeface="Cambria Math"/>
                      </a:rPr>
                      <m:t>𝒑</m:t>
                    </m:r>
                  </m:oMath>
                </a14:m>
                <a:r>
                  <a:rPr lang="en-US" sz="2500" dirty="0"/>
                  <a:t> is false, </a:t>
                </a:r>
                <a14:m>
                  <m:oMath xmlns:m="http://schemas.openxmlformats.org/officeDocument/2006/math">
                    <m:r>
                      <a:rPr lang="en-US" sz="2500" b="1" i="1" dirty="0" smtClean="0">
                        <a:latin typeface="Cambria Math"/>
                      </a:rPr>
                      <m:t>𝒒</m:t>
                    </m:r>
                  </m:oMath>
                </a14:m>
                <a:r>
                  <a:rPr lang="en-US" sz="2500" dirty="0"/>
                  <a:t> may be either true or false, because the statement says nothing about the truth value of </a:t>
                </a:r>
                <a14:m>
                  <m:oMath xmlns:m="http://schemas.openxmlformats.org/officeDocument/2006/math">
                    <m:r>
                      <a:rPr lang="en-US" sz="2500" b="1" i="1" dirty="0" smtClean="0">
                        <a:latin typeface="Cambria Math"/>
                      </a:rPr>
                      <m:t>𝒒</m:t>
                    </m:r>
                  </m:oMath>
                </a14:m>
                <a:r>
                  <a:rPr lang="en-US" sz="2500"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41" t="-1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3"/>
              <p:cNvGraphicFramePr>
                <a:graphicFrameLocks/>
              </p:cNvGraphicFramePr>
              <p:nvPr>
                <p:extLst>
                  <p:ext uri="{D42A27DB-BD31-4B8C-83A1-F6EECF244321}">
                    <p14:modId xmlns:p14="http://schemas.microsoft.com/office/powerpoint/2010/main" val="1708173962"/>
                  </p:ext>
                </p:extLst>
              </p:nvPr>
            </p:nvGraphicFramePr>
            <p:xfrm>
              <a:off x="1547664" y="4383112"/>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1784424">
                      <a:extLst>
                        <a:ext uri="{9D8B030D-6E8A-4147-A177-3AD203B41FA5}">
                          <a16:colId xmlns:a16="http://schemas.microsoft.com/office/drawing/2014/main" val="20001"/>
                        </a:ext>
                      </a:extLst>
                    </a:gridCol>
                    <a:gridCol w="2279576">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r>
                                  <a:rPr lang="en-GB" b="1" i="0" smtClean="0">
                                    <a:latin typeface="Cambria Math"/>
                                    <a:ea typeface="Cambria Math"/>
                                  </a:rPr>
                                  <m:t> [ </m:t>
                                </m:r>
                                <m:r>
                                  <m:rPr>
                                    <m:nor/>
                                  </m:rPr>
                                  <a:rPr lang="en-GB" b="1" i="0" smtClean="0">
                                    <a:latin typeface="Cambria Math"/>
                                    <a:ea typeface="Cambria Math"/>
                                  </a:rPr>
                                  <m:t>p</m:t>
                                </m:r>
                                <m:r>
                                  <m:rPr>
                                    <m:nor/>
                                  </m:rPr>
                                  <a:rPr lang="en-GB" b="1" i="0" smtClean="0">
                                    <a:latin typeface="Cambria Math"/>
                                    <a:ea typeface="Cambria Math"/>
                                  </a:rPr>
                                  <m:t> </m:t>
                                </m:r>
                                <m:r>
                                  <m:rPr>
                                    <m:nor/>
                                  </m:rPr>
                                  <a:rPr lang="en-GB" b="1" i="0" smtClean="0">
                                    <a:latin typeface="Cambria Math"/>
                                    <a:ea typeface="Cambria Math"/>
                                  </a:rPr>
                                  <m:t>only</m:t>
                                </m:r>
                                <m:r>
                                  <m:rPr>
                                    <m:nor/>
                                  </m:rPr>
                                  <a:rPr lang="en-GB" b="1" i="0" smtClean="0">
                                    <a:latin typeface="Cambria Math"/>
                                    <a:ea typeface="Cambria Math"/>
                                  </a:rPr>
                                  <m:t> </m:t>
                                </m:r>
                                <m:r>
                                  <m:rPr>
                                    <m:nor/>
                                  </m:rPr>
                                  <a:rPr lang="en-GB" b="1" i="0" smtClean="0">
                                    <a:latin typeface="Cambria Math"/>
                                    <a:ea typeface="Cambria Math"/>
                                  </a:rPr>
                                  <m:t>if</m:t>
                                </m:r>
                                <m:r>
                                  <m:rPr>
                                    <m:nor/>
                                  </m:rPr>
                                  <a:rPr lang="en-GB" b="1" i="0" smtClean="0">
                                    <a:latin typeface="Cambria Math"/>
                                    <a:ea typeface="Cambria Math"/>
                                  </a:rPr>
                                  <m:t> </m:t>
                                </m:r>
                                <m:r>
                                  <m:rPr>
                                    <m:nor/>
                                  </m:rPr>
                                  <a:rPr lang="en-GB" b="1" i="0" smtClean="0">
                                    <a:latin typeface="Cambria Math"/>
                                    <a:ea typeface="Cambria Math"/>
                                  </a:rPr>
                                  <m:t>q</m:t>
                                </m:r>
                                <m:r>
                                  <a:rPr lang="en-GB" b="1" i="0" smtClean="0">
                                    <a:latin typeface="Cambria Math"/>
                                    <a:ea typeface="Cambria Math"/>
                                  </a:rPr>
                                  <m:t> ]</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Content Placeholder 3"/>
              <p:cNvGraphicFramePr>
                <a:graphicFrameLocks/>
              </p:cNvGraphicFramePr>
              <p:nvPr>
                <p:extLst>
                  <p:ext uri="{D42A27DB-BD31-4B8C-83A1-F6EECF244321}">
                    <p14:modId xmlns:p14="http://schemas.microsoft.com/office/powerpoint/2010/main" val="1708173962"/>
                  </p:ext>
                </p:extLst>
              </p:nvPr>
            </p:nvGraphicFramePr>
            <p:xfrm>
              <a:off x="1547664" y="4383112"/>
              <a:ext cx="6096000" cy="1854200"/>
            </p:xfrm>
            <a:graphic>
              <a:graphicData uri="http://schemas.openxmlformats.org/drawingml/2006/table">
                <a:tbl>
                  <a:tblPr firstRow="1">
                    <a:tableStyleId>{ED083AE6-46FA-4A59-8FB0-9F97EB10719F}</a:tableStyleId>
                  </a:tblPr>
                  <a:tblGrid>
                    <a:gridCol w="2032000"/>
                    <a:gridCol w="1784424"/>
                    <a:gridCol w="2279576"/>
                  </a:tblGrid>
                  <a:tr h="370840">
                    <a:tc>
                      <a:txBody>
                        <a:bodyPr/>
                        <a:lstStyle/>
                        <a:p>
                          <a:endParaRPr lang="en-US"/>
                        </a:p>
                      </a:txBody>
                      <a:tcPr>
                        <a:blipFill rotWithShape="1">
                          <a:blip r:embed="rId3"/>
                          <a:stretch>
                            <a:fillRect l="-300" t="-8197" r="-200300" b="-424590"/>
                          </a:stretch>
                        </a:blipFill>
                      </a:tcPr>
                    </a:tc>
                    <a:tc>
                      <a:txBody>
                        <a:bodyPr/>
                        <a:lstStyle/>
                        <a:p>
                          <a:endParaRPr lang="en-US"/>
                        </a:p>
                      </a:txBody>
                      <a:tcPr>
                        <a:blipFill rotWithShape="1">
                          <a:blip r:embed="rId3"/>
                          <a:stretch>
                            <a:fillRect l="-113993" t="-8197" r="-127645" b="-424590"/>
                          </a:stretch>
                        </a:blipFill>
                      </a:tcPr>
                    </a:tc>
                    <a:tc>
                      <a:txBody>
                        <a:bodyPr/>
                        <a:lstStyle/>
                        <a:p>
                          <a:endParaRPr lang="en-US"/>
                        </a:p>
                      </a:txBody>
                      <a:tcPr>
                        <a:blipFill rotWithShape="1">
                          <a:blip r:embed="rId3"/>
                          <a:stretch>
                            <a:fillRect l="-167647" t="-8197" b="-424590"/>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965394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Conditionals/Implications(Contd.)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US" sz="2800" b="1" dirty="0"/>
                  <a:t>“</a:t>
                </a:r>
                <a14:m>
                  <m:oMath xmlns:m="http://schemas.openxmlformats.org/officeDocument/2006/math">
                    <m:r>
                      <a:rPr lang="en-US" sz="2800" b="1" i="1" dirty="0">
                        <a:latin typeface="Cambria Math"/>
                      </a:rPr>
                      <m:t>𝒒</m:t>
                    </m:r>
                    <m:r>
                      <a:rPr lang="en-US" sz="2800" b="1" i="1" dirty="0">
                        <a:latin typeface="Cambria Math"/>
                      </a:rPr>
                      <m:t> </m:t>
                    </m:r>
                    <m:r>
                      <a:rPr lang="en-US" sz="2800" b="1" i="1" dirty="0">
                        <a:latin typeface="Cambria Math"/>
                      </a:rPr>
                      <m:t>𝒖𝒏𝒍𝒆𝒔𝒔</m:t>
                    </m:r>
                    <m:r>
                      <a:rPr lang="en-US" sz="2800" b="1" i="1" dirty="0">
                        <a:latin typeface="Cambria Math"/>
                      </a:rPr>
                      <m:t> ¬</m:t>
                    </m:r>
                    <m:r>
                      <a:rPr lang="en-US" sz="2800" b="1" i="1" dirty="0">
                        <a:latin typeface="Cambria Math"/>
                      </a:rPr>
                      <m:t>𝒑</m:t>
                    </m:r>
                  </m:oMath>
                </a14:m>
                <a:r>
                  <a:rPr lang="en-US" sz="2800" dirty="0"/>
                  <a:t>”</a:t>
                </a:r>
              </a:p>
              <a:p>
                <a:pPr lvl="1"/>
                <a:r>
                  <a:rPr lang="en-US" sz="2500" dirty="0"/>
                  <a:t>Expresses the same thing as “</a:t>
                </a:r>
                <a14:m>
                  <m:oMath xmlns:m="http://schemas.openxmlformats.org/officeDocument/2006/math">
                    <m:r>
                      <a:rPr lang="en-US" sz="2500" b="1" i="1" dirty="0" smtClean="0">
                        <a:latin typeface="Cambria Math"/>
                      </a:rPr>
                      <m:t>𝒊𝒇</m:t>
                    </m:r>
                    <m:r>
                      <a:rPr lang="en-US" sz="2500" b="1" i="1" dirty="0" smtClean="0">
                        <a:latin typeface="Cambria Math"/>
                      </a:rPr>
                      <m:t> </m:t>
                    </m:r>
                    <m:r>
                      <a:rPr lang="en-US" sz="2500" b="1" i="1" dirty="0" smtClean="0">
                        <a:latin typeface="Cambria Math"/>
                      </a:rPr>
                      <m:t>𝒑</m:t>
                    </m:r>
                    <m:r>
                      <a:rPr lang="en-US" sz="2500" b="1" i="1" dirty="0" smtClean="0">
                        <a:latin typeface="Cambria Math"/>
                      </a:rPr>
                      <m:t>, </m:t>
                    </m:r>
                    <m:r>
                      <a:rPr lang="en-US" sz="2500" b="1" i="1" dirty="0" smtClean="0">
                        <a:latin typeface="Cambria Math"/>
                      </a:rPr>
                      <m:t>𝒕𝒉𝒆𝒏</m:t>
                    </m:r>
                    <m:r>
                      <a:rPr lang="en-US" sz="2500" b="1" i="1" dirty="0" smtClean="0">
                        <a:latin typeface="Cambria Math"/>
                      </a:rPr>
                      <m:t> </m:t>
                    </m:r>
                    <m:r>
                      <a:rPr lang="en-US" sz="2500" b="1" i="1" dirty="0" smtClean="0">
                        <a:latin typeface="Cambria Math"/>
                      </a:rPr>
                      <m:t>𝒒</m:t>
                    </m:r>
                  </m:oMath>
                </a14:m>
                <a:r>
                  <a:rPr lang="en-US" sz="2500" dirty="0"/>
                  <a:t>,” </a:t>
                </a:r>
              </a:p>
              <a:p>
                <a:pPr lvl="1"/>
                <a:r>
                  <a:rPr lang="en-US" sz="2500" dirty="0"/>
                  <a:t>It means, if </a:t>
                </a:r>
                <a14:m>
                  <m:oMath xmlns:m="http://schemas.openxmlformats.org/officeDocument/2006/math">
                    <m:r>
                      <a:rPr lang="en-US" sz="2500" b="1" i="1" dirty="0" smtClean="0">
                        <a:latin typeface="Cambria Math"/>
                      </a:rPr>
                      <m:t>¬</m:t>
                    </m:r>
                    <m:r>
                      <a:rPr lang="en-US" sz="2500" b="1" i="1" dirty="0" smtClean="0">
                        <a:latin typeface="Cambria Math"/>
                      </a:rPr>
                      <m:t>𝒑</m:t>
                    </m:r>
                  </m:oMath>
                </a14:m>
                <a:r>
                  <a:rPr lang="en-US" sz="2500" dirty="0"/>
                  <a:t> is false, then </a:t>
                </a:r>
                <a14:m>
                  <m:oMath xmlns:m="http://schemas.openxmlformats.org/officeDocument/2006/math">
                    <m:r>
                      <a:rPr lang="en-US" sz="2500" b="1" i="1" dirty="0" smtClean="0">
                        <a:latin typeface="Cambria Math"/>
                      </a:rPr>
                      <m:t>𝒒</m:t>
                    </m:r>
                  </m:oMath>
                </a14:m>
                <a:r>
                  <a:rPr lang="en-US" sz="2500" dirty="0"/>
                  <a:t> must be true. </a:t>
                </a:r>
              </a:p>
              <a:p>
                <a:pPr lvl="1"/>
                <a:r>
                  <a:rPr lang="en-US" sz="2500" dirty="0"/>
                  <a:t>i.e. the statement “</a:t>
                </a:r>
                <a14:m>
                  <m:oMath xmlns:m="http://schemas.openxmlformats.org/officeDocument/2006/math">
                    <m:r>
                      <a:rPr lang="en-US" sz="2500" b="1" i="1" dirty="0" smtClean="0">
                        <a:latin typeface="Cambria Math"/>
                      </a:rPr>
                      <m:t>𝒒</m:t>
                    </m:r>
                    <m:r>
                      <a:rPr lang="en-US" sz="2500" b="1" i="1" dirty="0" smtClean="0">
                        <a:latin typeface="Cambria Math"/>
                      </a:rPr>
                      <m:t> </m:t>
                    </m:r>
                    <m:r>
                      <a:rPr lang="en-US" sz="2500" b="1" i="1" dirty="0">
                        <a:latin typeface="Cambria Math"/>
                      </a:rPr>
                      <m:t>𝒖𝒏𝒍𝒆𝒔𝒔</m:t>
                    </m:r>
                    <m:r>
                      <a:rPr lang="en-US" sz="2500" b="1" i="1" dirty="0">
                        <a:latin typeface="Cambria Math"/>
                      </a:rPr>
                      <m:t> ¬</m:t>
                    </m:r>
                    <m:r>
                      <a:rPr lang="en-US" sz="2500" b="1" i="1" dirty="0">
                        <a:latin typeface="Cambria Math"/>
                      </a:rPr>
                      <m:t>𝒑</m:t>
                    </m:r>
                  </m:oMath>
                </a14:m>
                <a:r>
                  <a:rPr lang="en-US" sz="2500" dirty="0"/>
                  <a:t>” is false when </a:t>
                </a:r>
                <a14:m>
                  <m:oMath xmlns:m="http://schemas.openxmlformats.org/officeDocument/2006/math">
                    <m:r>
                      <a:rPr lang="en-US" sz="2500" b="1" i="1" dirty="0" smtClean="0">
                        <a:latin typeface="Cambria Math"/>
                      </a:rPr>
                      <m:t>𝒑</m:t>
                    </m:r>
                  </m:oMath>
                </a14:m>
                <a:r>
                  <a:rPr lang="en-US" sz="2500" dirty="0"/>
                  <a:t> is true but </a:t>
                </a:r>
                <a14:m>
                  <m:oMath xmlns:m="http://schemas.openxmlformats.org/officeDocument/2006/math">
                    <m:r>
                      <a:rPr lang="en-US" sz="2500" b="1" i="1" dirty="0" smtClean="0">
                        <a:latin typeface="Cambria Math"/>
                      </a:rPr>
                      <m:t>𝒒</m:t>
                    </m:r>
                  </m:oMath>
                </a14:m>
                <a:r>
                  <a:rPr lang="en-US" sz="2500" dirty="0"/>
                  <a:t> is false, but it is true otherwise. </a:t>
                </a:r>
              </a:p>
              <a:p>
                <a:pPr lvl="1"/>
                <a:r>
                  <a:rPr lang="en-US" sz="2500" dirty="0"/>
                  <a:t>Consequently, “</a:t>
                </a:r>
                <a14:m>
                  <m:oMath xmlns:m="http://schemas.openxmlformats.org/officeDocument/2006/math">
                    <m:r>
                      <a:rPr lang="en-US" sz="2500" b="1" i="1" dirty="0" smtClean="0">
                        <a:latin typeface="Cambria Math"/>
                      </a:rPr>
                      <m:t>𝒒</m:t>
                    </m:r>
                    <m:r>
                      <a:rPr lang="en-US" sz="2500" b="1" i="1" dirty="0" smtClean="0">
                        <a:latin typeface="Cambria Math"/>
                      </a:rPr>
                      <m:t> </m:t>
                    </m:r>
                    <m:r>
                      <a:rPr lang="en-US" sz="2500" b="1" i="1" dirty="0" smtClean="0">
                        <a:latin typeface="Cambria Math"/>
                      </a:rPr>
                      <m:t>𝒖𝒏𝒍𝒆𝒔𝒔</m:t>
                    </m:r>
                    <m:r>
                      <a:rPr lang="en-US" sz="2500" b="1" i="1" dirty="0" smtClean="0">
                        <a:latin typeface="Cambria Math"/>
                      </a:rPr>
                      <m:t> ¬</m:t>
                    </m:r>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r>
                      <a:rPr lang="en-US" sz="2500" b="1" i="1" dirty="0" smtClean="0">
                        <a:latin typeface="Cambria Math"/>
                      </a:rPr>
                      <m:t> </m:t>
                    </m:r>
                  </m:oMath>
                </a14:m>
                <a:r>
                  <a:rPr lang="en-US" sz="2500" dirty="0"/>
                  <a:t>always have the same truth value.</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741" t="-12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3"/>
              <p:cNvGraphicFramePr>
                <a:graphicFrameLocks/>
              </p:cNvGraphicFramePr>
              <p:nvPr>
                <p:extLst>
                  <p:ext uri="{D42A27DB-BD31-4B8C-83A1-F6EECF244321}">
                    <p14:modId xmlns:p14="http://schemas.microsoft.com/office/powerpoint/2010/main" val="351192009"/>
                  </p:ext>
                </p:extLst>
              </p:nvPr>
            </p:nvGraphicFramePr>
            <p:xfrm>
              <a:off x="1547664" y="4455120"/>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1784424">
                      <a:extLst>
                        <a:ext uri="{9D8B030D-6E8A-4147-A177-3AD203B41FA5}">
                          <a16:colId xmlns:a16="http://schemas.microsoft.com/office/drawing/2014/main" val="20001"/>
                        </a:ext>
                      </a:extLst>
                    </a:gridCol>
                    <a:gridCol w="2279576">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r>
                                  <a:rPr lang="en-GB" b="1" i="0" smtClean="0">
                                    <a:latin typeface="Cambria Math"/>
                                    <a:ea typeface="Cambria Math"/>
                                  </a:rPr>
                                  <m:t> [ </m:t>
                                </m:r>
                                <m:r>
                                  <m:rPr>
                                    <m:nor/>
                                  </m:rPr>
                                  <a:rPr lang="en-GB" b="1" i="0" smtClean="0">
                                    <a:latin typeface="Cambria Math"/>
                                    <a:ea typeface="Cambria Math"/>
                                  </a:rPr>
                                  <m:t>q</m:t>
                                </m:r>
                                <m:r>
                                  <m:rPr>
                                    <m:nor/>
                                  </m:rPr>
                                  <a:rPr lang="en-GB" b="1" i="0" smtClean="0">
                                    <a:latin typeface="Cambria Math"/>
                                    <a:ea typeface="Cambria Math"/>
                                  </a:rPr>
                                  <m:t> </m:t>
                                </m:r>
                                <m:r>
                                  <m:rPr>
                                    <m:nor/>
                                  </m:rPr>
                                  <a:rPr lang="en-GB" b="1" i="0" smtClean="0">
                                    <a:latin typeface="Cambria Math"/>
                                    <a:ea typeface="Cambria Math"/>
                                  </a:rPr>
                                  <m:t>unless</m:t>
                                </m:r>
                                <m:r>
                                  <m:rPr>
                                    <m:nor/>
                                  </m:rPr>
                                  <a:rPr lang="en-GB" b="1" i="0" smtClean="0">
                                    <a:latin typeface="Cambria Math"/>
                                    <a:ea typeface="Cambria Math"/>
                                  </a:rPr>
                                  <m:t> ¬</m:t>
                                </m:r>
                                <m:r>
                                  <m:rPr>
                                    <m:nor/>
                                  </m:rPr>
                                  <a:rPr lang="en-GB" b="1" i="0" smtClean="0">
                                    <a:latin typeface="Cambria Math"/>
                                    <a:ea typeface="Cambria Math"/>
                                  </a:rPr>
                                  <m:t>p</m:t>
                                </m:r>
                                <m:r>
                                  <a:rPr lang="en-GB" b="1" i="0" smtClean="0">
                                    <a:latin typeface="Cambria Math"/>
                                    <a:ea typeface="Cambria Math"/>
                                  </a:rPr>
                                  <m:t> ]</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Content Placeholder 3"/>
              <p:cNvGraphicFramePr>
                <a:graphicFrameLocks/>
              </p:cNvGraphicFramePr>
              <p:nvPr>
                <p:extLst>
                  <p:ext uri="{D42A27DB-BD31-4B8C-83A1-F6EECF244321}">
                    <p14:modId xmlns:p14="http://schemas.microsoft.com/office/powerpoint/2010/main" val="351192009"/>
                  </p:ext>
                </p:extLst>
              </p:nvPr>
            </p:nvGraphicFramePr>
            <p:xfrm>
              <a:off x="1547664" y="4455120"/>
              <a:ext cx="6096000" cy="1854200"/>
            </p:xfrm>
            <a:graphic>
              <a:graphicData uri="http://schemas.openxmlformats.org/drawingml/2006/table">
                <a:tbl>
                  <a:tblPr firstRow="1">
                    <a:tableStyleId>{ED083AE6-46FA-4A59-8FB0-9F97EB10719F}</a:tableStyleId>
                  </a:tblPr>
                  <a:tblGrid>
                    <a:gridCol w="2032000"/>
                    <a:gridCol w="1784424"/>
                    <a:gridCol w="2279576"/>
                  </a:tblGrid>
                  <a:tr h="370840">
                    <a:tc>
                      <a:txBody>
                        <a:bodyPr/>
                        <a:lstStyle/>
                        <a:p>
                          <a:endParaRPr lang="en-US"/>
                        </a:p>
                      </a:txBody>
                      <a:tcPr>
                        <a:blipFill rotWithShape="1">
                          <a:blip r:embed="rId3"/>
                          <a:stretch>
                            <a:fillRect l="-300" t="-8197" r="-200300" b="-422951"/>
                          </a:stretch>
                        </a:blipFill>
                      </a:tcPr>
                    </a:tc>
                    <a:tc>
                      <a:txBody>
                        <a:bodyPr/>
                        <a:lstStyle/>
                        <a:p>
                          <a:endParaRPr lang="en-US"/>
                        </a:p>
                      </a:txBody>
                      <a:tcPr>
                        <a:blipFill rotWithShape="1">
                          <a:blip r:embed="rId3"/>
                          <a:stretch>
                            <a:fillRect l="-113993" t="-8197" r="-127645" b="-422951"/>
                          </a:stretch>
                        </a:blipFill>
                      </a:tcPr>
                    </a:tc>
                    <a:tc>
                      <a:txBody>
                        <a:bodyPr/>
                        <a:lstStyle/>
                        <a:p>
                          <a:endParaRPr lang="en-US"/>
                        </a:p>
                      </a:txBody>
                      <a:tcPr>
                        <a:blipFill rotWithShape="1">
                          <a:blip r:embed="rId3"/>
                          <a:stretch>
                            <a:fillRect l="-167647"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2085093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Conditionals/Implications(Contd.)</a:t>
            </a:r>
            <a:endParaRPr lang="en-US" dirty="0"/>
          </a:p>
        </p:txBody>
      </p:sp>
      <p:sp>
        <p:nvSpPr>
          <p:cNvPr id="3" name="Content Placeholder 2"/>
          <p:cNvSpPr>
            <a:spLocks noGrp="1"/>
          </p:cNvSpPr>
          <p:nvPr>
            <p:ph sz="quarter" idx="1"/>
          </p:nvPr>
        </p:nvSpPr>
        <p:spPr/>
        <p:txBody>
          <a:bodyPr>
            <a:normAutofit/>
          </a:bodyPr>
          <a:lstStyle/>
          <a:p>
            <a:r>
              <a:rPr lang="en-GB" sz="3200" b="1" u="sng" dirty="0"/>
              <a:t>Example 1:</a:t>
            </a:r>
          </a:p>
          <a:p>
            <a:pPr lvl="1"/>
            <a:endParaRPr lang="en-US" sz="2500" dirty="0"/>
          </a:p>
          <a:p>
            <a:pPr lvl="1"/>
            <a:r>
              <a:rPr lang="en-US" sz="2500" dirty="0"/>
              <a:t>p : “Maria learns discrete mathematics” </a:t>
            </a:r>
          </a:p>
          <a:p>
            <a:pPr lvl="1"/>
            <a:r>
              <a:rPr lang="en-US" sz="2500" dirty="0"/>
              <a:t>q :  “Maria will </a:t>
            </a:r>
            <a:r>
              <a:rPr lang="en-US" sz="2800" dirty="0"/>
              <a:t>ﬁnd a good job.” </a:t>
            </a:r>
          </a:p>
          <a:p>
            <a:endParaRPr lang="en-US" sz="3100" dirty="0"/>
          </a:p>
          <a:p>
            <a:r>
              <a:rPr lang="en-US" sz="3100" dirty="0"/>
              <a:t>Express the statement p → q as a statement in English.</a:t>
            </a:r>
            <a:endParaRPr lang="en-US" sz="8300" dirty="0"/>
          </a:p>
        </p:txBody>
      </p:sp>
    </p:spTree>
    <p:extLst>
      <p:ext uri="{BB962C8B-B14F-4D97-AF65-F5344CB8AC3E}">
        <p14:creationId xmlns:p14="http://schemas.microsoft.com/office/powerpoint/2010/main" val="3938401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Conditionals/Implications(Contd.)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Solution:</a:t>
                </a:r>
              </a:p>
              <a:p>
                <a:pPr lvl="1"/>
                <a:r>
                  <a:rPr lang="en-US" sz="2500" dirty="0"/>
                  <a:t>“</a:t>
                </a:r>
                <a14:m>
                  <m:oMath xmlns:m="http://schemas.openxmlformats.org/officeDocument/2006/math">
                    <m:r>
                      <a:rPr lang="en-US" sz="2500" b="1" i="1" dirty="0" smtClean="0">
                        <a:latin typeface="Cambria Math"/>
                      </a:rPr>
                      <m:t>𝑰𝒇</m:t>
                    </m:r>
                  </m:oMath>
                </a14:m>
                <a:r>
                  <a:rPr lang="en-US" sz="2500" dirty="0"/>
                  <a:t> Maria learns discrete mathematics, </a:t>
                </a:r>
                <a14:m>
                  <m:oMath xmlns:m="http://schemas.openxmlformats.org/officeDocument/2006/math">
                    <m:r>
                      <a:rPr lang="en-US" sz="2500" b="1" i="1" dirty="0" smtClean="0">
                        <a:latin typeface="Cambria Math"/>
                      </a:rPr>
                      <m:t>𝒕𝒉𝒆𝒏</m:t>
                    </m:r>
                  </m:oMath>
                </a14:m>
                <a:r>
                  <a:rPr lang="en-US" sz="2500" dirty="0"/>
                  <a:t> she will ﬁnd a good job.”   </a:t>
                </a:r>
                <a:r>
                  <a:rPr lang="en-US" sz="2500" b="1" dirty="0"/>
                  <a:t>Or</a:t>
                </a:r>
                <a:r>
                  <a:rPr lang="en-US" sz="2500" dirty="0"/>
                  <a:t>,</a:t>
                </a:r>
              </a:p>
              <a:p>
                <a:pPr lvl="1"/>
                <a:r>
                  <a:rPr lang="en-US" sz="2500" dirty="0"/>
                  <a:t>“Maria will ﬁnd a good job </a:t>
                </a:r>
                <a14:m>
                  <m:oMath xmlns:m="http://schemas.openxmlformats.org/officeDocument/2006/math">
                    <m:r>
                      <a:rPr lang="en-US" sz="2500" b="1" i="1" dirty="0" smtClean="0">
                        <a:latin typeface="Cambria Math"/>
                      </a:rPr>
                      <m:t>𝒘𝒉𝒆𝒏</m:t>
                    </m:r>
                  </m:oMath>
                </a14:m>
                <a:r>
                  <a:rPr lang="en-US" sz="2500" dirty="0"/>
                  <a:t> she learns discrete mathematics.”   </a:t>
                </a:r>
                <a:r>
                  <a:rPr lang="en-US" sz="2500" b="1" dirty="0"/>
                  <a:t>Or</a:t>
                </a:r>
                <a:r>
                  <a:rPr lang="en-US" sz="2500" dirty="0"/>
                  <a:t>,</a:t>
                </a:r>
              </a:p>
              <a:p>
                <a:pPr lvl="1"/>
                <a:r>
                  <a:rPr lang="en-US" sz="2500" dirty="0"/>
                  <a:t>“</a:t>
                </a:r>
                <a14:m>
                  <m:oMath xmlns:m="http://schemas.openxmlformats.org/officeDocument/2006/math">
                    <m:r>
                      <a:rPr lang="en-US" sz="2500" b="1" i="1" dirty="0" smtClean="0">
                        <a:latin typeface="Cambria Math"/>
                      </a:rPr>
                      <m:t>𝑭𝒐𝒓</m:t>
                    </m:r>
                  </m:oMath>
                </a14:m>
                <a:r>
                  <a:rPr lang="en-US" sz="2500" dirty="0"/>
                  <a:t> Maria to get a good job, </a:t>
                </a:r>
                <a14:m>
                  <m:oMath xmlns:m="http://schemas.openxmlformats.org/officeDocument/2006/math">
                    <m:r>
                      <a:rPr lang="en-US" sz="2500" b="1" i="1" dirty="0" smtClean="0">
                        <a:latin typeface="Cambria Math"/>
                      </a:rPr>
                      <m:t>𝒊𝒕</m:t>
                    </m:r>
                    <m:r>
                      <a:rPr lang="en-US" sz="2500" b="1" i="1" dirty="0" smtClean="0">
                        <a:latin typeface="Cambria Math"/>
                      </a:rPr>
                      <m:t> </m:t>
                    </m:r>
                    <m:r>
                      <a:rPr lang="en-US" sz="2500" b="1" i="1" dirty="0" smtClean="0">
                        <a:latin typeface="Cambria Math"/>
                      </a:rPr>
                      <m:t>𝒊𝒔</m:t>
                    </m:r>
                    <m:r>
                      <a:rPr lang="en-US" sz="2500" b="1" i="1" dirty="0" smtClean="0">
                        <a:latin typeface="Cambria Math"/>
                      </a:rPr>
                      <m:t> </m:t>
                    </m:r>
                    <m:r>
                      <a:rPr lang="en-US" sz="2500" b="1" i="1" dirty="0" smtClean="0">
                        <a:latin typeface="Cambria Math"/>
                      </a:rPr>
                      <m:t>𝒔𝒖𝒇</m:t>
                    </m:r>
                    <m:r>
                      <a:rPr lang="en-US" sz="2500" b="1" i="1" dirty="0" smtClean="0">
                        <a:latin typeface="Cambria Math"/>
                      </a:rPr>
                      <m:t>ﬁ</m:t>
                    </m:r>
                    <m:r>
                      <a:rPr lang="en-US" sz="2500" b="1" i="1" dirty="0" smtClean="0">
                        <a:latin typeface="Cambria Math"/>
                      </a:rPr>
                      <m:t>𝒄𝒊𝒆𝒏𝒕</m:t>
                    </m:r>
                  </m:oMath>
                </a14:m>
                <a:r>
                  <a:rPr lang="en-US" sz="2500" dirty="0"/>
                  <a:t> for her to learn discrete mathematics.”   </a:t>
                </a:r>
                <a:r>
                  <a:rPr lang="en-US" sz="2500" b="1" dirty="0"/>
                  <a:t>Or</a:t>
                </a:r>
                <a:r>
                  <a:rPr lang="en-US" sz="2500" dirty="0"/>
                  <a:t>,</a:t>
                </a:r>
              </a:p>
              <a:p>
                <a:pPr lvl="1"/>
                <a:r>
                  <a:rPr lang="en-US" sz="2500" dirty="0"/>
                  <a:t>“Maria will ﬁnd a good job </a:t>
                </a:r>
                <a14:m>
                  <m:oMath xmlns:m="http://schemas.openxmlformats.org/officeDocument/2006/math">
                    <m:r>
                      <a:rPr lang="en-US" sz="2500" b="1" i="1" dirty="0" smtClean="0">
                        <a:latin typeface="Cambria Math"/>
                      </a:rPr>
                      <m:t>𝒖𝒏𝒍𝒆𝒔𝒔</m:t>
                    </m:r>
                  </m:oMath>
                </a14:m>
                <a:r>
                  <a:rPr lang="en-US" sz="2500" dirty="0"/>
                  <a:t> she does </a:t>
                </a:r>
                <a14:m>
                  <m:oMath xmlns:m="http://schemas.openxmlformats.org/officeDocument/2006/math">
                    <m:r>
                      <a:rPr lang="en-US" sz="2500" b="1" i="1" dirty="0" smtClean="0">
                        <a:latin typeface="Cambria Math"/>
                      </a:rPr>
                      <m:t>𝒏𝒐𝒕</m:t>
                    </m:r>
                  </m:oMath>
                </a14:m>
                <a:r>
                  <a:rPr lang="en-US" sz="2500" dirty="0"/>
                  <a:t> learn discrete mathematics.”</a:t>
                </a:r>
                <a:endParaRPr lang="en-GB" sz="2500" dirty="0"/>
              </a:p>
              <a:p>
                <a:pPr lvl="1"/>
                <a:endParaRPr lang="en-US" sz="29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037" t="-1605" r="-1778"/>
                </a:stretch>
              </a:blipFill>
            </p:spPr>
            <p:txBody>
              <a:bodyPr/>
              <a:lstStyle/>
              <a:p>
                <a:r>
                  <a:rPr lang="en-US">
                    <a:noFill/>
                  </a:rPr>
                  <a:t> </a:t>
                </a:r>
              </a:p>
            </p:txBody>
          </p:sp>
        </mc:Fallback>
      </mc:AlternateContent>
    </p:spTree>
    <p:extLst>
      <p:ext uri="{BB962C8B-B14F-4D97-AF65-F5344CB8AC3E}">
        <p14:creationId xmlns:p14="http://schemas.microsoft.com/office/powerpoint/2010/main" val="3017937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Converse, Contrapositive and Inverse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dirty="0"/>
                  <a:t>Converse</a:t>
                </a:r>
              </a:p>
              <a:p>
                <a:pPr lvl="1"/>
                <a:r>
                  <a:rPr lang="en-US" sz="2500" dirty="0"/>
                  <a:t>The proposition </a:t>
                </a:r>
                <a14:m>
                  <m:oMath xmlns:m="http://schemas.openxmlformats.org/officeDocument/2006/math">
                    <m:r>
                      <a:rPr lang="en-US" sz="2500" b="1" i="1" dirty="0" smtClean="0">
                        <a:latin typeface="Cambria Math"/>
                      </a:rPr>
                      <m:t>𝒒</m:t>
                    </m:r>
                    <m:r>
                      <a:rPr lang="en-US" sz="2500" b="1" i="1" dirty="0" smtClean="0">
                        <a:latin typeface="Cambria Math"/>
                      </a:rPr>
                      <m:t> → </m:t>
                    </m:r>
                    <m:r>
                      <a:rPr lang="en-US" sz="2500" b="1" i="1" dirty="0" smtClean="0">
                        <a:latin typeface="Cambria Math"/>
                      </a:rPr>
                      <m:t>𝒑</m:t>
                    </m:r>
                    <m:r>
                      <a:rPr lang="en-US" sz="2500" b="1" i="1" dirty="0" smtClean="0">
                        <a:latin typeface="Cambria Math"/>
                      </a:rPr>
                      <m:t> </m:t>
                    </m:r>
                  </m:oMath>
                </a14:m>
                <a:r>
                  <a:rPr lang="en-US" sz="2500" dirty="0"/>
                  <a:t>is called the converse of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a:latin typeface="Cambria Math"/>
                      </a:rPr>
                      <m:t>𝒒</m:t>
                    </m:r>
                  </m:oMath>
                </a14:m>
                <a:r>
                  <a:rPr lang="en-US" sz="2500" dirty="0"/>
                  <a:t>. </a:t>
                </a:r>
              </a:p>
              <a:p>
                <a:r>
                  <a:rPr lang="en-US" sz="3100" dirty="0"/>
                  <a:t>Contrapositive</a:t>
                </a:r>
              </a:p>
              <a:p>
                <a:pPr lvl="1"/>
                <a:r>
                  <a:rPr lang="en-US" sz="2500" dirty="0"/>
                  <a:t>The proposition  </a:t>
                </a:r>
                <a14:m>
                  <m:oMath xmlns:m="http://schemas.openxmlformats.org/officeDocument/2006/math">
                    <m:r>
                      <a:rPr lang="en-US" sz="2500" b="1" i="1" dirty="0" smtClean="0">
                        <a:latin typeface="Cambria Math"/>
                      </a:rPr>
                      <m:t>¬</m:t>
                    </m:r>
                    <m:r>
                      <a:rPr lang="en-US" sz="2500" b="1" i="1" dirty="0" smtClean="0">
                        <a:latin typeface="Cambria Math"/>
                      </a:rPr>
                      <m:t>𝒒</m:t>
                    </m:r>
                    <m:r>
                      <a:rPr lang="en-US" sz="2500" b="1" i="1" dirty="0" smtClean="0">
                        <a:latin typeface="Cambria Math"/>
                      </a:rPr>
                      <m:t> →¬</m:t>
                    </m:r>
                    <m:r>
                      <a:rPr lang="en-US" sz="2500" b="1" i="1" dirty="0" smtClean="0">
                        <a:latin typeface="Cambria Math"/>
                      </a:rPr>
                      <m:t>𝒑</m:t>
                    </m:r>
                    <m:r>
                      <a:rPr lang="en-US" sz="2500" b="1" i="1" dirty="0" smtClean="0">
                        <a:latin typeface="Cambria Math"/>
                      </a:rPr>
                      <m:t> </m:t>
                    </m:r>
                  </m:oMath>
                </a14:m>
                <a:r>
                  <a:rPr lang="en-US" sz="2500" dirty="0"/>
                  <a:t>is called the contrapositive of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a:t>
                </a:r>
              </a:p>
              <a:p>
                <a:r>
                  <a:rPr lang="en-US" sz="2800" dirty="0"/>
                  <a:t>Inverse</a:t>
                </a:r>
              </a:p>
              <a:p>
                <a:pPr lvl="1"/>
                <a:r>
                  <a:rPr lang="en-US" sz="2500" dirty="0"/>
                  <a:t>The proposition </a:t>
                </a:r>
                <a14:m>
                  <m:oMath xmlns:m="http://schemas.openxmlformats.org/officeDocument/2006/math">
                    <m:r>
                      <a:rPr lang="en-US" sz="2500" b="1" i="1" dirty="0" smtClean="0">
                        <a:latin typeface="Cambria Math"/>
                      </a:rPr>
                      <m:t>¬</m:t>
                    </m:r>
                    <m:r>
                      <a:rPr lang="en-US" sz="2500" b="1" i="1" dirty="0" smtClean="0">
                        <a:latin typeface="Cambria Math"/>
                      </a:rPr>
                      <m:t>𝒑</m:t>
                    </m:r>
                    <m:r>
                      <a:rPr lang="en-US" sz="2500" b="1" i="1" dirty="0" smtClean="0">
                        <a:latin typeface="Cambria Math"/>
                      </a:rPr>
                      <m:t> →¬</m:t>
                    </m:r>
                    <m:r>
                      <a:rPr lang="en-US" sz="2500" b="1" i="1" dirty="0" smtClean="0">
                        <a:latin typeface="Cambria Math"/>
                      </a:rPr>
                      <m:t>𝒒</m:t>
                    </m:r>
                  </m:oMath>
                </a14:m>
                <a:r>
                  <a:rPr lang="en-US" sz="2500" dirty="0"/>
                  <a:t> is called the inverse of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a:t>
                </a:r>
                <a:endParaRPr lang="en-US" sz="77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037" t="-1605" r="-1926"/>
                </a:stretch>
              </a:blipFill>
            </p:spPr>
            <p:txBody>
              <a:bodyPr/>
              <a:lstStyle/>
              <a:p>
                <a:r>
                  <a:rPr lang="en-US">
                    <a:noFill/>
                  </a:rPr>
                  <a:t> </a:t>
                </a:r>
              </a:p>
            </p:txBody>
          </p:sp>
        </mc:Fallback>
      </mc:AlternateContent>
    </p:spTree>
    <p:extLst>
      <p:ext uri="{BB962C8B-B14F-4D97-AF65-F5344CB8AC3E}">
        <p14:creationId xmlns:p14="http://schemas.microsoft.com/office/powerpoint/2010/main" val="2094693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Converse, Contrapositive and Inverse(Contd.)</a:t>
            </a:r>
            <a:endParaRPr lang="en-US" dirty="0"/>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sz="quarter" idx="1"/>
                <p:extLst>
                  <p:ext uri="{D42A27DB-BD31-4B8C-83A1-F6EECF244321}">
                    <p14:modId xmlns:p14="http://schemas.microsoft.com/office/powerpoint/2010/main" val="385819912"/>
                  </p:ext>
                </p:extLst>
              </p:nvPr>
            </p:nvGraphicFramePr>
            <p:xfrm>
              <a:off x="457200" y="1219200"/>
              <a:ext cx="8229519" cy="2123440"/>
            </p:xfrm>
            <a:graphic>
              <a:graphicData uri="http://schemas.openxmlformats.org/drawingml/2006/table">
                <a:tbl>
                  <a:tblPr firstRow="1">
                    <a:tableStyleId>{ED083AE6-46FA-4A59-8FB0-9F97EB10719F}</a:tableStyleId>
                  </a:tblPr>
                  <a:tblGrid>
                    <a:gridCol w="358310">
                      <a:extLst>
                        <a:ext uri="{9D8B030D-6E8A-4147-A177-3AD203B41FA5}">
                          <a16:colId xmlns:a16="http://schemas.microsoft.com/office/drawing/2014/main" val="20000"/>
                        </a:ext>
                      </a:extLst>
                    </a:gridCol>
                    <a:gridCol w="355376">
                      <a:extLst>
                        <a:ext uri="{9D8B030D-6E8A-4147-A177-3AD203B41FA5}">
                          <a16:colId xmlns:a16="http://schemas.microsoft.com/office/drawing/2014/main" val="20001"/>
                        </a:ext>
                      </a:extLst>
                    </a:gridCol>
                    <a:gridCol w="516776">
                      <a:extLst>
                        <a:ext uri="{9D8B030D-6E8A-4147-A177-3AD203B41FA5}">
                          <a16:colId xmlns:a16="http://schemas.microsoft.com/office/drawing/2014/main" val="20002"/>
                        </a:ext>
                      </a:extLst>
                    </a:gridCol>
                    <a:gridCol w="513843">
                      <a:extLst>
                        <a:ext uri="{9D8B030D-6E8A-4147-A177-3AD203B41FA5}">
                          <a16:colId xmlns:a16="http://schemas.microsoft.com/office/drawing/2014/main" val="20003"/>
                        </a:ext>
                      </a:extLst>
                    </a:gridCol>
                    <a:gridCol w="1401312">
                      <a:extLst>
                        <a:ext uri="{9D8B030D-6E8A-4147-A177-3AD203B41FA5}">
                          <a16:colId xmlns:a16="http://schemas.microsoft.com/office/drawing/2014/main" val="20004"/>
                        </a:ext>
                      </a:extLst>
                    </a:gridCol>
                    <a:gridCol w="2176456">
                      <a:extLst>
                        <a:ext uri="{9D8B030D-6E8A-4147-A177-3AD203B41FA5}">
                          <a16:colId xmlns:a16="http://schemas.microsoft.com/office/drawing/2014/main" val="20005"/>
                        </a:ext>
                      </a:extLst>
                    </a:gridCol>
                    <a:gridCol w="1547869">
                      <a:extLst>
                        <a:ext uri="{9D8B030D-6E8A-4147-A177-3AD203B41FA5}">
                          <a16:colId xmlns:a16="http://schemas.microsoft.com/office/drawing/2014/main" val="20006"/>
                        </a:ext>
                      </a:extLst>
                    </a:gridCol>
                    <a:gridCol w="1359577">
                      <a:extLst>
                        <a:ext uri="{9D8B030D-6E8A-4147-A177-3AD203B41FA5}">
                          <a16:colId xmlns:a16="http://schemas.microsoft.com/office/drawing/2014/main" val="20007"/>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dirty="0" smtClean="0">
                                    <a:latin typeface="Cambria Math"/>
                                  </a:rPr>
                                  <m:t>¬</m:t>
                                </m:r>
                                <m:r>
                                  <a:rPr lang="en-GB" b="1" i="1" dirty="0" smtClean="0">
                                    <a:latin typeface="Cambria Math"/>
                                  </a:rPr>
                                  <m:t>𝒑</m:t>
                                </m:r>
                              </m:oMath>
                            </m:oMathPara>
                          </a14:m>
                          <a:endParaRPr lang="en-US" b="1"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𝒒</m:t>
                                </m:r>
                              </m:oMath>
                            </m:oMathPara>
                          </a14:m>
                          <a:endParaRPr lang="en-US"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p>
                          <a:pPr algn="ctr"/>
                          <a:r>
                            <a:rPr lang="en-GB" dirty="0"/>
                            <a:t>(Original)</a:t>
                          </a:r>
                          <a:endParaRPr lang="en-US"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𝒒</m:t>
                                </m:r>
                                <m:r>
                                  <a:rPr lang="en-GB" b="1" i="1" smtClean="0">
                                    <a:latin typeface="Cambria Math"/>
                                    <a:ea typeface="Cambria Math"/>
                                  </a:rPr>
                                  <m:t>→¬</m:t>
                                </m:r>
                                <m:r>
                                  <a:rPr lang="en-GB" b="1" i="1" smtClean="0">
                                    <a:latin typeface="Cambria Math"/>
                                    <a:ea typeface="Cambria Math"/>
                                  </a:rPr>
                                  <m:t>𝒑</m:t>
                                </m:r>
                              </m:oMath>
                            </m:oMathPara>
                          </a14:m>
                          <a:endParaRPr lang="en-US" dirty="0"/>
                        </a:p>
                        <a:p>
                          <a:pPr algn="ctr"/>
                          <a:r>
                            <a:rPr lang="en-GB" dirty="0"/>
                            <a:t>(Contrapositive)</a:t>
                          </a:r>
                          <a:endParaRPr lang="en-US"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r>
                                  <a:rPr lang="en-GB" b="1" i="1" smtClean="0">
                                    <a:latin typeface="Cambria Math"/>
                                    <a:ea typeface="Cambria Math"/>
                                  </a:rPr>
                                  <m:t>→</m:t>
                                </m:r>
                                <m:r>
                                  <a:rPr lang="en-GB" b="1" i="1" smtClean="0">
                                    <a:latin typeface="Cambria Math"/>
                                    <a:ea typeface="Cambria Math"/>
                                  </a:rPr>
                                  <m:t>𝒑</m:t>
                                </m:r>
                              </m:oMath>
                            </m:oMathPara>
                          </a14:m>
                          <a:endParaRPr lang="en-US" dirty="0"/>
                        </a:p>
                        <a:p>
                          <a:pPr algn="ctr"/>
                          <a:r>
                            <a:rPr lang="en-GB" dirty="0"/>
                            <a:t>(Converse)</a:t>
                          </a:r>
                          <a:endParaRPr lang="en-US" dirty="0"/>
                        </a:p>
                      </a:txBody>
                      <a:tcPr marL="99501" marR="99501" anchor="ct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GB" dirty="0"/>
                        </a:p>
                        <a:p>
                          <a:pPr algn="ctr"/>
                          <a:r>
                            <a:rPr lang="en-GB" dirty="0"/>
                            <a:t> (Inverse)</a:t>
                          </a:r>
                          <a:endParaRPr lang="en-US" dirty="0"/>
                        </a:p>
                      </a:txBody>
                      <a:tcPr marL="99501" marR="99501" anchor="ct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T</a:t>
                          </a:r>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extLst>
                      <a:ext uri="{0D108BD9-81ED-4DB2-BD59-A6C34878D82A}">
                        <a16:rowId xmlns:a16="http://schemas.microsoft.com/office/drawing/2014/main" val="10001"/>
                      </a:ext>
                    </a:extLst>
                  </a:tr>
                  <a:tr h="370840">
                    <a:tc>
                      <a:txBody>
                        <a:bodyPr/>
                        <a:lstStyle/>
                        <a:p>
                          <a:pPr algn="ctr"/>
                          <a:r>
                            <a:rPr lang="en-GB" dirty="0"/>
                            <a:t>F</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F</a:t>
                          </a:r>
                          <a:endParaRPr lang="en-US" dirty="0"/>
                        </a:p>
                      </a:txBody>
                      <a:tcPr marL="99501" marR="99501" anchor="ctr"/>
                    </a:tc>
                    <a:extLst>
                      <a:ext uri="{0D108BD9-81ED-4DB2-BD59-A6C34878D82A}">
                        <a16:rowId xmlns:a16="http://schemas.microsoft.com/office/drawing/2014/main" val="10002"/>
                      </a:ext>
                    </a:extLst>
                  </a:tr>
                  <a:tr h="370840">
                    <a:tc>
                      <a:txBody>
                        <a:bodyPr/>
                        <a:lstStyle/>
                        <a:p>
                          <a:pPr algn="ctr"/>
                          <a:r>
                            <a:rPr lang="en-GB" dirty="0"/>
                            <a:t>T</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extLst>
                      <a:ext uri="{0D108BD9-81ED-4DB2-BD59-A6C34878D82A}">
                        <a16:rowId xmlns:a16="http://schemas.microsoft.com/office/drawing/2014/main" val="10003"/>
                      </a:ext>
                    </a:extLst>
                  </a:tr>
                  <a:tr h="370840">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F</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tc>
                      <a:txBody>
                        <a:bodyPr/>
                        <a:lstStyle/>
                        <a:p>
                          <a:pPr algn="ctr"/>
                          <a:r>
                            <a:rPr lang="en-GB" dirty="0"/>
                            <a:t>T</a:t>
                          </a:r>
                          <a:endParaRPr lang="en-US" dirty="0"/>
                        </a:p>
                      </a:txBody>
                      <a:tcPr marL="99501" marR="99501" anchor="ctr"/>
                    </a:tc>
                    <a:extLst>
                      <a:ext uri="{0D108BD9-81ED-4DB2-BD59-A6C34878D82A}">
                        <a16:rowId xmlns:a16="http://schemas.microsoft.com/office/drawing/2014/main" val="10004"/>
                      </a:ext>
                    </a:extLst>
                  </a:tr>
                </a:tbl>
              </a:graphicData>
            </a:graphic>
          </p:graphicFrame>
        </mc:Choice>
        <mc:Fallback xmlns="">
          <p:graphicFrame>
            <p:nvGraphicFramePr>
              <p:cNvPr id="4" name="Content Placeholder 3"/>
              <p:cNvGraphicFramePr>
                <a:graphicFrameLocks noGrp="1"/>
              </p:cNvGraphicFramePr>
              <p:nvPr>
                <p:ph sz="quarter" idx="1"/>
                <p:extLst>
                  <p:ext uri="{D42A27DB-BD31-4B8C-83A1-F6EECF244321}">
                    <p14:modId xmlns:p14="http://schemas.microsoft.com/office/powerpoint/2010/main" val="385819912"/>
                  </p:ext>
                </p:extLst>
              </p:nvPr>
            </p:nvGraphicFramePr>
            <p:xfrm>
              <a:off x="457200" y="1219200"/>
              <a:ext cx="8229519" cy="2123440"/>
            </p:xfrm>
            <a:graphic>
              <a:graphicData uri="http://schemas.openxmlformats.org/drawingml/2006/table">
                <a:tbl>
                  <a:tblPr firstRow="1">
                    <a:tableStyleId>{ED083AE6-46FA-4A59-8FB0-9F97EB10719F}</a:tableStyleId>
                  </a:tblPr>
                  <a:tblGrid>
                    <a:gridCol w="358310"/>
                    <a:gridCol w="355376"/>
                    <a:gridCol w="516776"/>
                    <a:gridCol w="513843"/>
                    <a:gridCol w="1401312"/>
                    <a:gridCol w="2176456"/>
                    <a:gridCol w="1547869"/>
                    <a:gridCol w="1359577"/>
                  </a:tblGrid>
                  <a:tr h="640080">
                    <a:tc>
                      <a:txBody>
                        <a:bodyPr/>
                        <a:lstStyle/>
                        <a:p>
                          <a:endParaRPr lang="en-US"/>
                        </a:p>
                      </a:txBody>
                      <a:tcPr marL="99501" marR="99501" anchor="ctr">
                        <a:blipFill rotWithShape="1">
                          <a:blip r:embed="rId2"/>
                          <a:stretch>
                            <a:fillRect t="-4762" r="-2188136" b="-246667"/>
                          </a:stretch>
                        </a:blipFill>
                      </a:tcPr>
                    </a:tc>
                    <a:tc>
                      <a:txBody>
                        <a:bodyPr/>
                        <a:lstStyle/>
                        <a:p>
                          <a:endParaRPr lang="en-US"/>
                        </a:p>
                      </a:txBody>
                      <a:tcPr marL="99501" marR="99501" anchor="ctr">
                        <a:blipFill rotWithShape="1">
                          <a:blip r:embed="rId2"/>
                          <a:stretch>
                            <a:fillRect l="-101724" t="-4762" r="-2125862" b="-246667"/>
                          </a:stretch>
                        </a:blipFill>
                      </a:tcPr>
                    </a:tc>
                    <a:tc>
                      <a:txBody>
                        <a:bodyPr/>
                        <a:lstStyle/>
                        <a:p>
                          <a:endParaRPr lang="en-US"/>
                        </a:p>
                      </a:txBody>
                      <a:tcPr marL="99501" marR="99501" anchor="ctr">
                        <a:blipFill rotWithShape="1">
                          <a:blip r:embed="rId2"/>
                          <a:stretch>
                            <a:fillRect l="-137647" t="-4762" r="-1350588" b="-246667"/>
                          </a:stretch>
                        </a:blipFill>
                      </a:tcPr>
                    </a:tc>
                    <a:tc>
                      <a:txBody>
                        <a:bodyPr/>
                        <a:lstStyle/>
                        <a:p>
                          <a:endParaRPr lang="en-US"/>
                        </a:p>
                      </a:txBody>
                      <a:tcPr marL="99501" marR="99501" anchor="ctr">
                        <a:blipFill rotWithShape="1">
                          <a:blip r:embed="rId2"/>
                          <a:stretch>
                            <a:fillRect l="-240476" t="-4762" r="-1266667" b="-246667"/>
                          </a:stretch>
                        </a:blipFill>
                      </a:tcPr>
                    </a:tc>
                    <a:tc>
                      <a:txBody>
                        <a:bodyPr/>
                        <a:lstStyle/>
                        <a:p>
                          <a:endParaRPr lang="en-US"/>
                        </a:p>
                      </a:txBody>
                      <a:tcPr marL="99501" marR="99501" anchor="ctr">
                        <a:blipFill rotWithShape="1">
                          <a:blip r:embed="rId2"/>
                          <a:stretch>
                            <a:fillRect l="-124348" t="-4762" r="-362609" b="-246667"/>
                          </a:stretch>
                        </a:blipFill>
                      </a:tcPr>
                    </a:tc>
                    <a:tc>
                      <a:txBody>
                        <a:bodyPr/>
                        <a:lstStyle/>
                        <a:p>
                          <a:endParaRPr lang="en-US"/>
                        </a:p>
                      </a:txBody>
                      <a:tcPr marL="99501" marR="99501" anchor="ctr">
                        <a:blipFill rotWithShape="1">
                          <a:blip r:embed="rId2"/>
                          <a:stretch>
                            <a:fillRect l="-144538" t="-4762" r="-133613" b="-246667"/>
                          </a:stretch>
                        </a:blipFill>
                      </a:tcPr>
                    </a:tc>
                    <a:tc>
                      <a:txBody>
                        <a:bodyPr/>
                        <a:lstStyle/>
                        <a:p>
                          <a:endParaRPr lang="en-US"/>
                        </a:p>
                      </a:txBody>
                      <a:tcPr marL="99501" marR="99501" anchor="ctr">
                        <a:blipFill rotWithShape="1">
                          <a:blip r:embed="rId2"/>
                          <a:stretch>
                            <a:fillRect l="-343701" t="-4762" r="-87795" b="-246667"/>
                          </a:stretch>
                        </a:blipFill>
                      </a:tcPr>
                    </a:tc>
                    <a:tc>
                      <a:txBody>
                        <a:bodyPr/>
                        <a:lstStyle/>
                        <a:p>
                          <a:endParaRPr lang="en-US"/>
                        </a:p>
                      </a:txBody>
                      <a:tcPr marL="99501" marR="99501" anchor="ctr">
                        <a:blipFill rotWithShape="1">
                          <a:blip r:embed="rId2"/>
                          <a:stretch>
                            <a:fillRect l="-505381" t="-4762" b="-246667"/>
                          </a:stretch>
                        </a:blipFill>
                      </a:tcPr>
                    </a:tc>
                  </a:tr>
                  <a:tr h="370840">
                    <a:tc>
                      <a:txBody>
                        <a:bodyPr/>
                        <a:lstStyle/>
                        <a:p>
                          <a:pPr algn="ctr"/>
                          <a:r>
                            <a:rPr lang="en-GB" dirty="0" smtClean="0"/>
                            <a:t>F</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T</a:t>
                          </a:r>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r>
                  <a:tr h="370840">
                    <a:tc>
                      <a:txBody>
                        <a:bodyPr/>
                        <a:lstStyle/>
                        <a:p>
                          <a:pPr algn="ctr"/>
                          <a:r>
                            <a:rPr lang="en-GB" dirty="0" smtClean="0"/>
                            <a:t>F</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F</a:t>
                          </a:r>
                          <a:endParaRPr lang="en-US" dirty="0"/>
                        </a:p>
                      </a:txBody>
                      <a:tcPr marL="99501" marR="99501" anchor="ctr"/>
                    </a:tc>
                  </a:tr>
                  <a:tr h="370840">
                    <a:tc>
                      <a:txBody>
                        <a:bodyPr/>
                        <a:lstStyle/>
                        <a:p>
                          <a:pPr algn="ctr"/>
                          <a:r>
                            <a:rPr lang="en-GB" dirty="0" smtClean="0"/>
                            <a:t>T</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r>
                  <a:tr h="370840">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F</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c>
                      <a:txBody>
                        <a:bodyPr/>
                        <a:lstStyle/>
                        <a:p>
                          <a:pPr algn="ctr"/>
                          <a:r>
                            <a:rPr lang="en-GB" dirty="0" smtClean="0"/>
                            <a:t>T</a:t>
                          </a:r>
                          <a:endParaRPr lang="en-US" dirty="0"/>
                        </a:p>
                      </a:txBody>
                      <a:tcPr marL="99501" marR="99501" anchor="ctr"/>
                    </a:tc>
                  </a:tr>
                </a:tbl>
              </a:graphicData>
            </a:graphic>
          </p:graphicFrame>
        </mc:Fallback>
      </mc:AlternateContent>
    </p:spTree>
    <p:extLst>
      <p:ext uri="{BB962C8B-B14F-4D97-AF65-F5344CB8AC3E}">
        <p14:creationId xmlns:p14="http://schemas.microsoft.com/office/powerpoint/2010/main" val="2378503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Converse, Contrapositive and Inverse(Contd.)</a:t>
            </a:r>
            <a:endParaRPr lang="en-US" dirty="0"/>
          </a:p>
        </p:txBody>
      </p:sp>
      <p:sp>
        <p:nvSpPr>
          <p:cNvPr id="3" name="Content Placeholder 2"/>
          <p:cNvSpPr>
            <a:spLocks noGrp="1"/>
          </p:cNvSpPr>
          <p:nvPr>
            <p:ph sz="quarter" idx="1"/>
          </p:nvPr>
        </p:nvSpPr>
        <p:spPr/>
        <p:txBody>
          <a:bodyPr>
            <a:normAutofit/>
          </a:bodyPr>
          <a:lstStyle/>
          <a:p>
            <a:r>
              <a:rPr lang="en-GB" sz="3200" dirty="0"/>
              <a:t>Equivalence:</a:t>
            </a:r>
          </a:p>
          <a:p>
            <a:pPr lvl="1"/>
            <a:r>
              <a:rPr lang="en-US" sz="2500" dirty="0"/>
              <a:t>When two compound propositions always have the same truth value we call them </a:t>
            </a:r>
            <a:r>
              <a:rPr lang="en-US" sz="2500" b="1" dirty="0"/>
              <a:t>equivalent.</a:t>
            </a:r>
          </a:p>
          <a:p>
            <a:r>
              <a:rPr lang="en-US" sz="2800" dirty="0"/>
              <a:t>The original conditional statement and its contrapositive are equivalent. </a:t>
            </a:r>
          </a:p>
          <a:p>
            <a:r>
              <a:rPr lang="en-US" sz="2800" dirty="0"/>
              <a:t>The converse and the inverse of a conditional statement are also equivalent, but neither is equivalent to the original conditional </a:t>
            </a:r>
            <a:r>
              <a:rPr lang="en-US" sz="3100" dirty="0"/>
              <a:t>statement. </a:t>
            </a:r>
            <a:endParaRPr lang="en-US" sz="8300" dirty="0"/>
          </a:p>
        </p:txBody>
      </p:sp>
    </p:spTree>
    <p:extLst>
      <p:ext uri="{BB962C8B-B14F-4D97-AF65-F5344CB8AC3E}">
        <p14:creationId xmlns:p14="http://schemas.microsoft.com/office/powerpoint/2010/main" val="2528059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Converse, Contrapositive and Inverse(Contd.)</a:t>
            </a:r>
            <a:endParaRPr lang="en-US" dirty="0"/>
          </a:p>
        </p:txBody>
      </p:sp>
      <p:sp>
        <p:nvSpPr>
          <p:cNvPr id="3" name="Content Placeholder 2"/>
          <p:cNvSpPr>
            <a:spLocks noGrp="1"/>
          </p:cNvSpPr>
          <p:nvPr>
            <p:ph sz="quarter" idx="1"/>
          </p:nvPr>
        </p:nvSpPr>
        <p:spPr/>
        <p:txBody>
          <a:bodyPr>
            <a:normAutofit/>
          </a:bodyPr>
          <a:lstStyle/>
          <a:p>
            <a:r>
              <a:rPr lang="en-GB" sz="3200" b="1" u="sng" dirty="0"/>
              <a:t>Example 1:</a:t>
            </a:r>
          </a:p>
          <a:p>
            <a:pPr lvl="1"/>
            <a:r>
              <a:rPr lang="en-GB" sz="2900" dirty="0"/>
              <a:t>Find the converse, contrapositive and inverse of the following statement.</a:t>
            </a:r>
          </a:p>
          <a:p>
            <a:pPr lvl="2"/>
            <a:r>
              <a:rPr lang="en-US" sz="2900" dirty="0"/>
              <a:t>“The home team wins whenever it is raining?”</a:t>
            </a:r>
            <a:endParaRPr lang="en-GB" sz="3300" dirty="0"/>
          </a:p>
          <a:p>
            <a:pPr lvl="1"/>
            <a:endParaRPr lang="en-US" sz="2900" dirty="0"/>
          </a:p>
        </p:txBody>
      </p:sp>
    </p:spTree>
    <p:extLst>
      <p:ext uri="{BB962C8B-B14F-4D97-AF65-F5344CB8AC3E}">
        <p14:creationId xmlns:p14="http://schemas.microsoft.com/office/powerpoint/2010/main" val="1966815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Converse, Contrapositive and Inverse(Contd.)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fontScale="92500" lnSpcReduction="10000"/>
              </a:bodyPr>
              <a:lstStyle/>
              <a:p>
                <a:r>
                  <a:rPr lang="en-GB" sz="3200" b="1" u="sng" dirty="0"/>
                  <a:t>Solution:</a:t>
                </a:r>
              </a:p>
              <a:p>
                <a:pPr lvl="1"/>
                <a:r>
                  <a:rPr lang="en-GB" sz="2500" b="1" u="sng" dirty="0"/>
                  <a:t>Step 1:</a:t>
                </a:r>
                <a:r>
                  <a:rPr lang="en-GB" sz="2500" dirty="0"/>
                  <a:t>  Convert the original statement into “If </a:t>
                </a:r>
                <a:r>
                  <a:rPr lang="en-GB" sz="2500" u="sng" dirty="0"/>
                  <a:t>hypothesis</a:t>
                </a:r>
                <a:r>
                  <a:rPr lang="en-GB" sz="2500" dirty="0"/>
                  <a:t>,  then </a:t>
                </a:r>
                <a:r>
                  <a:rPr lang="en-GB" sz="2500" u="sng" dirty="0"/>
                  <a:t>conclusion</a:t>
                </a:r>
                <a:r>
                  <a:rPr lang="en-GB" sz="2500" dirty="0"/>
                  <a:t>” structure.</a:t>
                </a:r>
              </a:p>
              <a:p>
                <a:pPr lvl="2"/>
                <a:r>
                  <a:rPr lang="en-GB" sz="2500" dirty="0"/>
                  <a:t>“</a:t>
                </a:r>
                <a:r>
                  <a:rPr lang="en-US" sz="2500" dirty="0"/>
                  <a:t>If </a:t>
                </a:r>
                <a:r>
                  <a:rPr lang="en-US" sz="2500" u="sng" dirty="0"/>
                  <a:t>it is raining</a:t>
                </a:r>
                <a:r>
                  <a:rPr lang="en-US" sz="2500" dirty="0"/>
                  <a:t>, then </a:t>
                </a:r>
                <a:r>
                  <a:rPr lang="en-US" sz="2500" u="sng" dirty="0"/>
                  <a:t>the home team wins</a:t>
                </a:r>
                <a:r>
                  <a:rPr lang="en-US" sz="2500" dirty="0"/>
                  <a:t>.”</a:t>
                </a:r>
              </a:p>
              <a:p>
                <a:pPr lvl="1"/>
                <a:r>
                  <a:rPr lang="en-GB" sz="2500" b="1" u="sng" dirty="0"/>
                  <a:t>Step 2: </a:t>
                </a:r>
                <a:r>
                  <a:rPr lang="en-GB" sz="2500" dirty="0"/>
                  <a:t> Assign variables to the hypothesis and conclusion</a:t>
                </a:r>
              </a:p>
              <a:p>
                <a:pPr lvl="2"/>
                <a14:m>
                  <m:oMath xmlns:m="http://schemas.openxmlformats.org/officeDocument/2006/math">
                    <m:r>
                      <a:rPr lang="en-GB" sz="2500" b="1" i="1" dirty="0" smtClean="0">
                        <a:latin typeface="Cambria Math"/>
                      </a:rPr>
                      <m:t>𝒑</m:t>
                    </m:r>
                  </m:oMath>
                </a14:m>
                <a:r>
                  <a:rPr lang="en-GB" sz="2500" dirty="0"/>
                  <a:t> :  “It is raining.”</a:t>
                </a:r>
              </a:p>
              <a:p>
                <a:pPr lvl="2"/>
                <a14:m>
                  <m:oMath xmlns:m="http://schemas.openxmlformats.org/officeDocument/2006/math">
                    <m:r>
                      <a:rPr lang="en-GB" sz="2500" b="1" i="1" dirty="0" smtClean="0">
                        <a:latin typeface="Cambria Math"/>
                      </a:rPr>
                      <m:t>𝒒</m:t>
                    </m:r>
                  </m:oMath>
                </a14:m>
                <a:r>
                  <a:rPr lang="en-GB" sz="2500" dirty="0"/>
                  <a:t> :  “The home team wins.”</a:t>
                </a:r>
              </a:p>
              <a:p>
                <a:pPr lvl="2"/>
                <a:r>
                  <a:rPr lang="en-GB" sz="2500" dirty="0"/>
                  <a:t>Thus, the statement becomes of the form “</a:t>
                </a:r>
                <a14:m>
                  <m:oMath xmlns:m="http://schemas.openxmlformats.org/officeDocument/2006/math">
                    <m:r>
                      <a:rPr lang="en-GB" sz="2500" b="1" i="1" dirty="0" smtClean="0">
                        <a:latin typeface="Cambria Math"/>
                      </a:rPr>
                      <m:t>𝑰𝒇</m:t>
                    </m:r>
                    <m:r>
                      <a:rPr lang="en-GB" sz="2500" b="1" i="1" dirty="0" smtClean="0">
                        <a:latin typeface="Cambria Math"/>
                      </a:rPr>
                      <m:t> </m:t>
                    </m:r>
                    <m:r>
                      <a:rPr lang="en-GB" sz="2500" b="1" i="1" dirty="0" smtClean="0">
                        <a:latin typeface="Cambria Math"/>
                      </a:rPr>
                      <m:t>𝒑</m:t>
                    </m:r>
                    <m:r>
                      <a:rPr lang="en-GB" sz="2500" b="1" i="1" dirty="0" smtClean="0">
                        <a:latin typeface="Cambria Math"/>
                      </a:rPr>
                      <m:t>, </m:t>
                    </m:r>
                    <m:r>
                      <a:rPr lang="en-GB" sz="2500" b="1" i="1" dirty="0" smtClean="0">
                        <a:latin typeface="Cambria Math"/>
                      </a:rPr>
                      <m:t>𝒕𝒉𝒆𝒏</m:t>
                    </m:r>
                    <m:r>
                      <a:rPr lang="en-GB" sz="2500" b="1" i="1" dirty="0" smtClean="0">
                        <a:latin typeface="Cambria Math"/>
                      </a:rPr>
                      <m:t> </m:t>
                    </m:r>
                    <m:r>
                      <a:rPr lang="en-GB" sz="2500" b="1" i="1" dirty="0" smtClean="0">
                        <a:latin typeface="Cambria Math"/>
                      </a:rPr>
                      <m:t>𝒒</m:t>
                    </m:r>
                  </m:oMath>
                </a14:m>
                <a:r>
                  <a:rPr lang="en-GB" sz="2500" dirty="0"/>
                  <a:t>”.</a:t>
                </a:r>
              </a:p>
              <a:p>
                <a:pPr lvl="1"/>
                <a:r>
                  <a:rPr lang="en-GB" sz="2500" b="1" u="sng" dirty="0"/>
                  <a:t>Step 3:</a:t>
                </a:r>
                <a:r>
                  <a:rPr lang="en-GB" sz="2500" dirty="0"/>
                  <a:t>  Find logical expressions </a:t>
                </a:r>
              </a:p>
              <a:p>
                <a:pPr lvl="2"/>
                <a:r>
                  <a:rPr lang="en-GB" sz="2500" dirty="0"/>
                  <a:t>Converse : </a:t>
                </a:r>
                <a14:m>
                  <m:oMath xmlns:m="http://schemas.openxmlformats.org/officeDocument/2006/math">
                    <m:r>
                      <a:rPr lang="en-GB" sz="2500" b="0" i="0" smtClean="0">
                        <a:latin typeface="Cambria Math"/>
                      </a:rPr>
                      <m:t> </m:t>
                    </m:r>
                    <m:r>
                      <a:rPr lang="en-GB" sz="2500" b="1" i="1">
                        <a:latin typeface="Cambria Math"/>
                      </a:rPr>
                      <m:t>𝒒</m:t>
                    </m:r>
                    <m:r>
                      <a:rPr lang="en-GB" sz="2500" b="1" i="1">
                        <a:latin typeface="Cambria Math"/>
                        <a:ea typeface="Cambria Math"/>
                      </a:rPr>
                      <m:t>→</m:t>
                    </m:r>
                    <m:r>
                      <a:rPr lang="en-GB" sz="2500" b="1" i="1">
                        <a:latin typeface="Cambria Math"/>
                        <a:ea typeface="Cambria Math"/>
                      </a:rPr>
                      <m:t>𝒑</m:t>
                    </m:r>
                  </m:oMath>
                </a14:m>
                <a:endParaRPr lang="en-US" sz="2500" dirty="0"/>
              </a:p>
              <a:p>
                <a:pPr lvl="2"/>
                <a:r>
                  <a:rPr lang="en-GB" sz="2500" dirty="0"/>
                  <a:t>Contrapositive :  </a:t>
                </a:r>
                <a14:m>
                  <m:oMath xmlns:m="http://schemas.openxmlformats.org/officeDocument/2006/math">
                    <m:r>
                      <a:rPr lang="en-GB" sz="2500" b="1" i="1">
                        <a:latin typeface="Cambria Math"/>
                      </a:rPr>
                      <m:t>¬</m:t>
                    </m:r>
                    <m:r>
                      <a:rPr lang="en-GB" sz="2500" b="1" i="1">
                        <a:latin typeface="Cambria Math"/>
                      </a:rPr>
                      <m:t>𝒒</m:t>
                    </m:r>
                    <m:r>
                      <a:rPr lang="en-GB" sz="2500" b="1" i="1">
                        <a:latin typeface="Cambria Math"/>
                        <a:ea typeface="Cambria Math"/>
                      </a:rPr>
                      <m:t>→</m:t>
                    </m:r>
                    <m:r>
                      <a:rPr lang="en-US" sz="2500" b="1" i="1" dirty="0" smtClean="0">
                        <a:latin typeface="Cambria Math"/>
                      </a:rPr>
                      <m:t>¬</m:t>
                    </m:r>
                    <m:r>
                      <a:rPr lang="en-US" sz="2500" b="1" i="1" dirty="0" smtClean="0">
                        <a:latin typeface="Cambria Math"/>
                      </a:rPr>
                      <m:t>𝒑</m:t>
                    </m:r>
                  </m:oMath>
                </a14:m>
                <a:endParaRPr lang="en-US" sz="2500" b="1" dirty="0"/>
              </a:p>
              <a:p>
                <a:pPr lvl="2"/>
                <a:r>
                  <a:rPr lang="en-GB" sz="2500" dirty="0"/>
                  <a:t>Inverse :  </a:t>
                </a:r>
                <a14:m>
                  <m:oMath xmlns:m="http://schemas.openxmlformats.org/officeDocument/2006/math">
                    <m:r>
                      <a:rPr lang="en-GB" sz="2500" b="1" i="1">
                        <a:latin typeface="Cambria Math"/>
                      </a:rPr>
                      <m:t>¬</m:t>
                    </m:r>
                    <m:r>
                      <a:rPr lang="en-GB" sz="2500" b="1" i="1" smtClean="0">
                        <a:latin typeface="Cambria Math"/>
                      </a:rPr>
                      <m:t>𝒑</m:t>
                    </m:r>
                    <m:r>
                      <a:rPr lang="en-GB" sz="2500" b="1" i="1">
                        <a:latin typeface="Cambria Math"/>
                        <a:ea typeface="Cambria Math"/>
                      </a:rPr>
                      <m:t>→</m:t>
                    </m:r>
                    <m:r>
                      <a:rPr lang="en-US" sz="2500" b="1" i="1" dirty="0" smtClean="0">
                        <a:latin typeface="Cambria Math"/>
                      </a:rPr>
                      <m:t>¬</m:t>
                    </m:r>
                    <m:r>
                      <a:rPr lang="en-US" sz="2500" b="1" i="1" dirty="0" smtClean="0">
                        <a:latin typeface="Cambria Math"/>
                      </a:rPr>
                      <m:t>𝒒</m:t>
                    </m:r>
                  </m:oMath>
                </a14:m>
                <a:endParaRPr lang="en-US" sz="2500" b="1"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889" t="-2469"/>
                </a:stretch>
              </a:blipFill>
            </p:spPr>
            <p:txBody>
              <a:bodyPr/>
              <a:lstStyle/>
              <a:p>
                <a:r>
                  <a:rPr lang="en-US">
                    <a:noFill/>
                  </a:rPr>
                  <a:t> </a:t>
                </a:r>
              </a:p>
            </p:txBody>
          </p:sp>
        </mc:Fallback>
      </mc:AlternateContent>
    </p:spTree>
    <p:extLst>
      <p:ext uri="{BB962C8B-B14F-4D97-AF65-F5344CB8AC3E}">
        <p14:creationId xmlns:p14="http://schemas.microsoft.com/office/powerpoint/2010/main" val="18902199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dirty="0"/>
              <a:t>Converse, Contrapositive and Inverse(Contd.)</a:t>
            </a:r>
            <a:endParaRPr lang="en-US" dirty="0"/>
          </a:p>
        </p:txBody>
      </p:sp>
      <p:sp>
        <p:nvSpPr>
          <p:cNvPr id="3" name="Content Placeholder 2"/>
          <p:cNvSpPr>
            <a:spLocks noGrp="1"/>
          </p:cNvSpPr>
          <p:nvPr>
            <p:ph sz="quarter" idx="1"/>
          </p:nvPr>
        </p:nvSpPr>
        <p:spPr/>
        <p:txBody>
          <a:bodyPr>
            <a:normAutofit/>
          </a:bodyPr>
          <a:lstStyle/>
          <a:p>
            <a:r>
              <a:rPr lang="en-GB" sz="3200" dirty="0"/>
              <a:t>Solution(Contd.):</a:t>
            </a:r>
          </a:p>
          <a:p>
            <a:pPr lvl="1"/>
            <a:r>
              <a:rPr lang="en-GB" sz="2500" b="1" u="sng" dirty="0"/>
              <a:t>Step 4:</a:t>
            </a:r>
            <a:r>
              <a:rPr lang="en-GB" sz="2500" b="1" dirty="0"/>
              <a:t> </a:t>
            </a:r>
            <a:r>
              <a:rPr lang="en-GB" sz="2500" dirty="0"/>
              <a:t> Assign values to the variables.</a:t>
            </a:r>
          </a:p>
          <a:p>
            <a:pPr lvl="2"/>
            <a:r>
              <a:rPr lang="en-GB" sz="2500" b="1" u="sng" dirty="0"/>
              <a:t>Converse:</a:t>
            </a:r>
          </a:p>
          <a:p>
            <a:pPr lvl="3"/>
            <a:r>
              <a:rPr lang="en-US" sz="2500" dirty="0"/>
              <a:t>“If the home team wins, then it is raining.”</a:t>
            </a:r>
          </a:p>
          <a:p>
            <a:pPr lvl="2"/>
            <a:r>
              <a:rPr lang="en-GB" sz="2500" b="1" u="sng" dirty="0"/>
              <a:t>Contrapositive:</a:t>
            </a:r>
          </a:p>
          <a:p>
            <a:pPr lvl="3"/>
            <a:r>
              <a:rPr lang="en-US" sz="2500" dirty="0"/>
              <a:t>“If the home team does not win, then it is not raining.”</a:t>
            </a:r>
          </a:p>
          <a:p>
            <a:pPr lvl="2"/>
            <a:r>
              <a:rPr lang="en-GB" sz="2500" b="1" u="sng" dirty="0"/>
              <a:t>Inverse:</a:t>
            </a:r>
          </a:p>
          <a:p>
            <a:pPr lvl="3"/>
            <a:r>
              <a:rPr lang="en-US" sz="2500" dirty="0"/>
              <a:t>“If it is not raining, then the home team does not win.”</a:t>
            </a:r>
          </a:p>
          <a:p>
            <a:pPr marL="868680" lvl="3" indent="0">
              <a:buNone/>
            </a:pPr>
            <a:endParaRPr lang="en-US" sz="2400" dirty="0"/>
          </a:p>
        </p:txBody>
      </p:sp>
    </p:spTree>
    <p:extLst>
      <p:ext uri="{BB962C8B-B14F-4D97-AF65-F5344CB8AC3E}">
        <p14:creationId xmlns:p14="http://schemas.microsoft.com/office/powerpoint/2010/main" val="2431853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Bi-conditionals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normAutofit/>
              </a:bodyPr>
              <a:lstStyle/>
              <a:p>
                <a:r>
                  <a:rPr lang="en-GB" sz="3200" b="1" u="sng" dirty="0"/>
                  <a:t>Definition: </a:t>
                </a:r>
              </a:p>
              <a:p>
                <a:pPr lvl="1"/>
                <a:r>
                  <a:rPr lang="en-US" sz="2000" dirty="0"/>
                  <a:t>Let </a:t>
                </a:r>
                <a14:m>
                  <m:oMath xmlns:m="http://schemas.openxmlformats.org/officeDocument/2006/math">
                    <m:r>
                      <a:rPr lang="en-US" sz="2000" b="1" i="1" dirty="0" smtClean="0">
                        <a:latin typeface="Cambria Math"/>
                      </a:rPr>
                      <m:t>𝒑</m:t>
                    </m:r>
                  </m:oMath>
                </a14:m>
                <a:r>
                  <a:rPr lang="en-US" sz="2000" dirty="0"/>
                  <a:t> and </a:t>
                </a:r>
                <a14:m>
                  <m:oMath xmlns:m="http://schemas.openxmlformats.org/officeDocument/2006/math">
                    <m:r>
                      <a:rPr lang="en-US" sz="2000" b="1" i="1" dirty="0" smtClean="0">
                        <a:latin typeface="Cambria Math"/>
                      </a:rPr>
                      <m:t>𝒒</m:t>
                    </m:r>
                  </m:oMath>
                </a14:m>
                <a:r>
                  <a:rPr lang="en-US" sz="2000" dirty="0"/>
                  <a:t> be propositions. </a:t>
                </a:r>
              </a:p>
              <a:p>
                <a:pPr lvl="1"/>
                <a:r>
                  <a:rPr lang="en-US" sz="2000" dirty="0"/>
                  <a:t>The bi-conditional statement </a:t>
                </a:r>
                <a14:m>
                  <m:oMath xmlns:m="http://schemas.openxmlformats.org/officeDocument/2006/math">
                    <m:r>
                      <a:rPr lang="en-US" sz="2000" b="1" i="1" dirty="0" smtClean="0">
                        <a:latin typeface="Cambria Math"/>
                      </a:rPr>
                      <m:t>𝒑</m:t>
                    </m:r>
                    <m:r>
                      <a:rPr lang="en-US" sz="2000" b="1" i="1" dirty="0" smtClean="0">
                        <a:latin typeface="Cambria Math"/>
                      </a:rPr>
                      <m:t> ↔ </m:t>
                    </m:r>
                    <m:r>
                      <a:rPr lang="en-US" sz="2000" b="1" i="1" dirty="0" smtClean="0">
                        <a:latin typeface="Cambria Math"/>
                      </a:rPr>
                      <m:t>𝒒</m:t>
                    </m:r>
                    <m:r>
                      <a:rPr lang="en-US" sz="2000" b="1" i="1" dirty="0" smtClean="0">
                        <a:latin typeface="Cambria Math"/>
                      </a:rPr>
                      <m:t> </m:t>
                    </m:r>
                  </m:oMath>
                </a14:m>
                <a:r>
                  <a:rPr lang="en-US" sz="2000" dirty="0"/>
                  <a:t>is the proposition </a:t>
                </a:r>
                <a14:m>
                  <m:oMath xmlns:m="http://schemas.openxmlformats.org/officeDocument/2006/math">
                    <m:r>
                      <a:rPr lang="en-US" sz="2000" b="1" i="1" dirty="0" smtClean="0">
                        <a:latin typeface="Cambria Math"/>
                      </a:rPr>
                      <m:t>“</m:t>
                    </m:r>
                    <m:r>
                      <a:rPr lang="en-US" sz="2000" b="1" i="1" dirty="0" smtClean="0">
                        <a:latin typeface="Cambria Math"/>
                      </a:rPr>
                      <m:t>𝒑</m:t>
                    </m:r>
                    <m:r>
                      <a:rPr lang="en-US" sz="2000" b="1" i="1" dirty="0" smtClean="0">
                        <a:latin typeface="Cambria Math"/>
                      </a:rPr>
                      <m:t> </m:t>
                    </m:r>
                    <m:r>
                      <a:rPr lang="en-US" sz="2000" b="1" i="1" dirty="0" smtClean="0">
                        <a:latin typeface="Cambria Math"/>
                      </a:rPr>
                      <m:t>𝒊𝒇</m:t>
                    </m:r>
                    <m:r>
                      <a:rPr lang="en-US" sz="2000" b="1" i="1" dirty="0" smtClean="0">
                        <a:latin typeface="Cambria Math"/>
                      </a:rPr>
                      <m:t> </m:t>
                    </m:r>
                    <m:r>
                      <a:rPr lang="en-US" sz="2000" b="1" i="1" dirty="0" smtClean="0">
                        <a:latin typeface="Cambria Math"/>
                      </a:rPr>
                      <m:t>𝒂𝒏𝒅</m:t>
                    </m:r>
                    <m:r>
                      <a:rPr lang="en-US" sz="2000" b="1" i="1" dirty="0" smtClean="0">
                        <a:latin typeface="Cambria Math"/>
                      </a:rPr>
                      <m:t> </m:t>
                    </m:r>
                    <m:r>
                      <a:rPr lang="en-US" sz="2000" b="1" i="1" dirty="0">
                        <a:latin typeface="Cambria Math"/>
                      </a:rPr>
                      <m:t>𝒐𝒏𝒍𝒚</m:t>
                    </m:r>
                    <m:r>
                      <a:rPr lang="en-US" sz="2000" b="1" i="1" dirty="0">
                        <a:latin typeface="Cambria Math"/>
                      </a:rPr>
                      <m:t> </m:t>
                    </m:r>
                    <m:r>
                      <a:rPr lang="en-US" sz="2000" b="1" i="1" dirty="0">
                        <a:latin typeface="Cambria Math"/>
                      </a:rPr>
                      <m:t>𝒊𝒇</m:t>
                    </m:r>
                    <m:r>
                      <a:rPr lang="en-US" sz="2000" b="1" i="1" dirty="0">
                        <a:latin typeface="Cambria Math"/>
                      </a:rPr>
                      <m:t> </m:t>
                    </m:r>
                    <m:r>
                      <a:rPr lang="en-US" sz="2000" b="1" i="1" dirty="0">
                        <a:latin typeface="Cambria Math"/>
                      </a:rPr>
                      <m:t>𝒒</m:t>
                    </m:r>
                    <m:r>
                      <a:rPr lang="en-US" sz="2000" b="1" i="1" dirty="0">
                        <a:latin typeface="Cambria Math"/>
                      </a:rPr>
                      <m:t>.” </m:t>
                    </m:r>
                  </m:oMath>
                </a14:m>
                <a:endParaRPr lang="en-US" sz="2000" dirty="0"/>
              </a:p>
              <a:p>
                <a:pPr lvl="1"/>
                <a:r>
                  <a:rPr lang="en-US" sz="2000" dirty="0"/>
                  <a:t>The bi-conditional statement </a:t>
                </a:r>
                <a14:m>
                  <m:oMath xmlns:m="http://schemas.openxmlformats.org/officeDocument/2006/math">
                    <m:r>
                      <a:rPr lang="en-US" sz="2000" b="1" i="1" dirty="0" smtClean="0">
                        <a:latin typeface="Cambria Math"/>
                      </a:rPr>
                      <m:t>𝒑</m:t>
                    </m:r>
                    <m:r>
                      <a:rPr lang="en-US" sz="2000" b="1" i="1" dirty="0" smtClean="0">
                        <a:latin typeface="Cambria Math"/>
                      </a:rPr>
                      <m:t> ↔ </m:t>
                    </m:r>
                    <m:r>
                      <a:rPr lang="en-US" sz="2000" b="1" i="1" dirty="0" smtClean="0">
                        <a:latin typeface="Cambria Math"/>
                      </a:rPr>
                      <m:t>𝒒</m:t>
                    </m:r>
                  </m:oMath>
                </a14:m>
                <a:r>
                  <a:rPr lang="en-US" sz="2000" dirty="0"/>
                  <a:t> is true when </a:t>
                </a:r>
                <a14:m>
                  <m:oMath xmlns:m="http://schemas.openxmlformats.org/officeDocument/2006/math">
                    <m:r>
                      <a:rPr lang="en-US" sz="2000" b="1" i="1" dirty="0" smtClean="0">
                        <a:latin typeface="Cambria Math"/>
                      </a:rPr>
                      <m:t>𝒑</m:t>
                    </m:r>
                  </m:oMath>
                </a14:m>
                <a:r>
                  <a:rPr lang="en-US" sz="2000" dirty="0"/>
                  <a:t> and </a:t>
                </a:r>
                <a14:m>
                  <m:oMath xmlns:m="http://schemas.openxmlformats.org/officeDocument/2006/math">
                    <m:r>
                      <a:rPr lang="en-US" sz="2000" b="1" i="1" dirty="0" smtClean="0">
                        <a:latin typeface="Cambria Math"/>
                      </a:rPr>
                      <m:t>𝒒</m:t>
                    </m:r>
                  </m:oMath>
                </a14:m>
                <a:r>
                  <a:rPr lang="en-US" sz="2000" dirty="0"/>
                  <a:t> have the same truth values, and is false otherwise. </a:t>
                </a:r>
              </a:p>
              <a:p>
                <a:pPr lvl="1"/>
                <a:r>
                  <a:rPr lang="en-US" sz="2000" dirty="0"/>
                  <a:t>Bi-conditional statements are also called bi-implications.</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1037" t="-1481" r="-1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3"/>
              <p:cNvGraphicFramePr>
                <a:graphicFrameLocks/>
              </p:cNvGraphicFramePr>
              <p:nvPr>
                <p:extLst>
                  <p:ext uri="{D42A27DB-BD31-4B8C-83A1-F6EECF244321}">
                    <p14:modId xmlns:p14="http://schemas.microsoft.com/office/powerpoint/2010/main" val="1282753647"/>
                  </p:ext>
                </p:extLst>
              </p:nvPr>
            </p:nvGraphicFramePr>
            <p:xfrm>
              <a:off x="1547664" y="4383112"/>
              <a:ext cx="6096000" cy="1854200"/>
            </p:xfrm>
            <a:graphic>
              <a:graphicData uri="http://schemas.openxmlformats.org/drawingml/2006/table">
                <a:tbl>
                  <a:tblPr firstRow="1">
                    <a:tableStyleId>{ED083AE6-46FA-4A59-8FB0-9F97EB10719F}</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  </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Content Placeholder 3"/>
              <p:cNvGraphicFramePr>
                <a:graphicFrameLocks/>
              </p:cNvGraphicFramePr>
              <p:nvPr>
                <p:extLst>
                  <p:ext uri="{D42A27DB-BD31-4B8C-83A1-F6EECF244321}">
                    <p14:modId xmlns:p14="http://schemas.microsoft.com/office/powerpoint/2010/main" val="1282753647"/>
                  </p:ext>
                </p:extLst>
              </p:nvPr>
            </p:nvGraphicFramePr>
            <p:xfrm>
              <a:off x="1547664" y="4383112"/>
              <a:ext cx="6096000" cy="1854200"/>
            </p:xfrm>
            <a:graphic>
              <a:graphicData uri="http://schemas.openxmlformats.org/drawingml/2006/table">
                <a:tbl>
                  <a:tblPr firstRow="1">
                    <a:tableStyleId>{ED083AE6-46FA-4A59-8FB0-9F97EB10719F}</a:tableStyleId>
                  </a:tblPr>
                  <a:tblGrid>
                    <a:gridCol w="2032000"/>
                    <a:gridCol w="2032000"/>
                    <a:gridCol w="2032000"/>
                  </a:tblGrid>
                  <a:tr h="370840">
                    <a:tc>
                      <a:txBody>
                        <a:bodyPr/>
                        <a:lstStyle/>
                        <a:p>
                          <a:endParaRPr lang="en-US"/>
                        </a:p>
                      </a:txBody>
                      <a:tcPr>
                        <a:blipFill rotWithShape="1">
                          <a:blip r:embed="rId3"/>
                          <a:stretch>
                            <a:fillRect l="-300" t="-8197" r="-200300" b="-422951"/>
                          </a:stretch>
                        </a:blipFill>
                      </a:tcPr>
                    </a:tc>
                    <a:tc>
                      <a:txBody>
                        <a:bodyPr/>
                        <a:lstStyle/>
                        <a:p>
                          <a:endParaRPr lang="en-US"/>
                        </a:p>
                      </a:txBody>
                      <a:tcPr>
                        <a:blipFill rotWithShape="1">
                          <a:blip r:embed="rId3"/>
                          <a:stretch>
                            <a:fillRect l="-100000" t="-8197" r="-99701" b="-422951"/>
                          </a:stretch>
                        </a:blipFill>
                      </a:tcPr>
                    </a:tc>
                    <a:tc>
                      <a:txBody>
                        <a:bodyPr/>
                        <a:lstStyle/>
                        <a:p>
                          <a:endParaRPr lang="en-US"/>
                        </a:p>
                      </a:txBody>
                      <a:tcPr>
                        <a:blipFill rotWithShape="1">
                          <a:blip r:embed="rId3"/>
                          <a:stretch>
                            <a:fillRect l="-200601" t="-8197" b="-422951"/>
                          </a:stretch>
                        </a:blipFill>
                      </a:tcPr>
                    </a:tc>
                  </a:tr>
                  <a:tr h="370840">
                    <a:tc>
                      <a:txBody>
                        <a:bodyPr/>
                        <a:lstStyle/>
                        <a:p>
                          <a:pPr algn="ctr"/>
                          <a:r>
                            <a:rPr lang="en-GB" dirty="0" smtClean="0"/>
                            <a:t>F</a:t>
                          </a:r>
                          <a:endParaRPr lang="en-US" dirty="0"/>
                        </a:p>
                      </a:txBody>
                      <a:tcPr/>
                    </a:tc>
                    <a:tc>
                      <a:txBody>
                        <a:bodyPr/>
                        <a:lstStyle/>
                        <a:p>
                          <a:pPr algn="ctr"/>
                          <a:r>
                            <a:rPr lang="en-GB" dirty="0" smtClean="0"/>
                            <a:t>F  </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2622473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Bi-conditionals(Contd.)</a:t>
            </a:r>
            <a:endParaRPr lang="en-US" dirty="0"/>
          </a:p>
        </p:txBody>
      </p:sp>
      <p:sp>
        <p:nvSpPr>
          <p:cNvPr id="3" name="Content Placeholder 2"/>
          <p:cNvSpPr>
            <a:spLocks noGrp="1"/>
          </p:cNvSpPr>
          <p:nvPr>
            <p:ph sz="quarter" idx="1"/>
          </p:nvPr>
        </p:nvSpPr>
        <p:spPr/>
        <p:txBody>
          <a:bodyPr>
            <a:normAutofit/>
          </a:bodyPr>
          <a:lstStyle/>
          <a:p>
            <a:r>
              <a:rPr lang="en-GB" sz="2800" dirty="0"/>
              <a:t>Terminologies to express bi-conditionals:</a:t>
            </a:r>
          </a:p>
          <a:p>
            <a:pPr lvl="1"/>
            <a:r>
              <a:rPr lang="en-US" sz="2500" dirty="0"/>
              <a:t>“p if </a:t>
            </a:r>
            <a:r>
              <a:rPr lang="en-US" sz="2800" dirty="0"/>
              <a:t>and only if q.” </a:t>
            </a:r>
            <a:endParaRPr lang="en-GB" sz="2800" dirty="0"/>
          </a:p>
          <a:p>
            <a:pPr lvl="1"/>
            <a:r>
              <a:rPr lang="en-US" sz="2500" dirty="0"/>
              <a:t>“p is necessary and sufﬁcient for q”</a:t>
            </a:r>
          </a:p>
          <a:p>
            <a:pPr lvl="1"/>
            <a:r>
              <a:rPr lang="en-US" sz="2500" dirty="0"/>
              <a:t>“if p then q, and conversely”</a:t>
            </a:r>
          </a:p>
          <a:p>
            <a:pPr lvl="1"/>
            <a:r>
              <a:rPr lang="en-US" sz="2500" dirty="0"/>
              <a:t>“p </a:t>
            </a:r>
            <a:r>
              <a:rPr lang="en-US" sz="2500" dirty="0" err="1"/>
              <a:t>iff</a:t>
            </a:r>
            <a:r>
              <a:rPr lang="en-US" sz="2500" dirty="0"/>
              <a:t> q.”</a:t>
            </a:r>
          </a:p>
        </p:txBody>
      </p:sp>
    </p:spTree>
    <p:extLst>
      <p:ext uri="{BB962C8B-B14F-4D97-AF65-F5344CB8AC3E}">
        <p14:creationId xmlns:p14="http://schemas.microsoft.com/office/powerpoint/2010/main" val="1433388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Bi-conditionals(Contd.)</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sz="quarter" idx="1"/>
              </p:nvPr>
            </p:nvSpPr>
            <p:spPr/>
            <p:txBody>
              <a:bodyPr>
                <a:normAutofit fontScale="92500" lnSpcReduction="20000"/>
              </a:bodyPr>
              <a:lstStyle/>
              <a:p>
                <a:r>
                  <a:rPr lang="en-GB" sz="3200" b="1" u="sng" dirty="0"/>
                  <a:t>Example 1:</a:t>
                </a:r>
              </a:p>
              <a:p>
                <a:pPr lvl="1"/>
                <a14:m>
                  <m:oMath xmlns:m="http://schemas.openxmlformats.org/officeDocument/2006/math">
                    <m:r>
                      <a:rPr lang="en-US" sz="2500" b="1" i="1" dirty="0" smtClean="0">
                        <a:latin typeface="Cambria Math"/>
                      </a:rPr>
                      <m:t>𝒑</m:t>
                    </m:r>
                  </m:oMath>
                </a14:m>
                <a:r>
                  <a:rPr lang="en-US" sz="2500" dirty="0"/>
                  <a:t> : “You can take the ﬂight,”</a:t>
                </a:r>
              </a:p>
              <a:p>
                <a:pPr lvl="1"/>
                <a14:m>
                  <m:oMath xmlns:m="http://schemas.openxmlformats.org/officeDocument/2006/math">
                    <m:r>
                      <a:rPr lang="en-US" sz="2500" b="1" i="1" dirty="0" smtClean="0">
                        <a:latin typeface="Cambria Math"/>
                      </a:rPr>
                      <m:t>𝒒</m:t>
                    </m:r>
                  </m:oMath>
                </a14:m>
                <a:r>
                  <a:rPr lang="en-US" sz="2500" dirty="0"/>
                  <a:t> : “You buy a ticket.”</a:t>
                </a:r>
              </a:p>
              <a:p>
                <a:pPr lvl="1"/>
                <a:r>
                  <a:rPr lang="en-US" sz="2500" dirty="0"/>
                  <a:t>Then </a:t>
                </a:r>
                <a14:m>
                  <m:oMath xmlns:m="http://schemas.openxmlformats.org/officeDocument/2006/math">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means,</a:t>
                </a:r>
              </a:p>
              <a:p>
                <a:pPr lvl="2"/>
                <a:r>
                  <a:rPr lang="en-US" sz="2200" dirty="0"/>
                  <a:t>“</a:t>
                </a:r>
                <a:r>
                  <a:rPr lang="en-US" sz="2600" dirty="0"/>
                  <a:t>You can take the ﬂight if and only if you buy a ticket.</a:t>
                </a:r>
                <a:r>
                  <a:rPr lang="en-US" sz="2200" dirty="0"/>
                  <a:t>”</a:t>
                </a:r>
                <a:endParaRPr lang="en-US" sz="2900" dirty="0"/>
              </a:p>
              <a:p>
                <a:r>
                  <a:rPr lang="en-GB" sz="2800" dirty="0"/>
                  <a:t>Implicit use:</a:t>
                </a:r>
              </a:p>
              <a:p>
                <a:pPr lvl="1"/>
                <a:r>
                  <a:rPr lang="en-US" sz="2500" dirty="0"/>
                  <a:t>Bi-conditionals are not always explicit in natural language</a:t>
                </a:r>
              </a:p>
              <a:p>
                <a:pPr lvl="1"/>
                <a:r>
                  <a:rPr lang="en-US" sz="2500" dirty="0"/>
                  <a:t>“if and only if” is rarely used in common language.</a:t>
                </a:r>
              </a:p>
              <a:p>
                <a:pPr lvl="1"/>
                <a:r>
                  <a:rPr lang="en-US" sz="2500" dirty="0"/>
                  <a:t>Often expressed using an “if, then” or an “only if” construction. </a:t>
                </a:r>
              </a:p>
              <a:p>
                <a:pPr lvl="1"/>
                <a:r>
                  <a:rPr lang="en-US" sz="2500" dirty="0"/>
                  <a:t>The other part of the “if and only if” is implicit.</a:t>
                </a:r>
              </a:p>
              <a:p>
                <a:pPr lvl="1"/>
                <a:r>
                  <a:rPr lang="en-US" sz="2500" dirty="0"/>
                  <a:t>That is, the converse is implied, but not stated. </a:t>
                </a:r>
              </a:p>
              <a:p>
                <a:pPr lvl="1"/>
                <a:r>
                  <a:rPr lang="en-US" sz="2500" dirty="0"/>
                  <a:t>We need to make an assumption whether a conditional statement in natural language implicitly includes its converse</a:t>
                </a:r>
                <a:endParaRPr lang="en-US" sz="6300" dirty="0"/>
              </a:p>
            </p:txBody>
          </p:sp>
        </mc:Choice>
        <mc:Fallback>
          <p:sp>
            <p:nvSpPr>
              <p:cNvPr id="3" name="Content Placeholder 2"/>
              <p:cNvSpPr>
                <a:spLocks noGrp="1" noRot="1" noChangeAspect="1" noMove="1" noResize="1" noEditPoints="1" noAdjustHandles="1" noChangeArrowheads="1" noChangeShapeType="1" noTextEdit="1"/>
              </p:cNvSpPr>
              <p:nvPr>
                <p:ph sz="quarter" idx="1"/>
              </p:nvPr>
            </p:nvSpPr>
            <p:spPr>
              <a:blipFill>
                <a:blip r:embed="rId2"/>
                <a:stretch>
                  <a:fillRect l="-963" t="-3457" r="-1481"/>
                </a:stretch>
              </a:blipFill>
            </p:spPr>
            <p:txBody>
              <a:bodyPr/>
              <a:lstStyle/>
              <a:p>
                <a:r>
                  <a:rPr lang="en-US">
                    <a:noFill/>
                  </a:rPr>
                  <a:t> </a:t>
                </a:r>
              </a:p>
            </p:txBody>
          </p:sp>
        </mc:Fallback>
      </mc:AlternateContent>
    </p:spTree>
    <p:extLst>
      <p:ext uri="{BB962C8B-B14F-4D97-AF65-F5344CB8AC3E}">
        <p14:creationId xmlns:p14="http://schemas.microsoft.com/office/powerpoint/2010/main" val="1790968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Bi-conditionals(Contd.)</a:t>
            </a:r>
            <a:endParaRPr lang="en-US" dirty="0"/>
          </a:p>
        </p:txBody>
      </p:sp>
      <p:sp>
        <p:nvSpPr>
          <p:cNvPr id="3" name="Content Placeholder 2"/>
          <p:cNvSpPr>
            <a:spLocks noGrp="1"/>
          </p:cNvSpPr>
          <p:nvPr>
            <p:ph sz="quarter" idx="1"/>
          </p:nvPr>
        </p:nvSpPr>
        <p:spPr/>
        <p:txBody>
          <a:bodyPr>
            <a:normAutofit/>
          </a:bodyPr>
          <a:lstStyle/>
          <a:p>
            <a:r>
              <a:rPr lang="en-GB" sz="3200" dirty="0"/>
              <a:t>Example of Implicit Use:</a:t>
            </a:r>
          </a:p>
          <a:p>
            <a:pPr lvl="1"/>
            <a:r>
              <a:rPr lang="en-US" sz="2800" dirty="0"/>
              <a:t>“If you ﬁnish your meal, then you can have dessert.” </a:t>
            </a:r>
          </a:p>
          <a:p>
            <a:r>
              <a:rPr lang="en-GB" sz="3100" dirty="0"/>
              <a:t>What it really means:</a:t>
            </a:r>
          </a:p>
          <a:p>
            <a:pPr lvl="1"/>
            <a:r>
              <a:rPr lang="en-US" sz="2500" dirty="0"/>
              <a:t>“You can have dessert if and only if you ﬁnish your meal.” </a:t>
            </a:r>
          </a:p>
          <a:p>
            <a:r>
              <a:rPr lang="en-US" sz="2800" dirty="0"/>
              <a:t>This last statement is logically equivalent to the two statements </a:t>
            </a:r>
          </a:p>
          <a:p>
            <a:pPr lvl="1"/>
            <a:r>
              <a:rPr lang="en-US" sz="2500" dirty="0"/>
              <a:t>“If you ﬁnish your meal, then you can have dessert”   </a:t>
            </a:r>
            <a:r>
              <a:rPr lang="en-US" sz="2500" b="1" dirty="0"/>
              <a:t>And</a:t>
            </a:r>
            <a:r>
              <a:rPr lang="en-US" sz="2500" dirty="0"/>
              <a:t>, </a:t>
            </a:r>
          </a:p>
          <a:p>
            <a:pPr lvl="1"/>
            <a:r>
              <a:rPr lang="en-US" sz="2500" dirty="0"/>
              <a:t>“You can have dessert only if you ﬁnish your meal.” </a:t>
            </a:r>
          </a:p>
        </p:txBody>
      </p:sp>
    </p:spTree>
    <p:extLst>
      <p:ext uri="{BB962C8B-B14F-4D97-AF65-F5344CB8AC3E}">
        <p14:creationId xmlns:p14="http://schemas.microsoft.com/office/powerpoint/2010/main" val="3996367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Truth table of compound propositions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dirty="0"/>
                  <a:t>Construct the truth table part by part in terms of logical expressions.</a:t>
                </a:r>
              </a:p>
              <a:p>
                <a:r>
                  <a:rPr lang="en-GB" b="1" u="sng" dirty="0"/>
                  <a:t>Example 1:</a:t>
                </a:r>
              </a:p>
              <a:p>
                <a:pPr lvl="1"/>
                <a:r>
                  <a:rPr lang="en-GB" dirty="0"/>
                  <a:t>Find the truth table of the following compound expression</a:t>
                </a:r>
              </a:p>
              <a:p>
                <a:pPr lvl="1"/>
                <a14:m>
                  <m:oMath xmlns:m="http://schemas.openxmlformats.org/officeDocument/2006/math">
                    <m:d>
                      <m:dPr>
                        <m:ctrlPr>
                          <a:rPr lang="en-US" b="1" i="1" dirty="0" smtClean="0">
                            <a:latin typeface="Cambria Math" panose="02040503050406030204" pitchFamily="18" charset="0"/>
                          </a:rPr>
                        </m:ctrlPr>
                      </m:dPr>
                      <m:e>
                        <m:r>
                          <a:rPr lang="en-US" b="1" i="0" dirty="0" smtClean="0">
                            <a:latin typeface="Cambria Math"/>
                          </a:rPr>
                          <m:t>𝐩</m:t>
                        </m:r>
                        <m:r>
                          <a:rPr lang="en-US" b="1" i="0" dirty="0" smtClean="0">
                            <a:latin typeface="Cambria Math"/>
                          </a:rPr>
                          <m:t> ∨¬</m:t>
                        </m:r>
                        <m:r>
                          <a:rPr lang="en-US" b="1" i="0" dirty="0" smtClean="0">
                            <a:latin typeface="Cambria Math"/>
                          </a:rPr>
                          <m:t>𝐪</m:t>
                        </m:r>
                      </m:e>
                    </m:d>
                    <m:r>
                      <a:rPr lang="en-US" b="1" i="0" dirty="0" smtClean="0">
                        <a:latin typeface="Cambria Math"/>
                      </a:rPr>
                      <m:t>→ </m:t>
                    </m:r>
                    <m:d>
                      <m:dPr>
                        <m:ctrlPr>
                          <a:rPr lang="en-US" b="1" i="1" dirty="0" smtClean="0">
                            <a:latin typeface="Cambria Math" panose="02040503050406030204" pitchFamily="18" charset="0"/>
                          </a:rPr>
                        </m:ctrlPr>
                      </m:dPr>
                      <m:e>
                        <m:r>
                          <a:rPr lang="en-US" b="1" i="0" dirty="0" smtClean="0">
                            <a:latin typeface="Cambria Math"/>
                          </a:rPr>
                          <m:t>𝐩</m:t>
                        </m:r>
                        <m:r>
                          <a:rPr lang="en-US" b="1" i="0" dirty="0" smtClean="0">
                            <a:latin typeface="Cambria Math"/>
                          </a:rPr>
                          <m:t> ∧ </m:t>
                        </m:r>
                        <m:r>
                          <a:rPr lang="en-US" b="1" i="0" dirty="0" smtClean="0">
                            <a:latin typeface="Cambria Math"/>
                          </a:rPr>
                          <m:t>𝐪</m:t>
                        </m:r>
                      </m:e>
                    </m:d>
                  </m:oMath>
                </a14:m>
                <a:endParaRPr lang="en-GB" b="1" dirty="0"/>
              </a:p>
              <a:p>
                <a:r>
                  <a:rPr lang="en-GB" b="1" u="sng" dirty="0"/>
                  <a:t>Solution:</a:t>
                </a:r>
              </a:p>
              <a:p>
                <a:pPr marL="274320" lvl="1"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468988376"/>
                  </p:ext>
                </p:extLst>
              </p:nvPr>
            </p:nvGraphicFramePr>
            <p:xfrm>
              <a:off x="1791808" y="4077072"/>
              <a:ext cx="5372480" cy="1854200"/>
            </p:xfrm>
            <a:graphic>
              <a:graphicData uri="http://schemas.openxmlformats.org/drawingml/2006/table">
                <a:tbl>
                  <a:tblPr firstRow="1">
                    <a:tableStyleId>{ED083AE6-46FA-4A59-8FB0-9F97EB10719F}</a:tableStyleId>
                  </a:tblPr>
                  <a:tblGrid>
                    <a:gridCol w="387667">
                      <a:extLst>
                        <a:ext uri="{9D8B030D-6E8A-4147-A177-3AD203B41FA5}">
                          <a16:colId xmlns:a16="http://schemas.microsoft.com/office/drawing/2014/main" val="20000"/>
                        </a:ext>
                      </a:extLst>
                    </a:gridCol>
                    <a:gridCol w="384493">
                      <a:extLst>
                        <a:ext uri="{9D8B030D-6E8A-4147-A177-3AD203B41FA5}">
                          <a16:colId xmlns:a16="http://schemas.microsoft.com/office/drawing/2014/main" val="20001"/>
                        </a:ext>
                      </a:extLst>
                    </a:gridCol>
                    <a:gridCol w="555943">
                      <a:extLst>
                        <a:ext uri="{9D8B030D-6E8A-4147-A177-3AD203B41FA5}">
                          <a16:colId xmlns:a16="http://schemas.microsoft.com/office/drawing/2014/main" val="20002"/>
                        </a:ext>
                      </a:extLst>
                    </a:gridCol>
                    <a:gridCol w="933767">
                      <a:extLst>
                        <a:ext uri="{9D8B030D-6E8A-4147-A177-3AD203B41FA5}">
                          <a16:colId xmlns:a16="http://schemas.microsoft.com/office/drawing/2014/main" val="20003"/>
                        </a:ext>
                      </a:extLst>
                    </a:gridCol>
                    <a:gridCol w="762317">
                      <a:extLst>
                        <a:ext uri="{9D8B030D-6E8A-4147-A177-3AD203B41FA5}">
                          <a16:colId xmlns:a16="http://schemas.microsoft.com/office/drawing/2014/main" val="20004"/>
                        </a:ext>
                      </a:extLst>
                    </a:gridCol>
                    <a:gridCol w="2348293">
                      <a:extLst>
                        <a:ext uri="{9D8B030D-6E8A-4147-A177-3AD203B41FA5}">
                          <a16:colId xmlns:a16="http://schemas.microsoft.com/office/drawing/2014/main" val="20005"/>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m:t>
                                </m:r>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d>
                                  <m:dPr>
                                    <m:ctrlPr>
                                      <a:rPr lang="en-US" b="1" i="1" dirty="0" smtClean="0">
                                        <a:latin typeface="Cambria Math" panose="02040503050406030204" pitchFamily="18" charset="0"/>
                                      </a:rPr>
                                    </m:ctrlPr>
                                  </m:dPr>
                                  <m:e>
                                    <m:r>
                                      <a:rPr lang="en-US" b="1" i="0" dirty="0" smtClean="0">
                                        <a:latin typeface="Cambria Math"/>
                                      </a:rPr>
                                      <m:t>𝐩</m:t>
                                    </m:r>
                                    <m:r>
                                      <a:rPr lang="en-US" b="1" i="0" dirty="0" smtClean="0">
                                        <a:latin typeface="Cambria Math"/>
                                      </a:rPr>
                                      <m:t> ∨¬</m:t>
                                    </m:r>
                                    <m:r>
                                      <a:rPr lang="en-US" b="1" i="0" dirty="0" smtClean="0">
                                        <a:latin typeface="Cambria Math"/>
                                      </a:rPr>
                                      <m:t>𝐪</m:t>
                                    </m:r>
                                  </m:e>
                                </m:d>
                                <m:r>
                                  <a:rPr lang="en-US" b="1" i="0" dirty="0" smtClean="0">
                                    <a:latin typeface="Cambria Math"/>
                                  </a:rPr>
                                  <m:t>→ </m:t>
                                </m:r>
                                <m:d>
                                  <m:dPr>
                                    <m:ctrlPr>
                                      <a:rPr lang="en-US" b="1" i="1" dirty="0" smtClean="0">
                                        <a:latin typeface="Cambria Math" panose="02040503050406030204" pitchFamily="18" charset="0"/>
                                      </a:rPr>
                                    </m:ctrlPr>
                                  </m:dPr>
                                  <m:e>
                                    <m:r>
                                      <a:rPr lang="en-US" b="1" i="0" dirty="0" smtClean="0">
                                        <a:latin typeface="Cambria Math"/>
                                      </a:rPr>
                                      <m:t>𝐩</m:t>
                                    </m:r>
                                    <m:r>
                                      <a:rPr lang="en-US" b="1" i="0" dirty="0" smtClean="0">
                                        <a:latin typeface="Cambria Math"/>
                                      </a:rPr>
                                      <m:t> ∧ </m:t>
                                    </m:r>
                                    <m:r>
                                      <a:rPr lang="en-US" b="1" i="0" dirty="0" smtClean="0">
                                        <a:latin typeface="Cambria Math"/>
                                      </a:rPr>
                                      <m:t>𝐪</m:t>
                                    </m:r>
                                  </m:e>
                                </m:d>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F</a:t>
                          </a:r>
                          <a:endParaRPr lang="en-US" dirty="0"/>
                        </a:p>
                      </a:txBody>
                      <a:tcPr/>
                    </a:tc>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1"/>
                      </a:ext>
                    </a:extLst>
                  </a:tr>
                  <a:tr h="370840">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2"/>
                      </a:ext>
                    </a:extLst>
                  </a:tr>
                  <a:tr h="370840">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F</a:t>
                          </a:r>
                          <a:endParaRPr lang="en-US" dirty="0"/>
                        </a:p>
                      </a:txBody>
                      <a:tcPr/>
                    </a:tc>
                    <a:extLst>
                      <a:ext uri="{0D108BD9-81ED-4DB2-BD59-A6C34878D82A}">
                        <a16:rowId xmlns:a16="http://schemas.microsoft.com/office/drawing/2014/main" val="10003"/>
                      </a:ext>
                    </a:extLst>
                  </a:tr>
                  <a:tr h="370840">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F</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tc>
                      <a:txBody>
                        <a:bodyPr/>
                        <a:lstStyle/>
                        <a:p>
                          <a:pPr algn="ctr"/>
                          <a:r>
                            <a:rPr lang="en-GB" dirty="0"/>
                            <a:t>T</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468988376"/>
                  </p:ext>
                </p:extLst>
              </p:nvPr>
            </p:nvGraphicFramePr>
            <p:xfrm>
              <a:off x="1791808" y="4077072"/>
              <a:ext cx="5372480" cy="1854200"/>
            </p:xfrm>
            <a:graphic>
              <a:graphicData uri="http://schemas.openxmlformats.org/drawingml/2006/table">
                <a:tbl>
                  <a:tblPr firstRow="1">
                    <a:tableStyleId>{ED083AE6-46FA-4A59-8FB0-9F97EB10719F}</a:tableStyleId>
                  </a:tblPr>
                  <a:tblGrid>
                    <a:gridCol w="387667"/>
                    <a:gridCol w="384493"/>
                    <a:gridCol w="555943"/>
                    <a:gridCol w="933767"/>
                    <a:gridCol w="762317"/>
                    <a:gridCol w="2348293"/>
                  </a:tblGrid>
                  <a:tr h="370840">
                    <a:tc>
                      <a:txBody>
                        <a:bodyPr/>
                        <a:lstStyle/>
                        <a:p>
                          <a:endParaRPr lang="en-US"/>
                        </a:p>
                      </a:txBody>
                      <a:tcPr>
                        <a:blipFill rotWithShape="1">
                          <a:blip r:embed="rId3"/>
                          <a:stretch>
                            <a:fillRect l="-1563" t="-8197" r="-1278125" b="-422951"/>
                          </a:stretch>
                        </a:blipFill>
                      </a:tcPr>
                    </a:tc>
                    <a:tc>
                      <a:txBody>
                        <a:bodyPr/>
                        <a:lstStyle/>
                        <a:p>
                          <a:endParaRPr lang="en-US"/>
                        </a:p>
                      </a:txBody>
                      <a:tcPr>
                        <a:blipFill rotWithShape="1">
                          <a:blip r:embed="rId3"/>
                          <a:stretch>
                            <a:fillRect l="-103175" t="-8197" r="-1198413" b="-422951"/>
                          </a:stretch>
                        </a:blipFill>
                      </a:tcPr>
                    </a:tc>
                    <a:tc>
                      <a:txBody>
                        <a:bodyPr/>
                        <a:lstStyle/>
                        <a:p>
                          <a:endParaRPr lang="en-US"/>
                        </a:p>
                      </a:txBody>
                      <a:tcPr>
                        <a:blipFill rotWithShape="1">
                          <a:blip r:embed="rId3"/>
                          <a:stretch>
                            <a:fillRect l="-140659" t="-8197" r="-729670" b="-422951"/>
                          </a:stretch>
                        </a:blipFill>
                      </a:tcPr>
                    </a:tc>
                    <a:tc>
                      <a:txBody>
                        <a:bodyPr/>
                        <a:lstStyle/>
                        <a:p>
                          <a:endParaRPr lang="en-US"/>
                        </a:p>
                      </a:txBody>
                      <a:tcPr>
                        <a:blipFill rotWithShape="1">
                          <a:blip r:embed="rId3"/>
                          <a:stretch>
                            <a:fillRect l="-143137" t="-8197" r="-333987" b="-422951"/>
                          </a:stretch>
                        </a:blipFill>
                      </a:tcPr>
                    </a:tc>
                    <a:tc>
                      <a:txBody>
                        <a:bodyPr/>
                        <a:lstStyle/>
                        <a:p>
                          <a:endParaRPr lang="en-US"/>
                        </a:p>
                      </a:txBody>
                      <a:tcPr>
                        <a:blipFill rotWithShape="1">
                          <a:blip r:embed="rId3"/>
                          <a:stretch>
                            <a:fillRect l="-297600" t="-8197" r="-308800" b="-422951"/>
                          </a:stretch>
                        </a:blipFill>
                      </a:tcPr>
                    </a:tc>
                    <a:tc>
                      <a:txBody>
                        <a:bodyPr/>
                        <a:lstStyle/>
                        <a:p>
                          <a:endParaRPr lang="en-US"/>
                        </a:p>
                      </a:txBody>
                      <a:tcPr>
                        <a:blipFill rotWithShape="1">
                          <a:blip r:embed="rId3"/>
                          <a:stretch>
                            <a:fillRect l="-129091" t="-8197" r="-260" b="-422951"/>
                          </a:stretch>
                        </a:blipFill>
                      </a:tcPr>
                    </a:tc>
                  </a:tr>
                  <a:tr h="370840">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F</a:t>
                          </a:r>
                          <a:endParaRPr lang="en-US" dirty="0"/>
                        </a:p>
                      </a:txBody>
                      <a:tcPr/>
                    </a:tc>
                  </a:tr>
                  <a:tr h="370840">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F</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c>
                      <a:txBody>
                        <a:bodyPr/>
                        <a:lstStyle/>
                        <a:p>
                          <a:pPr algn="ctr"/>
                          <a:r>
                            <a:rPr lang="en-GB" dirty="0" smtClean="0"/>
                            <a:t>T</a:t>
                          </a:r>
                          <a:endParaRPr lang="en-US" dirty="0"/>
                        </a:p>
                      </a:txBody>
                      <a:tcPr/>
                    </a:tc>
                  </a:tr>
                </a:tbl>
              </a:graphicData>
            </a:graphic>
          </p:graphicFrame>
        </mc:Fallback>
      </mc:AlternateContent>
    </p:spTree>
    <p:extLst>
      <p:ext uri="{BB962C8B-B14F-4D97-AF65-F5344CB8AC3E}">
        <p14:creationId xmlns:p14="http://schemas.microsoft.com/office/powerpoint/2010/main" val="3807299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Precedence of Logical Operators</a:t>
            </a:r>
            <a:endParaRPr lang="en-US" dirty="0"/>
          </a:p>
        </p:txBody>
      </p:sp>
      <p:sp>
        <p:nvSpPr>
          <p:cNvPr id="3" name="Content Placeholder 2"/>
          <p:cNvSpPr>
            <a:spLocks noGrp="1"/>
          </p:cNvSpPr>
          <p:nvPr>
            <p:ph sz="quarter" idx="1"/>
          </p:nvPr>
        </p:nvSpPr>
        <p:spPr/>
        <p:txBody>
          <a:bodyPr/>
          <a:lstStyle/>
          <a:p>
            <a:r>
              <a:rPr lang="en-GB" dirty="0"/>
              <a:t>The operators with lower precedence values have higher priorities.</a:t>
            </a:r>
          </a:p>
          <a:p>
            <a:r>
              <a:rPr lang="en-GB" dirty="0"/>
              <a:t>That means, the operation of those operators must be performed before that of the low priority operators.</a:t>
            </a:r>
          </a:p>
          <a:p>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41651226"/>
                  </p:ext>
                </p:extLst>
              </p:nvPr>
            </p:nvGraphicFramePr>
            <p:xfrm>
              <a:off x="1547664" y="3284984"/>
              <a:ext cx="6096000" cy="2225040"/>
            </p:xfrm>
            <a:graphic>
              <a:graphicData uri="http://schemas.openxmlformats.org/drawingml/2006/table">
                <a:tbl>
                  <a:tblPr firstRow="1">
                    <a:tableStyleId>{ED083AE6-46FA-4A59-8FB0-9F97EB10719F}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GB" dirty="0"/>
                            <a:t>Operators</a:t>
                          </a:r>
                          <a:endParaRPr lang="en-US" dirty="0"/>
                        </a:p>
                      </a:txBody>
                      <a:tcPr>
                        <a:solidFill>
                          <a:schemeClr val="accent4">
                            <a:lumMod val="20000"/>
                            <a:lumOff val="80000"/>
                          </a:schemeClr>
                        </a:solidFill>
                      </a:tcPr>
                    </a:tc>
                    <a:tc>
                      <a:txBody>
                        <a:bodyPr/>
                        <a:lstStyle/>
                        <a:p>
                          <a:pPr algn="ctr"/>
                          <a:r>
                            <a:rPr lang="en-GB" dirty="0"/>
                            <a:t>Precedence</a:t>
                          </a:r>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l"/>
                          <a14:m>
                            <m:oMath xmlns:m="http://schemas.openxmlformats.org/officeDocument/2006/math">
                              <m:r>
                                <a:rPr lang="en-GB" i="1" dirty="0" smtClean="0">
                                  <a:latin typeface="Cambria Math"/>
                                </a:rPr>
                                <m:t>¬</m:t>
                              </m:r>
                            </m:oMath>
                          </a14:m>
                          <a:r>
                            <a:rPr lang="en-US" dirty="0"/>
                            <a:t> (Negation)</a:t>
                          </a:r>
                        </a:p>
                      </a:txBody>
                      <a:tcPr/>
                    </a:tc>
                    <a:tc>
                      <a:txBody>
                        <a:bodyPr/>
                        <a:lstStyle/>
                        <a:p>
                          <a:pPr algn="ctr"/>
                          <a:r>
                            <a:rPr lang="en-GB" dirty="0"/>
                            <a:t>1</a:t>
                          </a:r>
                          <a:endParaRPr lang="en-US" dirty="0"/>
                        </a:p>
                      </a:txBody>
                      <a:tcPr/>
                    </a:tc>
                    <a:extLst>
                      <a:ext uri="{0D108BD9-81ED-4DB2-BD59-A6C34878D82A}">
                        <a16:rowId xmlns:a16="http://schemas.microsoft.com/office/drawing/2014/main" val="10001"/>
                      </a:ext>
                    </a:extLst>
                  </a:tr>
                  <a:tr h="370840">
                    <a:tc>
                      <a:txBody>
                        <a:bodyPr/>
                        <a:lstStyle/>
                        <a:p>
                          <a:pPr algn="l"/>
                          <a14:m>
                            <m:oMath xmlns:m="http://schemas.openxmlformats.org/officeDocument/2006/math">
                              <m:r>
                                <a:rPr lang="en-US" i="1" smtClean="0">
                                  <a:latin typeface="Cambria Math"/>
                                  <a:ea typeface="Cambria Math"/>
                                </a:rPr>
                                <m:t>∧</m:t>
                              </m:r>
                            </m:oMath>
                          </a14:m>
                          <a:r>
                            <a:rPr lang="en-US" dirty="0"/>
                            <a:t>  (Conjunction)</a:t>
                          </a:r>
                        </a:p>
                      </a:txBody>
                      <a:tcPr/>
                    </a:tc>
                    <a:tc>
                      <a:txBody>
                        <a:bodyPr/>
                        <a:lstStyle/>
                        <a:p>
                          <a:pPr algn="ctr"/>
                          <a:r>
                            <a:rPr lang="en-GB" dirty="0"/>
                            <a:t>2</a:t>
                          </a:r>
                          <a:endParaRPr lang="en-US" dirty="0"/>
                        </a:p>
                      </a:txBody>
                      <a:tcPr/>
                    </a:tc>
                    <a:extLst>
                      <a:ext uri="{0D108BD9-81ED-4DB2-BD59-A6C34878D82A}">
                        <a16:rowId xmlns:a16="http://schemas.microsoft.com/office/drawing/2014/main" val="10002"/>
                      </a:ext>
                    </a:extLst>
                  </a:tr>
                  <a:tr h="370840">
                    <a:tc>
                      <a:txBody>
                        <a:bodyPr/>
                        <a:lstStyle/>
                        <a:p>
                          <a:pPr algn="l"/>
                          <a14:m>
                            <m:oMath xmlns:m="http://schemas.openxmlformats.org/officeDocument/2006/math">
                              <m:r>
                                <a:rPr lang="en-US" i="1" smtClean="0">
                                  <a:latin typeface="Cambria Math"/>
                                  <a:ea typeface="Cambria Math"/>
                                </a:rPr>
                                <m:t>∨</m:t>
                              </m:r>
                            </m:oMath>
                          </a14:m>
                          <a:r>
                            <a:rPr lang="en-US" dirty="0"/>
                            <a:t>  (Disjunction)</a:t>
                          </a:r>
                        </a:p>
                      </a:txBody>
                      <a:tcPr/>
                    </a:tc>
                    <a:tc>
                      <a:txBody>
                        <a:bodyPr/>
                        <a:lstStyle/>
                        <a:p>
                          <a:pPr algn="ctr"/>
                          <a:r>
                            <a:rPr lang="en-GB" dirty="0"/>
                            <a:t>3</a:t>
                          </a:r>
                          <a:endParaRPr lang="en-US" dirty="0"/>
                        </a:p>
                      </a:txBody>
                      <a:tcPr/>
                    </a:tc>
                    <a:extLst>
                      <a:ext uri="{0D108BD9-81ED-4DB2-BD59-A6C34878D82A}">
                        <a16:rowId xmlns:a16="http://schemas.microsoft.com/office/drawing/2014/main" val="10003"/>
                      </a:ext>
                    </a:extLst>
                  </a:tr>
                  <a:tr h="370840">
                    <a:tc>
                      <a:txBody>
                        <a:bodyPr/>
                        <a:lstStyle/>
                        <a:p>
                          <a:pPr algn="l"/>
                          <a14:m>
                            <m:oMath xmlns:m="http://schemas.openxmlformats.org/officeDocument/2006/math">
                              <m:r>
                                <a:rPr lang="en-US" i="1" smtClean="0">
                                  <a:latin typeface="Cambria Math"/>
                                  <a:ea typeface="Cambria Math"/>
                                </a:rPr>
                                <m:t>→</m:t>
                              </m:r>
                            </m:oMath>
                          </a14:m>
                          <a:r>
                            <a:rPr lang="en-US" dirty="0"/>
                            <a:t> (Implication)</a:t>
                          </a:r>
                        </a:p>
                      </a:txBody>
                      <a:tcPr/>
                    </a:tc>
                    <a:tc>
                      <a:txBody>
                        <a:bodyPr/>
                        <a:lstStyle/>
                        <a:p>
                          <a:pPr algn="ctr"/>
                          <a:r>
                            <a:rPr lang="en-GB" dirty="0"/>
                            <a:t>4</a:t>
                          </a:r>
                          <a:endParaRPr lang="en-US" dirty="0"/>
                        </a:p>
                      </a:txBody>
                      <a:tcPr/>
                    </a:tc>
                    <a:extLst>
                      <a:ext uri="{0D108BD9-81ED-4DB2-BD59-A6C34878D82A}">
                        <a16:rowId xmlns:a16="http://schemas.microsoft.com/office/drawing/2014/main" val="10004"/>
                      </a:ext>
                    </a:extLst>
                  </a:tr>
                  <a:tr h="370840">
                    <a:tc>
                      <a:txBody>
                        <a:bodyPr/>
                        <a:lstStyle/>
                        <a:p>
                          <a:pPr algn="l"/>
                          <a14:m>
                            <m:oMath xmlns:m="http://schemas.openxmlformats.org/officeDocument/2006/math">
                              <m:r>
                                <a:rPr lang="en-US" i="1" smtClean="0">
                                  <a:latin typeface="Cambria Math"/>
                                  <a:ea typeface="Cambria Math"/>
                                </a:rPr>
                                <m:t>↔</m:t>
                              </m:r>
                            </m:oMath>
                          </a14:m>
                          <a:r>
                            <a:rPr lang="en-US" dirty="0"/>
                            <a:t> (Bi-conditionals)</a:t>
                          </a:r>
                        </a:p>
                      </a:txBody>
                      <a:tcPr/>
                    </a:tc>
                    <a:tc>
                      <a:txBody>
                        <a:bodyPr/>
                        <a:lstStyle/>
                        <a:p>
                          <a:pPr algn="ctr"/>
                          <a:r>
                            <a:rPr lang="en-GB" dirty="0"/>
                            <a:t>5</a:t>
                          </a:r>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41651226"/>
                  </p:ext>
                </p:extLst>
              </p:nvPr>
            </p:nvGraphicFramePr>
            <p:xfrm>
              <a:off x="1547664" y="3284984"/>
              <a:ext cx="6096000" cy="2225040"/>
            </p:xfrm>
            <a:graphic>
              <a:graphicData uri="http://schemas.openxmlformats.org/drawingml/2006/table">
                <a:tbl>
                  <a:tblPr firstRow="1">
                    <a:tableStyleId>{ED083AE6-46FA-4A59-8FB0-9F97EB10719F}</a:tableStyleId>
                  </a:tblPr>
                  <a:tblGrid>
                    <a:gridCol w="3048000"/>
                    <a:gridCol w="3048000"/>
                  </a:tblGrid>
                  <a:tr h="370840">
                    <a:tc>
                      <a:txBody>
                        <a:bodyPr/>
                        <a:lstStyle/>
                        <a:p>
                          <a:pPr algn="ctr"/>
                          <a:r>
                            <a:rPr lang="en-GB" dirty="0" smtClean="0"/>
                            <a:t>Operators</a:t>
                          </a:r>
                          <a:endParaRPr lang="en-US" dirty="0"/>
                        </a:p>
                      </a:txBody>
                      <a:tcPr>
                        <a:solidFill>
                          <a:schemeClr val="accent4">
                            <a:lumMod val="20000"/>
                            <a:lumOff val="80000"/>
                          </a:schemeClr>
                        </a:solidFill>
                      </a:tcPr>
                    </a:tc>
                    <a:tc>
                      <a:txBody>
                        <a:bodyPr/>
                        <a:lstStyle/>
                        <a:p>
                          <a:pPr algn="ctr"/>
                          <a:r>
                            <a:rPr lang="en-GB" dirty="0" smtClean="0"/>
                            <a:t>Precedence</a:t>
                          </a:r>
                          <a:endParaRPr lang="en-US" dirty="0"/>
                        </a:p>
                      </a:txBody>
                      <a:tcPr>
                        <a:solidFill>
                          <a:schemeClr val="accent4">
                            <a:lumMod val="20000"/>
                            <a:lumOff val="80000"/>
                          </a:schemeClr>
                        </a:solidFill>
                      </a:tcPr>
                    </a:tc>
                  </a:tr>
                  <a:tr h="370840">
                    <a:tc>
                      <a:txBody>
                        <a:bodyPr/>
                        <a:lstStyle/>
                        <a:p>
                          <a:endParaRPr lang="en-US"/>
                        </a:p>
                      </a:txBody>
                      <a:tcPr>
                        <a:blipFill rotWithShape="1">
                          <a:blip r:embed="rId2"/>
                          <a:stretch>
                            <a:fillRect l="-200" t="-108197" r="-100000" b="-422951"/>
                          </a:stretch>
                        </a:blipFill>
                      </a:tcPr>
                    </a:tc>
                    <a:tc>
                      <a:txBody>
                        <a:bodyPr/>
                        <a:lstStyle/>
                        <a:p>
                          <a:pPr algn="ctr"/>
                          <a:r>
                            <a:rPr lang="en-GB" dirty="0" smtClean="0"/>
                            <a:t>1</a:t>
                          </a:r>
                          <a:endParaRPr lang="en-US" dirty="0"/>
                        </a:p>
                      </a:txBody>
                      <a:tcPr/>
                    </a:tc>
                  </a:tr>
                  <a:tr h="370840">
                    <a:tc>
                      <a:txBody>
                        <a:bodyPr/>
                        <a:lstStyle/>
                        <a:p>
                          <a:endParaRPr lang="en-US"/>
                        </a:p>
                      </a:txBody>
                      <a:tcPr>
                        <a:blipFill rotWithShape="1">
                          <a:blip r:embed="rId2"/>
                          <a:stretch>
                            <a:fillRect l="-200" t="-208197" r="-100000" b="-322951"/>
                          </a:stretch>
                        </a:blipFill>
                      </a:tcPr>
                    </a:tc>
                    <a:tc>
                      <a:txBody>
                        <a:bodyPr/>
                        <a:lstStyle/>
                        <a:p>
                          <a:pPr algn="ctr"/>
                          <a:r>
                            <a:rPr lang="en-GB" dirty="0" smtClean="0"/>
                            <a:t>2</a:t>
                          </a:r>
                          <a:endParaRPr lang="en-US" dirty="0"/>
                        </a:p>
                      </a:txBody>
                      <a:tcPr/>
                    </a:tc>
                  </a:tr>
                  <a:tr h="370840">
                    <a:tc>
                      <a:txBody>
                        <a:bodyPr/>
                        <a:lstStyle/>
                        <a:p>
                          <a:endParaRPr lang="en-US"/>
                        </a:p>
                      </a:txBody>
                      <a:tcPr>
                        <a:blipFill rotWithShape="1">
                          <a:blip r:embed="rId2"/>
                          <a:stretch>
                            <a:fillRect l="-200" t="-313333" r="-100000" b="-228333"/>
                          </a:stretch>
                        </a:blipFill>
                      </a:tcPr>
                    </a:tc>
                    <a:tc>
                      <a:txBody>
                        <a:bodyPr/>
                        <a:lstStyle/>
                        <a:p>
                          <a:pPr algn="ctr"/>
                          <a:r>
                            <a:rPr lang="en-GB" dirty="0" smtClean="0"/>
                            <a:t>3</a:t>
                          </a:r>
                          <a:endParaRPr lang="en-US" dirty="0"/>
                        </a:p>
                      </a:txBody>
                      <a:tcPr/>
                    </a:tc>
                  </a:tr>
                  <a:tr h="370840">
                    <a:tc>
                      <a:txBody>
                        <a:bodyPr/>
                        <a:lstStyle/>
                        <a:p>
                          <a:endParaRPr lang="en-US"/>
                        </a:p>
                      </a:txBody>
                      <a:tcPr>
                        <a:blipFill rotWithShape="1">
                          <a:blip r:embed="rId2"/>
                          <a:stretch>
                            <a:fillRect l="-200" t="-406557" r="-100000" b="-124590"/>
                          </a:stretch>
                        </a:blipFill>
                      </a:tcPr>
                    </a:tc>
                    <a:tc>
                      <a:txBody>
                        <a:bodyPr/>
                        <a:lstStyle/>
                        <a:p>
                          <a:pPr algn="ctr"/>
                          <a:r>
                            <a:rPr lang="en-GB" dirty="0" smtClean="0"/>
                            <a:t>4</a:t>
                          </a:r>
                          <a:endParaRPr lang="en-US" dirty="0"/>
                        </a:p>
                      </a:txBody>
                      <a:tcPr/>
                    </a:tc>
                  </a:tr>
                  <a:tr h="370840">
                    <a:tc>
                      <a:txBody>
                        <a:bodyPr/>
                        <a:lstStyle/>
                        <a:p>
                          <a:endParaRPr lang="en-US"/>
                        </a:p>
                      </a:txBody>
                      <a:tcPr>
                        <a:blipFill rotWithShape="1">
                          <a:blip r:embed="rId2"/>
                          <a:stretch>
                            <a:fillRect l="-200" t="-506557" r="-100000" b="-24590"/>
                          </a:stretch>
                        </a:blipFill>
                      </a:tcPr>
                    </a:tc>
                    <a:tc>
                      <a:txBody>
                        <a:bodyPr/>
                        <a:lstStyle/>
                        <a:p>
                          <a:pPr algn="ctr"/>
                          <a:r>
                            <a:rPr lang="en-GB" dirty="0" smtClean="0"/>
                            <a:t>5</a:t>
                          </a:r>
                          <a:endParaRPr lang="en-US" dirty="0"/>
                        </a:p>
                      </a:txBody>
                      <a:tcPr/>
                    </a:tc>
                  </a:tr>
                </a:tbl>
              </a:graphicData>
            </a:graphic>
          </p:graphicFrame>
        </mc:Fallback>
      </mc:AlternateContent>
    </p:spTree>
    <p:extLst>
      <p:ext uri="{BB962C8B-B14F-4D97-AF65-F5344CB8AC3E}">
        <p14:creationId xmlns:p14="http://schemas.microsoft.com/office/powerpoint/2010/main" val="3771009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Precedence of Logical Operators(Contd.)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p:txBody>
              <a:bodyPr/>
              <a:lstStyle/>
              <a:p>
                <a:r>
                  <a:rPr lang="en-GB" b="1" u="sng" dirty="0"/>
                  <a:t>Example:</a:t>
                </a:r>
              </a:p>
              <a:p>
                <a:pPr lvl="1"/>
                <a:r>
                  <a:rPr lang="en-US" sz="2500" dirty="0"/>
                  <a:t>“</a:t>
                </a:r>
                <a14:m>
                  <m:oMath xmlns:m="http://schemas.openxmlformats.org/officeDocument/2006/math">
                    <m:r>
                      <a:rPr lang="en-US" sz="2500" b="1" i="1" dirty="0" smtClean="0">
                        <a:latin typeface="Cambria Math"/>
                      </a:rPr>
                      <m:t>¬</m:t>
                    </m:r>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is the conjunction of </a:t>
                </a:r>
                <a14:m>
                  <m:oMath xmlns:m="http://schemas.openxmlformats.org/officeDocument/2006/math">
                    <m:r>
                      <a:rPr lang="en-US" sz="2500" b="1" i="1" dirty="0" smtClean="0">
                        <a:latin typeface="Cambria Math"/>
                      </a:rPr>
                      <m:t>¬</m:t>
                    </m:r>
                    <m:r>
                      <a:rPr lang="en-US" sz="2500" b="1" i="1" dirty="0" smtClean="0">
                        <a:latin typeface="Cambria Math"/>
                      </a:rPr>
                      <m:t>𝒑</m:t>
                    </m:r>
                  </m:oMath>
                </a14:m>
                <a:r>
                  <a:rPr lang="en-US" sz="2500" dirty="0"/>
                  <a:t> and </a:t>
                </a:r>
                <a14:m>
                  <m:oMath xmlns:m="http://schemas.openxmlformats.org/officeDocument/2006/math">
                    <m:r>
                      <a:rPr lang="en-US" sz="2500" b="1" i="1" dirty="0" smtClean="0">
                        <a:latin typeface="Cambria Math"/>
                      </a:rPr>
                      <m:t>𝒒</m:t>
                    </m:r>
                  </m:oMath>
                </a14:m>
                <a:r>
                  <a:rPr lang="en-US" sz="2500" dirty="0"/>
                  <a:t>, namely, “</a:t>
                </a:r>
                <a14:m>
                  <m:oMath xmlns:m="http://schemas.openxmlformats.org/officeDocument/2006/math">
                    <m:r>
                      <a:rPr lang="en-US" sz="2500" b="1" i="1" dirty="0" smtClean="0">
                        <a:latin typeface="Cambria Math"/>
                      </a:rPr>
                      <m:t>(¬</m:t>
                    </m:r>
                    <m:r>
                      <a:rPr lang="en-US" sz="2500" b="1" i="1" dirty="0" smtClean="0">
                        <a:latin typeface="Cambria Math"/>
                      </a:rPr>
                      <m:t>𝒑</m:t>
                    </m:r>
                    <m:r>
                      <a:rPr lang="en-US" sz="2500" b="1" i="1" dirty="0" smtClean="0">
                        <a:latin typeface="Cambria Math"/>
                      </a:rPr>
                      <m:t>) ∧ </m:t>
                    </m:r>
                    <m:r>
                      <a:rPr lang="en-US" sz="2500" b="1" i="1" dirty="0" smtClean="0">
                        <a:latin typeface="Cambria Math"/>
                      </a:rPr>
                      <m:t>𝒒</m:t>
                    </m:r>
                  </m:oMath>
                </a14:m>
                <a:r>
                  <a:rPr lang="en-US" sz="2500" dirty="0"/>
                  <a:t>”, </a:t>
                </a:r>
                <a:r>
                  <a:rPr lang="en-US" sz="2500" b="1" dirty="0"/>
                  <a:t>NOT</a:t>
                </a:r>
                <a:r>
                  <a:rPr lang="en-US" sz="2500" dirty="0"/>
                  <a:t> the negation of the conjunction of       </a:t>
                </a:r>
                <a14:m>
                  <m:oMath xmlns:m="http://schemas.openxmlformats.org/officeDocument/2006/math">
                    <m:r>
                      <a:rPr lang="en-US" sz="2500" b="1" i="1" dirty="0" smtClean="0">
                        <a:latin typeface="Cambria Math"/>
                      </a:rPr>
                      <m:t>𝒑</m:t>
                    </m:r>
                  </m:oMath>
                </a14:m>
                <a:r>
                  <a:rPr lang="en-US" sz="2500" dirty="0"/>
                  <a:t> and</a:t>
                </a:r>
                <a14:m>
                  <m:oMath xmlns:m="http://schemas.openxmlformats.org/officeDocument/2006/math">
                    <m:r>
                      <a:rPr lang="en-US" sz="2500" b="1" i="1" dirty="0" smtClean="0">
                        <a:latin typeface="Cambria Math"/>
                      </a:rPr>
                      <m:t> </m:t>
                    </m:r>
                    <m:r>
                      <a:rPr lang="en-US" sz="2500" b="1" i="1" dirty="0" smtClean="0">
                        <a:latin typeface="Cambria Math"/>
                      </a:rPr>
                      <m:t>𝒒</m:t>
                    </m:r>
                  </m:oMath>
                </a14:m>
                <a:r>
                  <a:rPr lang="en-US" sz="2500" dirty="0"/>
                  <a:t>, namely “</a:t>
                </a:r>
                <a14:m>
                  <m:oMath xmlns:m="http://schemas.openxmlformats.org/officeDocument/2006/math">
                    <m:r>
                      <a:rPr lang="en-US" sz="2500" b="1" i="1" dirty="0" smtClean="0">
                        <a:latin typeface="Cambria Math"/>
                      </a:rPr>
                      <m:t>¬(</m:t>
                    </m:r>
                    <m:r>
                      <a:rPr lang="en-US" sz="2500" b="1" i="1" dirty="0" smtClean="0">
                        <a:latin typeface="Cambria Math"/>
                      </a:rPr>
                      <m:t>𝒑</m:t>
                    </m:r>
                    <m:r>
                      <a:rPr lang="en-US" sz="2500" b="1" i="1" dirty="0" smtClean="0">
                        <a:latin typeface="Cambria Math"/>
                      </a:rPr>
                      <m:t> ∧ </m:t>
                    </m:r>
                    <m:r>
                      <a:rPr lang="en-US" sz="2500" b="1" i="1" dirty="0" smtClean="0">
                        <a:latin typeface="Cambria Math"/>
                      </a:rPr>
                      <m:t>𝒒</m:t>
                    </m:r>
                    <m:r>
                      <a:rPr lang="en-US" sz="2500" b="1" i="1" dirty="0" smtClean="0">
                        <a:latin typeface="Cambria Math"/>
                      </a:rPr>
                      <m:t>)</m:t>
                    </m:r>
                  </m:oMath>
                </a14:m>
                <a:r>
                  <a:rPr lang="en-US" dirty="0"/>
                  <a:t>”.</a:t>
                </a:r>
              </a:p>
              <a:p>
                <a:pPr lvl="1"/>
                <a:r>
                  <a:rPr lang="en-US" dirty="0"/>
                  <a:t>“</a:t>
                </a:r>
                <a14:m>
                  <m:oMath xmlns:m="http://schemas.openxmlformats.org/officeDocument/2006/math">
                    <m:r>
                      <a:rPr lang="en-US" b="1" i="1" dirty="0" smtClean="0">
                        <a:latin typeface="Cambria Math"/>
                      </a:rPr>
                      <m:t>𝒑</m:t>
                    </m:r>
                    <m:r>
                      <a:rPr lang="en-US" b="1" i="1" dirty="0" smtClean="0">
                        <a:latin typeface="Cambria Math"/>
                      </a:rPr>
                      <m:t> ∧ </m:t>
                    </m:r>
                    <m:r>
                      <a:rPr lang="en-US" b="1" i="1" dirty="0">
                        <a:latin typeface="Cambria Math"/>
                      </a:rPr>
                      <m:t>𝒒</m:t>
                    </m:r>
                    <m:r>
                      <a:rPr lang="en-US" b="1" i="1" dirty="0">
                        <a:latin typeface="Cambria Math"/>
                      </a:rPr>
                      <m:t> ∨ </m:t>
                    </m:r>
                    <m:r>
                      <a:rPr lang="en-US" b="1" i="1" dirty="0" smtClean="0">
                        <a:latin typeface="Cambria Math"/>
                      </a:rPr>
                      <m:t>𝒓</m:t>
                    </m:r>
                  </m:oMath>
                </a14:m>
                <a:r>
                  <a:rPr lang="en-US" dirty="0"/>
                  <a:t>” means “</a:t>
                </a:r>
                <a14:m>
                  <m:oMath xmlns:m="http://schemas.openxmlformats.org/officeDocument/2006/math">
                    <m:r>
                      <a:rPr lang="en-US" b="1" i="1" dirty="0" smtClean="0">
                        <a:latin typeface="Cambria Math"/>
                      </a:rPr>
                      <m:t>(</m:t>
                    </m:r>
                    <m:r>
                      <a:rPr lang="en-US" b="1" i="1" dirty="0">
                        <a:latin typeface="Cambria Math"/>
                      </a:rPr>
                      <m:t>𝒑</m:t>
                    </m:r>
                    <m:r>
                      <a:rPr lang="en-US" b="1" i="1" dirty="0">
                        <a:latin typeface="Cambria Math"/>
                      </a:rPr>
                      <m:t> ∧ </m:t>
                    </m:r>
                    <m:r>
                      <a:rPr lang="en-US" b="1" i="1" dirty="0">
                        <a:latin typeface="Cambria Math"/>
                      </a:rPr>
                      <m:t>𝒒</m:t>
                    </m:r>
                    <m:r>
                      <a:rPr lang="en-US" b="1" i="1" dirty="0">
                        <a:latin typeface="Cambria Math"/>
                      </a:rPr>
                      <m:t>) ∨ </m:t>
                    </m:r>
                    <m:r>
                      <a:rPr lang="en-US" b="1" i="1" dirty="0" smtClean="0">
                        <a:latin typeface="Cambria Math"/>
                      </a:rPr>
                      <m:t>𝒓</m:t>
                    </m:r>
                  </m:oMath>
                </a14:m>
                <a:r>
                  <a:rPr lang="en-US" dirty="0"/>
                  <a:t>”  and </a:t>
                </a:r>
                <a:r>
                  <a:rPr lang="en-US" b="1" dirty="0"/>
                  <a:t>NOT 		  </a:t>
                </a:r>
                <a:r>
                  <a:rPr lang="en-US" dirty="0"/>
                  <a:t>“</a:t>
                </a:r>
                <a14:m>
                  <m:oMath xmlns:m="http://schemas.openxmlformats.org/officeDocument/2006/math">
                    <m:r>
                      <a:rPr lang="en-US" b="1" i="1" dirty="0" smtClean="0">
                        <a:latin typeface="Cambria Math"/>
                      </a:rPr>
                      <m:t>𝒑</m:t>
                    </m:r>
                    <m:r>
                      <a:rPr lang="en-US" b="1" i="1" dirty="0" smtClean="0">
                        <a:latin typeface="Cambria Math"/>
                      </a:rPr>
                      <m:t> ∧ (</m:t>
                    </m:r>
                    <m:r>
                      <a:rPr lang="en-US" b="1" i="1" dirty="0">
                        <a:latin typeface="Cambria Math"/>
                      </a:rPr>
                      <m:t>𝒒</m:t>
                    </m:r>
                    <m:r>
                      <a:rPr lang="en-US" b="1" i="1" dirty="0">
                        <a:latin typeface="Cambria Math"/>
                      </a:rPr>
                      <m:t> ∨ </m:t>
                    </m:r>
                    <m:r>
                      <a:rPr lang="en-US" b="1" i="1" dirty="0">
                        <a:latin typeface="Cambria Math"/>
                      </a:rPr>
                      <m:t>𝒓</m:t>
                    </m:r>
                    <m:r>
                      <a:rPr lang="en-US" b="1" i="1" dirty="0" smtClean="0">
                        <a:latin typeface="Cambria Math"/>
                      </a:rPr>
                      <m:t>)</m:t>
                    </m:r>
                  </m:oMath>
                </a14:m>
                <a:r>
                  <a:rPr lang="en-US" dirty="0"/>
                  <a:t>”. </a:t>
                </a:r>
              </a:p>
              <a:p>
                <a:pPr lvl="1"/>
                <a:r>
                  <a:rPr lang="en-US" dirty="0"/>
                  <a:t>“</a:t>
                </a:r>
                <a14:m>
                  <m:oMath xmlns:m="http://schemas.openxmlformats.org/officeDocument/2006/math">
                    <m:r>
                      <a:rPr lang="en-US" b="1" i="1" dirty="0" smtClean="0">
                        <a:latin typeface="Cambria Math"/>
                      </a:rPr>
                      <m:t>𝒑</m:t>
                    </m:r>
                    <m:r>
                      <a:rPr lang="en-US" b="1" i="1" dirty="0" smtClean="0">
                        <a:latin typeface="Cambria Math"/>
                      </a:rPr>
                      <m:t> ∨ </m:t>
                    </m:r>
                    <m:r>
                      <a:rPr lang="en-US" b="1" i="1" dirty="0">
                        <a:latin typeface="Cambria Math"/>
                      </a:rPr>
                      <m:t>𝒒</m:t>
                    </m:r>
                    <m:r>
                      <a:rPr lang="en-US" b="1" i="1" dirty="0">
                        <a:latin typeface="Cambria Math"/>
                      </a:rPr>
                      <m:t> → </m:t>
                    </m:r>
                    <m:r>
                      <a:rPr lang="en-US" b="1" i="1" dirty="0" smtClean="0">
                        <a:latin typeface="Cambria Math"/>
                      </a:rPr>
                      <m:t>𝒓</m:t>
                    </m:r>
                  </m:oMath>
                </a14:m>
                <a:r>
                  <a:rPr lang="en-US" dirty="0"/>
                  <a:t>” is the same as “</a:t>
                </a:r>
                <a14:m>
                  <m:oMath xmlns:m="http://schemas.openxmlformats.org/officeDocument/2006/math">
                    <m:r>
                      <a:rPr lang="en-US" b="1" i="1" dirty="0" smtClean="0">
                        <a:latin typeface="Cambria Math"/>
                      </a:rPr>
                      <m:t>(</m:t>
                    </m:r>
                    <m:r>
                      <a:rPr lang="en-US" b="1" i="1" dirty="0">
                        <a:latin typeface="Cambria Math"/>
                      </a:rPr>
                      <m:t>𝒑</m:t>
                    </m:r>
                    <m:r>
                      <a:rPr lang="en-US" b="1" i="1" dirty="0">
                        <a:latin typeface="Cambria Math"/>
                      </a:rPr>
                      <m:t> ∨ </m:t>
                    </m:r>
                    <m:r>
                      <a:rPr lang="en-US" b="1" i="1" dirty="0">
                        <a:latin typeface="Cambria Math"/>
                      </a:rPr>
                      <m:t>𝒒</m:t>
                    </m:r>
                    <m:r>
                      <a:rPr lang="en-US" b="1" i="1" dirty="0">
                        <a:latin typeface="Cambria Math"/>
                      </a:rPr>
                      <m:t>) → </m:t>
                    </m:r>
                    <m:r>
                      <a:rPr lang="en-US" b="1" i="1" dirty="0" smtClean="0">
                        <a:latin typeface="Cambria Math"/>
                      </a:rPr>
                      <m:t>𝒓</m:t>
                    </m:r>
                  </m:oMath>
                </a14:m>
                <a:r>
                  <a:rPr lang="en-US" dirty="0"/>
                  <a:t>”.</a:t>
                </a: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593" t="-1111" r="-2519"/>
                </a:stretch>
              </a:blipFill>
            </p:spPr>
            <p:txBody>
              <a:bodyPr/>
              <a:lstStyle/>
              <a:p>
                <a:r>
                  <a:rPr lang="en-US">
                    <a:noFill/>
                  </a:rPr>
                  <a:t> </a:t>
                </a:r>
              </a:p>
            </p:txBody>
          </p:sp>
        </mc:Fallback>
      </mc:AlternateContent>
    </p:spTree>
    <p:extLst>
      <p:ext uri="{BB962C8B-B14F-4D97-AF65-F5344CB8AC3E}">
        <p14:creationId xmlns:p14="http://schemas.microsoft.com/office/powerpoint/2010/main" val="1705726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and Bit Operations</a:t>
            </a:r>
            <a:endParaRPr lang="en-US" dirty="0"/>
          </a:p>
        </p:txBody>
      </p:sp>
      <p:sp>
        <p:nvSpPr>
          <p:cNvPr id="3" name="Content Placeholder 2"/>
          <p:cNvSpPr>
            <a:spLocks noGrp="1"/>
          </p:cNvSpPr>
          <p:nvPr>
            <p:ph sz="quarter" idx="1"/>
          </p:nvPr>
        </p:nvSpPr>
        <p:spPr/>
        <p:txBody>
          <a:bodyPr/>
          <a:lstStyle/>
          <a:p>
            <a:r>
              <a:rPr lang="en-US" dirty="0"/>
              <a:t>A bit is a symbol with two possible values,</a:t>
            </a:r>
          </a:p>
          <a:p>
            <a:pPr lvl="1"/>
            <a:r>
              <a:rPr lang="en-US" dirty="0"/>
              <a:t>0 (zero)</a:t>
            </a:r>
          </a:p>
          <a:p>
            <a:pPr lvl="1"/>
            <a:r>
              <a:rPr lang="en-US" dirty="0"/>
              <a:t>1 (one)</a:t>
            </a:r>
          </a:p>
          <a:p>
            <a:r>
              <a:rPr lang="en-US" dirty="0"/>
              <a:t>A bit can be used to represent a truth value, because there are two truth values, </a:t>
            </a:r>
          </a:p>
          <a:p>
            <a:pPr lvl="1"/>
            <a:r>
              <a:rPr lang="en-US" dirty="0"/>
              <a:t>True (T)</a:t>
            </a:r>
          </a:p>
          <a:p>
            <a:pPr lvl="1"/>
            <a:r>
              <a:rPr lang="en-US" dirty="0"/>
              <a:t>False (F)</a:t>
            </a:r>
          </a:p>
          <a:p>
            <a:r>
              <a:rPr lang="en-US" dirty="0"/>
              <a:t>1 (one) represents T (true).</a:t>
            </a:r>
          </a:p>
          <a:p>
            <a:r>
              <a:rPr lang="en-US" dirty="0"/>
              <a:t>0 (zero) represents F (false).</a:t>
            </a:r>
          </a:p>
        </p:txBody>
      </p:sp>
    </p:spTree>
    <p:extLst>
      <p:ext uri="{BB962C8B-B14F-4D97-AF65-F5344CB8AC3E}">
        <p14:creationId xmlns:p14="http://schemas.microsoft.com/office/powerpoint/2010/main" val="129189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and Bit Operations(Contd.)</a:t>
            </a:r>
            <a:endParaRPr lang="en-US" dirty="0"/>
          </a:p>
        </p:txBody>
      </p:sp>
      <p:sp>
        <p:nvSpPr>
          <p:cNvPr id="3" name="Content Placeholder 2"/>
          <p:cNvSpPr>
            <a:spLocks noGrp="1"/>
          </p:cNvSpPr>
          <p:nvPr>
            <p:ph sz="quarter" idx="1"/>
          </p:nvPr>
        </p:nvSpPr>
        <p:spPr/>
        <p:txBody>
          <a:bodyPr/>
          <a:lstStyle/>
          <a:p>
            <a:r>
              <a:rPr lang="en-GB" dirty="0"/>
              <a:t>Logical operations using 1s (Ones) and 0s (Zeros)</a:t>
            </a:r>
          </a:p>
          <a:p>
            <a:pPr marL="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555790406"/>
                  </p:ext>
                </p:extLst>
              </p:nvPr>
            </p:nvGraphicFramePr>
            <p:xfrm>
              <a:off x="2146461" y="2204864"/>
              <a:ext cx="4729795" cy="1854200"/>
            </p:xfrm>
            <a:graphic>
              <a:graphicData uri="http://schemas.openxmlformats.org/drawingml/2006/table">
                <a:tbl>
                  <a:tblPr firstRow="1">
                    <a:tableStyleId>{ED083AE6-46FA-4A59-8FB0-9F97EB10719F}</a:tableStyleId>
                  </a:tblPr>
                  <a:tblGrid>
                    <a:gridCol w="387667">
                      <a:extLst>
                        <a:ext uri="{9D8B030D-6E8A-4147-A177-3AD203B41FA5}">
                          <a16:colId xmlns:a16="http://schemas.microsoft.com/office/drawing/2014/main" val="20000"/>
                        </a:ext>
                      </a:extLst>
                    </a:gridCol>
                    <a:gridCol w="384493">
                      <a:extLst>
                        <a:ext uri="{9D8B030D-6E8A-4147-A177-3AD203B41FA5}">
                          <a16:colId xmlns:a16="http://schemas.microsoft.com/office/drawing/2014/main" val="20001"/>
                        </a:ext>
                      </a:extLst>
                    </a:gridCol>
                    <a:gridCol w="762317">
                      <a:extLst>
                        <a:ext uri="{9D8B030D-6E8A-4147-A177-3AD203B41FA5}">
                          <a16:colId xmlns:a16="http://schemas.microsoft.com/office/drawing/2014/main" val="20002"/>
                        </a:ext>
                      </a:extLst>
                    </a:gridCol>
                    <a:gridCol w="762317">
                      <a:extLst>
                        <a:ext uri="{9D8B030D-6E8A-4147-A177-3AD203B41FA5}">
                          <a16:colId xmlns:a16="http://schemas.microsoft.com/office/drawing/2014/main" val="20003"/>
                        </a:ext>
                      </a:extLst>
                    </a:gridCol>
                    <a:gridCol w="724217">
                      <a:extLst>
                        <a:ext uri="{9D8B030D-6E8A-4147-A177-3AD203B41FA5}">
                          <a16:colId xmlns:a16="http://schemas.microsoft.com/office/drawing/2014/main" val="20004"/>
                        </a:ext>
                      </a:extLst>
                    </a:gridCol>
                    <a:gridCol w="844867">
                      <a:extLst>
                        <a:ext uri="{9D8B030D-6E8A-4147-A177-3AD203B41FA5}">
                          <a16:colId xmlns:a16="http://schemas.microsoft.com/office/drawing/2014/main" val="20005"/>
                        </a:ext>
                      </a:extLst>
                    </a:gridCol>
                    <a:gridCol w="863917">
                      <a:extLst>
                        <a:ext uri="{9D8B030D-6E8A-4147-A177-3AD203B41FA5}">
                          <a16:colId xmlns:a16="http://schemas.microsoft.com/office/drawing/2014/main" val="20006"/>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rPr>
                                  <m:t>𝒑</m:t>
                                </m:r>
                                <m:r>
                                  <a:rPr lang="en-GB" b="1"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GB" b="1" i="1" smtClean="0">
                                    <a:latin typeface="Cambria Math"/>
                                    <a:ea typeface="Cambria Math"/>
                                  </a:rPr>
                                  <m:t>𝒑</m:t>
                                </m:r>
                                <m:r>
                                  <a:rPr lang="en-US" i="1" smtClean="0">
                                    <a:latin typeface="Cambria Math"/>
                                    <a:ea typeface="Cambria Math"/>
                                  </a:rPr>
                                  <m:t>↔</m:t>
                                </m:r>
                                <m:r>
                                  <a:rPr lang="en-GB" b="1" i="1" smtClean="0">
                                    <a:latin typeface="Cambria Math"/>
                                    <a:ea typeface="Cambria Math"/>
                                  </a:rPr>
                                  <m:t>𝒒</m:t>
                                </m:r>
                              </m:oMath>
                            </m:oMathPara>
                          </a14:m>
                          <a:endParaRPr lang="en-US" dirty="0"/>
                        </a:p>
                      </a:txBody>
                      <a:tcPr>
                        <a:solidFill>
                          <a:schemeClr val="accent4">
                            <a:lumMod val="20000"/>
                            <a:lumOff val="80000"/>
                          </a:schemeClr>
                        </a:solidFill>
                      </a:tcPr>
                    </a:tc>
                    <a:extLst>
                      <a:ext uri="{0D108BD9-81ED-4DB2-BD59-A6C34878D82A}">
                        <a16:rowId xmlns:a16="http://schemas.microsoft.com/office/drawing/2014/main" val="10000"/>
                      </a:ext>
                    </a:extLst>
                  </a:tr>
                  <a:tr h="370840">
                    <a:tc>
                      <a:txBody>
                        <a:bodyPr/>
                        <a:lstStyle/>
                        <a:p>
                          <a:pPr algn="ctr"/>
                          <a:r>
                            <a:rPr lang="en-GB" dirty="0"/>
                            <a:t>0</a:t>
                          </a:r>
                          <a:endParaRPr lang="en-US" dirty="0"/>
                        </a:p>
                      </a:txBody>
                      <a:tcPr/>
                    </a:tc>
                    <a:tc>
                      <a:txBody>
                        <a:bodyPr/>
                        <a:lstStyle/>
                        <a:p>
                          <a:pPr algn="ctr"/>
                          <a:r>
                            <a:rPr lang="en-GB" dirty="0"/>
                            <a:t>0</a:t>
                          </a:r>
                          <a:endParaRPr lang="en-US" dirty="0"/>
                        </a:p>
                      </a:txBody>
                      <a:tcPr/>
                    </a:tc>
                    <a:tc>
                      <a:txBody>
                        <a:bodyPr/>
                        <a:lstStyle/>
                        <a:p>
                          <a:pPr algn="ctr"/>
                          <a:r>
                            <a:rPr lang="en-GB" dirty="0"/>
                            <a:t>0</a:t>
                          </a:r>
                          <a:endParaRPr lang="en-US" dirty="0"/>
                        </a:p>
                      </a:txBody>
                      <a:tcPr/>
                    </a:tc>
                    <a:tc>
                      <a:txBody>
                        <a:bodyPr/>
                        <a:lstStyle/>
                        <a:p>
                          <a:pPr algn="ctr"/>
                          <a:r>
                            <a:rPr lang="en-GB" dirty="0"/>
                            <a:t>0</a:t>
                          </a: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1</a:t>
                          </a:r>
                          <a:endParaRPr lang="en-US" dirty="0"/>
                        </a:p>
                      </a:txBody>
                      <a:tcPr/>
                    </a:tc>
                    <a:extLst>
                      <a:ext uri="{0D108BD9-81ED-4DB2-BD59-A6C34878D82A}">
                        <a16:rowId xmlns:a16="http://schemas.microsoft.com/office/drawing/2014/main" val="10001"/>
                      </a:ext>
                    </a:extLst>
                  </a:tr>
                  <a:tr h="370840">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1</a:t>
                          </a: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1</a:t>
                          </a:r>
                          <a:endParaRPr lang="en-US" dirty="0"/>
                        </a:p>
                      </a:txBody>
                      <a:tcPr/>
                    </a:tc>
                    <a:tc>
                      <a:txBody>
                        <a:bodyPr/>
                        <a:lstStyle/>
                        <a:p>
                          <a:pPr algn="ctr"/>
                          <a:r>
                            <a:rPr lang="en-GB" dirty="0"/>
                            <a:t>0</a:t>
                          </a:r>
                          <a:endParaRPr lang="en-US" dirty="0"/>
                        </a:p>
                      </a:txBody>
                      <a:tcPr/>
                    </a:tc>
                    <a:extLst>
                      <a:ext uri="{0D108BD9-81ED-4DB2-BD59-A6C34878D82A}">
                        <a16:rowId xmlns:a16="http://schemas.microsoft.com/office/drawing/2014/main" val="10002"/>
                      </a:ext>
                    </a:extLst>
                  </a:tr>
                  <a:tr h="370840">
                    <a:tc>
                      <a:txBody>
                        <a:bodyPr/>
                        <a:lstStyle/>
                        <a:p>
                          <a:pPr algn="ctr"/>
                          <a:r>
                            <a:rPr lang="en-GB" dirty="0"/>
                            <a:t>1</a:t>
                          </a: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0</a:t>
                          </a:r>
                          <a:endParaRPr lang="en-US" dirty="0"/>
                        </a:p>
                      </a:txBody>
                      <a:tcPr/>
                    </a:tc>
                    <a:tc>
                      <a:txBody>
                        <a:bodyPr/>
                        <a:lstStyle/>
                        <a:p>
                          <a:pPr algn="ctr"/>
                          <a:r>
                            <a:rPr lang="en-GB" dirty="0"/>
                            <a:t>0</a:t>
                          </a:r>
                          <a:endParaRPr lang="en-US" dirty="0"/>
                        </a:p>
                      </a:txBody>
                      <a:tcPr/>
                    </a:tc>
                    <a:extLst>
                      <a:ext uri="{0D108BD9-81ED-4DB2-BD59-A6C34878D82A}">
                        <a16:rowId xmlns:a16="http://schemas.microsoft.com/office/drawing/2014/main" val="10003"/>
                      </a:ext>
                    </a:extLst>
                  </a:tr>
                  <a:tr h="370840">
                    <a:tc>
                      <a:txBody>
                        <a:bodyPr/>
                        <a:lstStyle/>
                        <a:p>
                          <a:pPr algn="ctr"/>
                          <a:r>
                            <a:rPr lang="en-GB" dirty="0"/>
                            <a:t>1</a:t>
                          </a:r>
                          <a:endParaRPr lang="en-US" dirty="0"/>
                        </a:p>
                      </a:txBody>
                      <a:tcPr/>
                    </a:tc>
                    <a:tc>
                      <a:txBody>
                        <a:bodyPr/>
                        <a:lstStyle/>
                        <a:p>
                          <a:pPr algn="ctr"/>
                          <a:r>
                            <a:rPr lang="en-GB" dirty="0"/>
                            <a:t>1</a:t>
                          </a:r>
                          <a:endParaRPr lang="en-US" dirty="0"/>
                        </a:p>
                      </a:txBody>
                      <a:tcPr/>
                    </a:tc>
                    <a:tc>
                      <a:txBody>
                        <a:bodyPr/>
                        <a:lstStyle/>
                        <a:p>
                          <a:pPr algn="ctr"/>
                          <a:r>
                            <a:rPr lang="en-GB" dirty="0"/>
                            <a:t>1</a:t>
                          </a:r>
                          <a:endParaRPr lang="en-US" dirty="0"/>
                        </a:p>
                      </a:txBody>
                      <a:tcPr/>
                    </a:tc>
                    <a:tc>
                      <a:txBody>
                        <a:bodyPr/>
                        <a:lstStyle/>
                        <a:p>
                          <a:pPr algn="ctr"/>
                          <a:r>
                            <a:rPr lang="en-GB" dirty="0"/>
                            <a:t>1</a:t>
                          </a:r>
                          <a:endParaRPr lang="en-US" dirty="0"/>
                        </a:p>
                      </a:txBody>
                      <a:tcPr/>
                    </a:tc>
                    <a:tc>
                      <a:txBody>
                        <a:bodyPr/>
                        <a:lstStyle/>
                        <a:p>
                          <a:pPr algn="ctr"/>
                          <a:r>
                            <a:rPr lang="en-GB" dirty="0"/>
                            <a:t>0</a:t>
                          </a:r>
                          <a:endParaRPr lang="en-US" dirty="0"/>
                        </a:p>
                      </a:txBody>
                      <a:tcPr/>
                    </a:tc>
                    <a:tc>
                      <a:txBody>
                        <a:bodyPr/>
                        <a:lstStyle/>
                        <a:p>
                          <a:pPr algn="ctr"/>
                          <a:r>
                            <a:rPr lang="en-GB" dirty="0"/>
                            <a:t>1</a:t>
                          </a:r>
                          <a:endParaRPr lang="en-US" dirty="0"/>
                        </a:p>
                      </a:txBody>
                      <a:tcPr/>
                    </a:tc>
                    <a:tc>
                      <a:txBody>
                        <a:bodyPr/>
                        <a:lstStyle/>
                        <a:p>
                          <a:pPr algn="ctr"/>
                          <a:r>
                            <a:rPr lang="en-GB" dirty="0"/>
                            <a:t>1</a:t>
                          </a:r>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555790406"/>
                  </p:ext>
                </p:extLst>
              </p:nvPr>
            </p:nvGraphicFramePr>
            <p:xfrm>
              <a:off x="2146461" y="2204864"/>
              <a:ext cx="4729795" cy="1854200"/>
            </p:xfrm>
            <a:graphic>
              <a:graphicData uri="http://schemas.openxmlformats.org/drawingml/2006/table">
                <a:tbl>
                  <a:tblPr firstRow="1">
                    <a:tableStyleId>{ED083AE6-46FA-4A59-8FB0-9F97EB10719F}</a:tableStyleId>
                  </a:tblPr>
                  <a:tblGrid>
                    <a:gridCol w="387667"/>
                    <a:gridCol w="384493"/>
                    <a:gridCol w="762317"/>
                    <a:gridCol w="762317"/>
                    <a:gridCol w="724217"/>
                    <a:gridCol w="844867"/>
                    <a:gridCol w="863917"/>
                  </a:tblGrid>
                  <a:tr h="370840">
                    <a:tc>
                      <a:txBody>
                        <a:bodyPr/>
                        <a:lstStyle/>
                        <a:p>
                          <a:endParaRPr lang="en-US"/>
                        </a:p>
                      </a:txBody>
                      <a:tcPr>
                        <a:blipFill rotWithShape="1">
                          <a:blip r:embed="rId2"/>
                          <a:stretch>
                            <a:fillRect t="-8197" r="-1112500" b="-422951"/>
                          </a:stretch>
                        </a:blipFill>
                      </a:tcPr>
                    </a:tc>
                    <a:tc>
                      <a:txBody>
                        <a:bodyPr/>
                        <a:lstStyle/>
                        <a:p>
                          <a:endParaRPr lang="en-US"/>
                        </a:p>
                      </a:txBody>
                      <a:tcPr>
                        <a:blipFill rotWithShape="1">
                          <a:blip r:embed="rId2"/>
                          <a:stretch>
                            <a:fillRect l="-101587" t="-8197" r="-1030159" b="-422951"/>
                          </a:stretch>
                        </a:blipFill>
                      </a:tcPr>
                    </a:tc>
                    <a:tc>
                      <a:txBody>
                        <a:bodyPr/>
                        <a:lstStyle/>
                        <a:p>
                          <a:endParaRPr lang="en-US"/>
                        </a:p>
                      </a:txBody>
                      <a:tcPr>
                        <a:blipFill rotWithShape="1">
                          <a:blip r:embed="rId2"/>
                          <a:stretch>
                            <a:fillRect l="-101600" t="-8197" r="-419200" b="-422951"/>
                          </a:stretch>
                        </a:blipFill>
                      </a:tcPr>
                    </a:tc>
                    <a:tc>
                      <a:txBody>
                        <a:bodyPr/>
                        <a:lstStyle/>
                        <a:p>
                          <a:endParaRPr lang="en-US"/>
                        </a:p>
                      </a:txBody>
                      <a:tcPr>
                        <a:blipFill rotWithShape="1">
                          <a:blip r:embed="rId2"/>
                          <a:stretch>
                            <a:fillRect l="-201600" t="-8197" r="-319200" b="-422951"/>
                          </a:stretch>
                        </a:blipFill>
                      </a:tcPr>
                    </a:tc>
                    <a:tc>
                      <a:txBody>
                        <a:bodyPr/>
                        <a:lstStyle/>
                        <a:p>
                          <a:endParaRPr lang="en-US"/>
                        </a:p>
                      </a:txBody>
                      <a:tcPr>
                        <a:blipFill rotWithShape="1">
                          <a:blip r:embed="rId2"/>
                          <a:stretch>
                            <a:fillRect l="-316807" t="-8197" r="-235294" b="-422951"/>
                          </a:stretch>
                        </a:blipFill>
                      </a:tcPr>
                    </a:tc>
                    <a:tc>
                      <a:txBody>
                        <a:bodyPr/>
                        <a:lstStyle/>
                        <a:p>
                          <a:endParaRPr lang="en-US"/>
                        </a:p>
                      </a:txBody>
                      <a:tcPr>
                        <a:blipFill rotWithShape="1">
                          <a:blip r:embed="rId2"/>
                          <a:stretch>
                            <a:fillRect l="-359420" t="-8197" r="-102899" b="-422951"/>
                          </a:stretch>
                        </a:blipFill>
                      </a:tcPr>
                    </a:tc>
                    <a:tc>
                      <a:txBody>
                        <a:bodyPr/>
                        <a:lstStyle/>
                        <a:p>
                          <a:endParaRPr lang="en-US"/>
                        </a:p>
                      </a:txBody>
                      <a:tcPr>
                        <a:blipFill rotWithShape="1">
                          <a:blip r:embed="rId2"/>
                          <a:stretch>
                            <a:fillRect l="-446479" t="-8197" b="-422951"/>
                          </a:stretch>
                        </a:blipFill>
                      </a:tcPr>
                    </a:tc>
                  </a:tr>
                  <a:tr h="370840">
                    <a:tc>
                      <a:txBody>
                        <a:bodyPr/>
                        <a:lstStyle/>
                        <a:p>
                          <a:pPr algn="ctr"/>
                          <a:r>
                            <a:rPr lang="en-GB" dirty="0" smtClean="0"/>
                            <a:t>0</a:t>
                          </a:r>
                          <a:endParaRPr lang="en-US" dirty="0"/>
                        </a:p>
                      </a:txBody>
                      <a:tcPr/>
                    </a:tc>
                    <a:tc>
                      <a:txBody>
                        <a:bodyPr/>
                        <a:lstStyle/>
                        <a:p>
                          <a:pPr algn="ctr"/>
                          <a:r>
                            <a:rPr lang="en-GB" dirty="0" smtClean="0"/>
                            <a:t>0</a:t>
                          </a:r>
                          <a:endParaRPr lang="en-US" dirty="0"/>
                        </a:p>
                      </a:txBody>
                      <a:tcPr/>
                    </a:tc>
                    <a:tc>
                      <a:txBody>
                        <a:bodyPr/>
                        <a:lstStyle/>
                        <a:p>
                          <a:pPr algn="ctr"/>
                          <a:r>
                            <a:rPr lang="en-GB" dirty="0" smtClean="0"/>
                            <a:t>0</a:t>
                          </a:r>
                          <a:endParaRPr lang="en-US" dirty="0"/>
                        </a:p>
                      </a:txBody>
                      <a:tcPr/>
                    </a:tc>
                    <a:tc>
                      <a:txBody>
                        <a:bodyPr/>
                        <a:lstStyle/>
                        <a:p>
                          <a:pPr algn="ctr"/>
                          <a:r>
                            <a:rPr lang="en-GB" dirty="0" smtClean="0"/>
                            <a:t>0</a:t>
                          </a:r>
                          <a:endParaRPr lang="en-US" dirty="0"/>
                        </a:p>
                      </a:txBody>
                      <a:tcPr/>
                    </a:tc>
                    <a:tc>
                      <a:txBody>
                        <a:bodyPr/>
                        <a:lstStyle/>
                        <a:p>
                          <a:pPr algn="ctr"/>
                          <a:r>
                            <a:rPr lang="en-GB" dirty="0" smtClean="0"/>
                            <a:t>0</a:t>
                          </a:r>
                          <a:endParaRPr lang="en-US" dirty="0"/>
                        </a:p>
                      </a:txBody>
                      <a:tcPr/>
                    </a:tc>
                    <a:tc>
                      <a:txBody>
                        <a:bodyPr/>
                        <a:lstStyle/>
                        <a:p>
                          <a:pPr algn="ctr"/>
                          <a:r>
                            <a:rPr lang="en-GB" dirty="0" smtClean="0"/>
                            <a:t>1</a:t>
                          </a:r>
                          <a:endParaRPr lang="en-US" dirty="0"/>
                        </a:p>
                      </a:txBody>
                      <a:tcPr/>
                    </a:tc>
                    <a:tc>
                      <a:txBody>
                        <a:bodyPr/>
                        <a:lstStyle/>
                        <a:p>
                          <a:pPr algn="ctr"/>
                          <a:r>
                            <a:rPr lang="en-GB" dirty="0" smtClean="0"/>
                            <a:t>1</a:t>
                          </a:r>
                          <a:endParaRPr lang="en-US" dirty="0"/>
                        </a:p>
                      </a:txBody>
                      <a:tcPr/>
                    </a:tc>
                  </a:tr>
                  <a:tr h="370840">
                    <a:tc>
                      <a:txBody>
                        <a:bodyPr/>
                        <a:lstStyle/>
                        <a:p>
                          <a:pPr algn="ctr"/>
                          <a:r>
                            <a:rPr lang="en-GB" dirty="0" smtClean="0"/>
                            <a:t>0</a:t>
                          </a:r>
                          <a:endParaRPr lang="en-US" dirty="0"/>
                        </a:p>
                      </a:txBody>
                      <a:tcPr/>
                    </a:tc>
                    <a:tc>
                      <a:txBody>
                        <a:bodyPr/>
                        <a:lstStyle/>
                        <a:p>
                          <a:pPr algn="ctr"/>
                          <a:r>
                            <a:rPr lang="en-GB" dirty="0" smtClean="0"/>
                            <a:t>1</a:t>
                          </a:r>
                          <a:endParaRPr lang="en-US" dirty="0"/>
                        </a:p>
                      </a:txBody>
                      <a:tcPr/>
                    </a:tc>
                    <a:tc>
                      <a:txBody>
                        <a:bodyPr/>
                        <a:lstStyle/>
                        <a:p>
                          <a:pPr algn="ctr"/>
                          <a:r>
                            <a:rPr lang="en-GB" dirty="0" smtClean="0"/>
                            <a:t>1</a:t>
                          </a:r>
                          <a:endParaRPr lang="en-US" dirty="0"/>
                        </a:p>
                      </a:txBody>
                      <a:tcPr/>
                    </a:tc>
                    <a:tc>
                      <a:txBody>
                        <a:bodyPr/>
                        <a:lstStyle/>
                        <a:p>
                          <a:pPr algn="ctr"/>
                          <a:r>
                            <a:rPr lang="en-GB" dirty="0" smtClean="0"/>
                            <a:t>0</a:t>
                          </a:r>
                          <a:endParaRPr lang="en-US" dirty="0"/>
                        </a:p>
                      </a:txBody>
                      <a:tcPr/>
                    </a:tc>
                    <a:tc>
                      <a:txBody>
                        <a:bodyPr/>
                        <a:lstStyle/>
                        <a:p>
                          <a:pPr algn="ctr"/>
                          <a:r>
                            <a:rPr lang="en-GB" dirty="0" smtClean="0"/>
                            <a:t>1</a:t>
                          </a:r>
                          <a:endParaRPr lang="en-US" dirty="0"/>
                        </a:p>
                      </a:txBody>
                      <a:tcPr/>
                    </a:tc>
                    <a:tc>
                      <a:txBody>
                        <a:bodyPr/>
                        <a:lstStyle/>
                        <a:p>
                          <a:pPr algn="ctr"/>
                          <a:r>
                            <a:rPr lang="en-GB" dirty="0" smtClean="0"/>
                            <a:t>1</a:t>
                          </a:r>
                          <a:endParaRPr lang="en-US" dirty="0"/>
                        </a:p>
                      </a:txBody>
                      <a:tcPr/>
                    </a:tc>
                    <a:tc>
                      <a:txBody>
                        <a:bodyPr/>
                        <a:lstStyle/>
                        <a:p>
                          <a:pPr algn="ctr"/>
                          <a:r>
                            <a:rPr lang="en-GB" dirty="0" smtClean="0"/>
                            <a:t>0</a:t>
                          </a:r>
                          <a:endParaRPr lang="en-US" dirty="0"/>
                        </a:p>
                      </a:txBody>
                      <a:tcPr/>
                    </a:tc>
                  </a:tr>
                  <a:tr h="370840">
                    <a:tc>
                      <a:txBody>
                        <a:bodyPr/>
                        <a:lstStyle/>
                        <a:p>
                          <a:pPr algn="ctr"/>
                          <a:r>
                            <a:rPr lang="en-GB" dirty="0" smtClean="0"/>
                            <a:t>1</a:t>
                          </a:r>
                          <a:endParaRPr lang="en-US" dirty="0"/>
                        </a:p>
                      </a:txBody>
                      <a:tcPr/>
                    </a:tc>
                    <a:tc>
                      <a:txBody>
                        <a:bodyPr/>
                        <a:lstStyle/>
                        <a:p>
                          <a:pPr algn="ctr"/>
                          <a:r>
                            <a:rPr lang="en-GB" dirty="0" smtClean="0"/>
                            <a:t>0</a:t>
                          </a:r>
                          <a:endParaRPr lang="en-US" dirty="0"/>
                        </a:p>
                      </a:txBody>
                      <a:tcPr/>
                    </a:tc>
                    <a:tc>
                      <a:txBody>
                        <a:bodyPr/>
                        <a:lstStyle/>
                        <a:p>
                          <a:pPr algn="ctr"/>
                          <a:r>
                            <a:rPr lang="en-GB" dirty="0" smtClean="0"/>
                            <a:t>1</a:t>
                          </a:r>
                          <a:endParaRPr lang="en-US" dirty="0"/>
                        </a:p>
                      </a:txBody>
                      <a:tcPr/>
                    </a:tc>
                    <a:tc>
                      <a:txBody>
                        <a:bodyPr/>
                        <a:lstStyle/>
                        <a:p>
                          <a:pPr algn="ctr"/>
                          <a:r>
                            <a:rPr lang="en-GB" dirty="0" smtClean="0"/>
                            <a:t>0</a:t>
                          </a:r>
                          <a:endParaRPr lang="en-US" dirty="0"/>
                        </a:p>
                      </a:txBody>
                      <a:tcPr/>
                    </a:tc>
                    <a:tc>
                      <a:txBody>
                        <a:bodyPr/>
                        <a:lstStyle/>
                        <a:p>
                          <a:pPr algn="ctr"/>
                          <a:r>
                            <a:rPr lang="en-GB" dirty="0" smtClean="0"/>
                            <a:t>1</a:t>
                          </a:r>
                          <a:endParaRPr lang="en-US" dirty="0"/>
                        </a:p>
                      </a:txBody>
                      <a:tcPr/>
                    </a:tc>
                    <a:tc>
                      <a:txBody>
                        <a:bodyPr/>
                        <a:lstStyle/>
                        <a:p>
                          <a:pPr algn="ctr"/>
                          <a:r>
                            <a:rPr lang="en-GB" dirty="0" smtClean="0"/>
                            <a:t>0</a:t>
                          </a:r>
                          <a:endParaRPr lang="en-US" dirty="0"/>
                        </a:p>
                      </a:txBody>
                      <a:tcPr/>
                    </a:tc>
                    <a:tc>
                      <a:txBody>
                        <a:bodyPr/>
                        <a:lstStyle/>
                        <a:p>
                          <a:pPr algn="ctr"/>
                          <a:r>
                            <a:rPr lang="en-GB" dirty="0" smtClean="0"/>
                            <a:t>0</a:t>
                          </a:r>
                          <a:endParaRPr lang="en-US" dirty="0"/>
                        </a:p>
                      </a:txBody>
                      <a:tcPr/>
                    </a:tc>
                  </a:tr>
                  <a:tr h="370840">
                    <a:tc>
                      <a:txBody>
                        <a:bodyPr/>
                        <a:lstStyle/>
                        <a:p>
                          <a:pPr algn="ctr"/>
                          <a:r>
                            <a:rPr lang="en-GB" dirty="0" smtClean="0"/>
                            <a:t>1</a:t>
                          </a:r>
                          <a:endParaRPr lang="en-US" dirty="0"/>
                        </a:p>
                      </a:txBody>
                      <a:tcPr/>
                    </a:tc>
                    <a:tc>
                      <a:txBody>
                        <a:bodyPr/>
                        <a:lstStyle/>
                        <a:p>
                          <a:pPr algn="ctr"/>
                          <a:r>
                            <a:rPr lang="en-GB" dirty="0" smtClean="0"/>
                            <a:t>1</a:t>
                          </a:r>
                          <a:endParaRPr lang="en-US" dirty="0"/>
                        </a:p>
                      </a:txBody>
                      <a:tcPr/>
                    </a:tc>
                    <a:tc>
                      <a:txBody>
                        <a:bodyPr/>
                        <a:lstStyle/>
                        <a:p>
                          <a:pPr algn="ctr"/>
                          <a:r>
                            <a:rPr lang="en-GB" dirty="0" smtClean="0"/>
                            <a:t>1</a:t>
                          </a:r>
                          <a:endParaRPr lang="en-US" dirty="0"/>
                        </a:p>
                      </a:txBody>
                      <a:tcPr/>
                    </a:tc>
                    <a:tc>
                      <a:txBody>
                        <a:bodyPr/>
                        <a:lstStyle/>
                        <a:p>
                          <a:pPr algn="ctr"/>
                          <a:r>
                            <a:rPr lang="en-GB" dirty="0" smtClean="0"/>
                            <a:t>1</a:t>
                          </a:r>
                          <a:endParaRPr lang="en-US" dirty="0"/>
                        </a:p>
                      </a:txBody>
                      <a:tcPr/>
                    </a:tc>
                    <a:tc>
                      <a:txBody>
                        <a:bodyPr/>
                        <a:lstStyle/>
                        <a:p>
                          <a:pPr algn="ctr"/>
                          <a:r>
                            <a:rPr lang="en-GB" dirty="0" smtClean="0"/>
                            <a:t>0</a:t>
                          </a:r>
                          <a:endParaRPr lang="en-US" dirty="0"/>
                        </a:p>
                      </a:txBody>
                      <a:tcPr/>
                    </a:tc>
                    <a:tc>
                      <a:txBody>
                        <a:bodyPr/>
                        <a:lstStyle/>
                        <a:p>
                          <a:pPr algn="ctr"/>
                          <a:r>
                            <a:rPr lang="en-GB" dirty="0" smtClean="0"/>
                            <a:t>1</a:t>
                          </a:r>
                          <a:endParaRPr lang="en-US" dirty="0"/>
                        </a:p>
                      </a:txBody>
                      <a:tcPr/>
                    </a:tc>
                    <a:tc>
                      <a:txBody>
                        <a:bodyPr/>
                        <a:lstStyle/>
                        <a:p>
                          <a:pPr algn="ctr"/>
                          <a:r>
                            <a:rPr lang="en-GB" dirty="0" smtClean="0"/>
                            <a:t>1</a:t>
                          </a:r>
                          <a:endParaRPr lang="en-US" dirty="0"/>
                        </a:p>
                      </a:txBody>
                      <a:tcPr/>
                    </a:tc>
                  </a:tr>
                </a:tbl>
              </a:graphicData>
            </a:graphic>
          </p:graphicFrame>
        </mc:Fallback>
      </mc:AlternateContent>
    </p:spTree>
    <p:extLst>
      <p:ext uri="{BB962C8B-B14F-4D97-AF65-F5344CB8AC3E}">
        <p14:creationId xmlns:p14="http://schemas.microsoft.com/office/powerpoint/2010/main" val="3494530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and Bit Operations(Contd.)</a:t>
            </a:r>
            <a:endParaRPr lang="en-US" dirty="0"/>
          </a:p>
        </p:txBody>
      </p:sp>
      <p:sp>
        <p:nvSpPr>
          <p:cNvPr id="3" name="Content Placeholder 2"/>
          <p:cNvSpPr>
            <a:spLocks noGrp="1"/>
          </p:cNvSpPr>
          <p:nvPr>
            <p:ph sz="quarter" idx="1"/>
          </p:nvPr>
        </p:nvSpPr>
        <p:spPr/>
        <p:txBody>
          <a:bodyPr>
            <a:normAutofit lnSpcReduction="10000"/>
          </a:bodyPr>
          <a:lstStyle/>
          <a:p>
            <a:r>
              <a:rPr lang="en-GB" dirty="0"/>
              <a:t>Bit Strings</a:t>
            </a:r>
          </a:p>
          <a:p>
            <a:pPr lvl="1"/>
            <a:r>
              <a:rPr lang="en-US" sz="2500" dirty="0"/>
              <a:t>A bit string is a sequence of zero or more bits. </a:t>
            </a:r>
          </a:p>
          <a:p>
            <a:pPr lvl="1"/>
            <a:r>
              <a:rPr lang="en-US" sz="2500" dirty="0"/>
              <a:t>The length of this string is the number of bits in the string.</a:t>
            </a:r>
          </a:p>
          <a:p>
            <a:pPr lvl="1"/>
            <a:r>
              <a:rPr lang="en-US" dirty="0"/>
              <a:t>101010011 is a bit string of length nine. </a:t>
            </a:r>
          </a:p>
          <a:p>
            <a:r>
              <a:rPr lang="en-US" dirty="0"/>
              <a:t>We can extend bit operations to bit strings. </a:t>
            </a:r>
          </a:p>
          <a:p>
            <a:r>
              <a:rPr lang="en-US" dirty="0"/>
              <a:t>We deﬁne the bitwise OR, bitwise AND, and bitwise XOR of two strings of the same length to be the strings that have as their bits, the OR,AND, and XOR of the corresponding bits in the two strings, respectively. </a:t>
            </a:r>
          </a:p>
          <a:p>
            <a:r>
              <a:rPr lang="en-US" dirty="0"/>
              <a:t>We will split bit strings into blocks of four bits to make them easier to read.</a:t>
            </a:r>
          </a:p>
        </p:txBody>
      </p:sp>
    </p:spTree>
    <p:extLst>
      <p:ext uri="{BB962C8B-B14F-4D97-AF65-F5344CB8AC3E}">
        <p14:creationId xmlns:p14="http://schemas.microsoft.com/office/powerpoint/2010/main" val="14924176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Logic and Bit Operations(Contd.)</a:t>
            </a:r>
            <a:endParaRPr lang="en-US" dirty="0"/>
          </a:p>
        </p:txBody>
      </p:sp>
      <p:sp>
        <p:nvSpPr>
          <p:cNvPr id="3" name="Content Placeholder 2"/>
          <p:cNvSpPr>
            <a:spLocks noGrp="1"/>
          </p:cNvSpPr>
          <p:nvPr>
            <p:ph sz="quarter" idx="1"/>
          </p:nvPr>
        </p:nvSpPr>
        <p:spPr/>
        <p:txBody>
          <a:bodyPr/>
          <a:lstStyle/>
          <a:p>
            <a:r>
              <a:rPr lang="en-GB" b="1" u="sng" dirty="0"/>
              <a:t>Example 1:</a:t>
            </a:r>
          </a:p>
          <a:p>
            <a:pPr lvl="1"/>
            <a:r>
              <a:rPr lang="en-US" sz="2500" dirty="0"/>
              <a:t>Find the bitwise OR, bitwise AND, and bitwise XOR of the bit strings 01 1011 0110 and11 0001 1101. </a:t>
            </a:r>
          </a:p>
          <a:p>
            <a:r>
              <a:rPr lang="en-GB" b="1" u="sng" dirty="0"/>
              <a:t>Solution:</a:t>
            </a:r>
            <a:endParaRPr lang="en-US" b="1" u="sng" dirty="0"/>
          </a:p>
        </p:txBody>
      </p:sp>
      <p:graphicFrame>
        <p:nvGraphicFramePr>
          <p:cNvPr id="4" name="Table 3"/>
          <p:cNvGraphicFramePr>
            <a:graphicFrameLocks noGrp="1"/>
          </p:cNvGraphicFramePr>
          <p:nvPr>
            <p:extLst>
              <p:ext uri="{D42A27DB-BD31-4B8C-83A1-F6EECF244321}">
                <p14:modId xmlns:p14="http://schemas.microsoft.com/office/powerpoint/2010/main" val="1845658184"/>
              </p:ext>
            </p:extLst>
          </p:nvPr>
        </p:nvGraphicFramePr>
        <p:xfrm>
          <a:off x="1619672" y="2924944"/>
          <a:ext cx="6096000" cy="2225040"/>
        </p:xfrm>
        <a:graphic>
          <a:graphicData uri="http://schemas.openxmlformats.org/drawingml/2006/table">
            <a:tbl>
              <a:tblPr firstRow="1">
                <a:tableStyleId>{5C22544A-7EE6-4342-B048-85BDC9FD1C3A}</a:tableStyleId>
              </a:tblPr>
              <a:tblGrid>
                <a:gridCol w="3995517">
                  <a:extLst>
                    <a:ext uri="{9D8B030D-6E8A-4147-A177-3AD203B41FA5}">
                      <a16:colId xmlns:a16="http://schemas.microsoft.com/office/drawing/2014/main" val="20000"/>
                    </a:ext>
                  </a:extLst>
                </a:gridCol>
                <a:gridCol w="2100483">
                  <a:extLst>
                    <a:ext uri="{9D8B030D-6E8A-4147-A177-3AD203B41FA5}">
                      <a16:colId xmlns:a16="http://schemas.microsoft.com/office/drawing/2014/main" val="20001"/>
                    </a:ext>
                  </a:extLst>
                </a:gridCol>
              </a:tblGrid>
              <a:tr h="370840">
                <a:tc>
                  <a:txBody>
                    <a:bodyPr/>
                    <a:lstStyle/>
                    <a:p>
                      <a:pPr algn="ctr"/>
                      <a:endParaRPr lang="en-US" b="0" dirty="0">
                        <a:solidFill>
                          <a:schemeClr val="tx1"/>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b="0" dirty="0">
                        <a:solidFill>
                          <a:schemeClr val="tx1"/>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US" sz="1800" dirty="0"/>
                        <a:t>01 1011 0110 </a:t>
                      </a:r>
                      <a:endParaRPr lang="en-US" dirty="0"/>
                    </a:p>
                  </a:txBody>
                  <a:tcPr>
                    <a:lnL w="12700" cmpd="sng">
                      <a:noFill/>
                    </a:lnL>
                    <a:lnR w="12700"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dirty="0"/>
                        <a:t>String 1</a:t>
                      </a:r>
                      <a:endParaRPr lang="en-US" dirty="0"/>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1800" dirty="0"/>
                        <a:t>11 0001 1101</a:t>
                      </a:r>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dirty="0"/>
                        <a:t>String 2</a:t>
                      </a:r>
                      <a:endParaRPr lang="en-US"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algn="ctr"/>
                      <a:r>
                        <a:rPr kumimoji="0" lang="en-US" sz="1800" kern="1200" dirty="0">
                          <a:solidFill>
                            <a:schemeClr val="dk1"/>
                          </a:solidFill>
                          <a:latin typeface="+mn-lt"/>
                          <a:ea typeface="+mn-ea"/>
                          <a:cs typeface="+mn-cs"/>
                        </a:rPr>
                        <a:t>11 1011 1111 </a:t>
                      </a:r>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GB" dirty="0"/>
                        <a:t>Bitwise OR</a:t>
                      </a:r>
                      <a:endParaRPr lang="en-US"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GB" dirty="0"/>
                        <a:t>01 0001 0100</a:t>
                      </a:r>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Bitwise AND</a:t>
                      </a:r>
                      <a:endParaRPr lang="en-US"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algn="ctr"/>
                      <a:r>
                        <a:rPr lang="en-GB" dirty="0"/>
                        <a:t>10 1010 1011</a:t>
                      </a:r>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GB" dirty="0"/>
                        <a:t>Bitwise</a:t>
                      </a:r>
                      <a:r>
                        <a:rPr lang="en-GB" baseline="0" dirty="0"/>
                        <a:t> XOR</a:t>
                      </a:r>
                      <a:endParaRPr lang="en-US"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7713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856" y="764704"/>
            <a:ext cx="8229600" cy="2808312"/>
          </a:xfrm>
        </p:spPr>
        <p:txBody>
          <a:bodyPr/>
          <a:lstStyle/>
          <a:p>
            <a:pPr algn="ctr"/>
            <a:r>
              <a:rPr lang="en-GB" dirty="0"/>
              <a:t>THE END</a:t>
            </a:r>
            <a:endParaRPr lang="en-US" dirty="0"/>
          </a:p>
        </p:txBody>
      </p:sp>
    </p:spTree>
    <p:extLst>
      <p:ext uri="{BB962C8B-B14F-4D97-AF65-F5344CB8AC3E}">
        <p14:creationId xmlns:p14="http://schemas.microsoft.com/office/powerpoint/2010/main" val="33120138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841</TotalTime>
  <Words>2728</Words>
  <Application>Microsoft Office PowerPoint</Application>
  <PresentationFormat>On-screen Show (4:3)</PresentationFormat>
  <Paragraphs>512</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Bookman Old Style</vt:lpstr>
      <vt:lpstr>Calibri</vt:lpstr>
      <vt:lpstr>Cambria Math</vt:lpstr>
      <vt:lpstr>Gill Sans MT</vt:lpstr>
      <vt:lpstr>Wingdings</vt:lpstr>
      <vt:lpstr>Wingdings 3</vt:lpstr>
      <vt:lpstr>Origin</vt:lpstr>
      <vt:lpstr>CSE 4203  DISCRETE MATHEMATICS</vt:lpstr>
      <vt:lpstr>Introduction</vt:lpstr>
      <vt:lpstr>Chapter 1  The Foundations : Logic and Proofs Kenneth H. Rosen 7th edition</vt:lpstr>
      <vt:lpstr>Propositios</vt:lpstr>
      <vt:lpstr>Propositional variables</vt:lpstr>
      <vt:lpstr>Propositional variables (contd.)</vt:lpstr>
      <vt:lpstr>Propositional calculus/logic</vt:lpstr>
      <vt:lpstr>Compound Propositions</vt:lpstr>
      <vt:lpstr>Logical Operators</vt:lpstr>
      <vt:lpstr>Negation Operator (¬)</vt:lpstr>
      <vt:lpstr>Negation Operator (¬) (contd.)</vt:lpstr>
      <vt:lpstr>Conjunction / AND operator ( ⋀ )</vt:lpstr>
      <vt:lpstr>Conjunction / AND operator ( ⋀ )(Contd.)</vt:lpstr>
      <vt:lpstr>Disjunction / OR operator ( ∨ )</vt:lpstr>
      <vt:lpstr>Exclusive OR/ XOR operator ( ⨁ )</vt:lpstr>
      <vt:lpstr>Conditionals/Implications</vt:lpstr>
      <vt:lpstr>Conditionals/Implications(Contd.)</vt:lpstr>
      <vt:lpstr>Conditionals/Implications(Contd.)</vt:lpstr>
      <vt:lpstr>Conditionals/Implications(Contd.)</vt:lpstr>
      <vt:lpstr>Conditionals/Implications(Contd.)</vt:lpstr>
      <vt:lpstr>Conditionals/Implications(Contd.)</vt:lpstr>
      <vt:lpstr>Conditionals/Implications(Contd.)</vt:lpstr>
      <vt:lpstr>Converse, Contrapositive and Inverse</vt:lpstr>
      <vt:lpstr>Converse, Contrapositive and Inverse(Contd.)</vt:lpstr>
      <vt:lpstr>Converse, Contrapositive and Inverse(Contd.)</vt:lpstr>
      <vt:lpstr>Converse, Contrapositive and Inverse(Contd.)</vt:lpstr>
      <vt:lpstr>Converse, Contrapositive and Inverse(Contd.)</vt:lpstr>
      <vt:lpstr>Converse, Contrapositive and Inverse(Contd.)</vt:lpstr>
      <vt:lpstr>Bi-conditionals</vt:lpstr>
      <vt:lpstr>Bi-conditionals(Contd.)</vt:lpstr>
      <vt:lpstr>Bi-conditionals(Contd.)</vt:lpstr>
      <vt:lpstr>Bi-conditionals(Contd.)</vt:lpstr>
      <vt:lpstr>Truth table of compound propositions</vt:lpstr>
      <vt:lpstr>Precedence of Logical Operators</vt:lpstr>
      <vt:lpstr>Precedence of Logical Operators(Contd.)</vt:lpstr>
      <vt:lpstr>Logic and Bit Operations</vt:lpstr>
      <vt:lpstr>Logic and Bit Operations(Contd.)</vt:lpstr>
      <vt:lpstr>Logic and Bit Operations(Contd.)</vt:lpstr>
      <vt:lpstr>Logic and Bit Operations(Contd.)</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4203  DISCRETE MATHEMATICS</dc:title>
  <dc:creator>Sunef</dc:creator>
  <cp:lastModifiedBy>ASUS</cp:lastModifiedBy>
  <cp:revision>56</cp:revision>
  <cp:lastPrinted>2018-06-24T17:13:03Z</cp:lastPrinted>
  <dcterms:created xsi:type="dcterms:W3CDTF">2018-06-24T08:43:00Z</dcterms:created>
  <dcterms:modified xsi:type="dcterms:W3CDTF">2020-09-21T03:10:12Z</dcterms:modified>
</cp:coreProperties>
</file>